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798fb7a275f162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9b5a6aa95aed92a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78b2ba585316249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第十章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隐马尔可夫模型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看得见的观测背后，藏着一条马尔可夫链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马尔可夫链与基本计算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191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HMM 的五元组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911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前向后向与 Viterbi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53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Baum-Welch 与应用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42618" cy="205359"/>
            <a:chOff x="680466" y="6192202"/>
            <a:chExt cx="494261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42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 版第10章课件（SXH）整理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91" y="407194"/>
              <a:ext cx="880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马尔可夫性、转移矩阵、序列概率与平均持续天数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262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的组成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双重随机过程、缸球与赌场实例、五元组 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直接枚举为什么不可行，前向法与后向法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576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Viterbi 算法，以及它与逐点最可能状态的区别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894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Baum-Welch 的 ξ、γ 与三条重估公式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601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CpG 岛识别、中文分词与词性标注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π 和 A，算出一条天气序列的概率和每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种天气的平均持续天数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说清五元组中每个参数的含义，能把一个新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问题写成 λ = (π, A, B)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对一条观测序列手算前向变量表和后向变量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表，并用 Σ α·β 自查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Viterbi 求最可能的状态序列，写出完整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的回溯过程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Baum-Welch 的重估公式，说清每个分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子、分母在数什么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121468" cy="3351847"/>
            <a:chOff x="667512" y="1835468"/>
            <a:chExt cx="41214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从独立事件出发，只多看一步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独立与非独立事件的序列概率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马尔可夫性与转移概率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94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马尔可夫模型 (π, A) 与天气例子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序列概率、停留 d 天的概率与平均停留天数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4055" cy="909257"/>
            <a:chOff x="520446" y="342900"/>
            <a:chExt cx="82440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40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由来：马尔可夫在 1907 年提出只看前一步的概率模型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21203" cy="308039"/>
            <a:chOff x="525399" y="1550194"/>
            <a:chExt cx="792120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212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本章的三个模型一脉相承：马尔可夫模型、马尔可夫链、隐马尔可夫模型（HMM）。</a:t>
              </a:r>
            </a:p>
          </p:txBody>
        </p:sp>
      </p:grpSp>
      <p:grpSp>
        <p:nvGrpSpPr>
          <p:cNvPr id="25" name="c1-card-1"/>
          <p:cNvGrpSpPr/>
          <p:nvPr/>
        </p:nvGrpSpPr>
        <p:grpSpPr>
          <a:xfrm>
            <a:off x="533400" y="1967865"/>
            <a:ext cx="5951220" cy="2972752"/>
            <a:chOff x="533400" y="1967865"/>
            <a:chExt cx="5951220" cy="29727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2972752"/>
            </a:xfrm>
            <a:prstGeom prst="roundRect">
              <a:avLst>
                <a:gd name="adj" fmla="val 44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70605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人物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4427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安德烈·马尔可夫 A. A. Markov（1856–1922）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5204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俄国数学家，1856 年 6 月 14 日生，1922 年 7 月 20 日卒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就读并任教于圣彼得堡大学，博士导师是切比雪夫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453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岁成为圣彼得堡大学教授、圣彼得堡科学院院士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6423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57949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研究数论、连分数、微分方程、概率论与统计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3977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914775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发表论文 120 余篇，著有经典教材《概率演算》（Calculus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 Probabilities）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45315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他最为人知的工作是随机过程，尤其是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马尔可夫链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0" name="c1-flow-2"/>
          <p:cNvGrpSpPr/>
          <p:nvPr/>
        </p:nvGrpSpPr>
        <p:grpSpPr>
          <a:xfrm>
            <a:off x="672465" y="5257800"/>
            <a:ext cx="5673091" cy="679132"/>
            <a:chOff x="672465" y="5257800"/>
            <a:chExt cx="5673091" cy="679132"/>
          </a:xfrm>
        </p:grpSpPr>
        <p:sp>
          <p:nvSpPr>
            <p:cNvPr id="26" name="Freeform 26"/>
            <p:cNvSpPr/>
            <p:nvPr/>
          </p:nvSpPr>
          <p:spPr>
            <a:xfrm>
              <a:off x="2378392" y="5717858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550795" y="5665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362450" y="5717858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534852" y="5665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2465" y="5498782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55570" y="5498782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39628" y="5498782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1535" y="56287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1749" y="56287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83493" y="56287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隐马尔可夫模型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269808" y="525780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00097" y="52844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86238" y="525780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12526" y="52844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状态隐藏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789420" y="1967865"/>
            <a:ext cx="4869180" cy="1956435"/>
            <a:chOff x="6789420" y="1967865"/>
            <a:chExt cx="4869180" cy="1956435"/>
          </a:xfrm>
        </p:grpSpPr>
        <p:sp>
          <p:nvSpPr>
            <p:cNvPr id="41" name="Rectangle 41"/>
            <p:cNvSpPr/>
            <p:nvPr/>
          </p:nvSpPr>
          <p:spPr>
            <a:xfrm>
              <a:off x="6789420" y="1967865"/>
              <a:ext cx="486918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3707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2727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师承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38098" y="2212658"/>
              <a:ext cx="3702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 P. Chebyshev（1821–1894）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42785" y="26365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0900" y="25736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俄国数学的奠基人之一，工作集中在概率、统计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和数论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42785" y="3257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0900" y="3194685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 Mathematics Genealogy Project 统计，他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有约 4000 名“数学后代”</a:t>
              </a:r>
            </a:p>
          </p:txBody>
        </p:sp>
      </p:grpSp>
      <p:grpSp>
        <p:nvGrpSpPr>
          <p:cNvPr id="65" name="c2-tree-2"/>
          <p:cNvGrpSpPr/>
          <p:nvPr/>
        </p:nvGrpSpPr>
        <p:grpSpPr>
          <a:xfrm>
            <a:off x="6789420" y="4202430"/>
            <a:ext cx="4869180" cy="2015490"/>
            <a:chOff x="6789420" y="4202430"/>
            <a:chExt cx="4869180" cy="2015490"/>
          </a:xfrm>
        </p:grpSpPr>
        <p:sp>
          <p:nvSpPr>
            <p:cNvPr id="51" name="Freeform 51"/>
            <p:cNvSpPr/>
            <p:nvPr/>
          </p:nvSpPr>
          <p:spPr>
            <a:xfrm>
              <a:off x="8437245" y="4388168"/>
              <a:ext cx="419100" cy="822008"/>
            </a:xfrm>
            <a:custGeom>
              <a:avLst/>
              <a:gdLst/>
              <a:ahLst/>
              <a:cxnLst/>
              <a:rect l="l" t="t" r="r" b="b"/>
              <a:pathLst>
                <a:path w="419100" h="822008">
                  <a:moveTo>
                    <a:pt x="0" y="822008"/>
                  </a:moveTo>
                  <a:lnTo>
                    <a:pt x="209550" y="8220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437245" y="4935855"/>
              <a:ext cx="419100" cy="274320"/>
            </a:xfrm>
            <a:custGeom>
              <a:avLst/>
              <a:gdLst/>
              <a:ahLst/>
              <a:cxnLst/>
              <a:rect l="l" t="t" r="r" b="b"/>
              <a:pathLst>
                <a:path w="419100" h="274320">
                  <a:moveTo>
                    <a:pt x="0" y="274320"/>
                  </a:moveTo>
                  <a:lnTo>
                    <a:pt x="209550" y="2743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437245" y="5210175"/>
              <a:ext cx="419100" cy="273368"/>
            </a:xfrm>
            <a:custGeom>
              <a:avLst/>
              <a:gdLst/>
              <a:ahLst/>
              <a:cxnLst/>
              <a:rect l="l" t="t" r="r" b="b"/>
              <a:pathLst>
                <a:path w="419100" h="273368">
                  <a:moveTo>
                    <a:pt x="0" y="0"/>
                  </a:moveTo>
                  <a:lnTo>
                    <a:pt x="209550" y="0"/>
                  </a:lnTo>
                  <a:lnTo>
                    <a:pt x="209550" y="273368"/>
                  </a:lnTo>
                  <a:lnTo>
                    <a:pt x="419100" y="27336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437245" y="5210175"/>
              <a:ext cx="419100" cy="821055"/>
            </a:xfrm>
            <a:custGeom>
              <a:avLst/>
              <a:gdLst/>
              <a:ahLst/>
              <a:cxnLst/>
              <a:rect l="l" t="t" r="r" b="b"/>
              <a:pathLst>
                <a:path w="419100" h="821055">
                  <a:moveTo>
                    <a:pt x="0" y="0"/>
                  </a:moveTo>
                  <a:lnTo>
                    <a:pt x="209550" y="0"/>
                  </a:lnTo>
                  <a:lnTo>
                    <a:pt x="209550" y="821055"/>
                  </a:lnTo>
                  <a:lnTo>
                    <a:pt x="419100" y="8210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56345" y="4202430"/>
              <a:ext cx="280225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856345" y="4750118"/>
              <a:ext cx="280225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56345" y="5297805"/>
              <a:ext cx="280225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56345" y="5845492"/>
              <a:ext cx="280225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89420" y="5023485"/>
              <a:ext cx="1647825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945118" y="4299109"/>
              <a:ext cx="1311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格雷夫 D. Grave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45118" y="4846796"/>
              <a:ext cx="1361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科尔金 A. Korkin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45118" y="5394484"/>
              <a:ext cx="1938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李雅普诺夫 A. Lyapunov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5118" y="5942171"/>
              <a:ext cx="1612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 A. Markov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8193" y="51211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切比雪夫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从独立到相关：马尔可夫链只给相邻的一对结果配概率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366579" cy="308039"/>
            <a:chOff x="525399" y="1550194"/>
            <a:chExt cx="736657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3665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设想做一连串实验，每次可能的结果是 E₁, E₂, …, Eₙ, …（有限或无限个）。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410200" cy="2667000"/>
            <a:chOff x="533400" y="1967865"/>
            <a:chExt cx="5410200" cy="26670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4003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独立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每次各算各的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每个结果 Eₖ 有一个固定的出现概率 pₖ。互相独立就是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彼此毫不相干，于是一个特定序列 Eⱼ₁ Eⱼ₂ … Eⱼₙ 的概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率直接连乘：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"/>
                <p:cNvSpPr txBox="1">
                  <a:spLocks noGrp="1"/>
                </p:cNvSpPr>
                <p:nvPr/>
              </p:nvSpPr>
              <p:spPr>
                <a:xfrm>
                  <a:off x="781050" y="345567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399049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统计里最有用的概念就是独立，但现实中的很多事件是相关的：今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天下雨，明天多半还阴着。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24412"/>
            <a:ext cx="5410200" cy="1356360"/>
            <a:chOff x="533400" y="4824412"/>
            <a:chExt cx="5410200" cy="1356360"/>
          </a:xfrm>
        </p:grpSpPr>
        <p:sp>
          <p:nvSpPr>
            <p:cNvPr id="18" name="Rectangle 18"/>
            <p:cNvSpPr/>
            <p:nvPr/>
          </p:nvSpPr>
          <p:spPr>
            <a:xfrm>
              <a:off x="533400" y="4824412"/>
              <a:ext cx="5410200" cy="1356360"/>
            </a:xfrm>
            <a:prstGeom prst="roundRect">
              <a:avLst>
                <a:gd name="adj" fmla="val 84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402580"/>
              <a:ext cx="200026" cy="200025"/>
              <a:chOff x="738188" y="540258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4025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4470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5581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121592"/>
              <a:ext cx="4501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独立时只要 N 个数 pₖ；马尔可夫链要一个初始向量加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一张 N×N 的转移表。多出来的这张表就是“相关”的全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部内容。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67865"/>
            <a:ext cx="5410200" cy="2402205"/>
            <a:chOff x="6248400" y="1967865"/>
            <a:chExt cx="5410200" cy="2402205"/>
          </a:xfrm>
        </p:grpSpPr>
        <p:sp>
          <p:nvSpPr>
            <p:cNvPr id="25" name="Rectangle 25"/>
            <p:cNvSpPr/>
            <p:nvPr/>
          </p:nvSpPr>
          <p:spPr>
            <a:xfrm>
              <a:off x="6248400" y="1967865"/>
              <a:ext cx="5410200" cy="2402205"/>
            </a:xfrm>
            <a:prstGeom prst="roundRect">
              <a:avLst>
                <a:gd name="adj" fmla="val 5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2101215"/>
              <a:ext cx="47625" cy="21355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2177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9507" y="2213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最简单的相关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65720" y="22126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马尔可夫链的序列概率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2573655"/>
              <a:ext cx="469582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不再给单个结果 Eⱼ 配概率，而是给一对结果 (Eⱼ, Eₖ)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配概率 pⱼₖ，含义是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已知本次出现 Eⱼ 时，下一次出现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Eₖ 的条件概率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。再补上第零次实验出现 Eⱼ 的概率 aⱼ，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就能写出任一序列的概率：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4"/>
                <p:cNvSpPr txBox="1">
                  <a:spLocks noGrp="1"/>
                </p:cNvSpPr>
                <p:nvPr/>
              </p:nvSpPr>
              <p:spPr>
                <a:xfrm>
                  <a:off x="6496050" y="3741420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2"/>
          <p:cNvGrpSpPr/>
          <p:nvPr/>
        </p:nvGrpSpPr>
        <p:grpSpPr>
          <a:xfrm>
            <a:off x="6248400" y="4560570"/>
            <a:ext cx="5410200" cy="1621155"/>
            <a:chOff x="6248400" y="4560570"/>
            <a:chExt cx="5410200" cy="1621155"/>
          </a:xfrm>
        </p:grpSpPr>
        <p:sp>
          <p:nvSpPr>
            <p:cNvPr id="33" name="Rectangle 33"/>
            <p:cNvSpPr/>
            <p:nvPr/>
          </p:nvSpPr>
          <p:spPr>
            <a:xfrm>
              <a:off x="6248400" y="456057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69392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4770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6258" y="4805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7078" y="4805362"/>
              <a:ext cx="2394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 页的两处笔误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516636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原式写作 P(Eⱼ₀, Eⱼ₁, Eⱼₙ) = aⱼ pⱼ₀ⱼ₁ …。首项应是第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零次结果的初始概率 aⱼ₀，左边在 Eⱼ₁ 与 Eⱼₙ 之间漏了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省略号。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马尔可夫性：将来只依赖现在，与过去无关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78355"/>
            <a:chOff x="533400" y="1524000"/>
            <a:chExt cx="5626418" cy="2078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8355"/>
            </a:xfrm>
            <a:prstGeom prst="roundRect">
              <a:avLst>
                <a:gd name="adj" fmla="val 6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1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马尔可夫性与马尔可夫过程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如果一个过程的“将来”仅依赖“现在”而不依赖“过去”，就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说它具有马尔可夫性，这样的过程叫马尔可夫过程。原课件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把它简记为 X(t+1) = f(X(t))，写成条件概率就是：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16921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card-2"/>
          <p:cNvGrpSpPr/>
          <p:nvPr/>
        </p:nvGrpSpPr>
        <p:grpSpPr>
          <a:xfrm>
            <a:off x="533400" y="3792855"/>
            <a:ext cx="5626418" cy="2291715"/>
            <a:chOff x="533400" y="3792855"/>
            <a:chExt cx="5626418" cy="2291715"/>
          </a:xfrm>
        </p:grpSpPr>
        <p:sp>
          <p:nvSpPr>
            <p:cNvPr id="15" name="Rectangle 15"/>
            <p:cNvSpPr/>
            <p:nvPr/>
          </p:nvSpPr>
          <p:spPr>
            <a:xfrm>
              <a:off x="533400" y="3792855"/>
              <a:ext cx="5626418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2620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002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038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403764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39864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时间和状态都离散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的马尔可夫过程叫马尔可夫链，记作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{Xₙ = X(n), n = 0, 1, 2, …}。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5082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5019675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它是在时间集 T = {0, 1, 2, …} 上对离散状态相继观察的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7035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640705"/>
              <a:ext cx="3496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状态空间记作 I = {a₁, a₂, …}，aᵢ ∈ ℝ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2806065"/>
            <a:chOff x="6464618" y="1524000"/>
            <a:chExt cx="5193982" cy="280606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2806065"/>
            </a:xfrm>
            <a:prstGeom prst="roundRect">
              <a:avLst>
                <a:gd name="adj" fmla="val 4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25393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转移概率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98092" y="1768792"/>
              <a:ext cx="1968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从时刻 m 到时刻 m+n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8"/>
                <p:cNvSpPr txBox="1">
                  <a:spLocks noGrp="1"/>
                </p:cNvSpPr>
                <p:nvPr/>
              </p:nvSpPr>
              <p:spPr>
                <a:xfrm>
                  <a:off x="6712268" y="2105025"/>
                  <a:ext cx="473678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704648" y="264414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含义：链在时刻 m 处于 aᵢ 的条件下，到时刻 m+n 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移到 aⱼ 的概率。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7983" y="33280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6098" y="3265170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时叫一步转移概率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36633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360045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一步转移概率与 m 无关时，链叫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齐次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的，可以写成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一张固定的表 A = [aᵢⱼ]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4520565"/>
            <a:ext cx="5193982" cy="1564005"/>
            <a:chOff x="6464618" y="4520565"/>
            <a:chExt cx="5193982" cy="1564005"/>
          </a:xfrm>
        </p:grpSpPr>
        <p:sp>
          <p:nvSpPr>
            <p:cNvPr id="38" name="Rectangle 38"/>
            <p:cNvSpPr/>
            <p:nvPr/>
          </p:nvSpPr>
          <p:spPr>
            <a:xfrm>
              <a:off x="6464618" y="4520565"/>
              <a:ext cx="5193982" cy="1564005"/>
            </a:xfrm>
            <a:prstGeom prst="roundRect">
              <a:avLst>
                <a:gd name="adj" fmla="val 73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5202555"/>
              <a:ext cx="200026" cy="200026"/>
              <a:chOff x="6669405" y="520255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52025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69418" y="5269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58305" y="53025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1348" y="4921568"/>
              <a:ext cx="4311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本章的马尔可夫模型和 HMM 都假定链是齐次的，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A 与时间 t 无关。第 17 页五元组表里“与时间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无关的转移矩阵”指的就是这一点。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9912" cy="909257"/>
            <a:chOff x="520446" y="342900"/>
            <a:chExt cx="77899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99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马尔可夫模型 (π, A)：一个初始分布加一张转移表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2394585"/>
            <a:chOff x="533400" y="1524000"/>
            <a:chExt cx="5951220" cy="23945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394585"/>
            </a:xfrm>
            <a:prstGeom prst="roundRect">
              <a:avLst>
                <a:gd name="adj" fmla="val 55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27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状态与转移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8797" y="1768792"/>
              <a:ext cx="3377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状态集合 S = {S₁, S₂, …}，共 N 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15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aᵢⱼ 表示从状态 i 转移到状态 j 的概率，qₜ 是时刻 t 所处的状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49402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74720"/>
              <a:ext cx="3020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{aᵢⱼ} 叫状态转移概率矩阵。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109085"/>
            <a:ext cx="5951220" cy="1469708"/>
            <a:chOff x="533400" y="4109085"/>
            <a:chExt cx="5951220" cy="1469708"/>
          </a:xfrm>
        </p:grpSpPr>
        <p:sp>
          <p:nvSpPr>
            <p:cNvPr id="16" name="Rectangle 16"/>
            <p:cNvSpPr/>
            <p:nvPr/>
          </p:nvSpPr>
          <p:spPr>
            <a:xfrm>
              <a:off x="533400" y="4109085"/>
              <a:ext cx="5951220" cy="1469708"/>
            </a:xfrm>
            <a:prstGeom prst="roundRect">
              <a:avLst>
                <a:gd name="adj" fmla="val 90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42435"/>
              <a:ext cx="47625" cy="12030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3186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3543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初始分布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5922" y="4353878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个时刻落在各状态的概率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2"/>
                <p:cNvSpPr txBox="1">
                  <a:spLocks noGrp="1"/>
                </p:cNvSpPr>
                <p:nvPr/>
              </p:nvSpPr>
              <p:spPr>
                <a:xfrm>
                  <a:off x="781050" y="4690110"/>
                  <a:ext cx="549402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steps-1"/>
          <p:cNvGrpSpPr/>
          <p:nvPr/>
        </p:nvGrpSpPr>
        <p:grpSpPr>
          <a:xfrm>
            <a:off x="6789420" y="1533525"/>
            <a:ext cx="4652137" cy="2112930"/>
            <a:chOff x="6789420" y="1533525"/>
            <a:chExt cx="4652137" cy="2112930"/>
          </a:xfrm>
        </p:grpSpPr>
        <p:sp>
          <p:nvSpPr>
            <p:cNvPr id="23" name="Rectangle 23"/>
            <p:cNvSpPr/>
            <p:nvPr/>
          </p:nvSpPr>
          <p:spPr>
            <a:xfrm>
              <a:off x="692277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8942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304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0900" y="156781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2043" y="1861661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π 随机选一个初始状态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090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043" y="251221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按当前状态那一行的转移概率随机跳到下一状态（可以原地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0900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2043" y="3397091"/>
              <a:ext cx="3872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2, 3, … 一直走下去，得到状态序列 q₁ q₂ q₃ …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789420" y="3825240"/>
            <a:ext cx="4869180" cy="1753552"/>
            <a:chOff x="6789420" y="3825240"/>
            <a:chExt cx="4869180" cy="1753552"/>
          </a:xfrm>
        </p:grpSpPr>
        <p:sp>
          <p:nvSpPr>
            <p:cNvPr id="37" name="Rectangle 37"/>
            <p:cNvSpPr/>
            <p:nvPr/>
          </p:nvSpPr>
          <p:spPr>
            <a:xfrm>
              <a:off x="6789420" y="3825240"/>
              <a:ext cx="4869180" cy="1753552"/>
            </a:xfrm>
            <a:prstGeom prst="roundRect">
              <a:avLst>
                <a:gd name="adj" fmla="val 651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982149" y="4598788"/>
              <a:ext cx="224134" cy="192560"/>
              <a:chOff x="6982149" y="4598788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094220" y="46691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982149" y="45987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94220" y="4746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96150" y="4321492"/>
              <a:ext cx="3939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每一行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和为 1：从状态 i 出发，下一步总要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落在某个状态上。列和没有这个要求，别把 A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转置着读。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106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马尔可夫模型 = (π, A)。状态本身直接可见，这是它和后面 HMM 的唯一区别。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天气模型：晴、雨、雪三种天气之间的转移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41664" cy="293370"/>
            <a:chOff x="525780" y="1548765"/>
            <a:chExt cx="874166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41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原课件用图片表示三种天气。下面的图和表是同一组数，箭头上的数就是转移矩阵 A 的对应元素。</a:t>
              </a:r>
            </a:p>
          </p:txBody>
        </p:sp>
      </p:grpSp>
      <p:grpSp>
        <p:nvGrpSpPr>
          <p:cNvPr id="48" name="c1-graph-1"/>
          <p:cNvGrpSpPr/>
          <p:nvPr/>
        </p:nvGrpSpPr>
        <p:grpSpPr>
          <a:xfrm>
            <a:off x="581539" y="2283142"/>
            <a:ext cx="5531092" cy="3837242"/>
            <a:chOff x="581539" y="2283142"/>
            <a:chExt cx="5531092" cy="3837242"/>
          </a:xfrm>
        </p:grpSpPr>
        <p:sp>
          <p:nvSpPr>
            <p:cNvPr id="9" name="Freeform 9"/>
            <p:cNvSpPr/>
            <p:nvPr/>
          </p:nvSpPr>
          <p:spPr>
            <a:xfrm>
              <a:off x="766762" y="2305050"/>
              <a:ext cx="548640" cy="883920"/>
            </a:xfrm>
            <a:custGeom>
              <a:avLst/>
              <a:gdLst/>
              <a:ahLst/>
              <a:cxnLst/>
              <a:rect l="l" t="t" r="r" b="b"/>
              <a:pathLst>
                <a:path w="548640" h="883920">
                  <a:moveTo>
                    <a:pt x="548640" y="287655"/>
                  </a:moveTo>
                  <a:cubicBezTo>
                    <a:pt x="0" y="0"/>
                    <a:pt x="0" y="883920"/>
                    <a:pt x="548640" y="59626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20152" y="2901315"/>
              <a:ext cx="95250" cy="78105"/>
            </a:xfrm>
            <a:custGeom>
              <a:avLst/>
              <a:gdLst/>
              <a:ahLst/>
              <a:cxnLst/>
              <a:rect l="l" t="t" r="r" b="b"/>
              <a:pathLst>
                <a:path w="95250" h="78105">
                  <a:moveTo>
                    <a:pt x="95250" y="0"/>
                  </a:moveTo>
                  <a:lnTo>
                    <a:pt x="40005" y="78105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377815" y="2305050"/>
              <a:ext cx="548640" cy="883920"/>
            </a:xfrm>
            <a:custGeom>
              <a:avLst/>
              <a:gdLst/>
              <a:ahLst/>
              <a:cxnLst/>
              <a:rect l="l" t="t" r="r" b="b"/>
              <a:pathLst>
                <a:path w="548640" h="883920">
                  <a:moveTo>
                    <a:pt x="0" y="287655"/>
                  </a:moveTo>
                  <a:cubicBezTo>
                    <a:pt x="548640" y="0"/>
                    <a:pt x="548640" y="883920"/>
                    <a:pt x="0" y="59626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77815" y="2901315"/>
              <a:ext cx="95250" cy="78105"/>
            </a:xfrm>
            <a:custGeom>
              <a:avLst/>
              <a:gdLst/>
              <a:ahLst/>
              <a:cxnLst/>
              <a:rect l="l" t="t" r="r" b="b"/>
              <a:pathLst>
                <a:path w="95250" h="78105">
                  <a:moveTo>
                    <a:pt x="0" y="0"/>
                  </a:moveTo>
                  <a:lnTo>
                    <a:pt x="95250" y="1905"/>
                  </a:lnTo>
                  <a:lnTo>
                    <a:pt x="56197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05125" y="5467350"/>
              <a:ext cx="883920" cy="548640"/>
            </a:xfrm>
            <a:custGeom>
              <a:avLst/>
              <a:gdLst/>
              <a:ahLst/>
              <a:cxnLst/>
              <a:rect l="l" t="t" r="r" b="b"/>
              <a:pathLst>
                <a:path w="883920" h="548640">
                  <a:moveTo>
                    <a:pt x="287655" y="0"/>
                  </a:moveTo>
                  <a:cubicBezTo>
                    <a:pt x="0" y="548640"/>
                    <a:pt x="883920" y="548640"/>
                    <a:pt x="59626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01390" y="5467350"/>
              <a:ext cx="77152" cy="96203"/>
            </a:xfrm>
            <a:custGeom>
              <a:avLst/>
              <a:gdLst/>
              <a:ahLst/>
              <a:cxnLst/>
              <a:rect l="l" t="t" r="r" b="b"/>
              <a:pathLst>
                <a:path w="77152" h="96203">
                  <a:moveTo>
                    <a:pt x="0" y="0"/>
                  </a:moveTo>
                  <a:lnTo>
                    <a:pt x="77152" y="56197"/>
                  </a:lnTo>
                  <a:lnTo>
                    <a:pt x="1905" y="962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90725" y="2866072"/>
              <a:ext cx="2623185" cy="336550"/>
            </a:xfrm>
            <a:custGeom>
              <a:avLst/>
              <a:gdLst/>
              <a:ahLst/>
              <a:cxnLst/>
              <a:rect l="l" t="t" r="r" b="b"/>
              <a:pathLst>
                <a:path w="2623185" h="336550">
                  <a:moveTo>
                    <a:pt x="0" y="0"/>
                  </a:moveTo>
                  <a:cubicBezTo>
                    <a:pt x="904240" y="325755"/>
                    <a:pt x="1778635" y="336550"/>
                    <a:pt x="2623185" y="323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97718" y="285369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2"/>
                  </a:moveTo>
                  <a:lnTo>
                    <a:pt x="31433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80260" y="2291398"/>
              <a:ext cx="2623185" cy="336550"/>
            </a:xfrm>
            <a:custGeom>
              <a:avLst/>
              <a:gdLst/>
              <a:ahLst/>
              <a:cxnLst/>
              <a:rect l="l" t="t" r="r" b="b"/>
              <a:pathLst>
                <a:path w="2623185" h="336550">
                  <a:moveTo>
                    <a:pt x="2623185" y="336550"/>
                  </a:moveTo>
                  <a:cubicBezTo>
                    <a:pt x="1718945" y="10795"/>
                    <a:pt x="844550" y="0"/>
                    <a:pt x="0" y="30416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90725" y="2550795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7152"/>
                  </a:moveTo>
                  <a:lnTo>
                    <a:pt x="73342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53552" y="3086100"/>
              <a:ext cx="1225868" cy="1783080"/>
            </a:xfrm>
            <a:custGeom>
              <a:avLst/>
              <a:gdLst/>
              <a:ahLst/>
              <a:cxnLst/>
              <a:rect l="l" t="t" r="r" b="b"/>
              <a:pathLst>
                <a:path w="1225868" h="1783080">
                  <a:moveTo>
                    <a:pt x="0" y="0"/>
                  </a:moveTo>
                  <a:cubicBezTo>
                    <a:pt x="213995" y="768985"/>
                    <a:pt x="622618" y="1363345"/>
                    <a:pt x="1225868" y="178308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51798" y="4830128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025968" y="3002280"/>
              <a:ext cx="1225868" cy="1783080"/>
            </a:xfrm>
            <a:custGeom>
              <a:avLst/>
              <a:gdLst/>
              <a:ahLst/>
              <a:cxnLst/>
              <a:rect l="l" t="t" r="r" b="b"/>
              <a:pathLst>
                <a:path w="1225868" h="1783080">
                  <a:moveTo>
                    <a:pt x="1225868" y="1783080"/>
                  </a:moveTo>
                  <a:cubicBezTo>
                    <a:pt x="1011873" y="1014095"/>
                    <a:pt x="603250" y="419735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47862" y="2947988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0" y="0"/>
                  </a:moveTo>
                  <a:lnTo>
                    <a:pt x="105727" y="15240"/>
                  </a:lnTo>
                  <a:lnTo>
                    <a:pt x="5143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467100" y="2947988"/>
              <a:ext cx="1278255" cy="1744980"/>
            </a:xfrm>
            <a:custGeom>
              <a:avLst/>
              <a:gdLst/>
              <a:ahLst/>
              <a:cxnLst/>
              <a:rect l="l" t="t" r="r" b="b"/>
              <a:pathLst>
                <a:path w="1278255" h="1744980">
                  <a:moveTo>
                    <a:pt x="1278255" y="0"/>
                  </a:moveTo>
                  <a:cubicBezTo>
                    <a:pt x="622935" y="455930"/>
                    <a:pt x="196850" y="1037590"/>
                    <a:pt x="0" y="174498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421380" y="468058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20003" y="104775"/>
                  </a:moveTo>
                  <a:lnTo>
                    <a:pt x="0" y="0"/>
                  </a:lnTo>
                  <a:lnTo>
                    <a:pt x="91440" y="257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635692" y="3178492"/>
              <a:ext cx="1279208" cy="1744980"/>
            </a:xfrm>
            <a:custGeom>
              <a:avLst/>
              <a:gdLst/>
              <a:ahLst/>
              <a:cxnLst/>
              <a:rect l="l" t="t" r="r" b="b"/>
              <a:pathLst>
                <a:path w="1279208" h="1744980">
                  <a:moveTo>
                    <a:pt x="0" y="1744980"/>
                  </a:moveTo>
                  <a:cubicBezTo>
                    <a:pt x="655320" y="1289050"/>
                    <a:pt x="1081722" y="707390"/>
                    <a:pt x="1279208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68228" y="3086100"/>
              <a:ext cx="92392" cy="104775"/>
            </a:xfrm>
            <a:custGeom>
              <a:avLst/>
              <a:gdLst/>
              <a:ahLst/>
              <a:cxnLst/>
              <a:rect l="l" t="t" r="r" b="b"/>
              <a:pathLst>
                <a:path w="92392" h="104775">
                  <a:moveTo>
                    <a:pt x="71438" y="0"/>
                  </a:moveTo>
                  <a:lnTo>
                    <a:pt x="92392" y="104775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315402" y="2404110"/>
              <a:ext cx="685800" cy="685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92015" y="2404110"/>
              <a:ext cx="685800" cy="685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004185" y="478155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65669" y="26674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42281" y="26674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54451" y="504491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1539" y="268128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68734" y="268128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5136" y="591502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162300" y="3010852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86265" y="304800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62300" y="2283142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86265" y="232124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55495" y="4022408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79460" y="405955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580322" y="3649028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604287" y="36861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43325" y="3649028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67290" y="36861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268152" y="4022408"/>
              <a:ext cx="36957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92117" y="405955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459284" y="1954530"/>
            <a:ext cx="5199316" cy="1977961"/>
            <a:chOff x="6459284" y="1954530"/>
            <a:chExt cx="5199316" cy="1977961"/>
          </a:xfrm>
        </p:grpSpPr>
        <p:sp>
          <p:nvSpPr>
            <p:cNvPr id="49" name="Rectangle 49"/>
            <p:cNvSpPr/>
            <p:nvPr/>
          </p:nvSpPr>
          <p:spPr>
            <a:xfrm>
              <a:off x="6464618" y="1954530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65611" y="208311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 \ 明天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99894" y="208311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34297" y="208311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69652" y="208311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2328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7106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28610" y="2388870"/>
              <a:ext cx="9163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47393" y="25069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7371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72726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40402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4618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7106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02968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63012" y="2812732"/>
              <a:ext cx="9163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81795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72726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40402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67106" y="3356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02968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7371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798368" y="3237548"/>
              <a:ext cx="9163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117150" y="33566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40402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195453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91432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848725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784080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71848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59284" y="3727132"/>
              <a:ext cx="2300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转移矩阵 A（行 = 今天，列 = 明天）</a:t>
              </a:r>
            </a:p>
          </p:txBody>
        </p:sp>
      </p:grpSp>
      <p:grpSp>
        <p:nvGrpSpPr>
          <p:cNvPr id="97" name="c2-table-2"/>
          <p:cNvGrpSpPr/>
          <p:nvPr/>
        </p:nvGrpSpPr>
        <p:grpSpPr>
          <a:xfrm>
            <a:off x="6459284" y="4070985"/>
            <a:ext cx="5199316" cy="1128332"/>
            <a:chOff x="6459284" y="4070985"/>
            <a:chExt cx="5199316" cy="1128332"/>
          </a:xfrm>
        </p:grpSpPr>
        <p:sp>
          <p:nvSpPr>
            <p:cNvPr id="83" name="Rectangle 83"/>
            <p:cNvSpPr/>
            <p:nvPr/>
          </p:nvSpPr>
          <p:spPr>
            <a:xfrm>
              <a:off x="6464618" y="4070985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024688" y="41995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天气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55152" y="41995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01974" y="41995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48797" y="41995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567106" y="4623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πᵢ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402650" y="46234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05048" y="46234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851871" y="46234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464618" y="4070985"/>
              <a:ext cx="5193982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7914322" y="407098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161145" y="407098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407015" y="407098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459284" y="499395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初始分布 π（第 1 天）</a:t>
              </a:r>
            </a:p>
          </p:txBody>
        </p:sp>
      </p:grpSp>
      <p:grpSp>
        <p:nvGrpSpPr>
          <p:cNvPr id="104" name="c2-callout-3"/>
          <p:cNvGrpSpPr/>
          <p:nvPr/>
        </p:nvGrpSpPr>
        <p:grpSpPr>
          <a:xfrm>
            <a:off x="6464618" y="5338762"/>
            <a:ext cx="5193982" cy="1018222"/>
            <a:chOff x="6464618" y="5338762"/>
            <a:chExt cx="5193982" cy="1018222"/>
          </a:xfrm>
        </p:grpSpPr>
        <p:sp>
          <p:nvSpPr>
            <p:cNvPr id="98" name="Rectangle 98"/>
            <p:cNvSpPr/>
            <p:nvPr/>
          </p:nvSpPr>
          <p:spPr>
            <a:xfrm>
              <a:off x="6464618" y="533876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6669405" y="5748338"/>
              <a:ext cx="200026" cy="200025"/>
              <a:chOff x="6669405" y="5748338"/>
              <a:chExt cx="200026" cy="2000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6669405" y="57483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709144" y="5792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6743859" y="59039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6971729" y="5485924"/>
              <a:ext cx="410819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读法示例：今天下雪，明天转晴的概率是 a雪晴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0.75；今天下雨，明天转雪只有 0.02。对角线就是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“明天和今天一样”的概率。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3649" cy="909257"/>
            <a:chOff x="520446" y="342900"/>
            <a:chExt cx="76836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36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基本计算 1：序列概率 = 初始概率 × 逐步转移概率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03574" cy="308039"/>
            <a:chOff x="525399" y="1550194"/>
            <a:chExt cx="800357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035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问：六天的天气依次为 晴 雨 雨 雨 雪 雪，这个序列在模型 (π, A) 下的概率是多少？</a:t>
              </a:r>
            </a:p>
          </p:txBody>
        </p:sp>
      </p:grpSp>
      <p:grpSp>
        <p:nvGrpSpPr>
          <p:cNvPr id="35" name="c1-cells-1"/>
          <p:cNvGrpSpPr/>
          <p:nvPr/>
        </p:nvGrpSpPr>
        <p:grpSpPr>
          <a:xfrm>
            <a:off x="526923" y="1967865"/>
            <a:ext cx="5957697" cy="1009650"/>
            <a:chOff x="526923" y="1967865"/>
            <a:chExt cx="5957697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1552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9347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06905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08825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23210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2417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8562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39530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53915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5488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69268" y="196786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70235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923" y="2688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天气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1552" y="255841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7071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6905" y="255841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72424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23210" y="255841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87776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38562" y="2558415"/>
              <a:ext cx="915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03129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53915" y="2558415"/>
              <a:ext cx="915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18481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69268" y="2558415"/>
              <a:ext cx="915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33834" y="26884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</p:grpSp>
      <p:grpSp>
        <p:nvGrpSpPr>
          <p:cNvPr id="78" name="c1-table-2"/>
          <p:cNvGrpSpPr/>
          <p:nvPr/>
        </p:nvGrpSpPr>
        <p:grpSpPr>
          <a:xfrm>
            <a:off x="533400" y="3168015"/>
            <a:ext cx="5951220" cy="3141345"/>
            <a:chOff x="533400" y="3168015"/>
            <a:chExt cx="5951220" cy="3141345"/>
          </a:xfrm>
        </p:grpSpPr>
        <p:sp>
          <p:nvSpPr>
            <p:cNvPr id="36" name="Rectangle 36"/>
            <p:cNvSpPr/>
            <p:nvPr/>
          </p:nvSpPr>
          <p:spPr>
            <a:xfrm>
              <a:off x="533400" y="3168015"/>
              <a:ext cx="59512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977" y="33027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34907" y="33027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41774" y="33027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141" y="33027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累乘结果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223" y="3751421"/>
              <a:ext cx="284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50910" y="3751421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天是晴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71929" y="37514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79526" y="37514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0605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06527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420100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a晴雨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50910" y="4201001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→ 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24543" y="420100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89981" y="42010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50913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649629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a雨雨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50910" y="4649629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 → 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71929" y="464962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89981" y="464962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9577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496252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1223" y="509825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a雨雨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950910" y="5098256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 → 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71929" y="509825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95208" y="509825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0.0378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54073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223" y="5546884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a雨雪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950910" y="554688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 → 雪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324543" y="554688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05663" y="554688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0.000756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58559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33400" y="586073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1223" y="599551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a雪雪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950910" y="5995511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 → 雪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371929" y="59955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065395" y="5870258"/>
              <a:ext cx="14097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10891" y="599551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0.0001512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3168015"/>
              <a:ext cx="595122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1838325" y="316801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980498" y="316801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051108" y="316801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rd-1"/>
          <p:cNvGrpSpPr/>
          <p:nvPr/>
        </p:nvGrpSpPr>
        <p:grpSpPr>
          <a:xfrm>
            <a:off x="6789420" y="1967865"/>
            <a:ext cx="4869180" cy="1614488"/>
            <a:chOff x="6789420" y="1967865"/>
            <a:chExt cx="4869180" cy="1614488"/>
          </a:xfrm>
        </p:grpSpPr>
        <p:sp>
          <p:nvSpPr>
            <p:cNvPr id="79" name="Rectangle 79"/>
            <p:cNvSpPr/>
            <p:nvPr/>
          </p:nvSpPr>
          <p:spPr>
            <a:xfrm>
              <a:off x="6789420" y="1967865"/>
              <a:ext cx="4869180" cy="1614488"/>
            </a:xfrm>
            <a:prstGeom prst="roundRect">
              <a:avLst>
                <a:gd name="adj" fmla="val 8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798945" y="2101215"/>
              <a:ext cx="47625" cy="13477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29450" y="22021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29450" y="2556510"/>
              <a:ext cx="3882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P(晴,雨,雨,雨,雪,雪 | 模型) = 0.7 × 0.15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0.6 × 0.6 × 0.02 × 0.2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0.0001512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30593" y="3173254"/>
              <a:ext cx="4372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一共 1 个初始概率加 5 个转移概率，六天对应五次转移。</a:t>
              </a:r>
            </a:p>
          </p:txBody>
        </p:sp>
      </p:grpSp>
      <p:grpSp>
        <p:nvGrpSpPr>
          <p:cNvPr id="92" name="c2-card-2"/>
          <p:cNvGrpSpPr/>
          <p:nvPr/>
        </p:nvGrpSpPr>
        <p:grpSpPr>
          <a:xfrm>
            <a:off x="6789420" y="3772852"/>
            <a:ext cx="4869180" cy="2536508"/>
            <a:chOff x="6789420" y="3772852"/>
            <a:chExt cx="4869180" cy="2536508"/>
          </a:xfrm>
        </p:grpSpPr>
        <p:sp>
          <p:nvSpPr>
            <p:cNvPr id="85" name="Rectangle 85"/>
            <p:cNvSpPr/>
            <p:nvPr/>
          </p:nvSpPr>
          <p:spPr>
            <a:xfrm>
              <a:off x="6789420" y="3772852"/>
              <a:ext cx="4869180" cy="2536508"/>
            </a:xfrm>
            <a:prstGeom prst="roundRect">
              <a:avLst>
                <a:gd name="adj" fmla="val 52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798945" y="3906202"/>
              <a:ext cx="47625" cy="22698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37070" y="39824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27278" y="40181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38098" y="4017645"/>
              <a:ext cx="3085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“已知第一天是晴天”该不该乘 0.7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029450" y="4378642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原课件的问法是“已知第一天晴”，却在结果里乘了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π晴 = 0.7。0.0001512 是六天序列的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联合概率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029450" y="4999672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若第一天确实已知，求的是条件概率 P(后五天 |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q₁ = 晴) = 0.15 × 0.6 × 0.6 × 0.02 × 0.2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0.000216。考试时看清题目问哪一个。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85542" cy="909257"/>
            <a:chOff x="520446" y="342900"/>
            <a:chExt cx="8985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855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基本计算 2：在同一种天气里恰好停留 d 天，服从几何分布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46452" cy="293370"/>
            <a:chOff x="525780" y="1548765"/>
            <a:chExt cx="894645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46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问：已知今天处于天气 Sᵢ，它恰好连续保持 d 天（第 d+1 天换成别的天气）的概率 pᵢ(d) 是多少？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64055"/>
            <a:ext cx="5629656" cy="2632139"/>
            <a:chOff x="533400" y="1964055"/>
            <a:chExt cx="5629656" cy="263213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4717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20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69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写出事件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7428"/>
              <a:ext cx="4772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{Sᵢ, Sᵢ, …, Sᵢ, Sⱼ}，前面 d 个 Sᵢ，最后一个 Sⱼ 满足 j ≠ 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61794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化成条件概率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898457"/>
              <a:ext cx="5063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p(Q | 模型, q₁ = Sᵢ) = p(q₁ = Sᵢ, Q | 模型) / p(q₁ = Sᵢ)，πᵢ 约掉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2389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逐步相乘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519488"/>
              <a:ext cx="5216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留在 Sᵢ 共 d−1 次，每次 aᵢᵢ；最后离开一次，离开到哪个 j 都算，把 j ≠ i 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aᵢⱼ 全部加起来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080986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用行和为 1 化简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361498"/>
              <a:ext cx="4252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 j ≠ i 的 aᵢⱼ 求和等于 1 − aᵢᵢ，于是得到下面的公式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5"/>
              <p:cNvSpPr txBox="1">
                <a:spLocks noGrp="1"/>
              </p:cNvSpPr>
              <p:nvPr/>
            </p:nvSpPr>
            <p:spPr>
              <a:xfrm>
                <a:off x="533400" y="4772025"/>
                <a:ext cx="595122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1-callout-3"/>
          <p:cNvGrpSpPr/>
          <p:nvPr/>
        </p:nvGrpSpPr>
        <p:grpSpPr>
          <a:xfrm>
            <a:off x="533400" y="5434012"/>
            <a:ext cx="5951220" cy="756285"/>
            <a:chOff x="533400" y="5434012"/>
            <a:chExt cx="5951220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434012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5708451"/>
              <a:ext cx="224134" cy="192560"/>
              <a:chOff x="726129" y="5708451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7788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57084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8566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581174"/>
              <a:ext cx="478447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最后的因子 (1 − aᵢᵢ) 不能丢。少了它，算的是“至少停留 d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天”的概率，即 aᵢᵢ 的 d−1 次方。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783705" y="1954530"/>
            <a:ext cx="4874895" cy="2446497"/>
            <a:chOff x="6783705" y="1954530"/>
            <a:chExt cx="4874895" cy="2446497"/>
          </a:xfrm>
        </p:grpSpPr>
        <p:sp>
          <p:nvSpPr>
            <p:cNvPr id="35" name="Rectangle 35"/>
            <p:cNvSpPr/>
            <p:nvPr/>
          </p:nvSpPr>
          <p:spPr>
            <a:xfrm>
              <a:off x="6789420" y="1954530"/>
              <a:ext cx="486918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2625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2206" y="2085975"/>
              <a:ext cx="776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晴（0.8）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5233" y="2085975"/>
              <a:ext cx="776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雨（0.6）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8261" y="2085975"/>
              <a:ext cx="776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雪（0.2）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2625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11185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4213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7240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89420" y="281463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2625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676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29788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92816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2404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26251" y="3376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78090" y="3254692"/>
              <a:ext cx="134397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22336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364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48391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36699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89420" y="367474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2625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77911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0.1024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40939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0.0864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03966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789420" y="1954530"/>
              <a:ext cx="486918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6380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92683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29081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83705" y="4180999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三种天气恰好停留 d 天的概率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789420" y="4542472"/>
            <a:ext cx="4869180" cy="1647825"/>
            <a:chOff x="6789420" y="4542472"/>
            <a:chExt cx="4869180" cy="1647825"/>
          </a:xfrm>
        </p:grpSpPr>
        <p:sp>
          <p:nvSpPr>
            <p:cNvPr id="68" name="Rectangle 68"/>
            <p:cNvSpPr/>
            <p:nvPr/>
          </p:nvSpPr>
          <p:spPr>
            <a:xfrm>
              <a:off x="6789420" y="4542472"/>
              <a:ext cx="4869180" cy="1647825"/>
            </a:xfrm>
            <a:prstGeom prst="roundRect">
              <a:avLst>
                <a:gd name="adj" fmla="val 8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98945" y="4675822"/>
              <a:ext cx="47625" cy="13811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31355" y="47463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17613" y="47820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算一格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74686" y="4785836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晴天恰好连续 3 天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24116" y="5137309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p晴(3) = 0.8 × 0.8 × 0.2 = 0.128：前两次留下，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第三次离开。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25259" y="5725478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表中每一列都是公比为 aᵢᵢ 的等比数列，d 越大概率越小。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39626" cy="909257"/>
            <a:chOff x="520446" y="342900"/>
            <a:chExt cx="67396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80" y="407194"/>
              <a:ext cx="18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396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基本计算 3：平均停留天数 = 1 / (1 − aᵢᵢ)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818346" cy="278702"/>
            <a:chOff x="526161" y="1547336"/>
            <a:chExt cx="68183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8183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Sᵢ 开始，求在 Sᵢ 中连续停留天数的期望，就是对上一页的几何分布求期望。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4"/>
              <p:cNvSpPr txBox="1">
                <a:spLocks noGrp="1"/>
              </p:cNvSpPr>
              <p:nvPr/>
            </p:nvSpPr>
            <p:spPr>
              <a:xfrm>
                <a:off x="533400" y="1941195"/>
                <a:ext cx="5951220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bar>
                            <m:barPr>
                              <m:pos m:val="top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ba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ii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2"/>
          <p:cNvGrpSpPr/>
          <p:nvPr/>
        </p:nvGrpSpPr>
        <p:grpSpPr>
          <a:xfrm>
            <a:off x="533400" y="2807970"/>
            <a:ext cx="5951220" cy="3259455"/>
            <a:chOff x="533400" y="2807970"/>
            <a:chExt cx="5951220" cy="3259455"/>
          </a:xfrm>
        </p:grpSpPr>
        <p:sp>
          <p:nvSpPr>
            <p:cNvPr id="10" name="Rectangle 10"/>
            <p:cNvSpPr/>
            <p:nvPr/>
          </p:nvSpPr>
          <p:spPr>
            <a:xfrm>
              <a:off x="533400" y="2807970"/>
              <a:ext cx="5951220" cy="3259455"/>
            </a:xfrm>
            <a:prstGeom prst="roundRect">
              <a:avLst>
                <a:gd name="adj" fmla="val 4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941320"/>
              <a:ext cx="47625" cy="29927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3905" y="30003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5345" y="30346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7597" y="30403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最后一步用到的无穷级数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374708"/>
              <a:ext cx="532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对等比级数 1 + x + x² + x³ + … = 1/(1 − x)（|x| &lt; 1）两边求导：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5"/>
                <p:cNvSpPr txBox="1">
                  <a:spLocks noGrp="1"/>
                </p:cNvSpPr>
                <p:nvPr/>
              </p:nvSpPr>
              <p:spPr>
                <a:xfrm>
                  <a:off x="763905" y="3654742"/>
                  <a:ext cx="552831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57047" y="4329112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aᵢᵢ 再乘 (1 − aᵢᵢ)，分母约去一个 (1 − aᵢᵢ)，得 1/(1 −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aᵢᵢ)。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4885849"/>
              <a:ext cx="51391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原课件附注的等比数列公式：通项 Aₙ = A₁qⁿ⁻¹，前 n 项和 Sₙ = A₁(1 − qⁿ)/(1 −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q)。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784086" y="1941195"/>
            <a:ext cx="4874514" cy="1903666"/>
            <a:chOff x="6784086" y="1941195"/>
            <a:chExt cx="4874514" cy="1903666"/>
          </a:xfrm>
        </p:grpSpPr>
        <p:sp>
          <p:nvSpPr>
            <p:cNvPr id="20" name="Rectangle 20"/>
            <p:cNvSpPr/>
            <p:nvPr/>
          </p:nvSpPr>
          <p:spPr>
            <a:xfrm>
              <a:off x="6789420" y="1941195"/>
              <a:ext cx="486918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6349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天气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43847" y="20654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aᵢᵢ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40111" y="206549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1/(1 − aᵢᵢ)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89432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50066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720262" y="2356485"/>
              <a:ext cx="19288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39964" y="24712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天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27479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89420" y="2752725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89432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0066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720262" y="2762250"/>
              <a:ext cx="19288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57038" y="287702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天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31537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89432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50066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720262" y="3168015"/>
              <a:ext cx="19288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5575" y="328279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 天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89420" y="1941195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4579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0597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4086" y="3639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天气模型的平均停留天数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789420" y="3978592"/>
            <a:ext cx="4869180" cy="2088832"/>
            <a:chOff x="6789420" y="3978592"/>
            <a:chExt cx="4869180" cy="2088832"/>
          </a:xfrm>
        </p:grpSpPr>
        <p:sp>
          <p:nvSpPr>
            <p:cNvPr id="44" name="Rectangle 44"/>
            <p:cNvSpPr/>
            <p:nvPr/>
          </p:nvSpPr>
          <p:spPr>
            <a:xfrm>
              <a:off x="6789420" y="3978592"/>
              <a:ext cx="4869180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98945" y="4111942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19925" y="41709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3364" y="4205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直观理解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0317" y="4210050"/>
              <a:ext cx="2748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自转移概率越接近 1，状态越“黏”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13067" y="4544378"/>
              <a:ext cx="42656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每天离开的概率是 1 − aᵢᵢ，平均要等 1/(1 − aᵢᵢ) 天才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离开一次，和“掷硬币直到出现正面”的平均次数是同一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个道理。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28498" y="541782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4517" y="536162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aᵢᵢ = 0.9 时平均 10 天，aᵢᵢ = 0.99 时平均 100 天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28498" y="57197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84517" y="5663565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aᵢᵢ = 0 时平均 1 天：每天必换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54056" cy="3351847"/>
            <a:chOff x="667512" y="1835468"/>
            <a:chExt cx="425405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隐马尔可夫模型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状态藏了起来，只剩下由它产生的观测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世界不是完全可观测的：天气与穿着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缸球实验和偶尔作弊的赌场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014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双重随机过程与五元组 λ = (N, M, π, A, B)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35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要解决的三个基本问题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看不见天气，只看得见路人的穿着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67498" cy="264033"/>
            <a:chOff x="526542" y="1545907"/>
            <a:chExt cx="786749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6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天气仍按上一部分的 A 变化，但观察者关在屋里，每天只能看到门外路人穿裙子、外套还是打伞。</a:t>
              </a:r>
            </a:p>
          </p:txBody>
        </p:sp>
      </p:grpSp>
      <p:grpSp>
        <p:nvGrpSpPr>
          <p:cNvPr id="55" name="c1-graph-1"/>
          <p:cNvGrpSpPr/>
          <p:nvPr/>
        </p:nvGrpSpPr>
        <p:grpSpPr>
          <a:xfrm>
            <a:off x="984885" y="2027396"/>
            <a:ext cx="4997768" cy="3288220"/>
            <a:chOff x="984885" y="2027396"/>
            <a:chExt cx="4997768" cy="3288220"/>
          </a:xfrm>
        </p:grpSpPr>
        <p:sp>
          <p:nvSpPr>
            <p:cNvPr id="9" name="Freeform 9"/>
            <p:cNvSpPr/>
            <p:nvPr/>
          </p:nvSpPr>
          <p:spPr>
            <a:xfrm>
              <a:off x="1568768" y="2949892"/>
              <a:ext cx="813435" cy="9525"/>
            </a:xfrm>
            <a:custGeom>
              <a:avLst/>
              <a:gdLst/>
              <a:ahLst/>
              <a:cxnLst/>
              <a:rect l="l" t="t" r="r" b="b"/>
              <a:pathLst>
                <a:path w="813435" h="9525">
                  <a:moveTo>
                    <a:pt x="0" y="0"/>
                  </a:moveTo>
                  <a:lnTo>
                    <a:pt x="813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82202" y="2902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9902" y="2949892"/>
              <a:ext cx="813435" cy="9525"/>
            </a:xfrm>
            <a:custGeom>
              <a:avLst/>
              <a:gdLst/>
              <a:ahLst/>
              <a:cxnLst/>
              <a:rect l="l" t="t" r="r" b="b"/>
              <a:pathLst>
                <a:path w="813435" h="9525">
                  <a:moveTo>
                    <a:pt x="0" y="0"/>
                  </a:moveTo>
                  <a:lnTo>
                    <a:pt x="813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43338" y="2902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91038" y="2949892"/>
              <a:ext cx="812482" cy="9525"/>
            </a:xfrm>
            <a:custGeom>
              <a:avLst/>
              <a:gdLst/>
              <a:ahLst/>
              <a:cxnLst/>
              <a:rect l="l" t="t" r="r" b="b"/>
              <a:pathLst>
                <a:path w="812482" h="9525">
                  <a:moveTo>
                    <a:pt x="0" y="0"/>
                  </a:moveTo>
                  <a:lnTo>
                    <a:pt x="8124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03520" y="2902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92542" y="3226118"/>
              <a:ext cx="9525" cy="1167765"/>
            </a:xfrm>
            <a:custGeom>
              <a:avLst/>
              <a:gdLst/>
              <a:ahLst/>
              <a:cxnLst/>
              <a:rect l="l" t="t" r="r" b="b"/>
              <a:pathLst>
                <a:path w="9525" h="1167765">
                  <a:moveTo>
                    <a:pt x="0" y="0"/>
                  </a:moveTo>
                  <a:lnTo>
                    <a:pt x="0" y="11677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244918" y="4393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53678" y="3226118"/>
              <a:ext cx="9525" cy="1167765"/>
            </a:xfrm>
            <a:custGeom>
              <a:avLst/>
              <a:gdLst/>
              <a:ahLst/>
              <a:cxnLst/>
              <a:rect l="l" t="t" r="r" b="b"/>
              <a:pathLst>
                <a:path w="9525" h="1167765">
                  <a:moveTo>
                    <a:pt x="0" y="0"/>
                  </a:moveTo>
                  <a:lnTo>
                    <a:pt x="0" y="11677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706052" y="4393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14812" y="3226118"/>
              <a:ext cx="9525" cy="1167765"/>
            </a:xfrm>
            <a:custGeom>
              <a:avLst/>
              <a:gdLst/>
              <a:ahLst/>
              <a:cxnLst/>
              <a:rect l="l" t="t" r="r" b="b"/>
              <a:pathLst>
                <a:path w="9525" h="1167765">
                  <a:moveTo>
                    <a:pt x="0" y="0"/>
                  </a:moveTo>
                  <a:lnTo>
                    <a:pt x="0" y="11677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167188" y="4393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674995" y="3226118"/>
              <a:ext cx="9525" cy="1167765"/>
            </a:xfrm>
            <a:custGeom>
              <a:avLst/>
              <a:gdLst/>
              <a:ahLst/>
              <a:cxnLst/>
              <a:rect l="l" t="t" r="r" b="b"/>
              <a:pathLst>
                <a:path w="9525" h="1167765">
                  <a:moveTo>
                    <a:pt x="0" y="0"/>
                  </a:moveTo>
                  <a:lnTo>
                    <a:pt x="0" y="11677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627370" y="4393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25842" y="2683192"/>
              <a:ext cx="533400" cy="5334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486978" y="2683192"/>
              <a:ext cx="533400" cy="5334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948112" y="2683192"/>
              <a:ext cx="533400" cy="5334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408295" y="2683192"/>
              <a:ext cx="533400" cy="5334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84885" y="4489132"/>
              <a:ext cx="615315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46020" y="4489132"/>
              <a:ext cx="615315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907155" y="4489132"/>
              <a:ext cx="615315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67338" y="4489132"/>
              <a:ext cx="615315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42500" y="28841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q₁ ?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3635" y="28841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q₂ ?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64770" y="28841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q₃ 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4953" y="28841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q₄ ?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5857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06993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68128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28310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雨伞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56435" y="28708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86272" y="2900839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417570" y="28708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47407" y="2900839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877752" y="28708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07590" y="2900839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25868" y="37785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5705" y="380857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87002" y="37785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716840" y="380857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148138" y="37785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77975" y="380857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608320" y="37785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38157" y="380857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92235" y="202739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隐藏层：天气序列（看不见）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92235" y="512492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观测层：穿着序列（看得见）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675882" y="1928812"/>
            <a:ext cx="4982718" cy="1789462"/>
            <a:chOff x="6675882" y="1928812"/>
            <a:chExt cx="4982718" cy="1789462"/>
          </a:xfrm>
        </p:grpSpPr>
        <p:sp>
          <p:nvSpPr>
            <p:cNvPr id="56" name="Rectangle 56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5708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天气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010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裙子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4501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8993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75514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25786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69751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14669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680835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80835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75514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86915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9751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75797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80835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75514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935278" y="3082290"/>
              <a:ext cx="12249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352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69751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14669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680835" y="1928812"/>
              <a:ext cx="497776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920990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16495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40987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75882" y="3527584"/>
              <a:ext cx="25030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观测概率矩阵 B（给定天气下的穿着分布）</a:t>
              </a:r>
            </a:p>
          </p:txBody>
        </p:sp>
      </p:grpSp>
      <p:grpSp>
        <p:nvGrpSpPr>
          <p:cNvPr id="94" name="c2-card-2"/>
          <p:cNvGrpSpPr/>
          <p:nvPr/>
        </p:nvGrpSpPr>
        <p:grpSpPr>
          <a:xfrm>
            <a:off x="6680835" y="3844290"/>
            <a:ext cx="4977765" cy="1487805"/>
            <a:chOff x="6680835" y="3844290"/>
            <a:chExt cx="4977765" cy="1487805"/>
          </a:xfrm>
        </p:grpSpPr>
        <p:sp>
          <p:nvSpPr>
            <p:cNvPr id="83" name="Rectangle 83"/>
            <p:cNvSpPr/>
            <p:nvPr/>
          </p:nvSpPr>
          <p:spPr>
            <a:xfrm>
              <a:off x="6680835" y="3844290"/>
              <a:ext cx="497776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90360" y="3977640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899910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992582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66838" y="40647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观测只给出线索，不给出答案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909435" y="443388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64883" y="4381976"/>
              <a:ext cx="4191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看到雨伞：雨天和雪天都很可能，晴天也有 0.1 的机会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909435" y="471963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064883" y="4666774"/>
              <a:ext cx="412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看到裙子：可以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排除雪天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，因为雪天穿裙子的概率是 0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6909435" y="500443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064883" y="49515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同一个观测可以来自不同的天气，状态和观测不是一一对应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5" name="Rectangle 9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1273" y="6039326"/>
              <a:ext cx="7269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和马尔可夫模型相比只多了一张表 B，但状态序列从此看不见，只能借助 B 从观测里间接推断。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缸球实验：只看到球的颜色，看不到球从哪口缸里来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951220" cy="2537460"/>
            <a:chOff x="533400" y="1524000"/>
            <a:chExt cx="5951220" cy="2537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537460"/>
            </a:xfrm>
            <a:prstGeom prst="roundRect">
              <a:avLst>
                <a:gd name="adj" fmla="val 5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707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830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口缸，每口缸里颜色比例不同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按初始概率分布随机选一口缸开始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按这口缸里的颜色分布随机摸一个球，记下颜色 O₁，把球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放回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0727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086100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按缸与缸之间的转移概率随机选下一口缸，重复第 2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418046"/>
              <a:ext cx="5247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最后得到颜色序列 O₁, O₂, …，叫观察值序列 O。帘子后面依次用了哪些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缸，观察者不知道。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251960"/>
            <a:ext cx="5951220" cy="2005965"/>
            <a:chOff x="533400" y="4251960"/>
            <a:chExt cx="5951220" cy="2005965"/>
          </a:xfrm>
        </p:grpSpPr>
        <p:sp>
          <p:nvSpPr>
            <p:cNvPr id="23" name="Rectangle 23"/>
            <p:cNvSpPr/>
            <p:nvPr/>
          </p:nvSpPr>
          <p:spPr>
            <a:xfrm>
              <a:off x="533400" y="4251960"/>
              <a:ext cx="595122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38531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4615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44972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约束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2078" y="449675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这个实验有三个要点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9206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8577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缸与缸之间的转移不能被直接观察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52558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519303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摸出的颜色和缸不是一一对应的：每口缸里都可能有各种颜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8769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81406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每次选哪口缸由一组转移概率决定，只依赖上一次用的缸</a:t>
              </a:r>
            </a:p>
          </p:txBody>
        </p:sp>
      </p:grpSp>
      <p:grpSp>
        <p:nvGrpSpPr>
          <p:cNvPr id="37" name="c2-image-1"/>
          <p:cNvGrpSpPr/>
          <p:nvPr/>
        </p:nvGrpSpPr>
        <p:grpSpPr>
          <a:xfrm>
            <a:off x="7409002" y="1524000"/>
            <a:ext cx="3630016" cy="2696052"/>
            <a:chOff x="7409002" y="1524000"/>
            <a:chExt cx="3630016" cy="2696052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5560" t="0" r="5560" b="0"/>
            <a:stretch>
              <a:fillRect/>
            </a:stretch>
          </p:blipFill>
          <p:spPr>
            <a:xfrm>
              <a:off x="7636192" y="1524000"/>
              <a:ext cx="3174682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409002" y="400002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帘子后面是缸（状态），帘子前面只剩一串球（观测）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789420" y="4385310"/>
            <a:ext cx="4869180" cy="1872615"/>
            <a:chOff x="6789420" y="4385310"/>
            <a:chExt cx="4869180" cy="1872615"/>
          </a:xfrm>
        </p:grpSpPr>
        <p:sp>
          <p:nvSpPr>
            <p:cNvPr id="38" name="Rectangle 38"/>
            <p:cNvSpPr/>
            <p:nvPr/>
          </p:nvSpPr>
          <p:spPr>
            <a:xfrm>
              <a:off x="6789420" y="4385310"/>
              <a:ext cx="4869180" cy="1872615"/>
            </a:xfrm>
            <a:prstGeom prst="roundRect">
              <a:avLst>
                <a:gd name="adj" fmla="val 610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994208" y="5221605"/>
              <a:ext cx="200026" cy="200025"/>
              <a:chOff x="6994208" y="522160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94208" y="52216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33946" y="52660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68662" y="53771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96150" y="507873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对照天气例子：缸对应天气，球的颜色对应穿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着，摸球规则对应 B，换缸规则对应 A。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偶尔作弊的赌场：公平骰子和灌铅骰子轮流上场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811449" cy="278702"/>
            <a:chOff x="526161" y="1547336"/>
            <a:chExt cx="981144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8114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赌场大多数时候用公平骰子，偶尔偷偷换成灌铅骰子。原课件模拟了 100 次掷骰，给出每次用的骰子和掷出的点数。</a:t>
              </a:r>
            </a:p>
          </p:txBody>
        </p:sp>
      </p:grpSp>
      <p:grpSp>
        <p:nvGrpSpPr>
          <p:cNvPr id="27" name="c1-graph-1"/>
          <p:cNvGrpSpPr/>
          <p:nvPr/>
        </p:nvGrpSpPr>
        <p:grpSpPr>
          <a:xfrm>
            <a:off x="1489710" y="2172176"/>
            <a:ext cx="3930015" cy="1294448"/>
            <a:chOff x="1489710" y="2172176"/>
            <a:chExt cx="3930015" cy="1294448"/>
          </a:xfrm>
        </p:grpSpPr>
        <p:sp>
          <p:nvSpPr>
            <p:cNvPr id="9" name="Freeform 9"/>
            <p:cNvSpPr/>
            <p:nvPr/>
          </p:nvSpPr>
          <p:spPr>
            <a:xfrm>
              <a:off x="1489710" y="2192655"/>
              <a:ext cx="1124902" cy="485775"/>
            </a:xfrm>
            <a:custGeom>
              <a:avLst/>
              <a:gdLst/>
              <a:ahLst/>
              <a:cxnLst/>
              <a:rect l="l" t="t" r="r" b="b"/>
              <a:pathLst>
                <a:path w="1124902" h="485775">
                  <a:moveTo>
                    <a:pt x="348615" y="485775"/>
                  </a:moveTo>
                  <a:cubicBezTo>
                    <a:pt x="0" y="0"/>
                    <a:pt x="1124902" y="0"/>
                    <a:pt x="777240" y="4857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66950" y="2584132"/>
              <a:ext cx="84773" cy="94297"/>
            </a:xfrm>
            <a:custGeom>
              <a:avLst/>
              <a:gdLst/>
              <a:ahLst/>
              <a:cxnLst/>
              <a:rect l="l" t="t" r="r" b="b"/>
              <a:pathLst>
                <a:path w="84773" h="94297">
                  <a:moveTo>
                    <a:pt x="0" y="94297"/>
                  </a:moveTo>
                  <a:lnTo>
                    <a:pt x="15240" y="0"/>
                  </a:lnTo>
                  <a:lnTo>
                    <a:pt x="84773" y="495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94822" y="2192655"/>
              <a:ext cx="1124903" cy="485775"/>
            </a:xfrm>
            <a:custGeom>
              <a:avLst/>
              <a:gdLst/>
              <a:ahLst/>
              <a:cxnLst/>
              <a:rect l="l" t="t" r="r" b="b"/>
              <a:pathLst>
                <a:path w="1124903" h="485775">
                  <a:moveTo>
                    <a:pt x="347662" y="485775"/>
                  </a:moveTo>
                  <a:cubicBezTo>
                    <a:pt x="0" y="0"/>
                    <a:pt x="1124903" y="0"/>
                    <a:pt x="777240" y="4857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72062" y="2584132"/>
              <a:ext cx="84772" cy="94297"/>
            </a:xfrm>
            <a:custGeom>
              <a:avLst/>
              <a:gdLst/>
              <a:ahLst/>
              <a:cxnLst/>
              <a:rect l="l" t="t" r="r" b="b"/>
              <a:pathLst>
                <a:path w="84772" h="94297">
                  <a:moveTo>
                    <a:pt x="0" y="94297"/>
                  </a:moveTo>
                  <a:lnTo>
                    <a:pt x="14288" y="0"/>
                  </a:lnTo>
                  <a:lnTo>
                    <a:pt x="84772" y="495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6025" y="3111818"/>
              <a:ext cx="1852612" cy="337503"/>
            </a:xfrm>
            <a:custGeom>
              <a:avLst/>
              <a:gdLst/>
              <a:ahLst/>
              <a:cxnLst/>
              <a:rect l="l" t="t" r="r" b="b"/>
              <a:pathLst>
                <a:path w="1852612" h="337503">
                  <a:moveTo>
                    <a:pt x="0" y="0"/>
                  </a:moveTo>
                  <a:cubicBezTo>
                    <a:pt x="645795" y="323215"/>
                    <a:pt x="1263332" y="337503"/>
                    <a:pt x="1852612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17682" y="3111818"/>
              <a:ext cx="105727" cy="84773"/>
            </a:xfrm>
            <a:custGeom>
              <a:avLst/>
              <a:gdLst/>
              <a:ahLst/>
              <a:cxnLst/>
              <a:rect l="l" t="t" r="r" b="b"/>
              <a:pathLst>
                <a:path w="105727" h="84773">
                  <a:moveTo>
                    <a:pt x="105727" y="0"/>
                  </a:moveTo>
                  <a:lnTo>
                    <a:pt x="41910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70798" y="2340928"/>
              <a:ext cx="1852612" cy="337502"/>
            </a:xfrm>
            <a:custGeom>
              <a:avLst/>
              <a:gdLst/>
              <a:ahLst/>
              <a:cxnLst/>
              <a:rect l="l" t="t" r="r" b="b"/>
              <a:pathLst>
                <a:path w="1852612" h="337502">
                  <a:moveTo>
                    <a:pt x="1852612" y="337502"/>
                  </a:moveTo>
                  <a:cubicBezTo>
                    <a:pt x="1206818" y="14288"/>
                    <a:pt x="589280" y="0"/>
                    <a:pt x="0" y="2946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86025" y="259270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3817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75435" y="2678430"/>
              <a:ext cx="953452" cy="433388"/>
            </a:xfrm>
            <a:prstGeom prst="roundRect">
              <a:avLst>
                <a:gd name="adj" fmla="val 21978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0548" y="2678430"/>
              <a:ext cx="953452" cy="433388"/>
            </a:xfrm>
            <a:prstGeom prst="roundRect">
              <a:avLst>
                <a:gd name="adj" fmla="val 219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39304" y="282987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公平 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3464" y="282987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灌铅 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6448" y="217217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0965" y="217217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02318" y="3275648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28528" y="330469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0892" y="2357438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58885" y="238648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28066" y="3850005"/>
            <a:ext cx="5847969" cy="1496949"/>
            <a:chOff x="528066" y="3850005"/>
            <a:chExt cx="5847969" cy="1496949"/>
          </a:xfrm>
        </p:grpSpPr>
        <p:sp>
          <p:nvSpPr>
            <p:cNvPr id="28" name="Rectangle 28"/>
            <p:cNvSpPr/>
            <p:nvPr/>
          </p:nvSpPr>
          <p:spPr>
            <a:xfrm>
              <a:off x="533400" y="3850005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9848" y="3974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9119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09214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68356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8451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87594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7689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412" y="438007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 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68266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28361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87504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47599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06741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66836" y="43800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6567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66153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478583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灌铅 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26803" y="47858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86898" y="47858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46041" y="47858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06136" y="47858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65278" y="47858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626418" y="4671060"/>
              <a:ext cx="74009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66836" y="478583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850005"/>
              <a:ext cx="584263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814512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573655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333750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092892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852035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612130" y="38500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066" y="5141595"/>
              <a:ext cx="1409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两种骰子的点数分布 B</a:t>
              </a:r>
            </a:p>
          </p:txBody>
        </p:sp>
      </p:grpSp>
      <p:grpSp>
        <p:nvGrpSpPr>
          <p:cNvPr id="63" name="c2-image-1"/>
          <p:cNvGrpSpPr/>
          <p:nvPr/>
        </p:nvGrpSpPr>
        <p:grpSpPr>
          <a:xfrm>
            <a:off x="8187690" y="1941195"/>
            <a:ext cx="1965008" cy="1473518"/>
            <a:chOff x="8187690" y="1941195"/>
            <a:chExt cx="1965008" cy="1473518"/>
          </a:xfrm>
        </p:grpSpPr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2"/>
            <a:srcRect l="5548" t="0" r="5549" b="0"/>
            <a:stretch>
              <a:fillRect/>
            </a:stretch>
          </p:blipFill>
          <p:spPr>
            <a:xfrm>
              <a:off x="8187690" y="1941195"/>
              <a:ext cx="1965008" cy="1473518"/>
            </a:xfrm>
            <a:prstGeom prst="roundRect">
              <a:avLst>
                <a:gd name="adj" fmla="val 9049"/>
              </a:avLst>
            </a:prstGeom>
          </p:spPr>
        </p:pic>
      </p:grpSp>
      <p:grpSp>
        <p:nvGrpSpPr>
          <p:cNvPr id="71" name="c2-card-2"/>
          <p:cNvGrpSpPr/>
          <p:nvPr/>
        </p:nvGrpSpPr>
        <p:grpSpPr>
          <a:xfrm>
            <a:off x="6680835" y="3589972"/>
            <a:ext cx="4977765" cy="1954530"/>
            <a:chOff x="6680835" y="3589972"/>
            <a:chExt cx="4977765" cy="1954530"/>
          </a:xfrm>
        </p:grpSpPr>
        <p:sp>
          <p:nvSpPr>
            <p:cNvPr id="64" name="Rectangle 64"/>
            <p:cNvSpPr/>
            <p:nvPr/>
          </p:nvSpPr>
          <p:spPr>
            <a:xfrm>
              <a:off x="6680835" y="3589972"/>
              <a:ext cx="4977765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90360" y="3723322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11340" y="378237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90779" y="381666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课件的问题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95082" y="382238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长期来看，两种骰子各用了多少比例？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04482" y="4156710"/>
              <a:ext cx="41713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平稳时，从 F 流向 L 的概率等于从 L 流回 F 的概率：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π(F) × 0.05 = π(L) × 0.1，又 π(F) + π(L) = 1，解得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π(F)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2/3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，π(L)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05625" y="4969669"/>
              <a:ext cx="36669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长期看掷出 6 点的频率为 2/3 × 1/6 + 1/3 × 1/2 = 5/18 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0.278。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3610"/>
              <a:ext cx="8155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课件接着问：如果只看到点数序列，看不到用的是哪颗骰子，还能判断吗？这正是 HMM 的解码问题。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16363" cy="909257"/>
            <a:chOff x="520446" y="342900"/>
            <a:chExt cx="88163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163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是双重随机过程：一层管状态转移，一层管观测生成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666750" y="1924050"/>
            <a:ext cx="5684520" cy="629602"/>
            <a:chOff x="666750" y="1924050"/>
            <a:chExt cx="5684520" cy="629602"/>
          </a:xfrm>
        </p:grpSpPr>
        <p:sp>
          <p:nvSpPr>
            <p:cNvPr id="7" name="Freeform 7"/>
            <p:cNvSpPr/>
            <p:nvPr/>
          </p:nvSpPr>
          <p:spPr>
            <a:xfrm>
              <a:off x="1887855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49780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75660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3758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63465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25390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19240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54555" y="19240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42360" y="19240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130165" y="1924050"/>
              <a:ext cx="12211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4426" y="203977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(π, A)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6934" y="2039779"/>
              <a:ext cx="7363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状态序列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q₁, q₂, 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21316" y="2039779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7841" y="203977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观察值序列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O₁, O₂, …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39115" y="3168015"/>
            <a:ext cx="5827395" cy="638175"/>
            <a:chOff x="539115" y="3168015"/>
            <a:chExt cx="5827395" cy="638175"/>
          </a:xfrm>
        </p:grpSpPr>
        <p:sp>
          <p:nvSpPr>
            <p:cNvPr id="22" name="Ellipse 22"/>
            <p:cNvSpPr/>
            <p:nvPr/>
          </p:nvSpPr>
          <p:spPr>
            <a:xfrm>
              <a:off x="539115" y="32308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7230" y="316801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状态不确定或不可见，只能通过观测序列的随机过程表现出来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9115" y="3575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7230" y="351282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观察到的事件与状态之间没有一一对应，靠一组概率分布相联系</a:t>
              </a:r>
            </a:p>
          </p:txBody>
        </p:sp>
      </p:grpSp>
      <p:grpSp>
        <p:nvGrpSpPr>
          <p:cNvPr id="47" name="c1-compare-3"/>
          <p:cNvGrpSpPr/>
          <p:nvPr/>
        </p:nvGrpSpPr>
        <p:grpSpPr>
          <a:xfrm>
            <a:off x="533400" y="3937635"/>
            <a:ext cx="5951220" cy="2274570"/>
            <a:chOff x="533400" y="3937635"/>
            <a:chExt cx="5951220" cy="2274570"/>
          </a:xfrm>
        </p:grpSpPr>
        <p:sp>
          <p:nvSpPr>
            <p:cNvPr id="27" name="Rectangle 27"/>
            <p:cNvSpPr/>
            <p:nvPr/>
          </p:nvSpPr>
          <p:spPr>
            <a:xfrm>
              <a:off x="533400" y="3937635"/>
              <a:ext cx="246126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070985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3430" y="4171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5891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5262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描述状态的转移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49244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861560"/>
              <a:ext cx="175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用转移概率 A 和初始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 π 刻画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5454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48259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23360" y="3937635"/>
              <a:ext cx="246126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32885" y="4070985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63390" y="4171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一般随机过程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276725" y="45891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34840" y="452628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描述状态与观测之间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的关系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276725" y="52101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34840" y="5147310"/>
              <a:ext cx="1876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用观察值概率 B 刻画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4276725" y="55454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434840" y="548259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看得见的只有它的输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42285" y="4608195"/>
              <a:ext cx="933450" cy="9334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9623" y="50091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两个组成部分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789420" y="1524000"/>
            <a:ext cx="4869180" cy="4688205"/>
            <a:chOff x="6789420" y="1524000"/>
            <a:chExt cx="4869180" cy="4688205"/>
          </a:xfrm>
        </p:grpSpPr>
        <p:sp>
          <p:nvSpPr>
            <p:cNvPr id="48" name="Rectangle 48"/>
            <p:cNvSpPr/>
            <p:nvPr/>
          </p:nvSpPr>
          <p:spPr>
            <a:xfrm>
              <a:off x="6789420" y="1524000"/>
              <a:ext cx="4869180" cy="4688205"/>
            </a:xfrm>
            <a:prstGeom prst="roundRect">
              <a:avLst>
                <a:gd name="adj" fmla="val 284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989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891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99998" y="1768792"/>
              <a:ext cx="256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HMM 默认的两条独立性假设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9897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081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99960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齐次马尔可夫假设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：下一时刻的状态只依赖当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前状态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formula35"/>
                <p:cNvSpPr txBox="1">
                  <a:spLocks noGrp="1"/>
                </p:cNvSpPr>
                <p:nvPr/>
              </p:nvSpPr>
              <p:spPr>
                <a:xfrm>
                  <a:off x="6998970" y="2726055"/>
                  <a:ext cx="445008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6" name="Ellipse 56"/>
            <p:cNvSpPr/>
            <p:nvPr/>
          </p:nvSpPr>
          <p:spPr>
            <a:xfrm>
              <a:off x="6998970" y="3194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0819" y="3236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99960" y="32080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观测独立假设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：某一时刻的观测只依赖该时刻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的状态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formula36"/>
                <p:cNvSpPr txBox="1">
                  <a:spLocks noGrp="1"/>
                </p:cNvSpPr>
                <p:nvPr/>
              </p:nvSpPr>
              <p:spPr>
                <a:xfrm>
                  <a:off x="6998970" y="3804285"/>
                  <a:ext cx="445008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其他观测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0" name="TextBox 60"/>
            <p:cNvSpPr txBox="1"/>
            <p:nvPr/>
          </p:nvSpPr>
          <p:spPr>
            <a:xfrm>
              <a:off x="6991350" y="4286250"/>
              <a:ext cx="4263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放到天气例子里：第 4 天的天气只看第 3 天的天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气；第 3 天路人打不打伞只看第 3 天的天气，与前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后几天的穿着无关。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92493" y="5189696"/>
              <a:ext cx="4182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后面前向、后向、Viterbi 的每一步乘法能拆开，靠的都是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这两条假设。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7385" cy="909257"/>
            <a:chOff x="520446" y="342900"/>
            <a:chExt cx="76573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73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五元组 λ = (N, M, π, A, B) 完整描述一个 HMM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04871" cy="293370"/>
            <a:chOff x="525780" y="1548765"/>
            <a:chExt cx="620487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04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N、M 可以从 π、A、B 的尺寸读出来，所以常简写为 λ = (π, A, B)。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54530"/>
            <a:ext cx="11125200" cy="2581275"/>
            <a:chOff x="533400" y="1954530"/>
            <a:chExt cx="11125200" cy="25812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677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519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2409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缸球实例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65780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天气穿着实例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9033" y="25155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9824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状态数目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56529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缸的数目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9762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种天气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1111" y="2946082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39824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每个状态可能的观察值数目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56529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彩球颜色数目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9762" y="294608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种穿着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9033" y="337661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9824" y="3376612"/>
              <a:ext cx="2980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与时间无关的状态转移概率矩阵（N × N）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56529" y="337661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选定某口缸后下一次选另一口缸的概率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59762" y="33766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天气转移表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9033" y="38061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39824" y="3806190"/>
              <a:ext cx="2853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给定状态下观察值的概率分布（N × M）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6529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每口缸中的颜色分布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59762" y="380619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各种天气下的穿着分布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1673" y="4236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39824" y="4236720"/>
              <a:ext cx="2257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初始状态的概率分布（长度 N）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56529" y="423672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初始时选择某口缸的概率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59762" y="423672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天的天气分布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11125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2971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46420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649652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39"/>
              <p:cNvSpPr txBox="1">
                <a:spLocks noGrp="1"/>
              </p:cNvSpPr>
              <p:nvPr/>
            </p:nvSpPr>
            <p:spPr>
              <a:xfrm>
                <a:off x="533400" y="4720590"/>
                <a:ext cx="11125200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2" name="c1-callout-3"/>
          <p:cNvGrpSpPr/>
          <p:nvPr/>
        </p:nvGrpSpPr>
        <p:grpSpPr>
          <a:xfrm>
            <a:off x="533400" y="5566410"/>
            <a:ext cx="11125200" cy="796290"/>
            <a:chOff x="533400" y="5566410"/>
            <a:chExt cx="11125200" cy="796290"/>
          </a:xfrm>
        </p:grpSpPr>
        <p:sp>
          <p:nvSpPr>
            <p:cNvPr id="46" name="Rectangle 46"/>
            <p:cNvSpPr/>
            <p:nvPr/>
          </p:nvSpPr>
          <p:spPr>
            <a:xfrm>
              <a:off x="533400" y="5566410"/>
              <a:ext cx="11125200" cy="796290"/>
            </a:xfrm>
            <a:prstGeom prst="roundRect">
              <a:avLst>
                <a:gd name="adj" fmla="val 1435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864543"/>
              <a:ext cx="200026" cy="200025"/>
              <a:chOff x="738188" y="586454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8645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59089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0201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5865019"/>
              <a:ext cx="9312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和 A 一样按行归一：给定状态 j，它发出 M 种观测的概率加起来是 1。vₖ 表示第 k 种观测符号，如“雨伞”。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6290" cy="909257"/>
            <a:chOff x="520446" y="342900"/>
            <a:chExt cx="85262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62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适合“真实状态看不见，只能看到一串信号”的场合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原课件列出的应用领域如下，右两列是每个任务里隐状态和观测分别是什么。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424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领域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8648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2062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5578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语音识别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1446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把语音转成文字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68418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音素或词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7420" y="255127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每一小段语音的声学特征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机器视觉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446" y="30008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人脸检测、机器人足球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8418" y="30008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目标所处的部位或真实位置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7420" y="30008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图像条带特征、传感器读数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21446" y="34494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图像去噪、图像识别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418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像素的真实类别或灰度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7420" y="3449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带噪声的观测像素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771900"/>
              <a:ext cx="17611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生物医学分析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21446" y="3898106"/>
              <a:ext cx="1691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DNA、蛋白质序列分析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8418" y="3898106"/>
              <a:ext cx="2138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区域类型（如是否 CpG 岛）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7420" y="38981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碱基或氨基酸序列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21480"/>
              <a:ext cx="17611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3467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自然语言处理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21446" y="43467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分词、词性标注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68418" y="4346734"/>
              <a:ext cx="2065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字的 B/M/E/S 标签、词性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7420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汉字或词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0886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75583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20483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llout-2"/>
          <p:cNvGrpSpPr/>
          <p:nvPr/>
        </p:nvGrpSpPr>
        <p:grpSpPr>
          <a:xfrm>
            <a:off x="533400" y="4851082"/>
            <a:ext cx="11125200" cy="1511618"/>
            <a:chOff x="533400" y="4851082"/>
            <a:chExt cx="11125200" cy="1511618"/>
          </a:xfrm>
        </p:grpSpPr>
        <p:sp>
          <p:nvSpPr>
            <p:cNvPr id="47" name="Rectangle 47"/>
            <p:cNvSpPr/>
            <p:nvPr/>
          </p:nvSpPr>
          <p:spPr>
            <a:xfrm>
              <a:off x="533400" y="4851082"/>
              <a:ext cx="11125200" cy="1511618"/>
            </a:xfrm>
            <a:prstGeom prst="roundRect">
              <a:avLst>
                <a:gd name="adj" fmla="val 756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506403"/>
              <a:ext cx="200026" cy="200026"/>
              <a:chOff x="738188" y="5506403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506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573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56064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363528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最后两行在本章第六部分有完整例子：CpG 岛识别、中文分词与词性标注。建模时先问两件事：什么是看不见的状态，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什么是看得见的观测。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3396" cy="909257"/>
            <a:chOff x="520446" y="342900"/>
            <a:chExt cx="6413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3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的三个基本问题：评估、解码、学习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table-1"/>
          <p:cNvGrpSpPr/>
          <p:nvPr/>
        </p:nvGrpSpPr>
        <p:grpSpPr>
          <a:xfrm>
            <a:off x="533400" y="1524000"/>
            <a:ext cx="11125200" cy="1795462"/>
            <a:chOff x="533400" y="1524000"/>
            <a:chExt cx="11125200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807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2068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720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1 计算（评估）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3378" y="2108359"/>
              <a:ext cx="1519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与 λ = (π, A, B)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1303" y="2108359"/>
              <a:ext cx="2305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观测序列出现的概率 P(O | λ)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98268" y="1982152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96566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前向法、后向法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255698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2 解码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3378" y="2556986"/>
              <a:ext cx="52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与 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91303" y="2556986"/>
              <a:ext cx="3832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最合理地解释 O 的状态序列 S = q₁q₂…（长度 T）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98268" y="2430780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96566" y="2556986"/>
              <a:ext cx="991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算法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00561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3 学习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3378" y="3005614"/>
              <a:ext cx="54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91303" y="3005614"/>
              <a:ext cx="2985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 λ = (π, A, B)，使 P(O | λ) 最大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98268" y="2880360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566" y="3005614"/>
              <a:ext cx="1395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 算法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307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7871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98398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ompare-2"/>
          <p:cNvGrpSpPr/>
          <p:nvPr/>
        </p:nvGrpSpPr>
        <p:grpSpPr>
          <a:xfrm>
            <a:off x="533400" y="3509962"/>
            <a:ext cx="11125200" cy="2147888"/>
            <a:chOff x="533400" y="3509962"/>
            <a:chExt cx="11125200" cy="2147888"/>
          </a:xfrm>
        </p:grpSpPr>
        <p:sp>
          <p:nvSpPr>
            <p:cNvPr id="35" name="Rectangle 35"/>
            <p:cNvSpPr/>
            <p:nvPr/>
          </p:nvSpPr>
          <p:spPr>
            <a:xfrm>
              <a:off x="533400" y="3509962"/>
              <a:ext cx="4981575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3643312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3430" y="374427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前两个问题（模型已知）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6765" y="416147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4098608"/>
              <a:ext cx="382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1：这一周的穿着序列有多大可能出现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6765" y="449675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880" y="4433888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2：这一周最可能是什么天气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77025" y="3509962"/>
              <a:ext cx="4981575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6550" y="3643312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17055" y="374427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第三个问题（模型未知）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30390" y="416147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8505" y="4098608"/>
              <a:ext cx="2663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只记录了穿着，不知道 A 和 B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30390" y="449675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88505" y="443388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要从穿着记录里把天气模型估出来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562600" y="4050030"/>
              <a:ext cx="1066800" cy="10668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95938" y="45186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用天气例子理解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6542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问题 1 是问题 3 的基础：Baum-Welch 每一轮都要先跑一遍前向和后向。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3239" cy="909257"/>
            <a:chOff x="520446" y="342900"/>
            <a:chExt cx="74432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33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81" y="407194"/>
              <a:ext cx="212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隐马尔可夫模型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32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贯穿例题：天气与穿着 HMM（原课件课后作业）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702689" cy="278702"/>
            <a:chOff x="526161" y="1547336"/>
            <a:chExt cx="1070268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702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第三至第五部分的数值例子都用这组参数。记号：裙 = 裙子 skirt，衣 = 外套 coat，伞 = 雨伞 umbrella；T = 7，N = M = 3。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28066" y="1941195"/>
            <a:ext cx="5415534" cy="1903666"/>
            <a:chOff x="528066" y="1941195"/>
            <a:chExt cx="5415534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481123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3673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6223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2121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3208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95758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90658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4671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5758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90658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3208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7221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4119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8118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3373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8628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066" y="3639502"/>
              <a:ext cx="1713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转移矩阵 A（行 = 前一天）</a:t>
              </a:r>
            </a:p>
          </p:txBody>
        </p:sp>
      </p:grpSp>
      <p:grpSp>
        <p:nvGrpSpPr>
          <p:cNvPr id="66" name="c1-table-2"/>
          <p:cNvGrpSpPr/>
          <p:nvPr/>
        </p:nvGrpSpPr>
        <p:grpSpPr>
          <a:xfrm>
            <a:off x="528066" y="3978592"/>
            <a:ext cx="5415534" cy="1902715"/>
            <a:chOff x="528066" y="3978592"/>
            <a:chExt cx="5415534" cy="1902715"/>
          </a:xfrm>
        </p:grpSpPr>
        <p:sp>
          <p:nvSpPr>
            <p:cNvPr id="34" name="Rectangle 34"/>
            <p:cNvSpPr/>
            <p:nvPr/>
          </p:nvSpPr>
          <p:spPr>
            <a:xfrm>
              <a:off x="533400" y="3978592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75358" y="4102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57398" y="4102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39438" y="4102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53329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3412" y="45086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26356" y="45086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08396" y="45086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90436" y="45086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871085" y="4393882"/>
              <a:ext cx="106299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2476" y="45086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7853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79012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49144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84893" y="491442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08396" y="491442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48973" y="491442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71085" y="4799648"/>
              <a:ext cx="106299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31013" y="491442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1911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3412" y="532018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09282" y="53201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08396" y="53201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190436" y="53201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871085" y="5205412"/>
              <a:ext cx="106299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31013" y="532018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397859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61067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69271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7475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85679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8066" y="5675948"/>
              <a:ext cx="239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观测矩阵 B（行 = 天气）与初始分布 π</a:t>
              </a:r>
            </a:p>
          </p:txBody>
        </p:sp>
      </p:grpSp>
      <p:grpSp>
        <p:nvGrpSpPr>
          <p:cNvPr id="97" name="c2-cells-1"/>
          <p:cNvGrpSpPr/>
          <p:nvPr/>
        </p:nvGrpSpPr>
        <p:grpSpPr>
          <a:xfrm>
            <a:off x="6242685" y="1941195"/>
            <a:ext cx="5415915" cy="919163"/>
            <a:chOff x="6242685" y="1941195"/>
            <a:chExt cx="5415915" cy="919163"/>
          </a:xfrm>
        </p:grpSpPr>
        <p:sp>
          <p:nvSpPr>
            <p:cNvPr id="67" name="TextBox 67"/>
            <p:cNvSpPr txBox="1"/>
            <p:nvPr/>
          </p:nvSpPr>
          <p:spPr>
            <a:xfrm>
              <a:off x="6242685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94145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13511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231380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51699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969568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8893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706802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027121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444990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64356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183178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502544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920412" y="1941195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1240731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42685" y="2599849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94145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781660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231380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519848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969568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57083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706802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995270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444990" y="2479358"/>
              <a:ext cx="73818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732505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183178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470693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920412" y="2479358"/>
              <a:ext cx="73818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1208880" y="2599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</p:grpSp>
      <p:grpSp>
        <p:nvGrpSpPr>
          <p:cNvPr id="109" name="c2-card-2"/>
          <p:cNvGrpSpPr/>
          <p:nvPr/>
        </p:nvGrpSpPr>
        <p:grpSpPr>
          <a:xfrm>
            <a:off x="6248400" y="3035618"/>
            <a:ext cx="5410200" cy="1272540"/>
            <a:chOff x="6248400" y="3035618"/>
            <a:chExt cx="5410200" cy="1272540"/>
          </a:xfrm>
        </p:grpSpPr>
        <p:sp>
          <p:nvSpPr>
            <p:cNvPr id="98" name="Rectangle 98"/>
            <p:cNvSpPr/>
            <p:nvPr/>
          </p:nvSpPr>
          <p:spPr>
            <a:xfrm>
              <a:off x="6248400" y="3035618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257925" y="3168968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478905" y="32280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570345" y="32623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062597" y="3268027"/>
              <a:ext cx="2224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给定观测序列 O，回答两问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478905" y="358997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34583" y="36283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759702" y="360140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出现此序列的概率是多少（用前向算法）？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478905" y="389191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34583" y="39303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759702" y="390429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此序列对应的天气序列最可能是什么？</a:t>
              </a:r>
            </a:p>
          </p:txBody>
        </p:sp>
      </p:grpSp>
      <p:grpSp>
        <p:nvGrpSpPr>
          <p:cNvPr id="119" name="c2-card-3"/>
          <p:cNvGrpSpPr/>
          <p:nvPr/>
        </p:nvGrpSpPr>
        <p:grpSpPr>
          <a:xfrm>
            <a:off x="6248400" y="4482465"/>
            <a:ext cx="5410200" cy="1800225"/>
            <a:chOff x="6248400" y="4482465"/>
            <a:chExt cx="5410200" cy="1800225"/>
          </a:xfrm>
        </p:grpSpPr>
        <p:sp>
          <p:nvSpPr>
            <p:cNvPr id="110" name="Rectangle 110"/>
            <p:cNvSpPr/>
            <p:nvPr/>
          </p:nvSpPr>
          <p:spPr>
            <a:xfrm>
              <a:off x="6248400" y="4482465"/>
              <a:ext cx="541020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257925" y="461581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472047" y="46977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答案预告</a:t>
              </a:r>
            </a:p>
          </p:txBody>
        </p:sp>
        <p:sp>
          <p:nvSpPr>
            <p:cNvPr id="113" name="Ellipse 113"/>
            <p:cNvSpPr/>
            <p:nvPr/>
          </p:nvSpPr>
          <p:spPr>
            <a:xfrm>
              <a:off x="6487478" y="50730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643497" y="5016818"/>
              <a:ext cx="3680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问：P(O | λ) ≈ 0.0001974（第 26 页）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6487478" y="537591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643497" y="5319712"/>
              <a:ext cx="3403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问：雨 雨 雨 雨 晴 雨 雨（第 35 页）</a:t>
              </a:r>
            </a:p>
          </p:txBody>
        </p:sp>
        <p:sp>
          <p:nvSpPr>
            <p:cNvPr id="117" name="Ellipse 117"/>
            <p:cNvSpPr/>
            <p:nvPr/>
          </p:nvSpPr>
          <p:spPr>
            <a:xfrm>
              <a:off x="6487478" y="56788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643497" y="5622608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 Baum-Welch 训练一轮，P(O | λ) 升到 0.001398（第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 页）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083744" cy="3351847"/>
            <a:chOff x="667512" y="1835468"/>
            <a:chExt cx="508374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0837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1：评估 P(O | λ)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把指数级的枚举，改成按时间一列一列地递推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直接法：对所有状态序列求和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前向变量 α 与前向算法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后向变量 β 与后向算法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138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任意时刻的 Σ α·β 都等于 P(O | λ)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直接法：枚举全部状态序列，计算量随 T 指数增长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951220" cy="4409122"/>
            <a:chOff x="533400" y="1524000"/>
            <a:chExt cx="5951220" cy="44091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09122"/>
            </a:xfrm>
            <a:prstGeom prst="roundRect">
              <a:avLst>
                <a:gd name="adj" fmla="val 3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1424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86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先固定一条长度为 T 的状态序列 S = (q₁, q₂, …)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206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每个时刻的观测只依赖该时刻的状态 qₜ，下式中 b 的下标就是 qₜ。由观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测独立假设：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8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55117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26755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这条状态序列本身出现的概率：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9"/>
                <p:cNvSpPr txBox="1">
                  <a:spLocks noGrp="1"/>
                </p:cNvSpPr>
                <p:nvPr/>
              </p:nvSpPr>
              <p:spPr>
                <a:xfrm>
                  <a:off x="752475" y="3530918"/>
                  <a:ext cx="555117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5998" y="3995261"/>
              <a:ext cx="1945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再对所有可能的 S 求和：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60"/>
                <p:cNvSpPr txBox="1">
                  <a:spLocks noGrp="1"/>
                </p:cNvSpPr>
                <p:nvPr/>
              </p:nvSpPr>
              <p:spPr>
                <a:xfrm>
                  <a:off x="752475" y="4259580"/>
                  <a:ext cx="555117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47141" y="4954905"/>
              <a:ext cx="5648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求和里的每一项，是“按 π、A 走出状态序列 S，再按 B 发出 O”的联合概率 P(O, S | λ)。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789420" y="1524000"/>
            <a:ext cx="4869180" cy="1973580"/>
            <a:chOff x="6789420" y="1524000"/>
            <a:chExt cx="4869180" cy="1973580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98945" y="165735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0849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8996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计算量过大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47851" y="1744504"/>
              <a:ext cx="3534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每条序列约 2T 次乘法，共 N 的 T 次方条序列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02018" y="2061686"/>
              <a:ext cx="2564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总计算量约为 2T × N 的 T 次方。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018020" y="23983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73468" y="2346484"/>
              <a:ext cx="3930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课件的例子 N = 5，T = 100：约为 1.6 × 10 的 72 次方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次运算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018020" y="292703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73468" y="2874169"/>
              <a:ext cx="4036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本章贯穿例题 N = 3，T = 7：共 2187 条路径，约 3 万次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789420" y="3662362"/>
            <a:ext cx="4869180" cy="1403032"/>
            <a:chOff x="6789420" y="3662362"/>
            <a:chExt cx="4869180" cy="1403032"/>
          </a:xfrm>
        </p:grpSpPr>
        <p:sp>
          <p:nvSpPr>
            <p:cNvPr id="31" name="Rectangle 31"/>
            <p:cNvSpPr/>
            <p:nvPr/>
          </p:nvSpPr>
          <p:spPr>
            <a:xfrm>
              <a:off x="6789420" y="3662362"/>
              <a:ext cx="486918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98945" y="379571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08495" y="38433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01167" y="3876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4470" y="3882866"/>
              <a:ext cx="27788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34 页写作“N=5, M=100”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02018" y="4199096"/>
              <a:ext cx="41419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是观察符号的种数，直接法的计算量与 M 无关，这里的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100 应是序列长度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= 100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。第 36 页前向法的“计算量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3000”同样是按 T = 100 算的。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789420" y="5230178"/>
            <a:ext cx="4869180" cy="702945"/>
            <a:chOff x="6789420" y="5230178"/>
            <a:chExt cx="4869180" cy="702945"/>
          </a:xfrm>
        </p:grpSpPr>
        <p:sp>
          <p:nvSpPr>
            <p:cNvPr id="38" name="Rectangle 38"/>
            <p:cNvSpPr/>
            <p:nvPr/>
          </p:nvSpPr>
          <p:spPr>
            <a:xfrm>
              <a:off x="6789420" y="5230178"/>
              <a:ext cx="486918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994208" y="5481638"/>
              <a:ext cx="200026" cy="200026"/>
              <a:chOff x="6994208" y="548163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94208" y="54816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60883" y="55594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97293" y="5374481"/>
              <a:ext cx="38818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本讲义用脚本穷举了贯穿例题的全部 2187 条路径，求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和得 0.0001974，与后面前向法的结果一致。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27414" cy="909257"/>
            <a:chOff x="520446" y="342900"/>
            <a:chExt cx="93274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27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前向变量 αₜ(i)：前 t 个观测与“时刻 t 处于 Sᵢ”的联合概率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9"/>
              <p:cNvSpPr txBox="1">
                <a:spLocks noGrp="1"/>
              </p:cNvSpPr>
              <p:nvPr/>
            </p:nvSpPr>
            <p:spPr>
              <a:xfrm>
                <a:off x="533400" y="1524000"/>
                <a:ext cx="627602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rd-2"/>
          <p:cNvGrpSpPr/>
          <p:nvPr/>
        </p:nvGrpSpPr>
        <p:grpSpPr>
          <a:xfrm>
            <a:off x="533400" y="2109788"/>
            <a:ext cx="6276022" cy="3531870"/>
            <a:chOff x="533400" y="2109788"/>
            <a:chExt cx="6276022" cy="3531870"/>
          </a:xfrm>
        </p:grpSpPr>
        <p:sp>
          <p:nvSpPr>
            <p:cNvPr id="8" name="Rectangle 8"/>
            <p:cNvSpPr/>
            <p:nvPr/>
          </p:nvSpPr>
          <p:spPr>
            <a:xfrm>
              <a:off x="533400" y="2109788"/>
              <a:ext cx="6276022" cy="3531870"/>
            </a:xfrm>
            <a:prstGeom prst="roundRect">
              <a:avLst>
                <a:gd name="adj" fmla="val 37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243138"/>
              <a:ext cx="47625" cy="32651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75335" y="23136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5543" y="23493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76744" y="235315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前向算法（动态规划）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5335" y="269271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680" y="27321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228" y="2704624"/>
              <a:ext cx="1697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初始化（1 ≤ i ≤ N）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70"/>
                <p:cNvSpPr txBox="1">
                  <a:spLocks noGrp="1"/>
                </p:cNvSpPr>
                <p:nvPr/>
              </p:nvSpPr>
              <p:spPr>
                <a:xfrm>
                  <a:off x="775335" y="3001328"/>
                  <a:ext cx="583025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Ellipse 17"/>
            <p:cNvSpPr/>
            <p:nvPr/>
          </p:nvSpPr>
          <p:spPr>
            <a:xfrm>
              <a:off x="775335" y="346710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5064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479006"/>
              <a:ext cx="2690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递归（1 ≤ t ≤ T−1，1 ≤ j ≤ N）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71"/>
                <p:cNvSpPr txBox="1">
                  <a:spLocks noGrp="1"/>
                </p:cNvSpPr>
                <p:nvPr/>
              </p:nvSpPr>
              <p:spPr>
                <a:xfrm>
                  <a:off x="775335" y="3775710"/>
                  <a:ext cx="5830252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Ellipse 21"/>
            <p:cNvSpPr/>
            <p:nvPr/>
          </p:nvSpPr>
          <p:spPr>
            <a:xfrm>
              <a:off x="775335" y="451294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3680" y="455233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6228" y="45248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72"/>
                <p:cNvSpPr txBox="1">
                  <a:spLocks noGrp="1"/>
                </p:cNvSpPr>
                <p:nvPr/>
              </p:nvSpPr>
              <p:spPr>
                <a:xfrm>
                  <a:off x="775335" y="4821555"/>
                  <a:ext cx="5830252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2253615"/>
            <a:chOff x="7114222" y="1524000"/>
            <a:chExt cx="4544378" cy="2253615"/>
          </a:xfrm>
        </p:grpSpPr>
        <p:sp>
          <p:nvSpPr>
            <p:cNvPr id="26" name="Rectangle 26"/>
            <p:cNvSpPr/>
            <p:nvPr/>
          </p:nvSpPr>
          <p:spPr>
            <a:xfrm>
              <a:off x="7114222" y="1524000"/>
              <a:ext cx="4544378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3748" y="1657350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56158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2416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读公式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9488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递归式里每一项的意思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3777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0368" y="2119789"/>
              <a:ext cx="3398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αₜ(i) aᵢⱼ：前 t 步走到 i，再从 i 跳到 j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3777" y="24993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0368" y="2439829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方括号：到达 j 的所有走法加起来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3777" y="28194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0368" y="2759869"/>
              <a:ext cx="3300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 bⱼ(Oₜ₊₁)：在 j 发出第 t+1 个观测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3777" y="313944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0368" y="307990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终结：最后停在哪个状态都行，所以把最后一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列的 α 全部加起来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7114222" y="3962400"/>
            <a:ext cx="4544378" cy="1678305"/>
            <a:chOff x="7114222" y="3962400"/>
            <a:chExt cx="4544378" cy="1678305"/>
          </a:xfrm>
        </p:grpSpPr>
        <p:sp>
          <p:nvSpPr>
            <p:cNvPr id="40" name="Rectangle 40"/>
            <p:cNvSpPr/>
            <p:nvPr/>
          </p:nvSpPr>
          <p:spPr>
            <a:xfrm>
              <a:off x="7114222" y="3962400"/>
              <a:ext cx="4544378" cy="1678305"/>
            </a:xfrm>
            <a:prstGeom prst="roundRect">
              <a:avLst>
                <a:gd name="adj" fmla="val 7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3748" y="4095750"/>
              <a:ext cx="47625" cy="1411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356158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46366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614" y="4206716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35 页的下标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8918" y="4558189"/>
              <a:ext cx="38827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递归式方括号里写成 αᵢ(i)aᵢⱼ，前向变量的下标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应是时刻 t，即 αₜ(i)aᵢⱼ。另外课件用 θᵢ 表示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状态，本讲义统一写 Sᵢ。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6619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 表按列填写：先填 t = 1 整列，再用它填 t = 2 整列，每一列只依赖前一列。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30577" cy="909257"/>
            <a:chOff x="520446" y="342900"/>
            <a:chExt cx="84305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305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前向法为什么快：每一步只把 N 个 α 汇总到下一个状态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graph-1"/>
          <p:cNvGrpSpPr/>
          <p:nvPr/>
        </p:nvGrpSpPr>
        <p:grpSpPr>
          <a:xfrm>
            <a:off x="721424" y="1892618"/>
            <a:ext cx="5702883" cy="3811429"/>
            <a:chOff x="721424" y="1892618"/>
            <a:chExt cx="5702883" cy="3811429"/>
          </a:xfrm>
        </p:grpSpPr>
        <p:sp>
          <p:nvSpPr>
            <p:cNvPr id="7" name="Freeform 7"/>
            <p:cNvSpPr/>
            <p:nvPr/>
          </p:nvSpPr>
          <p:spPr>
            <a:xfrm>
              <a:off x="2043112" y="2191702"/>
              <a:ext cx="2810828" cy="1254443"/>
            </a:xfrm>
            <a:custGeom>
              <a:avLst/>
              <a:gdLst/>
              <a:ahLst/>
              <a:cxnLst/>
              <a:rect l="l" t="t" r="r" b="b"/>
              <a:pathLst>
                <a:path w="2810828" h="1254443">
                  <a:moveTo>
                    <a:pt x="0" y="0"/>
                  </a:moveTo>
                  <a:lnTo>
                    <a:pt x="2810828" y="12544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833938" y="340233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2867"/>
                  </a:moveTo>
                  <a:lnTo>
                    <a:pt x="0" y="87630"/>
                  </a:lnTo>
                  <a:lnTo>
                    <a:pt x="3905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62162" y="3589972"/>
              <a:ext cx="2760345" cy="9525"/>
            </a:xfrm>
            <a:custGeom>
              <a:avLst/>
              <a:gdLst/>
              <a:ahLst/>
              <a:cxnLst/>
              <a:rect l="l" t="t" r="r" b="b"/>
              <a:pathLst>
                <a:path w="2760345" h="9525">
                  <a:moveTo>
                    <a:pt x="0" y="0"/>
                  </a:moveTo>
                  <a:lnTo>
                    <a:pt x="2760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22508" y="35423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3112" y="3733800"/>
              <a:ext cx="2810828" cy="1254443"/>
            </a:xfrm>
            <a:custGeom>
              <a:avLst/>
              <a:gdLst/>
              <a:ahLst/>
              <a:cxnLst/>
              <a:rect l="l" t="t" r="r" b="b"/>
              <a:pathLst>
                <a:path w="2810828" h="1254443">
                  <a:moveTo>
                    <a:pt x="0" y="1254443"/>
                  </a:moveTo>
                  <a:lnTo>
                    <a:pt x="2810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33938" y="368998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4762"/>
                  </a:moveTo>
                  <a:lnTo>
                    <a:pt x="39053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633538" y="189261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633538" y="3380422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33538" y="48672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927282" y="3342322"/>
              <a:ext cx="495300" cy="4953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1467" y="202263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31467" y="351043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31467" y="499824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63312" y="351043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28035" y="2724150"/>
              <a:ext cx="32766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52495" y="27670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26130" y="3475672"/>
              <a:ext cx="32766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50590" y="35185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aᵢⱼ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28035" y="4227195"/>
              <a:ext cx="32766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52495" y="427005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aₙⱼ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86252" y="270033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86252" y="41881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424" y="197262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αₜ(1)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616" y="3460432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αₜ(i)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1424" y="49472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αₜ(n)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42924" y="4963478"/>
              <a:ext cx="664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n =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30557" y="296418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αₜ₊₁(j)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22519" y="5484019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时刻 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71438" y="5484019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时刻 t+1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1621155"/>
            <a:chOff x="6789420" y="1524000"/>
            <a:chExt cx="4869180" cy="1621155"/>
          </a:xfrm>
        </p:grpSpPr>
        <p:sp>
          <p:nvSpPr>
            <p:cNvPr id="37" name="Rectangle 37"/>
            <p:cNvSpPr/>
            <p:nvPr/>
          </p:nvSpPr>
          <p:spPr>
            <a:xfrm>
              <a:off x="6789420" y="1524000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989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891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9998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所有路径在同一个状态处汇合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1350" y="2129790"/>
              <a:ext cx="4263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走到 (t+1, j) 的路径有 N 的 t 次方条，但它们的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概率之和只取决于上一列的 N 个 α 值。所以每一列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只需保存 N 个数，历史路径不必逐条记下。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789420" y="3335655"/>
            <a:ext cx="4869180" cy="1346835"/>
            <a:chOff x="6789420" y="3335655"/>
            <a:chExt cx="4869180" cy="1346835"/>
          </a:xfrm>
        </p:grpSpPr>
        <p:sp>
          <p:nvSpPr>
            <p:cNvPr id="43" name="Rectangle 43"/>
            <p:cNvSpPr/>
            <p:nvPr/>
          </p:nvSpPr>
          <p:spPr>
            <a:xfrm>
              <a:off x="6789420" y="3335655"/>
              <a:ext cx="48691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41197" y="34713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24328" y="34713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乘法次数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71155" y="3471386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N=5, T=100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7243" y="39200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58378" y="3920014"/>
              <a:ext cx="1421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2T·N 的 T 次方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109835" y="3793808"/>
              <a:ext cx="153924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62702" y="3920014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10 的 72 次方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89420" y="42281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89420" y="423291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97243" y="43686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58378" y="4368641"/>
              <a:ext cx="1423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N(N+1)(T−1) + 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109835" y="4242435"/>
              <a:ext cx="153924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581483" y="436864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2975 ≈ 3000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3335655"/>
              <a:ext cx="486918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45792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95548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3"/>
          <p:cNvGrpSpPr/>
          <p:nvPr/>
        </p:nvGrpSpPr>
        <p:grpSpPr>
          <a:xfrm>
            <a:off x="6789420" y="4872990"/>
            <a:ext cx="4869180" cy="782955"/>
            <a:chOff x="6789420" y="4872990"/>
            <a:chExt cx="4869180" cy="782955"/>
          </a:xfrm>
        </p:grpSpPr>
        <p:sp>
          <p:nvSpPr>
            <p:cNvPr id="61" name="Rectangle 61"/>
            <p:cNvSpPr/>
            <p:nvPr/>
          </p:nvSpPr>
          <p:spPr>
            <a:xfrm>
              <a:off x="6789420" y="487299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994208" y="5164455"/>
              <a:ext cx="200026" cy="200026"/>
              <a:chOff x="6994208" y="516445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994208" y="5164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94220" y="52311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83108" y="52644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296150" y="5021580"/>
              <a:ext cx="4006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前向法的复杂度是 O(N²T)，对 T 线性增长。贯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穿例题 N = 3、T = 7 时只要 75 次乘法。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130" y="5991225"/>
              <a:ext cx="7539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的 t 次方条路径被压缩成每列 N 个数，这就是动态规划：重叠的子问题只算一次。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3733" cy="909257"/>
            <a:chOff x="520446" y="342900"/>
            <a:chExt cx="63637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37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前向例题（一）：t = 1、2 的 α 逐项算出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107936" cy="293370"/>
            <a:chOff x="525780" y="1548765"/>
            <a:chExt cx="710793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107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模型见第 20 页，观测 O = 衣 衣 伞 伞 裙 伞 伞。状态顺序固定为 晴、雨、雪。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64055"/>
            <a:ext cx="6006541" cy="3074099"/>
            <a:chOff x="533400" y="1964055"/>
            <a:chExt cx="6006541" cy="307409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25250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60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480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21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4891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562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6916"/>
              <a:ext cx="21928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 t = 1（O₁ = 衣）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7428"/>
              <a:ext cx="5582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 = πᵢ·bᵢ(衣)：晴 0.7 × 0.3 = 0.21；雨 0.25 × 0.3 = 0.075；雪 0.05 × 0.5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38926"/>
              <a:ext cx="2001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 到晴（O₂ = 衣）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119438"/>
              <a:ext cx="4896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(0.21 × 0.8 + 0.075 × 0.38 + 0.025 × 0.75) × 0.3 = 0.21525 × 0.3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0.064575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80936"/>
              <a:ext cx="90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 到雨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61448"/>
              <a:ext cx="4896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(0.21 × 0.15 + 0.075 × 0.6 + 0.025 × 0.05) × 0.3 = 0.07775 × 0.3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0.023325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522946"/>
              <a:ext cx="90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 到雪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803458"/>
              <a:ext cx="5593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(0.21 × 0.05 + 0.075 × 0.02 + 0.025 × 0.2) × 0.5 = 0.017 × 0.5 = 0.0085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5213985"/>
            <a:ext cx="6492240" cy="756285"/>
            <a:chOff x="533400" y="5213985"/>
            <a:chExt cx="6492240" cy="756285"/>
          </a:xfrm>
        </p:grpSpPr>
        <p:sp>
          <p:nvSpPr>
            <p:cNvPr id="27" name="Rectangle 27"/>
            <p:cNvSpPr/>
            <p:nvPr/>
          </p:nvSpPr>
          <p:spPr>
            <a:xfrm>
              <a:off x="533400" y="5213985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492117"/>
              <a:ext cx="200023" cy="200023"/>
              <a:chOff x="738188" y="549211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4921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5587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361146"/>
              <a:ext cx="55238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自查：α₂ 三个数之和 0.064575 + 0.023325 + 0.0085 = 0.0964，正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是前两天观测“衣 衣”的概率 P(O₁O₂ | λ)。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7330440" y="1954530"/>
            <a:ext cx="4328160" cy="2705100"/>
            <a:chOff x="7330440" y="1954530"/>
            <a:chExt cx="4328160" cy="2705100"/>
          </a:xfrm>
        </p:grpSpPr>
        <p:sp>
          <p:nvSpPr>
            <p:cNvPr id="33" name="Rectangle 33"/>
            <p:cNvSpPr/>
            <p:nvPr/>
          </p:nvSpPr>
          <p:spPr>
            <a:xfrm>
              <a:off x="7330440" y="1954530"/>
              <a:ext cx="4328160" cy="2705100"/>
            </a:xfrm>
            <a:prstGeom prst="roundRect">
              <a:avLst>
                <a:gd name="adj" fmla="val 4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9965" y="2087880"/>
              <a:ext cx="47625" cy="2438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7237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258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3784" y="2197894"/>
              <a:ext cx="1559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3（O₃ = 伞）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5136" y="2550319"/>
              <a:ext cx="2298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先求方括号，再乘 b(伞)：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579995" y="29298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36586" y="2870359"/>
              <a:ext cx="2834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晴：0.0668985 × 0.1 = 0.00669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579995" y="32499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36586" y="3190399"/>
              <a:ext cx="3044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雨：0.02410625 × 0.65 = 0.01567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79995" y="35699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36586" y="3510439"/>
              <a:ext cx="3044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雪：0.00539525 × 0.5 = 0.002698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66279" y="3826192"/>
              <a:ext cx="36469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方括号里的三个和由 α₂ 与 A 的一列相乘得到，例如到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雨是 0.064575 × 0.15 + 0.023325 × 0.6 + 0.0085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 0.05。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7330440" y="4845368"/>
            <a:ext cx="4328160" cy="1124902"/>
            <a:chOff x="7330440" y="4845368"/>
            <a:chExt cx="4328160" cy="1124902"/>
          </a:xfrm>
        </p:grpSpPr>
        <p:sp>
          <p:nvSpPr>
            <p:cNvPr id="47" name="Rectangle 47"/>
            <p:cNvSpPr/>
            <p:nvPr/>
          </p:nvSpPr>
          <p:spPr>
            <a:xfrm>
              <a:off x="7330440" y="4845368"/>
              <a:ext cx="4328160" cy="1124902"/>
            </a:xfrm>
            <a:prstGeom prst="roundRect">
              <a:avLst>
                <a:gd name="adj" fmla="val 1016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535228" y="5307330"/>
              <a:ext cx="200026" cy="200025"/>
              <a:chOff x="7535228" y="5307330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535228" y="53073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574966" y="53517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609682" y="54629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837551" y="5045869"/>
              <a:ext cx="341388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手算时先把 α 行向量乘 A 得到“到达各状态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的总概率”，再逐个乘观测概率，不容易漏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项。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5367" cy="909257"/>
            <a:chOff x="520446" y="342900"/>
            <a:chExt cx="64553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53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前向例题（二）：完整的 α 表与 P(O | λ)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c1-table-1"/>
          <p:cNvGrpSpPr/>
          <p:nvPr/>
        </p:nvGrpSpPr>
        <p:grpSpPr>
          <a:xfrm>
            <a:off x="527685" y="1524000"/>
            <a:ext cx="6497955" cy="4047649"/>
            <a:chOff x="527685" y="1524000"/>
            <a:chExt cx="6497955" cy="40476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996" y="165877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224" y="1658779"/>
              <a:ext cx="29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2358" y="1658779"/>
              <a:ext cx="536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α(晴)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1568" y="1658779"/>
              <a:ext cx="536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α(雨)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9826" y="1658779"/>
              <a:ext cx="536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α(雪)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1286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0996" y="212836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4496" y="21283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1141" y="2128361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4260" y="2128361"/>
              <a:ext cx="5401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52517" y="2128361"/>
              <a:ext cx="5401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406" y="2128361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57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62212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0996" y="259699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4496" y="25969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45726" y="2596991"/>
              <a:ext cx="75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0.06458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43983" y="2596991"/>
              <a:ext cx="75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0.02333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7379" y="259699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6129" y="259699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0.0964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260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0996" y="30656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4496" y="30656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45726" y="3065621"/>
              <a:ext cx="75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0.00669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43983" y="3065621"/>
              <a:ext cx="75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37103" y="3065621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0.002698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0991" y="3065621"/>
              <a:ext cx="75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0.02506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956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400425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996" y="353520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4496" y="353520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40588" y="353520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0.001333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38845" y="353520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0.006851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31965" y="3535204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0.0005937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65853" y="353520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0.008778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8642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96" y="40038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4496" y="400383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40588" y="400383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0.002469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38845" y="400383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0.000217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308158" y="3878580"/>
              <a:ext cx="1279208" cy="4495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73070" y="400383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65853" y="400383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0.002686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3329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4337685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996" y="447341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4496" y="447341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35450" y="447341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0.0002058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33707" y="447341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0.0003254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26826" y="447341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0.00006389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65853" y="447341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0.000595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8025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0996" y="494204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74496" y="494204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30311" y="494204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0.00003362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38845" y="494204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0.000149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26826" y="494204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0.00001479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606415" y="4816792"/>
              <a:ext cx="1409700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60715" y="494204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1524000"/>
              <a:ext cx="6492240" cy="37518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47750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697355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2995612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293870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592128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7685" y="5351621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前向变量 αₜ(i)，保留 4 位有效数字（脚本实算）</a:t>
              </a:r>
            </a:p>
          </p:txBody>
        </p:sp>
      </p:grpSp>
      <p:grpSp>
        <p:nvGrpSpPr>
          <p:cNvPr id="79" name="c2-card-1"/>
          <p:cNvGrpSpPr/>
          <p:nvPr/>
        </p:nvGrpSpPr>
        <p:grpSpPr>
          <a:xfrm>
            <a:off x="7330440" y="1524000"/>
            <a:ext cx="4328160" cy="1263968"/>
            <a:chOff x="7330440" y="1524000"/>
            <a:chExt cx="4328160" cy="1263968"/>
          </a:xfrm>
        </p:grpSpPr>
        <p:sp>
          <p:nvSpPr>
            <p:cNvPr id="75" name="Rectangle 75"/>
            <p:cNvSpPr/>
            <p:nvPr/>
          </p:nvSpPr>
          <p:spPr>
            <a:xfrm>
              <a:off x="7330440" y="1524000"/>
              <a:ext cx="4328160" cy="1263968"/>
            </a:xfrm>
            <a:prstGeom prst="roundRect">
              <a:avLst>
                <a:gd name="adj" fmla="val 10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39965" y="1657350"/>
              <a:ext cx="47625" cy="997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65136" y="1751171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问的答案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65136" y="2090261"/>
              <a:ext cx="31519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P(O | λ) = Σ α₇(i) = 0.00003362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0.000149 + 0.00001479 ≈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7330440" y="2972752"/>
            <a:ext cx="4328160" cy="1884998"/>
            <a:chOff x="7330440" y="2972752"/>
            <a:chExt cx="4328160" cy="1884998"/>
          </a:xfrm>
        </p:grpSpPr>
        <p:sp>
          <p:nvSpPr>
            <p:cNvPr id="80" name="Rectangle 80"/>
            <p:cNvSpPr/>
            <p:nvPr/>
          </p:nvSpPr>
          <p:spPr>
            <a:xfrm>
              <a:off x="7330440" y="2972752"/>
              <a:ext cx="432816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39965" y="310610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572375" y="31765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62583" y="3212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73784" y="32170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表里的两个现象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579995" y="36280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36586" y="3568541"/>
              <a:ext cx="352209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5 看到裙子，α₅(雪) = 0：雪天穿裙子的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概率为 0，任何在第 5 天下雪的路径都被排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579995" y="44919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736586" y="4431506"/>
              <a:ext cx="383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行和就是 P(O₁…Oₜ | λ)，随 t 增大迅速变小</a:t>
              </a:r>
            </a:p>
          </p:txBody>
        </p:sp>
      </p:grpSp>
      <p:grpSp>
        <p:nvGrpSpPr>
          <p:cNvPr id="96" name="c2-callout-3"/>
          <p:cNvGrpSpPr/>
          <p:nvPr/>
        </p:nvGrpSpPr>
        <p:grpSpPr>
          <a:xfrm>
            <a:off x="7330440" y="5043488"/>
            <a:ext cx="4328160" cy="1018222"/>
            <a:chOff x="7330440" y="5043488"/>
            <a:chExt cx="4328160" cy="1018222"/>
          </a:xfrm>
        </p:grpSpPr>
        <p:sp>
          <p:nvSpPr>
            <p:cNvPr id="90" name="Rectangle 90"/>
            <p:cNvSpPr/>
            <p:nvPr/>
          </p:nvSpPr>
          <p:spPr>
            <a:xfrm>
              <a:off x="7330440" y="5043488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523169" y="5449371"/>
              <a:ext cx="224134" cy="192560"/>
              <a:chOff x="7523169" y="5449371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635240" y="55197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523169" y="54493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635240" y="55975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7837551" y="5190649"/>
              <a:ext cx="344093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 上百时 α 会小到浮点数下溢。实际编程时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每一列除以该列的和（缩放），或全部改用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对数计算。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5922" cy="909257"/>
            <a:chOff x="520446" y="342900"/>
            <a:chExt cx="8135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59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后向变量：先生成下一个观测，再把剩下的交给 βₜ₊₁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396678" cy="308039"/>
            <a:chOff x="525399" y="1550194"/>
            <a:chExt cx="739667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3966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前向法从左往右累积，后向法从右往左累积，推导方式与原课件第 37 页相同。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75"/>
              <p:cNvSpPr txBox="1">
                <a:spLocks noGrp="1"/>
              </p:cNvSpPr>
              <p:nvPr/>
            </p:nvSpPr>
            <p:spPr>
              <a:xfrm>
                <a:off x="533400" y="1967865"/>
                <a:ext cx="627602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steps-2"/>
          <p:cNvGrpSpPr/>
          <p:nvPr/>
        </p:nvGrpSpPr>
        <p:grpSpPr>
          <a:xfrm>
            <a:off x="533400" y="2567940"/>
            <a:ext cx="4742033" cy="1878615"/>
            <a:chOff x="533400" y="2567940"/>
            <a:chExt cx="4742033" cy="1878615"/>
          </a:xfrm>
        </p:grpSpPr>
        <p:sp>
          <p:nvSpPr>
            <p:cNvPr id="10" name="Rectangle 10"/>
            <p:cNvSpPr/>
            <p:nvPr/>
          </p:nvSpPr>
          <p:spPr>
            <a:xfrm>
              <a:off x="666750" y="271081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25679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641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2184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2923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869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942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022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按下一状态展开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5124"/>
              <a:ext cx="33976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qₜ₊₁ = Sⱼ 求和：先从 i 跳到 j，概率 aᵢⱼ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2527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生成下一个观测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545681"/>
              <a:ext cx="2561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j 发出 Oₜ₊₁，概率 bⱼ(Oₜ₊₁)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9033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剩下的交给递归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197191"/>
              <a:ext cx="4329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j 出发生成 t+2 时刻以后的全部观测，恰好是 βₜ₊₁(j)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76"/>
              <p:cNvSpPr txBox="1">
                <a:spLocks noGrp="1"/>
              </p:cNvSpPr>
              <p:nvPr/>
            </p:nvSpPr>
            <p:spPr>
              <a:xfrm>
                <a:off x="533400" y="4624388"/>
                <a:ext cx="6276022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9" name="c2-graph-1"/>
          <p:cNvGrpSpPr/>
          <p:nvPr/>
        </p:nvGrpSpPr>
        <p:grpSpPr>
          <a:xfrm>
            <a:off x="7865745" y="2118360"/>
            <a:ext cx="3615622" cy="2466594"/>
            <a:chOff x="7865745" y="2118360"/>
            <a:chExt cx="3615622" cy="2466594"/>
          </a:xfrm>
        </p:grpSpPr>
        <p:sp>
          <p:nvSpPr>
            <p:cNvPr id="25" name="Freeform 25"/>
            <p:cNvSpPr/>
            <p:nvPr/>
          </p:nvSpPr>
          <p:spPr>
            <a:xfrm>
              <a:off x="8355330" y="2434590"/>
              <a:ext cx="2007870" cy="730568"/>
            </a:xfrm>
            <a:custGeom>
              <a:avLst/>
              <a:gdLst/>
              <a:ahLst/>
              <a:cxnLst/>
              <a:rect l="l" t="t" r="r" b="b"/>
              <a:pathLst>
                <a:path w="2007870" h="730568">
                  <a:moveTo>
                    <a:pt x="0" y="730568"/>
                  </a:moveTo>
                  <a:lnTo>
                    <a:pt x="20078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47008" y="238982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2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370570" y="3253740"/>
              <a:ext cx="1973580" cy="9525"/>
            </a:xfrm>
            <a:custGeom>
              <a:avLst/>
              <a:gdLst/>
              <a:ahLst/>
              <a:cxnLst/>
              <a:rect l="l" t="t" r="r" b="b"/>
              <a:pathLst>
                <a:path w="1973580" h="9525">
                  <a:moveTo>
                    <a:pt x="0" y="0"/>
                  </a:moveTo>
                  <a:lnTo>
                    <a:pt x="19735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44150" y="3206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55330" y="3341370"/>
              <a:ext cx="2007870" cy="730567"/>
            </a:xfrm>
            <a:custGeom>
              <a:avLst/>
              <a:gdLst/>
              <a:ahLst/>
              <a:cxnLst/>
              <a:rect l="l" t="t" r="r" b="b"/>
              <a:pathLst>
                <a:path w="2007870" h="730567">
                  <a:moveTo>
                    <a:pt x="0" y="0"/>
                  </a:moveTo>
                  <a:lnTo>
                    <a:pt x="2007870" y="7305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347008" y="402717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7152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865745" y="3006090"/>
              <a:ext cx="495300" cy="4953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448925" y="21183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448925" y="304419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448925" y="397002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01774" y="31742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46854" y="224837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46854" y="31742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46854" y="41000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70670" y="2676525"/>
              <a:ext cx="46767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91003" y="27170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aᵢ₁b₁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71622" y="3146108"/>
              <a:ext cx="46767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91955" y="318658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aᵢⱼbⱼ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70670" y="3615690"/>
              <a:ext cx="46767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91003" y="365521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aᵢₙbₙ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19212" y="261794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βₜ(i)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27149" y="272081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βₜ₊₁(j)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06636" y="4379595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时刻 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3973" y="437959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时刻 t+1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7114222" y="4730115"/>
            <a:ext cx="4544378" cy="782955"/>
            <a:chOff x="7114222" y="4730115"/>
            <a:chExt cx="4544378" cy="782955"/>
          </a:xfrm>
        </p:grpSpPr>
        <p:sp>
          <p:nvSpPr>
            <p:cNvPr id="50" name="Rectangle 50"/>
            <p:cNvSpPr/>
            <p:nvPr/>
          </p:nvSpPr>
          <p:spPr>
            <a:xfrm>
              <a:off x="7114222" y="473011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19010" y="5021580"/>
              <a:ext cx="200026" cy="200025"/>
              <a:chOff x="7319010" y="502158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19010" y="50215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358749" y="50660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393464" y="51771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20952" y="4878705"/>
              <a:ext cx="3663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与前向图左右镜像：前向是 N 个状态汇入一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 j，后向是一个 i 分散到 N 个 j。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1021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 与 α 一样每步只需保存一列 N 个数。两张表合起来，就是后面 Viterbi 对照和 Baum-Welch 要用的全部中间量。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87591" cy="909257"/>
            <a:chOff x="520446" y="342900"/>
            <a:chExt cx="94875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875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后向算法：最后一列 β 全取 1，递归到 t = 1，再与 π、b 合成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951220" cy="4707255"/>
            <a:chOff x="533400" y="1524000"/>
            <a:chExt cx="5951220" cy="47072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707255"/>
            </a:xfrm>
            <a:prstGeom prst="roundRect">
              <a:avLst>
                <a:gd name="adj" fmla="val 2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405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后向算法三步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427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初始化：最后时刻之后没有观测要生成，概率为 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80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49402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Ellipse 16"/>
            <p:cNvSpPr/>
            <p:nvPr/>
          </p:nvSpPr>
          <p:spPr>
            <a:xfrm>
              <a:off x="781050" y="29279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2970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2941320"/>
              <a:ext cx="2635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递归（t = T−1, T−2, …, 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81"/>
                <p:cNvSpPr txBox="1">
                  <a:spLocks noGrp="1"/>
                </p:cNvSpPr>
                <p:nvPr/>
              </p:nvSpPr>
              <p:spPr>
                <a:xfrm>
                  <a:off x="781050" y="3251835"/>
                  <a:ext cx="549402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81050" y="39871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0294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4000500"/>
              <a:ext cx="3992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终结：β₁ 没包含 O₁，要补上 πᵢ 和 bᵢ(O₁)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82"/>
                <p:cNvSpPr txBox="1">
                  <a:spLocks noGrp="1"/>
                </p:cNvSpPr>
                <p:nvPr/>
              </p:nvSpPr>
              <p:spPr>
                <a:xfrm>
                  <a:off x="781050" y="4311015"/>
                  <a:ext cx="549402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1"/>
          <p:cNvGrpSpPr/>
          <p:nvPr/>
        </p:nvGrpSpPr>
        <p:grpSpPr>
          <a:xfrm>
            <a:off x="6789420" y="1524000"/>
            <a:ext cx="4869180" cy="2527935"/>
            <a:chOff x="6789420" y="1524000"/>
            <a:chExt cx="4869180" cy="2527935"/>
          </a:xfrm>
        </p:grpSpPr>
        <p:sp>
          <p:nvSpPr>
            <p:cNvPr id="25" name="Rectangle 25"/>
            <p:cNvSpPr/>
            <p:nvPr/>
          </p:nvSpPr>
          <p:spPr>
            <a:xfrm>
              <a:off x="6789420" y="1524000"/>
              <a:ext cx="4869180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8945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38098" y="1768792"/>
              <a:ext cx="2394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39 页的两处错误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03707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9891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38060" y="2129790"/>
              <a:ext cx="39490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定义把观测和 qₜ = θᵢ 写在竖线同一侧，成了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联合概率。按递推和终结式，qₜ = Sᵢ 必须写在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竖线右边作条件，否则终结式里的 πᵢ 会重复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计入。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37070" y="33089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8919" y="3351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38060" y="3322320"/>
              <a:ext cx="363759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递归式的求和变量写成 i = 1，应为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 到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，i 是等式左边固定的状态。</a:t>
              </a:r>
            </a:p>
          </p:txBody>
        </p:sp>
      </p:grpSp>
      <p:grpSp>
        <p:nvGrpSpPr>
          <p:cNvPr id="57" name="c2-compare-2"/>
          <p:cNvGrpSpPr/>
          <p:nvPr/>
        </p:nvGrpSpPr>
        <p:grpSpPr>
          <a:xfrm>
            <a:off x="6789420" y="4242435"/>
            <a:ext cx="4869180" cy="1988820"/>
            <a:chOff x="6789420" y="4242435"/>
            <a:chExt cx="4869180" cy="1988820"/>
          </a:xfrm>
        </p:grpSpPr>
        <p:sp>
          <p:nvSpPr>
            <p:cNvPr id="37" name="Rectangle 37"/>
            <p:cNvSpPr/>
            <p:nvPr/>
          </p:nvSpPr>
          <p:spPr>
            <a:xfrm>
              <a:off x="6789420" y="4242435"/>
              <a:ext cx="2186940" cy="1988820"/>
            </a:xfrm>
            <a:prstGeom prst="roundRect">
              <a:avLst>
                <a:gd name="adj" fmla="val 6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4375785"/>
              <a:ext cx="47625" cy="17221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29450" y="447675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 α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42785" y="4893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0900" y="4831080"/>
              <a:ext cx="1501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O₁…Oₜ 与 qₜ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42785" y="5229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0900" y="5166360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t = 1 算起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42785" y="55645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0900" y="5501640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终结：最后一列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71660" y="4242435"/>
              <a:ext cx="2186940" cy="1988820"/>
            </a:xfrm>
            <a:prstGeom prst="roundRect">
              <a:avLst>
                <a:gd name="adj" fmla="val 6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81185" y="4375785"/>
              <a:ext cx="47625" cy="1722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11690" y="447675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 β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725025" y="4893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83140" y="4831080"/>
              <a:ext cx="1396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只含 t+1 以后的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725025" y="5514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83140" y="5452110"/>
              <a:ext cx="1212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t = T 倒推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725025" y="58502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83140" y="5787390"/>
              <a:ext cx="1368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终结：Σ π b β₁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023985" y="503682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077325" y="51711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38009" cy="909257"/>
            <a:chOff x="520446" y="342900"/>
            <a:chExt cx="84380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38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后向例题：从 t = 7 倒推，终结时同样得到 0.0001974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286121" cy="4769454"/>
            <a:chOff x="533400" y="1533525"/>
            <a:chExt cx="5286121" cy="476945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957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8406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914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4911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564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156781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1861661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β₇ = (1, 1, 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218372"/>
              <a:ext cx="4171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6（O₇ = 伞，b(伞) = 0.1, 0.65, 0.5）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512219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晴：0.8×0.1 + 0.15×0.65 + 0.05×0.5 = 0.2025；雨：0.038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0.39 + 0.01 = 0.438；雪：0.075 + 0.0325 + 0.1 = 0.2075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104198"/>
              <a:ext cx="2114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5 的晴（O₆ = 伞）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397091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0.8×0.1×0.2025 + 0.15×0.65×0.438 + 0.05×0.5×0.2075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0.0162 + 0.042705 + 0.0051875 = 0.0640925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3990022"/>
              <a:ext cx="1363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5 的雨、雪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282916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雨：0.007695 + 0.17082 + 0.002075 = 0.18059；雪：0.0151875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+ 0.014235 + 0.02075 = 0.0501725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874895"/>
              <a:ext cx="852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4 …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16874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同样的方法再倒推四列，结果见右表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55254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819299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 × 0.0005628 + 0.075 × 0.000883 + 0.025 × 0.0005209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458902" y="1524000"/>
            <a:ext cx="5199698" cy="3886677"/>
            <a:chOff x="6458902" y="1524000"/>
            <a:chExt cx="5199698" cy="3886677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841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65412" y="1659731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41040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β(晴)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90732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β(雨)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41377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β(雪)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841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351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84533" y="210835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0.0005628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28998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0.000883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84871" y="210835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0.0005209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6841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351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79306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0.001479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28998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0.003897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79643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0.001296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6841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3516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7930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0.005255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28998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0.009325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7964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0.005989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6841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03516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4078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0.03212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23771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0.02003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74416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0.02929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6841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03516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17142" y="3777615"/>
              <a:ext cx="1331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174078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0.06409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18543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0.1806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74416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0.05017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4211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4618" y="421671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6841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03516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617142" y="4226242"/>
              <a:ext cx="1331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268851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0.2025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3316" y="435244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969188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0.2075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64618" y="4660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6841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03516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742713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2406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443051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464618" y="1524000"/>
              <a:ext cx="5193982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97896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60285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95350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30319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458902" y="5190649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后向变量 βₜ(i)，保留 4 位有效数字（脚本实算）</a:t>
              </a:r>
            </a:p>
          </p:txBody>
        </p:sp>
      </p:grpSp>
      <p:grpSp>
        <p:nvGrpSpPr>
          <p:cNvPr id="98" name="c2-callout-2"/>
          <p:cNvGrpSpPr/>
          <p:nvPr/>
        </p:nvGrpSpPr>
        <p:grpSpPr>
          <a:xfrm>
            <a:off x="6464618" y="5556885"/>
            <a:ext cx="5193982" cy="782955"/>
            <a:chOff x="6464618" y="5556885"/>
            <a:chExt cx="5193982" cy="782955"/>
          </a:xfrm>
        </p:grpSpPr>
        <p:sp>
          <p:nvSpPr>
            <p:cNvPr id="92" name="Rectangle 92"/>
            <p:cNvSpPr/>
            <p:nvPr/>
          </p:nvSpPr>
          <p:spPr>
            <a:xfrm>
              <a:off x="6464618" y="555688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669405" y="5848350"/>
              <a:ext cx="200026" cy="200026"/>
              <a:chOff x="6669405" y="5848350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669405" y="5848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769418" y="5915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758305" y="5948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971348" y="5705475"/>
              <a:ext cx="4301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βₜ(i) 用到的是 Oₜ₊₁ 以后的观测，所以 β₅ 这一行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与第 5 天的裙子无关，由第 6、7 天的伞决定。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2660" cy="909257"/>
            <a:chOff x="520446" y="342900"/>
            <a:chExt cx="6872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65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9781" y="407194"/>
              <a:ext cx="2642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1：评估 P(O | λ)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2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任取一个 t，Σ αₜ(i)βₜ(i) 都等于 P(O | λ)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9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2"/>
          <p:cNvGrpSpPr/>
          <p:nvPr/>
        </p:nvGrpSpPr>
        <p:grpSpPr>
          <a:xfrm>
            <a:off x="533400" y="2317432"/>
            <a:ext cx="5951220" cy="1160145"/>
            <a:chOff x="533400" y="2317432"/>
            <a:chExt cx="5951220" cy="1160145"/>
          </a:xfrm>
        </p:grpSpPr>
        <p:sp>
          <p:nvSpPr>
            <p:cNvPr id="8" name="Rectangle 8"/>
            <p:cNvSpPr/>
            <p:nvPr/>
          </p:nvSpPr>
          <p:spPr>
            <a:xfrm>
              <a:off x="533400" y="2317432"/>
              <a:ext cx="595122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45078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49840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1096" y="253126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3228" y="2537936"/>
              <a:ext cx="263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αₜ(i)βₜ(i) = P(O, qₜ = Sᵢ | λ)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855119"/>
              <a:ext cx="5255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αₜ(i) 管 O₁…Oₜ 和“时刻 t 在 Sᵢ”，βₜ(i) 管此条件下 t+1 以后的观测。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qₜ 后两段条件独立，相乘即联合概率，再对 i 求和就消去了 qₜ。</a:t>
              </a:r>
            </a:p>
          </p:txBody>
        </p:sp>
      </p:grpSp>
      <p:grpSp>
        <p:nvGrpSpPr>
          <p:cNvPr id="40" name="c1-table-3"/>
          <p:cNvGrpSpPr/>
          <p:nvPr/>
        </p:nvGrpSpPr>
        <p:grpSpPr>
          <a:xfrm>
            <a:off x="528447" y="3642360"/>
            <a:ext cx="5956173" cy="1789461"/>
            <a:chOff x="528447" y="3642360"/>
            <a:chExt cx="5956173" cy="1789461"/>
          </a:xfrm>
        </p:grpSpPr>
        <p:sp>
          <p:nvSpPr>
            <p:cNvPr id="15" name="Rectangle 15"/>
            <p:cNvSpPr/>
            <p:nvPr/>
          </p:nvSpPr>
          <p:spPr>
            <a:xfrm>
              <a:off x="533400" y="3642360"/>
              <a:ext cx="595122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046" y="3759518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35734" y="3759518"/>
              <a:ext cx="923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α₅(i) × β₅(i)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4818" y="37595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34653" y="3759518"/>
              <a:ext cx="791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 P(O | λ)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633" y="41414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1516" y="4141470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0.002469 × 0.06409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69899" y="414147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0.0001582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62288" y="414147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80.2%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005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40531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3633" y="45224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61516" y="4522470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0.000217 × 0.1806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2155" y="452247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0.00003919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62288" y="452247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19.8%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815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3633" y="49044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516" y="490442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× 0.05017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91843" y="49044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95517" y="4904422"/>
              <a:ext cx="194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42360"/>
              <a:ext cx="595122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62075" y="364236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23310" y="364236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70170" y="364236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5241131"/>
              <a:ext cx="2712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拆开 t = 5 看：每一项就是 P(O, q₅ = Sᵢ | λ)</a:t>
              </a:r>
            </a:p>
          </p:txBody>
        </p:sp>
      </p:grpSp>
      <p:grpSp>
        <p:nvGrpSpPr>
          <p:cNvPr id="46" name="c1-callout-4"/>
          <p:cNvGrpSpPr/>
          <p:nvPr/>
        </p:nvGrpSpPr>
        <p:grpSpPr>
          <a:xfrm>
            <a:off x="533400" y="5558790"/>
            <a:ext cx="5951220" cy="702945"/>
            <a:chOff x="533400" y="5558790"/>
            <a:chExt cx="5951220" cy="702945"/>
          </a:xfrm>
        </p:grpSpPr>
        <p:sp>
          <p:nvSpPr>
            <p:cNvPr id="41" name="Rectangle 41"/>
            <p:cNvSpPr/>
            <p:nvPr/>
          </p:nvSpPr>
          <p:spPr>
            <a:xfrm>
              <a:off x="533400" y="5558790"/>
              <a:ext cx="595122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09298"/>
              <a:ext cx="200026" cy="200026"/>
              <a:chOff x="738188" y="580929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092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4863" y="588708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5703094"/>
              <a:ext cx="4621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三项之和 0.0001974，最后一列就是第 36 页的 γ₅。复杂度仍是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O(TN²)。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6784467" y="1524000"/>
            <a:ext cx="4874133" cy="3315366"/>
            <a:chOff x="6784467" y="1524000"/>
            <a:chExt cx="4874133" cy="3315366"/>
          </a:xfrm>
        </p:grpSpPr>
        <p:sp>
          <p:nvSpPr>
            <p:cNvPr id="47" name="Rectangle 47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7383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8927" y="1641157"/>
              <a:ext cx="971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Σᵢ αₜ(i)βₜ(i)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7383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53566" y="20231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7383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53566" y="24041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7383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53566" y="27851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7383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53566" y="3167062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89420" y="3426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7383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53566" y="3548062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789420" y="3807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89420" y="3811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7383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53566" y="393001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789420" y="41890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73838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53566" y="431101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789420" y="1524000"/>
              <a:ext cx="486918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824579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84467" y="4648676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贯穿例题逐个 t 验算（脚本实算）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789420" y="4965382"/>
            <a:ext cx="4869180" cy="1295400"/>
            <a:chOff x="6789420" y="4965382"/>
            <a:chExt cx="4869180" cy="1295400"/>
          </a:xfrm>
        </p:grpSpPr>
        <p:sp>
          <p:nvSpPr>
            <p:cNvPr id="77" name="Rectangle 77"/>
            <p:cNvSpPr/>
            <p:nvPr/>
          </p:nvSpPr>
          <p:spPr>
            <a:xfrm>
              <a:off x="6789420" y="4965382"/>
              <a:ext cx="4869180" cy="1295400"/>
            </a:xfrm>
            <a:prstGeom prst="roundRect">
              <a:avLst>
                <a:gd name="adj" fmla="val 88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994208" y="5513070"/>
              <a:ext cx="200026" cy="200025"/>
              <a:chOff x="6994208" y="5513070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994208" y="55130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033946" y="55575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068662" y="56686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297293" y="5406866"/>
              <a:ext cx="3890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 α、β 表以后，挑一两个 t 做这项检查，数对不上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就说明某一格算错了。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283458" cy="3351847"/>
            <a:chOff x="667512" y="1835468"/>
            <a:chExt cx="328345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89227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2：解码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找一条最能解释观测的状态序列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75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变量 δ 与回溯指针 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初始化、递归、终结、回溯四步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贯穿例题的完整 δ 表与回溯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最优路径与逐点最可能状态的区别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45709" cy="909257"/>
            <a:chOff x="520446" y="342900"/>
            <a:chExt cx="99457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2：解码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457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变量 δₜ(i)：到时刻 t 停在 Sᵢ 的所有路径中最好的一条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062954" cy="293370"/>
            <a:chOff x="525780" y="1548765"/>
            <a:chExt cx="1106295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062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目的：给定 O 和 λ，选一条状态序列 S，使 S 最合理地解释 O，即让 P(S, O | λ) 最大。N 和 T 分别是状态数和序列长度。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2"/>
              <p:cNvSpPr txBox="1">
                <a:spLocks noGrp="1"/>
              </p:cNvSpPr>
              <p:nvPr/>
            </p:nvSpPr>
            <p:spPr>
              <a:xfrm>
                <a:off x="533400" y="1954530"/>
                <a:ext cx="5951220" cy="470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610802"/>
            <a:ext cx="5951220" cy="1293495"/>
            <a:chOff x="533400" y="2610802"/>
            <a:chExt cx="5951220" cy="1293495"/>
          </a:xfrm>
        </p:grpSpPr>
        <p:sp>
          <p:nvSpPr>
            <p:cNvPr id="10" name="Rectangle 10"/>
            <p:cNvSpPr/>
            <p:nvPr/>
          </p:nvSpPr>
          <p:spPr>
            <a:xfrm>
              <a:off x="533400" y="2610802"/>
              <a:ext cx="5951220" cy="1293495"/>
            </a:xfrm>
            <a:prstGeom prst="roundRect">
              <a:avLst>
                <a:gd name="adj" fmla="val 1030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37235" y="28146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443" y="28503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8644" y="2854166"/>
              <a:ext cx="4121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要找的是 T 时刻 δ 最大的那个状态所代表的序列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996" y="320563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 只记录最大概率本身。为了事后能把路径找回来，每算一个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δₜ(j) 还要用 φₜ(j) 记下“是从哪个前驱 i 走过来的”。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4089082"/>
            <a:ext cx="5951220" cy="1650682"/>
            <a:chOff x="533400" y="4089082"/>
            <a:chExt cx="5951220" cy="1650682"/>
          </a:xfrm>
        </p:grpSpPr>
        <p:sp>
          <p:nvSpPr>
            <p:cNvPr id="16" name="Rectangle 16"/>
            <p:cNvSpPr/>
            <p:nvPr/>
          </p:nvSpPr>
          <p:spPr>
            <a:xfrm>
              <a:off x="533400" y="4089082"/>
              <a:ext cx="5951220" cy="1650682"/>
            </a:xfrm>
            <a:prstGeom prst="roundRect">
              <a:avLst>
                <a:gd name="adj" fmla="val 8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22432"/>
              <a:ext cx="47625" cy="13839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2929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3286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4332446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40 页的竖线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684871"/>
              <a:ext cx="48041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的定义里写成 “…Oₜ / λ)”，条件符号应是竖线 “| λ”。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789420" y="1954530"/>
            <a:ext cx="4869180" cy="2581275"/>
            <a:chOff x="6789420" y="1954530"/>
            <a:chExt cx="4869180" cy="2581275"/>
          </a:xfrm>
        </p:grpSpPr>
        <p:sp>
          <p:nvSpPr>
            <p:cNvPr id="23" name="Rectangle 23"/>
            <p:cNvSpPr/>
            <p:nvPr/>
          </p:nvSpPr>
          <p:spPr>
            <a:xfrm>
              <a:off x="6789420" y="1954530"/>
              <a:ext cx="486918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0566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43286" y="208597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前向 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68902" y="2085975"/>
              <a:ext cx="729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Viterbi 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476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汇总方式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3484" y="2515552"/>
              <a:ext cx="964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对前驱求和 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7418" y="2394585"/>
              <a:ext cx="183165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13239" y="251555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对前驱取最大 max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89420" y="281463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9476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3484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所有路径的概率之和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13239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最好一条路径的概率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89420" y="32404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476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额外记录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63484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3239" y="337661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回溯指针 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36699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89420" y="367474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4766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63484" y="3806190"/>
              <a:ext cx="1682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末列 α 之和 = P(O | λ)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13239" y="3806190"/>
              <a:ext cx="1551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末列 δ 的最大值 = P*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410051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4766" y="423672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回答的问题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3484" y="423672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3239" y="423672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1954530"/>
              <a:ext cx="486918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5337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03130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2"/>
          <p:cNvGrpSpPr/>
          <p:nvPr/>
        </p:nvGrpSpPr>
        <p:grpSpPr>
          <a:xfrm>
            <a:off x="6789420" y="4720590"/>
            <a:ext cx="4869180" cy="1018222"/>
            <a:chOff x="6789420" y="4720590"/>
            <a:chExt cx="4869180" cy="1018222"/>
          </a:xfrm>
        </p:grpSpPr>
        <p:sp>
          <p:nvSpPr>
            <p:cNvPr id="53" name="Rectangle 53"/>
            <p:cNvSpPr/>
            <p:nvPr/>
          </p:nvSpPr>
          <p:spPr>
            <a:xfrm>
              <a:off x="6789420" y="4720590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994208" y="5130165"/>
              <a:ext cx="200026" cy="200025"/>
              <a:chOff x="6994208" y="513016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994208" y="51301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33946" y="51746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068662" y="52857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296531" y="4867751"/>
              <a:ext cx="397294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把前向算法里的“Σ”换成“max”，再加一张指针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表，就得到 Viterbi 算法。两者的表格形状完全相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87948" cy="909257"/>
            <a:chOff x="520446" y="342900"/>
            <a:chExt cx="71879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2：解码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879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算法四步：初始化、递归、终结、回溯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card-1"/>
          <p:cNvGrpSpPr/>
          <p:nvPr/>
        </p:nvGrpSpPr>
        <p:grpSpPr>
          <a:xfrm>
            <a:off x="533400" y="1524000"/>
            <a:ext cx="6276022" cy="4642485"/>
            <a:chOff x="533400" y="1524000"/>
            <a:chExt cx="6276022" cy="4642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642485"/>
            </a:xfrm>
            <a:prstGeom prst="roundRect">
              <a:avLst>
                <a:gd name="adj" fmla="val 2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757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199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算法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1793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初始化（1 ≤ i ≤ N）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97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81882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Ellipse 16"/>
            <p:cNvSpPr/>
            <p:nvPr/>
          </p:nvSpPr>
          <p:spPr>
            <a:xfrm>
              <a:off x="781050" y="29470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29893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2960370"/>
              <a:ext cx="2613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递归（2 ≤ t ≤ T，1 ≤ j ≤ N）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98"/>
                <p:cNvSpPr txBox="1">
                  <a:spLocks noGrp="1"/>
                </p:cNvSpPr>
                <p:nvPr/>
              </p:nvSpPr>
              <p:spPr>
                <a:xfrm>
                  <a:off x="781050" y="3270885"/>
                  <a:ext cx="5818822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lim>
                                </m:limLow>
                              </m:fName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δ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81050" y="37985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8408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8119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99"/>
                <p:cNvSpPr txBox="1">
                  <a:spLocks noGrp="1"/>
                </p:cNvSpPr>
                <p:nvPr/>
              </p:nvSpPr>
              <p:spPr>
                <a:xfrm>
                  <a:off x="781050" y="4122420"/>
                  <a:ext cx="5818822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Ellipse 24"/>
            <p:cNvSpPr/>
            <p:nvPr/>
          </p:nvSpPr>
          <p:spPr>
            <a:xfrm>
              <a:off x="781050" y="47491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7914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762500"/>
              <a:ext cx="2635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回溯（t = T−1, T−2, …, 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00"/>
                <p:cNvSpPr txBox="1">
                  <a:spLocks noGrp="1"/>
                </p:cNvSpPr>
                <p:nvPr/>
              </p:nvSpPr>
              <p:spPr>
                <a:xfrm>
                  <a:off x="781050" y="5073015"/>
                  <a:ext cx="581882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1"/>
          <p:cNvGrpSpPr/>
          <p:nvPr/>
        </p:nvGrpSpPr>
        <p:grpSpPr>
          <a:xfrm>
            <a:off x="7114222" y="1524000"/>
            <a:ext cx="4544378" cy="1335405"/>
            <a:chOff x="7114222" y="1524000"/>
            <a:chExt cx="4544378" cy="1335405"/>
          </a:xfrm>
        </p:grpSpPr>
        <p:sp>
          <p:nvSpPr>
            <p:cNvPr id="29" name="Rectangle 29"/>
            <p:cNvSpPr/>
            <p:nvPr/>
          </p:nvSpPr>
          <p:spPr>
            <a:xfrm>
              <a:off x="7114222" y="1524000"/>
              <a:ext cx="454437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3748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61948" y="1768792"/>
              <a:ext cx="2596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41 页递归式的下标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4252" y="2129790"/>
              <a:ext cx="3777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δₜ(j) 的式子末尾写成 bⱼ(Oᵢ)。时刻 t 发出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的是第 t 个观测，应为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bⱼ(Oₜ)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7114222" y="3049905"/>
            <a:ext cx="4544378" cy="1866900"/>
            <a:chOff x="7114222" y="3049905"/>
            <a:chExt cx="4544378" cy="1866900"/>
          </a:xfrm>
        </p:grpSpPr>
        <p:sp>
          <p:nvSpPr>
            <p:cNvPr id="36" name="Rectangle 36"/>
            <p:cNvSpPr/>
            <p:nvPr/>
          </p:nvSpPr>
          <p:spPr>
            <a:xfrm>
              <a:off x="7114222" y="3049905"/>
              <a:ext cx="4544378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3183255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61872" y="32594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52081" y="32951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61948" y="3294698"/>
              <a:ext cx="162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里不乘 bⱼ(Oₜ)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4252" y="3655695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对固定的 j，bⱼ(Oₜ) 是公共因子，不影响哪个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取到最大，所以 argmax 里省掉它。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5396" y="4273391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回溯只能在所有 δ 都算完以后做：最后一列定下终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点，再沿指针一步步往回找。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7114222" y="5107305"/>
            <a:ext cx="4544378" cy="1059180"/>
            <a:chOff x="7114222" y="5107305"/>
            <a:chExt cx="4544378" cy="1059180"/>
          </a:xfrm>
        </p:grpSpPr>
        <p:sp>
          <p:nvSpPr>
            <p:cNvPr id="44" name="Rectangle 44"/>
            <p:cNvSpPr/>
            <p:nvPr/>
          </p:nvSpPr>
          <p:spPr>
            <a:xfrm>
              <a:off x="7114222" y="510730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19010" y="5536883"/>
              <a:ext cx="200026" cy="200026"/>
              <a:chOff x="7319010" y="553688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19010" y="55368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19023" y="5603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07910" y="56368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620952" y="5255895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序列很长时同样有下溢问题。Viterbi 只有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乘法和取最大，全部取对数后乘法变加法，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结果完全等价。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5485" cy="909257"/>
            <a:chOff x="520446" y="342900"/>
            <a:chExt cx="72754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2：解码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54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例题（一）：t = 2、3 逐项比较取最大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01477" cy="308039"/>
            <a:chOff x="525399" y="1550194"/>
            <a:chExt cx="108014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014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δ₁ 与 α₁ 相同：晴 0.21，雨 0.075，雪 0.025。下面每格先列出三个候选 δₜ₋₁(i)·aᵢⱼ，取最大者再乘 bⱼ(Oₜ)。</a:t>
              </a:r>
            </a:p>
          </p:txBody>
        </p:sp>
      </p:grpSp>
      <p:grpSp>
        <p:nvGrpSpPr>
          <p:cNvPr id="88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528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时刻与目标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9349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从晴来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2889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从雨来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6335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从雪来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9875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取最大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1999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4173" y="210264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8984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255127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t=2 到晴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00262" y="2426018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31503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71183" y="255127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1816" y="255127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0.01875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36766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83589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8664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69188" y="255127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0.0504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00085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t=2 到雨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36731" y="300085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35668" y="2874645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65956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1816" y="300085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6766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83589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28664" y="30008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9188" y="300085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0.0135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3449479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t=2 到雪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00262" y="3323272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36731" y="344947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71183" y="344947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01361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1993" y="344947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83589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28664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74416" y="344947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0.00525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1223" y="3898106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t=3 到晴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100262" y="3771900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41958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0.04032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76411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0.00513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22271" y="389810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0.0039375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47221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0.04032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83589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28664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79643" y="389810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0.004032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223" y="4346734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t=3 到雨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641958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0.00756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435668" y="4221480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1183" y="434673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22271" y="434673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0.0002625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41993" y="434673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83589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81278" y="43467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779643" y="434673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0.005265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1223" y="479536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t=3 到雪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100262" y="4670108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641958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0.00252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976411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311816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0.00105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47221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0.00252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83589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28664" y="479536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874416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0.00126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08597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342138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75583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09123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42664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31627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42879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5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89" name="Rectangle 89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5731193"/>
              <a:ext cx="200026" cy="200025"/>
              <a:chOff x="738188" y="5731193"/>
              <a:chExt cx="200026" cy="200025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57311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77926" y="57756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12642" y="58867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130" y="5588318"/>
              <a:ext cx="9749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t=3 到雨为例：候选依次是 0.0504 × 0.15、0.0135 × 0.6、0.00525 × 0.05，最大的是从雨来的 0.0081，于是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φ₃(雨) = 雨，δ₃(雨) = 0.0081 × 0.65 = 0.005265。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43403" cy="909257"/>
            <a:chOff x="520446" y="342900"/>
            <a:chExt cx="111434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2：解码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1434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例题（二）：完整 δ 表与回溯，最优天气序列是 雨雨雨雨晴雨雨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9" name="c1-table-1"/>
          <p:cNvGrpSpPr/>
          <p:nvPr/>
        </p:nvGrpSpPr>
        <p:grpSpPr>
          <a:xfrm>
            <a:off x="527685" y="1524000"/>
            <a:ext cx="6497955" cy="3886677"/>
            <a:chOff x="527685" y="1524000"/>
            <a:chExt cx="6497955" cy="38866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481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9422" y="1659731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11715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δ(晴)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75695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δ(雨)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8722" y="1659731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δ(雪)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2297" y="1659731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 晴/雨/雪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81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752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3573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945130" y="1982152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03993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67973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978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481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752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46193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0.0504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45130" y="2430780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09221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0.0135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78428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0.00525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7009" y="255698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雨 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481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7526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56648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0.004032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945130" y="2880360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1967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0.005265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78428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0.00126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27009" y="300561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雨 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481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87526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61876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0.0003226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945130" y="3328988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19676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0.002053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83656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0.000126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009" y="3454241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雨 雪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4815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87526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82102" y="3777615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961876" y="390382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0.0004682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324903" y="390382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0.0000616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47063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7009" y="3903821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 雨 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421671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481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87526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67103" y="435244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0.00003745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945130" y="4226242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230131" y="435244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0.00004565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88883" y="435244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0.0000117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27009" y="4352449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晴 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660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4815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87526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72331" y="4801076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0.000002996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945130" y="4674870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324903" y="480107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0.0000178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94111" y="480107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0.00000117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27009" y="480107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 雨 雪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1524000"/>
              <a:ext cx="649224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8298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56781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93084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29387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65785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7685" y="5190649"/>
              <a:ext cx="4022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δₜ(i) 与回溯指针 φₜ(i)，δ 保留 4 位有效数字（脚本实算）</a:t>
              </a:r>
            </a:p>
          </p:txBody>
        </p:sp>
      </p:grpSp>
      <p:grpSp>
        <p:nvGrpSpPr>
          <p:cNvPr id="93" name="c2-steps-1"/>
          <p:cNvGrpSpPr/>
          <p:nvPr/>
        </p:nvGrpSpPr>
        <p:grpSpPr>
          <a:xfrm>
            <a:off x="7330440" y="1533525"/>
            <a:ext cx="3896233" cy="2347246"/>
            <a:chOff x="7330440" y="1533525"/>
            <a:chExt cx="3896233" cy="2347246"/>
          </a:xfrm>
        </p:grpSpPr>
        <p:sp>
          <p:nvSpPr>
            <p:cNvPr id="80" name="Rectangle 80"/>
            <p:cNvSpPr/>
            <p:nvPr/>
          </p:nvSpPr>
          <p:spPr>
            <a:xfrm>
              <a:off x="746379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33044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42406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4192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43063" y="1861661"/>
              <a:ext cx="3426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δ₇ 最大的是雨：P* ≈ 0.0000178，q*₇ = 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4192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43063" y="2512219"/>
              <a:ext cx="33129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φ₇(雨) = 雨 → q*₆ = 雨；φ₆(雨) = 晴 → q*₅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晴；φ₅(晴) = 雨 → q*₄ = 雨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4192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继续回溯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743063" y="3397091"/>
              <a:ext cx="3483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φ₄(雨)、φ₃(雨)、φ₂(雨) 都是雨 → q*₃ = q*₂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q*₁ = 雨</a:t>
              </a:r>
            </a:p>
          </p:txBody>
        </p:sp>
      </p:grpSp>
      <p:grpSp>
        <p:nvGrpSpPr>
          <p:cNvPr id="99" name="c2-card-2"/>
          <p:cNvGrpSpPr/>
          <p:nvPr/>
        </p:nvGrpSpPr>
        <p:grpSpPr>
          <a:xfrm>
            <a:off x="7330440" y="4060508"/>
            <a:ext cx="4328160" cy="1564005"/>
            <a:chOff x="7330440" y="4060508"/>
            <a:chExt cx="4328160" cy="1564005"/>
          </a:xfrm>
        </p:grpSpPr>
        <p:sp>
          <p:nvSpPr>
            <p:cNvPr id="94" name="Rectangle 94"/>
            <p:cNvSpPr/>
            <p:nvPr/>
          </p:nvSpPr>
          <p:spPr>
            <a:xfrm>
              <a:off x="7330440" y="4060508"/>
              <a:ext cx="4328160" cy="1564005"/>
            </a:xfrm>
            <a:prstGeom prst="roundRect">
              <a:avLst>
                <a:gd name="adj" fmla="val 8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7339965" y="4193858"/>
              <a:ext cx="47625" cy="12973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570470" y="4294822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问的答案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570470" y="4649152"/>
              <a:ext cx="3627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最可能的天气序列：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雨 雨 雨 雨 晴 雨 雨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571613" y="4980146"/>
              <a:ext cx="3719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的 7 次方共 2187 条路径，脚本逐条比较，最大的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正是这一条。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00" name="Rectangle 10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130" y="5991225"/>
              <a:ext cx="9374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 = 1 时 δ₁(晴) 最大，最优路径却从雨出发。第一天的状态要等回溯才能确定，不能每一步当场选最大。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2：解码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最优路径与“每一天各自最可能的天气”不一样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30078" cy="293370"/>
            <a:chOff x="525780" y="1548765"/>
            <a:chExt cx="1053007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30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γₜ(i) = αₜ(i)βₜ(i) / P(O | λ) 是看完整条观测后，时刻 t 处于 Sᵢ 的后验概率。逐天取最大，得到另一种解码结果。</a:t>
              </a:r>
            </a:p>
          </p:txBody>
        </p:sp>
      </p:grpSp>
      <p:grpSp>
        <p:nvGrpSpPr>
          <p:cNvPr id="87" name="c1-table-1"/>
          <p:cNvGrpSpPr/>
          <p:nvPr/>
        </p:nvGrpSpPr>
        <p:grpSpPr>
          <a:xfrm>
            <a:off x="527685" y="1954530"/>
            <a:ext cx="5956935" cy="3737134"/>
            <a:chOff x="527685" y="1954530"/>
            <a:chExt cx="5956935" cy="3737134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925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5657" y="2085975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35345" y="2085975"/>
              <a:ext cx="453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γ(晴)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86892" y="2085975"/>
              <a:ext cx="453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γ(雨)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39392" y="2085975"/>
              <a:ext cx="453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γ(雪)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48568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逐天最大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6806" y="2085975"/>
              <a:ext cx="585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Viterbi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925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1380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5663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8163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0663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51972" y="2394585"/>
              <a:ext cx="105251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0884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2582" y="2394585"/>
              <a:ext cx="105251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62447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098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81463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25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1380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75663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28163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0.460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0663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51972" y="2824162"/>
              <a:ext cx="105251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90884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22582" y="2824162"/>
              <a:ext cx="105251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62447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2404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9256" y="3376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1380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75663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28163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80663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90884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62447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6699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367474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256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1380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75663" y="380619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28163" y="380619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80663" y="380619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90884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62447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100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256" y="4236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1380" y="42367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75663" y="42367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828163" y="42367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80663" y="42367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90884" y="42367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62447" y="42367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5310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" y="453580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9256" y="4666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31380" y="466629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875663" y="466629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828163" y="466629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780663" y="466629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90884" y="466629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862447" y="466629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4960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9256" y="50968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1380" y="50968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875663" y="509682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828163" y="509682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80663" y="509682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790884" y="50968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862447" y="50968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1954530"/>
              <a:ext cx="5951220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44880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481138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2432685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3385185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4337685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5408295" y="195453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27685" y="5471636"/>
              <a:ext cx="3019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后验概率 γₜ(i)，保留 3 位小数（脚本实算）</a:t>
              </a:r>
            </a:p>
          </p:txBody>
        </p:sp>
      </p:grpSp>
      <p:grpSp>
        <p:nvGrpSpPr>
          <p:cNvPr id="96" name="c2-card-1"/>
          <p:cNvGrpSpPr/>
          <p:nvPr/>
        </p:nvGrpSpPr>
        <p:grpSpPr>
          <a:xfrm>
            <a:off x="6789420" y="1954530"/>
            <a:ext cx="4869180" cy="1613535"/>
            <a:chOff x="6789420" y="1954530"/>
            <a:chExt cx="4869180" cy="1613535"/>
          </a:xfrm>
        </p:grpSpPr>
        <p:sp>
          <p:nvSpPr>
            <p:cNvPr id="88" name="Rectangle 88"/>
            <p:cNvSpPr/>
            <p:nvPr/>
          </p:nvSpPr>
          <p:spPr>
            <a:xfrm>
              <a:off x="6789420" y="1954530"/>
              <a:ext cx="4869180" cy="1613535"/>
            </a:xfrm>
            <a:prstGeom prst="roundRect">
              <a:avLst>
                <a:gd name="adj" fmla="val 826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99325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8346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94664" y="2197894"/>
              <a:ext cx="29115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两种“最可能”回答的是不同的问题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000875" y="260985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57466" y="255031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逐天最大：每一天单独猜，猜对的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天数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期望最多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000875" y="292989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157466" y="2870359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Viterbi：把 7 天当成一个整体，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整条序列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猜对的概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率最大</a:t>
              </a:r>
            </a:p>
          </p:txBody>
        </p:sp>
      </p:grpSp>
      <p:grpSp>
        <p:nvGrpSpPr>
          <p:cNvPr id="109" name="c2-table-2"/>
          <p:cNvGrpSpPr/>
          <p:nvPr/>
        </p:nvGrpSpPr>
        <p:grpSpPr>
          <a:xfrm>
            <a:off x="6789420" y="3752850"/>
            <a:ext cx="4869180" cy="1291590"/>
            <a:chOff x="6789420" y="3752850"/>
            <a:chExt cx="4869180" cy="1291590"/>
          </a:xfrm>
        </p:grpSpPr>
        <p:sp>
          <p:nvSpPr>
            <p:cNvPr id="97" name="Rectangle 97"/>
            <p:cNvSpPr/>
            <p:nvPr/>
          </p:nvSpPr>
          <p:spPr>
            <a:xfrm>
              <a:off x="6789420" y="3752850"/>
              <a:ext cx="486918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921371" y="38842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解码结果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14891" y="3884295"/>
              <a:ext cx="9405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P(O, S | λ)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894766" y="4314825"/>
              <a:ext cx="2038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雨雨雨雨晴雨雨（Viterbi）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720262" y="4192905"/>
              <a:ext cx="192881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741419" y="431482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0.0000178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789420" y="46091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789420" y="4613910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894766" y="474440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晴晴雨雨晴雨雨（逐天最大）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652569" y="474440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0.00001662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789420" y="3752850"/>
              <a:ext cx="486918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705975" y="37528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6" name="c2-callout-3"/>
          <p:cNvGrpSpPr/>
          <p:nvPr/>
        </p:nvGrpSpPr>
        <p:grpSpPr>
          <a:xfrm>
            <a:off x="6789420" y="5229225"/>
            <a:ext cx="4869180" cy="1018222"/>
            <a:chOff x="6789420" y="5229225"/>
            <a:chExt cx="4869180" cy="1018222"/>
          </a:xfrm>
        </p:grpSpPr>
        <p:sp>
          <p:nvSpPr>
            <p:cNvPr id="110" name="Rectangle 110"/>
            <p:cNvSpPr/>
            <p:nvPr/>
          </p:nvSpPr>
          <p:spPr>
            <a:xfrm>
              <a:off x="6789420" y="5229225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6994208" y="5638800"/>
              <a:ext cx="200026" cy="200026"/>
              <a:chOff x="6994208" y="5638800"/>
              <a:chExt cx="200026" cy="20002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6994208" y="56388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094220" y="5705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083108" y="57388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7296531" y="5376386"/>
              <a:ext cx="399097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最优路径也只占 P(O | λ) 的约 9%，其余概率分散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在另外两千多条路径上。逐天最大的序列若包含一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步概率为 0 的转移，还可能根本不合法。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653771" cy="3351847"/>
            <a:chOff x="667512" y="1835468"/>
            <a:chExt cx="365377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89227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 3：学习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643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只有观测序列时，把 π、A、B 估出来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41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 的迭代框架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两个中间量：ξₜ(i, j) 与 γₜ(i)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三条重估公式在数什么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贯穿例题训练一轮与收敛后的结果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93430" cy="909257"/>
            <a:chOff x="520446" y="342900"/>
            <a:chExt cx="96934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3：学习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934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Baum-Welch：用当前模型数“期望次数”，再用次数重新估模型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834304" cy="264033"/>
            <a:chOff x="526542" y="1545907"/>
            <a:chExt cx="88343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834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目的：给定观察值序列 O，确定一个模型 λ，使 P(O | λ) 最大。它是 EM 算法（第 7 章）在 HMM 上的特例。</a:t>
              </a:r>
            </a:p>
          </p:txBody>
        </p:sp>
      </p:grpSp>
      <p:grpSp>
        <p:nvGrpSpPr>
          <p:cNvPr id="37" name="c1-flow-1"/>
          <p:cNvGrpSpPr/>
          <p:nvPr/>
        </p:nvGrpSpPr>
        <p:grpSpPr>
          <a:xfrm>
            <a:off x="730568" y="2177415"/>
            <a:ext cx="5232082" cy="3850958"/>
            <a:chOff x="730568" y="2177415"/>
            <a:chExt cx="5232082" cy="3850958"/>
          </a:xfrm>
        </p:grpSpPr>
        <p:sp>
          <p:nvSpPr>
            <p:cNvPr id="9" name="Freeform 9"/>
            <p:cNvSpPr/>
            <p:nvPr/>
          </p:nvSpPr>
          <p:spPr>
            <a:xfrm>
              <a:off x="1940242" y="2549842"/>
              <a:ext cx="9525" cy="302895"/>
            </a:xfrm>
            <a:custGeom>
              <a:avLst/>
              <a:gdLst/>
              <a:ahLst/>
              <a:cxnLst/>
              <a:rect l="l" t="t" r="r" b="b"/>
              <a:pathLst>
                <a:path w="9525" h="302895">
                  <a:moveTo>
                    <a:pt x="0" y="0"/>
                  </a:moveTo>
                  <a:lnTo>
                    <a:pt x="0" y="302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7855" y="2852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509010"/>
              <a:ext cx="9525" cy="213360"/>
            </a:xfrm>
            <a:custGeom>
              <a:avLst/>
              <a:gdLst/>
              <a:ahLst/>
              <a:cxnLst/>
              <a:rect l="l" t="t" r="r" b="b"/>
              <a:pathLst>
                <a:path w="9525"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37223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0242" y="4378642"/>
              <a:ext cx="9525" cy="207645"/>
            </a:xfrm>
            <a:custGeom>
              <a:avLst/>
              <a:gdLst/>
              <a:ahLst/>
              <a:cxnLst/>
              <a:rect l="l" t="t" r="r" b="b"/>
              <a:pathLst>
                <a:path w="9525" h="207645">
                  <a:moveTo>
                    <a:pt x="0" y="0"/>
                  </a:moveTo>
                  <a:lnTo>
                    <a:pt x="0" y="2076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87855" y="4586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40242" y="5253990"/>
              <a:ext cx="9525" cy="297180"/>
            </a:xfrm>
            <a:custGeom>
              <a:avLst/>
              <a:gdLst/>
              <a:ahLst/>
              <a:cxnLst/>
              <a:rect l="l" t="t" r="r" b="b"/>
              <a:pathLst>
                <a:path w="9525" h="297180">
                  <a:moveTo>
                    <a:pt x="0" y="0"/>
                  </a:moveTo>
                  <a:lnTo>
                    <a:pt x="0" y="2971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87855" y="5551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49918" y="4973002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38525" y="49206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54692" y="3232785"/>
              <a:ext cx="1498282" cy="1553528"/>
            </a:xfrm>
            <a:custGeom>
              <a:avLst/>
              <a:gdLst/>
              <a:ahLst/>
              <a:cxnLst/>
              <a:rect l="l" t="t" r="r" b="b"/>
              <a:pathLst>
                <a:path w="1498282" h="1553528">
                  <a:moveTo>
                    <a:pt x="1498282" y="1553528"/>
                  </a:moveTo>
                  <a:lnTo>
                    <a:pt x="1498282" y="1343978"/>
                  </a:lnTo>
                  <a:lnTo>
                    <a:pt x="1498282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49918" y="31803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0568" y="2177415"/>
              <a:ext cx="2419350" cy="37242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0568" y="2957512"/>
              <a:ext cx="2419350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0568" y="3827145"/>
              <a:ext cx="2419350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30568" y="4691062"/>
              <a:ext cx="2419350" cy="562928"/>
            </a:xfrm>
            <a:custGeom>
              <a:avLst/>
              <a:gdLst/>
              <a:ahLst/>
              <a:cxnLst/>
              <a:rect l="l" t="t" r="r" b="b"/>
              <a:pathLst>
                <a:path w="2419350" h="562928">
                  <a:moveTo>
                    <a:pt x="1209675" y="0"/>
                  </a:moveTo>
                  <a:lnTo>
                    <a:pt x="2419350" y="281940"/>
                  </a:lnTo>
                  <a:lnTo>
                    <a:pt x="1209675" y="562928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0568" y="5655945"/>
              <a:ext cx="2419350" cy="37242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4786312"/>
              <a:ext cx="2419350" cy="372428"/>
            </a:xfrm>
            <a:prstGeom prst="roundRect">
              <a:avLst>
                <a:gd name="adj" fmla="val 25575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48314" y="2289810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初始模型 λ₀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71505" y="3069908"/>
              <a:ext cx="113747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λ₀ 和 O 算 α、β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再得 ξ、γ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44860" y="3939540"/>
              <a:ext cx="79076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按重估公式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得到新模型 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1783" y="4899660"/>
              <a:ext cx="956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似然增量 &lt; Δ 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93557" y="57692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57871" y="489966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λ₀ = 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68818" y="5375910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92630" y="539877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42310" y="477678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81743" y="479964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6464618" y="1938338"/>
            <a:ext cx="4823589" cy="2149411"/>
            <a:chOff x="6464618" y="1938338"/>
            <a:chExt cx="4823589" cy="2149411"/>
          </a:xfrm>
        </p:grpSpPr>
        <p:sp>
          <p:nvSpPr>
            <p:cNvPr id="38" name="Rectangle 38"/>
            <p:cNvSpPr/>
            <p:nvPr/>
          </p:nvSpPr>
          <p:spPr>
            <a:xfrm>
              <a:off x="6597968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64618" y="35975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241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7241" y="1968341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初始化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8384" y="2223135"/>
              <a:ext cx="2145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给一个初始模型（待训练模型）λ₀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241" y="25217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训练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8384" y="2776538"/>
              <a:ext cx="2648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λ₀ 和观察值序列 O，训练出新模型 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241" y="3075146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判断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8384" y="3328988"/>
              <a:ext cx="4409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log P(O | λ) − log P(O | λ₀) &lt; Δ，说明训练已达到预期，算法结束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241" y="3627596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迭代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8384" y="3882390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否则令 λ₀ = λ，回到第 2 步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249102"/>
            <a:ext cx="5193982" cy="1160145"/>
            <a:chOff x="6464618" y="4249102"/>
            <a:chExt cx="5193982" cy="1160145"/>
          </a:xfrm>
        </p:grpSpPr>
        <p:sp>
          <p:nvSpPr>
            <p:cNvPr id="56" name="Rectangle 56"/>
            <p:cNvSpPr/>
            <p:nvPr/>
          </p:nvSpPr>
          <p:spPr>
            <a:xfrm>
              <a:off x="6464618" y="4249102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438245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3692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6364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50620" y="4469606"/>
              <a:ext cx="187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42 页的判停式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77216" y="4786789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原式为 log P(X|λ) − log(P(X|λ₀)，括号不配对，X 也与本章的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混用。本讲义统一写成 log P(O | λ) − log P(O | λ₀)。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464618" y="5574030"/>
            <a:ext cx="5193982" cy="702945"/>
            <a:chOff x="6464618" y="5574030"/>
            <a:chExt cx="5193982" cy="702945"/>
          </a:xfrm>
        </p:grpSpPr>
        <p:sp>
          <p:nvSpPr>
            <p:cNvPr id="63" name="Rectangle 63"/>
            <p:cNvSpPr/>
            <p:nvPr/>
          </p:nvSpPr>
          <p:spPr>
            <a:xfrm>
              <a:off x="6464618" y="557403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69405" y="5825490"/>
              <a:ext cx="200026" cy="200026"/>
              <a:chOff x="6669405" y="5825490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9405" y="58254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69418" y="58921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758305" y="59255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972491" y="5719286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 P(O | λ) 都不会下降，但只保证收敛到局部极大，结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果依赖初始模型 λ₀。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1565" cy="909257"/>
            <a:chOff x="520446" y="342900"/>
            <a:chExt cx="69215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3：学习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1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两个中间量：ξₜ(i, j) 数转移，γₜ(i) 数停留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276022" cy="2150745"/>
            <a:chOff x="533400" y="1524000"/>
            <a:chExt cx="6276022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150745"/>
            </a:xfrm>
            <a:prstGeom prst="roundRect">
              <a:avLst>
                <a:gd name="adj" fmla="val 62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40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4674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给定模型和观测，t 时刻在 Sᵢ、t+1 时刻在 Sⱼ 的概率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05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5830252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ξ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746534"/>
              <a:ext cx="2175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分母恰好等于 P(O | λ)。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239" y="3062288"/>
              <a:ext cx="55900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更正：原课件第 43 页分母写成 bⱼ(xₜ₊₁)，与分子的 bⱼ(Oₜ₊₁) 记号不一，这里统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一为 Oₜ₊₁。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860482"/>
            <a:ext cx="6276022" cy="2344102"/>
            <a:chOff x="533400" y="3860482"/>
            <a:chExt cx="6276022" cy="2344102"/>
          </a:xfrm>
        </p:grpSpPr>
        <p:sp>
          <p:nvSpPr>
            <p:cNvPr id="16" name="Rectangle 16"/>
            <p:cNvSpPr/>
            <p:nvPr/>
          </p:nvSpPr>
          <p:spPr>
            <a:xfrm>
              <a:off x="533400" y="3860482"/>
              <a:ext cx="6276022" cy="2344102"/>
            </a:xfrm>
            <a:prstGeom prst="roundRect">
              <a:avLst>
                <a:gd name="adj" fmla="val 5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93832"/>
              <a:ext cx="47625" cy="20774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064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100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4103846"/>
              <a:ext cx="1883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时刻处于 Sᵢ 的概率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06"/>
                <p:cNvSpPr txBox="1">
                  <a:spLocks noGrp="1"/>
                </p:cNvSpPr>
                <p:nvPr/>
              </p:nvSpPr>
              <p:spPr>
                <a:xfrm>
                  <a:off x="775335" y="4431982"/>
                  <a:ext cx="583025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69239" y="5110162"/>
              <a:ext cx="5414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左边的求和式只对 t ≤ T−1 成立（t = T 时没有 ξ）；右边的 α·β 式对 t = T 也成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46" name="c2-graph-1"/>
          <p:cNvGrpSpPr/>
          <p:nvPr/>
        </p:nvGrpSpPr>
        <p:grpSpPr>
          <a:xfrm>
            <a:off x="7258050" y="1705928"/>
            <a:ext cx="4256722" cy="1424464"/>
            <a:chOff x="7258050" y="1705928"/>
            <a:chExt cx="4256722" cy="1424464"/>
          </a:xfrm>
        </p:grpSpPr>
        <p:sp>
          <p:nvSpPr>
            <p:cNvPr id="24" name="Freeform 24"/>
            <p:cNvSpPr/>
            <p:nvPr/>
          </p:nvSpPr>
          <p:spPr>
            <a:xfrm>
              <a:off x="7339965" y="1762125"/>
              <a:ext cx="1117282" cy="462915"/>
            </a:xfrm>
            <a:custGeom>
              <a:avLst/>
              <a:gdLst/>
              <a:ahLst/>
              <a:cxnLst/>
              <a:rect l="l" t="t" r="r" b="b"/>
              <a:pathLst>
                <a:path w="1117282" h="462915">
                  <a:moveTo>
                    <a:pt x="0" y="0"/>
                  </a:moveTo>
                  <a:lnTo>
                    <a:pt x="1117282" y="4629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343775" y="2308860"/>
              <a:ext cx="1096328" cy="9525"/>
            </a:xfrm>
            <a:custGeom>
              <a:avLst/>
              <a:gdLst/>
              <a:ahLst/>
              <a:cxnLst/>
              <a:rect l="l" t="t" r="r" b="b"/>
              <a:pathLst>
                <a:path w="1096328" h="9525">
                  <a:moveTo>
                    <a:pt x="0" y="0"/>
                  </a:moveTo>
                  <a:lnTo>
                    <a:pt x="109632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39965" y="2393632"/>
              <a:ext cx="1117282" cy="462915"/>
            </a:xfrm>
            <a:custGeom>
              <a:avLst/>
              <a:gdLst/>
              <a:ahLst/>
              <a:cxnLst/>
              <a:rect l="l" t="t" r="r" b="b"/>
              <a:pathLst>
                <a:path w="1117282" h="462915">
                  <a:moveTo>
                    <a:pt x="0" y="462915"/>
                  </a:moveTo>
                  <a:lnTo>
                    <a:pt x="111728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878252" y="2308860"/>
              <a:ext cx="921067" cy="9525"/>
            </a:xfrm>
            <a:custGeom>
              <a:avLst/>
              <a:gdLst/>
              <a:ahLst/>
              <a:cxnLst/>
              <a:rect l="l" t="t" r="r" b="b"/>
              <a:pathLst>
                <a:path w="921067" h="9525">
                  <a:moveTo>
                    <a:pt x="0" y="0"/>
                  </a:moveTo>
                  <a:lnTo>
                    <a:pt x="9210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799320" y="22612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15575" y="1762125"/>
              <a:ext cx="1117282" cy="462915"/>
            </a:xfrm>
            <a:custGeom>
              <a:avLst/>
              <a:gdLst/>
              <a:ahLst/>
              <a:cxnLst/>
              <a:rect l="l" t="t" r="r" b="b"/>
              <a:pathLst>
                <a:path w="1117282" h="462915">
                  <a:moveTo>
                    <a:pt x="0" y="462915"/>
                  </a:moveTo>
                  <a:lnTo>
                    <a:pt x="111728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332720" y="2308860"/>
              <a:ext cx="1096328" cy="9525"/>
            </a:xfrm>
            <a:custGeom>
              <a:avLst/>
              <a:gdLst/>
              <a:ahLst/>
              <a:cxnLst/>
              <a:rect l="l" t="t" r="r" b="b"/>
              <a:pathLst>
                <a:path w="1096328" h="9525">
                  <a:moveTo>
                    <a:pt x="0" y="0"/>
                  </a:moveTo>
                  <a:lnTo>
                    <a:pt x="109632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315575" y="2393632"/>
              <a:ext cx="1117282" cy="462915"/>
            </a:xfrm>
            <a:custGeom>
              <a:avLst/>
              <a:gdLst/>
              <a:ahLst/>
              <a:cxnLst/>
              <a:rect l="l" t="t" r="r" b="b"/>
              <a:pathLst>
                <a:path w="1117282" h="462915">
                  <a:moveTo>
                    <a:pt x="0" y="0"/>
                  </a:moveTo>
                  <a:lnTo>
                    <a:pt x="1117282" y="4629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449628" y="2099310"/>
              <a:ext cx="419100" cy="4191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904095" y="209931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258050" y="170592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258050" y="227076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258050" y="28365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438572" y="170592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438572" y="227076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438572" y="28365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4509" y="22345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08977" y="22345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Sⱼ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82062" y="2202180"/>
              <a:ext cx="1007745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77117" y="2241709"/>
              <a:ext cx="10176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aᵢⱼ bⱼ(Oₜ₊₁)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38237" y="291036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αₜ(i)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63294" y="2910364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βₜ₊₁(j)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7114222" y="3280410"/>
            <a:ext cx="4544378" cy="1720215"/>
            <a:chOff x="7114222" y="3280410"/>
            <a:chExt cx="4544378" cy="1720215"/>
          </a:xfrm>
        </p:grpSpPr>
        <p:sp>
          <p:nvSpPr>
            <p:cNvPr id="47" name="Rectangle 47"/>
            <p:cNvSpPr/>
            <p:nvPr/>
          </p:nvSpPr>
          <p:spPr>
            <a:xfrm>
              <a:off x="7114222" y="3280410"/>
              <a:ext cx="454437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1412" y="34109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74884" y="3410902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的范围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54628" y="34109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19569" y="3841432"/>
              <a:ext cx="591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γₜ(i)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03387" y="3841432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… T−1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91282" y="3841432"/>
              <a:ext cx="1594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Sᵢ 转出的期望次数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41357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14222" y="4140518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19569" y="4271962"/>
              <a:ext cx="591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γₜ(i)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97265" y="4271962"/>
              <a:ext cx="396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… 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91282" y="4271962"/>
              <a:ext cx="1433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处于 Sᵢ 的期望次数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456533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19569" y="4701540"/>
              <a:ext cx="786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ξₜ(i, j)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03387" y="470154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… T−1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91282" y="4701540"/>
              <a:ext cx="1884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Sᵢ 跳到 Sⱼ 的期望次数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3280410"/>
              <a:ext cx="454437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200072" y="328041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81172" y="328041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3"/>
          <p:cNvGrpSpPr/>
          <p:nvPr/>
        </p:nvGrpSpPr>
        <p:grpSpPr>
          <a:xfrm>
            <a:off x="7114222" y="5186362"/>
            <a:ext cx="4544378" cy="1018222"/>
            <a:chOff x="7114222" y="5186362"/>
            <a:chExt cx="4544378" cy="1018222"/>
          </a:xfrm>
        </p:grpSpPr>
        <p:sp>
          <p:nvSpPr>
            <p:cNvPr id="67" name="Rectangle 67"/>
            <p:cNvSpPr/>
            <p:nvPr/>
          </p:nvSpPr>
          <p:spPr>
            <a:xfrm>
              <a:off x="7114222" y="5186362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5594985"/>
              <a:ext cx="200026" cy="200025"/>
              <a:chOff x="7319010" y="559498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19010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358749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393464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1334" y="5333524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状态看不见，就没法直接数次数。ξ 和 γ 把每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一次可能的转移和停留按后验概率计入，得到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期望次数。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3：学习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三条重估公式：期望次数之比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5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acc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26"/>
              <p:cNvSpPr txBox="1">
                <a:spLocks noGrp="1"/>
              </p:cNvSpPr>
              <p:nvPr/>
            </p:nvSpPr>
            <p:spPr>
              <a:xfrm>
                <a:off x="533400" y="2107882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ξ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7"/>
              <p:cNvSpPr txBox="1">
                <a:spLocks noGrp="1"/>
              </p:cNvSpPr>
              <p:nvPr/>
            </p:nvSpPr>
            <p:spPr>
              <a:xfrm>
                <a:off x="533400" y="2901315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llout-4"/>
          <p:cNvGrpSpPr/>
          <p:nvPr/>
        </p:nvGrpSpPr>
        <p:grpSpPr>
          <a:xfrm>
            <a:off x="533400" y="3694748"/>
            <a:ext cx="6059805" cy="702945"/>
            <a:chOff x="533400" y="3694748"/>
            <a:chExt cx="6059805" cy="702945"/>
          </a:xfrm>
        </p:grpSpPr>
        <p:sp>
          <p:nvSpPr>
            <p:cNvPr id="10" name="Rectangle 10"/>
            <p:cNvSpPr/>
            <p:nvPr/>
          </p:nvSpPr>
          <p:spPr>
            <a:xfrm>
              <a:off x="533400" y="3694748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6129" y="3942516"/>
              <a:ext cx="224134" cy="192560"/>
              <a:chOff x="726129" y="3942516"/>
              <a:chExt cx="224134" cy="1925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8200" y="4012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26129" y="3942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090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3840004"/>
              <a:ext cx="5141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 aᵢⱼ 的分母只加到 T−1（最后一天之后没有转移），新 bⱼ(k) 的分母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加到 T（最后一天也有观测）。</a:t>
              </a:r>
            </a:p>
          </p:txBody>
        </p:sp>
      </p:grpSp>
      <p:grpSp>
        <p:nvGrpSpPr>
          <p:cNvPr id="28" name="c1-card-5"/>
          <p:cNvGrpSpPr/>
          <p:nvPr/>
        </p:nvGrpSpPr>
        <p:grpSpPr>
          <a:xfrm>
            <a:off x="533400" y="4562475"/>
            <a:ext cx="6059805" cy="1733550"/>
            <a:chOff x="533400" y="4562475"/>
            <a:chExt cx="6059805" cy="1733550"/>
          </a:xfrm>
        </p:grpSpPr>
        <p:sp>
          <p:nvSpPr>
            <p:cNvPr id="17" name="Rectangle 17"/>
            <p:cNvSpPr/>
            <p:nvPr/>
          </p:nvSpPr>
          <p:spPr>
            <a:xfrm>
              <a:off x="533400" y="4562475"/>
              <a:ext cx="6059805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695825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47434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147" y="47763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450" y="478297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假如状态看得见：直接数次数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5099209"/>
              <a:ext cx="5139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7 天的天气已知为 晴晴雨雨晴雨雨，观测仍是 衣衣伞伞裙伞伞。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54368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5384959"/>
              <a:ext cx="52082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晴转出 3 次，其中到晴 1 次、到雨 2 次：a晴晴 = 1/3，a晴雨 = 2/3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57216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5669756"/>
              <a:ext cx="5414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晴出现 3 天，穿外套 2 天、裙子 1 天：b晴(衣) = 2/3，b晴(裙) = 1/3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7141" y="5950268"/>
              <a:ext cx="5215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Baum-Welch 做的是同一件事，只是每一次“数一下”都换成按后验概率 ξ、γ 加权。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898005" y="1524000"/>
            <a:ext cx="4760595" cy="1712595"/>
            <a:chOff x="6898005" y="1524000"/>
            <a:chExt cx="4760595" cy="1712595"/>
          </a:xfrm>
        </p:grpSpPr>
        <p:sp>
          <p:nvSpPr>
            <p:cNvPr id="29" name="Rectangle 29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31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124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1179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8150" y="2023110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πᵢ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53731" y="2023110"/>
              <a:ext cx="1473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 时处于 Sᵢ 的概率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5398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57335" y="2404110"/>
              <a:ext cx="441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aᵢⱼ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53731" y="2404110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转到 j 的期望次数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53981" y="2404110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转出的期望次数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0194" y="2785110"/>
              <a:ext cx="39571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bⱼ(k)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53731" y="2878455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j 且观测为 vₖ 的期望次数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53981" y="2878455"/>
              <a:ext cx="1127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处于 j 的期望次数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1524000"/>
              <a:ext cx="476059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54290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54540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898005" y="3401378"/>
            <a:ext cx="4760595" cy="1403032"/>
            <a:chOff x="6898005" y="3401378"/>
            <a:chExt cx="4760595" cy="1403032"/>
          </a:xfrm>
        </p:grpSpPr>
        <p:sp>
          <p:nvSpPr>
            <p:cNvPr id="49" name="Rectangle 49"/>
            <p:cNvSpPr/>
            <p:nvPr/>
          </p:nvSpPr>
          <p:spPr>
            <a:xfrm>
              <a:off x="6898005" y="3401378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353472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17080" y="3582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8799" y="3615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83056" y="3621881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44 页的分母说明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10603" y="3938111"/>
              <a:ext cx="4198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aᵢⱼ 的分母写作 “expected count of stays at i”，容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易读成“停在 i 不动的次数”。按公式 Σₜ Σⱼ ξₜ(i, j)，它是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 i 转出（到任意 j，含回到 i）的期望次数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898005" y="4969192"/>
            <a:ext cx="4760595" cy="1326832"/>
            <a:chOff x="6898005" y="4969192"/>
            <a:chExt cx="4760595" cy="1326832"/>
          </a:xfrm>
        </p:grpSpPr>
        <p:sp>
          <p:nvSpPr>
            <p:cNvPr id="56" name="Rectangle 56"/>
            <p:cNvSpPr/>
            <p:nvPr/>
          </p:nvSpPr>
          <p:spPr>
            <a:xfrm>
              <a:off x="6898005" y="4969192"/>
              <a:ext cx="4760595" cy="1326832"/>
            </a:xfrm>
            <a:prstGeom prst="roundRect">
              <a:avLst>
                <a:gd name="adj" fmla="val 861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02793" y="5532120"/>
              <a:ext cx="200026" cy="200025"/>
              <a:chOff x="7102793" y="5532120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102793" y="55321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42531" y="55765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77247" y="56876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405878" y="542591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三条公式的结果自动满足归一化：新 A、新 B 的每一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行加起来都是 1，新 π 的各分量加起来也是 1。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3624" cy="909257"/>
            <a:chOff x="520446" y="342900"/>
            <a:chExt cx="59736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3：学习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36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 例题：贯穿例题训练一轮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83107" cy="264033"/>
            <a:chOff x="526542" y="1545907"/>
            <a:chExt cx="748310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初始模型 λ₀ 取第 20 页的参数，γ 见第 36 页的表。以下数值均由脚本实算，保留 3 位小数。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8447" y="1928812"/>
            <a:ext cx="5415153" cy="1789462"/>
            <a:chOff x="528447" y="1928812"/>
            <a:chExt cx="5415153" cy="178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394" y="204597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\ 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615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0056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74020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261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转出合计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94833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924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42696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4953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2.490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94833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69241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42696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953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94833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69241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696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49538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2881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1067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8413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58540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3199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3527584"/>
              <a:ext cx="2149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期望转移次数 Σ ξₜ(i, j)（t = 1…6）</a:t>
              </a:r>
            </a:p>
          </p:txBody>
        </p:sp>
      </p:grpSp>
      <p:grpSp>
        <p:nvGrpSpPr>
          <p:cNvPr id="66" name="c1-table-2"/>
          <p:cNvGrpSpPr/>
          <p:nvPr/>
        </p:nvGrpSpPr>
        <p:grpSpPr>
          <a:xfrm>
            <a:off x="528447" y="3844290"/>
            <a:ext cx="5415153" cy="1789461"/>
            <a:chOff x="528447" y="3844290"/>
            <a:chExt cx="5415153" cy="1789461"/>
          </a:xfrm>
        </p:grpSpPr>
        <p:sp>
          <p:nvSpPr>
            <p:cNvPr id="40" name="Rectangle 40"/>
            <p:cNvSpPr/>
            <p:nvPr/>
          </p:nvSpPr>
          <p:spPr>
            <a:xfrm>
              <a:off x="533400" y="384429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6687" y="396144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\ 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50960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57803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64646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8078" y="43434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35853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39440" y="4235768"/>
              <a:ext cx="138779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42696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49538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602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6072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8078" y="47244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5853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42696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49538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983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078" y="51063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35853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42696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49538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84429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719262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125152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531995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8447" y="5443061"/>
              <a:ext cx="2003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新转移矩阵 A = 每行除以转出合计</a:t>
              </a:r>
            </a:p>
          </p:txBody>
        </p:sp>
      </p:grpSp>
      <p:grpSp>
        <p:nvGrpSpPr>
          <p:cNvPr id="97" name="c2-table-1"/>
          <p:cNvGrpSpPr/>
          <p:nvPr/>
        </p:nvGrpSpPr>
        <p:grpSpPr>
          <a:xfrm>
            <a:off x="6243447" y="1928812"/>
            <a:ext cx="5415153" cy="1789462"/>
            <a:chOff x="6243447" y="1928812"/>
            <a:chExt cx="5415153" cy="1789462"/>
          </a:xfrm>
        </p:grpSpPr>
        <p:sp>
          <p:nvSpPr>
            <p:cNvPr id="67" name="Rectangle 67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4273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115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1556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89021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089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43079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09833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8424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1.082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57696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6453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2.660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43079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09833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784241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757696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2.912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16453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3.906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43079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809833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784241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57696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64538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192881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32567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29913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73540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24699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43447" y="3527584"/>
              <a:ext cx="2790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期望观测次数 Σ γₜ(j)（按 Oₜ 分组，t = 1…7）</a:t>
              </a:r>
            </a:p>
          </p:txBody>
        </p:sp>
      </p:grpSp>
      <p:grpSp>
        <p:nvGrpSpPr>
          <p:cNvPr id="128" name="c2-table-2"/>
          <p:cNvGrpSpPr/>
          <p:nvPr/>
        </p:nvGrpSpPr>
        <p:grpSpPr>
          <a:xfrm>
            <a:off x="6243447" y="3844290"/>
            <a:ext cx="5415153" cy="1789461"/>
            <a:chOff x="6243447" y="3844290"/>
            <a:chExt cx="5415153" cy="1789461"/>
          </a:xfrm>
        </p:grpSpPr>
        <p:sp>
          <p:nvSpPr>
            <p:cNvPr id="98" name="Rectangle 98"/>
            <p:cNvSpPr/>
            <p:nvPr/>
          </p:nvSpPr>
          <p:spPr>
            <a:xfrm>
              <a:off x="6248400" y="384429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42735" y="39614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795451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裙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877490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衣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959530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伞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978493" y="396144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 π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43079" y="43434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918418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000458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082498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164538" y="4343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0.599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248400" y="4602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248400" y="46072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343079" y="47244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918418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000458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082498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0.745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164538" y="47244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248400" y="4983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343079" y="51063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918418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000458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082498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0.719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164538" y="5106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0.066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248400" y="384429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7325678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407718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9489758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0571798" y="384429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243447" y="5443061"/>
              <a:ext cx="2030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新观测矩阵 B 与新初始分布 π = γ₁</a:t>
              </a:r>
            </a:p>
          </p:txBody>
        </p:sp>
      </p:grpSp>
      <p:grpSp>
        <p:nvGrpSpPr>
          <p:cNvPr id="13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29" name="Rectangle 12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32" name="Group 13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804863" y="61061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33" name="TextBox 133"/>
            <p:cNvSpPr txBox="1"/>
            <p:nvPr/>
          </p:nvSpPr>
          <p:spPr>
            <a:xfrm>
              <a:off x="1041273" y="6039326"/>
              <a:ext cx="65103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用新模型重跑前向算法：P(O | λ) 从 0.0001974 升到 0.001398，约为原来的 7 倍。</a:t>
              </a:r>
            </a:p>
          </p:txBody>
        </p:sp>
      </p:grpSp>
      <p:grpSp>
        <p:nvGrpSpPr>
          <p:cNvPr id="1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5" name="TextBox 13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764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114" y="407194"/>
              <a:ext cx="1961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问题 3：学习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继续迭代：似然单调上升，但一条短序列会把模型训“死”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7685" y="1524000"/>
            <a:ext cx="4983480" cy="3737134"/>
            <a:chOff x="527685" y="1524000"/>
            <a:chExt cx="4983480" cy="373713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29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8729" y="1655445"/>
              <a:ext cx="689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P(O | λ)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25582" y="1655445"/>
              <a:ext cx="879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ln P(O | λ)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787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02319" y="2085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0.0001974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0531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−8.530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7787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1168" y="251555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0.001398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0531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−6.572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787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1168" y="294608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0.001992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0531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−6.219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787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1168" y="337566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0.003194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0531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−5.746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77876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80017" y="380619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0.01296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0531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−4.346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005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0527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1230" y="4235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80017" y="423576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0.02641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60531" y="423576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−3.634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30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4243" y="4666298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以后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37360" y="4544378"/>
              <a:ext cx="187261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880017" y="466629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0.08192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60531" y="466629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−2.502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4977765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723072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614738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685" y="5041106"/>
              <a:ext cx="24700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每轮训练后的 P(O | λ)（脚本实算）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5815965" y="1524000"/>
            <a:ext cx="5842635" cy="2214562"/>
            <a:chOff x="5815965" y="1524000"/>
            <a:chExt cx="5842635" cy="2214562"/>
          </a:xfrm>
        </p:grpSpPr>
        <p:sp>
          <p:nvSpPr>
            <p:cNvPr id="47" name="Rectangle 47"/>
            <p:cNvSpPr/>
            <p:nvPr/>
          </p:nvSpPr>
          <p:spPr>
            <a:xfrm>
              <a:off x="5815965" y="1524000"/>
              <a:ext cx="5842635" cy="2214562"/>
            </a:xfrm>
            <a:prstGeom prst="roundRect">
              <a:avLst>
                <a:gd name="adj" fmla="val 60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1657350"/>
              <a:ext cx="47625" cy="19478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57900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31357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收敛到了什么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27951" y="1767364"/>
              <a:ext cx="29612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参数全部变成 0 或 1 附近的极端值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50661" y="2119789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轮后 π = (1, 0, 0)，状态路径被固定为 晴 → 雪 → 雨 → 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雨 → 雨 → 雨：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65520" y="27708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22111" y="2711291"/>
              <a:ext cx="46405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“晴”和“雪”只会发出外套，“雨”发出伞 0.8、裙子 0.2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65520" y="30908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22111" y="3031331"/>
              <a:ext cx="4989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P(O | λ) = 0.8 × 0.8 × 0.2 × 0.8 × 0.8 = 0.08192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51804" y="3347085"/>
              <a:ext cx="5383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这组参数完美“背下”了这 7 天，却已经没有天气的含义：状态名只是编号。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815965" y="3924300"/>
            <a:ext cx="5842635" cy="1933575"/>
            <a:chOff x="5815965" y="3924300"/>
            <a:chExt cx="5842635" cy="1933575"/>
          </a:xfrm>
        </p:grpSpPr>
        <p:sp>
          <p:nvSpPr>
            <p:cNvPr id="59" name="Rectangle 59"/>
            <p:cNvSpPr/>
            <p:nvPr/>
          </p:nvSpPr>
          <p:spPr>
            <a:xfrm>
              <a:off x="5815965" y="3924300"/>
              <a:ext cx="584263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5490" y="40576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57900" y="41281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9256" y="41638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实际训练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43154" y="41676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怎样避免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065520" y="45796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22111" y="451913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用大量、多条观测序列训练，把各条序列的期望次数加在一起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再相除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065520" y="51711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22111" y="5110639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给计数加平滑，避免概率被压成 0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065520" y="54911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22111" y="5430679"/>
              <a:ext cx="3971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换几个不同的 λ₀ 多跑几次，取似然最大的一组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299460" cy="3351847"/>
            <a:chOff x="667512" y="1835468"/>
            <a:chExt cx="32994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75399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生物序列与中文文本里的隐状态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8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岛：用两条马尔可夫链做判别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05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在长序列里定位 CpG 岛的 HMM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60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中文分词：B/M/E/S 四状态 HMM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词性标注：以词性为状态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4608" cy="909257"/>
            <a:chOff x="520446" y="342900"/>
            <a:chExt cx="7294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4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岛：DNA 上 C、G 成对出现特别密集的区域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951220" cy="4739640"/>
            <a:chOff x="533400" y="1524000"/>
            <a:chExt cx="5951220" cy="4739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739640"/>
            </a:xfrm>
            <a:prstGeom prst="roundRect">
              <a:avLst>
                <a:gd name="adj" fmla="val 2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7294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318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 CpG 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20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 DNA 上的一段区域，含有大量相连的胞嘧啶（C）、鸟嘌呤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（G），以及把两者相连的磷酸酯键（p），CpG 就是“C-磷酸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-G”的缩写。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5050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哺乳类基因的启动子上约 40% 含有 CpG 岛，人类约 70%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一般长度约 300 到 3000 个碱基对（bp）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07130"/>
              <a:ext cx="5101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许多基因的启动子（promoter）或“起始”区域周围，甲基化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常被抑制，这些区域 CpG 对的浓度较高，与对应的染色体区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段一起被称作 CpG 岛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6767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613910"/>
              <a:ext cx="5068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岛常位于管家基因及其他频繁表达基因的启动子区域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789420" y="1524000"/>
            <a:ext cx="4869180" cy="1670685"/>
            <a:chOff x="6789420" y="1524000"/>
            <a:chExt cx="4869180" cy="1670685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894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2110740"/>
              <a:ext cx="3943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给一小段基因组序列，它是否来自 CpG 岛？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9450" y="246507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状态取四种碱基 {A, T, G, C}，碱基之间的转移用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4 × 4 的转移概率矩阵 P 描述。</a:t>
              </a:r>
            </a:p>
          </p:txBody>
        </p:sp>
      </p:grpSp>
      <p:grpSp>
        <p:nvGrpSpPr>
          <p:cNvPr id="55" name="c2-graph-2"/>
          <p:cNvGrpSpPr/>
          <p:nvPr/>
        </p:nvGrpSpPr>
        <p:grpSpPr>
          <a:xfrm>
            <a:off x="7797165" y="3556635"/>
            <a:ext cx="2853690" cy="1562100"/>
            <a:chOff x="7797165" y="3556635"/>
            <a:chExt cx="2853690" cy="1562100"/>
          </a:xfrm>
        </p:grpSpPr>
        <p:sp>
          <p:nvSpPr>
            <p:cNvPr id="29" name="Freeform 29"/>
            <p:cNvSpPr/>
            <p:nvPr/>
          </p:nvSpPr>
          <p:spPr>
            <a:xfrm>
              <a:off x="8321040" y="3766185"/>
              <a:ext cx="1805940" cy="9525"/>
            </a:xfrm>
            <a:custGeom>
              <a:avLst/>
              <a:gdLst/>
              <a:ahLst/>
              <a:cxnLst/>
              <a:rect l="l" t="t" r="r" b="b"/>
              <a:pathLst>
                <a:path w="1805940" h="9525">
                  <a:moveTo>
                    <a:pt x="0" y="0"/>
                  </a:moveTo>
                  <a:lnTo>
                    <a:pt x="1805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126980" y="3718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225790" y="3718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006715" y="408051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59090" y="4594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959090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441305" y="408051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93680" y="4594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393680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321040" y="4909185"/>
              <a:ext cx="1805940" cy="9525"/>
            </a:xfrm>
            <a:custGeom>
              <a:avLst/>
              <a:gdLst/>
              <a:ahLst/>
              <a:cxnLst/>
              <a:rect l="l" t="t" r="r" b="b"/>
              <a:pathLst>
                <a:path w="1805940" h="9525">
                  <a:moveTo>
                    <a:pt x="0" y="0"/>
                  </a:moveTo>
                  <a:lnTo>
                    <a:pt x="1805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126980" y="4861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225790" y="4861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291512" y="3899535"/>
              <a:ext cx="1864995" cy="876300"/>
            </a:xfrm>
            <a:custGeom>
              <a:avLst/>
              <a:gdLst/>
              <a:ahLst/>
              <a:cxnLst/>
              <a:rect l="l" t="t" r="r" b="b"/>
              <a:pathLst>
                <a:path w="1864995" h="876300">
                  <a:moveTo>
                    <a:pt x="0" y="0"/>
                  </a:moveTo>
                  <a:lnTo>
                    <a:pt x="1864995" y="8763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36505" y="4732020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3820"/>
                  </a:moveTo>
                  <a:lnTo>
                    <a:pt x="0" y="86677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204835" y="385667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0" y="2858"/>
                  </a:moveTo>
                  <a:lnTo>
                    <a:pt x="106680" y="0"/>
                  </a:lnTo>
                  <a:lnTo>
                    <a:pt x="65722" y="866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291512" y="3899535"/>
              <a:ext cx="1864995" cy="876300"/>
            </a:xfrm>
            <a:custGeom>
              <a:avLst/>
              <a:gdLst/>
              <a:ahLst/>
              <a:cxnLst/>
              <a:rect l="l" t="t" r="r" b="b"/>
              <a:pathLst>
                <a:path w="1864995" h="876300">
                  <a:moveTo>
                    <a:pt x="1864995" y="0"/>
                  </a:moveTo>
                  <a:lnTo>
                    <a:pt x="0" y="8763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204835" y="4732020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0" y="83820"/>
                  </a:moveTo>
                  <a:lnTo>
                    <a:pt x="65722" y="0"/>
                  </a:lnTo>
                  <a:lnTo>
                    <a:pt x="106680" y="866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136505" y="385667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2858"/>
                  </a:moveTo>
                  <a:lnTo>
                    <a:pt x="40957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797165" y="3556635"/>
              <a:ext cx="419100" cy="4191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231755" y="3556635"/>
              <a:ext cx="419100" cy="4191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97165" y="4699635"/>
              <a:ext cx="419100" cy="4191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231755" y="4699635"/>
              <a:ext cx="419100" cy="4191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55000" y="36961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89590" y="36961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55000" y="48391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89590" y="48391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789420" y="5480685"/>
            <a:ext cx="4869180" cy="782955"/>
            <a:chOff x="6789420" y="5480685"/>
            <a:chExt cx="4869180" cy="782955"/>
          </a:xfrm>
        </p:grpSpPr>
        <p:sp>
          <p:nvSpPr>
            <p:cNvPr id="56" name="Rectangle 56"/>
            <p:cNvSpPr/>
            <p:nvPr/>
          </p:nvSpPr>
          <p:spPr>
            <a:xfrm>
              <a:off x="6789420" y="548068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994208" y="5772150"/>
              <a:ext cx="200026" cy="200026"/>
              <a:chOff x="6994208" y="5772150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994208" y="57721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094220" y="5838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083108" y="58721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296150" y="562927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这里的状态就是看得见的碱基，所以这一步只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是普通马尔可夫链，还不是隐马尔可夫模型。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058" cy="909257"/>
            <a:chOff x="520446" y="342900"/>
            <a:chExt cx="6928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训练两条马尔可夫链：岛内用 P+，岛外用 P−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295724" cy="308039"/>
            <a:chOff x="525399" y="1550194"/>
            <a:chExt cx="929572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2957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用已知 CpG 岛序列统计出 P+，用已知非 CpG 岛序列统计出 P−。行是当前碱基，列是下一个碱基。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27685" y="1967865"/>
            <a:ext cx="5415915" cy="2539842"/>
            <a:chOff x="527685" y="1967865"/>
            <a:chExt cx="5415915" cy="25398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960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07864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4196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0529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6861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6" y="25512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3504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9837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6169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2502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6" y="300085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3504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9837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80460" y="2874645"/>
              <a:ext cx="111728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96169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2502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08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6" y="34494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23504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59837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6169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32502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57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76237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6786" y="38981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23504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59837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96169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32502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67865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9446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53079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66617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80250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4287679"/>
              <a:ext cx="1692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“+”模型 P+（CpG 岛内）</a:t>
              </a:r>
            </a:p>
          </p:txBody>
        </p:sp>
      </p:grpSp>
      <p:grpSp>
        <p:nvGrpSpPr>
          <p:cNvPr id="53" name="c1-callout-2"/>
          <p:cNvGrpSpPr/>
          <p:nvPr/>
        </p:nvGrpSpPr>
        <p:grpSpPr>
          <a:xfrm>
            <a:off x="533400" y="4653915"/>
            <a:ext cx="5410200" cy="782955"/>
            <a:chOff x="533400" y="4653915"/>
            <a:chExt cx="5410200" cy="782955"/>
          </a:xfrm>
        </p:grpSpPr>
        <p:sp>
          <p:nvSpPr>
            <p:cNvPr id="48" name="Rectangle 48"/>
            <p:cNvSpPr/>
            <p:nvPr/>
          </p:nvSpPr>
          <p:spPr>
            <a:xfrm>
              <a:off x="533400" y="46539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4945380"/>
              <a:ext cx="200026" cy="200026"/>
              <a:chOff x="738188" y="494538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49453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04863" y="50231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4940618"/>
              <a:ext cx="3141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岛内 C 后面接 G 的概率是 0.274。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6242685" y="1967865"/>
            <a:ext cx="5415915" cy="2539842"/>
            <a:chOff x="6242685" y="1967865"/>
            <a:chExt cx="5415915" cy="2539842"/>
          </a:xfrm>
        </p:grpSpPr>
        <p:sp>
          <p:nvSpPr>
            <p:cNvPr id="54" name="Rectangle 54"/>
            <p:cNvSpPr/>
            <p:nvPr/>
          </p:nvSpPr>
          <p:spPr>
            <a:xfrm>
              <a:off x="6248400" y="196786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460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2864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59196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95529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31861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21786" y="25512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38504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74837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11169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47502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2860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286512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21786" y="300085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38504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74837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0.298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395460" y="2874645"/>
              <a:ext cx="111728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11169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47502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308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21786" y="34494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38504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74837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1169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47502" y="34494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0.208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3757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48400" y="376237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21786" y="38981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38504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74837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711169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847502" y="38981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967865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10946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24579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38117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51750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42685" y="4287679"/>
              <a:ext cx="1692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“−”模型 P−（CpG 岛外）</a:t>
              </a:r>
            </a:p>
          </p:txBody>
        </p:sp>
      </p:grpSp>
      <p:grpSp>
        <p:nvGrpSpPr>
          <p:cNvPr id="99" name="c2-callout-2"/>
          <p:cNvGrpSpPr/>
          <p:nvPr/>
        </p:nvGrpSpPr>
        <p:grpSpPr>
          <a:xfrm>
            <a:off x="6248400" y="4653915"/>
            <a:ext cx="5410200" cy="782955"/>
            <a:chOff x="6248400" y="4653915"/>
            <a:chExt cx="5410200" cy="782955"/>
          </a:xfrm>
        </p:grpSpPr>
        <p:sp>
          <p:nvSpPr>
            <p:cNvPr id="93" name="Rectangle 93"/>
            <p:cNvSpPr/>
            <p:nvPr/>
          </p:nvSpPr>
          <p:spPr>
            <a:xfrm>
              <a:off x="6248400" y="46539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441129" y="4941688"/>
              <a:ext cx="224134" cy="192560"/>
              <a:chOff x="6441129" y="4941688"/>
              <a:chExt cx="224134" cy="19256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6553200" y="50120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441129" y="49416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553200" y="50898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755130" y="480250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岛外 C 后面接 G 只有 0.078，约为岛内的 1/3.5。判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别主要就靠这一格。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00" name="Rectangle 10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130" y="5991225"/>
              <a:ext cx="9424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每一行都是一个概率分布，行和为 1（P+ 的 C 行四个数加起来是 1.001，是原表三位小数的舍入误差）。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1443" cy="909257"/>
            <a:chOff x="520446" y="342900"/>
            <a:chExt cx="77314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14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判别新序列 x = TGCAGCG：比较两个模型下的概率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30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58" name="c1-table-2"/>
          <p:cNvGrpSpPr/>
          <p:nvPr/>
        </p:nvGrpSpPr>
        <p:grpSpPr>
          <a:xfrm>
            <a:off x="527685" y="2338388"/>
            <a:ext cx="5956935" cy="3736181"/>
            <a:chOff x="527685" y="2338388"/>
            <a:chExt cx="5956935" cy="3736181"/>
          </a:xfrm>
        </p:grpSpPr>
        <p:sp>
          <p:nvSpPr>
            <p:cNvPr id="8" name="Rectangle 8"/>
            <p:cNvSpPr/>
            <p:nvPr/>
          </p:nvSpPr>
          <p:spPr>
            <a:xfrm>
              <a:off x="533400" y="2338388"/>
              <a:ext cx="595122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0128" y="24688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92787" y="246888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1522" y="246888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3930" y="2468880"/>
              <a:ext cx="1018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log₂(P+/P−)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813" y="28994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T→G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90038" y="28994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0.384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99726" y="28994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2836" y="28994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0.395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937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19849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813" y="33299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G→C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90038" y="332994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99726" y="332994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22836" y="332994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0.463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233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3813" y="375951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C→A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90038" y="375951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99726" y="375951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1035" y="3637598"/>
              <a:ext cx="200406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33986" y="375951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−0.913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05384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058602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3813" y="419004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A→G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90038" y="419004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99726" y="419004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22836" y="419004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843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3813" y="461962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G→C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90038" y="461962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99726" y="461962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22836" y="461962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0.463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139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18710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3813" y="505015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C→G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90038" y="50501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99726" y="50501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471035" y="4928235"/>
              <a:ext cx="200406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2836" y="50501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1.813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3444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1051" y="548068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连乘 / 求和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234641" y="548068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0.0008808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44329" y="548068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0.0001265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71035" y="5358765"/>
              <a:ext cx="200406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22836" y="54806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2.800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2338388"/>
              <a:ext cx="5951220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838325" y="2338388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147060" y="2338388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456748" y="2338388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5854541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六次转移逐项查表（行 = 前一个碱基）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789420" y="1524000"/>
            <a:ext cx="4869180" cy="1584008"/>
            <a:chOff x="6789420" y="1524000"/>
            <a:chExt cx="4869180" cy="1584008"/>
          </a:xfrm>
        </p:grpSpPr>
        <p:sp>
          <p:nvSpPr>
            <p:cNvPr id="59" name="Rectangle 59"/>
            <p:cNvSpPr/>
            <p:nvPr/>
          </p:nvSpPr>
          <p:spPr>
            <a:xfrm>
              <a:off x="6789420" y="1524000"/>
              <a:ext cx="4869180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98945" y="1657350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2411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判别结果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24116" y="2090261"/>
              <a:ext cx="34499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Ratio = P(x | +) / P(x | −) = 0.0008808 /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0.0001265 ≈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6.96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&gt; 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24116" y="2681764"/>
              <a:ext cx="2343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更可能来自 CpG 岛区域。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789420" y="3292792"/>
            <a:ext cx="4869180" cy="1564958"/>
            <a:chOff x="6789420" y="3292792"/>
            <a:chExt cx="4869180" cy="1564958"/>
          </a:xfrm>
        </p:grpSpPr>
        <p:sp>
          <p:nvSpPr>
            <p:cNvPr id="65" name="Rectangle 65"/>
            <p:cNvSpPr/>
            <p:nvPr/>
          </p:nvSpPr>
          <p:spPr>
            <a:xfrm>
              <a:off x="6789420" y="3292792"/>
              <a:ext cx="486918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98945" y="342614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31355" y="349662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17613" y="35323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取对数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74686" y="35371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连乘变连加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24116" y="3888581"/>
              <a:ext cx="418033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 Ratio = 各转移的 log₂(P+/P−) 之和 = 2.800 &gt;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0。取对数后既不会下溢，又能看出每一步的贡献：C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→G 贡献最大，C→A 起反作用。</a:t>
              </a:r>
            </a:p>
          </p:txBody>
        </p:sp>
      </p:grpSp>
      <p:grpSp>
        <p:nvGrpSpPr>
          <p:cNvPr id="78" name="c2-card-3"/>
          <p:cNvGrpSpPr/>
          <p:nvPr/>
        </p:nvGrpSpPr>
        <p:grpSpPr>
          <a:xfrm>
            <a:off x="6789420" y="5043488"/>
            <a:ext cx="4869180" cy="1293495"/>
            <a:chOff x="6789420" y="5043488"/>
            <a:chExt cx="4869180" cy="1293495"/>
          </a:xfrm>
        </p:grpSpPr>
        <p:sp>
          <p:nvSpPr>
            <p:cNvPr id="72" name="Rectangle 72"/>
            <p:cNvSpPr/>
            <p:nvPr/>
          </p:nvSpPr>
          <p:spPr>
            <a:xfrm>
              <a:off x="6789420" y="5043488"/>
              <a:ext cx="486918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798945" y="5176838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031355" y="52473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21563" y="52830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32764" y="5286851"/>
              <a:ext cx="1599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为什么没有 P(x₁)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24116" y="563832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原课件只连乘了六个转移概率，相当于假设两个模型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的首碱基概率相同，在比值里约掉。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6342" cy="909257"/>
            <a:chOff x="520446" y="342900"/>
            <a:chExt cx="7786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6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在长序列里找 CpG 岛：把“岛内、岛外”变成隐状态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08428" cy="264033"/>
            <a:chOff x="526542" y="1545907"/>
            <a:chExt cx="570842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08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进一步的问题：对一段长的基因组序列，找出其中 CpG 岛所在的位置。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4544378" cy="1545908"/>
            <a:chOff x="533400" y="1928812"/>
            <a:chExt cx="4544378" cy="154590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811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做法一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8562" y="2150745"/>
              <a:ext cx="1032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两状态 HMM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476500"/>
              <a:ext cx="2656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{N, C}：不在岛内、在岛内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8327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776538"/>
              <a:ext cx="1558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 {A, T, G, C}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1327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076575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转移矩阵 2 × 2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644265"/>
            <a:ext cx="4544378" cy="681990"/>
            <a:chOff x="533400" y="3644265"/>
            <a:chExt cx="4544378" cy="681990"/>
          </a:xfrm>
        </p:grpSpPr>
        <p:sp>
          <p:nvSpPr>
            <p:cNvPr id="21" name="Rectangle 21"/>
            <p:cNvSpPr/>
            <p:nvPr/>
          </p:nvSpPr>
          <p:spPr>
            <a:xfrm>
              <a:off x="533400" y="3644265"/>
              <a:ext cx="4544378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7961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原课件给的一段序列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797" y="4057174"/>
              <a:ext cx="34599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TAAAAAATAAATATGTTTAATTTGTGAACTGATTACCATCAGAAT</a:t>
              </a:r>
            </a:p>
          </p:txBody>
        </p:sp>
      </p:grpSp>
      <p:grpSp>
        <p:nvGrpSpPr>
          <p:cNvPr id="36" name="c1-graph-3"/>
          <p:cNvGrpSpPr/>
          <p:nvPr/>
        </p:nvGrpSpPr>
        <p:grpSpPr>
          <a:xfrm>
            <a:off x="930592" y="4820602"/>
            <a:ext cx="3749993" cy="712470"/>
            <a:chOff x="930592" y="4820602"/>
            <a:chExt cx="3749993" cy="712470"/>
          </a:xfrm>
        </p:grpSpPr>
        <p:sp>
          <p:nvSpPr>
            <p:cNvPr id="25" name="Freeform 25"/>
            <p:cNvSpPr/>
            <p:nvPr/>
          </p:nvSpPr>
          <p:spPr>
            <a:xfrm>
              <a:off x="930592" y="4820602"/>
              <a:ext cx="491490" cy="712470"/>
            </a:xfrm>
            <a:custGeom>
              <a:avLst/>
              <a:gdLst/>
              <a:ahLst/>
              <a:cxnLst/>
              <a:rect l="l" t="t" r="r" b="b"/>
              <a:pathLst>
                <a:path w="491490" h="712470">
                  <a:moveTo>
                    <a:pt x="491490" y="244792"/>
                  </a:moveTo>
                  <a:cubicBezTo>
                    <a:pt x="0" y="0"/>
                    <a:pt x="0" y="712470"/>
                    <a:pt x="491490" y="4676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325880" y="5288280"/>
              <a:ext cx="96203" cy="76200"/>
            </a:xfrm>
            <a:custGeom>
              <a:avLst/>
              <a:gdLst/>
              <a:ahLst/>
              <a:cxnLst/>
              <a:rect l="l" t="t" r="r" b="b"/>
              <a:pathLst>
                <a:path w="96203" h="76200">
                  <a:moveTo>
                    <a:pt x="96203" y="0"/>
                  </a:moveTo>
                  <a:lnTo>
                    <a:pt x="381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189095" y="4820602"/>
              <a:ext cx="491490" cy="712470"/>
            </a:xfrm>
            <a:custGeom>
              <a:avLst/>
              <a:gdLst/>
              <a:ahLst/>
              <a:cxnLst/>
              <a:rect l="l" t="t" r="r" b="b"/>
              <a:pathLst>
                <a:path w="491490" h="712470">
                  <a:moveTo>
                    <a:pt x="0" y="244792"/>
                  </a:moveTo>
                  <a:cubicBezTo>
                    <a:pt x="491490" y="0"/>
                    <a:pt x="491490" y="712470"/>
                    <a:pt x="0" y="4676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189095" y="5288280"/>
              <a:ext cx="96202" cy="76200"/>
            </a:xfrm>
            <a:custGeom>
              <a:avLst/>
              <a:gdLst/>
              <a:ahLst/>
              <a:cxnLst/>
              <a:rect l="l" t="t" r="r" b="b"/>
              <a:pathLst>
                <a:path w="96202" h="76200">
                  <a:moveTo>
                    <a:pt x="0" y="0"/>
                  </a:moveTo>
                  <a:lnTo>
                    <a:pt x="96202" y="0"/>
                  </a:lnTo>
                  <a:lnTo>
                    <a:pt x="58102" y="762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022158" y="5176838"/>
              <a:ext cx="1566862" cy="9525"/>
            </a:xfrm>
            <a:custGeom>
              <a:avLst/>
              <a:gdLst/>
              <a:ahLst/>
              <a:cxnLst/>
              <a:rect l="l" t="t" r="r" b="b"/>
              <a:pathLst>
                <a:path w="1566862" h="9525">
                  <a:moveTo>
                    <a:pt x="0" y="0"/>
                  </a:moveTo>
                  <a:lnTo>
                    <a:pt x="1566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589020" y="5129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926908" y="5129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422082" y="4929188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693795" y="4929188"/>
              <a:ext cx="495300" cy="4953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24529" y="51163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96242" y="51163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5382578" y="1928812"/>
            <a:ext cx="6276022" cy="1245870"/>
            <a:chOff x="5382578" y="1928812"/>
            <a:chExt cx="6276022" cy="1245870"/>
          </a:xfrm>
        </p:grpSpPr>
        <p:sp>
          <p:nvSpPr>
            <p:cNvPr id="37" name="Rectangle 37"/>
            <p:cNvSpPr/>
            <p:nvPr/>
          </p:nvSpPr>
          <p:spPr>
            <a:xfrm>
              <a:off x="5382578" y="1928812"/>
              <a:ext cx="6276022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92102" y="2062162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07368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5988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做法二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97739" y="2150745"/>
              <a:ext cx="4288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八状态 HMM {A+, C+, G+, T+, A−, C−, G−, T−}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615940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71960" y="2476500"/>
              <a:ext cx="4555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观测仍是 {A, T, G, C}，状态 X+ 与 X− 都只发出碱基 X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615940" y="28327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71960" y="2776538"/>
              <a:ext cx="5615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转移矩阵 8 × 8：同组内部沿用 P+ 或 P−，两组之间以很小的概率切换</a:t>
              </a:r>
            </a:p>
          </p:txBody>
        </p:sp>
      </p:grpSp>
      <p:grpSp>
        <p:nvGrpSpPr>
          <p:cNvPr id="105" name="c2-graph-2"/>
          <p:cNvGrpSpPr/>
          <p:nvPr/>
        </p:nvGrpSpPr>
        <p:grpSpPr>
          <a:xfrm>
            <a:off x="5945505" y="3540442"/>
            <a:ext cx="5150167" cy="1757363"/>
            <a:chOff x="5945505" y="3540442"/>
            <a:chExt cx="5150167" cy="1757363"/>
          </a:xfrm>
        </p:grpSpPr>
        <p:sp>
          <p:nvSpPr>
            <p:cNvPr id="47" name="Freeform 47"/>
            <p:cNvSpPr/>
            <p:nvPr/>
          </p:nvSpPr>
          <p:spPr>
            <a:xfrm>
              <a:off x="6431280" y="3730942"/>
              <a:ext cx="1166812" cy="9525"/>
            </a:xfrm>
            <a:custGeom>
              <a:avLst/>
              <a:gdLst/>
              <a:ahLst/>
              <a:cxnLst/>
              <a:rect l="l" t="t" r="r" b="b"/>
              <a:pathLst>
                <a:path w="1166812" h="9525">
                  <a:moveTo>
                    <a:pt x="0" y="0"/>
                  </a:moveTo>
                  <a:lnTo>
                    <a:pt x="11668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598092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336030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431280" y="5107305"/>
              <a:ext cx="1166812" cy="9525"/>
            </a:xfrm>
            <a:custGeom>
              <a:avLst/>
              <a:gdLst/>
              <a:ahLst/>
              <a:cxnLst/>
              <a:rect l="l" t="t" r="r" b="b"/>
              <a:pathLst>
                <a:path w="1166812" h="9525">
                  <a:moveTo>
                    <a:pt x="0" y="0"/>
                  </a:moveTo>
                  <a:lnTo>
                    <a:pt x="11668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598092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6336030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136005" y="4026218"/>
              <a:ext cx="9525" cy="785812"/>
            </a:xfrm>
            <a:custGeom>
              <a:avLst/>
              <a:gdLst/>
              <a:ahLst/>
              <a:cxnLst/>
              <a:rect l="l" t="t" r="r" b="b"/>
              <a:pathLst>
                <a:path w="9525" h="785812">
                  <a:moveTo>
                    <a:pt x="0" y="0"/>
                  </a:moveTo>
                  <a:lnTo>
                    <a:pt x="0" y="7858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88380" y="4812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088380" y="3930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893368" y="4026218"/>
              <a:ext cx="9525" cy="785812"/>
            </a:xfrm>
            <a:custGeom>
              <a:avLst/>
              <a:gdLst/>
              <a:ahLst/>
              <a:cxnLst/>
              <a:rect l="l" t="t" r="r" b="b"/>
              <a:pathLst>
                <a:path w="9525" h="785812">
                  <a:moveTo>
                    <a:pt x="0" y="0"/>
                  </a:moveTo>
                  <a:lnTo>
                    <a:pt x="0" y="7858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845742" y="4812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845742" y="3930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368415" y="3912870"/>
              <a:ext cx="1292542" cy="1012508"/>
            </a:xfrm>
            <a:custGeom>
              <a:avLst/>
              <a:gdLst/>
              <a:ahLst/>
              <a:cxnLst/>
              <a:rect l="l" t="t" r="r" b="b"/>
              <a:pathLst>
                <a:path w="1292542" h="1012508">
                  <a:moveTo>
                    <a:pt x="0" y="0"/>
                  </a:moveTo>
                  <a:lnTo>
                    <a:pt x="1292542" y="1012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631430" y="4887278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103822" y="96203"/>
                  </a:moveTo>
                  <a:lnTo>
                    <a:pt x="0" y="75247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6293168" y="385476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0"/>
                  </a:moveTo>
                  <a:lnTo>
                    <a:pt x="104775" y="20955"/>
                  </a:lnTo>
                  <a:lnTo>
                    <a:pt x="45720" y="962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368415" y="3912870"/>
              <a:ext cx="1292542" cy="1012508"/>
            </a:xfrm>
            <a:custGeom>
              <a:avLst/>
              <a:gdLst/>
              <a:ahLst/>
              <a:cxnLst/>
              <a:rect l="l" t="t" r="r" b="b"/>
              <a:pathLst>
                <a:path w="1292542" h="1012508">
                  <a:moveTo>
                    <a:pt x="1292542" y="0"/>
                  </a:moveTo>
                  <a:lnTo>
                    <a:pt x="0" y="1012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293168" y="488727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96203"/>
                  </a:moveTo>
                  <a:lnTo>
                    <a:pt x="45720" y="0"/>
                  </a:lnTo>
                  <a:lnTo>
                    <a:pt x="104775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7631430" y="3854768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103822" y="0"/>
                  </a:moveTo>
                  <a:lnTo>
                    <a:pt x="58102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9443085" y="3730942"/>
              <a:ext cx="1166813" cy="9525"/>
            </a:xfrm>
            <a:custGeom>
              <a:avLst/>
              <a:gdLst/>
              <a:ahLst/>
              <a:cxnLst/>
              <a:rect l="l" t="t" r="r" b="b"/>
              <a:pathLst>
                <a:path w="1166813" h="9525">
                  <a:moveTo>
                    <a:pt x="0" y="0"/>
                  </a:moveTo>
                  <a:lnTo>
                    <a:pt x="116681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609898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347835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443085" y="5107305"/>
              <a:ext cx="1166813" cy="9525"/>
            </a:xfrm>
            <a:custGeom>
              <a:avLst/>
              <a:gdLst/>
              <a:ahLst/>
              <a:cxnLst/>
              <a:rect l="l" t="t" r="r" b="b"/>
              <a:pathLst>
                <a:path w="1166813" h="9525">
                  <a:moveTo>
                    <a:pt x="0" y="0"/>
                  </a:moveTo>
                  <a:lnTo>
                    <a:pt x="116681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609898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347835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147810" y="4026218"/>
              <a:ext cx="9525" cy="785812"/>
            </a:xfrm>
            <a:custGeom>
              <a:avLst/>
              <a:gdLst/>
              <a:ahLst/>
              <a:cxnLst/>
              <a:rect l="l" t="t" r="r" b="b"/>
              <a:pathLst>
                <a:path w="9525" h="785812">
                  <a:moveTo>
                    <a:pt x="0" y="0"/>
                  </a:moveTo>
                  <a:lnTo>
                    <a:pt x="0" y="7858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100185" y="4812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100185" y="3930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10905172" y="4026218"/>
              <a:ext cx="9525" cy="785812"/>
            </a:xfrm>
            <a:custGeom>
              <a:avLst/>
              <a:gdLst/>
              <a:ahLst/>
              <a:cxnLst/>
              <a:rect l="l" t="t" r="r" b="b"/>
              <a:pathLst>
                <a:path w="9525" h="785812">
                  <a:moveTo>
                    <a:pt x="0" y="0"/>
                  </a:moveTo>
                  <a:lnTo>
                    <a:pt x="0" y="7858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0857548" y="4812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10857548" y="3930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381172" y="3912870"/>
              <a:ext cx="1291590" cy="1012508"/>
            </a:xfrm>
            <a:custGeom>
              <a:avLst/>
              <a:gdLst/>
              <a:ahLst/>
              <a:cxnLst/>
              <a:rect l="l" t="t" r="r" b="b"/>
              <a:pathLst>
                <a:path w="1291590" h="1012508">
                  <a:moveTo>
                    <a:pt x="0" y="0"/>
                  </a:moveTo>
                  <a:lnTo>
                    <a:pt x="1291590" y="1012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643235" y="488727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96203"/>
                  </a:moveTo>
                  <a:lnTo>
                    <a:pt x="0" y="75247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9305925" y="3854768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0" y="0"/>
                  </a:moveTo>
                  <a:lnTo>
                    <a:pt x="103822" y="20955"/>
                  </a:lnTo>
                  <a:lnTo>
                    <a:pt x="45720" y="962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9381172" y="3912870"/>
              <a:ext cx="1291590" cy="1012508"/>
            </a:xfrm>
            <a:custGeom>
              <a:avLst/>
              <a:gdLst/>
              <a:ahLst/>
              <a:cxnLst/>
              <a:rect l="l" t="t" r="r" b="b"/>
              <a:pathLst>
                <a:path w="1291590" h="1012508">
                  <a:moveTo>
                    <a:pt x="1291590" y="0"/>
                  </a:moveTo>
                  <a:lnTo>
                    <a:pt x="0" y="1012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9305925" y="4887278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0" y="96203"/>
                  </a:moveTo>
                  <a:lnTo>
                    <a:pt x="45720" y="0"/>
                  </a:lnTo>
                  <a:lnTo>
                    <a:pt x="103822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10643235" y="385476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59055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188642" y="3730942"/>
              <a:ext cx="663892" cy="9525"/>
            </a:xfrm>
            <a:custGeom>
              <a:avLst/>
              <a:gdLst/>
              <a:ahLst/>
              <a:cxnLst/>
              <a:rect l="l" t="t" r="r" b="b"/>
              <a:pathLst>
                <a:path w="663892" h="9525">
                  <a:moveTo>
                    <a:pt x="0" y="0"/>
                  </a:moveTo>
                  <a:lnTo>
                    <a:pt x="66389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4" name="Freeform 84"/>
            <p:cNvSpPr/>
            <p:nvPr/>
          </p:nvSpPr>
          <p:spPr>
            <a:xfrm>
              <a:off x="8852535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8093392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8188642" y="5107305"/>
              <a:ext cx="663892" cy="9525"/>
            </a:xfrm>
            <a:custGeom>
              <a:avLst/>
              <a:gdLst/>
              <a:ahLst/>
              <a:cxnLst/>
              <a:rect l="l" t="t" r="r" b="b"/>
              <a:pathLst>
                <a:path w="663892" h="9525">
                  <a:moveTo>
                    <a:pt x="0" y="0"/>
                  </a:moveTo>
                  <a:lnTo>
                    <a:pt x="66389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7" name="Freeform 87"/>
            <p:cNvSpPr/>
            <p:nvPr/>
          </p:nvSpPr>
          <p:spPr>
            <a:xfrm>
              <a:off x="8852535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8" name="Freeform 88"/>
            <p:cNvSpPr/>
            <p:nvPr/>
          </p:nvSpPr>
          <p:spPr>
            <a:xfrm>
              <a:off x="8093392" y="5059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5945505" y="3540442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7702868" y="3540442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5945505" y="491680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7702868" y="491680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8957310" y="3540442"/>
              <a:ext cx="381000" cy="3810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10714672" y="3540442"/>
              <a:ext cx="381000" cy="3810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8957310" y="4916805"/>
              <a:ext cx="381000" cy="3810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10714672" y="4916805"/>
              <a:ext cx="381000" cy="3810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057313" y="36747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A+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14676" y="36747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T+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057313" y="50511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14676" y="50511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G+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069118" y="36747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A−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826481" y="367474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T−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069118" y="50511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C−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826481" y="50511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G−</a:t>
              </a:r>
            </a:p>
          </p:txBody>
        </p:sp>
      </p:grpSp>
      <p:grpSp>
        <p:nvGrpSpPr>
          <p:cNvPr id="11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6" name="Rectangle 10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1040892" y="6028373"/>
              <a:ext cx="6952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Viterbi 解出最可能的状态序列，落在“+”状态（或 C 状态）的那几段就是 CpG 岛。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60947" cy="909257"/>
            <a:chOff x="520446" y="342900"/>
            <a:chExt cx="66609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609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中文分词：给每个字打上 B、M、E、S 标签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63829" cy="264033"/>
            <a:chOff x="526542" y="1545907"/>
            <a:chExt cx="686382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63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给定切分好的数据集 S = {s₁, …, sₙ}，训练模型为任意句子分词。例句取自原课件。</a:t>
              </a:r>
            </a:p>
          </p:txBody>
        </p:sp>
      </p:grpSp>
      <p:grpSp>
        <p:nvGrpSpPr>
          <p:cNvPr id="75" name="c1-cells-1"/>
          <p:cNvGrpSpPr/>
          <p:nvPr/>
        </p:nvGrpSpPr>
        <p:grpSpPr>
          <a:xfrm>
            <a:off x="527685" y="1928812"/>
            <a:ext cx="11130915" cy="887731"/>
            <a:chOff x="527685" y="1928812"/>
            <a:chExt cx="11130915" cy="887731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1548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4773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20202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74380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89810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43035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58465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12643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士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28072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81298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97680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50905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66335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560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35942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89168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04598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8775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74205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7430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42860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97038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12468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65693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82075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35300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50730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04908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320338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73563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988992" y="1928812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43170" y="20426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7685" y="25627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标签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1548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34160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620202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903767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289810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72422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8465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42030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628072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10685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297680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80292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66335" y="2447925"/>
              <a:ext cx="669608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48947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635942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8555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304598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1435" y="256270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974205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40090" y="256270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42860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26425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12468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95080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982075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47960" y="256270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650730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934295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320338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602950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988992" y="2447925"/>
              <a:ext cx="6696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272557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100" name="c1-table-2"/>
          <p:cNvGrpSpPr/>
          <p:nvPr/>
        </p:nvGrpSpPr>
        <p:grpSpPr>
          <a:xfrm>
            <a:off x="533400" y="2987040"/>
            <a:ext cx="11125200" cy="2000250"/>
            <a:chOff x="533400" y="2987040"/>
            <a:chExt cx="11125200" cy="2000250"/>
          </a:xfrm>
        </p:grpSpPr>
        <p:sp>
          <p:nvSpPr>
            <p:cNvPr id="76" name="Rectangle 76"/>
            <p:cNvSpPr/>
            <p:nvPr/>
          </p:nvSpPr>
          <p:spPr>
            <a:xfrm>
              <a:off x="533400" y="298704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4613" y="3108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82173" y="3108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75522" y="31084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本句中的例子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49387" y="35085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965960" y="3508534"/>
              <a:ext cx="1448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词语的首字（Begin）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05675" y="35085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小、硕、毕、吉、计、学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3400" y="37823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33400" y="378714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32660" y="390858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965960" y="3908584"/>
              <a:ext cx="3935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词语的非首非尾字，只在三字及以上的词里出现（Middle）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05675" y="39085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林、大、算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1824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149387" y="43086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965960" y="4308634"/>
              <a:ext cx="1320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词语的尾字（End）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05675" y="43086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明、士、业、学、机、院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33400" y="45824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33400" y="458724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149387" y="470868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965960" y="4708684"/>
              <a:ext cx="1342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单字成词（Single）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05675" y="47086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3400" y="2987040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1864042" y="298704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203758" y="298704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1-callout-3"/>
          <p:cNvGrpSpPr/>
          <p:nvPr/>
        </p:nvGrpSpPr>
        <p:grpSpPr>
          <a:xfrm>
            <a:off x="533400" y="5156835"/>
            <a:ext cx="11125200" cy="481012"/>
            <a:chOff x="533400" y="5156835"/>
            <a:chExt cx="11125200" cy="481012"/>
          </a:xfrm>
        </p:grpSpPr>
        <p:sp>
          <p:nvSpPr>
            <p:cNvPr id="101" name="Rectangle 101"/>
            <p:cNvSpPr/>
            <p:nvPr/>
          </p:nvSpPr>
          <p:spPr>
            <a:xfrm>
              <a:off x="533400" y="5156835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5297807"/>
              <a:ext cx="200023" cy="200023"/>
              <a:chOff x="738188" y="5297807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38188" y="5297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71538" y="5364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892" y="5303520"/>
              <a:ext cx="7595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隐状态是标签（N = 4），观测是汉字（M = |D| 为汉字总数），分词就成了 HMM 的解码问题。</a:t>
              </a:r>
            </a:p>
          </p:txBody>
        </p:sp>
      </p:grpSp>
      <p:grpSp>
        <p:nvGrpSpPr>
          <p:cNvPr id="113" name="c1-callout-4"/>
          <p:cNvGrpSpPr/>
          <p:nvPr/>
        </p:nvGrpSpPr>
        <p:grpSpPr>
          <a:xfrm>
            <a:off x="533400" y="5808345"/>
            <a:ext cx="11125200" cy="554355"/>
            <a:chOff x="533400" y="5808345"/>
            <a:chExt cx="11125200" cy="554355"/>
          </a:xfrm>
        </p:grpSpPr>
        <p:sp>
          <p:nvSpPr>
            <p:cNvPr id="107" name="Rectangle 107"/>
            <p:cNvSpPr/>
            <p:nvPr/>
          </p:nvSpPr>
          <p:spPr>
            <a:xfrm>
              <a:off x="533400" y="5808345"/>
              <a:ext cx="11125200" cy="554355"/>
            </a:xfrm>
            <a:prstGeom prst="roundRect">
              <a:avLst>
                <a:gd name="adj" fmla="val 206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726129" y="5981818"/>
              <a:ext cx="224134" cy="192560"/>
              <a:chOff x="726129" y="5981818"/>
              <a:chExt cx="224134" cy="19256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838200" y="60521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726129" y="59818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38200" y="6129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040892" y="5991225"/>
              <a:ext cx="9091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原课件第 52 页把“毕业于”切成一个词，第 53 页起切为“毕业 / 于”，这里按后者标注；“非首非尾自”应为“字”。</a:t>
              </a:r>
            </a:p>
          </p:txBody>
        </p:sp>
      </p:grpSp>
      <p:grpSp>
        <p:nvGrpSpPr>
          <p:cNvPr id="11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4" name="TextBox 11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02363" cy="909257"/>
            <a:chOff x="520446" y="342900"/>
            <a:chExt cx="76023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023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分词 HMM 的参数：π、A、B 都靠数标注语料得到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以上一页那一句话为语料实际数一遍（真实语料有成千上万句，做法相同）。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27685" y="1967865"/>
            <a:ext cx="5199697" cy="2539842"/>
            <a:chOff x="527685" y="1967865"/>
            <a:chExt cx="5199697" cy="25398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32641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51749" y="2102644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10044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49221" y="21026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3464" y="25512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582102" y="2426018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37827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7605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15229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97730" y="2426018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54407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8651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4347" y="300085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82102" y="2874645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3782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605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15229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97730" y="2874645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54407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08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3464" y="34494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3782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620328" y="3323272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7605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59505" y="3323272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15229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54407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757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76237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93464" y="38981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3782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620328" y="3771900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076052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659505" y="3771900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15229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54407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6786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56781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60604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64521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68344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428767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转移计数（行 = 当前字，列 = 下一个字），共 15 次</a:t>
              </a:r>
            </a:p>
          </p:txBody>
        </p:sp>
      </p:grpSp>
      <p:grpSp>
        <p:nvGrpSpPr>
          <p:cNvPr id="59" name="c1-callout-2"/>
          <p:cNvGrpSpPr/>
          <p:nvPr/>
        </p:nvGrpSpPr>
        <p:grpSpPr>
          <a:xfrm>
            <a:off x="533400" y="4653915"/>
            <a:ext cx="5193982" cy="1112520"/>
            <a:chOff x="533400" y="4653915"/>
            <a:chExt cx="5193982" cy="1112520"/>
          </a:xfrm>
        </p:grpSpPr>
        <p:sp>
          <p:nvSpPr>
            <p:cNvPr id="54" name="Rectangle 54"/>
            <p:cNvSpPr/>
            <p:nvPr/>
          </p:nvSpPr>
          <p:spPr>
            <a:xfrm>
              <a:off x="533400" y="4653915"/>
              <a:ext cx="5193982" cy="1112520"/>
            </a:xfrm>
            <a:prstGeom prst="roundRect">
              <a:avLst>
                <a:gd name="adj" fmla="val 1027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110163"/>
              <a:ext cx="200026" cy="200026"/>
              <a:chOff x="738188" y="5110163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1101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04863" y="51879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4967288"/>
              <a:ext cx="4053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每行除以行和得到 A：B→E 4/6，B→M 2/6；M→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 1/3，M→E 2/3；E→B 0.8，E→S 0.2；S→B 1。</a:t>
              </a:r>
            </a:p>
          </p:txBody>
        </p:sp>
      </p:grpSp>
      <p:grpSp>
        <p:nvGrpSpPr>
          <p:cNvPr id="68" name="c2-kv-1"/>
          <p:cNvGrpSpPr/>
          <p:nvPr/>
        </p:nvGrpSpPr>
        <p:grpSpPr>
          <a:xfrm>
            <a:off x="6024562" y="1992630"/>
            <a:ext cx="5634038" cy="2583180"/>
            <a:chOff x="6024562" y="1992630"/>
            <a:chExt cx="5634038" cy="2583180"/>
          </a:xfrm>
        </p:grpSpPr>
        <p:sp>
          <p:nvSpPr>
            <p:cNvPr id="60" name="TextBox 60"/>
            <p:cNvSpPr txBox="1"/>
            <p:nvPr/>
          </p:nvSpPr>
          <p:spPr>
            <a:xfrm>
              <a:off x="6024562" y="19926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86512" y="1992630"/>
              <a:ext cx="49777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统计每句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首字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的标签频率。本句以 B 开头，π(B) = 1；句首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只能是 B 或 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2594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24562" y="27146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86512" y="2714625"/>
              <a:ext cx="49110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4 转移矩阵，统计相邻两字的标签对。红格是“词内不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可能”的转移，例如 B 后面不能接 B 或 S，语料再大也永远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35985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24562" y="371856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86512" y="3718560"/>
              <a:ext cx="49396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|D| 发射矩阵，统计每种标签下各汉字出现的频率。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例：B 下 {小, 硕, 毕, 吉, 计, 学} 各 1/6，“学”在 B 和 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下各出现一次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032182" y="4707255"/>
            <a:ext cx="5626418" cy="1059180"/>
            <a:chOff x="6032182" y="4707255"/>
            <a:chExt cx="5626418" cy="1059180"/>
          </a:xfrm>
        </p:grpSpPr>
        <p:sp>
          <p:nvSpPr>
            <p:cNvPr id="69" name="Rectangle 69"/>
            <p:cNvSpPr/>
            <p:nvPr/>
          </p:nvSpPr>
          <p:spPr>
            <a:xfrm>
              <a:off x="6032182" y="470725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236970" y="5136833"/>
              <a:ext cx="200026" cy="200026"/>
              <a:chOff x="6236970" y="5136833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236970" y="51368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36983" y="5203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25870" y="52368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538912" y="4855845"/>
              <a:ext cx="45777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4，M = |D| 为汉字总数。训练好以后，对新句子跑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得到最可能的标签序列，在每个 E 和 S 后面切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开就是分词结果。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54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45" y="407194"/>
              <a:ext cx="1918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 · HMM 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词性标注：状态换成词性，观测换成词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ells-1"/>
          <p:cNvGrpSpPr/>
          <p:nvPr/>
        </p:nvGrpSpPr>
        <p:grpSpPr>
          <a:xfrm>
            <a:off x="527304" y="1524000"/>
            <a:ext cx="5957316" cy="979170"/>
            <a:chOff x="527304" y="1524000"/>
            <a:chExt cx="5957316" cy="97917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71550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9729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小明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9268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850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硕士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46985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7272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4702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21468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8661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09185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5510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96902" y="1524000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2359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词性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71550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97292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759268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5010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46985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772728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34702" y="2096452"/>
              <a:ext cx="787718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60445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介词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121468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48163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09185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35880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696902" y="2096452"/>
              <a:ext cx="78771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3598" y="22250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2688908"/>
            <a:ext cx="5951220" cy="1018222"/>
            <a:chOff x="533400" y="2688908"/>
            <a:chExt cx="5951220" cy="1018222"/>
          </a:xfrm>
        </p:grpSpPr>
        <p:sp>
          <p:nvSpPr>
            <p:cNvPr id="38" name="Rectangle 38"/>
            <p:cNvSpPr/>
            <p:nvPr/>
          </p:nvSpPr>
          <p:spPr>
            <a:xfrm>
              <a:off x="533400" y="2688908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3098483"/>
              <a:ext cx="200026" cy="200025"/>
              <a:chOff x="738188" y="309848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30984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31429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32540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2836069"/>
              <a:ext cx="502793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 = (N, M, π, A, B)：N 为词性类别数，M = |C| 为词的总数。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描述“名词后面接动词”这类词性搭配，B 描述每种词性下各个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词出现的概率。</a:t>
              </a:r>
            </a:p>
          </p:txBody>
        </p:sp>
      </p:grpSp>
      <p:grpSp>
        <p:nvGrpSpPr>
          <p:cNvPr id="51" name="c1-card-3"/>
          <p:cNvGrpSpPr/>
          <p:nvPr/>
        </p:nvGrpSpPr>
        <p:grpSpPr>
          <a:xfrm>
            <a:off x="533400" y="3892868"/>
            <a:ext cx="5951220" cy="2156460"/>
            <a:chOff x="533400" y="3892868"/>
            <a:chExt cx="5951220" cy="2156460"/>
          </a:xfrm>
        </p:grpSpPr>
        <p:sp>
          <p:nvSpPr>
            <p:cNvPr id="45" name="Rectangle 45"/>
            <p:cNvSpPr/>
            <p:nvPr/>
          </p:nvSpPr>
          <p:spPr>
            <a:xfrm>
              <a:off x="533400" y="3892868"/>
              <a:ext cx="5951220" cy="2156460"/>
            </a:xfrm>
            <a:prstGeom prst="roundRect">
              <a:avLst>
                <a:gd name="adj" fmla="val 618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7235" y="4096702"/>
              <a:ext cx="12715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4307" y="4132421"/>
              <a:ext cx="1158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为什么要用 HMM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15884" y="413623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同一个词可以有不同词性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9996" y="4487704"/>
              <a:ext cx="52984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查词典只能列出一个词可能的词性，决定不了它在句子里取哪一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个。例如“锁”在“他锁了门”里是动词，在“买了一把锁”里是名词。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996" y="5079206"/>
              <a:ext cx="525335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HMM 把两方面的信息乘在一起：B 说这个词通常是什么词性，A 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前一个词性后面通常接什么词性。Viterbi 在整句范围内权衡这两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者。</a:t>
              </a:r>
            </a:p>
          </p:txBody>
        </p:sp>
      </p:grpSp>
      <p:grpSp>
        <p:nvGrpSpPr>
          <p:cNvPr id="80" name="c2-table-1"/>
          <p:cNvGrpSpPr/>
          <p:nvPr/>
        </p:nvGrpSpPr>
        <p:grpSpPr>
          <a:xfrm>
            <a:off x="6789420" y="1524000"/>
            <a:ext cx="4869180" cy="2581275"/>
            <a:chOff x="6789420" y="1524000"/>
            <a:chExt cx="4869180" cy="2581275"/>
          </a:xfrm>
        </p:grpSpPr>
        <p:sp>
          <p:nvSpPr>
            <p:cNvPr id="52" name="Rectangle 52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570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8048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中文分词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9773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词性标注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476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6329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单个汉字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64661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已切好的词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94766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隐状态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6329" y="2515552"/>
              <a:ext cx="906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B、M、E、S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64661" y="2515552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名词、动词、介词…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94766" y="29460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6632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64661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词性类别数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89420" y="324421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94766" y="3375660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66329" y="3375660"/>
              <a:ext cx="9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汉字总数 |D|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64661" y="3375660"/>
              <a:ext cx="9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词的总数 |C|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789420" y="36699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94766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66329" y="3806190"/>
              <a:ext cx="557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864661" y="3806190"/>
              <a:ext cx="557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789420" y="1524000"/>
              <a:ext cx="486918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85622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75455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rd-2"/>
          <p:cNvGrpSpPr/>
          <p:nvPr/>
        </p:nvGrpSpPr>
        <p:grpSpPr>
          <a:xfrm>
            <a:off x="6789420" y="4290060"/>
            <a:ext cx="4869180" cy="1758315"/>
            <a:chOff x="6789420" y="4290060"/>
            <a:chExt cx="4869180" cy="1758315"/>
          </a:xfrm>
        </p:grpSpPr>
        <p:sp>
          <p:nvSpPr>
            <p:cNvPr id="81" name="Rectangle 81"/>
            <p:cNvSpPr/>
            <p:nvPr/>
          </p:nvSpPr>
          <p:spPr>
            <a:xfrm>
              <a:off x="6789420" y="4290060"/>
              <a:ext cx="4869180" cy="1758315"/>
            </a:xfrm>
            <a:prstGeom prst="roundRect">
              <a:avLst>
                <a:gd name="adj" fmla="val 7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798945" y="4423410"/>
              <a:ext cx="47625" cy="14916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031355" y="44938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117613" y="45296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流水线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774686" y="45343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两个任务常串起来用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024116" y="4885849"/>
              <a:ext cx="42254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先用分词 HMM 把句子切成词，再把切出的词作为观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测送进词性标注 HMM。两个模型的训练方法相同，都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是在标注语料上数次数。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308403" cy="278702"/>
            <a:chOff x="526161" y="1547336"/>
            <a:chExt cx="2308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511618"/>
            <a:chOff x="533400" y="1941195"/>
            <a:chExt cx="5410200" cy="151161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19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为什么叫“双重随机过程”？π、A、B 各属于哪一重？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一重是看不见的马尔可夫链，描述状态转移，由 π、A 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画；另一重由状态生成观测，由 B 刻画。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29025"/>
            <a:ext cx="5410200" cy="2025968"/>
            <a:chOff x="533400" y="3629025"/>
            <a:chExt cx="5410200" cy="2025968"/>
          </a:xfrm>
        </p:grpSpPr>
        <p:sp>
          <p:nvSpPr>
            <p:cNvPr id="15" name="Rectangle 15"/>
            <p:cNvSpPr/>
            <p:nvPr/>
          </p:nvSpPr>
          <p:spPr>
            <a:xfrm>
              <a:off x="533400" y="362902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177665"/>
              <a:ext cx="3205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后向法终结时为什么要乘 πᵢ bᵢ(O₁)？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480560"/>
              <a:ext cx="45571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βₜ(i) 是给定 qₜ = Sᵢ 时 t+1 以后观测的概率。β₁ 只含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O₂ 以后的观测，第一个状态的概率和 O₁ 都没算进去，要补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8293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自转移概率 aᵢᵢ = 0.75 时，恰好停留 3 天的概率和平均停留天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数各是多少？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p(3) = 0.75 × 0.75 × 0.25 ≈ 0.141；平均停留 1/(1 −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0.75) = 4 天。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4324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 与前向算法的递推式差在哪里？φₜ(j) 为什么不乘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bⱼ(Oₜ)？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对前驱的求和换成取最大，并用 φ 记下取到最大的前驱。对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固定的 j，bⱼ(Oₜ) 是公共因子，不改变 argmax。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4931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题最容易错：β 的定义里 qₜ = Sᵢ 在竖线右边，是条件。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1438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 20 页的模型，求观测只有两天“衣 伞”时的 P(O |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λ)。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 = (0.21, 0.075, 0.025)。到晴 0.21525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= 0.021525，到雨 0.07775 × 0.65 = 0.0505375，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到雪 0.017 × 0.5 = 0.0085，合计 P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0.0805625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65486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CG 在 P+ 和 P− 下（不计首碱基）的比值是多少？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758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0.274 / 0.078 ≈ 3.51 &gt; 1，一个 C→G 转移就让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岛的可能性提高到约 3.5 倍，所以 CG 二联体是判别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岛的主要信号。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148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同上，两天“衣 伞”的最可能天气序列是什么？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6729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δ₂(晴) = 0.168 × 0.1 = 0.0168，δ₂(雨) = 0.045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0.65 = 0.02925（来自雨），δ₂(雪) = 0.0105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= 0.00525。最大为雨，回溯 φ₂(雨) = 雨，序列是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雨 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2223135"/>
            <a:chOff x="6248400" y="393763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80202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 重估 aᵢⱼ 与 bⱼ(k) 时，分母的求和范围为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什么不同？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aᵢⱼ 的分母是从 i 转出的期望次数，只有 t = 1…T−1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之后才有转移；bⱼ(k) 的分母是处于 j 的期望次数，t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1…T 每一天都有观测。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对照原课件：本讲义改正了哪些地方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33408" cy="278702"/>
            <a:chOff x="526161" y="1547336"/>
            <a:chExt cx="653340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33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页码指原课件《机器学习_第10章-隐马尔可夫模型-SXH.pdf》的 PDF 页序。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33400" y="1941195"/>
            <a:ext cx="5410200" cy="3352801"/>
            <a:chOff x="533400" y="1941195"/>
            <a:chExt cx="5410200" cy="3352801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68484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4187" y="2069782"/>
              <a:ext cx="3566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4542" y="21897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原写法（出处）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34890" y="21897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270" y="275463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9507" y="2754630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首项写 aⱼ，左边漏省略号（10）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3192" y="2754630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aⱼ₀，补“…”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66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7086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319849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9507" y="3198495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“已知第一天晴”却乘 π晴（21）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3192" y="31984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分清联合与条件概率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0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64331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9507" y="3643312"/>
              <a:ext cx="2005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N=5, M=100（34、36）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3192" y="3643312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N=5, T=100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55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6049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2270" y="408813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9507" y="4088130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递归式 αᵢ(i)aᵢⱼ（35）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3192" y="4088130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αₜ(i)aᵢⱼ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99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2270" y="453294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9507" y="453294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 定义成联合概率（39）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3192" y="4532948"/>
              <a:ext cx="124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qₜ = Sᵢ 作条件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8444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849178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2270" y="497776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9507" y="4977765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 递归对 i = 1 求和（39）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192" y="4977765"/>
              <a:ext cx="1250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j = 1…N 求和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41195"/>
              <a:ext cx="5410200" cy="3352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285875" y="1941195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99560" y="1941195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table-1"/>
          <p:cNvGrpSpPr/>
          <p:nvPr/>
        </p:nvGrpSpPr>
        <p:grpSpPr>
          <a:xfrm>
            <a:off x="6248400" y="1941195"/>
            <a:ext cx="5410200" cy="3352801"/>
            <a:chOff x="6248400" y="1941195"/>
            <a:chExt cx="5410200" cy="3352801"/>
          </a:xfrm>
        </p:grpSpPr>
        <p:sp>
          <p:nvSpPr>
            <p:cNvPr id="43" name="Rectangle 43"/>
            <p:cNvSpPr/>
            <p:nvPr/>
          </p:nvSpPr>
          <p:spPr>
            <a:xfrm>
              <a:off x="6248400" y="1941195"/>
              <a:ext cx="5410200" cy="68484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49187" y="2069782"/>
              <a:ext cx="3566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69542" y="21897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原写法（出处）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49890" y="21897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47270" y="275463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4507" y="2754630"/>
              <a:ext cx="1785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定义里 “/ λ”（40）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18192" y="275463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“| λ”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066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307086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7270" y="319849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04507" y="3198495"/>
              <a:ext cx="1986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递归乘 bⱼ(Oᵢ)（41）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18192" y="3198495"/>
              <a:ext cx="667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bⱼ(Oₜ)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510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7270" y="364331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04507" y="3643312"/>
              <a:ext cx="2569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log(P(X|λ₀) 括号不配对（42）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18192" y="3643312"/>
              <a:ext cx="1143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P(O | λ₀)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955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96049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7270" y="408813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04507" y="4088130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分母写 bⱼ(xₜ₊₁)（43）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18192" y="4088130"/>
              <a:ext cx="1077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统一为 Oₜ₊₁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399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7270" y="453294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04507" y="453294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 “stays at i”（44）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18192" y="453294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转出的期望次数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48444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4849178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7270" y="497776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04507" y="4977765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“非首非尾自”（53–56）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18192" y="4977765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“非首非尾字”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1941195"/>
              <a:ext cx="5410200" cy="3352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000875" y="1941195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814560" y="1941195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7" name="Rectangle 7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3610"/>
              <a:ext cx="7319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每一处都在对应讲义页用“更正”或“说明”写明了原文和理由，考试作答以讲义的写法为准。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91" y="407194"/>
              <a:ext cx="880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第10章 HMM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3525"/>
            <a:ext cx="4642805" cy="1790985"/>
            <a:chOff x="533400" y="1533525"/>
            <a:chExt cx="4642805" cy="179098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12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马尔可夫链只看前一步：序列概率 = π × 逐步转移概率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02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74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51184"/>
              <a:ext cx="38555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停留 d 天服从几何分布，平均停留 1/(1 − aᵢᵢ) 天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4598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816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56936"/>
              <a:ext cx="3960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 = 看不见的马尔可夫链 (π, A) + 生成观测的 B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517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873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62689"/>
              <a:ext cx="4373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评估用前向或后向，O(N²T)；任意 t 有 Σ αβ = P(O | λ)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5748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931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68441"/>
              <a:ext cx="3602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解码用 Viterbi：求和换成取最大，再沿 φ 回溯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06324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988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75146"/>
              <a:ext cx="3928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学习用 Baum-Welch：由 ξ、γ 数期望次数，再相除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464242"/>
            <a:ext cx="5626418" cy="1670685"/>
            <a:chOff x="533400" y="3464242"/>
            <a:chExt cx="5626418" cy="1670685"/>
          </a:xfrm>
        </p:grpSpPr>
        <p:sp>
          <p:nvSpPr>
            <p:cNvPr id="26" name="Rectangle 26"/>
            <p:cNvSpPr/>
            <p:nvPr/>
          </p:nvSpPr>
          <p:spPr>
            <a:xfrm>
              <a:off x="533400" y="3464242"/>
              <a:ext cx="5626418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597592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36737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1258" y="37095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2078" y="37090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考前对照这两条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41328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4070032"/>
              <a:ext cx="4769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能手算：两三步的 α、β、δ 表，Σ αβ 自查，回溯路径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446817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405312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能说清：β 的条件写在哪边，Viterbi 与逐天最大的区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别，重估公式分子分母在数什么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524000"/>
            <a:ext cx="5193982" cy="2470785"/>
            <a:chOff x="6464618" y="1524000"/>
            <a:chExt cx="5193982" cy="2470785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9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41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953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2441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1618" y="2108359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前向 / 后向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69908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按列递推，汇总到同一状态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1618" y="2556986"/>
              <a:ext cx="594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Viterbi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9908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每格只留最好的前驱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441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11618" y="3005614"/>
              <a:ext cx="998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Baum-Welch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69908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期望次数代替真实次数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4618" y="3319462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2441" y="35675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11618" y="3454241"/>
              <a:ext cx="11427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CpG 岛、分词、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69908" y="35675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先定隐状态和观测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49903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05732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464618" y="4185285"/>
            <a:ext cx="5193982" cy="1335405"/>
            <a:chOff x="6464618" y="4185285"/>
            <a:chExt cx="5193982" cy="1335405"/>
          </a:xfrm>
        </p:grpSpPr>
        <p:sp>
          <p:nvSpPr>
            <p:cNvPr id="61" name="Rectangle 61"/>
            <p:cNvSpPr/>
            <p:nvPr/>
          </p:nvSpPr>
          <p:spPr>
            <a:xfrm>
              <a:off x="6464618" y="4185285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74168" y="4394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47624" y="4430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贯穿例题答案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43838" y="4430078"/>
              <a:ext cx="1810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衣 衣 伞 伞 裙 伞 伞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66548" y="4791075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P(O | λ) ≈ 0.0001974；最可能天气 雨 雨 雨 雨 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雨 雨；训练一轮后 P(O | λ) ≈ 0.001398。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7" name="Rectangle 6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8981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课后作业：自己编程实现前向、Viterbi 和 Baum-Welch，用第 20 页的数据核对讲义里的每一张表。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第10章 隐马尔可夫模型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10">
  <a:themeElements>
    <a:clrScheme name="ml_ch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2026-09-23T11:03:33Z</dcterms:created>
  <dcterms:modified xsi:type="dcterms:W3CDTF">2026-09-23T11:03:33Z</dcterms:modified>
  <cp:category/>
  <cp:contentStatus/>
</cp:coreProperties>
</file>