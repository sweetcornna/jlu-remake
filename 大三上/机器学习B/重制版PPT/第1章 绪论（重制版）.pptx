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l_ch0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l_ch0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d6a3c859e2a6b05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c0e340eddfecbcc.png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b59035c9623fd6a.png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147566" cy="3437763"/>
            <a:chOff x="666750" y="1619250"/>
            <a:chExt cx="414756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9353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4010" y="1718310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机器学习 · 第一章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116890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绪论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机器学习在做什么，怎样把问题交给它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定义与基本流程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五类学习方式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两道完整例题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数学基础与工具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046897" cy="205359"/>
            <a:chOff x="680466" y="6192202"/>
            <a:chExt cx="5046897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046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自学复习版｜据吉林大学《机器学习》A、B 两版第一章课件合并整理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机器学习是什么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1000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第四范式、学习的三种观点、Mitchell 的 E-T-P 定义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基本流程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选模型、定目标函数、找最优函数三步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算法类型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监督、无监督、半监督、自监督、强化五类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两道例题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最近类中心分类与一元最小二乘回归，全过程手算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数学基础与工具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四块数学、框架、数据集、竞赛、期刊会议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应用与发展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典型任务的精度、里程碑时间线、技术生命周期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E、T、P 三要素把一个具体任务描述成机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器学习问题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说出机器学习三步流程，并指出每一步在决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定什么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4914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看到输出集合 Y 就能判断属于哪类任务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37509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68808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手算一元最小二乘回归的 a、b，并预测新样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3719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30911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区分监督、无监督、半监督、自监督、强化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五种学习方式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5135499" cy="3706177"/>
            <a:chOff x="667512" y="1835468"/>
            <a:chExt cx="5135499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机器学习是什么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从科学研究范式的变化讲起，落到一个可操作的定义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科学研究的第四范式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三种关于“学习”的观点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1797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Mitchell 的 E-T-P 定义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机器学习 ≈ 寻找一个函数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28856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AI 与机器学习、深度学习的关系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第四范式：把数据本身当成发现规律的媒介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920615" cy="264033"/>
            <a:chOff x="526542" y="1545907"/>
            <a:chExt cx="492061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科学研究的方法一路演进，机器学习是第四范式的主要工具。</a:t>
              </a:r>
            </a:p>
          </p:txBody>
        </p:sp>
      </p:grpSp>
      <p:grpSp>
        <p:nvGrpSpPr>
          <p:cNvPr id="27" name="c1-flow-1"/>
          <p:cNvGrpSpPr/>
          <p:nvPr/>
        </p:nvGrpSpPr>
        <p:grpSpPr>
          <a:xfrm>
            <a:off x="666750" y="2534602"/>
            <a:ext cx="5576888" cy="731520"/>
            <a:chOff x="666750" y="2534602"/>
            <a:chExt cx="5576888" cy="731520"/>
          </a:xfrm>
        </p:grpSpPr>
        <p:sp>
          <p:nvSpPr>
            <p:cNvPr id="9" name="Freeform 9"/>
            <p:cNvSpPr/>
            <p:nvPr/>
          </p:nvSpPr>
          <p:spPr>
            <a:xfrm>
              <a:off x="1568768" y="290036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30692" y="28479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737485" y="290036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99410" y="28479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906202" y="290036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068128" y="28479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074920" y="290036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236845" y="28479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66750" y="2624138"/>
              <a:ext cx="902018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835468" y="2624138"/>
              <a:ext cx="902018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004185" y="2624138"/>
              <a:ext cx="902018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172902" y="2624138"/>
              <a:ext cx="902018" cy="551498"/>
            </a:xfrm>
            <a:prstGeom prst="roundRect">
              <a:avLst>
                <a:gd name="adj" fmla="val 17271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41620" y="2534602"/>
              <a:ext cx="902018" cy="731520"/>
            </a:xfrm>
            <a:prstGeom prst="roundRect">
              <a:avLst>
                <a:gd name="adj" fmla="val 13021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5248" y="2736532"/>
              <a:ext cx="54406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科学实验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第一范式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13966" y="2736532"/>
              <a:ext cx="54406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理论研究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第二范式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82684" y="2736532"/>
              <a:ext cx="54406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科学计算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第三范式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51401" y="2736532"/>
              <a:ext cx="54406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数据科学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第四范式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20119" y="2646998"/>
              <a:ext cx="544068" cy="565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科学智能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AI for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Science</a:t>
              </a:r>
            </a:p>
          </p:txBody>
        </p:sp>
      </p:grpSp>
      <p:grpSp>
        <p:nvGrpSpPr>
          <p:cNvPr id="52" name="c1-table-2"/>
          <p:cNvGrpSpPr/>
          <p:nvPr/>
        </p:nvGrpSpPr>
        <p:grpSpPr>
          <a:xfrm>
            <a:off x="533400" y="4036695"/>
            <a:ext cx="5842635" cy="1906905"/>
            <a:chOff x="533400" y="4036695"/>
            <a:chExt cx="5842635" cy="1906905"/>
          </a:xfrm>
        </p:grpSpPr>
        <p:sp>
          <p:nvSpPr>
            <p:cNvPr id="28" name="Rectangle 28"/>
            <p:cNvSpPr/>
            <p:nvPr/>
          </p:nvSpPr>
          <p:spPr>
            <a:xfrm>
              <a:off x="533400" y="4036695"/>
              <a:ext cx="584263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29652" y="41538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范式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15615" y="41538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94948" y="41538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8078" y="45348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实验科学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13954" y="453485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描述记录自然现象，靠实验和经验归纳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0956" y="45348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钻木取火、比萨斜塔实验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7948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799648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78" y="491680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理论科学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13954" y="4916805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在现象基础上抽象简化，构建数学模型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00956" y="491680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相对论、博弈论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1758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8078" y="529780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计算科学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13954" y="5297805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用计算机仿真模拟取代实验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00956" y="529780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天气预报、核试验模拟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55568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5561648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8078" y="567975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数据科学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913954" y="5679758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以数据为媒介，用数据分析揭示规律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00956" y="567975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本课程的全部内容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036695"/>
              <a:ext cx="5842635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814512" y="403669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501515" y="403669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rd-1"/>
          <p:cNvGrpSpPr/>
          <p:nvPr/>
        </p:nvGrpSpPr>
        <p:grpSpPr>
          <a:xfrm>
            <a:off x="6680835" y="1928812"/>
            <a:ext cx="4977765" cy="2747010"/>
            <a:chOff x="6680835" y="1928812"/>
            <a:chExt cx="4977765" cy="2747010"/>
          </a:xfrm>
        </p:grpSpPr>
        <p:sp>
          <p:nvSpPr>
            <p:cNvPr id="53" name="Rectangle 53"/>
            <p:cNvSpPr/>
            <p:nvPr/>
          </p:nvSpPr>
          <p:spPr>
            <a:xfrm>
              <a:off x="6680835" y="1928812"/>
              <a:ext cx="4977765" cy="2747010"/>
            </a:xfrm>
            <a:prstGeom prst="roundRect">
              <a:avLst>
                <a:gd name="adj" fmla="val 48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90360" y="2062162"/>
              <a:ext cx="47625" cy="248031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99910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92582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66838" y="2149316"/>
              <a:ext cx="28380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第四范式（the fourth paradigm）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93433" y="2465546"/>
              <a:ext cx="43451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图灵奖得主吉姆·格雷（Jim Gray）提出：在实验观测、理论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推演、计算仿真之后，出现了数据驱动的科学研究范式。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909435" y="304609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64883" y="2994184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基本思想：数据是现实世界的事物、现象和行为在数字空间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的映射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909435" y="357378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64883" y="352186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数据本身已经蕴含了现实世界的运行规律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909435" y="385953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064883" y="3806666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做法：以数据为媒介，用数据分析方法揭示物理世界现象背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后的规律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94576" y="4331018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一句话：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数据驱动科学发现</a:t>
              </a: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81" name="c2-card-2"/>
          <p:cNvGrpSpPr/>
          <p:nvPr/>
        </p:nvGrpSpPr>
        <p:grpSpPr>
          <a:xfrm>
            <a:off x="6680835" y="4840605"/>
            <a:ext cx="4977765" cy="1487805"/>
            <a:chOff x="6680835" y="4840605"/>
            <a:chExt cx="4977765" cy="1487805"/>
          </a:xfrm>
        </p:grpSpPr>
        <p:sp>
          <p:nvSpPr>
            <p:cNvPr id="67" name="Rectangle 67"/>
            <p:cNvSpPr/>
            <p:nvPr/>
          </p:nvSpPr>
          <p:spPr>
            <a:xfrm>
              <a:off x="6680835" y="4840605"/>
              <a:ext cx="4977765" cy="1487805"/>
            </a:xfrm>
            <a:prstGeom prst="roundRect">
              <a:avLst>
                <a:gd name="adj" fmla="val 8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90360" y="4973955"/>
              <a:ext cx="47625" cy="12211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899910" y="502158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992582" y="50544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66838" y="5061109"/>
              <a:ext cx="23312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鄂维南院士谈 AI for Science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900862" y="536638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952769" y="540200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170611" y="5378291"/>
              <a:ext cx="22900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处理数据的新方法，也就是 AI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900862" y="565213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952769" y="56868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170611" y="566308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处理物理模型（基本原理）的新方法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900862" y="5936932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952769" y="597255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170611" y="594788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模型驱动与数据驱动方法的深度融合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55208" cy="909257"/>
            <a:chOff x="520446" y="342900"/>
            <a:chExt cx="38552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552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先问一句：什么叫“学习”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828407" cy="264033"/>
            <a:chOff x="526542" y="1545907"/>
            <a:chExt cx="782840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828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学习能力是智能行为的重要特征，但学习的机理至今并不清楚。下面三种说法分别站在不同角度。</a:t>
              </a:r>
            </a:p>
          </p:txBody>
        </p:sp>
      </p:grpSp>
      <p:grpSp>
        <p:nvGrpSpPr>
          <p:cNvPr id="17" name="c1-kv-1"/>
          <p:cNvGrpSpPr/>
          <p:nvPr/>
        </p:nvGrpSpPr>
        <p:grpSpPr>
          <a:xfrm>
            <a:off x="526923" y="1949291"/>
            <a:ext cx="5632895" cy="1237107"/>
            <a:chOff x="526923" y="1949291"/>
            <a:chExt cx="5632895" cy="1237107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49291"/>
              <a:ext cx="1866138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H. A. Simon（1975 图灵</a:t>
              </a:r>
              <a:br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奖）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77680" y="1949291"/>
              <a:ext cx="310159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学习是系统所作的适应性变化，使得系统在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下一次完成同样或类似的任务时更为有效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4612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923" y="2563654"/>
              <a:ext cx="13357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R. S. Michalski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77680" y="256365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学习是构造或修改对于所经历事物的表示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8355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923" y="293703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专家系统研究者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77680" y="293703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学习是知识的获取</a:t>
              </a:r>
            </a:p>
          </p:txBody>
        </p:sp>
      </p:grpSp>
      <p:grpSp>
        <p:nvGrpSpPr>
          <p:cNvPr id="37" name="c1-table-2"/>
          <p:cNvGrpSpPr/>
          <p:nvPr/>
        </p:nvGrpSpPr>
        <p:grpSpPr>
          <a:xfrm>
            <a:off x="533400" y="3301365"/>
            <a:ext cx="5626418" cy="1525905"/>
            <a:chOff x="533400" y="3301365"/>
            <a:chExt cx="5626418" cy="1525905"/>
          </a:xfrm>
        </p:grpSpPr>
        <p:sp>
          <p:nvSpPr>
            <p:cNvPr id="18" name="Rectangle 18"/>
            <p:cNvSpPr/>
            <p:nvPr/>
          </p:nvSpPr>
          <p:spPr>
            <a:xfrm>
              <a:off x="533400" y="3301365"/>
              <a:ext cx="5626418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62038" y="34185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观点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52319" y="34185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强调什么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7980" y="3418523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在机器学习里对应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078" y="3800475"/>
              <a:ext cx="4159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78724" y="380047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学习的外部行为效果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91344" y="3800475"/>
              <a:ext cx="162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性能度量 P 随经验 E 提高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0595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064318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4181475"/>
              <a:ext cx="667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Michalski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78724" y="418147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学习的内部过程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91344" y="418147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表示学习、特征提取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4405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45624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知识获取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78724" y="456247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知识工程的实用角度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91344" y="456247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知识库、规则抽取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301365"/>
              <a:ext cx="5626418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879282" y="3301365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791902" y="3301365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llout-3"/>
          <p:cNvGrpSpPr/>
          <p:nvPr/>
        </p:nvGrpSpPr>
        <p:grpSpPr>
          <a:xfrm>
            <a:off x="533400" y="4992052"/>
            <a:ext cx="5626418" cy="937260"/>
            <a:chOff x="533400" y="4992052"/>
            <a:chExt cx="5626418" cy="937260"/>
          </a:xfrm>
        </p:grpSpPr>
        <p:sp>
          <p:nvSpPr>
            <p:cNvPr id="38" name="Rectangle 38"/>
            <p:cNvSpPr/>
            <p:nvPr/>
          </p:nvSpPr>
          <p:spPr>
            <a:xfrm>
              <a:off x="533400" y="4992052"/>
              <a:ext cx="5626418" cy="937260"/>
            </a:xfrm>
            <a:prstGeom prst="roundRect">
              <a:avLst>
                <a:gd name="adj" fmla="val 12195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360672"/>
              <a:ext cx="200023" cy="200023"/>
              <a:chOff x="738188" y="5360672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36067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538" y="54273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1273" y="5136356"/>
              <a:ext cx="472719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三种说法的共同点是同一条链：有了经验，系统发生改变，改变之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后做得更好。下一页 Mitchell 的定义把这条链写成了可度量的形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式。</a:t>
              </a:r>
            </a:p>
          </p:txBody>
        </p:sp>
      </p:grpSp>
      <p:grpSp>
        <p:nvGrpSpPr>
          <p:cNvPr id="57" name="c2-card-1"/>
          <p:cNvGrpSpPr/>
          <p:nvPr/>
        </p:nvGrpSpPr>
        <p:grpSpPr>
          <a:xfrm>
            <a:off x="6464618" y="1928812"/>
            <a:ext cx="5193982" cy="2697480"/>
            <a:chOff x="6464618" y="1928812"/>
            <a:chExt cx="5193982" cy="2697480"/>
          </a:xfrm>
        </p:grpSpPr>
        <p:sp>
          <p:nvSpPr>
            <p:cNvPr id="44" name="Rectangle 44"/>
            <p:cNvSpPr/>
            <p:nvPr/>
          </p:nvSpPr>
          <p:spPr>
            <a:xfrm>
              <a:off x="6464618" y="1928812"/>
              <a:ext cx="5193982" cy="2697480"/>
            </a:xfrm>
            <a:prstGeom prst="roundRect">
              <a:avLst>
                <a:gd name="adj" fmla="val 49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4142" y="2062162"/>
              <a:ext cx="47625" cy="243078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83692" y="210978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58013" y="21426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维基百科的解释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72603" y="2149316"/>
              <a:ext cx="25507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机器学习（Machine Learning）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77216" y="2465546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近二十多年兴起的多领域交叉学科，涉及概率论、统计学、逼近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论、凸分析、算法复杂度理论等。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93218" y="304609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48666" y="2994184"/>
              <a:ext cx="3993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理论上：设计和分析让计算机可以自动“学习”的算法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93218" y="333089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48666" y="3278981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算法上：从数据中自动分析获得规律，再用规律对未知数据作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693218" y="385953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48666" y="380666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因为涉及大量统计学理论，也被称为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统计学习理论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78359" y="4088130"/>
              <a:ext cx="45445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很多推论问题无程序可循，所以有相当一部分研究是在开发容易处理的近似算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</p:grpSp>
      <p:grpSp>
        <p:nvGrpSpPr>
          <p:cNvPr id="65" name="c2-bullets-2"/>
          <p:cNvGrpSpPr/>
          <p:nvPr/>
        </p:nvGrpSpPr>
        <p:grpSpPr>
          <a:xfrm>
            <a:off x="6458141" y="4812506"/>
            <a:ext cx="3868712" cy="1136142"/>
            <a:chOff x="6458141" y="4812506"/>
            <a:chExt cx="3868712" cy="1136142"/>
          </a:xfrm>
        </p:grpSpPr>
        <p:sp>
          <p:nvSpPr>
            <p:cNvPr id="58" name="TextBox 58"/>
            <p:cNvSpPr txBox="1"/>
            <p:nvPr/>
          </p:nvSpPr>
          <p:spPr>
            <a:xfrm>
              <a:off x="6458141" y="481250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课件里给出的三句概括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6464618" y="5140642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95313" y="511349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研究如何在经验学习中改善具体算法的性能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6464618" y="5433060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95313" y="540591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研究能通过经验自动改进的计算机算法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6464618" y="5726430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95313" y="569928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用数据或以往的经验优化计算机程序的性能标准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67786" cy="909257"/>
            <a:chOff x="520446" y="342900"/>
            <a:chExt cx="85677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677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Mitchell 的定义：性能 P 随经验 E 提高，才算学会了 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085975"/>
            <a:chOff x="533400" y="1524000"/>
            <a:chExt cx="5410200" cy="20859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85975"/>
            </a:xfrm>
            <a:prstGeom prst="roundRect">
              <a:avLst>
                <a:gd name="adj" fmla="val 63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1927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139255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0528" y="1737836"/>
              <a:ext cx="12764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Tom Mitchell, 1998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52853" y="1744504"/>
              <a:ext cx="25183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Well-posed Learning Problem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719066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computer program is said to learn from experience E with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respect to some task T and some performance measure P,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its performance on T, as measured by P, improves with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experience E.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7141" y="3070860"/>
              <a:ext cx="471792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一个程序针对任务 T，用性能度量 P 衡量，如果它在 T 上的表现随经验 E 的增加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而变好，就说它从 E 中学到了东西。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774758"/>
            <a:ext cx="5410200" cy="1927860"/>
            <a:chOff x="533400" y="3774758"/>
            <a:chExt cx="5410200" cy="1927860"/>
          </a:xfrm>
        </p:grpSpPr>
        <p:sp>
          <p:nvSpPr>
            <p:cNvPr id="15" name="Rectangle 15"/>
            <p:cNvSpPr/>
            <p:nvPr/>
          </p:nvSpPr>
          <p:spPr>
            <a:xfrm>
              <a:off x="533400" y="3774758"/>
              <a:ext cx="5410200" cy="1927860"/>
            </a:xfrm>
            <a:prstGeom prst="roundRect">
              <a:avLst>
                <a:gd name="adj" fmla="val 69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908108"/>
              <a:ext cx="47625" cy="16611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3955732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8246" y="398859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94625" y="399526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手写字体识别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998" y="4311491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经验 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22323" y="431149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大量已标注的手写字体数据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52475" y="4583430"/>
              <a:ext cx="501015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5998" y="4685824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任务 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22323" y="468582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手写字体识别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2475" y="4957762"/>
              <a:ext cx="501015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5998" y="5060156"/>
              <a:ext cx="8647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性能度量 P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22323" y="506015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识别的正确率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7141" y="5356860"/>
              <a:ext cx="49720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程序反复看这些数据并调整自己，识别正确率越来越高，这个过程就是“学习”。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6243447" y="1524000"/>
            <a:ext cx="5415153" cy="2357151"/>
            <a:chOff x="6243447" y="1524000"/>
            <a:chExt cx="5415153" cy="2357151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8844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20052" y="1641157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经验 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35479" y="1641157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 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00971" y="1641157"/>
              <a:ext cx="7093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性能度量 P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43079" y="2023110"/>
              <a:ext cx="6774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垃圾邮件过</a:t>
              </a:r>
              <a:br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16534" y="211645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用户标记过的邮件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39594" y="2023110"/>
              <a:ext cx="10774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判断新邮件是否垃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346436" y="211645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准确率、误杀率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2468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247364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3079" y="25908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房价预测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16534" y="25908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历史成交的面积与价格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39594" y="25908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由面积预测价格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46436" y="25908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均方误差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2849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3079" y="29718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下围棋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16534" y="29718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自我对弈的棋局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939594" y="29718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选择下一手落子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46436" y="2971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胜率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3231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48400" y="323659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43079" y="3353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商品推荐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16534" y="33537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用户的点击与购买记录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939594" y="33537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预测用户会不会点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346436" y="33537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点击率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1524000"/>
              <a:ext cx="5410200" cy="2093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217092" y="1524000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840152" y="1524000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246995" y="1524000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43447" y="3690461"/>
              <a:ext cx="4363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自测时可以拿任意一个应用往这三格里填，填不满说明问题还没有定义清楚</a:t>
              </a:r>
            </a:p>
          </p:txBody>
        </p:sp>
      </p:grpSp>
      <p:grpSp>
        <p:nvGrpSpPr>
          <p:cNvPr id="68" name="c2-callout-2"/>
          <p:cNvGrpSpPr/>
          <p:nvPr/>
        </p:nvGrpSpPr>
        <p:grpSpPr>
          <a:xfrm>
            <a:off x="6248400" y="4008120"/>
            <a:ext cx="5410200" cy="1694498"/>
            <a:chOff x="6248400" y="4008120"/>
            <a:chExt cx="5410200" cy="1694498"/>
          </a:xfrm>
        </p:grpSpPr>
        <p:sp>
          <p:nvSpPr>
            <p:cNvPr id="62" name="Rectangle 62"/>
            <p:cNvSpPr/>
            <p:nvPr/>
          </p:nvSpPr>
          <p:spPr>
            <a:xfrm>
              <a:off x="6248400" y="4008120"/>
              <a:ext cx="5410200" cy="1694498"/>
            </a:xfrm>
            <a:prstGeom prst="roundRect">
              <a:avLst>
                <a:gd name="adj" fmla="val 674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441129" y="4751188"/>
              <a:ext cx="224134" cy="192560"/>
              <a:chOff x="6441129" y="4751188"/>
              <a:chExt cx="224134" cy="19256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553200" y="48215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441129" y="47511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553200" y="4899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756273" y="4648676"/>
              <a:ext cx="44183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三要素缺一不可。只说“让计算机变聪明”而不指明 T 和 P，就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无法判断算法是不是真的有进步。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9" name="Rectangle 6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1273" y="6039326"/>
              <a:ext cx="55920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把一个实际问题转成机器学习问题，第一步永远是写清楚 E、T、P 三格。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39294" cy="909257"/>
            <a:chOff x="520446" y="342900"/>
            <a:chExt cx="62392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392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机器学习 ≈ 在一堆函数里找一个好用的 f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977765" cy="2324100"/>
            <a:chOff x="533400" y="1524000"/>
            <a:chExt cx="4977765" cy="23241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324100"/>
            </a:xfrm>
            <a:prstGeom prst="roundRect">
              <a:avLst>
                <a:gd name="adj" fmla="val 5738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8711" y="174355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形式化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0462" y="174593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学的是一个映射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1"/>
                <p:cNvSpPr txBox="1">
                  <a:spLocks noGrp="1"/>
                </p:cNvSpPr>
                <p:nvPr/>
              </p:nvSpPr>
              <p:spPr>
                <a:xfrm>
                  <a:off x="720090" y="2049780"/>
                  <a:ext cx="460438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: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cr m:val="script"/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→</m:t>
                        </m:r>
                        <m:r>
                          <m:rPr>
                            <m:scr m:val="script"/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13232" y="255555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给定训练集，训练就是用它确定这个函数关系：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2"/>
                <p:cNvSpPr txBox="1">
                  <a:spLocks noGrp="1"/>
                </p:cNvSpPr>
                <p:nvPr/>
              </p:nvSpPr>
              <p:spPr>
                <a:xfrm>
                  <a:off x="720090" y="2833688"/>
                  <a:ext cx="4604385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train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Sup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p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⊆</m:t>
                        </m:r>
                        <m:r>
                          <m:rPr>
                            <m:scr m:val="script"/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m:rPr>
                            <m:scr m:val="script"/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14375" y="3278981"/>
              <a:ext cx="439953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是训练样本数目；一个样本包含一个特征集合，监督学习里还带一个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标签。</a:t>
              </a:r>
            </a:p>
          </p:txBody>
        </p:sp>
      </p:grpSp>
      <p:grpSp>
        <p:nvGrpSpPr>
          <p:cNvPr id="25" name="c1-bullets-2"/>
          <p:cNvGrpSpPr/>
          <p:nvPr/>
        </p:nvGrpSpPr>
        <p:grpSpPr>
          <a:xfrm>
            <a:off x="526542" y="4040505"/>
            <a:ext cx="3420085" cy="1507046"/>
            <a:chOff x="526542" y="4040505"/>
            <a:chExt cx="3420085" cy="1507046"/>
          </a:xfrm>
        </p:grpSpPr>
        <p:sp>
          <p:nvSpPr>
            <p:cNvPr id="16" name="TextBox 16"/>
            <p:cNvSpPr txBox="1"/>
            <p:nvPr/>
          </p:nvSpPr>
          <p:spPr>
            <a:xfrm>
              <a:off x="526542" y="4040505"/>
              <a:ext cx="1084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四个具体的 f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41972" y="441388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7992" y="4357688"/>
              <a:ext cx="27215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语音识别：f(一段声波) = “你好”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41972" y="472249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7992" y="4666298"/>
              <a:ext cx="2673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图像识别：f(一张照片) = “Dog”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41972" y="503110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7992" y="4974908"/>
              <a:ext cx="29033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棋类与游戏：f(当前局面) = “射门”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41972" y="533971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7992" y="5283518"/>
              <a:ext cx="3248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对话系统：f(用户的一句话) = 回复文本</a:t>
              </a:r>
            </a:p>
          </p:txBody>
        </p:sp>
      </p:grpSp>
      <p:grpSp>
        <p:nvGrpSpPr>
          <p:cNvPr id="31" name="c2-kv-1"/>
          <p:cNvGrpSpPr/>
          <p:nvPr/>
        </p:nvGrpSpPr>
        <p:grpSpPr>
          <a:xfrm>
            <a:off x="5809107" y="1545907"/>
            <a:ext cx="5849493" cy="1670876"/>
            <a:chOff x="5809107" y="1545907"/>
            <a:chExt cx="5849493" cy="1670876"/>
          </a:xfrm>
        </p:grpSpPr>
        <p:sp>
          <p:nvSpPr>
            <p:cNvPr id="26" name="TextBox 26"/>
            <p:cNvSpPr txBox="1"/>
            <p:nvPr/>
          </p:nvSpPr>
          <p:spPr>
            <a:xfrm>
              <a:off x="5809107" y="1545907"/>
              <a:ext cx="87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输入 x ∈ X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54012" y="1545907"/>
              <a:ext cx="4394264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特征（feature，机器学习）、预测因子（predictor，统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计）、自变量（independent variable，统计）、回归量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（regressor）、输入变量、协变量（covariate）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815965" y="23402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09107" y="2446020"/>
              <a:ext cx="87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输出 y ∈ 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54012" y="2446020"/>
              <a:ext cx="4411408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标签（label，机器学习）、响应（response，统计）、因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变量（dependent variable，统计）、回归值、目标变量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（target）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5815965" y="3334702"/>
            <a:ext cx="5842635" cy="2103120"/>
            <a:chOff x="5815965" y="3334702"/>
            <a:chExt cx="5842635" cy="2103120"/>
          </a:xfrm>
        </p:grpSpPr>
        <p:sp>
          <p:nvSpPr>
            <p:cNvPr id="32" name="Rectangle 32"/>
            <p:cNvSpPr/>
            <p:nvPr/>
          </p:nvSpPr>
          <p:spPr>
            <a:xfrm>
              <a:off x="5815965" y="3334702"/>
              <a:ext cx="5842635" cy="2103120"/>
            </a:xfrm>
            <a:prstGeom prst="roundRect">
              <a:avLst>
                <a:gd name="adj" fmla="val 63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825490" y="3468052"/>
              <a:ext cx="47625" cy="18364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40755" y="352139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25324" y="355425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记号约定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54952" y="355663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本讲义后面各章沿用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049328" y="393858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05347" y="3882390"/>
              <a:ext cx="48447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样本特征写成列向量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，第 i 个样本记 x⁽ⁱ⁾，它的第 j 个分量记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xⱼ⁽ⁱ⁾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049328" y="449580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05347" y="4439602"/>
              <a:ext cx="3618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样本矩阵 X 的每一行是一个样本，形状 N × d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049328" y="479583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05347" y="4739640"/>
              <a:ext cx="5138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模型参数统一记 Θ（分量 θᵢ），线性模型的权重记 w、偏置记 b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049328" y="509587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05347" y="5039678"/>
              <a:ext cx="2830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预测值记 ŷ，读作 y hat；真值记 y</a:t>
              </a:r>
            </a:p>
          </p:txBody>
        </p:sp>
      </p:grpSp>
      <p:grpSp>
        <p:nvGrpSpPr>
          <p:cNvPr id="52" name="c2-callout-3"/>
          <p:cNvGrpSpPr/>
          <p:nvPr/>
        </p:nvGrpSpPr>
        <p:grpSpPr>
          <a:xfrm>
            <a:off x="5815965" y="5607368"/>
            <a:ext cx="5842635" cy="729615"/>
            <a:chOff x="5815965" y="5607368"/>
            <a:chExt cx="5842635" cy="729615"/>
          </a:xfrm>
        </p:grpSpPr>
        <p:sp>
          <p:nvSpPr>
            <p:cNvPr id="46" name="Rectangle 46"/>
            <p:cNvSpPr/>
            <p:nvPr/>
          </p:nvSpPr>
          <p:spPr>
            <a:xfrm>
              <a:off x="5815965" y="5607368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020753" y="5872163"/>
              <a:ext cx="200026" cy="200025"/>
              <a:chOff x="6020753" y="5872163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020753" y="58721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060491" y="59166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095207" y="60277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323457" y="5754052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同一个东西在统计学和机器学习里名字不同，读论文时先确认作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者用的是哪一套。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机器学习是什么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人工智能、机器学习、深度学习是层层包含的关系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tree-1"/>
          <p:cNvGrpSpPr/>
          <p:nvPr/>
        </p:nvGrpSpPr>
        <p:grpSpPr>
          <a:xfrm>
            <a:off x="533400" y="1792605"/>
            <a:ext cx="6492240" cy="3640455"/>
            <a:chOff x="533400" y="1792605"/>
            <a:chExt cx="6492240" cy="3640455"/>
          </a:xfrm>
        </p:grpSpPr>
        <p:sp>
          <p:nvSpPr>
            <p:cNvPr id="7" name="Freeform 7"/>
            <p:cNvSpPr/>
            <p:nvPr/>
          </p:nvSpPr>
          <p:spPr>
            <a:xfrm>
              <a:off x="5601652" y="517969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184332" y="4135755"/>
              <a:ext cx="419100" cy="521970"/>
            </a:xfrm>
            <a:custGeom>
              <a:avLst/>
              <a:gdLst/>
              <a:ahLst/>
              <a:cxnLst/>
              <a:rect l="l" t="t" r="r" b="b"/>
              <a:pathLst>
                <a:path w="419100" h="521970">
                  <a:moveTo>
                    <a:pt x="0" y="521970"/>
                  </a:moveTo>
                  <a:lnTo>
                    <a:pt x="209550" y="52197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184332" y="4657725"/>
              <a:ext cx="419100" cy="521970"/>
            </a:xfrm>
            <a:custGeom>
              <a:avLst/>
              <a:gdLst/>
              <a:ahLst/>
              <a:cxnLst/>
              <a:rect l="l" t="t" r="r" b="b"/>
              <a:pathLst>
                <a:path w="419100" h="521970">
                  <a:moveTo>
                    <a:pt x="0" y="0"/>
                  </a:moveTo>
                  <a:lnTo>
                    <a:pt x="209550" y="0"/>
                  </a:lnTo>
                  <a:lnTo>
                    <a:pt x="209550" y="521970"/>
                  </a:lnTo>
                  <a:lnTo>
                    <a:pt x="419100" y="52197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20340" y="3090862"/>
              <a:ext cx="419100" cy="783908"/>
            </a:xfrm>
            <a:custGeom>
              <a:avLst/>
              <a:gdLst/>
              <a:ahLst/>
              <a:cxnLst/>
              <a:rect l="l" t="t" r="r" b="b"/>
              <a:pathLst>
                <a:path w="419100" h="783908">
                  <a:moveTo>
                    <a:pt x="0" y="783908"/>
                  </a:moveTo>
                  <a:lnTo>
                    <a:pt x="209550" y="78390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720340" y="3874770"/>
              <a:ext cx="419100" cy="782955"/>
            </a:xfrm>
            <a:custGeom>
              <a:avLst/>
              <a:gdLst/>
              <a:ahLst/>
              <a:cxnLst/>
              <a:rect l="l" t="t" r="r" b="b"/>
              <a:pathLst>
                <a:path w="419100" h="782955">
                  <a:moveTo>
                    <a:pt x="0" y="0"/>
                  </a:moveTo>
                  <a:lnTo>
                    <a:pt x="209550" y="0"/>
                  </a:lnTo>
                  <a:lnTo>
                    <a:pt x="209550" y="782955"/>
                  </a:lnTo>
                  <a:lnTo>
                    <a:pt x="419100" y="78295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57300" y="2045970"/>
              <a:ext cx="419100" cy="914400"/>
            </a:xfrm>
            <a:custGeom>
              <a:avLst/>
              <a:gdLst/>
              <a:ahLst/>
              <a:cxnLst/>
              <a:rect l="l" t="t" r="r" b="b"/>
              <a:pathLst>
                <a:path w="419100" h="914400">
                  <a:moveTo>
                    <a:pt x="0" y="914400"/>
                  </a:moveTo>
                  <a:lnTo>
                    <a:pt x="209550" y="91440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257300" y="2960370"/>
              <a:ext cx="419100" cy="914400"/>
            </a:xfrm>
            <a:custGeom>
              <a:avLst/>
              <a:gdLst/>
              <a:ahLst/>
              <a:cxnLst/>
              <a:rect l="l" t="t" r="r" b="b"/>
              <a:pathLst>
                <a:path w="419100" h="914400">
                  <a:moveTo>
                    <a:pt x="0" y="0"/>
                  </a:moveTo>
                  <a:lnTo>
                    <a:pt x="209550" y="0"/>
                  </a:lnTo>
                  <a:lnTo>
                    <a:pt x="209550" y="914400"/>
                  </a:lnTo>
                  <a:lnTo>
                    <a:pt x="419100" y="91440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676400" y="1792605"/>
              <a:ext cx="1043940" cy="506730"/>
            </a:xfrm>
            <a:prstGeom prst="roundRect">
              <a:avLst>
                <a:gd name="adj" fmla="val 18797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139440" y="2837498"/>
              <a:ext cx="1043940" cy="506730"/>
            </a:xfrm>
            <a:prstGeom prst="roundRect">
              <a:avLst>
                <a:gd name="adj" fmla="val 18797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603432" y="3882390"/>
              <a:ext cx="998220" cy="506730"/>
            </a:xfrm>
            <a:prstGeom prst="roundRect">
              <a:avLst>
                <a:gd name="adj" fmla="val 18797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020752" y="4926330"/>
              <a:ext cx="1004888" cy="506730"/>
            </a:xfrm>
            <a:prstGeom prst="roundRect">
              <a:avLst>
                <a:gd name="adj" fmla="val 18797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603432" y="5013008"/>
              <a:ext cx="998220" cy="333375"/>
            </a:xfrm>
            <a:prstGeom prst="roundRect">
              <a:avLst>
                <a:gd name="adj" fmla="val 28571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139440" y="4491038"/>
              <a:ext cx="1043940" cy="333375"/>
            </a:xfrm>
            <a:prstGeom prst="roundRect">
              <a:avLst>
                <a:gd name="adj" fmla="val 28571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676400" y="3707130"/>
              <a:ext cx="1043940" cy="333375"/>
            </a:xfrm>
            <a:prstGeom prst="roundRect">
              <a:avLst>
                <a:gd name="adj" fmla="val 28571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707005"/>
              <a:ext cx="723900" cy="506730"/>
            </a:xfrm>
            <a:prstGeom prst="roundRect">
              <a:avLst>
                <a:gd name="adj" fmla="val 18797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766316" y="1885950"/>
              <a:ext cx="544068" cy="3787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知识库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规则系统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29356" y="2930843"/>
              <a:ext cx="544068" cy="3787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逻辑回归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决策树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93348" y="3975735"/>
              <a:ext cx="544068" cy="3787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浅层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自编码器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10669" y="5019675"/>
              <a:ext cx="584073" cy="3787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MLP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CNN、RNN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93348" y="5106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深度学习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29356" y="458438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表示学习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66316" y="38014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机器学习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3316" y="2800350"/>
              <a:ext cx="410718" cy="3787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人工智</a:t>
              </a:r>
              <a:br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</p:grpSp>
      <p:grpSp>
        <p:nvGrpSpPr>
          <p:cNvPr id="62" name="c2-table-1"/>
          <p:cNvGrpSpPr/>
          <p:nvPr/>
        </p:nvGrpSpPr>
        <p:grpSpPr>
          <a:xfrm>
            <a:off x="7330440" y="1524000"/>
            <a:ext cx="4328160" cy="2828925"/>
            <a:chOff x="7330440" y="1524000"/>
            <a:chExt cx="4328160" cy="2828925"/>
          </a:xfrm>
        </p:grpSpPr>
        <p:sp>
          <p:nvSpPr>
            <p:cNvPr id="31" name="Rectangle 31"/>
            <p:cNvSpPr/>
            <p:nvPr/>
          </p:nvSpPr>
          <p:spPr>
            <a:xfrm>
              <a:off x="7330440" y="1524000"/>
              <a:ext cx="4328160" cy="60579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50201" y="17483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86877" y="174831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谁来设计特征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65640" y="1648301"/>
              <a:ext cx="7226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谁来设计映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45546" y="174831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代表方法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30452" y="23541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规则系统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82952" y="235410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07855" y="235410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47033" y="2254091"/>
              <a:ext cx="8648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专家系统、知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识库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330440" y="273081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330440" y="2735580"/>
              <a:ext cx="432816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30452" y="2859881"/>
              <a:ext cx="5803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经典机器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82952" y="29598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07855" y="29598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547033" y="2859881"/>
              <a:ext cx="8648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逻辑回归、支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持向量机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330440" y="333660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30452" y="346567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表示学习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82952" y="34656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07855" y="34656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547033" y="346567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自编码器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330440" y="374237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330440" y="3747135"/>
              <a:ext cx="432816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39965" y="3756660"/>
              <a:ext cx="933450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30452" y="39714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深度学习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82952" y="3871436"/>
              <a:ext cx="8648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机器（逐级抽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507855" y="39714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547033" y="3971449"/>
              <a:ext cx="687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CNN、RNN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330440" y="1524000"/>
              <a:ext cx="4328160" cy="2828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278178" y="1524000"/>
              <a:ext cx="9525" cy="2828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403080" y="1524000"/>
              <a:ext cx="9525" cy="2828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442258" y="1524000"/>
              <a:ext cx="9525" cy="2828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llout-2"/>
          <p:cNvGrpSpPr/>
          <p:nvPr/>
        </p:nvGrpSpPr>
        <p:grpSpPr>
          <a:xfrm>
            <a:off x="7330440" y="4528185"/>
            <a:ext cx="4328160" cy="978218"/>
            <a:chOff x="7330440" y="4528185"/>
            <a:chExt cx="4328160" cy="978218"/>
          </a:xfrm>
        </p:grpSpPr>
        <p:sp>
          <p:nvSpPr>
            <p:cNvPr id="63" name="Rectangle 63"/>
            <p:cNvSpPr/>
            <p:nvPr/>
          </p:nvSpPr>
          <p:spPr>
            <a:xfrm>
              <a:off x="7330440" y="4528185"/>
              <a:ext cx="4328160" cy="978218"/>
            </a:xfrm>
            <a:prstGeom prst="roundRect">
              <a:avLst>
                <a:gd name="adj" fmla="val 11685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535228" y="4916807"/>
              <a:ext cx="200023" cy="200023"/>
              <a:chOff x="7535228" y="4916807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535228" y="49168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668578" y="49834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837932" y="4673918"/>
              <a:ext cx="34427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人工智能是让机器具有智能的目标，机器学习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是实现它的有效方式，深度学习属于机器学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习，用深度神经网络完成任务。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9" name="Rectangle 6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892" y="6023610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深度学习的特别之处在于特征不用人来设计，而是由多层网络逐级从原始数据里学出来。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398264" cy="3351847"/>
            <a:chOff x="667512" y="1835468"/>
            <a:chExt cx="439826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机器学习的基本流程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无论用什么模型，训练都是同样的三步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04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步骤1 选一个函数集合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02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步骤2 定义目标函数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02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步骤3 找出最优函数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训练与测试、泛化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机器学习的基本流程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三步流程：定范围、定标准、找最好的那个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flow-1"/>
          <p:cNvGrpSpPr/>
          <p:nvPr/>
        </p:nvGrpSpPr>
        <p:grpSpPr>
          <a:xfrm>
            <a:off x="745808" y="1757362"/>
            <a:ext cx="5634990" cy="3622358"/>
            <a:chOff x="745808" y="1757362"/>
            <a:chExt cx="5634990" cy="3622358"/>
          </a:xfrm>
        </p:grpSpPr>
        <p:sp>
          <p:nvSpPr>
            <p:cNvPr id="7" name="Freeform 7"/>
            <p:cNvSpPr/>
            <p:nvPr/>
          </p:nvSpPr>
          <p:spPr>
            <a:xfrm>
              <a:off x="2047875" y="2335530"/>
              <a:ext cx="1515428" cy="361950"/>
            </a:xfrm>
            <a:custGeom>
              <a:avLst/>
              <a:gdLst/>
              <a:ahLst/>
              <a:cxnLst/>
              <a:rect l="l" t="t" r="r" b="b"/>
              <a:pathLst>
                <a:path w="1515428" h="361950">
                  <a:moveTo>
                    <a:pt x="0" y="0"/>
                  </a:moveTo>
                  <a:lnTo>
                    <a:pt x="0" y="233362"/>
                  </a:lnTo>
                  <a:lnTo>
                    <a:pt x="1515428" y="233362"/>
                  </a:lnTo>
                  <a:lnTo>
                    <a:pt x="1515428" y="3619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510915" y="26974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563302" y="2245995"/>
              <a:ext cx="1514475" cy="451485"/>
            </a:xfrm>
            <a:custGeom>
              <a:avLst/>
              <a:gdLst/>
              <a:ahLst/>
              <a:cxnLst/>
              <a:rect l="l" t="t" r="r" b="b"/>
              <a:pathLst>
                <a:path w="1514475" h="451485">
                  <a:moveTo>
                    <a:pt x="1514475" y="0"/>
                  </a:moveTo>
                  <a:lnTo>
                    <a:pt x="1514475" y="278130"/>
                  </a:lnTo>
                  <a:lnTo>
                    <a:pt x="0" y="278130"/>
                  </a:lnTo>
                  <a:lnTo>
                    <a:pt x="0" y="4514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510915" y="26974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563302" y="3379470"/>
              <a:ext cx="9525" cy="451485"/>
            </a:xfrm>
            <a:custGeom>
              <a:avLst/>
              <a:gdLst/>
              <a:ahLst/>
              <a:cxnLst/>
              <a:rect l="l" t="t" r="r" b="b"/>
              <a:pathLst>
                <a:path w="9525" h="451485">
                  <a:moveTo>
                    <a:pt x="0" y="0"/>
                  </a:moveTo>
                  <a:lnTo>
                    <a:pt x="0" y="4514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510915" y="38309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563302" y="4334828"/>
              <a:ext cx="9525" cy="541020"/>
            </a:xfrm>
            <a:custGeom>
              <a:avLst/>
              <a:gdLst/>
              <a:ahLst/>
              <a:cxnLst/>
              <a:rect l="l" t="t" r="r" b="b"/>
              <a:pathLst>
                <a:path w="9525" h="541020">
                  <a:moveTo>
                    <a:pt x="0" y="0"/>
                  </a:moveTo>
                  <a:lnTo>
                    <a:pt x="0" y="5410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510915" y="48758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45808" y="1757362"/>
              <a:ext cx="2605088" cy="578168"/>
            </a:xfrm>
            <a:prstGeom prst="roundRect">
              <a:avLst>
                <a:gd name="adj" fmla="val 16474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774758" y="1846898"/>
              <a:ext cx="2606040" cy="399098"/>
            </a:xfrm>
            <a:custGeom>
              <a:avLst/>
              <a:gdLst/>
              <a:ahLst/>
              <a:cxnLst/>
              <a:rect l="l" t="t" r="r" b="b"/>
              <a:pathLst>
                <a:path w="2606040" h="399098">
                  <a:moveTo>
                    <a:pt x="133350" y="0"/>
                  </a:moveTo>
                  <a:lnTo>
                    <a:pt x="2606040" y="0"/>
                  </a:lnTo>
                  <a:lnTo>
                    <a:pt x="2472690" y="399098"/>
                  </a:lnTo>
                  <a:lnTo>
                    <a:pt x="0" y="399098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957262" y="2802255"/>
              <a:ext cx="5211128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57262" y="3935730"/>
              <a:ext cx="521112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57262" y="4980622"/>
              <a:ext cx="5211128" cy="399098"/>
            </a:xfrm>
            <a:prstGeom prst="roundRect">
              <a:avLst>
                <a:gd name="adj" fmla="val 49881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19860" y="1871186"/>
              <a:ext cx="125603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步骤1 选模型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函数集合 f₁, f₂, 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45901" y="196738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50376" y="2916079"/>
              <a:ext cx="1625854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步骤2 定义目标函数 J(Θ)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衡量 f 有多差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84869" y="4057174"/>
              <a:ext cx="1556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步骤3 求最优：识别 f*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18375" y="5101114"/>
              <a:ext cx="20898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测试与使用：用 f* 预测新样本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633662" y="2362200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669184" y="23874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候选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148138" y="2317432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183659" y="23426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</p:grpSp>
      <p:grpSp>
        <p:nvGrpSpPr>
          <p:cNvPr id="43" name="c2-steps-1"/>
          <p:cNvGrpSpPr/>
          <p:nvPr/>
        </p:nvGrpSpPr>
        <p:grpSpPr>
          <a:xfrm>
            <a:off x="6898005" y="1533525"/>
            <a:ext cx="4592447" cy="1693069"/>
            <a:chOff x="6898005" y="1533525"/>
            <a:chExt cx="4592447" cy="1693069"/>
          </a:xfrm>
        </p:grpSpPr>
        <p:sp>
          <p:nvSpPr>
            <p:cNvPr id="30" name="Rectangle 30"/>
            <p:cNvSpPr/>
            <p:nvPr/>
          </p:nvSpPr>
          <p:spPr>
            <a:xfrm>
              <a:off x="7031355" y="167640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898005" y="21202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9162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898005" y="270700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9162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10247" y="1564957"/>
              <a:ext cx="1629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步骤1 选具体的模型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11390" y="1833086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定下候选函数的范围。范围太小学不出来，太大容易过拟合。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10247" y="2152650"/>
              <a:ext cx="1629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步骤2 定义目标函数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11390" y="2419826"/>
              <a:ext cx="41790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给每个候选函数打分，通常是损失函数加正则项，写成 J(Θ)。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10247" y="2739390"/>
              <a:ext cx="18115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步骤3 选择最优的函数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11390" y="3006566"/>
              <a:ext cx="37227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搜出使 J 最小的那个 f*，绝大多数情况下靠梯度下降。</a:t>
              </a:r>
            </a:p>
          </p:txBody>
        </p:sp>
      </p:grpSp>
      <p:grpSp>
        <p:nvGrpSpPr>
          <p:cNvPr id="69" name="c2-table-2"/>
          <p:cNvGrpSpPr/>
          <p:nvPr/>
        </p:nvGrpSpPr>
        <p:grpSpPr>
          <a:xfrm>
            <a:off x="6892671" y="3395662"/>
            <a:ext cx="4765929" cy="2308480"/>
            <a:chOff x="6892671" y="3395662"/>
            <a:chExt cx="4765929" cy="2308480"/>
          </a:xfrm>
        </p:grpSpPr>
        <p:sp>
          <p:nvSpPr>
            <p:cNvPr id="44" name="Rectangle 44"/>
            <p:cNvSpPr/>
            <p:nvPr/>
          </p:nvSpPr>
          <p:spPr>
            <a:xfrm>
              <a:off x="6898005" y="3395662"/>
              <a:ext cx="476059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04164" y="35199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后面各章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62481" y="351996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步骤2 目标函数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28404" y="351996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步骤3 优化方法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98017" y="3925729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第2章 线性回归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25815" y="3925729"/>
              <a:ext cx="9570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均方误差 MSE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949815" y="392572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正规方程或梯度下降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898005" y="420243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98005" y="4207192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98017" y="43314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第3章 逻辑回归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25815" y="43314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交叉熵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949815" y="4331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梯度下降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898005" y="460819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98017" y="4737259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第4章 神经网络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25815" y="4737259"/>
              <a:ext cx="9570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交叉熵或 MSE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49815" y="4737259"/>
              <a:ext cx="10759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反向传播加 SGD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898005" y="501396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898005" y="5018722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998017" y="514302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第6章 支持向量机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425815" y="5143024"/>
              <a:ext cx="9883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合页损失加 L₂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949815" y="51430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二次规划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898005" y="3395662"/>
              <a:ext cx="476059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321040" y="3395662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845040" y="3395662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892671" y="5498783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每一章都在往这三个空里填具体的东西，读的时候可以对照本页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0" name="Rectangle 7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892" y="6023610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训练用训练集，测试必须用没参与训练的数据，否则测出来的分数不能说明任何问题。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59930" cy="909257"/>
            <a:chOff x="520446" y="342900"/>
            <a:chExt cx="60599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机器学习的基本流程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599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步骤1：选模型就是划定候选函数的范围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047875"/>
            <a:chOff x="533400" y="1524000"/>
            <a:chExt cx="5410200" cy="20478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47875"/>
            </a:xfrm>
            <a:prstGeom prst="roundRect">
              <a:avLst>
                <a:gd name="adj" fmla="val 65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8117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假设空间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0588" y="1767364"/>
              <a:ext cx="16930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Hypothesis Space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模型确定了一族带参数的函数，参数取遍所有取值就得到一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个函数集合，训练只在这个集合里挑。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5"/>
                <p:cNvSpPr txBox="1">
                  <a:spLocks noGrp="1"/>
                </p:cNvSpPr>
                <p:nvPr/>
              </p:nvSpPr>
              <p:spPr>
                <a:xfrm>
                  <a:off x="775335" y="2687002"/>
                  <a:ext cx="496443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cr m:val="script"/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sub>
                            </m:s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: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Θ∈</m:t>
                            </m:r>
                            <m:sSup>
                              <m:e>
                                <m:r>
                                  <m:rPr>
                                    <m:scr m:val="double-struck"/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9239" y="3180398"/>
              <a:ext cx="4901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选模型 = 选 H。真实规律如果根本不在 H 里，训练得再久也学不到。</a:t>
              </a:r>
            </a:p>
          </p:txBody>
        </p:sp>
      </p:grpSp>
      <p:grpSp>
        <p:nvGrpSpPr>
          <p:cNvPr id="46" name="c1-table-2"/>
          <p:cNvGrpSpPr/>
          <p:nvPr/>
        </p:nvGrpSpPr>
        <p:grpSpPr>
          <a:xfrm>
            <a:off x="533400" y="3757612"/>
            <a:ext cx="5410200" cy="2577466"/>
            <a:chOff x="533400" y="3757612"/>
            <a:chExt cx="5410200" cy="2577466"/>
          </a:xfrm>
        </p:grpSpPr>
        <p:sp>
          <p:nvSpPr>
            <p:cNvPr id="16" name="Rectangle 16"/>
            <p:cNvSpPr/>
            <p:nvPr/>
          </p:nvSpPr>
          <p:spPr>
            <a:xfrm>
              <a:off x="533400" y="3757612"/>
              <a:ext cx="5410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15365" y="38881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68296" y="38881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函数形式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36682" y="38881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4811" y="38881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后续章节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8746" y="43186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线性回归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37004" y="431863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wᵀx + 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68649" y="4318635"/>
              <a:ext cx="359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w, 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50689" y="4318635"/>
              <a:ext cx="4241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第2章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6129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617720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8746" y="47491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逻辑回归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37004" y="4749165"/>
              <a:ext cx="11268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σ(wᵀx + b)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68649" y="4749165"/>
              <a:ext cx="359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w, 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50689" y="4749165"/>
              <a:ext cx="4241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第3章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0425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8746" y="52854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神经网络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37004" y="5178742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多层复合的非线性函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68649" y="52854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各层权重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50689" y="5285422"/>
              <a:ext cx="674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第4、5章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56864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5691188"/>
              <a:ext cx="5410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8746" y="592931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支持向量机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37004" y="5822632"/>
              <a:ext cx="13152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sign(wᵀφ(x) +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668649" y="5929312"/>
              <a:ext cx="359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w, 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50689" y="5929312"/>
              <a:ext cx="4241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第6章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3757612"/>
              <a:ext cx="5410200" cy="25774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826895" y="3757612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558540" y="3757612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640580" y="3757612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compare-1"/>
          <p:cNvGrpSpPr/>
          <p:nvPr/>
        </p:nvGrpSpPr>
        <p:grpSpPr>
          <a:xfrm>
            <a:off x="6248400" y="1524000"/>
            <a:ext cx="5410200" cy="1855470"/>
            <a:chOff x="6248400" y="1524000"/>
            <a:chExt cx="5410200" cy="1855470"/>
          </a:xfrm>
        </p:grpSpPr>
        <p:sp>
          <p:nvSpPr>
            <p:cNvPr id="47" name="Rectangle 47"/>
            <p:cNvSpPr/>
            <p:nvPr/>
          </p:nvSpPr>
          <p:spPr>
            <a:xfrm>
              <a:off x="6248400" y="1524000"/>
              <a:ext cx="2457450" cy="1855470"/>
            </a:xfrm>
            <a:prstGeom prst="roundRect">
              <a:avLst>
                <a:gd name="adj" fmla="val 71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1657350"/>
              <a:ext cx="47625" cy="15887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83096" y="175117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假设空间太小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97955" y="214979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54546" y="209026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再怎么调参数也逼近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不了真实规律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97955" y="274129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54546" y="2681764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训练误差和测试误差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都高，称为欠拟合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201150" y="1524000"/>
              <a:ext cx="2457450" cy="1855470"/>
            </a:xfrm>
            <a:prstGeom prst="roundRect">
              <a:avLst>
                <a:gd name="adj" fmla="val 71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210675" y="1657350"/>
              <a:ext cx="47625" cy="15887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435846" y="175117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假设空间太大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9450705" y="214979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607296" y="209026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能把训练集背下来，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连噪声一起学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9450705" y="274129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607296" y="2681764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训练误差很低而测试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误差高，称为过拟合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8753475" y="2251710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806815" y="23860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取舍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6248400" y="3564255"/>
            <a:ext cx="5410200" cy="2769870"/>
            <a:chOff x="6248400" y="3564255"/>
            <a:chExt cx="5410200" cy="2769870"/>
          </a:xfrm>
        </p:grpSpPr>
        <p:sp>
          <p:nvSpPr>
            <p:cNvPr id="64" name="Rectangle 64"/>
            <p:cNvSpPr/>
            <p:nvPr/>
          </p:nvSpPr>
          <p:spPr>
            <a:xfrm>
              <a:off x="6248400" y="3564255"/>
              <a:ext cx="5410200" cy="2769870"/>
            </a:xfrm>
            <a:prstGeom prst="roundRect">
              <a:avLst>
                <a:gd name="adj" fmla="val 48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57925" y="3697605"/>
              <a:ext cx="47625" cy="250317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90335" y="376809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72644" y="38038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实践建议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497955" y="420147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654546" y="4141946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先用最简单的模型跑通整条流程，拿到一个基线分数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497955" y="452151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654546" y="4461986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再逐步换复杂模型，每次只改一处，对比是否真的有提升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84239" y="4777740"/>
              <a:ext cx="46908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scikit-learn 的算法速查图就是按“样本量、有无标签、是分类还是回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归”一路问下来帮你选模型的。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83022" cy="909257"/>
            <a:chOff x="520446" y="342900"/>
            <a:chExt cx="67830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机器学习的基本流程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830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步骤2：目标函数 J(Θ) 给每个候选函数打分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737092" cy="264033"/>
            <a:chOff x="526542" y="1545907"/>
            <a:chExt cx="873709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737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目标函数是训练时优化的函数，通常由损失项和正则项两部分组成，它常以（但不限于）下面几种形式出现。</a:t>
              </a:r>
            </a:p>
          </p:txBody>
        </p:sp>
      </p:grpSp>
      <p:grpSp>
        <p:nvGrpSpPr>
          <p:cNvPr id="44" name="c1-table-1"/>
          <p:cNvGrpSpPr/>
          <p:nvPr/>
        </p:nvGrpSpPr>
        <p:grpSpPr>
          <a:xfrm>
            <a:off x="533400" y="1928812"/>
            <a:ext cx="5842635" cy="2856548"/>
            <a:chOff x="533400" y="1928812"/>
            <a:chExt cx="5842635" cy="285654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1249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99550" y="2045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常用损失函数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7779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078" y="2426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79638" y="2426970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0-1 损失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67594" y="2426970"/>
              <a:ext cx="1523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预测错记 1，预测对记 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87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91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808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594485" y="2701290"/>
              <a:ext cx="266890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79638" y="2808923"/>
              <a:ext cx="20885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交叉熵损失 cross-entropy loss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67594" y="2808923"/>
              <a:ext cx="652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−Σ y log ŷ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68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3189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594485" y="3082290"/>
              <a:ext cx="266890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679638" y="3189923"/>
              <a:ext cx="897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均方误差 MSE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67594" y="3189923"/>
              <a:ext cx="1195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L₂ 范数，(y − ŷ)²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449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453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571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79638" y="3571875"/>
              <a:ext cx="1179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平均绝对误差 MAE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67594" y="3571875"/>
              <a:ext cx="10466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L₁ 范数，|y − ŷ|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830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" y="3952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回归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79638" y="3952875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Huber loss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67594" y="3952875"/>
              <a:ext cx="17010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小误差用 L₂，大误差用 L₁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211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4216718"/>
              <a:ext cx="584263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442722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概率推理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679638" y="4333875"/>
              <a:ext cx="163753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Kullback-Leibler 散度（KL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divergence）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67594" y="442722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两个分布之间的差异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928812"/>
              <a:ext cx="5842635" cy="2856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580198" y="1928812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268152" y="1928812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2-callout-1"/>
          <p:cNvGrpSpPr/>
          <p:nvPr/>
        </p:nvGrpSpPr>
        <p:grpSpPr>
          <a:xfrm>
            <a:off x="6680835" y="1928812"/>
            <a:ext cx="4977765" cy="702945"/>
            <a:chOff x="6680835" y="1928812"/>
            <a:chExt cx="4977765" cy="702945"/>
          </a:xfrm>
        </p:grpSpPr>
        <p:sp>
          <p:nvSpPr>
            <p:cNvPr id="45" name="Rectangle 45"/>
            <p:cNvSpPr/>
            <p:nvPr/>
          </p:nvSpPr>
          <p:spPr>
            <a:xfrm>
              <a:off x="6680835" y="1928812"/>
              <a:ext cx="4977765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885623" y="2180273"/>
              <a:ext cx="200026" cy="200026"/>
              <a:chOff x="6885623" y="2180273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885623" y="21802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985635" y="22469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974523" y="22802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7188708" y="2073116"/>
              <a:ext cx="40932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另一路写法是似然与后验：MLE 最小化负对数似然 NLL，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相当于 NLL 再加一个来自先验的正则项。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680835" y="2796540"/>
            <a:ext cx="4977765" cy="2807970"/>
            <a:chOff x="6680835" y="2796540"/>
            <a:chExt cx="4977765" cy="2807970"/>
          </a:xfrm>
        </p:grpSpPr>
        <p:sp>
          <p:nvSpPr>
            <p:cNvPr id="52" name="Rectangle 52"/>
            <p:cNvSpPr/>
            <p:nvPr/>
          </p:nvSpPr>
          <p:spPr>
            <a:xfrm>
              <a:off x="6680835" y="2796540"/>
              <a:ext cx="4977765" cy="2807970"/>
            </a:xfrm>
            <a:prstGeom prst="roundRect">
              <a:avLst>
                <a:gd name="adj" fmla="val 4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90360" y="2929890"/>
              <a:ext cx="47625" cy="254127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899910" y="297751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977329" y="301037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正则化与约束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64043" y="301704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在损失之外惩罚过大的参数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formula34"/>
                <p:cNvSpPr txBox="1">
                  <a:spLocks noGrp="1"/>
                </p:cNvSpPr>
                <p:nvPr/>
              </p:nvSpPr>
              <p:spPr>
                <a:xfrm>
                  <a:off x="6899910" y="3312795"/>
                  <a:ext cx="4577715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Ω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formula35"/>
                <p:cNvSpPr txBox="1">
                  <a:spLocks noGrp="1"/>
                </p:cNvSpPr>
                <p:nvPr/>
              </p:nvSpPr>
              <p:spPr>
                <a:xfrm>
                  <a:off x="6899910" y="3754755"/>
                  <a:ext cx="457771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Ω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formula36"/>
                <p:cNvSpPr txBox="1">
                  <a:spLocks noGrp="1"/>
                </p:cNvSpPr>
                <p:nvPr/>
              </p:nvSpPr>
              <p:spPr>
                <a:xfrm>
                  <a:off x="6899910" y="4401502"/>
                  <a:ext cx="457771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Ω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0" name="TextBox 60"/>
            <p:cNvSpPr txBox="1"/>
            <p:nvPr/>
          </p:nvSpPr>
          <p:spPr>
            <a:xfrm>
              <a:off x="6894576" y="5066348"/>
              <a:ext cx="40111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Ω₁ 是 L₁ 正则项（L₁ 范数），Ω₂ 是 L₂ 正则项（L₂ 范数的平方）；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max-norm 则直接约束 L₂ 范数不超过常数 c，不进目标函数。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2" name="Rectangle 6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1273" y="6039326"/>
              <a:ext cx="10215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更正：原课件把范数写成 λΣ|θᵢ|，范数本身不含系数，L₁ 范数就是 Σ|θᵢ|，λ 应写在范数外面；原课件的“规则化”通行译名为正则化。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33054" cy="909257"/>
            <a:chOff x="520446" y="342900"/>
            <a:chExt cx="74330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机器学习的基本流程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330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步骤3：梯度下降，沿着下坡方向一小步一小步走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704022"/>
            <a:chOff x="533400" y="1524000"/>
            <a:chExt cx="5193982" cy="17040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704022"/>
            </a:xfrm>
            <a:prstGeom prst="roundRect">
              <a:avLst>
                <a:gd name="adj" fmla="val 7826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1794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参数更新公式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43"/>
                <p:cNvSpPr txBox="1">
                  <a:spLocks noGrp="1"/>
                </p:cNvSpPr>
                <p:nvPr/>
              </p:nvSpPr>
              <p:spPr>
                <a:xfrm>
                  <a:off x="714375" y="2024062"/>
                  <a:ext cx="4832032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←</m:t>
                        </m:r>
                        <m:sSubSup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η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bSup>
                          </m:den>
                        </m:f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1" name="TextBox 11"/>
            <p:cNvSpPr txBox="1"/>
            <p:nvPr/>
          </p:nvSpPr>
          <p:spPr>
            <a:xfrm>
              <a:off x="709041" y="2636520"/>
              <a:ext cx="44278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η 是学习率（learning rate）。梯度指向上坡方向，所以前面取负号。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9041" y="2883218"/>
              <a:ext cx="45551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更正：原课件用 λ 表示学习率，与正则化系数 λ 同名，本讲义统一用 η。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3402330"/>
            <a:ext cx="2671648" cy="2149412"/>
            <a:chOff x="533400" y="3402330"/>
            <a:chExt cx="2671648" cy="2149412"/>
          </a:xfrm>
        </p:grpSpPr>
        <p:sp>
          <p:nvSpPr>
            <p:cNvPr id="14" name="Rectangle 14"/>
            <p:cNvSpPr/>
            <p:nvPr/>
          </p:nvSpPr>
          <p:spPr>
            <a:xfrm>
              <a:off x="666750" y="3545205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40233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476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95478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028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5081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5820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50615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5135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4323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166" y="36871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参数取小的随机数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98573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算梯度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166" y="4240530"/>
              <a:ext cx="16586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 θᵢ 求 J(Θ) 的偏导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53913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166" y="4792980"/>
              <a:ext cx="16856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 θᵢ 同时减去 η 乘梯度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50915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7166" y="5346383"/>
              <a:ext cx="22578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的下降量小于阈值或达到最大轮数</a:t>
              </a:r>
            </a:p>
          </p:txBody>
        </p:sp>
      </p:grpSp>
      <p:grpSp>
        <p:nvGrpSpPr>
          <p:cNvPr id="35" name="c2-code-1"/>
          <p:cNvGrpSpPr/>
          <p:nvPr/>
        </p:nvGrpSpPr>
        <p:grpSpPr>
          <a:xfrm>
            <a:off x="6032182" y="1524000"/>
            <a:ext cx="5626418" cy="1257300"/>
            <a:chOff x="6032182" y="1524000"/>
            <a:chExt cx="5626418" cy="1257300"/>
          </a:xfrm>
        </p:grpSpPr>
        <p:sp>
          <p:nvSpPr>
            <p:cNvPr id="32" name="Rectangle 32"/>
            <p:cNvSpPr/>
            <p:nvPr/>
          </p:nvSpPr>
          <p:spPr>
            <a:xfrm>
              <a:off x="6032182" y="1524000"/>
              <a:ext cx="5626418" cy="1257300"/>
            </a:xfrm>
            <a:prstGeom prst="roundRect">
              <a:avLst>
                <a:gd name="adj" fmla="val 7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60580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批量梯度下降的骨架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60770" y="1935004"/>
              <a:ext cx="2717165" cy="760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theta = init_params()</a:t>
              </a:r>
              <a:br/>
              <a:r>
                <a:rPr lang="en-US" sz="8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</a:t>
              </a:r>
              <a:r>
                <a:rPr lang="en-US" sz="8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range(max_iter):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grad = compute_grad(theta, X, y)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全部样本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theta = theta - eta * grad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norm(grad) &lt; tol: </a:t>
              </a:r>
              <a:r>
                <a:rPr lang="en-US" sz="8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break</a:t>
              </a:r>
            </a:p>
          </p:txBody>
        </p:sp>
      </p:grpSp>
      <p:grpSp>
        <p:nvGrpSpPr>
          <p:cNvPr id="55" name="c2-table-2"/>
          <p:cNvGrpSpPr/>
          <p:nvPr/>
        </p:nvGrpSpPr>
        <p:grpSpPr>
          <a:xfrm>
            <a:off x="6032182" y="2946082"/>
            <a:ext cx="5626418" cy="1525905"/>
            <a:chOff x="6032182" y="2946082"/>
            <a:chExt cx="5626418" cy="1525905"/>
          </a:xfrm>
        </p:grpSpPr>
        <p:sp>
          <p:nvSpPr>
            <p:cNvPr id="36" name="Rectangle 36"/>
            <p:cNvSpPr/>
            <p:nvPr/>
          </p:nvSpPr>
          <p:spPr>
            <a:xfrm>
              <a:off x="6032182" y="2946082"/>
              <a:ext cx="5626418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17018" y="30632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70482" y="306324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每步用多少样本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05072" y="30632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26861" y="3445193"/>
              <a:ext cx="11645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批量梯度下降 BGD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89901" y="3445193"/>
              <a:ext cx="606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 N 个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39594" y="3445193"/>
              <a:ext cx="19751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方向准，单步慢，N 大时算不动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32182" y="37042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32182" y="370903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26861" y="3826193"/>
              <a:ext cx="11645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随机梯度下降 SGD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89901" y="3826193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 1 个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39594" y="3826193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单步快，路径抖动大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32182" y="40852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126861" y="4208145"/>
              <a:ext cx="12510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小批量 mini-batch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89901" y="4208145"/>
              <a:ext cx="6255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 m 个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39594" y="4208145"/>
              <a:ext cx="2371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实践中的默认做法，m 常取 32 到 256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32182" y="2946082"/>
              <a:ext cx="5626418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490460" y="294608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840152" y="294608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llout-3"/>
          <p:cNvGrpSpPr/>
          <p:nvPr/>
        </p:nvGrpSpPr>
        <p:grpSpPr>
          <a:xfrm>
            <a:off x="6032182" y="4636770"/>
            <a:ext cx="5626418" cy="937260"/>
            <a:chOff x="6032182" y="4636770"/>
            <a:chExt cx="5626418" cy="937260"/>
          </a:xfrm>
        </p:grpSpPr>
        <p:sp>
          <p:nvSpPr>
            <p:cNvPr id="56" name="Rectangle 56"/>
            <p:cNvSpPr/>
            <p:nvPr/>
          </p:nvSpPr>
          <p:spPr>
            <a:xfrm>
              <a:off x="6032182" y="4636770"/>
              <a:ext cx="5626418" cy="937260"/>
            </a:xfrm>
            <a:prstGeom prst="roundRect">
              <a:avLst>
                <a:gd name="adj" fmla="val 121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236970" y="5005388"/>
              <a:ext cx="200026" cy="200025"/>
              <a:chOff x="6236970" y="5005388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236970" y="50053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276709" y="50498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311424" y="51609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540056" y="4781074"/>
              <a:ext cx="470281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调 η 的办法是画 J 随迭代轮数的曲线：合适时单调下降并逐渐变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平，偏小降得极慢，偏大上下震荡。按 10 倍量级试 0.1、0.01、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0.001。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3" name="Rectangle 6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1273" y="6039326"/>
              <a:ext cx="93178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梯度下降只保证走到一个驻点。目标函数是凸函数时它就是全局最小；神经网络的目标函数非凸，得到的往往是局部最小。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机器学习的基本流程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学习不等于记忆：要在没见过的数据上答对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29712" cy="308039"/>
            <a:chOff x="525399" y="1550194"/>
            <a:chExt cx="1062971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2971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分类器学到的边界叫 representation，真实的类别边界叫 concept，两者不重合的地方就是模型会犯错的地方。</a:t>
              </a:r>
            </a:p>
          </p:txBody>
        </p:sp>
      </p:grpSp>
      <p:grpSp>
        <p:nvGrpSpPr>
          <p:cNvPr id="33" name="c1-graph-1"/>
          <p:cNvGrpSpPr/>
          <p:nvPr/>
        </p:nvGrpSpPr>
        <p:grpSpPr>
          <a:xfrm>
            <a:off x="1134428" y="2308860"/>
            <a:ext cx="4424362" cy="2805684"/>
            <a:chOff x="1134428" y="2308860"/>
            <a:chExt cx="4424362" cy="2805684"/>
          </a:xfrm>
        </p:grpSpPr>
        <p:sp>
          <p:nvSpPr>
            <p:cNvPr id="9" name="Freeform 9"/>
            <p:cNvSpPr/>
            <p:nvPr/>
          </p:nvSpPr>
          <p:spPr>
            <a:xfrm>
              <a:off x="1134428" y="2810828"/>
              <a:ext cx="4424362" cy="1534477"/>
            </a:xfrm>
            <a:custGeom>
              <a:avLst/>
              <a:gdLst/>
              <a:ahLst/>
              <a:cxnLst/>
              <a:rect l="l" t="t" r="r" b="b"/>
              <a:pathLst>
                <a:path w="4424362" h="1534477">
                  <a:moveTo>
                    <a:pt x="0" y="0"/>
                  </a:moveTo>
                  <a:lnTo>
                    <a:pt x="4424362" y="1534477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34428" y="3367088"/>
              <a:ext cx="4424362" cy="521970"/>
            </a:xfrm>
            <a:custGeom>
              <a:avLst/>
              <a:gdLst/>
              <a:ahLst/>
              <a:cxnLst/>
              <a:rect l="l" t="t" r="r" b="b"/>
              <a:pathLst>
                <a:path w="4424362" h="521970">
                  <a:moveTo>
                    <a:pt x="0" y="0"/>
                  </a:moveTo>
                  <a:lnTo>
                    <a:pt x="4424362" y="521970"/>
                  </a:ln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11" name="Ellipse 11"/>
            <p:cNvSpPr/>
            <p:nvPr/>
          </p:nvSpPr>
          <p:spPr>
            <a:xfrm>
              <a:off x="1376362" y="237553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939290" y="230886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502218" y="257460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601152" y="270700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2164080" y="290703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064192" y="2507932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627120" y="277368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190048" y="290703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4752022" y="317277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488758" y="363759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051685" y="3836670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601152" y="4169092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388870" y="4234815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064192" y="4035742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514725" y="4301490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4190048" y="4434840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4865370" y="456723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116455" y="3257550"/>
              <a:ext cx="209550" cy="2095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175081" y="32966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43933" y="3855244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实线：真实边界 concept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77572" y="3390424"/>
              <a:ext cx="20877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虚线：学到的边界 representation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38465" y="490918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两线之间的样本会被判错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464618" y="1967865"/>
            <a:ext cx="5193982" cy="1335405"/>
            <a:chOff x="6464618" y="1967865"/>
            <a:chExt cx="5193982" cy="1335405"/>
          </a:xfrm>
        </p:grpSpPr>
        <p:sp>
          <p:nvSpPr>
            <p:cNvPr id="34" name="Rectangle 34"/>
            <p:cNvSpPr/>
            <p:nvPr/>
          </p:nvSpPr>
          <p:spPr>
            <a:xfrm>
              <a:off x="6464618" y="1967865"/>
              <a:ext cx="5193982" cy="1335405"/>
            </a:xfrm>
            <a:prstGeom prst="roundRect">
              <a:avLst>
                <a:gd name="adj" fmla="val 9986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74168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6532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75195" y="2212658"/>
              <a:ext cx="2531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Learning ≠ Memorization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6548" y="257365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测试图片并没有出现在训练数据里，模型仍然要答对。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只在训练集上评分，等于让学生做原题考试。</a:t>
              </a:r>
            </a:p>
          </p:txBody>
        </p:sp>
      </p:grpSp>
      <p:grpSp>
        <p:nvGrpSpPr>
          <p:cNvPr id="60" name="c2-table-2"/>
          <p:cNvGrpSpPr/>
          <p:nvPr/>
        </p:nvGrpSpPr>
        <p:grpSpPr>
          <a:xfrm>
            <a:off x="6464618" y="3493770"/>
            <a:ext cx="5193982" cy="1795462"/>
            <a:chOff x="6464618" y="3493770"/>
            <a:chExt cx="5193982" cy="1795462"/>
          </a:xfrm>
        </p:grpSpPr>
        <p:sp>
          <p:nvSpPr>
            <p:cNvPr id="40" name="Rectangle 40"/>
            <p:cNvSpPr/>
            <p:nvPr/>
          </p:nvSpPr>
          <p:spPr>
            <a:xfrm>
              <a:off x="6464618" y="3493770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71170" y="362854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74697" y="36285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69880" y="362854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能不能参与训练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72441" y="407717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15441" y="407717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调整模型参数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08133" y="407717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43862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64618" y="439102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72441" y="452675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15441" y="452675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选超参数、决定何时停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208133" y="452675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不直接调参数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48348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72441" y="497538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15441" y="497538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最终评估泛化能力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109835" y="4849178"/>
              <a:ext cx="153924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208133" y="497538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64618" y="3493770"/>
              <a:ext cx="519398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602855" y="349377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095548" y="349377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1" name="Rectangle 6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130" y="5991225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常见错误：用测试集反复挑模型。挑的次数多了，测试集实际上已经参与了训练，分数会偏高。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398264" cy="3351847"/>
            <a:chOff x="667512" y="1835468"/>
            <a:chExt cx="439826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机器学习算法的类型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8150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按“有没有标签、标签从哪来”分成五类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779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按输出集合 Y 判断任务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监督学习：分类与回归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两道完整例题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无监督、半监督、自监督、强化学习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42124" cy="909257"/>
            <a:chOff x="520446" y="342900"/>
            <a:chExt cx="58421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机器学习算法的类型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421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看一眼输出集合 Y，就知道是哪类任务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table-1"/>
          <p:cNvGrpSpPr/>
          <p:nvPr/>
        </p:nvGrpSpPr>
        <p:grpSpPr>
          <a:xfrm>
            <a:off x="533400" y="1524000"/>
            <a:ext cx="5626418" cy="4276725"/>
            <a:chOff x="533400" y="1524000"/>
            <a:chExt cx="5626418" cy="42767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481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1292" y="1651635"/>
              <a:ext cx="9120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输出集合 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51010" y="1651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任务类型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02517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举例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2270" y="2216468"/>
              <a:ext cx="467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≠ ∅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230755" y="1978342"/>
              <a:ext cx="1781175" cy="6657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20100" y="2096452"/>
              <a:ext cx="13853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监督学习或半监督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20324" y="2216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有标签就属于这一支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6489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653665"/>
              <a:ext cx="5626418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2270" y="2781300"/>
              <a:ext cx="467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20100" y="27813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20324" y="27813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由面积预测房价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092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2270" y="3226118"/>
              <a:ext cx="12033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Rᴷ, K &gt;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20100" y="32261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多变量回归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20324" y="32261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同时预测房价和租金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5375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542348"/>
              <a:ext cx="5626418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2270" y="3670935"/>
              <a:ext cx="971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{0, 1}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20100" y="367093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20324" y="367093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判断邮件是否垃圾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9824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2270" y="4234815"/>
              <a:ext cx="1253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{1, …, K}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320100" y="4114800"/>
              <a:ext cx="12138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多分类（整数编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20324" y="4234815"/>
              <a:ext cx="18235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手写数字识别，K = 10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6672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672012"/>
              <a:ext cx="5626418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2270" y="4799648"/>
              <a:ext cx="1264872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{0,1}^K, K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20100" y="491966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多标签分类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20324" y="4799648"/>
              <a:ext cx="174536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一张照片同时标“海滩”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“日落”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3520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2270" y="5484495"/>
              <a:ext cx="467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∅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230755" y="5366385"/>
              <a:ext cx="1781175" cy="42576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320100" y="548449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无监督学习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120324" y="548449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用户分群、降维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524000"/>
              <a:ext cx="5626418" cy="42767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2216468" y="1524000"/>
              <a:ext cx="9525" cy="42767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016692" y="1524000"/>
              <a:ext cx="9525" cy="42767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1"/>
          <p:cNvGrpSpPr/>
          <p:nvPr/>
        </p:nvGrpSpPr>
        <p:grpSpPr>
          <a:xfrm>
            <a:off x="6464618" y="1524000"/>
            <a:ext cx="5193982" cy="2257425"/>
            <a:chOff x="6464618" y="1524000"/>
            <a:chExt cx="5193982" cy="2257425"/>
          </a:xfrm>
        </p:grpSpPr>
        <p:sp>
          <p:nvSpPr>
            <p:cNvPr id="47" name="Rectangle 47"/>
            <p:cNvSpPr/>
            <p:nvPr/>
          </p:nvSpPr>
          <p:spPr>
            <a:xfrm>
              <a:off x="6464618" y="1524000"/>
              <a:ext cx="5193982" cy="2257425"/>
            </a:xfrm>
            <a:prstGeom prst="roundRect">
              <a:avLst>
                <a:gd name="adj" fmla="val 5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4142" y="1657350"/>
              <a:ext cx="47625" cy="19907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95122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86562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78814" y="175641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多分类与多标签不是一回事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703695" y="214693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59714" y="2090738"/>
              <a:ext cx="42742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多分类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：K 个类别互斥，每个样本恰好属于其中一个，输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出一个整数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703695" y="270605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59714" y="2649855"/>
              <a:ext cx="41027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多标签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：K 个标签互不排斥，每个样本可以同时带若干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个，输出一个 0/1 向量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89408" y="3205639"/>
              <a:ext cx="45631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手写数字是多分类（一张图只能是一个数字）；给文章打主题标签是多标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签。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464618" y="3956685"/>
            <a:ext cx="5193982" cy="1466850"/>
            <a:chOff x="6464618" y="3956685"/>
            <a:chExt cx="5193982" cy="1466850"/>
          </a:xfrm>
        </p:grpSpPr>
        <p:sp>
          <p:nvSpPr>
            <p:cNvPr id="58" name="Rectangle 58"/>
            <p:cNvSpPr/>
            <p:nvPr/>
          </p:nvSpPr>
          <p:spPr>
            <a:xfrm>
              <a:off x="6464618" y="3956685"/>
              <a:ext cx="5193982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74142" y="4090035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95122" y="414909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78562" y="418338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记忆办法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88264" y="4505325"/>
              <a:ext cx="452285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先看 Y 是不是空集，分出有监督和无监督；有监督再看 Y 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连续还是离散，分出回归和分类；离散再看是互斥还是可并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存，分出多分类和多标签。</a:t>
              </a:r>
            </a:p>
          </p:txBody>
        </p:sp>
      </p:grpSp>
      <p:grpSp>
        <p:nvGrpSpPr>
          <p:cNvPr id="70" name="c2-callout-3"/>
          <p:cNvGrpSpPr/>
          <p:nvPr/>
        </p:nvGrpSpPr>
        <p:grpSpPr>
          <a:xfrm>
            <a:off x="6464618" y="5597842"/>
            <a:ext cx="5193982" cy="729615"/>
            <a:chOff x="6464618" y="5597842"/>
            <a:chExt cx="5193982" cy="729615"/>
          </a:xfrm>
        </p:grpSpPr>
        <p:sp>
          <p:nvSpPr>
            <p:cNvPr id="64" name="Rectangle 64"/>
            <p:cNvSpPr/>
            <p:nvPr/>
          </p:nvSpPr>
          <p:spPr>
            <a:xfrm>
              <a:off x="6464618" y="5597842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669405" y="5862638"/>
              <a:ext cx="200026" cy="200026"/>
              <a:chOff x="6669405" y="5862638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669405" y="58626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769418" y="59293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758305" y="59626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972110" y="5744528"/>
              <a:ext cx="41542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半监督学习的 Y 只在一小部分样本上给出，其余样本的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缺失，所以仍记作 Y ≠ ∅。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机器学习算法的类型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监督学习：给了标签，照着标签学一个函数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01459" cy="264033"/>
            <a:chOff x="526542" y="1545907"/>
            <a:chExt cx="710145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从有标注的训练集学出一个函数，新数据到来时据此预测结果。常见任务是分类与回归。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4977765" cy="1160145"/>
            <a:chOff x="533400" y="1928812"/>
            <a:chExt cx="4977765" cy="116014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97776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8450" y="2149316"/>
              <a:ext cx="24662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监督学习 supervised learning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训练集里每个样本都配好了正确答案，学习的目标是让预测尽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量接近答案，并希望这种能力迁移到新样本上。</a:t>
              </a:r>
            </a:p>
          </p:txBody>
        </p:sp>
      </p:grpSp>
      <p:grpSp>
        <p:nvGrpSpPr>
          <p:cNvPr id="36" name="c1-compare-2"/>
          <p:cNvGrpSpPr/>
          <p:nvPr/>
        </p:nvGrpSpPr>
        <p:grpSpPr>
          <a:xfrm>
            <a:off x="533400" y="3253740"/>
            <a:ext cx="4977764" cy="2182178"/>
            <a:chOff x="533400" y="3253740"/>
            <a:chExt cx="4977764" cy="2182178"/>
          </a:xfrm>
        </p:grpSpPr>
        <p:sp>
          <p:nvSpPr>
            <p:cNvPr id="16" name="Rectangle 16"/>
            <p:cNvSpPr/>
            <p:nvPr/>
          </p:nvSpPr>
          <p:spPr>
            <a:xfrm>
              <a:off x="533400" y="3253740"/>
              <a:ext cx="2260282" cy="2182178"/>
            </a:xfrm>
            <a:prstGeom prst="roundRect">
              <a:avLst>
                <a:gd name="adj" fmla="val 61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387090"/>
              <a:ext cx="47625" cy="191547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5998" y="3456146"/>
              <a:ext cx="16292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 Classification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2000" y="380904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17448" y="3757136"/>
              <a:ext cx="15003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is discrete，输出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类别标签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2000" y="433768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7448" y="4284821"/>
              <a:ext cx="1475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学到的是一条决策边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2000" y="486537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7448" y="4812506"/>
              <a:ext cx="1475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度量：准确率、查全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250882" y="3253740"/>
              <a:ext cx="2260282" cy="2182178"/>
            </a:xfrm>
            <a:prstGeom prst="roundRect">
              <a:avLst>
                <a:gd name="adj" fmla="val 61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260408" y="3387090"/>
              <a:ext cx="47625" cy="191547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463480" y="3456146"/>
              <a:ext cx="13674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回归 Regression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3479482" y="380904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34930" y="3757136"/>
              <a:ext cx="1516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is continuous，输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出实数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479482" y="433768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634930" y="4284821"/>
              <a:ext cx="1475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学到的是一条拟合曲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479482" y="486537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634930" y="4812506"/>
              <a:ext cx="17484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度量：MSE、MAE、R²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2841308" y="4163378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896362" y="428910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</p:grpSp>
      <p:grpSp>
        <p:nvGrpSpPr>
          <p:cNvPr id="39" name="c2-image-1"/>
          <p:cNvGrpSpPr/>
          <p:nvPr/>
        </p:nvGrpSpPr>
        <p:grpSpPr>
          <a:xfrm>
            <a:off x="5815965" y="1928812"/>
            <a:ext cx="5842635" cy="3579209"/>
            <a:chOff x="5815965" y="1928812"/>
            <a:chExt cx="5842635" cy="3579209"/>
          </a:xfrm>
        </p:grpSpPr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2"/>
            <a:srcRect l="0" t="12384" r="0" b="12385"/>
            <a:stretch>
              <a:fillRect/>
            </a:stretch>
          </p:blipFill>
          <p:spPr>
            <a:xfrm>
              <a:off x="5815965" y="1928812"/>
              <a:ext cx="5842635" cy="3296602"/>
            </a:xfrm>
            <a:prstGeom prst="roundRect">
              <a:avLst>
                <a:gd name="adj" fmla="val 4045"/>
              </a:avLst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5961850" y="5317331"/>
              <a:ext cx="55508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左边按约定的红绿箱子分放是监督学习，右边只按水果自身的大小和颜色堆成两堆是无监督学习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40" name="Rectangle 40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911215"/>
              <a:ext cx="200026" cy="200026"/>
              <a:chOff x="738188" y="5911215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911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7088" y="6011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1273" y="5805011"/>
              <a:ext cx="100022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标签从哪来决定了学习方式：人给的是监督，没有的是无监督，数据自己造的是自监督。更正：原课件回归页英文写作 Y is continue，应为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is continuous。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78422" cy="909257"/>
            <a:chOff x="520446" y="342900"/>
            <a:chExt cx="80784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机器学习算法的类型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784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例题一 分类：判断 (0.85, 98) 是年轻人还是老年人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118740" cy="264033"/>
            <a:chOff x="526542" y="1545907"/>
            <a:chExt cx="911874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1187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x₁ 是黑头发的比例，值域 (0, 1)；x₂ 是行走速度，值域 (0, 100) 米/分钟。y = 1 为年轻人，y = −1 为老年人。</a:t>
              </a:r>
            </a:p>
          </p:txBody>
        </p:sp>
      </p:grpSp>
      <p:grpSp>
        <p:nvGrpSpPr>
          <p:cNvPr id="25" name="c1-table-1"/>
          <p:cNvGrpSpPr/>
          <p:nvPr/>
        </p:nvGrpSpPr>
        <p:grpSpPr>
          <a:xfrm>
            <a:off x="528447" y="1928812"/>
            <a:ext cx="5415153" cy="1407509"/>
            <a:chOff x="528447" y="1928812"/>
            <a:chExt cx="5415153" cy="1407509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02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04015" y="2045970"/>
              <a:ext cx="1236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训练样本 (x₁, x₂)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14710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类中心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2118" y="2426970"/>
              <a:ext cx="8131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1 年轻人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18704" y="2426970"/>
              <a:ext cx="2286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99)、(0.9, 80)、(0.80, 100)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0204" y="2426970"/>
              <a:ext cx="10637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(0.900, 93.00)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1303" y="2808923"/>
              <a:ext cx="894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−1 老年人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18704" y="2808923"/>
              <a:ext cx="2286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(0.2, 30)、(0.5, 50)、(0.4, 30)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00204" y="2808923"/>
              <a:ext cx="10637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(0.367, 36.67)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1928812"/>
              <a:ext cx="5410200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719262" y="19288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315778" y="192881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8447" y="3145631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类中心取各分量的算术平均值</a:t>
              </a:r>
            </a:p>
          </p:txBody>
        </p:sp>
      </p:grpSp>
      <p:grpSp>
        <p:nvGrpSpPr>
          <p:cNvPr id="43" name="c1-steps-2"/>
          <p:cNvGrpSpPr/>
          <p:nvPr/>
        </p:nvGrpSpPr>
        <p:grpSpPr>
          <a:xfrm>
            <a:off x="533400" y="3472815"/>
            <a:ext cx="2622442" cy="2149412"/>
            <a:chOff x="533400" y="3472815"/>
            <a:chExt cx="2622442" cy="2149412"/>
          </a:xfrm>
        </p:grpSpPr>
        <p:sp>
          <p:nvSpPr>
            <p:cNvPr id="26" name="Rectangle 26"/>
            <p:cNvSpPr/>
            <p:nvPr/>
          </p:nvSpPr>
          <p:spPr>
            <a:xfrm>
              <a:off x="666750" y="361569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33400" y="347281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7024" y="35466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33400" y="40252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7024" y="4099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33400" y="457866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7024" y="46524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33400" y="513207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7024" y="52058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6023" y="350281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选模型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7166" y="375761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最近类中心分类器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6023" y="405622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到正类中心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7166" y="4311015"/>
              <a:ext cx="1742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d₊ = √(0.05² + 5²) = 5.00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6023" y="460962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到负类中心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7166" y="4863465"/>
              <a:ext cx="22086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d₋ = √(0.483² + 61.33²) = 61.34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6023" y="51620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7166" y="5416868"/>
              <a:ext cx="18340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d₊ &lt; d₋，判为 y = 1，年轻人</a:t>
              </a:r>
            </a:p>
          </p:txBody>
        </p:sp>
      </p:grpSp>
      <p:grpSp>
        <p:nvGrpSpPr>
          <p:cNvPr id="61" name="c2-graph-1"/>
          <p:cNvGrpSpPr/>
          <p:nvPr/>
        </p:nvGrpSpPr>
        <p:grpSpPr>
          <a:xfrm>
            <a:off x="6611302" y="2167414"/>
            <a:ext cx="4684395" cy="2948940"/>
            <a:chOff x="6611302" y="2167414"/>
            <a:chExt cx="4684395" cy="2948940"/>
          </a:xfrm>
        </p:grpSpPr>
        <p:sp>
          <p:nvSpPr>
            <p:cNvPr id="44" name="Freeform 44"/>
            <p:cNvSpPr/>
            <p:nvPr/>
          </p:nvSpPr>
          <p:spPr>
            <a:xfrm>
              <a:off x="6611302" y="3338512"/>
              <a:ext cx="4684395" cy="9525"/>
            </a:xfrm>
            <a:custGeom>
              <a:avLst/>
              <a:gdLst/>
              <a:ahLst/>
              <a:cxnLst/>
              <a:rect l="l" t="t" r="r" b="b"/>
              <a:pathLst>
                <a:path w="4684395" h="9525">
                  <a:moveTo>
                    <a:pt x="0" y="0"/>
                  </a:moveTo>
                  <a:lnTo>
                    <a:pt x="4684395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45" name="Freeform 45"/>
            <p:cNvSpPr/>
            <p:nvPr/>
          </p:nvSpPr>
          <p:spPr>
            <a:xfrm>
              <a:off x="8441055" y="2697480"/>
              <a:ext cx="2161222" cy="1249680"/>
            </a:xfrm>
            <a:custGeom>
              <a:avLst/>
              <a:gdLst/>
              <a:ahLst/>
              <a:cxnLst/>
              <a:rect l="l" t="t" r="r" b="b"/>
              <a:pathLst>
                <a:path w="2161222" h="1249680">
                  <a:moveTo>
                    <a:pt x="0" y="1249680"/>
                  </a:moveTo>
                  <a:lnTo>
                    <a:pt x="21612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6" name="Ellipse 46"/>
            <p:cNvSpPr/>
            <p:nvPr/>
          </p:nvSpPr>
          <p:spPr>
            <a:xfrm>
              <a:off x="11060430" y="246126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0627995" y="292036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0194608" y="242887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7598092" y="4101465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8896350" y="3642360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463915" y="4101465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10599420" y="2564130"/>
              <a:ext cx="171450" cy="17145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8272462" y="3909060"/>
              <a:ext cx="171450" cy="17145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10029825" y="2437448"/>
              <a:ext cx="228600" cy="2286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104378" y="249555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34264" y="2618423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c₊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58654" y="399573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54422" y="3053239"/>
              <a:ext cx="10016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判别边界 x₂ ≈ 64.8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12359" y="4954429"/>
              <a:ext cx="6994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x₁ 黑发比例 →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55911" y="2167414"/>
              <a:ext cx="6994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↑ x₂ 行走速度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2" name="Rectangle 6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1273" y="6039326"/>
              <a:ext cx="99296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注意量纲：x₂ 比 x₁ 大两个数量级，距离几乎全由 x₂ 决定，判别边界差不多是水平线 x₂ ≈ 64.8。建模前应先把各维特征归一化。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83257" cy="909257"/>
            <a:chOff x="520446" y="342900"/>
            <a:chExt cx="52832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机器学习算法的类型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832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例题二 回归：由房屋面积预测房价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954819" cy="278702"/>
            <a:chOff x="526161" y="1547336"/>
            <a:chExt cx="995481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9548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为房屋面积（m²），y 为房价（万元），共 13 组数据。选模型 y = ax + b，用最小二乘法定 a、b，再预测 x = 90。</a:t>
              </a:r>
            </a:p>
          </p:txBody>
        </p:sp>
      </p:grpSp>
      <p:grpSp>
        <p:nvGrpSpPr>
          <p:cNvPr id="59" name="c1-table-1"/>
          <p:cNvGrpSpPr/>
          <p:nvPr/>
        </p:nvGrpSpPr>
        <p:grpSpPr>
          <a:xfrm>
            <a:off x="528066" y="1941195"/>
            <a:ext cx="5090732" cy="2715196"/>
            <a:chOff x="528066" y="1941195"/>
            <a:chExt cx="5090732" cy="2715196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085398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16584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80501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19654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58806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97959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37111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7194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99649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80264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77954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58569" y="24712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56259" y="24712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4796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752725"/>
              <a:ext cx="508539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7194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99649" y="28770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80264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77954" y="28770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58569" y="28770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56259" y="28770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15372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5731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99649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538801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77954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17106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56259" y="328279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55949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3564255"/>
              <a:ext cx="508539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5731" y="36885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99649" y="36885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538801" y="36885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77954" y="36885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17106" y="36885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14796" y="36885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1100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396525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5731" y="409432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658186" y="409432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1300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621727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460880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300032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139185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1941195"/>
              <a:ext cx="5085398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393508" y="194119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2257425" y="194119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3071812" y="194119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935730" y="194119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750118" y="194119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28066" y="4451032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13，Σx = 2629，Σy = 6619，Σxy = 2235376，Σx² = 967851</a:t>
              </a:r>
            </a:p>
          </p:txBody>
        </p:sp>
      </p:grpSp>
      <p:grpSp>
        <p:nvGrpSpPr>
          <p:cNvPr id="64" name="c1-card-2"/>
          <p:cNvGrpSpPr/>
          <p:nvPr/>
        </p:nvGrpSpPr>
        <p:grpSpPr>
          <a:xfrm>
            <a:off x="533400" y="4790122"/>
            <a:ext cx="5085398" cy="1413510"/>
            <a:chOff x="533400" y="4790122"/>
            <a:chExt cx="5085398" cy="1413510"/>
          </a:xfrm>
        </p:grpSpPr>
        <p:sp>
          <p:nvSpPr>
            <p:cNvPr id="60" name="Rectangle 60"/>
            <p:cNvSpPr/>
            <p:nvPr/>
          </p:nvSpPr>
          <p:spPr>
            <a:xfrm>
              <a:off x="533400" y="4790122"/>
              <a:ext cx="5085398" cy="1413510"/>
            </a:xfrm>
            <a:prstGeom prst="roundRect">
              <a:avLst>
                <a:gd name="adj" fmla="val 943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25805" y="4982528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01243" y="501681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最小二乘公式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formula49"/>
                <p:cNvSpPr txBox="1">
                  <a:spLocks noGrp="1"/>
                </p:cNvSpPr>
                <p:nvPr/>
              </p:nvSpPr>
              <p:spPr>
                <a:xfrm>
                  <a:off x="725805" y="5316855"/>
                  <a:ext cx="4700588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n"/>
                                <m:supHide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n"/>
                                <m:supHide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nary>
                                  <m:naryPr>
                                    <m:chr m:val="∑"/>
                                    <m:limLoc m:val="undOvr"/>
                                    <m:grow m:val="off"/>
                                    <m:subHide m:val="on"/>
                                    <m:supHide m:val="on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nary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n"/>
                                <m:supHide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  <m:sup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grow m:val="off"/>
                                        <m:subHide m:val="on"/>
                                        <m:supHide m:val="on"/>
                                        <m:ctrlP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sSub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d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acc>
                          <m:accPr>
                            <m:chr m:val="̅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86" name="c2-steps-1"/>
          <p:cNvGrpSpPr/>
          <p:nvPr/>
        </p:nvGrpSpPr>
        <p:grpSpPr>
          <a:xfrm>
            <a:off x="5923598" y="1950720"/>
            <a:ext cx="4917891" cy="2867502"/>
            <a:chOff x="5923598" y="1950720"/>
            <a:chExt cx="4917891" cy="2867502"/>
          </a:xfrm>
        </p:grpSpPr>
        <p:sp>
          <p:nvSpPr>
            <p:cNvPr id="65" name="Rectangle 65"/>
            <p:cNvSpPr/>
            <p:nvPr/>
          </p:nvSpPr>
          <p:spPr>
            <a:xfrm>
              <a:off x="6056948" y="2093595"/>
              <a:ext cx="19050" cy="23479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5923598" y="195072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017221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5923598" y="253841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017221" y="2612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5923598" y="312515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017221" y="3198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5923598" y="371189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017221" y="37857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5923598" y="42986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017221" y="43724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335839" y="198310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算分子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336982" y="2250281"/>
              <a:ext cx="2778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 × 2235376 − 2629 × 6619 = 11658537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335839" y="256984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算分母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336982" y="2837021"/>
              <a:ext cx="2190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 × 967851 − 2629² = 5670422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335839" y="315658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得斜率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336982" y="3424714"/>
              <a:ext cx="3094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11658537 / 5670422 ≈ 2.0560 万元每 m²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335839" y="37433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得截距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336982" y="4011454"/>
              <a:ext cx="4504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x̄ ≈ 202.23，ȳ ≈ 509.15；b = 509.15 − 2.0560 × 202.23 ≈ 93.36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335839" y="43310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336982" y="4598194"/>
              <a:ext cx="2982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ŷ(90) = 2.0560 × 90 + 93.36 ≈ </a:t>
              </a: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278.4 万元</a:t>
              </a:r>
            </a:p>
          </p:txBody>
        </p:sp>
      </p:grpSp>
      <p:grpSp>
        <p:nvGrpSpPr>
          <p:cNvPr id="94" name="c2-card-2"/>
          <p:cNvGrpSpPr/>
          <p:nvPr/>
        </p:nvGrpSpPr>
        <p:grpSpPr>
          <a:xfrm>
            <a:off x="5923598" y="4987290"/>
            <a:ext cx="5735002" cy="1216342"/>
            <a:chOff x="5923598" y="4987290"/>
            <a:chExt cx="5735002" cy="1216342"/>
          </a:xfrm>
        </p:grpSpPr>
        <p:sp>
          <p:nvSpPr>
            <p:cNvPr id="87" name="Rectangle 87"/>
            <p:cNvSpPr/>
            <p:nvPr/>
          </p:nvSpPr>
          <p:spPr>
            <a:xfrm>
              <a:off x="5923598" y="4987290"/>
              <a:ext cx="5735002" cy="1216342"/>
            </a:xfrm>
            <a:prstGeom prst="roundRect">
              <a:avLst>
                <a:gd name="adj" fmla="val 10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5933122" y="5120640"/>
              <a:ext cx="47625" cy="9496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6154102" y="517969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229541" y="521398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拟合得有多好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6162675" y="559212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318694" y="5535930"/>
              <a:ext cx="4431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均方根误差 RMSE ≈ 33.0 万元，决定系数 R² ≈ 0.992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148388" y="5834539"/>
              <a:ext cx="27158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以上数值用 Python 的分数运算复核过。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5" name="TextBox 95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机器学习算法的类型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例题二续：图上看拟合，代码上看实现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graph-1"/>
          <p:cNvGrpSpPr/>
          <p:nvPr/>
        </p:nvGrpSpPr>
        <p:grpSpPr>
          <a:xfrm>
            <a:off x="847308" y="1748314"/>
            <a:ext cx="4797207" cy="3812095"/>
            <a:chOff x="847308" y="1748314"/>
            <a:chExt cx="4797207" cy="3812095"/>
          </a:xfrm>
        </p:grpSpPr>
        <p:sp>
          <p:nvSpPr>
            <p:cNvPr id="7" name="Freeform 7"/>
            <p:cNvSpPr/>
            <p:nvPr/>
          </p:nvSpPr>
          <p:spPr>
            <a:xfrm>
              <a:off x="1134428" y="2325052"/>
              <a:ext cx="4424362" cy="2674620"/>
            </a:xfrm>
            <a:custGeom>
              <a:avLst/>
              <a:gdLst/>
              <a:ahLst/>
              <a:cxnLst/>
              <a:rect l="l" t="t" r="r" b="b"/>
              <a:pathLst>
                <a:path w="4424362" h="2674620">
                  <a:moveTo>
                    <a:pt x="0" y="2674620"/>
                  </a:moveTo>
                  <a:lnTo>
                    <a:pt x="4424362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312545" y="485203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346835" y="480631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385888" y="476059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538288" y="474059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605915" y="468725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650682" y="464153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948815" y="447675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2100262" y="429958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2775585" y="376904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299460" y="346043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047172" y="319659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4801552" y="275653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549265" y="231648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685925" y="4529138"/>
              <a:ext cx="171450" cy="1714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06191" y="3962400"/>
              <a:ext cx="13315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 = 2.056x + 93.36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66539" y="5041106"/>
              <a:ext cx="12104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预测点 (90, 278.4)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79053" y="5369719"/>
              <a:ext cx="498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面积 x 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7308" y="1748314"/>
              <a:ext cx="4980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↑ 房价 y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6464618" y="1524000"/>
            <a:ext cx="5193982" cy="1871662"/>
            <a:chOff x="6464618" y="1524000"/>
            <a:chExt cx="5193982" cy="1871662"/>
          </a:xfrm>
        </p:grpSpPr>
        <p:sp>
          <p:nvSpPr>
            <p:cNvPr id="27" name="Rectangle 27"/>
            <p:cNvSpPr/>
            <p:nvPr/>
          </p:nvSpPr>
          <p:spPr>
            <a:xfrm>
              <a:off x="6464618" y="1524000"/>
              <a:ext cx="5193982" cy="1871662"/>
            </a:xfrm>
            <a:prstGeom prst="roundRect">
              <a:avLst>
                <a:gd name="adj" fmla="val 508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93015" y="1675924"/>
              <a:ext cx="20847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numpy 复核（与手算结果一致）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93167" y="1936337"/>
              <a:ext cx="3161233" cy="13783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numpy </a:t>
              </a:r>
              <a:r>
                <a:rPr lang="en-US" sz="94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as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np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= np.array([35, 40, 45, 65, 74, 80, 120,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140, 230, 300, 400, 500, 600])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y = np.array([150, 170, 190, 200, 224, 245, 320,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400, 640, 780, 900, 1100, 1300])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a, b = np.polyfit(x, y, 1)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print(a, b)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2.0560  93.3621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print(a * 90 + b)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278.40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464618" y="3580448"/>
            <a:ext cx="5193982" cy="2688908"/>
            <a:chOff x="6464618" y="3580448"/>
            <a:chExt cx="5193982" cy="2688908"/>
          </a:xfrm>
        </p:grpSpPr>
        <p:sp>
          <p:nvSpPr>
            <p:cNvPr id="31" name="Rectangle 31"/>
            <p:cNvSpPr/>
            <p:nvPr/>
          </p:nvSpPr>
          <p:spPr>
            <a:xfrm>
              <a:off x="6464618" y="3580448"/>
              <a:ext cx="5193982" cy="2688908"/>
            </a:xfrm>
            <a:prstGeom prst="roundRect">
              <a:avLst>
                <a:gd name="adj" fmla="val 49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4142" y="3713798"/>
              <a:ext cx="47625" cy="242220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06552" y="378428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97713" y="38200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714172" y="421767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70764" y="4158139"/>
              <a:ext cx="415328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外推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：训练面积在 35 到 600 之间，用这条直线预测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1500 m² 没有依据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714172" y="480917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70764" y="4749641"/>
              <a:ext cx="38950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单位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：a 的单位是万元每 m²，b 的单位是万元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714172" y="512921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70764" y="5069681"/>
              <a:ext cx="423443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顺序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：b 依赖 a，a 若四舍五入过早，b 的误差会被放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00456" y="5656898"/>
              <a:ext cx="44470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若改成由房价反推面积，要重新做一次回归，不能把 y = ax + b 直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接反解。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机器学习算法的类型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无监督学习：没有标签，只能从数据自身的结构下手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490662"/>
            <a:chOff x="533400" y="1524000"/>
            <a:chExt cx="5410200" cy="14906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90662"/>
            </a:xfrm>
            <a:prstGeom prst="roundRect">
              <a:avLst>
                <a:gd name="adj" fmla="val 89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2396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992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无监督学习 unsupervised learning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没有标注的训练数据集，需要根据样本间的统计规律对样本集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进行分析。常见任务是聚类和降维。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8190" y="2646521"/>
              <a:ext cx="2490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形式上就是 Y = ∅：只有 X，没有 y。</a:t>
              </a:r>
            </a:p>
          </p:txBody>
        </p:sp>
      </p:grpSp>
      <p:grpSp>
        <p:nvGrpSpPr>
          <p:cNvPr id="31" name="c1-compare-2"/>
          <p:cNvGrpSpPr/>
          <p:nvPr/>
        </p:nvGrpSpPr>
        <p:grpSpPr>
          <a:xfrm>
            <a:off x="533400" y="3189922"/>
            <a:ext cx="5410200" cy="2243138"/>
            <a:chOff x="533400" y="3189922"/>
            <a:chExt cx="5410200" cy="2243138"/>
          </a:xfrm>
        </p:grpSpPr>
        <p:sp>
          <p:nvSpPr>
            <p:cNvPr id="15" name="Rectangle 15"/>
            <p:cNvSpPr/>
            <p:nvPr/>
          </p:nvSpPr>
          <p:spPr>
            <a:xfrm>
              <a:off x="533400" y="3189922"/>
              <a:ext cx="2342198" cy="2243138"/>
            </a:xfrm>
            <a:prstGeom prst="roundRect">
              <a:avLst>
                <a:gd name="adj" fmla="val 59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323272"/>
              <a:ext cx="47625" cy="197643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7047" y="3404235"/>
              <a:ext cx="13942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聚类 Clustering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2478" y="378047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8497" y="3724275"/>
              <a:ext cx="158248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把相似的样本归到同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一组，组数 k 往往要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自己定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2478" y="459676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8497" y="4540568"/>
              <a:ext cx="15310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代表方法：k 均值、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层次聚类、DBSCAN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01402" y="3189922"/>
              <a:ext cx="2342198" cy="2243138"/>
            </a:xfrm>
            <a:prstGeom prst="roundRect">
              <a:avLst>
                <a:gd name="adj" fmla="val 59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610928" y="3323272"/>
              <a:ext cx="47625" cy="197643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25050" y="3404235"/>
              <a:ext cx="1652778" cy="495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22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降维 Dimensionality</a:t>
              </a:r>
              <a:br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Reduction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840480" y="401193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96500" y="3955732"/>
              <a:ext cx="1556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用更少的维度保留主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要信息，便于可视化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和去噪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840480" y="482822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996500" y="4772025"/>
              <a:ext cx="16682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代表方法：PCA、流形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学习、自编码器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2923222" y="3995738"/>
              <a:ext cx="630555" cy="63055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69692" y="425053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两大任务</a:t>
              </a:r>
            </a:p>
          </p:txBody>
        </p:sp>
      </p:grpSp>
      <p:grpSp>
        <p:nvGrpSpPr>
          <p:cNvPr id="38" name="c1-callout-3"/>
          <p:cNvGrpSpPr/>
          <p:nvPr/>
        </p:nvGrpSpPr>
        <p:grpSpPr>
          <a:xfrm>
            <a:off x="533400" y="5608320"/>
            <a:ext cx="5410200" cy="729615"/>
            <a:chOff x="533400" y="5608320"/>
            <a:chExt cx="5410200" cy="729615"/>
          </a:xfrm>
        </p:grpSpPr>
        <p:sp>
          <p:nvSpPr>
            <p:cNvPr id="32" name="Rectangle 32"/>
            <p:cNvSpPr/>
            <p:nvPr/>
          </p:nvSpPr>
          <p:spPr>
            <a:xfrm>
              <a:off x="533400" y="560832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872163"/>
              <a:ext cx="200026" cy="200026"/>
              <a:chOff x="738188" y="5872163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8721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59388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59721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892" y="5754052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聚类给出的组没有名字。要知道每一组代表什么，仍要由人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看几个代表样本再命名。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248400" y="1524000"/>
            <a:ext cx="5410200" cy="2045018"/>
            <a:chOff x="6248400" y="1524000"/>
            <a:chExt cx="5410200" cy="2045018"/>
          </a:xfrm>
        </p:grpSpPr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2045018"/>
            </a:xfrm>
            <a:prstGeom prst="roundRect">
              <a:avLst>
                <a:gd name="adj" fmla="val 6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1657350"/>
              <a:ext cx="47625" cy="17783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8905" y="171640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74346" y="17506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29247" y="175641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只给颜色、形状、大小，把物体分堆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72047" y="2090738"/>
              <a:ext cx="47507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 X 是每个物体的（颜色，形状，大小），没有任何 y。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87478" y="244887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43497" y="239268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算法按特征相近程度把物体聚成若干堆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87478" y="275177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43497" y="269557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同一堆里的物体彼此相像，不同堆之间差别明显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73190" y="2994184"/>
              <a:ext cx="468401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换一种距离度量或换一个 k，分出来的堆可能完全不同，所以聚类结果需要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人来判断是否合理。</a:t>
              </a:r>
            </a:p>
          </p:txBody>
        </p:sp>
      </p:grpSp>
      <p:grpSp>
        <p:nvGrpSpPr>
          <p:cNvPr id="76" name="c2-table-2"/>
          <p:cNvGrpSpPr/>
          <p:nvPr/>
        </p:nvGrpSpPr>
        <p:grpSpPr>
          <a:xfrm>
            <a:off x="6248400" y="3744278"/>
            <a:ext cx="5410200" cy="2228850"/>
            <a:chOff x="6248400" y="3744278"/>
            <a:chExt cx="5410200" cy="2228850"/>
          </a:xfrm>
        </p:grpSpPr>
        <p:sp>
          <p:nvSpPr>
            <p:cNvPr id="51" name="Rectangle 51"/>
            <p:cNvSpPr/>
            <p:nvPr/>
          </p:nvSpPr>
          <p:spPr>
            <a:xfrm>
              <a:off x="6248400" y="3744278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41516" y="38685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67141" y="38685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监督学习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48202" y="386857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无监督学习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48412" y="42743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训练数据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46670" y="4274344"/>
              <a:ext cx="818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(x, y) 成对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03118" y="4274344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x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45510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48400" y="455580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48412" y="46801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46670" y="468010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逼近已知的映射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703118" y="468010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发现未知的结构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49568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48412" y="51858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评价方式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646670" y="518588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与真实标签比对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703118" y="5085874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轮廓系数等内部指标，或人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工判断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55626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248400" y="5567362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348412" y="56916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标注成本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646670" y="569166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612630" y="5576888"/>
              <a:ext cx="203644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703118" y="569166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248400" y="3744278"/>
              <a:ext cx="5410200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541895" y="3744278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9598342" y="3744278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机器学习算法的类型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半监督学习：少量标注带动大量未标注数据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1574482"/>
            <a:chOff x="533400" y="1524000"/>
            <a:chExt cx="5193982" cy="15744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34692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半监督学习 semi-supervised learning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结合少量的标注训练数据和大量的未标注数据来进行学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9239" y="2707005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现实里标注昂贵而原始数据便宜，这是半监督学习存在的理由。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284220"/>
            <a:ext cx="5193982" cy="2386965"/>
            <a:chOff x="533400" y="3284220"/>
            <a:chExt cx="5193982" cy="2386965"/>
          </a:xfrm>
        </p:grpSpPr>
        <p:sp>
          <p:nvSpPr>
            <p:cNvPr id="15" name="Rectangle 15"/>
            <p:cNvSpPr/>
            <p:nvPr/>
          </p:nvSpPr>
          <p:spPr>
            <a:xfrm>
              <a:off x="533400" y="3284220"/>
              <a:ext cx="5193982" cy="2386965"/>
            </a:xfrm>
            <a:prstGeom prst="roundRect">
              <a:avLst>
                <a:gd name="adj" fmla="val 55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417570"/>
              <a:ext cx="47625" cy="21202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348805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8792" y="352377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两个基本假设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45386" y="352758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未标注数据为什么能帮上忙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5335" y="386715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3680" y="390653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6228" y="3879056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聚类假设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：处在相同聚类中的样本示例，有较大的可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能拥有相同的标记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75335" y="4458652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3680" y="449803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228" y="447055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流形假设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：处于一个很小的局部区域内的样本示例具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有相似的性质，因此它们的标记也应该相似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9239" y="5058728"/>
              <a:ext cx="4431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两个假设都不成立时，未标注数据不但没用，还可能把决策边界带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偏。</a:t>
              </a:r>
            </a:p>
          </p:txBody>
        </p:sp>
      </p:grpSp>
      <p:grpSp>
        <p:nvGrpSpPr>
          <p:cNvPr id="50" name="c2-graph-1"/>
          <p:cNvGrpSpPr/>
          <p:nvPr/>
        </p:nvGrpSpPr>
        <p:grpSpPr>
          <a:xfrm>
            <a:off x="6650355" y="1708309"/>
            <a:ext cx="4390073" cy="3301555"/>
            <a:chOff x="6650355" y="1708309"/>
            <a:chExt cx="4390073" cy="3301555"/>
          </a:xfrm>
        </p:grpSpPr>
        <p:sp>
          <p:nvSpPr>
            <p:cNvPr id="28" name="Freeform 28"/>
            <p:cNvSpPr/>
            <p:nvPr/>
          </p:nvSpPr>
          <p:spPr>
            <a:xfrm>
              <a:off x="8844915" y="2274570"/>
              <a:ext cx="9525" cy="1826895"/>
            </a:xfrm>
            <a:custGeom>
              <a:avLst/>
              <a:gdLst/>
              <a:ahLst/>
              <a:cxnLst/>
              <a:rect l="l" t="t" r="r" b="b"/>
              <a:pathLst>
                <a:path w="9525" h="1826895">
                  <a:moveTo>
                    <a:pt x="0" y="0"/>
                  </a:moveTo>
                  <a:lnTo>
                    <a:pt x="0" y="1826895"/>
                  </a:lnTo>
                </a:path>
              </a:pathLst>
            </a:custGeom>
            <a:noFill/>
            <a:ln w="17145">
              <a:solidFill>
                <a:srgbClr val="0E7C86"/>
              </a:solidFill>
              <a:custDash>
                <a:ds d="333333" sp="222222"/>
              </a:custDash>
            </a:ln>
          </p:spPr>
        </p:sp>
        <p:sp>
          <p:nvSpPr>
            <p:cNvPr id="29" name="Ellipse 29"/>
            <p:cNvSpPr/>
            <p:nvPr/>
          </p:nvSpPr>
          <p:spPr>
            <a:xfrm>
              <a:off x="7099935" y="262413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7550468" y="305847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762750" y="327564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7662862" y="247935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7212330" y="3709035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7887652" y="349281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650355" y="291369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9801225" y="262413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0250805" y="305847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9575482" y="327564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0363200" y="247935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9913620" y="3709035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0701338" y="342042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0926128" y="291369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259002" y="3064192"/>
              <a:ext cx="247650" cy="2476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0184130" y="3208972"/>
              <a:ext cx="247650" cy="2476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39780" y="3127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64908" y="327231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66637" y="1708309"/>
              <a:ext cx="13565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只有 2 个带标记的样本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14360" y="452961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大量灰点勾勒出两个聚类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80324" y="481917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边界落在中间的空隙里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1" name="Rectangle 5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511" y="6004084"/>
              <a:ext cx="86166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未标注数据不提供答案，只提供数据的分布形状；有了分布形状，很少的标记就足以定下边界的位置。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机器学习算法的类型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强化学习：没有标准答案，只有一个分数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226820"/>
            <a:chOff x="533400" y="1524000"/>
            <a:chExt cx="5410200" cy="1226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9542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强化学习 reinforcement learning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7714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一种计算性的学习方法。智能体（agent）在与复杂和不确定的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环境交互时，试图使其获得的奖励总量最大化。</a:t>
              </a:r>
            </a:p>
          </p:txBody>
        </p:sp>
      </p:grpSp>
      <p:grpSp>
        <p:nvGrpSpPr>
          <p:cNvPr id="27" name="c1-graph-2"/>
          <p:cNvGrpSpPr/>
          <p:nvPr/>
        </p:nvGrpSpPr>
        <p:grpSpPr>
          <a:xfrm>
            <a:off x="2241232" y="3178492"/>
            <a:ext cx="2058226" cy="2722912"/>
            <a:chOff x="2241232" y="3178492"/>
            <a:chExt cx="2058226" cy="2722912"/>
          </a:xfrm>
        </p:grpSpPr>
        <p:sp>
          <p:nvSpPr>
            <p:cNvPr id="14" name="Freeform 14"/>
            <p:cNvSpPr/>
            <p:nvPr/>
          </p:nvSpPr>
          <p:spPr>
            <a:xfrm>
              <a:off x="2635885" y="3647122"/>
              <a:ext cx="392112" cy="1164908"/>
            </a:xfrm>
            <a:custGeom>
              <a:avLst/>
              <a:gdLst/>
              <a:ahLst/>
              <a:cxnLst/>
              <a:rect l="l" t="t" r="r" b="b"/>
              <a:pathLst>
                <a:path w="392112" h="1164908">
                  <a:moveTo>
                    <a:pt x="392112" y="0"/>
                  </a:moveTo>
                  <a:cubicBezTo>
                    <a:pt x="21272" y="411480"/>
                    <a:pt x="0" y="799783"/>
                    <a:pt x="328295" y="116490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928938" y="4779645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99060" y="102870"/>
                  </a:moveTo>
                  <a:lnTo>
                    <a:pt x="0" y="63817"/>
                  </a:lnTo>
                  <a:lnTo>
                    <a:pt x="7048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449002" y="3717608"/>
              <a:ext cx="392112" cy="1164908"/>
            </a:xfrm>
            <a:custGeom>
              <a:avLst/>
              <a:gdLst/>
              <a:ahLst/>
              <a:cxnLst/>
              <a:rect l="l" t="t" r="r" b="b"/>
              <a:pathLst>
                <a:path w="392112" h="1164908">
                  <a:moveTo>
                    <a:pt x="0" y="1164908"/>
                  </a:moveTo>
                  <a:cubicBezTo>
                    <a:pt x="370840" y="752792"/>
                    <a:pt x="392112" y="364490"/>
                    <a:pt x="63817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449002" y="3647122"/>
              <a:ext cx="99060" cy="101918"/>
            </a:xfrm>
            <a:custGeom>
              <a:avLst/>
              <a:gdLst/>
              <a:ahLst/>
              <a:cxnLst/>
              <a:rect l="l" t="t" r="r" b="b"/>
              <a:pathLst>
                <a:path w="99060" h="101918">
                  <a:moveTo>
                    <a:pt x="0" y="0"/>
                  </a:moveTo>
                  <a:lnTo>
                    <a:pt x="99060" y="38100"/>
                  </a:lnTo>
                  <a:lnTo>
                    <a:pt x="28575" y="10191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371725" y="3178492"/>
              <a:ext cx="1733550" cy="467678"/>
            </a:xfrm>
            <a:prstGeom prst="roundRect">
              <a:avLst>
                <a:gd name="adj" fmla="val 2036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241232" y="4882515"/>
              <a:ext cx="1993582" cy="467678"/>
            </a:xfrm>
            <a:prstGeom prst="roundRect">
              <a:avLst>
                <a:gd name="adj" fmla="val 20367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792239" y="3347085"/>
              <a:ext cx="892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智能体 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21891" y="5051108"/>
              <a:ext cx="1233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 Environment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534602" y="4186238"/>
              <a:ext cx="43053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553071" y="4215289"/>
              <a:ext cx="3935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动作 Aₜ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168015" y="4186238"/>
              <a:ext cx="111728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154807" y="4215289"/>
              <a:ext cx="11446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状态 Sₜ₊₁、奖励 Rₜ₊₁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31203" y="5710714"/>
              <a:ext cx="16145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目标：最大化累计奖励 ΣRₜ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6248400" y="1524000"/>
            <a:ext cx="5410200" cy="2634615"/>
            <a:chOff x="6248400" y="1524000"/>
            <a:chExt cx="5410200" cy="2634615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8722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8617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监督学习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9596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强化学习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48412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学习方式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39038" y="20540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通过指导学习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558338" y="1939290"/>
              <a:ext cx="2090738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648825" y="20540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通过判别学习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48412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反馈内容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39038" y="24598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每个输入都给出正确答案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48825" y="24598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只给动作好坏的分数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8412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反馈时机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39038" y="28655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立即且逐样本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48825" y="286559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常常延迟，一局结束才结算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8412" y="32713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数据来源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39038" y="327136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事先准备好的固定数据集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48825" y="327136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智能体自己与环境交互产生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8412" y="37771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典型算法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39038" y="377713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逻辑回归、支持向量机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48825" y="3677126"/>
              <a:ext cx="154762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动态规划、Sarsa、Q 学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习、深度 Q 学习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1524000"/>
              <a:ext cx="5410200" cy="26346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434262" y="1524000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544050" y="1524000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rd-2"/>
          <p:cNvGrpSpPr/>
          <p:nvPr/>
        </p:nvGrpSpPr>
        <p:grpSpPr>
          <a:xfrm>
            <a:off x="6248400" y="4333875"/>
            <a:ext cx="5410200" cy="2000250"/>
            <a:chOff x="6248400" y="4333875"/>
            <a:chExt cx="5410200" cy="2000250"/>
          </a:xfrm>
        </p:grpSpPr>
        <p:sp>
          <p:nvSpPr>
            <p:cNvPr id="58" name="Rectangle 58"/>
            <p:cNvSpPr/>
            <p:nvPr/>
          </p:nvSpPr>
          <p:spPr>
            <a:xfrm>
              <a:off x="6248400" y="4333875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57925" y="4467225"/>
              <a:ext cx="47625" cy="17335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78905" y="452628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74346" y="45605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929247" y="456628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训练一个聊天智能体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487478" y="495585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43497" y="4899660"/>
              <a:ext cx="4230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监督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：直接告诉它见面该说“你好”，告别该说“再见”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487478" y="525875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43497" y="5202555"/>
              <a:ext cx="45057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强化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：它自己回一句，回“你好”得高分，回“我在吃饭”得低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分，靠分数慢慢调整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73190" y="5758339"/>
              <a:ext cx="455599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ChatGPT 的 RLHF 就是这个思路：先监督微调，再用人类打分训练奖励模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型，最后用强化学习优化。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机器学习算法的类型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自监督学习：标签由数据自己产生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1730692"/>
            <a:chOff x="533400" y="1524000"/>
            <a:chExt cx="5626418" cy="17306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730692"/>
            </a:xfrm>
            <a:prstGeom prst="roundRect">
              <a:avLst>
                <a:gd name="adj" fmla="val 7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6399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3090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自监督学习 self-supervised learning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标签不是人标的，而是从数据中共同出现的另一部分信息里自动导出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64128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58937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学到的是好的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数据表示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，可以迁移到下游任务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292703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287416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不需要人工标注，所以能吃下海量原始数据</a:t>
              </a:r>
            </a:p>
          </p:txBody>
        </p:sp>
      </p:grpSp>
      <p:grpSp>
        <p:nvGrpSpPr>
          <p:cNvPr id="38" name="c1-table-2"/>
          <p:cNvGrpSpPr/>
          <p:nvPr/>
        </p:nvGrpSpPr>
        <p:grpSpPr>
          <a:xfrm>
            <a:off x="533400" y="3419475"/>
            <a:ext cx="5626418" cy="1525905"/>
            <a:chOff x="533400" y="3419475"/>
            <a:chExt cx="5626418" cy="1525905"/>
          </a:xfrm>
        </p:grpSpPr>
        <p:sp>
          <p:nvSpPr>
            <p:cNvPr id="18" name="Rectangle 18"/>
            <p:cNvSpPr/>
            <p:nvPr/>
          </p:nvSpPr>
          <p:spPr>
            <a:xfrm>
              <a:off x="533400" y="3419475"/>
              <a:ext cx="5626418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62038" y="35366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90825" y="353663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监督信号从哪来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10937" y="353663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标签量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078" y="391763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监督学习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78724" y="391763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人工标注的类别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91456" y="391763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与样本数相同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1767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18147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429958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无监督学习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78724" y="429958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没有监督信号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91456" y="429958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55866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468058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自监督学习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893570" y="4572952"/>
              <a:ext cx="279463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78724" y="468058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数据自身的一部分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91456" y="468058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自动生成，无限量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419475"/>
              <a:ext cx="5626418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879282" y="3419475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692015" y="3419475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2-image-1"/>
          <p:cNvGrpSpPr/>
          <p:nvPr/>
        </p:nvGrpSpPr>
        <p:grpSpPr>
          <a:xfrm>
            <a:off x="6542654" y="1524000"/>
            <a:ext cx="5038862" cy="1820894"/>
            <a:chOff x="6542654" y="1524000"/>
            <a:chExt cx="5038862" cy="1820894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2"/>
            <a:srcRect l="8" t="0" r="7" b="0"/>
            <a:stretch>
              <a:fillRect/>
            </a:stretch>
          </p:blipFill>
          <p:spPr>
            <a:xfrm>
              <a:off x="8036242" y="1524000"/>
              <a:ext cx="2050732" cy="1538288"/>
            </a:xfrm>
            <a:prstGeom prst="roundRect">
              <a:avLst>
                <a:gd name="adj" fmla="val 8668"/>
              </a:avLst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6542654" y="3154204"/>
              <a:ext cx="50388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LeCun 的蛋糕比喻：蛋糕胚是自监督学习，糖衣是监督学习，顶上那颗樱桃是强化学习</a:t>
              </a:r>
            </a:p>
          </p:txBody>
        </p:sp>
      </p:grpSp>
      <p:grpSp>
        <p:nvGrpSpPr>
          <p:cNvPr id="49" name="c2-bullets-2"/>
          <p:cNvGrpSpPr/>
          <p:nvPr/>
        </p:nvGrpSpPr>
        <p:grpSpPr>
          <a:xfrm>
            <a:off x="6458141" y="3511391"/>
            <a:ext cx="2303526" cy="1011650"/>
            <a:chOff x="6458141" y="3511391"/>
            <a:chExt cx="2303526" cy="1011650"/>
          </a:xfrm>
        </p:grpSpPr>
        <p:sp>
          <p:nvSpPr>
            <p:cNvPr id="42" name="TextBox 42"/>
            <p:cNvSpPr txBox="1"/>
            <p:nvPr/>
          </p:nvSpPr>
          <p:spPr>
            <a:xfrm>
              <a:off x="6458141" y="351139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三个典型的自监督任务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74142" y="384714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30734" y="380904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遮住句子里的一个词，让模型猜它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74142" y="410146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30734" y="4063365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遮住图片的一块，让模型补全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74142" y="435578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30734" y="431768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打乱图块顺序，让模型还原排列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6464618" y="4646295"/>
            <a:ext cx="5193982" cy="937260"/>
            <a:chOff x="6464618" y="4646295"/>
            <a:chExt cx="5193982" cy="937260"/>
          </a:xfrm>
        </p:grpSpPr>
        <p:sp>
          <p:nvSpPr>
            <p:cNvPr id="50" name="Rectangle 50"/>
            <p:cNvSpPr/>
            <p:nvPr/>
          </p:nvSpPr>
          <p:spPr>
            <a:xfrm>
              <a:off x="6464618" y="4646295"/>
              <a:ext cx="5193982" cy="937260"/>
            </a:xfrm>
            <a:prstGeom prst="roundRect">
              <a:avLst>
                <a:gd name="adj" fmla="val 12195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669405" y="5014915"/>
              <a:ext cx="200023" cy="200023"/>
              <a:chOff x="6669405" y="5014915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669405" y="501491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802755" y="50815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972491" y="4791551"/>
              <a:ext cx="423951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比喻在说信息量：自监督的每个样本能产生大量预测目标，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监督学习只有一个标签，强化学习往往一整局才给一个分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6" name="Rectangle 5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1273" y="6039326"/>
              <a:ext cx="8913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原话出自 Yann LeCun：如果人工智能是一块蛋糕，蛋糕的大部分是自监督学习，糖衣是监督学习，樱桃是强化学习。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机器学习算法的类型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五类学习方式一览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table-1"/>
          <p:cNvGrpSpPr/>
          <p:nvPr/>
        </p:nvGrpSpPr>
        <p:grpSpPr>
          <a:xfrm>
            <a:off x="533400" y="1524000"/>
            <a:ext cx="11125200" cy="3573780"/>
            <a:chOff x="533400" y="1524000"/>
            <a:chExt cx="11125200" cy="35737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86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1414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25140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训练数据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73065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08595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45078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代表算法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42925" y="2002155"/>
              <a:ext cx="1538288" cy="70294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7604" y="225504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监督学习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94941" y="225504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全部带标签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42866" y="2255044"/>
              <a:ext cx="16259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逼近 X 到 Y 的映射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89838" y="225504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分类、回归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14878" y="2128361"/>
              <a:ext cx="18178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线性回归、逻辑回归、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SVM、神经网络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08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715578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04" y="285035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无监督学习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94941" y="285035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全部无标签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2866" y="285035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发现数据自身结构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89838" y="285035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聚类、降维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14878" y="2850356"/>
              <a:ext cx="22306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均值、PCA、自组织映射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1794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7604" y="33189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半监督学习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94941" y="3318986"/>
              <a:ext cx="21459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少量有标签 + 大量无标签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42866" y="331898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用分布形状帮助定边界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89838" y="33189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分类为主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14878" y="331898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自训练、图半监督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6490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653790"/>
              <a:ext cx="1112520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7604" y="391525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自监督学习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94941" y="3788569"/>
              <a:ext cx="199821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无人工标签，标签自动生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42866" y="391525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学到通用的数据表示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89838" y="391525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预训练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14878" y="3915251"/>
              <a:ext cx="1414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BERT、对比学习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371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4385310"/>
              <a:ext cx="1538288" cy="70294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7604" y="46372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强化学习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194941" y="463724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与环境交互产生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42866" y="463724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最大化累计奖励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89838" y="46372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序贯决策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14878" y="4510564"/>
              <a:ext cx="1962150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动态规划、Sarsa、Q 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习、深度 Q 学习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11125200" cy="35737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085975" y="1524000"/>
              <a:ext cx="9525" cy="35737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533900" y="1524000"/>
              <a:ext cx="9525" cy="35737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980872" y="1524000"/>
              <a:ext cx="9525" cy="35737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205912" y="1524000"/>
              <a:ext cx="9525" cy="35737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2" name="Rectangle 5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511" y="6004084"/>
              <a:ext cx="95724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判断题型的顺序：先看有没有标签，再看标签是人给的还是数据自己造的，最后看是不是一步一步做决策拿分数。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57622" cy="2997517"/>
            <a:chOff x="667512" y="1835468"/>
            <a:chExt cx="535762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数学基础、工具与资源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学到后面会反复用到的四块数学，以及动手要用的东西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微积分、线性代数、概率统计、最优化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编程语言与框架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数据集、竞赛、期刊会议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数学基础、工具与资源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四块数学基础，各自管什么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2552700" cy="2603182"/>
            <a:chOff x="533400" y="1524000"/>
            <a:chExt cx="2552700" cy="26031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552700" cy="2603182"/>
            </a:xfrm>
            <a:prstGeom prst="roundRect">
              <a:avLst>
                <a:gd name="adj" fmla="val 5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3648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593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微积分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导数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48126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420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280130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2740819"/>
              <a:ext cx="11483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Hessian 矩阵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2955" y="312134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546" y="306085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泰勒展开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2955" y="344138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9546" y="338089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凸函数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2955" y="3761423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9546" y="370093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极值判定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312920"/>
            <a:ext cx="2552700" cy="1338262"/>
            <a:chOff x="533400" y="4312920"/>
            <a:chExt cx="2552700" cy="1338262"/>
          </a:xfrm>
        </p:grpSpPr>
        <p:sp>
          <p:nvSpPr>
            <p:cNvPr id="24" name="Rectangle 24"/>
            <p:cNvSpPr/>
            <p:nvPr/>
          </p:nvSpPr>
          <p:spPr>
            <a:xfrm>
              <a:off x="533400" y="4312920"/>
              <a:ext cx="2552700" cy="1338262"/>
            </a:xfrm>
            <a:prstGeom prst="roundRect">
              <a:avLst>
                <a:gd name="adj" fmla="val 854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4882515"/>
              <a:ext cx="200026" cy="200025"/>
              <a:chOff x="738188" y="4882515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48825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7926" y="49269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2642" y="50380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511" y="4751546"/>
              <a:ext cx="163753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求梯度、判断驻点是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不是极小值时用。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3390900" y="1524000"/>
            <a:ext cx="2552700" cy="2923222"/>
            <a:chOff x="3390900" y="1524000"/>
            <a:chExt cx="2552700" cy="2923222"/>
          </a:xfrm>
        </p:grpSpPr>
        <p:sp>
          <p:nvSpPr>
            <p:cNvPr id="31" name="Rectangle 31"/>
            <p:cNvSpPr/>
            <p:nvPr/>
          </p:nvSpPr>
          <p:spPr>
            <a:xfrm>
              <a:off x="3390900" y="1524000"/>
              <a:ext cx="2552700" cy="2923222"/>
            </a:xfrm>
            <a:prstGeom prst="roundRect">
              <a:avLst>
                <a:gd name="adj" fmla="val 5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400425" y="1657350"/>
              <a:ext cx="47625" cy="265652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6328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7151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线性代数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3640455" y="21612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797046" y="210073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向量范数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3640455" y="248126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797046" y="242077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特征值和特征向量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3640455" y="280130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797046" y="274081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行列式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3640455" y="312134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797046" y="306085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奇异值分解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3640455" y="344138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797046" y="338089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正定矩阵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3640455" y="3761423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797046" y="370093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二次型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3640455" y="408146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797046" y="40209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逆矩阵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3390900" y="4632960"/>
            <a:ext cx="2552700" cy="1018222"/>
            <a:chOff x="3390900" y="4632960"/>
            <a:chExt cx="2552700" cy="1018222"/>
          </a:xfrm>
        </p:grpSpPr>
        <p:sp>
          <p:nvSpPr>
            <p:cNvPr id="50" name="Rectangle 50"/>
            <p:cNvSpPr/>
            <p:nvPr/>
          </p:nvSpPr>
          <p:spPr>
            <a:xfrm>
              <a:off x="3390900" y="4632960"/>
              <a:ext cx="255270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3595688" y="5042535"/>
              <a:ext cx="200026" cy="200025"/>
              <a:chOff x="3595688" y="5042535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3595688" y="50425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3635426" y="50869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3670142" y="51981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3898011" y="4911566"/>
              <a:ext cx="157441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第8章降维（PCA、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SVD）几乎全靠它。</a:t>
              </a:r>
            </a:p>
          </p:txBody>
        </p:sp>
      </p:grpSp>
      <p:grpSp>
        <p:nvGrpSpPr>
          <p:cNvPr id="71" name="c3-card-1"/>
          <p:cNvGrpSpPr/>
          <p:nvPr/>
        </p:nvGrpSpPr>
        <p:grpSpPr>
          <a:xfrm>
            <a:off x="6248400" y="1524000"/>
            <a:ext cx="2552700" cy="2283142"/>
            <a:chOff x="6248400" y="1524000"/>
            <a:chExt cx="2552700" cy="2283142"/>
          </a:xfrm>
        </p:grpSpPr>
        <p:sp>
          <p:nvSpPr>
            <p:cNvPr id="57" name="Rectangle 57"/>
            <p:cNvSpPr/>
            <p:nvPr/>
          </p:nvSpPr>
          <p:spPr>
            <a:xfrm>
              <a:off x="6248400" y="1524000"/>
              <a:ext cx="2552700" cy="2283142"/>
            </a:xfrm>
            <a:prstGeom prst="roundRect">
              <a:avLst>
                <a:gd name="adj" fmla="val 58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57925" y="1657350"/>
              <a:ext cx="47625" cy="201644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90335" y="17278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63792" y="17635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概率论与统计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497955" y="21612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54546" y="210073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贝叶斯公式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497955" y="248126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54546" y="2420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数学期望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497955" y="280130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54546" y="274081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主要分布函数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497955" y="312134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54546" y="306085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协方差矩阵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497955" y="344138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654546" y="338089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最大似然估计</a:t>
              </a:r>
            </a:p>
          </p:txBody>
        </p:sp>
      </p:grpSp>
      <p:grpSp>
        <p:nvGrpSpPr>
          <p:cNvPr id="78" name="c3-callout-2"/>
          <p:cNvGrpSpPr/>
          <p:nvPr/>
        </p:nvGrpSpPr>
        <p:grpSpPr>
          <a:xfrm>
            <a:off x="6248400" y="3992880"/>
            <a:ext cx="2552700" cy="1658302"/>
            <a:chOff x="6248400" y="3992880"/>
            <a:chExt cx="2552700" cy="1658302"/>
          </a:xfrm>
        </p:grpSpPr>
        <p:sp>
          <p:nvSpPr>
            <p:cNvPr id="72" name="Rectangle 72"/>
            <p:cNvSpPr/>
            <p:nvPr/>
          </p:nvSpPr>
          <p:spPr>
            <a:xfrm>
              <a:off x="6248400" y="3992880"/>
              <a:ext cx="2552700" cy="1658302"/>
            </a:xfrm>
            <a:prstGeom prst="roundRect">
              <a:avLst>
                <a:gd name="adj" fmla="val 689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6453188" y="4722495"/>
              <a:ext cx="200026" cy="200025"/>
              <a:chOff x="6453188" y="4722495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6453188" y="47224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492926" y="47669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527642" y="48780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6755511" y="4460081"/>
              <a:ext cx="176377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交叉熵、MLE、MAP、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隐马尔可夫模型的基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础。</a:t>
              </a:r>
            </a:p>
          </p:txBody>
        </p:sp>
      </p:grpSp>
      <p:grpSp>
        <p:nvGrpSpPr>
          <p:cNvPr id="97" name="c4-card-1"/>
          <p:cNvGrpSpPr/>
          <p:nvPr/>
        </p:nvGrpSpPr>
        <p:grpSpPr>
          <a:xfrm>
            <a:off x="9105900" y="1524000"/>
            <a:ext cx="2552700" cy="2923222"/>
            <a:chOff x="9105900" y="1524000"/>
            <a:chExt cx="2552700" cy="2923222"/>
          </a:xfrm>
        </p:grpSpPr>
        <p:sp>
          <p:nvSpPr>
            <p:cNvPr id="79" name="Rectangle 79"/>
            <p:cNvSpPr/>
            <p:nvPr/>
          </p:nvSpPr>
          <p:spPr>
            <a:xfrm>
              <a:off x="9105900" y="1524000"/>
              <a:ext cx="2552700" cy="2923222"/>
            </a:xfrm>
            <a:prstGeom prst="roundRect">
              <a:avLst>
                <a:gd name="adj" fmla="val 5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9115425" y="1657350"/>
              <a:ext cx="47625" cy="265652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9347835" y="1727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425242" y="1763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最优化方法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9355455" y="21612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512046" y="210073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凸优化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9355455" y="248126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512046" y="2420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梯度下降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9355455" y="280130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512046" y="274081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牛顿法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9355455" y="312134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512046" y="306085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拟牛顿法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9355455" y="344138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9512046" y="3380899"/>
              <a:ext cx="14927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Lagrange 乘子法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9355455" y="3761423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9512046" y="370093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二次规划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9355455" y="408146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9512046" y="402097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坐标下降法</a:t>
              </a:r>
            </a:p>
          </p:txBody>
        </p:sp>
      </p:grpSp>
      <p:grpSp>
        <p:nvGrpSpPr>
          <p:cNvPr id="104" name="c4-callout-2"/>
          <p:cNvGrpSpPr/>
          <p:nvPr/>
        </p:nvGrpSpPr>
        <p:grpSpPr>
          <a:xfrm>
            <a:off x="9105900" y="4632960"/>
            <a:ext cx="2552700" cy="1018222"/>
            <a:chOff x="9105900" y="4632960"/>
            <a:chExt cx="2552700" cy="1018222"/>
          </a:xfrm>
        </p:grpSpPr>
        <p:sp>
          <p:nvSpPr>
            <p:cNvPr id="98" name="Rectangle 98"/>
            <p:cNvSpPr/>
            <p:nvPr/>
          </p:nvSpPr>
          <p:spPr>
            <a:xfrm>
              <a:off x="9105900" y="4632960"/>
              <a:ext cx="255270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9310688" y="5042535"/>
              <a:ext cx="200026" cy="200025"/>
              <a:chOff x="9310688" y="5042535"/>
              <a:chExt cx="200026" cy="200025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9310688" y="50425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9350426" y="50869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9385142" y="51981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9613011" y="4780121"/>
              <a:ext cx="176377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第6章支持向量机用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Lagrange 乘子法和二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次规划。</a:t>
              </a:r>
            </a:p>
          </p:txBody>
        </p:sp>
      </p:grpSp>
      <p:grpSp>
        <p:nvGrpSpPr>
          <p:cNvPr id="11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105" name="Rectangle 10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9" name="Group 109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10" name="TextBox 110"/>
            <p:cNvSpPr txBox="1"/>
            <p:nvPr/>
          </p:nvSpPr>
          <p:spPr>
            <a:xfrm>
              <a:off x="1040511" y="6004084"/>
              <a:ext cx="87477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这四块在后面各章按需回顾：第2章补梯度与正规方程，第6章补 Lagrange 对偶，第8章补特征值分解。</a:t>
              </a:r>
            </a:p>
          </p:txBody>
        </p:sp>
      </p:grpSp>
      <p:grpSp>
        <p:nvGrpSpPr>
          <p:cNvPr id="11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2" name="TextBox 112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数学基础、工具与资源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动手用什么：语言、工具包与深度学习框架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5410200" cy="2280285"/>
            <a:chOff x="533400" y="1524000"/>
            <a:chExt cx="5410200" cy="22802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344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6406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8244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42925" y="1914525"/>
              <a:ext cx="954405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8078" y="2116455"/>
              <a:ext cx="505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Python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01533" y="21164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08376" y="2023110"/>
              <a:ext cx="269767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生态最全，scikit-learn 加深度学习框架能覆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盖全部课程内容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468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47364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590800"/>
              <a:ext cx="5595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MATLAB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01533" y="25908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教学与原型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08376" y="259080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矩阵运算和绘图方便，工具箱齐全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49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065145"/>
              <a:ext cx="535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Octave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01533" y="2971800"/>
              <a:ext cx="105079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MATLAB 的开源替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08376" y="306514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语法基本兼容，免费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4185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42328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354044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01533" y="354044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统计分析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08376" y="3540443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统计模型和可视化包丰富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5410200" cy="2280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2092" y="1524000"/>
              <a:ext cx="9525" cy="2280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908935" y="1524000"/>
              <a:ext cx="9525" cy="2280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1-card-2"/>
          <p:cNvGrpSpPr/>
          <p:nvPr/>
        </p:nvGrpSpPr>
        <p:grpSpPr>
          <a:xfrm>
            <a:off x="533400" y="3969068"/>
            <a:ext cx="5410200" cy="2223135"/>
            <a:chOff x="533400" y="3969068"/>
            <a:chExt cx="5410200" cy="2223135"/>
          </a:xfrm>
        </p:grpSpPr>
        <p:sp>
          <p:nvSpPr>
            <p:cNvPr id="33" name="Rectangle 33"/>
            <p:cNvSpPr/>
            <p:nvPr/>
          </p:nvSpPr>
          <p:spPr>
            <a:xfrm>
              <a:off x="533400" y="3969068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4102418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52475" y="4150042"/>
              <a:ext cx="2447925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3529" y="4182904"/>
              <a:ext cx="24058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TIOBE 编程语言排行榜（2024 年 8 月）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52475" y="4469130"/>
              <a:ext cx="501015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06792" y="45862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59330" y="45862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762375" y="45862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14912" y="45862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7328" y="49682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649158" y="4968240"/>
              <a:ext cx="4815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Python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656362" y="4968240"/>
              <a:ext cx="505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18.04%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08899" y="4968240"/>
              <a:ext cx="505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+4.71%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52475" y="5227320"/>
              <a:ext cx="501015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52475" y="5232082"/>
              <a:ext cx="501015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107328" y="53492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649158" y="5349240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656362" y="5349240"/>
              <a:ext cx="505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10.04%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908899" y="5349240"/>
              <a:ext cx="505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+0.59%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52475" y="5608320"/>
              <a:ext cx="501015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107328" y="57302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649158" y="573024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695233" y="5730240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9.17%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908899" y="5730240"/>
              <a:ext cx="505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−2.24%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52475" y="4469130"/>
              <a:ext cx="501015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549718" y="446913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3252788" y="446913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4555808" y="446913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c2-kv-1"/>
          <p:cNvGrpSpPr/>
          <p:nvPr/>
        </p:nvGrpSpPr>
        <p:grpSpPr>
          <a:xfrm>
            <a:off x="6241923" y="1545431"/>
            <a:ext cx="5416677" cy="2224849"/>
            <a:chOff x="6241923" y="1545431"/>
            <a:chExt cx="5416677" cy="2224849"/>
          </a:xfrm>
        </p:grpSpPr>
        <p:sp>
          <p:nvSpPr>
            <p:cNvPr id="62" name="TextBox 62"/>
            <p:cNvSpPr txBox="1"/>
            <p:nvPr/>
          </p:nvSpPr>
          <p:spPr>
            <a:xfrm>
              <a:off x="6241923" y="1545431"/>
              <a:ext cx="1071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scikit-learn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74470" y="1545431"/>
              <a:ext cx="3849370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Python 下的通用机器学习库，分类、回归、聚类、降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维都有现成实现，配有算法速查图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48400" y="20564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241923" y="2158841"/>
              <a:ext cx="720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PyTorch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574470" y="2158841"/>
              <a:ext cx="37518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研究领域占比最高的深度学习框架，动态图，调试方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便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26708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241923" y="2772251"/>
              <a:ext cx="10101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TensorFlow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74470" y="277225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工业部署成熟，生态完整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3044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241923" y="3146584"/>
              <a:ext cx="11270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PaddlePaddle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74470" y="314658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百度开源，中文文档齐全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248400" y="34185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241923" y="3520916"/>
              <a:ext cx="1097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JAX / MXNet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574470" y="3520916"/>
              <a:ext cx="33594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JAX 以函数式和自动微分见长，MXNet 轻量</a:t>
              </a:r>
            </a:p>
          </p:txBody>
        </p:sp>
      </p:grpSp>
      <p:grpSp>
        <p:nvGrpSpPr>
          <p:cNvPr id="83" name="c2-callout-2"/>
          <p:cNvGrpSpPr/>
          <p:nvPr/>
        </p:nvGrpSpPr>
        <p:grpSpPr>
          <a:xfrm>
            <a:off x="6248400" y="3884295"/>
            <a:ext cx="5410200" cy="702945"/>
            <a:chOff x="6248400" y="3884295"/>
            <a:chExt cx="5410200" cy="702945"/>
          </a:xfrm>
        </p:grpSpPr>
        <p:sp>
          <p:nvSpPr>
            <p:cNvPr id="77" name="Rectangle 77"/>
            <p:cNvSpPr/>
            <p:nvPr/>
          </p:nvSpPr>
          <p:spPr>
            <a:xfrm>
              <a:off x="6248400" y="3884295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6453188" y="4135755"/>
              <a:ext cx="200026" cy="200025"/>
              <a:chOff x="6453188" y="4135755"/>
              <a:chExt cx="200026" cy="20002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6453188" y="41357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492926" y="41802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527642" y="42913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6756273" y="4029551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本课程作业用 scikit-learn 就够；第4章以后的神经网络实验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建议用 PyTorch。</a:t>
              </a:r>
            </a:p>
          </p:txBody>
        </p:sp>
      </p:grpSp>
      <p:grpSp>
        <p:nvGrpSpPr>
          <p:cNvPr id="87" name="c2-code-3"/>
          <p:cNvGrpSpPr/>
          <p:nvPr/>
        </p:nvGrpSpPr>
        <p:grpSpPr>
          <a:xfrm>
            <a:off x="6248400" y="4752022"/>
            <a:ext cx="5410200" cy="1406842"/>
            <a:chOff x="6248400" y="4752022"/>
            <a:chExt cx="5410200" cy="1406842"/>
          </a:xfrm>
        </p:grpSpPr>
        <p:sp>
          <p:nvSpPr>
            <p:cNvPr id="84" name="Rectangle 84"/>
            <p:cNvSpPr/>
            <p:nvPr/>
          </p:nvSpPr>
          <p:spPr>
            <a:xfrm>
              <a:off x="6248400" y="4752022"/>
              <a:ext cx="5410200" cy="1406842"/>
            </a:xfrm>
            <a:prstGeom prst="roundRect">
              <a:avLst>
                <a:gd name="adj" fmla="val 677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376797" y="4903946"/>
              <a:ext cx="17853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scikit-learn 的通用五步模板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376988" y="5163026"/>
              <a:ext cx="2987929" cy="909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sklearn.model_selection </a:t>
              </a:r>
              <a:r>
                <a:rPr lang="en-US" sz="8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train_test_split</a:t>
              </a:r>
              <a:br/>
              <a:r>
                <a:rPr lang="en-US" sz="8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sklearn.linear_model </a:t>
              </a:r>
              <a:r>
                <a:rPr lang="en-US" sz="8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LinearRegression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Xtr, Xte, ytr, yte = train_test_split(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X, y, test_size=0.2, random_state=0)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model = LinearRegression().fit(Xtr, ytr)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print(model.score(Xte, yte))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在测试集上评分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数学基础、工具与资源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数据从哪来：公开数据集与竞赛平台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5626418" cy="2661285"/>
            <a:chOff x="533400" y="1524000"/>
            <a:chExt cx="5626418" cy="26612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584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8694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8150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1060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UCI Repository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66328" y="2023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数据集仓库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91231" y="202311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经典的小规模数据集集合，课堂例题多出自这里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5626418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97455"/>
              <a:ext cx="4676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Kaggle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66328" y="249745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竞赛平台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91231" y="2404110"/>
              <a:ext cx="29443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企业和研究者发布数据，统计学者和数据挖掘专家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竞赛产生最好的模型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498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3065145"/>
              <a:ext cx="6654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ImageNet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66328" y="306514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图像数据库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91231" y="2971800"/>
              <a:ext cx="289769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WordNet 层次组织，每个节点由成百上千张图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片描述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185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42328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540443"/>
              <a:ext cx="565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KDD Cup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66328" y="3540443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数据挖掘竞赛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91231" y="3540443"/>
              <a:ext cx="2855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ACM SIGKDD 主办，每年一个真实业务题目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995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92144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阿里天池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66328" y="392144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竞赛平台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91231" y="3921443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国内平台，含工业、医疗、交通等赛题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5626418" cy="2661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766888" y="1524000"/>
              <a:ext cx="9525" cy="2661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891790" y="1524000"/>
              <a:ext cx="9525" cy="2661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llout-2"/>
          <p:cNvGrpSpPr/>
          <p:nvPr/>
        </p:nvGrpSpPr>
        <p:grpSpPr>
          <a:xfrm>
            <a:off x="533400" y="4350068"/>
            <a:ext cx="5626418" cy="1824990"/>
            <a:chOff x="533400" y="4350068"/>
            <a:chExt cx="5626418" cy="1824990"/>
          </a:xfrm>
        </p:grpSpPr>
        <p:sp>
          <p:nvSpPr>
            <p:cNvPr id="36" name="Rectangle 36"/>
            <p:cNvSpPr/>
            <p:nvPr/>
          </p:nvSpPr>
          <p:spPr>
            <a:xfrm>
              <a:off x="533400" y="4350068"/>
              <a:ext cx="5626418" cy="1824990"/>
            </a:xfrm>
            <a:prstGeom prst="roundRect">
              <a:avLst>
                <a:gd name="adj" fmla="val 626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163503"/>
              <a:ext cx="200026" cy="200025"/>
              <a:chOff x="738188" y="5163503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1635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7926" y="52079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2642" y="53190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1273" y="5056346"/>
              <a:ext cx="45077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课程报告选题时，先去 Kaggle 或 UCI 找一个数据已经齐备的题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目，把精力放在建模和分析上。</a:t>
              </a:r>
            </a:p>
          </p:txBody>
        </p:sp>
      </p:grpSp>
      <p:grpSp>
        <p:nvGrpSpPr>
          <p:cNvPr id="68" name="c2-card-1"/>
          <p:cNvGrpSpPr/>
          <p:nvPr/>
        </p:nvGrpSpPr>
        <p:grpSpPr>
          <a:xfrm>
            <a:off x="6464618" y="1524000"/>
            <a:ext cx="5193982" cy="2857500"/>
            <a:chOff x="6464618" y="1524000"/>
            <a:chExt cx="5193982" cy="2857500"/>
          </a:xfrm>
        </p:grpSpPr>
        <p:sp>
          <p:nvSpPr>
            <p:cNvPr id="43" name="Rectangle 43"/>
            <p:cNvSpPr/>
            <p:nvPr/>
          </p:nvSpPr>
          <p:spPr>
            <a:xfrm>
              <a:off x="6464618" y="1524000"/>
              <a:ext cx="5193982" cy="2857500"/>
            </a:xfrm>
            <a:prstGeom prst="roundRect">
              <a:avLst>
                <a:gd name="adj" fmla="val 4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1657350"/>
              <a:ext cx="47625" cy="25908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83692" y="170497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80416" y="17378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25843" y="17445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两个最常见的入门数据集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683692" y="2040255"/>
              <a:ext cx="4793932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45440" y="215741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27658" y="21574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82075" y="21574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467975" y="21574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78371" y="2632710"/>
              <a:ext cx="735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Iris 鸢尾花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37538" y="26327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三分类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00504" y="2632710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 个样本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846374" y="2539365"/>
              <a:ext cx="13441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花萼长宽、花瓣长宽，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4 个实数特征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683692" y="2985135"/>
              <a:ext cx="479393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83692" y="2989898"/>
              <a:ext cx="4793932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78371" y="3200400"/>
              <a:ext cx="51473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Boston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Housing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737538" y="32937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回归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600504" y="3293745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506 个样本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846374" y="3107055"/>
              <a:ext cx="1437513" cy="578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犯罪率、房间数、生师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比等 13 个特征，预测房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价中位数 MEDV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683692" y="2040255"/>
              <a:ext cx="4793932" cy="170402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638098" y="2040255"/>
              <a:ext cx="9525" cy="17040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501062" y="2040255"/>
              <a:ext cx="9525" cy="17040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746932" y="2040255"/>
              <a:ext cx="9525" cy="17040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78359" y="3842385"/>
              <a:ext cx="451789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Iris 的三个类别是 Setosa、Versicolour、Virginica，由 Fisher 在 1936 年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整理。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6464618" y="4546282"/>
            <a:ext cx="5193982" cy="1629728"/>
            <a:chOff x="6464618" y="4546282"/>
            <a:chExt cx="5193982" cy="1629728"/>
          </a:xfrm>
        </p:grpSpPr>
        <p:sp>
          <p:nvSpPr>
            <p:cNvPr id="69" name="Rectangle 69"/>
            <p:cNvSpPr/>
            <p:nvPr/>
          </p:nvSpPr>
          <p:spPr>
            <a:xfrm>
              <a:off x="6464618" y="4546282"/>
              <a:ext cx="5193982" cy="1629728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474142" y="4679632"/>
              <a:ext cx="47625" cy="13630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683692" y="472725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761112" y="476011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手写数字识别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77216" y="5066824"/>
              <a:ext cx="415823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MNIST 与 LeNet-5 是卷积网络的起点，论文为 LeCun Y,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Bottou L, Bengio Y, et al. Gradient-based learning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applied to document recognition. Proceedings of the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IEEE, 1998, 86(11): 2278-2324。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数学基础、工具与资源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往哪里投、读什么：重要期刊与会议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table-1"/>
          <p:cNvGrpSpPr/>
          <p:nvPr/>
        </p:nvGrpSpPr>
        <p:grpSpPr>
          <a:xfrm>
            <a:off x="528447" y="1524000"/>
            <a:ext cx="5415153" cy="3688746"/>
            <a:chOff x="528447" y="1524000"/>
            <a:chExt cx="5415153" cy="368874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773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期刊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9181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67870" y="1641157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CCF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10118" y="2023110"/>
              <a:ext cx="1488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Artificial Intelligence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56238" y="2023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97455"/>
              <a:ext cx="434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TPAMI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10118" y="2404110"/>
              <a:ext cx="285769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IEEE Trans. on Pattern Analysis and Machine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Intelligence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56238" y="249745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49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971800"/>
              <a:ext cx="3164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IJCV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10118" y="2971800"/>
              <a:ext cx="28127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International Journal of Computer Vision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56238" y="297180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31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3659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353752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JMLR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10118" y="3353752"/>
              <a:ext cx="26085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Journal of Machine Learning Research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56238" y="335375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612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73475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10118" y="3734752"/>
              <a:ext cx="11856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Machine Learning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56238" y="373475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938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98595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4210050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TKDE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10118" y="4116705"/>
              <a:ext cx="222427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IEEE Trans. on Knowledge and Data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Engineering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56238" y="421005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5624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468439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10118" y="4684395"/>
              <a:ext cx="13411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Neural Computation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56238" y="468439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5410200" cy="34242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610678" y="1524000"/>
              <a:ext cx="9525" cy="34242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856798" y="1524000"/>
              <a:ext cx="9525" cy="34242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8447" y="5022056"/>
              <a:ext cx="25244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CCF 列为中国计算机学会推荐目录中的分区</a:t>
              </a:r>
            </a:p>
          </p:txBody>
        </p:sp>
      </p:grpSp>
      <p:grpSp>
        <p:nvGrpSpPr>
          <p:cNvPr id="83" name="c2-table-1"/>
          <p:cNvGrpSpPr/>
          <p:nvPr/>
        </p:nvGrpSpPr>
        <p:grpSpPr>
          <a:xfrm>
            <a:off x="6248400" y="1524000"/>
            <a:ext cx="5410200" cy="4170998"/>
            <a:chOff x="6248400" y="1524000"/>
            <a:chExt cx="5410200" cy="4170998"/>
          </a:xfrm>
        </p:grpSpPr>
        <p:sp>
          <p:nvSpPr>
            <p:cNvPr id="46" name="Rectangle 46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4273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0681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982870" y="1641157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CCF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43079" y="2023110"/>
              <a:ext cx="3164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AAAI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25119" y="2023110"/>
              <a:ext cx="28457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AAAI Conference on Artificial Intelligence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71239" y="2023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48400" y="2286952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43079" y="2497455"/>
              <a:ext cx="5622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NeurIPS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25119" y="2404110"/>
              <a:ext cx="226428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Annual Conf. on Neural Information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Processing Systems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671239" y="249745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2849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43079" y="3065145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ACL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25119" y="2971800"/>
              <a:ext cx="215093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Annual Meeting of the Assoc. for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Computational Linguistics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71239" y="306514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34185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248400" y="3423285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43079" y="3633788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CVPR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25119" y="3540443"/>
              <a:ext cx="274434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IEEE Conf. on Computer Vision and Pattern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Recognition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671239" y="3633788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39862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43079" y="4201478"/>
              <a:ext cx="347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ICML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25119" y="4108132"/>
              <a:ext cx="237096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International Conference on Machine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Learning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671239" y="4201478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48400" y="45539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48400" y="4558665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343079" y="4770120"/>
              <a:ext cx="363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IJCAI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425119" y="4676775"/>
              <a:ext cx="283768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International Joint Conference on Artificial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Intelligence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671239" y="477012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248400" y="51225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343079" y="5337810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KDD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425119" y="5244465"/>
              <a:ext cx="285769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Intl. Conf. on Knowledge Discovery and Data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Mining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671239" y="53378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248400" y="1524000"/>
              <a:ext cx="5410200" cy="41709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7325678" y="1524000"/>
              <a:ext cx="9525" cy="4170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10571798" y="1524000"/>
              <a:ext cx="9525" cy="4170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4" name="Rectangle 8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1041273" y="6039326"/>
              <a:ext cx="8025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机器学习方向的新工作多数先出现在会议上，NeurIPS、ICML、ICLR 的论文一般能在 arXiv 上免费读到。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应用、发展与课程安排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机器学习现在能做到什么程度，以及这门课怎么考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典型任务的精度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里程碑时间线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技术生命周期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考核方式与课程目标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应用、发展与课程安排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深度学习在几个任务上已经超过人类水平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28066" y="1524000"/>
            <a:ext cx="5847969" cy="2778061"/>
            <a:chOff x="528066" y="1524000"/>
            <a:chExt cx="5847969" cy="277806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481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63002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00503" y="1651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早期方法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44480" y="1651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人类水平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46561" y="1651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深度学习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2270" y="2216468"/>
              <a:ext cx="1174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人脸识别 LFW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63939" y="2096452"/>
              <a:ext cx="61379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2013 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96.33%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89915" y="2216468"/>
              <a:ext cx="649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99.10%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47469" y="2216468"/>
              <a:ext cx="7388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&gt; 99.7%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489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53665"/>
              <a:ext cx="5842635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2270" y="2781300"/>
              <a:ext cx="10424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自然图像分类</a:t>
              </a:r>
              <a:br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ImageNet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63939" y="2781300"/>
              <a:ext cx="61379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2011 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74.8%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62610" y="2901315"/>
              <a:ext cx="504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95%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52422" y="2901315"/>
              <a:ext cx="528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&gt; 96%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327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2270" y="358616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语音识别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49627" y="3466148"/>
              <a:ext cx="10424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专业速记员错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误率 5.9%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57977" y="358616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03670" y="3586162"/>
              <a:ext cx="10264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错误率 &lt; 4%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5842635" cy="24984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165032" y="1524000"/>
              <a:ext cx="9525" cy="24984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567112" y="1524000"/>
              <a:ext cx="9525" cy="24984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852035" y="1524000"/>
              <a:ext cx="9525" cy="24984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8066" y="4096702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表中数字取自原课件，均为对应数据集上的公开报告值</a:t>
              </a:r>
            </a:p>
          </p:txBody>
        </p:sp>
      </p:grpSp>
      <p:grpSp>
        <p:nvGrpSpPr>
          <p:cNvPr id="44" name="c1-kv-2"/>
          <p:cNvGrpSpPr/>
          <p:nvPr/>
        </p:nvGrpSpPr>
        <p:grpSpPr>
          <a:xfrm>
            <a:off x="526542" y="4458652"/>
            <a:ext cx="5849493" cy="1710881"/>
            <a:chOff x="526542" y="4458652"/>
            <a:chExt cx="5849493" cy="1710881"/>
          </a:xfrm>
        </p:grpSpPr>
        <p:sp>
          <p:nvSpPr>
            <p:cNvPr id="33" name="TextBox 33"/>
            <p:cNvSpPr txBox="1"/>
            <p:nvPr/>
          </p:nvSpPr>
          <p:spPr>
            <a:xfrm>
              <a:off x="526542" y="445865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模式识别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88567" y="4458652"/>
              <a:ext cx="44714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同一个人不同照片判为同一类，测试图片不出现在训练数据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00062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6542" y="511016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图像生成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88567" y="5110162"/>
              <a:ext cx="46480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由文字描述生成图片，2023 年起的扩散模型已可用于创作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39877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6542" y="550830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视频生成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88567" y="5508308"/>
              <a:ext cx="28370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Sora 由一段文字提示生成连续视频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7969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6542" y="59055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强化学习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88567" y="59055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自动驾驶、双足机器人步态控制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6680835" y="1524000"/>
            <a:ext cx="4977765" cy="3163252"/>
            <a:chOff x="6680835" y="1524000"/>
            <a:chExt cx="4977765" cy="3163252"/>
          </a:xfrm>
        </p:grpSpPr>
        <p:sp>
          <p:nvSpPr>
            <p:cNvPr id="45" name="Rectangle 45"/>
            <p:cNvSpPr/>
            <p:nvPr/>
          </p:nvSpPr>
          <p:spPr>
            <a:xfrm>
              <a:off x="6680835" y="1524000"/>
              <a:ext cx="4977765" cy="3163252"/>
            </a:xfrm>
            <a:prstGeom prst="roundRect">
              <a:avLst>
                <a:gd name="adj" fmla="val 4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90360" y="1657350"/>
              <a:ext cx="47625" cy="28965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11340" y="171640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06781" y="17506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61682" y="175641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机器学习在其他学科里的样子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919912" y="214693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75932" y="2090738"/>
              <a:ext cx="416280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生物信息学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：从“数据”到“发现”，含数据获取、管理、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分析、模拟实验；常用神经网络、支持向量机、隐马尔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可夫模型、k 近邻、决策树、序列分析、聚类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919912" y="296322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75932" y="290703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网络安全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：入侵检测。历史数据是服务器日志与已知入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侵模式，对当前访问模式分类，是典型的预测型问题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919912" y="352329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75932" y="3467100"/>
              <a:ext cx="40770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搜索引擎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：PageRank 起家，此后排序模型全面机器学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习化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919912" y="408241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75932" y="4026218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数据挖掘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：数据库提供数据管理技术，机器学习提供数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据分析技术，两者交叉得到数据挖掘</a:t>
              </a:r>
            </a:p>
          </p:txBody>
        </p:sp>
      </p:grpSp>
      <p:grpSp>
        <p:nvGrpSpPr>
          <p:cNvPr id="65" name="c2-callout-2"/>
          <p:cNvGrpSpPr/>
          <p:nvPr/>
        </p:nvGrpSpPr>
        <p:grpSpPr>
          <a:xfrm>
            <a:off x="6680835" y="4862512"/>
            <a:ext cx="4977765" cy="1254442"/>
            <a:chOff x="6680835" y="4862512"/>
            <a:chExt cx="4977765" cy="1254442"/>
          </a:xfrm>
        </p:grpSpPr>
        <p:sp>
          <p:nvSpPr>
            <p:cNvPr id="59" name="Rectangle 59"/>
            <p:cNvSpPr/>
            <p:nvPr/>
          </p:nvSpPr>
          <p:spPr>
            <a:xfrm>
              <a:off x="6680835" y="4862512"/>
              <a:ext cx="4977765" cy="1254442"/>
            </a:xfrm>
            <a:prstGeom prst="roundRect">
              <a:avLst>
                <a:gd name="adj" fmla="val 911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885623" y="5389245"/>
              <a:ext cx="200026" cy="200026"/>
              <a:chOff x="6885623" y="5389245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885623" y="53892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985635" y="54559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974523" y="54892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7188327" y="5146358"/>
              <a:ext cx="406850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美国航空航天局 JPL 实验室的科学家在《Science》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（2001 年 9 月）撰文指出：机器学习对科学研究的整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个过程正起到越来越大的支持作用。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010947" cy="909257"/>
            <a:chOff x="520446" y="342900"/>
            <a:chExt cx="40109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应用、发展与课程安排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0109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大数据驱动的 AI 技术演化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flow-1"/>
          <p:cNvGrpSpPr/>
          <p:nvPr/>
        </p:nvGrpSpPr>
        <p:grpSpPr>
          <a:xfrm>
            <a:off x="689610" y="1789748"/>
            <a:ext cx="10813732" cy="578168"/>
            <a:chOff x="689610" y="1789748"/>
            <a:chExt cx="10813732" cy="578168"/>
          </a:xfrm>
        </p:grpSpPr>
        <p:sp>
          <p:nvSpPr>
            <p:cNvPr id="7" name="Freeform 7"/>
            <p:cNvSpPr/>
            <p:nvPr/>
          </p:nvSpPr>
          <p:spPr>
            <a:xfrm>
              <a:off x="2602230" y="207835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09875" y="2025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827270" y="207835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034915" y="2025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052310" y="207835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259955" y="2025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277350" y="207835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484995" y="2025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89610" y="1789748"/>
              <a:ext cx="1913572" cy="578168"/>
            </a:xfrm>
            <a:prstGeom prst="roundRect">
              <a:avLst>
                <a:gd name="adj" fmla="val 16474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914650" y="1789748"/>
              <a:ext cx="1913572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139690" y="1789748"/>
              <a:ext cx="1913572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64730" y="1789748"/>
              <a:ext cx="1913572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589770" y="1789748"/>
              <a:ext cx="1913572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302385" y="1903571"/>
              <a:ext cx="68707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AlphaGo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2016年3月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88309" y="1903571"/>
              <a:ext cx="765302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AlphaZero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2018年12月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52465" y="1903571"/>
              <a:ext cx="68707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AlphaStar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2019年1月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38389" y="1903571"/>
              <a:ext cx="765302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AlphaFold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2020年12月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63429" y="1903571"/>
              <a:ext cx="765302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AI guider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2021年12月</a:t>
              </a:r>
            </a:p>
          </p:txBody>
        </p:sp>
      </p:grpSp>
      <p:grpSp>
        <p:nvGrpSpPr>
          <p:cNvPr id="61" name="c1-table-2"/>
          <p:cNvGrpSpPr/>
          <p:nvPr/>
        </p:nvGrpSpPr>
        <p:grpSpPr>
          <a:xfrm>
            <a:off x="533400" y="2808922"/>
            <a:ext cx="11125200" cy="2840355"/>
            <a:chOff x="533400" y="2808922"/>
            <a:chExt cx="11125200" cy="2840355"/>
          </a:xfrm>
        </p:grpSpPr>
        <p:sp>
          <p:nvSpPr>
            <p:cNvPr id="26" name="Rectangle 26"/>
            <p:cNvSpPr/>
            <p:nvPr/>
          </p:nvSpPr>
          <p:spPr>
            <a:xfrm>
              <a:off x="533400" y="2808922"/>
              <a:ext cx="11125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66546" y="29332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03028" y="29332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75993" y="29332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意义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3412" y="3338989"/>
              <a:ext cx="890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2016 年 3 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13635" y="3338989"/>
              <a:ext cx="13628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AlphaGo 战胜李世石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06378" y="3338989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第一个用神经网络加树搜索掌握围棋的程序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6156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620452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3412" y="3744754"/>
              <a:ext cx="9778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2018 年 12 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13635" y="3744754"/>
              <a:ext cx="728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AlphaZero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06378" y="3744754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完全自我对弈，不用人类棋谱，兼通围棋、国际象棋、将棋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0214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3412" y="4150519"/>
              <a:ext cx="890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2019 年 1 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13635" y="4150519"/>
              <a:ext cx="728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AlphaStar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06378" y="4150519"/>
              <a:ext cx="36226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在《星际争霸 II》这类不完全信息博弈中达到职业水平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4272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431982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3412" y="4556284"/>
              <a:ext cx="9778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2020 年 12 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413635" y="4556284"/>
              <a:ext cx="6908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AlphaFold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06378" y="4556284"/>
              <a:ext cx="33466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CASP14 上把蛋白质结构预测精度提到实验水平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832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42925" y="4847272"/>
              <a:ext cx="176117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3412" y="4962049"/>
              <a:ext cx="9778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2022 年 11 月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413635" y="4962049"/>
              <a:ext cx="958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ChatGPT 发布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306378" y="4962049"/>
              <a:ext cx="2331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GPT 加人类反馈强化学习（RLHF）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52387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" y="5243512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42925" y="5253038"/>
              <a:ext cx="176117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3412" y="5367814"/>
              <a:ext cx="557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2024 年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413635" y="5367814"/>
              <a:ext cx="1307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Sora、AlphaFold 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306378" y="5367814"/>
              <a:ext cx="59391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当年诺贝尔物理学奖授予 Hopfield 与 Hinton，化学奖授予 Baker、Hassabis 与 Jumper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2808922"/>
              <a:ext cx="1112520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2308860" y="2808922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201602" y="2808922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2" name="Rectangle 6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892" y="6023610"/>
              <a:ext cx="83917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最后两行是本讲义按原课件作业要求补的 2022 年与 2024 年里程碑，原课件时间轴止于 2021 年 12 月。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应用、发展与课程安排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技术生命周期：现在学的东西处在曲线的哪一段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33400" y="1524000"/>
            <a:ext cx="6059805" cy="2653665"/>
            <a:chOff x="533400" y="1524000"/>
            <a:chExt cx="6059805" cy="2653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250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93214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技术定位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57194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曲线特征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44084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代表技术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116455"/>
              <a:ext cx="9883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萌芽 Emerging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39658" y="2116455"/>
              <a:ext cx="1065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Technology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12198" y="2023110"/>
              <a:ext cx="10774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投入大、产出几乎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看不见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66666" y="2023110"/>
              <a:ext cx="151085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Neuro ML、Strong ML、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Meta-learning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6888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73642"/>
              <a:ext cx="605980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684145"/>
              <a:ext cx="8626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成长 Growth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39658" y="2590800"/>
              <a:ext cx="71075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Pacing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Technology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12198" y="2590800"/>
              <a:ext cx="10774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性能随投入快速上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6666" y="2590800"/>
              <a:ext cx="144418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Auto-ML、SSL、Active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learning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3657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3251835"/>
              <a:ext cx="9883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成熟 Maturity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39658" y="3251835"/>
              <a:ext cx="10372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 Technology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12198" y="3158490"/>
              <a:ext cx="10774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上升变缓，成为竞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争关键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6666" y="3251835"/>
              <a:ext cx="14204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GNN、BERT、RL、GAN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6052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609975"/>
              <a:ext cx="605980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727132"/>
              <a:ext cx="74576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饱和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Saturation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39658" y="3727132"/>
              <a:ext cx="71075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Base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Technology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12198" y="3727132"/>
              <a:ext cx="10774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再投入也难有提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升，成为基础设施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481512" y="3619500"/>
              <a:ext cx="2102168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66666" y="3727132"/>
              <a:ext cx="117081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DNN、CNN、LSTM、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Autoencoder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6059805" cy="26536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740218" y="1524000"/>
              <a:ext cx="9525" cy="2653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012758" y="1524000"/>
              <a:ext cx="9525" cy="2653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467225" y="1524000"/>
              <a:ext cx="9525" cy="2653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1-graph-2"/>
          <p:cNvGrpSpPr/>
          <p:nvPr/>
        </p:nvGrpSpPr>
        <p:grpSpPr>
          <a:xfrm>
            <a:off x="1056322" y="4374356"/>
            <a:ext cx="5134928" cy="1980248"/>
            <a:chOff x="1056322" y="4374356"/>
            <a:chExt cx="5134928" cy="1980248"/>
          </a:xfrm>
        </p:grpSpPr>
        <p:sp>
          <p:nvSpPr>
            <p:cNvPr id="39" name="Freeform 39"/>
            <p:cNvSpPr/>
            <p:nvPr/>
          </p:nvSpPr>
          <p:spPr>
            <a:xfrm>
              <a:off x="1056322" y="4746308"/>
              <a:ext cx="5134928" cy="1291590"/>
            </a:xfrm>
            <a:custGeom>
              <a:avLst/>
              <a:gdLst/>
              <a:ahLst/>
              <a:cxnLst/>
              <a:rect l="l" t="t" r="r" b="b"/>
              <a:pathLst>
                <a:path w="5134928" h="1291590">
                  <a:moveTo>
                    <a:pt x="0" y="1291590"/>
                  </a:moveTo>
                  <a:lnTo>
                    <a:pt x="567690" y="1272540"/>
                  </a:lnTo>
                  <a:lnTo>
                    <a:pt x="1052512" y="1212532"/>
                  </a:lnTo>
                  <a:lnTo>
                    <a:pt x="1537335" y="1091565"/>
                  </a:lnTo>
                  <a:lnTo>
                    <a:pt x="2022157" y="868680"/>
                  </a:lnTo>
                  <a:lnTo>
                    <a:pt x="2506980" y="606742"/>
                  </a:lnTo>
                  <a:lnTo>
                    <a:pt x="2991802" y="323850"/>
                  </a:lnTo>
                  <a:lnTo>
                    <a:pt x="3476625" y="141923"/>
                  </a:lnTo>
                  <a:lnTo>
                    <a:pt x="3961448" y="40958"/>
                  </a:lnTo>
                  <a:lnTo>
                    <a:pt x="4688205" y="0"/>
                  </a:lnTo>
                  <a:lnTo>
                    <a:pt x="5134928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2350770" y="4676775"/>
              <a:ext cx="9525" cy="1311593"/>
            </a:xfrm>
            <a:custGeom>
              <a:avLst/>
              <a:gdLst/>
              <a:ahLst/>
              <a:cxnLst/>
              <a:rect l="l" t="t" r="r" b="b"/>
              <a:pathLst>
                <a:path w="9525" h="1311593">
                  <a:moveTo>
                    <a:pt x="0" y="0"/>
                  </a:moveTo>
                  <a:lnTo>
                    <a:pt x="0" y="1311593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1" name="Freeform 41"/>
            <p:cNvSpPr/>
            <p:nvPr/>
          </p:nvSpPr>
          <p:spPr>
            <a:xfrm>
              <a:off x="3684270" y="4676775"/>
              <a:ext cx="9525" cy="1311593"/>
            </a:xfrm>
            <a:custGeom>
              <a:avLst/>
              <a:gdLst/>
              <a:ahLst/>
              <a:cxnLst/>
              <a:rect l="l" t="t" r="r" b="b"/>
              <a:pathLst>
                <a:path w="9525" h="1311593">
                  <a:moveTo>
                    <a:pt x="0" y="0"/>
                  </a:moveTo>
                  <a:lnTo>
                    <a:pt x="0" y="1311593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2" name="Freeform 42"/>
            <p:cNvSpPr/>
            <p:nvPr/>
          </p:nvSpPr>
          <p:spPr>
            <a:xfrm>
              <a:off x="5138738" y="4676775"/>
              <a:ext cx="9525" cy="1311593"/>
            </a:xfrm>
            <a:custGeom>
              <a:avLst/>
              <a:gdLst/>
              <a:ahLst/>
              <a:cxnLst/>
              <a:rect l="l" t="t" r="r" b="b"/>
              <a:pathLst>
                <a:path w="9525" h="1311593">
                  <a:moveTo>
                    <a:pt x="0" y="0"/>
                  </a:moveTo>
                  <a:lnTo>
                    <a:pt x="0" y="1311593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569822" y="619267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萌芽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02369" y="619267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95877" y="619267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568417" y="619267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饱和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86357" y="4374356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↑ 性能 / 累计专利数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01427" y="5950744"/>
              <a:ext cx="7656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累计研发投入 →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6898005" y="1524000"/>
            <a:ext cx="4760595" cy="1957388"/>
            <a:chOff x="6898005" y="1524000"/>
            <a:chExt cx="4760595" cy="1957388"/>
          </a:xfrm>
        </p:grpSpPr>
        <p:sp>
          <p:nvSpPr>
            <p:cNvPr id="50" name="Rectangle 50"/>
            <p:cNvSpPr/>
            <p:nvPr/>
          </p:nvSpPr>
          <p:spPr>
            <a:xfrm>
              <a:off x="6898005" y="1524000"/>
              <a:ext cx="4760595" cy="1957388"/>
            </a:xfrm>
            <a:prstGeom prst="roundRect">
              <a:avLst>
                <a:gd name="adj" fmla="val 681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078980" y="170497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45198" y="17378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这张图对学习的提示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088505" y="209740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43953" y="2045494"/>
              <a:ext cx="39225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饱和段的技术（CNN、LSTM）资料最全，是入门和做作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业的首选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088505" y="262509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43953" y="2573179"/>
              <a:ext cx="40200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成熟段的技术（GNN、强化学习）是当前论文和竞赛的主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战场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088505" y="315372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43953" y="310086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萌芽段的方向变化快，先把基础打牢再跟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6898005" y="3646170"/>
            <a:ext cx="4760595" cy="1756410"/>
            <a:chOff x="6898005" y="3646170"/>
            <a:chExt cx="4760595" cy="1756410"/>
          </a:xfrm>
        </p:grpSpPr>
        <p:sp>
          <p:nvSpPr>
            <p:cNvPr id="60" name="Rectangle 60"/>
            <p:cNvSpPr/>
            <p:nvPr/>
          </p:nvSpPr>
          <p:spPr>
            <a:xfrm>
              <a:off x="6898005" y="3646170"/>
              <a:ext cx="4760595" cy="1756410"/>
            </a:xfrm>
            <a:prstGeom prst="roundRect">
              <a:avLst>
                <a:gd name="adj" fmla="val 75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907530" y="3779520"/>
              <a:ext cx="47625" cy="14897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117080" y="382714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194499" y="386000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新的研究方向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126605" y="421957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282053" y="41667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集成学习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126605" y="450437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282053" y="44515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强化学习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7126605" y="478917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282053" y="47372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迁移学习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126605" y="507396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282053" y="50220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深度学习</a:t>
              </a:r>
            </a:p>
          </p:txBody>
        </p:sp>
      </p:grpSp>
      <p:grpSp>
        <p:nvGrpSpPr>
          <p:cNvPr id="79" name="c2-callout-3"/>
          <p:cNvGrpSpPr/>
          <p:nvPr/>
        </p:nvGrpSpPr>
        <p:grpSpPr>
          <a:xfrm>
            <a:off x="6898005" y="5566410"/>
            <a:ext cx="4760595" cy="702945"/>
            <a:chOff x="6898005" y="5566410"/>
            <a:chExt cx="4760595" cy="702945"/>
          </a:xfrm>
        </p:grpSpPr>
        <p:sp>
          <p:nvSpPr>
            <p:cNvPr id="73" name="Rectangle 73"/>
            <p:cNvSpPr/>
            <p:nvPr/>
          </p:nvSpPr>
          <p:spPr>
            <a:xfrm>
              <a:off x="6898005" y="5566410"/>
              <a:ext cx="476059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102793" y="5817870"/>
              <a:ext cx="200026" cy="200025"/>
              <a:chOff x="7102793" y="5817870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102793" y="58178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142531" y="58623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177247" y="59734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7405878" y="5711666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应用无处不在：农业、能源、教育、政务、金融、医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疗、工业、媒体、零售、智能家居、电信。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 · 应用、发展与课程安排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这门课怎么学、怎么考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33400" y="1524000"/>
            <a:ext cx="5410200" cy="1899285"/>
            <a:chOff x="533400" y="1524000"/>
            <a:chExt cx="5410200" cy="18992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966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2599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2814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考试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949768" y="1914525"/>
              <a:ext cx="84677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34921" y="2023110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00744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闭卷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286952"/>
              <a:ext cx="5410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5908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小组报告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34921" y="2590800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00744" y="2404110"/>
              <a:ext cx="2697671" cy="578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至 5 人一组（B 版课件写 1 至 3 人），提交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报告（至少 8 页）与代码工程，需注明各成员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工作并答辩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0365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584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34921" y="3158490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00744" y="31584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平时表现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410200" cy="1899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935480" y="1524000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801302" y="1524000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1-table-2"/>
          <p:cNvGrpSpPr/>
          <p:nvPr/>
        </p:nvGrpSpPr>
        <p:grpSpPr>
          <a:xfrm>
            <a:off x="528447" y="3588068"/>
            <a:ext cx="5415153" cy="2551461"/>
            <a:chOff x="528447" y="3588068"/>
            <a:chExt cx="5415153" cy="2551461"/>
          </a:xfrm>
        </p:grpSpPr>
        <p:sp>
          <p:nvSpPr>
            <p:cNvPr id="28" name="Rectangle 28"/>
            <p:cNvSpPr/>
            <p:nvPr/>
          </p:nvSpPr>
          <p:spPr>
            <a:xfrm>
              <a:off x="533400" y="3588068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02601" y="37052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报告结构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34578" y="37052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37192" y="37052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报告评分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93970" y="37052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8078" y="40862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问题描述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42554" y="408622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08376" y="408622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纸质版报告质量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31436" y="4086225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3453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435006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8078" y="44681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问题分析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142554" y="44681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008376" y="44681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项目代码质量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31436" y="4468178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7272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8078" y="48491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问题建模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142554" y="48491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008376" y="48491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陈述及回答情况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31436" y="4849178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51082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3400" y="511302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8078" y="52301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模型求解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142554" y="52301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008376" y="52301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创新性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631436" y="5230178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54902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8078" y="561213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结果分析与讨论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142554" y="561213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008376" y="56121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631436" y="56121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3588068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2043112" y="358806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2908935" y="358806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4531995" y="358806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28447" y="5948839"/>
              <a:ext cx="24043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课程结束后一周内提交，无报告者记 0 分</a:t>
              </a:r>
            </a:p>
          </p:txBody>
        </p:sp>
      </p:grpSp>
      <p:grpSp>
        <p:nvGrpSpPr>
          <p:cNvPr id="80" name="c2-card-1"/>
          <p:cNvGrpSpPr/>
          <p:nvPr/>
        </p:nvGrpSpPr>
        <p:grpSpPr>
          <a:xfrm>
            <a:off x="6248400" y="1524000"/>
            <a:ext cx="5410200" cy="1756410"/>
            <a:chOff x="6248400" y="1524000"/>
            <a:chExt cx="5410200" cy="1756410"/>
          </a:xfrm>
        </p:grpSpPr>
        <p:sp>
          <p:nvSpPr>
            <p:cNvPr id="65" name="Rectangle 65"/>
            <p:cNvSpPr/>
            <p:nvPr/>
          </p:nvSpPr>
          <p:spPr>
            <a:xfrm>
              <a:off x="6248400" y="1524000"/>
              <a:ext cx="5410200" cy="1756410"/>
            </a:xfrm>
            <a:prstGeom prst="roundRect">
              <a:avLst>
                <a:gd name="adj" fmla="val 7592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29375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1394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课程目标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429375" y="2033588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481282" y="20692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99123" y="204549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了解机器学习算法的原理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429375" y="2319338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481282" y="235400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99123" y="233029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能够将具体问题转化成机器学习问题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429375" y="260413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481282" y="263975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99123" y="2615089"/>
              <a:ext cx="41250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掌握 Python、MATLAB 或 R 下基本算法的使用和调参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429375" y="2888932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481282" y="292455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699123" y="289988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针对不同的问题选择合适的算法</a:t>
              </a:r>
            </a:p>
          </p:txBody>
        </p:sp>
      </p:grpSp>
      <p:grpSp>
        <p:nvGrpSpPr>
          <p:cNvPr id="94" name="c2-bullets-2"/>
          <p:cNvGrpSpPr/>
          <p:nvPr/>
        </p:nvGrpSpPr>
        <p:grpSpPr>
          <a:xfrm>
            <a:off x="6241923" y="3465671"/>
            <a:ext cx="2518220" cy="1265968"/>
            <a:chOff x="6241923" y="3465671"/>
            <a:chExt cx="2518220" cy="1265968"/>
          </a:xfrm>
        </p:grpSpPr>
        <p:sp>
          <p:nvSpPr>
            <p:cNvPr id="81" name="TextBox 81"/>
            <p:cNvSpPr txBox="1"/>
            <p:nvPr/>
          </p:nvSpPr>
          <p:spPr>
            <a:xfrm>
              <a:off x="6241923" y="346567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能力从低到高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6248400" y="3754755"/>
              <a:ext cx="148590" cy="14859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290334" y="3783568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487859" y="37633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调库解决常规问题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6248400" y="4009072"/>
              <a:ext cx="148590" cy="14859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290334" y="403788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487859" y="4017645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把新问题拆成已有算法能处理的问题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6248400" y="4263390"/>
              <a:ext cx="148590" cy="14859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290334" y="429220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487859" y="427196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在已有框架上构建新算法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6248400" y="4517708"/>
              <a:ext cx="148590" cy="14859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290334" y="4546521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487859" y="452628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构建新理论</a:t>
              </a:r>
            </a:p>
          </p:txBody>
        </p:sp>
      </p:grpSp>
      <p:grpSp>
        <p:nvGrpSpPr>
          <p:cNvPr id="103" name="c2-card-3"/>
          <p:cNvGrpSpPr/>
          <p:nvPr/>
        </p:nvGrpSpPr>
        <p:grpSpPr>
          <a:xfrm>
            <a:off x="6248400" y="4854892"/>
            <a:ext cx="5410200" cy="1428750"/>
            <a:chOff x="6248400" y="4854892"/>
            <a:chExt cx="5410200" cy="1428750"/>
          </a:xfrm>
        </p:grpSpPr>
        <p:sp>
          <p:nvSpPr>
            <p:cNvPr id="95" name="Rectangle 95"/>
            <p:cNvSpPr/>
            <p:nvPr/>
          </p:nvSpPr>
          <p:spPr>
            <a:xfrm>
              <a:off x="6248400" y="4854892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6257925" y="4988242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6467475" y="503586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552044" y="506872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课后作业</a:t>
              </a:r>
            </a:p>
          </p:txBody>
        </p:sp>
        <p:sp>
          <p:nvSpPr>
            <p:cNvPr id="99" name="Ellipse 99"/>
            <p:cNvSpPr/>
            <p:nvPr/>
          </p:nvSpPr>
          <p:spPr>
            <a:xfrm>
              <a:off x="6477000" y="542829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632448" y="5376386"/>
              <a:ext cx="33731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用自己的话回答 What is Machine Learning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6477000" y="571309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632448" y="5661184"/>
              <a:ext cx="44345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动手试 TensorFlow Playground、PyTorch 入门教程、Caffe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Demos，每个实验截四张图上传</a:t>
              </a:r>
            </a:p>
          </p:txBody>
        </p:sp>
      </p:grpSp>
      <p:grpSp>
        <p:nvGrpSpPr>
          <p:cNvPr id="10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4" name="TextBox 104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自测题（一）概念与流程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467350" cy="293370"/>
            <a:chOff x="525780" y="1548765"/>
            <a:chExt cx="546735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先自己写出答案，再对照。带计算的题请把每一步都写出来。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54530"/>
            <a:ext cx="5410200" cy="1594485"/>
            <a:chOff x="533400" y="1954530"/>
            <a:chExt cx="5410200" cy="159448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37235" y="215836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4722" y="219408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9996" y="2531269"/>
              <a:ext cx="43444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E、T、P 描述“训练模型识别垃圾邮件”这件事。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9996" y="2851309"/>
              <a:ext cx="480250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是用户标记过的邮件；T 是判断新邮件是否垃圾；P 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在未参与训练的邮件上的准确率或误杀率。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34752"/>
            <a:ext cx="5410200" cy="1865948"/>
            <a:chOff x="533400" y="3734752"/>
            <a:chExt cx="5410200" cy="1865948"/>
          </a:xfrm>
        </p:grpSpPr>
        <p:sp>
          <p:nvSpPr>
            <p:cNvPr id="15" name="Rectangle 15"/>
            <p:cNvSpPr/>
            <p:nvPr/>
          </p:nvSpPr>
          <p:spPr>
            <a:xfrm>
              <a:off x="533400" y="3734752"/>
              <a:ext cx="5410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37235" y="3938588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4722" y="3974306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9996" y="4311491"/>
              <a:ext cx="457527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输出集合 Y = {0,1}^K（K &gt; 1）对应哪类任务？它与 Y =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{1,…,K} 有什么区别？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9996" y="4902994"/>
              <a:ext cx="46492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多标签分类。Y = {1,…,K} 是多分类，K 个类别互斥，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每个样本只属于一个；多标签的 K 个标签可以同时成立。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54530"/>
            <a:ext cx="5410200" cy="1865948"/>
            <a:chOff x="6248400" y="1954530"/>
            <a:chExt cx="5410200" cy="1865948"/>
          </a:xfrm>
        </p:grpSpPr>
        <p:sp>
          <p:nvSpPr>
            <p:cNvPr id="21" name="Rectangle 21"/>
            <p:cNvSpPr/>
            <p:nvPr/>
          </p:nvSpPr>
          <p:spPr>
            <a:xfrm>
              <a:off x="6248400" y="1954530"/>
              <a:ext cx="5410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52235" y="215836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39722" y="219408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44996" y="2531269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机器学习的基本流程分哪三步？每一步在决定什么？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44996" y="2851309"/>
              <a:ext cx="467626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步骤1 选模型，决定候选函数的范围；步骤2 定义目标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函数，决定怎样给候选函数打分；步骤3 求解，在范围内找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出打分最好的 f*。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4006215"/>
            <a:ext cx="5410200" cy="1594485"/>
            <a:chOff x="6248400" y="4006215"/>
            <a:chExt cx="5410200" cy="1594485"/>
          </a:xfrm>
        </p:grpSpPr>
        <p:sp>
          <p:nvSpPr>
            <p:cNvPr id="27" name="Rectangle 27"/>
            <p:cNvSpPr/>
            <p:nvPr/>
          </p:nvSpPr>
          <p:spPr>
            <a:xfrm>
              <a:off x="6248400" y="4006215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52235" y="42100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39722" y="42457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44996" y="4582954"/>
              <a:ext cx="35488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L₂ 正则项应该写成 ||Θ||₂² = λΣθᵢ² 吗？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44996" y="4902994"/>
              <a:ext cx="473938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不应该。范数本身不带系数：||Θ||₂² = Σθᵢ²，正则项是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λ||Θ||₂²，λ 写在范数外面。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3" name="Rectangle 3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511" y="6004084"/>
              <a:ext cx="4468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1 题答不上来时，回到第 6 页把三格重新填一遍。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自测题（二）例题与分类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111692"/>
            <a:chOff x="533400" y="1524000"/>
            <a:chExt cx="5410200" cy="21116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4281" y="2082641"/>
              <a:ext cx="478582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例题一中，如果先把 x₁、x₂ 都归一化到 [0,1] 再算距离，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结论会变吗？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4281" y="267223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本题不会变。归一化后测试点到正类中心的距离约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0.095，到负类中心约 1.064，仍判为年轻人。但一般情况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下归一化会改变结论，因为它取消了量纲带来的权重差异。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815715"/>
            <a:ext cx="5410200" cy="1840230"/>
            <a:chOff x="533400" y="3815715"/>
            <a:chExt cx="5410200" cy="1840230"/>
          </a:xfrm>
        </p:grpSpPr>
        <p:sp>
          <p:nvSpPr>
            <p:cNvPr id="13" name="Rectangle 13"/>
            <p:cNvSpPr/>
            <p:nvPr/>
          </p:nvSpPr>
          <p:spPr>
            <a:xfrm>
              <a:off x="533400" y="3815715"/>
              <a:ext cx="5410200" cy="1840230"/>
            </a:xfrm>
            <a:prstGeom prst="roundRect">
              <a:avLst>
                <a:gd name="adj" fmla="val 724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1520" y="401383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0468" y="404812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281" y="4374356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半监督学习靠哪两个假设让未标注数据发挥作用？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4281" y="469249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聚类假设：同一聚类中的样本很可能有相同标记。流形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假设：很小的局部区域内的样本性质相似，标记也应相似。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2111692"/>
            <a:chOff x="6248400" y="1524000"/>
            <a:chExt cx="5410200" cy="2111692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46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35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39281" y="2082641"/>
              <a:ext cx="462802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n = 13，Σx = 2629，Σy = 6619，Σxy = 2235376，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Σx² = 967851，求 a 和 b。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39281" y="2672239"/>
              <a:ext cx="454101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(13×2235376 − 2629×6619)/(13×967851 −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2629²) = 11658537/5670422 ≈ 2.0560；b = 6619/13 −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2.0560×2629/13 ≈ 93.36。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815715"/>
            <a:ext cx="5410200" cy="1840230"/>
            <a:chOff x="6248400" y="3815715"/>
            <a:chExt cx="5410200" cy="1840230"/>
          </a:xfrm>
        </p:grpSpPr>
        <p:sp>
          <p:nvSpPr>
            <p:cNvPr id="25" name="Rectangle 25"/>
            <p:cNvSpPr/>
            <p:nvPr/>
          </p:nvSpPr>
          <p:spPr>
            <a:xfrm>
              <a:off x="6248400" y="3815715"/>
              <a:ext cx="5410200" cy="1840230"/>
            </a:xfrm>
            <a:prstGeom prst="roundRect">
              <a:avLst>
                <a:gd name="adj" fmla="val 724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6520" y="401383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35468" y="404812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9281" y="4374356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强化学习与监督学习最本质的差别是什么？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9281" y="4692491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监督学习每个输入都给出正确答案，是通过指导学习；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强化学习只给动作好坏的分数，而且常常延迟结算，是通过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判别学习，数据还要智能体自己与环境交互产生。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1" name="Rectangle 3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511" y="6011704"/>
              <a:ext cx="74984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2 题是考试的常考题型：给出五个求和量，直接套最小二乘公式，注意先算 a 再算 b。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第1章 绪论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bullets-1"/>
          <p:cNvGrpSpPr/>
          <p:nvPr/>
        </p:nvGrpSpPr>
        <p:grpSpPr>
          <a:xfrm>
            <a:off x="533400" y="1533525"/>
            <a:ext cx="5509006" cy="2262473"/>
            <a:chOff x="533400" y="1533525"/>
            <a:chExt cx="5509006" cy="2262473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机器学习属于第四范式：以数据为媒介发现规律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2689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1837849"/>
              <a:ext cx="39459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Mitchell 的定义：性能 P 在任务 T 上随经验 E 提高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2026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131219"/>
              <a:ext cx="3846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机器学习 ≈ 在一个函数集合里找出最好的 f: X → Y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1363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424589"/>
              <a:ext cx="44313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三步流程：选模型、定目标函数 J(Θ)、用梯度下降求最优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06052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2717006"/>
              <a:ext cx="52392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看输出集合 Y 判断任务：连续是回归，离散互斥是多分类，离散可并存是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多标签，空集是无监督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242310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5307" y="327793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3148" y="32532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五类学习方式的分界在于标签的有无与来源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3535680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5307" y="35703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3148" y="354663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评价必须在没参与训练的数据上做，学习不是记忆</a:t>
              </a:r>
            </a:p>
          </p:txBody>
        </p:sp>
      </p:grpSp>
      <p:grpSp>
        <p:nvGrpSpPr>
          <p:cNvPr id="41" name="c1-card-2"/>
          <p:cNvGrpSpPr/>
          <p:nvPr/>
        </p:nvGrpSpPr>
        <p:grpSpPr>
          <a:xfrm>
            <a:off x="533400" y="3910012"/>
            <a:ext cx="5842635" cy="1756410"/>
            <a:chOff x="533400" y="3910012"/>
            <a:chExt cx="5842635" cy="1756410"/>
          </a:xfrm>
        </p:grpSpPr>
        <p:sp>
          <p:nvSpPr>
            <p:cNvPr id="29" name="Rectangle 29"/>
            <p:cNvSpPr/>
            <p:nvPr/>
          </p:nvSpPr>
          <p:spPr>
            <a:xfrm>
              <a:off x="533400" y="3910012"/>
              <a:ext cx="5842635" cy="1756410"/>
            </a:xfrm>
            <a:prstGeom prst="roundRect">
              <a:avLst>
                <a:gd name="adj" fmla="val 75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043362"/>
              <a:ext cx="47625" cy="14897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090988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4642" y="41238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48437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431506"/>
              <a:ext cx="3553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正则化公式：范数本身不含系数 λ（第 12 页）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476916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4716304"/>
              <a:ext cx="37521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学习率改用 η，与正则化系数 λ 区分（第 13 页）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62000" y="505396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7448" y="5001101"/>
              <a:ext cx="34419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“规则化”改用通行译名“正则化”（第 12 页）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62000" y="533876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17448" y="5286851"/>
              <a:ext cx="43267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回归页英文 Y is continue 应为 continuous（第 17 页）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6680835" y="1524000"/>
            <a:ext cx="4977765" cy="2287905"/>
            <a:chOff x="6680835" y="1524000"/>
            <a:chExt cx="4977765" cy="2287905"/>
          </a:xfrm>
        </p:grpSpPr>
        <p:sp>
          <p:nvSpPr>
            <p:cNvPr id="42" name="Rectangle 42"/>
            <p:cNvSpPr/>
            <p:nvPr/>
          </p:nvSpPr>
          <p:spPr>
            <a:xfrm>
              <a:off x="6680835" y="1524000"/>
              <a:ext cx="497776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8185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00057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75514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假设空间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69961" y="2023110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模型确定的候选函数集合，真实规律不在其中就学不到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680835" y="2282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80835" y="228695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75514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目标函数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69961" y="2404110"/>
              <a:ext cx="29283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损失项加正则项，训练时被最小化的那个 J(Θ)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80835" y="2663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75514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梯度下降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69961" y="2785110"/>
              <a:ext cx="3000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参数沿负梯度方向按学习率 η 更新，重复到收敛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680835" y="3045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680835" y="304990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75514" y="3167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过拟合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69961" y="316706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训练误差低而测试误差高，把噪声也学了进去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680835" y="3426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75514" y="3548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69961" y="354806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在没见过的数据上仍然做对，是唯一值得追求的指标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680835" y="1524000"/>
              <a:ext cx="497776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97052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rd-2"/>
          <p:cNvGrpSpPr/>
          <p:nvPr/>
        </p:nvGrpSpPr>
        <p:grpSpPr>
          <a:xfrm>
            <a:off x="6680835" y="3976688"/>
            <a:ext cx="4977765" cy="1689735"/>
            <a:chOff x="6680835" y="3976688"/>
            <a:chExt cx="4977765" cy="1689735"/>
          </a:xfrm>
        </p:grpSpPr>
        <p:sp>
          <p:nvSpPr>
            <p:cNvPr id="64" name="Rectangle 64"/>
            <p:cNvSpPr/>
            <p:nvPr/>
          </p:nvSpPr>
          <p:spPr>
            <a:xfrm>
              <a:off x="6680835" y="3976688"/>
              <a:ext cx="4977765" cy="1689735"/>
            </a:xfrm>
            <a:prstGeom prst="roundRect">
              <a:avLst>
                <a:gd name="adj" fmla="val 7892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861810" y="415766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950431" y="41905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855333" y="4498181"/>
              <a:ext cx="4402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第2章开始把这套流程落到具体模型上：线性回归用它做回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归，逻辑回归用它做分类，神经网络把假设空间扩大到非线性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函数族。每一章都可以对照本章的三步来读。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9" name="Rectangle 6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1273" y="6039326"/>
              <a:ext cx="6905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复习时先默写三步流程和五类学习方式的分界，再把两道例题重算一遍，中间步骤不许跳。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第1章 绪论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l_ch01">
  <a:themeElements>
    <a:clrScheme name="ml_ch0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l_ch0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l_ch0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2026-09-19T10:18:56Z</dcterms:created>
  <dcterms:modified xsi:type="dcterms:W3CDTF">2026-09-19T10:18:56Z</dcterms:modified>
  <cp:category/>
  <cp:contentStatus/>
</cp:coreProperties>
</file>