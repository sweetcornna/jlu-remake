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ad1b821b105c59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32d5d9fe1194b8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1bd87c4e3f9755.png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第七章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1689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没有标签时，怎样把样本分成若干组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相似度与性能度量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划分聚类与层次聚类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密度聚类与模型聚类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谱聚类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83290" cy="205359"/>
            <a:chOff x="680466" y="6192202"/>
            <a:chExt cx="498329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832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自学复习版｜据吉林大学《机器学习》A、B 两版第7章课件合并整理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簇划分、簇标记向量、六大类算法的分工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性能度量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2650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外部指标 JC/FMI/RI，内部指标 DBI/DI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距离与相似度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868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闵可夫斯基族、0-1 变量、余弦与相关系数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划分聚类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2919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K-means 的三步循环、初值敏感、K 怎么选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层次聚类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凝聚与分裂、五种联接准则、树状图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密度聚类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284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DBSCAN 的四种密度关系、密度最大值聚类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模型与谱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703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EM、高斯混合、AP 聚类、图的最优划分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能写出簇划分的形式化定义，并说清外部指标与内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部指标各自需要什么信息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68890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632710"/>
              <a:ext cx="3725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给定一组样本和初始中心，手算 K-means 直到收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敛，并算出 SSE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324897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3192780"/>
              <a:ext cx="36741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给定距离矩阵，分别用 single 与 complete 联接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做出凝聚过程和树状图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80809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3751898"/>
              <a:ext cx="37341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ε 与 MinPts，判定每个点是核心点、边界点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还是噪声点，并划出簇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436816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4311968"/>
              <a:ext cx="33827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k-means 与高斯混合模型的关系，以及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minCut 为什么要改成 RatioCut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聚类问题与性能度量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先说清要解决什么问题，再说清怎样判断解得好不好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聚类的形式化描述：簇划分与簇标记向量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聚类过程要回答的三个问题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六大类聚类算法各自的假设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867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外部指标 JC、FMI、RI 与内部指标 DBI、DI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聚类问题与性能度量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聚类：没有标签，只能靠相似度把样本分组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193667" cy="264033"/>
            <a:chOff x="526542" y="1545907"/>
            <a:chExt cx="41936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这是无监督学习里研究最多、用得最广的一类任务。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626418" cy="1403032"/>
            <a:chOff x="533400" y="1928812"/>
            <a:chExt cx="5626418" cy="14030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3165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 clustering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987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按某个标准（通常是距离）把数据集分割成若干个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通常不相交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集，每个子集叫一个簇（cluster）。目标是同一簇内的样本尽可能相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似，不同簇的样本尽可能不同。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496628"/>
            <a:ext cx="5626418" cy="1906905"/>
            <a:chOff x="533400" y="3496628"/>
            <a:chExt cx="5626418" cy="1906905"/>
          </a:xfrm>
        </p:grpSpPr>
        <p:sp>
          <p:nvSpPr>
            <p:cNvPr id="16" name="Rectangle 16"/>
            <p:cNvSpPr/>
            <p:nvPr/>
          </p:nvSpPr>
          <p:spPr>
            <a:xfrm>
              <a:off x="533400" y="3496628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164" y="361378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21293" y="36137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15852" y="36137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078" y="39957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6328" y="39957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有标记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59936" y="39957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无标记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548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5958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43767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要学什么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66328" y="4376738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x 到 y 的映射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59936" y="437673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数据自身的分组结构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358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4757738"/>
              <a:ext cx="799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簇/类的含义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66328" y="475773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事先定好、有名字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59936" y="475773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事后由人解释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0177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02253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51396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66328" y="513969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与真实标记比对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59936" y="513969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多数情况下无真值可比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496628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766888" y="34966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960495" y="34966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llout-3"/>
          <p:cNvGrpSpPr/>
          <p:nvPr/>
        </p:nvGrpSpPr>
        <p:grpSpPr>
          <a:xfrm>
            <a:off x="533400" y="5568315"/>
            <a:ext cx="5626418" cy="702945"/>
            <a:chOff x="533400" y="5568315"/>
            <a:chExt cx="5626418" cy="702945"/>
          </a:xfrm>
        </p:grpSpPr>
        <p:sp>
          <p:nvSpPr>
            <p:cNvPr id="41" name="Rectangle 41"/>
            <p:cNvSpPr/>
            <p:nvPr/>
          </p:nvSpPr>
          <p:spPr>
            <a:xfrm>
              <a:off x="533400" y="5568315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819775"/>
              <a:ext cx="200026" cy="200025"/>
              <a:chOff x="738188" y="581977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8197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8642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9753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571357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聚类可以独立使用（找数据里本来就有的结构），也可以当分类等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任务的前驱步骤（先分组，再给每组单独建模）。</a:t>
              </a:r>
            </a:p>
          </p:txBody>
        </p:sp>
      </p:grpSp>
      <p:grpSp>
        <p:nvGrpSpPr>
          <p:cNvPr id="58" name="c2-flow-1"/>
          <p:cNvGrpSpPr/>
          <p:nvPr/>
        </p:nvGrpSpPr>
        <p:grpSpPr>
          <a:xfrm>
            <a:off x="6597968" y="2503170"/>
            <a:ext cx="4927282" cy="551498"/>
            <a:chOff x="6597968" y="2503170"/>
            <a:chExt cx="4927282" cy="551498"/>
          </a:xfrm>
        </p:grpSpPr>
        <p:sp>
          <p:nvSpPr>
            <p:cNvPr id="48" name="Freeform 48"/>
            <p:cNvSpPr/>
            <p:nvPr/>
          </p:nvSpPr>
          <p:spPr>
            <a:xfrm>
              <a:off x="8062912" y="277844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224838" y="2726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793605" y="277844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955530" y="2726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97968" y="2503170"/>
              <a:ext cx="1464945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29612" y="2503170"/>
              <a:ext cx="1464945" cy="551498"/>
            </a:xfrm>
            <a:prstGeom prst="roundRect">
              <a:avLst>
                <a:gd name="adj" fmla="val 1727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60305" y="2503170"/>
              <a:ext cx="1464945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91731" y="2615565"/>
              <a:ext cx="6774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定义相似度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距离怎么算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46687" y="2615565"/>
              <a:ext cx="103079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选算法分割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划分/层次/密度…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54068" y="2615565"/>
              <a:ext cx="6774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度量结果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分得好不好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464618" y="3793808"/>
            <a:ext cx="5193982" cy="2477452"/>
            <a:chOff x="6464618" y="3793808"/>
            <a:chExt cx="5193982" cy="2477452"/>
          </a:xfrm>
        </p:grpSpPr>
        <p:sp>
          <p:nvSpPr>
            <p:cNvPr id="59" name="Rectangle 59"/>
            <p:cNvSpPr/>
            <p:nvPr/>
          </p:nvSpPr>
          <p:spPr>
            <a:xfrm>
              <a:off x="6464618" y="3793808"/>
              <a:ext cx="5193982" cy="2477452"/>
            </a:xfrm>
            <a:prstGeom prst="roundRect">
              <a:avLst>
                <a:gd name="adj" fmla="val 538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45592" y="39747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38264" y="40076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12520" y="401431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聚类过程要回答三个问题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45592" y="431958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97499" y="4355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16293" y="433054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数据之间的距离或相似度怎么定义（第二部分）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645592" y="460438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97499" y="4640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16293" y="461629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用什么算法把数据集切开（第三至第七部分）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645592" y="48901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97499" y="49248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16293" y="490108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切完以后怎么判断这个结果好不好（本部分后半）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40259" y="518255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三个问题互相牵连：换一种距离，同一个算法会给出完全不同的簇。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聚类问题与性能度量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形式化描述：一个簇划分等价于一个簇标记向量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1851660"/>
            <a:chOff x="533400" y="1524000"/>
            <a:chExt cx="5951220" cy="18516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851660"/>
            </a:xfrm>
            <a:prstGeom prst="roundRect">
              <a:avLst>
                <a:gd name="adj" fmla="val 72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849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样本集与簇划分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51400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样本集 D 含 N 个无标记样本 x₁, x₂, …，每个样本 xᵢ 是 n 维特征向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量。聚类算法把 D 划分成 k 个互不相交的簇 C₁, C₂, …, Cₖ。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"/>
                <p:cNvSpPr txBox="1">
                  <a:spLocks noGrp="1"/>
                </p:cNvSpPr>
                <p:nvPr/>
              </p:nvSpPr>
              <p:spPr>
                <a:xfrm>
                  <a:off x="758190" y="2606992"/>
                  <a:ext cx="553974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l'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=∅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l'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⋃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546158"/>
            <a:ext cx="5951220" cy="1628775"/>
            <a:chOff x="533400" y="3546158"/>
            <a:chExt cx="5951220" cy="1628775"/>
          </a:xfrm>
        </p:grpSpPr>
        <p:sp>
          <p:nvSpPr>
            <p:cNvPr id="15" name="Rectangle 15"/>
            <p:cNvSpPr/>
            <p:nvPr/>
          </p:nvSpPr>
          <p:spPr>
            <a:xfrm>
              <a:off x="533400" y="3546158"/>
              <a:ext cx="5951220" cy="1628775"/>
            </a:xfrm>
            <a:prstGeom prst="roundRect">
              <a:avLst>
                <a:gd name="adj" fmla="val 8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79508"/>
              <a:ext cx="47625" cy="13620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7328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2" y="37657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3784" y="37680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簇标记向量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4093845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λⱼ ∈ {1, 2, …, k} 表示样本 xⱼ 的簇标记，即 xⱼ 属于第 λⱼ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簇。于是整个聚类结果可以压成一个 N 维向量。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2"/>
                <p:cNvSpPr txBox="1">
                  <a:spLocks noGrp="1"/>
                </p:cNvSpPr>
                <p:nvPr/>
              </p:nvSpPr>
              <p:spPr>
                <a:xfrm>
                  <a:off x="758190" y="4629150"/>
                  <a:ext cx="553974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⋯;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9" name="c1-callout-3"/>
          <p:cNvGrpSpPr/>
          <p:nvPr/>
        </p:nvGrpSpPr>
        <p:grpSpPr>
          <a:xfrm>
            <a:off x="533400" y="5345430"/>
            <a:ext cx="5951220" cy="978218"/>
            <a:chOff x="533400" y="5345430"/>
            <a:chExt cx="5951220" cy="978218"/>
          </a:xfrm>
        </p:grpSpPr>
        <p:sp>
          <p:nvSpPr>
            <p:cNvPr id="23" name="Rectangle 23"/>
            <p:cNvSpPr/>
            <p:nvPr/>
          </p:nvSpPr>
          <p:spPr>
            <a:xfrm>
              <a:off x="533400" y="5345430"/>
              <a:ext cx="595122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734050"/>
              <a:ext cx="200026" cy="200026"/>
              <a:chOff x="738188" y="5734050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7340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800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58340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491162"/>
              <a:ext cx="503720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簇标记只是编号，本身没有含义。把编号 1 和 2 对调，得到的仍是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同一个聚类结果，所以后面比对两个聚类结果时只能比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样本对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系，不能直接比编号。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789420" y="1524000"/>
            <a:ext cx="4869180" cy="1845945"/>
            <a:chOff x="6789420" y="1524000"/>
            <a:chExt cx="4869180" cy="1845945"/>
          </a:xfrm>
        </p:grpSpPr>
        <p:sp>
          <p:nvSpPr>
            <p:cNvPr id="30" name="Rectangle 30"/>
            <p:cNvSpPr/>
            <p:nvPr/>
          </p:nvSpPr>
          <p:spPr>
            <a:xfrm>
              <a:off x="6789420" y="1524000"/>
              <a:ext cx="4869180" cy="1845945"/>
            </a:xfrm>
            <a:prstGeom prst="roundRect">
              <a:avLst>
                <a:gd name="adj" fmla="val 72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7611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6067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记号约定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91260" y="17459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本章用的字母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984682" y="21278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40702" y="2071688"/>
              <a:ext cx="2484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样本数，n 特征维数，k 簇数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984682" y="24279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40702" y="2371725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 第 i 个样本，xᵢⱼ 它的第 j 维分量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984682" y="272796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40702" y="2671762"/>
              <a:ext cx="3244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Cₗ 第 l 个簇，μₗ 它的中心（均值向量）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984682" y="302895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40702" y="2972752"/>
              <a:ext cx="244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dist(xᵢ, xⱼ) 两个样本的距离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789420" y="3539490"/>
            <a:ext cx="4869180" cy="2783205"/>
            <a:chOff x="6789420" y="3539490"/>
            <a:chExt cx="4869180" cy="2783205"/>
          </a:xfrm>
        </p:grpSpPr>
        <p:sp>
          <p:nvSpPr>
            <p:cNvPr id="43" name="Rectangle 43"/>
            <p:cNvSpPr/>
            <p:nvPr/>
          </p:nvSpPr>
          <p:spPr>
            <a:xfrm>
              <a:off x="6789420" y="3539490"/>
              <a:ext cx="4869180" cy="2783205"/>
            </a:xfrm>
            <a:prstGeom prst="roundRect">
              <a:avLst>
                <a:gd name="adj" fmla="val 47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98945" y="3672840"/>
              <a:ext cx="47625" cy="25165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14210" y="37261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06882" y="37590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79804" y="376142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与原课件记号的两处差别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014210" y="407574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69888" y="41141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5007" y="4087177"/>
              <a:ext cx="39913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m 表示样本数、n 表示维数。本讲义按全书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统一记号改用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表示样本数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，n 仍是维数。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014210" y="463296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69888" y="46713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95007" y="4645342"/>
              <a:ext cx="399135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23 页写 K-means 目标函数时，内层求和上限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也写成 n，但旁注说它是“第 j 个簇里的样本数”。同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一个字母在一页里指两件事，本讲义改写成按簇内样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本求和。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08495" y="5712619"/>
              <a:ext cx="42075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本章样本写 xᵢ 而不是第 1 至 6 章的 x⁽ⁱ⁾：聚类里下标只用来点名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样本，需要指分量时写 xᵢⱼ。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4737" cy="909257"/>
            <a:chOff x="520446" y="342900"/>
            <a:chExt cx="6944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聚类问题与性能度量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4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六大类聚类算法：区别在于“簇”是怎么定义的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0488" cy="308039"/>
            <a:chOff x="525399" y="1550194"/>
            <a:chExt cx="74604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04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每一类算法背后都有一个关于簇长什么样的假设，假设不成立时结果就会难看。</a:t>
              </a:r>
            </a:p>
          </p:txBody>
        </p:sp>
      </p:grpSp>
      <p:grpSp>
        <p:nvGrpSpPr>
          <p:cNvPr id="58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375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2745" y="2102644"/>
              <a:ext cx="1073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对“簇”的假设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8971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17154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要预先给定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0262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擅长的形状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98560" y="255127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每个样本恰好属于一个组，组有一个中心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36120" y="2551271"/>
              <a:ext cx="174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K-means、K-medoids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61161" y="255127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簇数 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64268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球形、大小相近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0008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8560" y="300085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簇之间有包含关系，可以逐层合并或分裂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36120" y="30008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凝聚法、分裂法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61161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联接准则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64268" y="30008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由准则决定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4494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98560" y="344947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簇是高密度区域，低密度处是边界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36120" y="3449479"/>
              <a:ext cx="147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DBSCAN、密度峰值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61161" y="3449479"/>
              <a:ext cx="954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与 MinPts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64268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任意形状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38981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98560" y="389810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先把空间切成格子，再合并稠密格子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36120" y="3898106"/>
              <a:ext cx="1232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STING、CLIQUE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1161" y="38981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格子大小与阈值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64268" y="38981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轴对齐的块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" y="43467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98560" y="43467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数据由若干概率分布混合生成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6120" y="4346734"/>
              <a:ext cx="1304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GMM、SOM、AP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61161" y="43467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模型个数或偏好度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64268" y="43467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椭球形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" y="47953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谱聚类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98560" y="479536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样本是图的结点，簇是连接紧密的子图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36120" y="4795361"/>
              <a:ext cx="1294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RatioCut、Ncut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61161" y="4795361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相似矩阵与 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64268" y="47953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任意形状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08597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2353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4857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5168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callout-2"/>
          <p:cNvGrpSpPr/>
          <p:nvPr/>
        </p:nvGrpSpPr>
        <p:grpSpPr>
          <a:xfrm>
            <a:off x="533400" y="5299710"/>
            <a:ext cx="11125200" cy="1062990"/>
            <a:chOff x="533400" y="5299710"/>
            <a:chExt cx="11125200" cy="1062990"/>
          </a:xfrm>
        </p:grpSpPr>
        <p:sp>
          <p:nvSpPr>
            <p:cNvPr id="59" name="Rectangle 59"/>
            <p:cNvSpPr/>
            <p:nvPr/>
          </p:nvSpPr>
          <p:spPr>
            <a:xfrm>
              <a:off x="533400" y="5299710"/>
              <a:ext cx="11125200" cy="1062990"/>
            </a:xfrm>
            <a:prstGeom prst="roundRect">
              <a:avLst>
                <a:gd name="adj" fmla="val 1075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731195"/>
              <a:ext cx="200023" cy="200023"/>
              <a:chOff x="738188" y="573119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7311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5797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726430"/>
              <a:ext cx="102518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选算法就是在选假设。样本是球状团块时 K-means 又快又好；出现环形或带状的簇时，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密度法和谱聚类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才有机会。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聚类问题与性能度量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好的聚类：簇内相似度高，簇间相似度低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343503" cy="308039"/>
            <a:chOff x="525399" y="1550194"/>
            <a:chExt cx="734350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3435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性能度量也叫有效性指标（validity index），按是否需要参考答案分成两类。</a:t>
              </a:r>
            </a:p>
          </p:txBody>
        </p:sp>
      </p:grpSp>
      <p:grpSp>
        <p:nvGrpSpPr>
          <p:cNvPr id="33" name="c1-compare-1"/>
          <p:cNvGrpSpPr/>
          <p:nvPr/>
        </p:nvGrpSpPr>
        <p:grpSpPr>
          <a:xfrm>
            <a:off x="533400" y="1967865"/>
            <a:ext cx="4977764" cy="4131945"/>
            <a:chOff x="533400" y="1967865"/>
            <a:chExt cx="4977764" cy="41319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2107882" cy="4131945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8652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430" y="2202180"/>
              <a:ext cx="1405414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外部指标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external index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8765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81368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拿聚类结果和参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考模型比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975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43471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参考模型可以是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人工标注的类别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1186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055745"/>
              <a:ext cx="1415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JC、FMI、RI 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[0,1] 内，越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大越好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50253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96252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只有在有真值的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实验里才能用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03282" y="1967865"/>
              <a:ext cx="2107882" cy="4131945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12808" y="2101215"/>
              <a:ext cx="47625" cy="3865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43312" y="2202180"/>
              <a:ext cx="1355408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内部指标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internal index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56648" y="28765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14762" y="281368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只看聚类结果本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656648" y="34975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14762" y="3434715"/>
              <a:ext cx="115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直接算簇内多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紧、簇间多远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656648" y="41186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14762" y="4055745"/>
              <a:ext cx="1291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DBI 越小越好，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 越大越好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656648" y="47396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14762" y="467677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真实任务里通常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只能用这一类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2688908" y="3699510"/>
              <a:ext cx="666750" cy="6667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734246" y="39681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两类指标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5815965" y="1967865"/>
            <a:ext cx="5842635" cy="1621155"/>
            <a:chOff x="5815965" y="1967865"/>
            <a:chExt cx="5842635" cy="1621155"/>
          </a:xfrm>
        </p:grpSpPr>
        <p:sp>
          <p:nvSpPr>
            <p:cNvPr id="34" name="Rectangle 34"/>
            <p:cNvSpPr/>
            <p:nvPr/>
          </p:nvSpPr>
          <p:spPr>
            <a:xfrm>
              <a:off x="5815965" y="1967865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5490" y="210121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63615" y="21774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2170" y="22131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外部指标的准备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5208" y="221265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把样本两两配对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5995" y="2573655"/>
              <a:ext cx="4977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设聚类结果为 C = {C₁, …, Cₖ}，参考模型给出的划分记作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C*，两者对应的簇标记向量是 λ 与 λ*。对所有 i &lt; j 的样本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对，按“在 C 里是否同簇”和“在 C* 里是否同类”分成四类。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5815965" y="3779520"/>
            <a:ext cx="5842635" cy="1346835"/>
            <a:chOff x="5815965" y="3779520"/>
            <a:chExt cx="5842635" cy="1346835"/>
          </a:xfrm>
        </p:grpSpPr>
        <p:sp>
          <p:nvSpPr>
            <p:cNvPr id="41" name="Rectangle 41"/>
            <p:cNvSpPr/>
            <p:nvPr/>
          </p:nvSpPr>
          <p:spPr>
            <a:xfrm>
              <a:off x="5815965" y="377952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04830" y="3914299"/>
              <a:ext cx="922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 里同簇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47486" y="3914299"/>
              <a:ext cx="1094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 里不同簇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23788" y="4362926"/>
              <a:ext cx="1027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C* 里同类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1452" y="4237672"/>
              <a:ext cx="190881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09751" y="4362926"/>
              <a:ext cx="620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|SS|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740265" y="4237672"/>
              <a:ext cx="190881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38563" y="4362926"/>
              <a:ext cx="620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|DS|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46720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5965" y="467677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23788" y="4812506"/>
              <a:ext cx="1199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C* 里不同类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811452" y="4686300"/>
              <a:ext cx="190881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09751" y="4812506"/>
              <a:ext cx="620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|SD|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740265" y="4686300"/>
              <a:ext cx="190881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38563" y="4812506"/>
              <a:ext cx="620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|DD|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3779520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797165" y="37795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25978" y="377952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3"/>
          <p:cNvGrpSpPr/>
          <p:nvPr/>
        </p:nvGrpSpPr>
        <p:grpSpPr>
          <a:xfrm>
            <a:off x="5815965" y="5315902"/>
            <a:ext cx="5842635" cy="782955"/>
            <a:chOff x="5815965" y="5315902"/>
            <a:chExt cx="5842635" cy="782955"/>
          </a:xfrm>
        </p:grpSpPr>
        <p:sp>
          <p:nvSpPr>
            <p:cNvPr id="60" name="Rectangle 60"/>
            <p:cNvSpPr/>
            <p:nvPr/>
          </p:nvSpPr>
          <p:spPr>
            <a:xfrm>
              <a:off x="5815965" y="531590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607368"/>
              <a:ext cx="200026" cy="200025"/>
              <a:chOff x="6020753" y="560736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56073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060491" y="56518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95207" y="57629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2695" y="5464492"/>
              <a:ext cx="4911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四个数加起来恰好是样本对总数 N(N−1)/2。绿色的两格是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两种划分意见一致的对，红色的两格是意见不一致的对。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4212" cy="909257"/>
            <a:chOff x="520446" y="342900"/>
            <a:chExt cx="72142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聚类问题与性能度量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42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外部指标：三个公式都只用 a、b、c、d 四个数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195691" cy="293370"/>
            <a:chOff x="525780" y="1548765"/>
            <a:chExt cx="819569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195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例题：聚类结果 C 为 {x₁,x₂} 与 {x₃,x₄,x₅}，参考模型 C* 为 {x₁,x₂,x₃} 与 {x₄,x₅}。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9"/>
              <p:cNvSpPr txBox="1">
                <a:spLocks noGrp="1"/>
              </p:cNvSpPr>
              <p:nvPr/>
            </p:nvSpPr>
            <p:spPr>
              <a:xfrm>
                <a:off x="533400" y="1954530"/>
                <a:ext cx="476059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JC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0"/>
              <p:cNvSpPr txBox="1">
                <a:spLocks noGrp="1"/>
              </p:cNvSpPr>
              <p:nvPr/>
            </p:nvSpPr>
            <p:spPr>
              <a:xfrm>
                <a:off x="533400" y="2680335"/>
                <a:ext cx="476059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FMI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21"/>
              <p:cNvSpPr txBox="1">
                <a:spLocks noGrp="1"/>
              </p:cNvSpPr>
              <p:nvPr/>
            </p:nvSpPr>
            <p:spPr>
              <a:xfrm>
                <a:off x="533400" y="3405188"/>
                <a:ext cx="476059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RI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d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rd-4"/>
          <p:cNvGrpSpPr/>
          <p:nvPr/>
        </p:nvGrpSpPr>
        <p:grpSpPr>
          <a:xfrm>
            <a:off x="533400" y="4130992"/>
            <a:ext cx="4760595" cy="2205038"/>
            <a:chOff x="533400" y="4130992"/>
            <a:chExt cx="4760595" cy="2205038"/>
          </a:xfrm>
        </p:grpSpPr>
        <p:sp>
          <p:nvSpPr>
            <p:cNvPr id="12" name="Rectangle 12"/>
            <p:cNvSpPr/>
            <p:nvPr/>
          </p:nvSpPr>
          <p:spPr>
            <a:xfrm>
              <a:off x="533400" y="4130992"/>
              <a:ext cx="4760595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264342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5335" y="43348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543" y="43705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6744" y="437435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三个指标各自在乎什么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478631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4725829"/>
              <a:ext cx="38647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 不管 d：两个划分都说“不在一起”的那些对，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不算作功劳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537781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5317331"/>
              <a:ext cx="39639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FMI 是两个比值的几何平均，等价于查准率与查全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率的几何平均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596931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5908834"/>
              <a:ext cx="40091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 把 d 也算进去，所以簇数很多时 RI 天然偏高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593080" y="1954530"/>
            <a:ext cx="6065520" cy="2659857"/>
            <a:chOff x="5593080" y="1954530"/>
            <a:chExt cx="6065520" cy="2659857"/>
          </a:xfrm>
        </p:grpSpPr>
        <p:sp>
          <p:nvSpPr>
            <p:cNvPr id="24" name="Rectangle 24"/>
            <p:cNvSpPr/>
            <p:nvPr/>
          </p:nvSpPr>
          <p:spPr>
            <a:xfrm>
              <a:off x="5598795" y="1954530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60020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175" y="2085975"/>
              <a:ext cx="541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 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6436" y="2085975"/>
              <a:ext cx="639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C* 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0324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04142" y="2515552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 (4,5)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2464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55012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88511" y="251555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×2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81463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4142" y="2946082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(3,4) (3,5)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2464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55012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88511" y="294608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×2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32404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4142" y="3376612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(1,3) (2,3)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2464" y="33766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55012" y="33766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88511" y="337661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×2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98795" y="367474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4142" y="3806190"/>
              <a:ext cx="142836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(1,4) (1,5) (2,4)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(2,5)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2464" y="391287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55012" y="391287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88511" y="3912870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×4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1954530"/>
              <a:ext cx="6059805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12355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44902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78402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593080" y="4394359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 个样本对逐对判定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5598795" y="4755832"/>
            <a:ext cx="6059805" cy="1580198"/>
            <a:chOff x="5598795" y="4755832"/>
            <a:chExt cx="6059805" cy="1580198"/>
          </a:xfrm>
        </p:grpSpPr>
        <p:sp>
          <p:nvSpPr>
            <p:cNvPr id="56" name="Rectangle 56"/>
            <p:cNvSpPr/>
            <p:nvPr/>
          </p:nvSpPr>
          <p:spPr>
            <a:xfrm>
              <a:off x="5598795" y="4755832"/>
              <a:ext cx="6059805" cy="1580198"/>
            </a:xfrm>
            <a:prstGeom prst="roundRect">
              <a:avLst>
                <a:gd name="adj" fmla="val 8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608320" y="4889182"/>
              <a:ext cx="47625" cy="13134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33491" y="49830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33491" y="5321141"/>
              <a:ext cx="519474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合计 10 = 5×4/2，与样本对总数对上。JC = 2/6 ≈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0.333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；FMI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√(0.5×0.5)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0.500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；RI = 2×6/20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0.600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。三个数都远离 1，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 x₃ 被放错了组。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聚类问题与性能度量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内部指标：先定义四个基本距离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011930" cy="264033"/>
            <a:chOff x="526542" y="1545907"/>
            <a:chExt cx="401193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两个量描述簇内的松紧，两个量描述簇间的远近。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28812"/>
            <a:ext cx="4977765" cy="1906905"/>
            <a:chOff x="533400" y="1928812"/>
            <a:chExt cx="4977765" cy="1906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39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7652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1678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507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avg(C)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24381" y="2426970"/>
              <a:ext cx="2019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 C 内所有样本对距离的平均值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1396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5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diam(C)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4381" y="2808923"/>
              <a:ext cx="2161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 C 内相距最远的两个样本的距离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1396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簇内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189923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dmin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24381" y="3189923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两个簇之间最近的一对样本的距离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11396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49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53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571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dcen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24381" y="357187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两个簇中心之间的距离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1396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簇间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28812"/>
              <a:ext cx="497776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42494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1195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34"/>
              <p:cNvSpPr txBox="1">
                <a:spLocks noGrp="1"/>
              </p:cNvSpPr>
              <p:nvPr/>
            </p:nvSpPr>
            <p:spPr>
              <a:xfrm>
                <a:off x="533400" y="4000500"/>
                <a:ext cx="4977765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avg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dist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35"/>
              <p:cNvSpPr txBox="1">
                <a:spLocks noGrp="1"/>
              </p:cNvSpPr>
              <p:nvPr/>
            </p:nvSpPr>
            <p:spPr>
              <a:xfrm>
                <a:off x="533400" y="4699635"/>
                <a:ext cx="4977765" cy="421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diam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func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ist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2" name="c1-callout-4"/>
          <p:cNvGrpSpPr/>
          <p:nvPr/>
        </p:nvGrpSpPr>
        <p:grpSpPr>
          <a:xfrm>
            <a:off x="533400" y="5285422"/>
            <a:ext cx="4977765" cy="937260"/>
            <a:chOff x="533400" y="5285422"/>
            <a:chExt cx="4977765" cy="937260"/>
          </a:xfrm>
        </p:grpSpPr>
        <p:sp>
          <p:nvSpPr>
            <p:cNvPr id="36" name="Rectangle 36"/>
            <p:cNvSpPr/>
            <p:nvPr/>
          </p:nvSpPr>
          <p:spPr>
            <a:xfrm>
              <a:off x="533400" y="5285422"/>
              <a:ext cx="4977765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654040"/>
              <a:ext cx="200026" cy="200026"/>
              <a:chOff x="738188" y="565404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6540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7207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7540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5429726"/>
              <a:ext cx="395300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更正：原课件两式下标写成 1 ≤ i ≤ j ≤ |C|，按系数的对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数应为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&lt; j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；dmin、dcen 左边原写作 (C)，应为 (Cᵢ,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Cⱼ)。</a:t>
              </a:r>
            </a:p>
          </p:txBody>
        </p:sp>
      </p:grpSp>
      <p:grpSp>
        <p:nvGrpSpPr>
          <p:cNvPr id="64" name="c2-graph-1"/>
          <p:cNvGrpSpPr/>
          <p:nvPr/>
        </p:nvGrpSpPr>
        <p:grpSpPr>
          <a:xfrm>
            <a:off x="6495654" y="2053114"/>
            <a:ext cx="4519056" cy="2857024"/>
            <a:chOff x="6495654" y="2053114"/>
            <a:chExt cx="4519056" cy="2857024"/>
          </a:xfrm>
        </p:grpSpPr>
        <p:sp>
          <p:nvSpPr>
            <p:cNvPr id="43" name="Freeform 43"/>
            <p:cNvSpPr/>
            <p:nvPr/>
          </p:nvSpPr>
          <p:spPr>
            <a:xfrm>
              <a:off x="6903720" y="2554605"/>
              <a:ext cx="628650" cy="959167"/>
            </a:xfrm>
            <a:custGeom>
              <a:avLst/>
              <a:gdLst/>
              <a:ahLst/>
              <a:cxnLst/>
              <a:rect l="l" t="t" r="r" b="b"/>
              <a:pathLst>
                <a:path w="628650" h="959167">
                  <a:moveTo>
                    <a:pt x="628650" y="0"/>
                  </a:moveTo>
                  <a:lnTo>
                    <a:pt x="0" y="95916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867650" y="3295650"/>
              <a:ext cx="1855470" cy="333375"/>
            </a:xfrm>
            <a:custGeom>
              <a:avLst/>
              <a:gdLst/>
              <a:ahLst/>
              <a:cxnLst/>
              <a:rect l="l" t="t" r="r" b="b"/>
              <a:pathLst>
                <a:path w="1855470" h="333375">
                  <a:moveTo>
                    <a:pt x="0" y="0"/>
                  </a:moveTo>
                  <a:lnTo>
                    <a:pt x="1855470" y="333375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289482" y="3096578"/>
              <a:ext cx="3012757" cy="1141095"/>
            </a:xfrm>
            <a:custGeom>
              <a:avLst/>
              <a:gdLst/>
              <a:ahLst/>
              <a:cxnLst/>
              <a:rect l="l" t="t" r="r" b="b"/>
              <a:pathLst>
                <a:path w="3012757" h="1141095">
                  <a:moveTo>
                    <a:pt x="0" y="0"/>
                  </a:moveTo>
                  <a:lnTo>
                    <a:pt x="3012757" y="1141095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46" name="Ellipse 46"/>
            <p:cNvSpPr/>
            <p:nvPr/>
          </p:nvSpPr>
          <p:spPr>
            <a:xfrm>
              <a:off x="6693218" y="279844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511415" y="244221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744778" y="322707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810375" y="351186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151370" y="3003232"/>
              <a:ext cx="133350" cy="1333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731692" y="3583305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783252" y="3797618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0900410" y="4653915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848850" y="4795838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0306050" y="4197668"/>
              <a:ext cx="133350" cy="1333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42798" y="2840355"/>
              <a:ext cx="30003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69862" y="2870359"/>
              <a:ext cx="2468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diam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645842" y="3383280"/>
              <a:ext cx="30003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71955" y="3413284"/>
              <a:ext cx="2468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dmin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642985" y="3589020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669195" y="361807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dcen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95654" y="2053114"/>
              <a:ext cx="1210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簇 C₁（空心为中心 μ₁）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81643" y="3266599"/>
              <a:ext cx="2832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簇 C₂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5815965" y="5659755"/>
            <a:ext cx="5842635" cy="702945"/>
            <a:chOff x="5815965" y="5659755"/>
            <a:chExt cx="5842635" cy="702945"/>
          </a:xfrm>
        </p:grpSpPr>
        <p:sp>
          <p:nvSpPr>
            <p:cNvPr id="65" name="Rectangle 65"/>
            <p:cNvSpPr/>
            <p:nvPr/>
          </p:nvSpPr>
          <p:spPr>
            <a:xfrm>
              <a:off x="5815965" y="5659755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020753" y="5911215"/>
              <a:ext cx="200026" cy="200025"/>
              <a:chOff x="6020753" y="5911215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020753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060491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095207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323838" y="5805011"/>
              <a:ext cx="481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画图时把 </a:t>
              </a:r>
              <a:r>
                <a:rPr lang="en-US" sz="128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dmin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28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dcen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放在一起看：两簇中心离得远，不代表两簇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之间没有靠得很近的样本。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3977" cy="909257"/>
            <a:chOff x="520446" y="342900"/>
            <a:chExt cx="55739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聚类问题与性能度量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39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DBI 与 DI：两个内部指标，方向相反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8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DBI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func>
                            <m:funcPr/>
                            <m:fName>
                              <m:limLow>
                                <m:limLowPr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≠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avg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avg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dcen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2" name="c1-card-2"/>
          <p:cNvGrpSpPr/>
          <p:nvPr/>
        </p:nvGrpSpPr>
        <p:grpSpPr>
          <a:xfrm>
            <a:off x="533400" y="2254568"/>
            <a:ext cx="5410200" cy="1368742"/>
            <a:chOff x="533400" y="2254568"/>
            <a:chExt cx="5410200" cy="1368742"/>
          </a:xfrm>
        </p:grpSpPr>
        <p:sp>
          <p:nvSpPr>
            <p:cNvPr id="8" name="Rectangle 8"/>
            <p:cNvSpPr/>
            <p:nvPr/>
          </p:nvSpPr>
          <p:spPr>
            <a:xfrm>
              <a:off x="533400" y="2254568"/>
              <a:ext cx="5410200" cy="1368742"/>
            </a:xfrm>
            <a:prstGeom prst="roundRect">
              <a:avLst>
                <a:gd name="adj" fmla="val 97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387918"/>
              <a:ext cx="47625" cy="11020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5998" y="2456974"/>
              <a:ext cx="8548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DBI 怎么读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757964"/>
              <a:ext cx="47759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分子是两个簇各自的松紧之和，分母是两个中心的距离。对每个簇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i，遍历其他所有簇取这个比值的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最大值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，也就是找和它最难分开的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那个邻居，再对 k 个簇求平均。值越小越好。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49"/>
              <p:cNvSpPr txBox="1">
                <a:spLocks noGrp="1"/>
              </p:cNvSpPr>
              <p:nvPr/>
            </p:nvSpPr>
            <p:spPr>
              <a:xfrm>
                <a:off x="533400" y="3788092"/>
                <a:ext cx="5410200" cy="445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lim>
                          </m:limLow>
                        </m:fName>
                        <m:e>
                          <m:func>
                            <m:funcPr/>
                            <m:fName>
                              <m:limLow>
                                <m:limLowPr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≠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dmin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func>
                                    <m:funcPr/>
                                    <m:fName>
                                      <m:limLow>
                                        <m:limLowPr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≤</m:t>
                                          </m:r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l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≤</m:t>
                                          </m:r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e>
                                  </m:func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iam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l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llout-4"/>
          <p:cNvGrpSpPr/>
          <p:nvPr/>
        </p:nvGrpSpPr>
        <p:grpSpPr>
          <a:xfrm>
            <a:off x="533400" y="4398645"/>
            <a:ext cx="5410200" cy="1744028"/>
            <a:chOff x="533400" y="4398645"/>
            <a:chExt cx="5410200" cy="1744028"/>
          </a:xfrm>
        </p:grpSpPr>
        <p:sp>
          <p:nvSpPr>
            <p:cNvPr id="14" name="Rectangle 14"/>
            <p:cNvSpPr/>
            <p:nvPr/>
          </p:nvSpPr>
          <p:spPr>
            <a:xfrm>
              <a:off x="533400" y="4398645"/>
              <a:ext cx="5410200" cy="1744028"/>
            </a:xfrm>
            <a:prstGeom prst="roundRect">
              <a:avLst>
                <a:gd name="adj" fmla="val 655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171123"/>
              <a:ext cx="200026" cy="200026"/>
              <a:chOff x="738188" y="517112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1711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237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2711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1273" y="4947761"/>
              <a:ext cx="442645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 的分子取遍所有簇对的最近距离再取最小，分母是所有簇里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最大的直径。它衡量的是“最糟的那一对簇分得开不开”，值越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大越好。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3167" cy="917258"/>
            <a:chOff x="6248400" y="1524000"/>
            <a:chExt cx="5413167" cy="917258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3451" y="1744504"/>
              <a:ext cx="2374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两个簇各 3 个点，算 DBI 和 DI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0998" y="2061686"/>
              <a:ext cx="5200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 = {(0,0), (1,0), (0,1)}，C₂ = {(4,4), (5,4), (4,5)}。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248400" y="2606040"/>
            <a:ext cx="5410200" cy="2669858"/>
            <a:chOff x="6248400" y="2606040"/>
            <a:chExt cx="5410200" cy="2669858"/>
          </a:xfrm>
        </p:grpSpPr>
        <p:sp>
          <p:nvSpPr>
            <p:cNvPr id="28" name="Rectangle 28"/>
            <p:cNvSpPr/>
            <p:nvPr/>
          </p:nvSpPr>
          <p:spPr>
            <a:xfrm>
              <a:off x="6248400" y="260604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118" y="27231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36305" y="27231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54678" y="27231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3079" y="310515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6534" y="3105150"/>
              <a:ext cx="1664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+ 1 + √2)/3，两簇相同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38804" y="310515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1.1381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33642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36899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3079" y="3486150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diam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6534" y="348615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√2，两簇相同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38804" y="348615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7452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3868102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dmin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6534" y="3868102"/>
              <a:ext cx="1883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(1,0) 到 (4,4)，即 √(9+16)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38804" y="38681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1271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413194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42491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dcen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6534" y="424910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 (⅓,⅓) 与 (13/3,13/3)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38804" y="42491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5.6569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5081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3079" y="4630102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6534" y="4630102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(1.1381+1.1381)/5.6569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38804" y="46301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0.4024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8901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489489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3079" y="5012055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6534" y="5012055"/>
              <a:ext cx="110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5.0000 / 1.4142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38804" y="501205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3.5355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2606040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217092" y="260604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139362" y="260604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callout-3"/>
          <p:cNvGrpSpPr/>
          <p:nvPr/>
        </p:nvGrpSpPr>
        <p:grpSpPr>
          <a:xfrm>
            <a:off x="6248400" y="5440680"/>
            <a:ext cx="5410200" cy="702945"/>
            <a:chOff x="6248400" y="5440680"/>
            <a:chExt cx="5410200" cy="702945"/>
          </a:xfrm>
        </p:grpSpPr>
        <p:sp>
          <p:nvSpPr>
            <p:cNvPr id="62" name="Rectangle 62"/>
            <p:cNvSpPr/>
            <p:nvPr/>
          </p:nvSpPr>
          <p:spPr>
            <a:xfrm>
              <a:off x="6248400" y="544068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453188" y="5692140"/>
              <a:ext cx="200026" cy="200026"/>
              <a:chOff x="6453188" y="5692140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56921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19863" y="576992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56273" y="5585936"/>
              <a:ext cx="4198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把 C₂ 整体往左下挪 2 个单位后，DBI 涨到 0.805、DI 掉到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1.581，两个指标同时变坏。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数据间的距离与相似度度量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换一种距离，同一个算法会给出完全不同的簇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相异性度量要满足的条件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闵可夫斯基距离族与 p 的取值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5421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0-1 型变量：Jaccard 与 Czekanowski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138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余弦相似度、Pearson 与 Spearman 相关系数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数据间的距离与相似度度量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闵可夫斯基距离族：一个 p 串起三种常用距离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56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|"/>
                                          <m:sepChr m:val=""/>
                                          <m:endChr m:val="|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u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y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u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7" name="c1-table-2"/>
          <p:cNvGrpSpPr/>
          <p:nvPr/>
        </p:nvGrpSpPr>
        <p:grpSpPr>
          <a:xfrm>
            <a:off x="533400" y="2286000"/>
            <a:ext cx="5626418" cy="1525905"/>
            <a:chOff x="533400" y="2286000"/>
            <a:chExt cx="5626418" cy="1525905"/>
          </a:xfrm>
        </p:grpSpPr>
        <p:sp>
          <p:nvSpPr>
            <p:cNvPr id="8" name="Rectangle 8"/>
            <p:cNvSpPr/>
            <p:nvPr/>
          </p:nvSpPr>
          <p:spPr>
            <a:xfrm>
              <a:off x="533400" y="2286000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436" y="24031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4545" y="24031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50092" y="24031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3401" y="2785110"/>
              <a:ext cx="1492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曼哈顿距离 Manhattan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28416" y="2785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只能沿坐标轴走的路程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44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048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3166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03401" y="3166110"/>
              <a:ext cx="12517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欧式距离 Euclidean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8416" y="3166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两点之间的直线距离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425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547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03401" y="3547110"/>
              <a:ext cx="1605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切比雪夫距离 Chebyshev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28416" y="3547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各维差值里最大的那一个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286000"/>
              <a:ext cx="562641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03960" y="2286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228975" y="2286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3"/>
          <p:cNvGrpSpPr/>
          <p:nvPr/>
        </p:nvGrpSpPr>
        <p:grpSpPr>
          <a:xfrm>
            <a:off x="533400" y="3976688"/>
            <a:ext cx="5626418" cy="2303145"/>
            <a:chOff x="533400" y="3976688"/>
            <a:chExt cx="5626418" cy="2303145"/>
          </a:xfrm>
        </p:grpSpPr>
        <p:sp>
          <p:nvSpPr>
            <p:cNvPr id="28" name="Rectangle 28"/>
            <p:cNvSpPr/>
            <p:nvPr/>
          </p:nvSpPr>
          <p:spPr>
            <a:xfrm>
              <a:off x="533400" y="3976688"/>
              <a:ext cx="5626418" cy="2303145"/>
            </a:xfrm>
            <a:prstGeom prst="roundRect">
              <a:avLst>
                <a:gd name="adj" fmla="val 57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110038"/>
              <a:ext cx="47625" cy="2036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2475" y="4157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147" y="4190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8450" y="4197191"/>
              <a:ext cx="2410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(1, 2, 3)，y = (4, 6, 3)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4513421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逐维差值的绝对值是 3、4、0。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2000" y="485108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7448" y="4798219"/>
              <a:ext cx="1551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 = 1：3 + 4 + 0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2000" y="513588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448" y="5083969"/>
              <a:ext cx="1930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 = 2：√(9 + 16 + 0)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2000" y="542067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7448" y="5368766"/>
              <a:ext cx="2580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3：(27 + 64)^(1/3) ≈ 4.498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2000" y="570547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7448" y="5653564"/>
              <a:ext cx="1956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 = ∞：max(3, 4, 0)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141" y="5935028"/>
              <a:ext cx="3947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 越大，大的那一维越占主导，距离值越小且越接近最大分量。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464618" y="1524000"/>
            <a:ext cx="5193982" cy="2845118"/>
            <a:chOff x="6464618" y="1524000"/>
            <a:chExt cx="5193982" cy="2845118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2845118"/>
            </a:xfrm>
            <a:prstGeom prst="roundRect">
              <a:avLst>
                <a:gd name="adj" fmla="val 46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1657350"/>
              <a:ext cx="47625" cy="257841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50620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相异性度量要满足的条件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3692" y="204978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5599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4393" y="2061686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非负性：dist(x, y) ≥ 0，等号成立当且仅当 x = y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3692" y="233553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5599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4393" y="2346484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同一性：dist(x, x) = 0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83692" y="262032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5599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4393" y="2631281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对称性：dist(x, y) = dist(y, x)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3692" y="29051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5599" y="29407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54393" y="2916079"/>
              <a:ext cx="4027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三角不等式：dist(x, z) ≤ dist(x, y) + dist(y, z)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78359" y="3197543"/>
              <a:ext cx="4524566" cy="59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四条都满足叫 metric（度量）。若把第 4 条加强成 dist(x, z) ≤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max{dist(x, y), dist(y, z)}，则称 ultrametric，层次聚类的树状图高度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就满足这条。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78359" y="3830002"/>
              <a:ext cx="441788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相似度 s 的要求是 0 ≤ s ≤ 1、s(x, x) = 1、s(x, y) = s(y, x)，两者可以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互相换算，如 d = 1 − s。</a:t>
              </a:r>
            </a:p>
          </p:txBody>
        </p:sp>
      </p:grpSp>
      <p:grpSp>
        <p:nvGrpSpPr>
          <p:cNvPr id="72" name="c2-graph-2"/>
          <p:cNvGrpSpPr/>
          <p:nvPr/>
        </p:nvGrpSpPr>
        <p:grpSpPr>
          <a:xfrm>
            <a:off x="6658420" y="4657725"/>
            <a:ext cx="4332807" cy="1498282"/>
            <a:chOff x="6658420" y="4657725"/>
            <a:chExt cx="4332807" cy="1498282"/>
          </a:xfrm>
        </p:grpSpPr>
        <p:sp>
          <p:nvSpPr>
            <p:cNvPr id="64" name="Freeform 64"/>
            <p:cNvSpPr/>
            <p:nvPr/>
          </p:nvSpPr>
          <p:spPr>
            <a:xfrm>
              <a:off x="8242935" y="4657725"/>
              <a:ext cx="1675447" cy="1498282"/>
            </a:xfrm>
            <a:custGeom>
              <a:avLst/>
              <a:gdLst/>
              <a:ahLst/>
              <a:cxnLst/>
              <a:rect l="l" t="t" r="r" b="b"/>
              <a:pathLst>
                <a:path w="1675447" h="1498282">
                  <a:moveTo>
                    <a:pt x="0" y="715328"/>
                  </a:moveTo>
                  <a:lnTo>
                    <a:pt x="819150" y="0"/>
                  </a:lnTo>
                  <a:lnTo>
                    <a:pt x="1675447" y="748665"/>
                  </a:lnTo>
                  <a:lnTo>
                    <a:pt x="819150" y="1498282"/>
                  </a:lnTo>
                  <a:lnTo>
                    <a:pt x="0" y="78200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204835" y="4657725"/>
              <a:ext cx="1698308" cy="1498282"/>
            </a:xfrm>
            <a:custGeom>
              <a:avLst/>
              <a:gdLst/>
              <a:ahLst/>
              <a:cxnLst/>
              <a:rect l="l" t="t" r="r" b="b"/>
              <a:pathLst>
                <a:path w="1698308" h="1498282">
                  <a:moveTo>
                    <a:pt x="1698308" y="641985"/>
                  </a:moveTo>
                  <a:lnTo>
                    <a:pt x="1684972" y="555307"/>
                  </a:lnTo>
                  <a:lnTo>
                    <a:pt x="1599247" y="374332"/>
                  </a:lnTo>
                  <a:lnTo>
                    <a:pt x="1463040" y="219075"/>
                  </a:lnTo>
                  <a:lnTo>
                    <a:pt x="1284922" y="100012"/>
                  </a:lnTo>
                  <a:lnTo>
                    <a:pt x="1078230" y="25717"/>
                  </a:lnTo>
                  <a:lnTo>
                    <a:pt x="857250" y="0"/>
                  </a:lnTo>
                  <a:lnTo>
                    <a:pt x="635318" y="25717"/>
                  </a:lnTo>
                  <a:lnTo>
                    <a:pt x="428625" y="100012"/>
                  </a:lnTo>
                  <a:lnTo>
                    <a:pt x="250508" y="219075"/>
                  </a:lnTo>
                  <a:lnTo>
                    <a:pt x="114300" y="374332"/>
                  </a:lnTo>
                  <a:lnTo>
                    <a:pt x="28575" y="555307"/>
                  </a:lnTo>
                  <a:lnTo>
                    <a:pt x="0" y="748665"/>
                  </a:lnTo>
                  <a:lnTo>
                    <a:pt x="28575" y="942975"/>
                  </a:lnTo>
                  <a:lnTo>
                    <a:pt x="114300" y="1123950"/>
                  </a:lnTo>
                  <a:lnTo>
                    <a:pt x="250508" y="1278255"/>
                  </a:lnTo>
                  <a:lnTo>
                    <a:pt x="428625" y="1397318"/>
                  </a:lnTo>
                  <a:lnTo>
                    <a:pt x="635318" y="1472565"/>
                  </a:lnTo>
                  <a:lnTo>
                    <a:pt x="857250" y="1498282"/>
                  </a:lnTo>
                  <a:lnTo>
                    <a:pt x="1078230" y="1472565"/>
                  </a:lnTo>
                  <a:lnTo>
                    <a:pt x="1284922" y="1397318"/>
                  </a:lnTo>
                  <a:lnTo>
                    <a:pt x="1463040" y="1278255"/>
                  </a:lnTo>
                  <a:lnTo>
                    <a:pt x="1599247" y="1123950"/>
                  </a:lnTo>
                  <a:lnTo>
                    <a:pt x="1684972" y="942975"/>
                  </a:lnTo>
                  <a:lnTo>
                    <a:pt x="1698308" y="85534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204835" y="4657725"/>
              <a:ext cx="1713547" cy="1498282"/>
            </a:xfrm>
            <a:custGeom>
              <a:avLst/>
              <a:gdLst/>
              <a:ahLst/>
              <a:cxnLst/>
              <a:rect l="l" t="t" r="r" b="b"/>
              <a:pathLst>
                <a:path w="1713547" h="1498282">
                  <a:moveTo>
                    <a:pt x="38100" y="0"/>
                  </a:moveTo>
                  <a:lnTo>
                    <a:pt x="1713547" y="0"/>
                  </a:lnTo>
                  <a:lnTo>
                    <a:pt x="1713547" y="1498282"/>
                  </a:lnTo>
                  <a:lnTo>
                    <a:pt x="0" y="1498282"/>
                  </a:lnTo>
                  <a:lnTo>
                    <a:pt x="0" y="106680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67" name="Ellipse 67"/>
            <p:cNvSpPr/>
            <p:nvPr/>
          </p:nvSpPr>
          <p:spPr>
            <a:xfrm>
              <a:off x="9023985" y="5368290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302813" y="4968716"/>
              <a:ext cx="6332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p=1（菱形）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58007" y="5404961"/>
              <a:ext cx="522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p=2（圆）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47619" y="5841206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p=∞（正方形）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58420" y="5317331"/>
              <a:ext cx="1170686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118"/>
                </a:lnSpc>
              </a:pPr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到中心距离为 1 的点（等</a:t>
              </a:r>
              <a:br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值线）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5856" cy="909257"/>
            <a:chOff x="520446" y="342900"/>
            <a:chExt cx="69258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数据间的距离与相似度度量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58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小于 1 时，闵氏距离不再是一个合格的距离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642110"/>
            <a:chOff x="533400" y="1524000"/>
            <a:chExt cx="5410200" cy="1642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陷阱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680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&lt; 1 破坏三角不等式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027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= (0,0)、y = (1,0)、z = (1,1)，用 p = 0.5：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346484"/>
              <a:ext cx="47993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d(x,y) = 1，d(y,z) = 1，而 d(x,z) = (1 + 1)²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&gt; 1 + 1。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141" y="2627948"/>
              <a:ext cx="48246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p &lt; 1 的写法只能叫 fractional-norm，不能当距离用；等值线是向内凹的星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形，不是凸集。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330892"/>
            <a:ext cx="5410200" cy="1525905"/>
            <a:chOff x="533400" y="3330892"/>
            <a:chExt cx="5410200" cy="1525905"/>
          </a:xfrm>
        </p:grpSpPr>
        <p:sp>
          <p:nvSpPr>
            <p:cNvPr id="16" name="Rectangle 16"/>
            <p:cNvSpPr/>
            <p:nvPr/>
          </p:nvSpPr>
          <p:spPr>
            <a:xfrm>
              <a:off x="533400" y="333089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274" y="3448050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的取值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96502" y="3448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叫法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6962" y="34480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35284" y="34480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能否当距离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8078" y="3829050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18704" y="38290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零范数（非零元素个数）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57981" y="38290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40021" y="38290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是（汉明距离）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890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09384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211002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p &lt;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8704" y="4211002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fractional-norm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7981" y="42110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40021" y="42110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4700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4592002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≥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8704" y="45920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闵可夫斯基距离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57981" y="45920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40021" y="45920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330892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719262" y="333089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558540" y="333089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40580" y="333089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llout-3"/>
          <p:cNvGrpSpPr/>
          <p:nvPr/>
        </p:nvGrpSpPr>
        <p:grpSpPr>
          <a:xfrm>
            <a:off x="533400" y="5020628"/>
            <a:ext cx="5410200" cy="1018222"/>
            <a:chOff x="533400" y="5020628"/>
            <a:chExt cx="5410200" cy="1018222"/>
          </a:xfrm>
        </p:grpSpPr>
        <p:sp>
          <p:nvSpPr>
            <p:cNvPr id="41" name="Rectangle 41"/>
            <p:cNvSpPr/>
            <p:nvPr/>
          </p:nvSpPr>
          <p:spPr>
            <a:xfrm>
              <a:off x="533400" y="502062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430203"/>
              <a:ext cx="200026" cy="200025"/>
              <a:chOff x="738188" y="5430203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4302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4746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5857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5205889"/>
              <a:ext cx="44020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− y 的零范数数的是两个向量有多少维不同，也就是汉明距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离，四条要求都满足。零范数本身不是真正的范数（向量放大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倍，它不变），等值线也不凸。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248400" y="1524000"/>
            <a:ext cx="5410200" cy="2015490"/>
            <a:chOff x="6248400" y="1524000"/>
            <a:chExt cx="5410200" cy="2015490"/>
          </a:xfrm>
        </p:grpSpPr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1657350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33451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高维下距离会失效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0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维数很高时，任意两点的欧式距离会趋于接近，最近邻与最远邻的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比值趋向 1，这就是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维数灾难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在聚类里的表现。常见对策有三条。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67475" y="257841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19382" y="26130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37223" y="2589371"/>
              <a:ext cx="3323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先降维（第 8 章的 PCA、流形学习）再聚类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67475" y="286321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19382" y="28988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37223" y="287416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改用余弦相似度，只看方向不看长度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67475" y="314801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19382" y="31836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37223" y="315896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用谱聚类：只保留近邻边，远距离的数值不参与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3704272"/>
            <a:ext cx="5410200" cy="2335530"/>
            <a:chOff x="6248400" y="3704272"/>
            <a:chExt cx="5410200" cy="2335530"/>
          </a:xfrm>
        </p:grpSpPr>
        <p:sp>
          <p:nvSpPr>
            <p:cNvPr id="64" name="Rectangle 64"/>
            <p:cNvSpPr/>
            <p:nvPr/>
          </p:nvSpPr>
          <p:spPr>
            <a:xfrm>
              <a:off x="6248400" y="3704272"/>
              <a:ext cx="5410200" cy="2335530"/>
            </a:xfrm>
            <a:prstGeom prst="roundRect">
              <a:avLst>
                <a:gd name="adj" fmla="val 571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29375" y="38852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22047" y="39181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95351" y="392477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量纲不一致时先归一化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22898" y="4241006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一维是“年收入（万元）”、另一维是“年龄（岁）”时，欧式距离几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乎完全由收入决定，年龄这一维等于白给。聚类前通常要先做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min-max 归一化或 z-score 标准化。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formula63"/>
                <p:cNvSpPr txBox="1">
                  <a:spLocks noGrp="1"/>
                </p:cNvSpPr>
                <p:nvPr/>
              </p:nvSpPr>
              <p:spPr>
                <a:xfrm>
                  <a:off x="6429375" y="4991100"/>
                  <a:ext cx="504825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x'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func>
                          </m:num>
                          <m:den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fName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func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x''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acc>
                          </m:num>
                          <m:den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0" name="TextBox 70"/>
            <p:cNvSpPr txBox="1"/>
            <p:nvPr/>
          </p:nvSpPr>
          <p:spPr>
            <a:xfrm>
              <a:off x="6424041" y="5500688"/>
              <a:ext cx="421119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堪培拉距离 Σ|xᵤ − yᵤ|/(xᵤ + yᵤ) 自带逐维归一化，要求分量非负。x =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(1,2,3)、y = (4,6,3) 时等于 3/5 + 4/8 + 0 = 1.1。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数据间的距离与相似度度量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0-1 型变量：先数四个格子，再选公式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100563" cy="278702"/>
            <a:chOff x="526161" y="1547336"/>
            <a:chExt cx="810056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100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每一维只取 0 或 1 时（买没买、点没点、有没有某个词），用列联表统计两个样本的匹配情况。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28066" y="1941195"/>
            <a:ext cx="5199316" cy="1903666"/>
            <a:chOff x="528066" y="1941195"/>
            <a:chExt cx="5199316" cy="190366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66953" y="206549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7598" y="206549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9557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85925" y="2356485"/>
              <a:ext cx="133159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76412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2610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6750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a+b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7702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76412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35618" y="2762250"/>
              <a:ext cx="1331595" cy="386715"/>
            </a:xfrm>
            <a:prstGeom prst="rect">
              <a:avLst/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2610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6750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537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76412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a+c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26105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b+d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675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41195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71638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2133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7197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066" y="36395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行是 y 的取值，列是 x 的取值</a:t>
              </a:r>
            </a:p>
          </p:txBody>
        </p:sp>
      </p:grpSp>
      <p:grpSp>
        <p:nvGrpSpPr>
          <p:cNvPr id="47" name="c1-kv-2"/>
          <p:cNvGrpSpPr/>
          <p:nvPr/>
        </p:nvGrpSpPr>
        <p:grpSpPr>
          <a:xfrm>
            <a:off x="526542" y="4000500"/>
            <a:ext cx="5200840" cy="1457516"/>
            <a:chOff x="526542" y="4000500"/>
            <a:chExt cx="5200840" cy="1457516"/>
          </a:xfrm>
        </p:grpSpPr>
        <p:sp>
          <p:nvSpPr>
            <p:cNvPr id="36" name="TextBox 36"/>
            <p:cNvSpPr txBox="1"/>
            <p:nvPr/>
          </p:nvSpPr>
          <p:spPr>
            <a:xfrm>
              <a:off x="526542" y="400050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7062" y="4000500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两边都是 1（都有）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891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542" y="439864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7062" y="4398645"/>
              <a:ext cx="117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 0、y 是 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6872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542" y="4795837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7062" y="4795837"/>
              <a:ext cx="117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 1、y 是 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0853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542" y="5193983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7062" y="5193983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两边都是 0（都没有）</a:t>
              </a:r>
            </a:p>
          </p:txBody>
        </p:sp>
      </p:grpSp>
      <p:grpSp>
        <p:nvGrpSpPr>
          <p:cNvPr id="53" name="c1-callout-3"/>
          <p:cNvGrpSpPr/>
          <p:nvPr/>
        </p:nvGrpSpPr>
        <p:grpSpPr>
          <a:xfrm>
            <a:off x="533400" y="5579745"/>
            <a:ext cx="5193982" cy="729615"/>
            <a:chOff x="533400" y="5579745"/>
            <a:chExt cx="5193982" cy="729615"/>
          </a:xfrm>
        </p:grpSpPr>
        <p:sp>
          <p:nvSpPr>
            <p:cNvPr id="48" name="Rectangle 48"/>
            <p:cNvSpPr/>
            <p:nvPr/>
          </p:nvSpPr>
          <p:spPr>
            <a:xfrm>
              <a:off x="533400" y="557974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844542"/>
              <a:ext cx="200023" cy="200023"/>
              <a:chOff x="738188" y="5844542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8445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59112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5726430"/>
              <a:ext cx="4281535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关键是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要不要算 d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。买东西的场景里，两个人都没买某件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商品说明不了他们相似，所以 Jaccard 把 d 丢掉。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formula72"/>
              <p:cNvSpPr txBox="1">
                <a:spLocks noGrp="1"/>
              </p:cNvSpPr>
              <p:nvPr/>
            </p:nvSpPr>
            <p:spPr>
              <a:xfrm>
                <a:off x="6032182" y="1941195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Jaccard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formula73"/>
              <p:cNvSpPr txBox="1">
                <a:spLocks noGrp="1"/>
              </p:cNvSpPr>
              <p:nvPr/>
            </p:nvSpPr>
            <p:spPr>
              <a:xfrm>
                <a:off x="6032182" y="2605088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Czekanowski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2a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68" name="c2-card-3"/>
          <p:cNvGrpSpPr/>
          <p:nvPr/>
        </p:nvGrpSpPr>
        <p:grpSpPr>
          <a:xfrm>
            <a:off x="6032182" y="3268980"/>
            <a:ext cx="5626418" cy="3040380"/>
            <a:chOff x="6032182" y="3268980"/>
            <a:chExt cx="5626418" cy="3040380"/>
          </a:xfrm>
        </p:grpSpPr>
        <p:sp>
          <p:nvSpPr>
            <p:cNvPr id="56" name="Rectangle 56"/>
            <p:cNvSpPr/>
            <p:nvPr/>
          </p:nvSpPr>
          <p:spPr>
            <a:xfrm>
              <a:off x="6032182" y="3268980"/>
              <a:ext cx="5626418" cy="3040380"/>
            </a:xfrm>
            <a:prstGeom prst="roundRect">
              <a:avLst>
                <a:gd name="adj" fmla="val 43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41708" y="3402330"/>
              <a:ext cx="47625" cy="27736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62688" y="34613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54128" y="34956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46380" y="3501390"/>
              <a:ext cx="3573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(1,1,0,1,0,0)，y = (1,0,0,1,1,0)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55830" y="3835718"/>
              <a:ext cx="48743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1、4 位都是 1，a = 2；第 5 位 x 为 0 而 y 为 1，b = 1；第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 x 为 1 而 y 为 0，c = 1；第 3、6 位都是 0，d = 2。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71260" y="445103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27280" y="4394835"/>
              <a:ext cx="2380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Jaccard 距离 = 2/4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71260" y="475392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27280" y="4697730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Czekanowski 距离 = 2/6 ≈ 0.333，它把 1-1 匹配的权重加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倍，等价于 1 减去 Dice 系数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271260" y="53130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27280" y="5256848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若按简单匹配算 (b+c)/n = 2/6，两个“都没有”的位也被当成了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相似证据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数据间的距离与相似度度量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余弦看方向，相关系数看趋势，两者常常给出相反的结论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6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m:rPr>
                              <m:sty m:val="bi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num>
                        <m:den>
                          <m:d>
                            <m:dPr>
                              <m:begChr m:val="‖"/>
                              <m:sepChr m:val=""/>
                              <m:endChr m:val="‖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d>
                            <m:dPr>
                              <m:begChr m:val="‖"/>
                              <m:sepChr m:val=""/>
                              <m:endChr m:val="‖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sub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sub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87"/>
              <p:cNvSpPr txBox="1">
                <a:spLocks noGrp="1"/>
              </p:cNvSpPr>
              <p:nvPr/>
            </p:nvSpPr>
            <p:spPr>
              <a:xfrm>
                <a:off x="533400" y="2254568"/>
                <a:ext cx="5410200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u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y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u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y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9" name="c1-table-3"/>
          <p:cNvGrpSpPr/>
          <p:nvPr/>
        </p:nvGrpSpPr>
        <p:grpSpPr>
          <a:xfrm>
            <a:off x="533400" y="2953702"/>
            <a:ext cx="5410200" cy="1906906"/>
            <a:chOff x="533400" y="2953702"/>
            <a:chExt cx="5410200" cy="1906906"/>
          </a:xfrm>
        </p:grpSpPr>
        <p:sp>
          <p:nvSpPr>
            <p:cNvPr id="9" name="Rectangle 9"/>
            <p:cNvSpPr/>
            <p:nvPr/>
          </p:nvSpPr>
          <p:spPr>
            <a:xfrm>
              <a:off x="533400" y="295370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30708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3736" y="30708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尺度不变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53409" y="30708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平移不变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52619" y="30708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常用场合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34528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欧式距离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51138" y="34528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41763" y="34528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1436" y="345281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数值型特征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118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71665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83381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余弦相似度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51138" y="38338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41763" y="38338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1436" y="383381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文本词频向量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0928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4214812"/>
              <a:ext cx="1196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Pearson 相关系数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51138" y="42148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41763" y="42148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1436" y="42148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变量之间的相似性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4748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47960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596765"/>
              <a:ext cx="1308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Spearman 相关系数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51138" y="45967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41763" y="45967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31436" y="459676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只关心排序时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295370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151698" y="295370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42322" y="295370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31995" y="295370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4"/>
          <p:cNvGrpSpPr/>
          <p:nvPr/>
        </p:nvGrpSpPr>
        <p:grpSpPr>
          <a:xfrm>
            <a:off x="533400" y="5025390"/>
            <a:ext cx="5410200" cy="1172528"/>
            <a:chOff x="533400" y="5025390"/>
            <a:chExt cx="5410200" cy="1172528"/>
          </a:xfrm>
        </p:grpSpPr>
        <p:sp>
          <p:nvSpPr>
            <p:cNvPr id="40" name="Rectangle 40"/>
            <p:cNvSpPr/>
            <p:nvPr/>
          </p:nvSpPr>
          <p:spPr>
            <a:xfrm>
              <a:off x="533400" y="5025390"/>
              <a:ext cx="5410200" cy="1172528"/>
            </a:xfrm>
            <a:prstGeom prst="roundRect">
              <a:avLst>
                <a:gd name="adj" fmla="val 974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511165"/>
              <a:ext cx="200026" cy="200026"/>
              <a:chOff x="738188" y="551116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5111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5778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6111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5170646"/>
              <a:ext cx="4467098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Pearson 相关系数就是先把两个向量各自中心化、再算余弦。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Spearman 则是先把原始数据换成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名次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，再对名次算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Pearson，因此对异常值不敏感。当距离用时写成 1 − r，即相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关距离。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248400" y="1524000"/>
            <a:ext cx="5410200" cy="2211705"/>
            <a:chOff x="6248400" y="1524000"/>
            <a:chExt cx="5410200" cy="2211705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33451" y="174450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同一对向量，三个度量给出三种结论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0998" y="2061686"/>
              <a:ext cx="28733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仍取 x = (1, 2, 3)，y = (4, 6, 3)。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77000" y="23983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32448" y="2346484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欧式距离 = 5，看上去不近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77000" y="268414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2448" y="2631281"/>
              <a:ext cx="3373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 = 0.8555，夹角 31.2°，方向相当接近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77000" y="296894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2448" y="2916079"/>
              <a:ext cx="4037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Pearson r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−0.327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，说明两条折线的涨跌趋势相反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2141" y="3197543"/>
              <a:ext cx="469792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原因：余弦不减均值，两个向量都在第一象限，夹角自然小；Pearson 减了均值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以后，x 是递增的而 y 是先升后降。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248400" y="3900488"/>
            <a:ext cx="5410200" cy="1403032"/>
            <a:chOff x="6248400" y="3900488"/>
            <a:chExt cx="5410200" cy="1403032"/>
          </a:xfrm>
        </p:grpSpPr>
        <p:sp>
          <p:nvSpPr>
            <p:cNvPr id="61" name="Rectangle 61"/>
            <p:cNvSpPr/>
            <p:nvPr/>
          </p:nvSpPr>
          <p:spPr>
            <a:xfrm>
              <a:off x="6248400" y="3900488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7925" y="403383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7475" y="40814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0147" y="41143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33451" y="41209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余弦不是平移不变的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60998" y="4438174"/>
              <a:ext cx="467029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y 的每一维都加 1，余弦从 0.8555 变成 0.8733；而把 y 整体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 2，余弦一点不变。所以余弦只对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缩放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免疫，对加减常数不免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疫。文本里用它没问题，因为词频天然从 0 起算。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6248400" y="5468302"/>
            <a:ext cx="5410200" cy="728662"/>
            <a:chOff x="6248400" y="5468302"/>
            <a:chExt cx="5410200" cy="728662"/>
          </a:xfrm>
        </p:grpSpPr>
        <p:sp>
          <p:nvSpPr>
            <p:cNvPr id="68" name="Rectangle 68"/>
            <p:cNvSpPr/>
            <p:nvPr/>
          </p:nvSpPr>
          <p:spPr>
            <a:xfrm>
              <a:off x="6248400" y="5468302"/>
              <a:ext cx="5410200" cy="728662"/>
            </a:xfrm>
            <a:prstGeom prst="roundRect">
              <a:avLst>
                <a:gd name="adj" fmla="val 156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53188" y="5733098"/>
              <a:ext cx="200026" cy="200025"/>
              <a:chOff x="6453188" y="5733098"/>
              <a:chExt cx="200026" cy="2000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453188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92926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27642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56273" y="5626894"/>
              <a:ext cx="44345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度量变量之间的相似性时常用相关系数的绝对值：r = −0.9 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 = 0.9 都说明两个变量关系很强，只是方向相反。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数据间的距离与相似度度量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距离怎么选：先看数据类型，再看有没有量纲问题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184290" cy="308039"/>
            <a:chOff x="525399" y="1550194"/>
            <a:chExt cx="61842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这一页是自学时最容易跳过、实际做项目时最容易栽跟头的一页。</a:t>
              </a:r>
            </a:p>
          </p:txBody>
        </p:sp>
      </p:grpSp>
      <p:grpSp>
        <p:nvGrpSpPr>
          <p:cNvPr id="50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9481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129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推荐度量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6304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1684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反面教材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连续数值、量纲相同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6626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欧式距离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14188" y="2551271"/>
              <a:ext cx="3009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最直观，K-means 的目标函数就按它写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85123" y="255127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直接用未归一化的原始值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连续数值、量纲不同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66263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先标准化再用欧式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4188" y="300085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否则数值大的那一维独吞话语权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85123" y="30008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把年龄和年收入直接相减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49479"/>
              <a:ext cx="1281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稀疏的 0-1 向量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66263" y="3449479"/>
              <a:ext cx="1893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Jaccard、Czekanowski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4188" y="3449479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两边都是 0 不该算作相似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85123" y="3449479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用欧式距离数 0 的个数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3898106"/>
              <a:ext cx="1514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词频、TF-IDF 向量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66263" y="38981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余弦相似度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4188" y="389810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文档长度不该影响主题相似性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85123" y="38981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用欧式距离比长短文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3467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只关心排序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66263" y="4346734"/>
              <a:ext cx="1552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Spearman 相关系数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14188" y="43467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对异常值和单调变换不敏感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85123" y="4346734"/>
              <a:ext cx="2112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直接用原始数值算 Pearson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223" y="479536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类别型（颜色、城市）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66263" y="4795361"/>
              <a:ext cx="1986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VDM 或独热后用 Jaccard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14188" y="479536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类别之间没有大小关系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85123" y="4795361"/>
              <a:ext cx="2123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把类别编成 1、2、3 再相减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75367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20160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87253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allout-2"/>
          <p:cNvGrpSpPr/>
          <p:nvPr/>
        </p:nvGrpSpPr>
        <p:grpSpPr>
          <a:xfrm>
            <a:off x="533400" y="5299710"/>
            <a:ext cx="11125200" cy="1062990"/>
            <a:chOff x="533400" y="5299710"/>
            <a:chExt cx="11125200" cy="1062990"/>
          </a:xfrm>
        </p:grpSpPr>
        <p:sp>
          <p:nvSpPr>
            <p:cNvPr id="51" name="Rectangle 51"/>
            <p:cNvSpPr/>
            <p:nvPr/>
          </p:nvSpPr>
          <p:spPr>
            <a:xfrm>
              <a:off x="533400" y="5299710"/>
              <a:ext cx="11125200" cy="1062990"/>
            </a:xfrm>
            <a:prstGeom prst="roundRect">
              <a:avLst>
                <a:gd name="adj" fmla="val 1075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731195"/>
              <a:ext cx="200023" cy="200023"/>
              <a:chOff x="738188" y="573119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7311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5797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588318"/>
              <a:ext cx="9568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连续属性和类别属性混在一起时，常用的做法是把两种距离加权相加（闵可夫斯基距离管连续属性，VDM 管类别属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性），权重按属性重要性给。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746784" cy="3351847"/>
            <a:chOff x="667512" y="1835468"/>
            <a:chExt cx="47467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540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划分聚类：K-means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368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先猜 k 个中心，再反复地“分配样本、更新中心”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4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三步循环与目标函数 SSE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手算一个两轮收敛的例子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初值敏感：同一组数据的两个局部最优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5675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怎么选，以及 K-means 管不了的形状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21821" cy="909257"/>
            <a:chOff x="520446" y="342900"/>
            <a:chExt cx="8021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0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194" y="407194"/>
              <a:ext cx="233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划分聚类：K-means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21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K-means：分配样本，更新中心，反复直到不再变化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66592" cy="308039"/>
            <a:chOff x="525399" y="1550194"/>
            <a:chExt cx="70665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665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是最终簇数，是超参数，要预先设定；means 指更新中心时取的是均值。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3208442" cy="2529173"/>
            <a:chOff x="533400" y="1977390"/>
            <a:chExt cx="3208442" cy="252917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随机选 k 个点作为初始簇中心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每个样本归到离它最近的中心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每个簇的中心改为簇内样本的均值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分配不再改变则停止，否则回第 2 步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684395"/>
            <a:ext cx="5410200" cy="1335405"/>
            <a:chOff x="533400" y="4684395"/>
            <a:chExt cx="5410200" cy="1335405"/>
          </a:xfrm>
        </p:grpSpPr>
        <p:sp>
          <p:nvSpPr>
            <p:cNvPr id="27" name="Rectangle 27"/>
            <p:cNvSpPr/>
            <p:nvPr/>
          </p:nvSpPr>
          <p:spPr>
            <a:xfrm>
              <a:off x="533400" y="4684395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52085"/>
              <a:ext cx="200026" cy="200026"/>
              <a:chOff x="738188" y="525208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2520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3187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3520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832985"/>
              <a:ext cx="45015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每一轮的计算量是 O(N·k·n)，所以 K-means 在大数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据集上依然跑得动。判停条件有三种写法：分配不再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改变（最严格）、中心移动量小于阈值（常用）、达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到最大轮数（兜底），实现里通常三条一起用。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6248400" y="1967865"/>
            <a:ext cx="5410200" cy="2791778"/>
            <a:chOff x="6248400" y="1967865"/>
            <a:chExt cx="5410200" cy="2791778"/>
          </a:xfrm>
        </p:grpSpPr>
        <p:sp>
          <p:nvSpPr>
            <p:cNvPr id="34" name="Rectangle 34"/>
            <p:cNvSpPr/>
            <p:nvPr/>
          </p:nvSpPr>
          <p:spPr>
            <a:xfrm>
              <a:off x="6248400" y="1967865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6797" y="2119789"/>
              <a:ext cx="12778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一次完整的 K-means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6797" y="2379821"/>
              <a:ext cx="3930396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numpy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kmeans(X, k, iters=100):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 = X[np.random.choice(len(X), k, replace=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range(iters):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 = np.linalg.norm(X[:,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- C[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None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], axis=2)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lab = D.argmin(1)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步骤2 分配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newC = np.array([X[lab == j].mean(0)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range(k)])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步骤3 更新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np.allclose(newC, C):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break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中心不动了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 = newC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C, lab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248400" y="4950142"/>
            <a:ext cx="5410200" cy="1070610"/>
            <a:chOff x="6248400" y="4950142"/>
            <a:chExt cx="5410200" cy="1070610"/>
          </a:xfrm>
        </p:grpSpPr>
        <p:sp>
          <p:nvSpPr>
            <p:cNvPr id="38" name="Rectangle 38"/>
            <p:cNvSpPr/>
            <p:nvPr/>
          </p:nvSpPr>
          <p:spPr>
            <a:xfrm>
              <a:off x="6248400" y="4950142"/>
              <a:ext cx="5410200" cy="1070610"/>
            </a:xfrm>
            <a:prstGeom prst="roundRect">
              <a:avLst>
                <a:gd name="adj" fmla="val 1067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53188" y="5385435"/>
              <a:ext cx="200026" cy="200025"/>
              <a:chOff x="6453188" y="538543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53188" y="53854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92926" y="54298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27642" y="55410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130" y="5104448"/>
              <a:ext cx="4520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某一簇在分配后变空时 </a:t>
              </a:r>
              <a:r>
                <a:rPr lang="en-US" sz="150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X[lab == j]</a:t>
              </a: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会取平均得到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NaN。工程实现要么把最远的样本调过去，要么重新随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机一个中心。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7776" cy="909257"/>
            <a:chOff x="520446" y="342900"/>
            <a:chExt cx="591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0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194" y="407194"/>
              <a:ext cx="233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划分聚类：K-means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 SSE：两个步骤各自让它下降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3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bi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e>
                                  <m:d>
                                    <m:dPr>
                                      <m:begChr m:val="‖"/>
                                      <m:sepChr m:val=""/>
                                      <m:endChr m:val="‖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l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bi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2"/>
          <p:cNvGrpSpPr/>
          <p:nvPr/>
        </p:nvGrpSpPr>
        <p:grpSpPr>
          <a:xfrm>
            <a:off x="533400" y="2290762"/>
            <a:ext cx="5626418" cy="2317432"/>
            <a:chOff x="533400" y="2290762"/>
            <a:chExt cx="5626418" cy="2317432"/>
          </a:xfrm>
        </p:grpSpPr>
        <p:sp>
          <p:nvSpPr>
            <p:cNvPr id="8" name="Rectangle 8"/>
            <p:cNvSpPr/>
            <p:nvPr/>
          </p:nvSpPr>
          <p:spPr>
            <a:xfrm>
              <a:off x="533400" y="2290762"/>
              <a:ext cx="5626418" cy="2317432"/>
            </a:xfrm>
            <a:prstGeom prst="roundRect">
              <a:avLst>
                <a:gd name="adj" fmla="val 575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20090" y="247745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7509" y="25103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为什么一定停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3842" y="2512695"/>
              <a:ext cx="1699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两步都不会让 J 变大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0090" y="282702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5768" y="28654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0887" y="283845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分配步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：中心不动，把每个样本改判到最近的中心，它那一项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的平方距离只会变小或不变。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20090" y="338423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5768" y="34226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0887" y="3396615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更新步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：分配不动，对 J 关于 μₗ 求导得 2Σ(x − μₗ) = 0，解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 μₗ 就是簇内均值，这正是让该簇平方和最小的点。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3953827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单调不增且有下界 0，而 N 个样本分成 k 组的方式只有有限种，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所以有限步内必定停下。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778692"/>
            <a:ext cx="5626418" cy="1548765"/>
            <a:chOff x="533400" y="4778692"/>
            <a:chExt cx="5626418" cy="1548765"/>
          </a:xfrm>
        </p:grpSpPr>
        <p:sp>
          <p:nvSpPr>
            <p:cNvPr id="20" name="Rectangle 20"/>
            <p:cNvSpPr/>
            <p:nvPr/>
          </p:nvSpPr>
          <p:spPr>
            <a:xfrm>
              <a:off x="533400" y="4778692"/>
              <a:ext cx="5626418" cy="1548765"/>
            </a:xfrm>
            <a:prstGeom prst="roundRect">
              <a:avLst>
                <a:gd name="adj" fmla="val 738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449371"/>
              <a:ext cx="224134" cy="192560"/>
              <a:chOff x="726129" y="5449371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5197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4493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5975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5210175"/>
              <a:ext cx="462572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单调下降只保证收敛到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局部最优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。停下来的那个划分未必是 J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最小的划分：第 21 页的六个点，换一组初值，SSE 从 1.5 变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 26，两次都“收敛”了。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464618" y="1524000"/>
            <a:ext cx="5193982" cy="1459230"/>
            <a:chOff x="6464618" y="1524000"/>
            <a:chExt cx="5193982" cy="1459230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9408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492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两种读法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4557" y="1745932"/>
              <a:ext cx="1860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SSE 既是目标也是评价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82549" y="2071688"/>
              <a:ext cx="45399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训练时它是要最小化的目标函数；训练完它就是这次聚类紧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不紧的一个分数，常写作簇内误差平方和（Sum of Squared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Errors）。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3153728"/>
            <a:ext cx="5193982" cy="2274570"/>
            <a:chOff x="6464618" y="3153728"/>
            <a:chExt cx="5193982" cy="2274570"/>
          </a:xfrm>
        </p:grpSpPr>
        <p:sp>
          <p:nvSpPr>
            <p:cNvPr id="34" name="Rectangle 34"/>
            <p:cNvSpPr/>
            <p:nvPr/>
          </p:nvSpPr>
          <p:spPr>
            <a:xfrm>
              <a:off x="6464618" y="3153728"/>
              <a:ext cx="5193982" cy="2274570"/>
            </a:xfrm>
            <a:prstGeom prst="roundRect">
              <a:avLst>
                <a:gd name="adj" fmla="val 5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3287078"/>
              <a:ext cx="47625" cy="20078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9408" y="33404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2079" y="33732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55954" y="337566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原课件目标函数的两处问题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82549" y="3701415"/>
              <a:ext cx="460000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23 页内层求和上限写作 n，旁注说 n 是“第 j 个簇里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的样本数”。可同一份课件第 5 页已把 n 用作特征维数，而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且簇的大小随 j 变化，不能写成固定的 n。应对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属于该簇的样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82549" y="4772978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20 页把同一个式子叫“最小平方误差 MSE”。式子没有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除以样本数，是误差平方和 SSE。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464618" y="5597842"/>
            <a:ext cx="5193982" cy="729615"/>
            <a:chOff x="6464618" y="5597842"/>
            <a:chExt cx="5193982" cy="729615"/>
          </a:xfrm>
        </p:grpSpPr>
        <p:sp>
          <p:nvSpPr>
            <p:cNvPr id="42" name="Rectangle 42"/>
            <p:cNvSpPr/>
            <p:nvPr/>
          </p:nvSpPr>
          <p:spPr>
            <a:xfrm>
              <a:off x="6464618" y="559784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69405" y="5862638"/>
              <a:ext cx="200026" cy="200025"/>
              <a:chOff x="6669405" y="586263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9405" y="58626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09144" y="59070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43859" y="60182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72110" y="5743575"/>
              <a:ext cx="39999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比较两次聚类的 SSE 只在 k 相同时才有意义：k 越大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SSE 必然越小，k = N 时 SSE 为 0。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0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194" y="407194"/>
              <a:ext cx="233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划分聚类：K-means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手算例题：六个点、两个中心、两轮收敛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323989" cy="278702"/>
            <a:chOff x="526161" y="1547336"/>
            <a:chExt cx="932398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3239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 x₁(1,1)、x₂(2,1)、x₃(1,2)、x₄(5,4)、x₅(6,4)、x₆(5,5)，初始中心取 c₁ = (1,1)、c₂ = (2,1)。</a:t>
              </a:r>
            </a:p>
          </p:txBody>
        </p:sp>
      </p:grpSp>
      <p:grpSp>
        <p:nvGrpSpPr>
          <p:cNvPr id="53" name="c1-table-1"/>
          <p:cNvGrpSpPr/>
          <p:nvPr/>
        </p:nvGrpSpPr>
        <p:grpSpPr>
          <a:xfrm>
            <a:off x="528066" y="1941195"/>
            <a:ext cx="5415534" cy="3120962"/>
            <a:chOff x="528066" y="1941195"/>
            <a:chExt cx="5415534" cy="312096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222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35049" y="2065496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c₁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41891" y="2065496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c₂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416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x₁(1,1)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4038" y="24712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29927" y="24712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46282" y="2356485"/>
              <a:ext cx="13877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36770" y="247126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87702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x₂(2,1)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24038" y="28770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9927" y="28770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6770" y="287702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28279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x₃(1,2)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24038" y="32827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29927" y="32827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46282" y="3168015"/>
              <a:ext cx="13877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36770" y="328279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368855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x₄(5,4)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24038" y="36885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9927" y="36885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4.243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36770" y="36885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965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09432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x₅(6,4)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24038" y="40943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5.831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29927" y="40943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36770" y="409432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371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3757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450008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x₆(5,5)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24038" y="45000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5.657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29927" y="45000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36770" y="450008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941195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71926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12515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31995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8066" y="4856798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轮：到两个中心的距离</a:t>
              </a:r>
            </a:p>
          </p:txBody>
        </p:sp>
      </p:grpSp>
      <p:grpSp>
        <p:nvGrpSpPr>
          <p:cNvPr id="60" name="c1-callout-2"/>
          <p:cNvGrpSpPr/>
          <p:nvPr/>
        </p:nvGrpSpPr>
        <p:grpSpPr>
          <a:xfrm>
            <a:off x="533400" y="5195888"/>
            <a:ext cx="5410200" cy="978218"/>
            <a:chOff x="533400" y="5195888"/>
            <a:chExt cx="5410200" cy="978218"/>
          </a:xfrm>
        </p:grpSpPr>
        <p:sp>
          <p:nvSpPr>
            <p:cNvPr id="54" name="Rectangle 54"/>
            <p:cNvSpPr/>
            <p:nvPr/>
          </p:nvSpPr>
          <p:spPr>
            <a:xfrm>
              <a:off x="533400" y="5195888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584508"/>
              <a:ext cx="200026" cy="200026"/>
              <a:chOff x="738188" y="558450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5845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56511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56845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5466398"/>
              <a:ext cx="43535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1 轮后更新中心：c₁ = (1, 1.5)，c₂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(4.5, 3.5)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此时还留在右边的簇里。</a:t>
              </a:r>
            </a:p>
          </p:txBody>
        </p:sp>
      </p:grpSp>
      <p:grpSp>
        <p:nvGrpSpPr>
          <p:cNvPr id="104" name="c2-table-1"/>
          <p:cNvGrpSpPr/>
          <p:nvPr/>
        </p:nvGrpSpPr>
        <p:grpSpPr>
          <a:xfrm>
            <a:off x="6243066" y="1941195"/>
            <a:ext cx="5415534" cy="3120962"/>
            <a:chOff x="6243066" y="1941195"/>
            <a:chExt cx="5415534" cy="3120962"/>
          </a:xfrm>
        </p:grpSpPr>
        <p:sp>
          <p:nvSpPr>
            <p:cNvPr id="61" name="Rectangle 61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8722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50049" y="2065496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c₁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56891" y="2065496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c₂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9916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48412" y="247126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x₁(1,1)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39038" y="24712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44928" y="24712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4.301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351770" y="247126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8412" y="287702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x₂(2,1)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39038" y="28770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44928" y="28770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3.536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261282" y="2762250"/>
              <a:ext cx="138779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351770" y="287702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8412" y="328279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x₃(1,2)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39038" y="32827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944928" y="32827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3.808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51770" y="328279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48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48412" y="368855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x₄(5,4)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9038" y="36885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4.717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944928" y="36885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51770" y="36885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48400" y="3965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48412" y="4094321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x₅(6,4)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539038" y="40943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5.590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944928" y="40943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351770" y="409432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48400" y="4371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48400" y="43757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348412" y="450008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x₆(5,5)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539038" y="45000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5.315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944928" y="45000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1.581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351770" y="450008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248400" y="1941195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43426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84015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0246995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43066" y="485679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轮：中心已经移动</a:t>
              </a:r>
            </a:p>
          </p:txBody>
        </p:sp>
      </p:grpSp>
      <p:grpSp>
        <p:nvGrpSpPr>
          <p:cNvPr id="110" name="c2-callout-2"/>
          <p:cNvGrpSpPr/>
          <p:nvPr/>
        </p:nvGrpSpPr>
        <p:grpSpPr>
          <a:xfrm>
            <a:off x="6248400" y="5195888"/>
            <a:ext cx="5410200" cy="978218"/>
            <a:chOff x="6248400" y="5195888"/>
            <a:chExt cx="5410200" cy="978218"/>
          </a:xfrm>
        </p:grpSpPr>
        <p:sp>
          <p:nvSpPr>
            <p:cNvPr id="105" name="Rectangle 105"/>
            <p:cNvSpPr/>
            <p:nvPr/>
          </p:nvSpPr>
          <p:spPr>
            <a:xfrm>
              <a:off x="6248400" y="5195888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6453188" y="5584508"/>
              <a:ext cx="200026" cy="200026"/>
              <a:chOff x="6453188" y="5584508"/>
              <a:chExt cx="200026" cy="200026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6453188" y="55845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6519863" y="56622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6755892" y="5341620"/>
              <a:ext cx="4398550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x₂ 被拉回左簇，新中心 c₁ = (4/3, 4/3)、c₂ = (16/3,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13/3)。第 3 轮分配不变，停止，SSE 从 18.5 降到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8/3 ≈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2.667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7723" cy="909257"/>
            <a:chOff x="520446" y="342900"/>
            <a:chExt cx="68177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0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194" y="407194"/>
              <a:ext cx="233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划分聚类：K-means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7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初值敏感：同一组数据，两种初值差了 17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93495"/>
            <a:chOff x="533400" y="1524000"/>
            <a:chExt cx="4977765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六个点分三簇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8106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x₁(0,0)、x₂(0,1)、x₃(5,0)、x₄(5,1)、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x₅(10,0)、x₆(10,1)，明显是三对点，k = 3。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002280"/>
            <a:ext cx="4977765" cy="1720215"/>
            <a:chOff x="533400" y="3002280"/>
            <a:chExt cx="4977765" cy="1720215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497776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0036" y="3133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初始中心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2171" y="3133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9511" y="313372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746" y="356425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x₂, x₃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31339" y="356425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{x₁} {x₂} {x₃x₄x₅x₆}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26242" y="3442335"/>
              <a:ext cx="127539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22064" y="356425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8585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863340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99383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x₂, x₅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31339" y="3993832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{x₁x₃} {x₂x₄} {x₅x₆}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22064" y="399383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881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42436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x₃, x₅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31339" y="4424362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{x₁x₂} {x₃x₄} {x₅x₆}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26242" y="4302442"/>
              <a:ext cx="127539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22064" y="442436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002280"/>
              <a:ext cx="497776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21230" y="30022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11955" y="30022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3"/>
          <p:cNvGrpSpPr/>
          <p:nvPr/>
        </p:nvGrpSpPr>
        <p:grpSpPr>
          <a:xfrm>
            <a:off x="533400" y="4908232"/>
            <a:ext cx="4977765" cy="1281112"/>
            <a:chOff x="533400" y="4908232"/>
            <a:chExt cx="4977765" cy="1281112"/>
          </a:xfrm>
        </p:grpSpPr>
        <p:sp>
          <p:nvSpPr>
            <p:cNvPr id="36" name="Rectangle 36"/>
            <p:cNvSpPr/>
            <p:nvPr/>
          </p:nvSpPr>
          <p:spPr>
            <a:xfrm>
              <a:off x="533400" y="4908232"/>
              <a:ext cx="4977765" cy="1281112"/>
            </a:xfrm>
            <a:prstGeom prst="roundRect">
              <a:avLst>
                <a:gd name="adj" fmla="val 892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445561"/>
              <a:ext cx="224134" cy="192560"/>
              <a:chOff x="726129" y="5445561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5159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4455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5937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056346"/>
              <a:ext cx="4072128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第一种初值把两个中心浪费在同一对点上，剩下一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个中心被迫罩住右边四个点，停在 SSE = 26 再也动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不了。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算法没出错，它确实收敛了</a:t>
              </a: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，只是收敛到局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部最优。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5815965" y="1524000"/>
            <a:ext cx="5842635" cy="2484120"/>
            <a:chOff x="5815965" y="1524000"/>
            <a:chExt cx="5842635" cy="2484120"/>
          </a:xfrm>
        </p:grpSpPr>
        <p:sp>
          <p:nvSpPr>
            <p:cNvPr id="43" name="Rectangle 43"/>
            <p:cNvSpPr/>
            <p:nvPr/>
          </p:nvSpPr>
          <p:spPr>
            <a:xfrm>
              <a:off x="5815965" y="1524000"/>
              <a:ext cx="5842635" cy="2484120"/>
            </a:xfrm>
            <a:prstGeom prst="roundRect">
              <a:avLst>
                <a:gd name="adj" fmla="val 536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1980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1000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20256" y="1767364"/>
              <a:ext cx="2074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K-means++ 的初值选法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19800" y="210693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78145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09741" y="211978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随机选第一个中心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019800" y="242697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78145" y="24673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09741" y="2439829"/>
              <a:ext cx="3755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对每个样本算它到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已选中心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的最近距离 D(x)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19800" y="274701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78145" y="27873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09741" y="2759869"/>
              <a:ext cx="31580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以正比于 D(x)² 的概率抽下一个中心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19800" y="306705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78145" y="31073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09741" y="3079909"/>
              <a:ext cx="31764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重复到选满 k 个，再照常跑 K-means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3704" y="3395662"/>
              <a:ext cx="5216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让新中心尽量远离已有中心，避免两个中心挤在同一团块里。scikit-learn 的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KMeans 默认用它。</a:t>
              </a:r>
            </a:p>
          </p:txBody>
        </p:sp>
      </p:grpSp>
      <p:grpSp>
        <p:nvGrpSpPr>
          <p:cNvPr id="80" name="c2-table-2"/>
          <p:cNvGrpSpPr/>
          <p:nvPr/>
        </p:nvGrpSpPr>
        <p:grpSpPr>
          <a:xfrm>
            <a:off x="5815965" y="4193858"/>
            <a:ext cx="5842635" cy="1933575"/>
            <a:chOff x="5815965" y="4193858"/>
            <a:chExt cx="5842635" cy="1933575"/>
          </a:xfrm>
        </p:grpSpPr>
        <p:sp>
          <p:nvSpPr>
            <p:cNvPr id="61" name="Rectangle 61"/>
            <p:cNvSpPr/>
            <p:nvPr/>
          </p:nvSpPr>
          <p:spPr>
            <a:xfrm>
              <a:off x="5815965" y="4193858"/>
              <a:ext cx="584263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82728" y="4324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35328" y="4324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22242" y="4324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21312" y="475488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多次随机重启取最小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91069" y="48615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跑多次算法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26512" y="48615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简单有效，最常用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815965" y="52625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15965" y="526732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21312" y="5398770"/>
              <a:ext cx="89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K-means++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91069" y="539877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一次额外扫描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26512" y="5398770"/>
              <a:ext cx="1527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SSE 有理论上界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56921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21312" y="5828348"/>
              <a:ext cx="1080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 K-means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91069" y="58283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逐次二分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26512" y="582834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对初值几乎不敏感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815965" y="4193858"/>
              <a:ext cx="5842635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680960" y="4193858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316402" y="4193858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5405" cy="909257"/>
            <a:chOff x="520446" y="342900"/>
            <a:chExt cx="6185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0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194" y="407194"/>
              <a:ext cx="233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划分聚类：K-means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5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怎么选：肘部法看拐点，指标法看极值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32938" cy="278702"/>
            <a:chOff x="526161" y="1547336"/>
            <a:chExt cx="783293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329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 9 个点分成明显的三团：(0,0)(1,0)(0,1)、(6,0)(7,0)(6,1)、(3,6)(4,6)(3,7)。</a:t>
              </a:r>
            </a:p>
          </p:txBody>
        </p:sp>
      </p:grpSp>
      <p:grpSp>
        <p:nvGrpSpPr>
          <p:cNvPr id="56" name="c1-table-1"/>
          <p:cNvGrpSpPr/>
          <p:nvPr/>
        </p:nvGrpSpPr>
        <p:grpSpPr>
          <a:xfrm>
            <a:off x="528066" y="1941195"/>
            <a:ext cx="5199316" cy="2509456"/>
            <a:chOff x="528066" y="1941195"/>
            <a:chExt cx="5199316" cy="250945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60579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4181" y="21655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474" y="216550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87398" y="2165509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SSE 降幅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99245" y="2165509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DBI↓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28213" y="2165509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69510" y="2065496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轮廓系数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3412" y="26712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2525" y="267128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130.0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87880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26105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9072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92040" y="26712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479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95275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077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2525" y="30770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7880" y="307705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26105" y="30770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09072" y="30770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0.762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92040" y="307705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0.539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537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368040"/>
              <a:ext cx="50006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482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2525" y="348281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87880" y="348281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54.0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035618" y="3368040"/>
              <a:ext cx="86391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26105" y="348281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918585" y="3368040"/>
              <a:ext cx="86391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09072" y="348281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3.536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01552" y="3368040"/>
              <a:ext cx="91630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92040" y="348281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0.815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7595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376428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3888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2525" y="38885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87880" y="38885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26105" y="3888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0.617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09072" y="3888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92040" y="3888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0.681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941195"/>
              <a:ext cx="5193982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47750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983105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021330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904298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787265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066" y="424529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同一组数据上四个量随 k 的变化</a:t>
              </a:r>
            </a:p>
          </p:txBody>
        </p:sp>
      </p:grpSp>
      <p:grpSp>
        <p:nvGrpSpPr>
          <p:cNvPr id="62" name="c1-callout-2"/>
          <p:cNvGrpSpPr/>
          <p:nvPr/>
        </p:nvGrpSpPr>
        <p:grpSpPr>
          <a:xfrm>
            <a:off x="533400" y="4584382"/>
            <a:ext cx="5193982" cy="1069658"/>
            <a:chOff x="533400" y="4584382"/>
            <a:chExt cx="5193982" cy="1069658"/>
          </a:xfrm>
        </p:grpSpPr>
        <p:sp>
          <p:nvSpPr>
            <p:cNvPr id="57" name="Rectangle 57"/>
            <p:cNvSpPr/>
            <p:nvPr/>
          </p:nvSpPr>
          <p:spPr>
            <a:xfrm>
              <a:off x="533400" y="4584382"/>
              <a:ext cx="5193982" cy="1069658"/>
            </a:xfrm>
            <a:prstGeom prst="roundRect">
              <a:avLst>
                <a:gd name="adj" fmla="val 1068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018723"/>
              <a:ext cx="200026" cy="200026"/>
              <a:chOff x="738188" y="501872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0187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04863" y="509651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4775835"/>
              <a:ext cx="417995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 从 3 加到 4 时 SSE 只降了 0.83，而前一步降了 54，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曲线在 k = 3 处拐弯；DBI 取最小、DI 与轮廓系数取最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大，四个量一致指向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= 3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032182" y="1941195"/>
            <a:ext cx="5626418" cy="1483995"/>
            <a:chOff x="6032182" y="1941195"/>
            <a:chExt cx="5626418" cy="1483995"/>
          </a:xfrm>
        </p:grpSpPr>
        <p:sp>
          <p:nvSpPr>
            <p:cNvPr id="63" name="Rectangle 63"/>
            <p:cNvSpPr/>
            <p:nvPr/>
          </p:nvSpPr>
          <p:spPr>
            <a:xfrm>
              <a:off x="6032182" y="1941195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1708" y="207454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62688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50127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肘部法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79730" y="2173605"/>
              <a:ext cx="1254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elbow method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55830" y="2507932"/>
              <a:ext cx="49514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SSE 对 k 画成曲线。k 小于真实簇数时每加一个簇都会拆开一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个大团，SSE 断崖式下降；k 超过真实簇数后只是把紧凑的团继续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切碎，SSE 只轻微下降。两段之间的拐点形似手肘。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6032182" y="3600450"/>
            <a:ext cx="5626418" cy="2053590"/>
            <a:chOff x="6032182" y="3600450"/>
            <a:chExt cx="5626418" cy="2053590"/>
          </a:xfrm>
        </p:grpSpPr>
        <p:sp>
          <p:nvSpPr>
            <p:cNvPr id="70" name="Rectangle 70"/>
            <p:cNvSpPr/>
            <p:nvPr/>
          </p:nvSpPr>
          <p:spPr>
            <a:xfrm>
              <a:off x="6032182" y="3600450"/>
              <a:ext cx="5626418" cy="2053590"/>
            </a:xfrm>
            <a:prstGeom prst="roundRect">
              <a:avLst>
                <a:gd name="adj" fmla="val 6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41708" y="3733800"/>
              <a:ext cx="47625" cy="17868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62688" y="37928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54128" y="38271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46380" y="3832860"/>
              <a:ext cx="1752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轮廓系数 silhouette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55830" y="4167188"/>
              <a:ext cx="49171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对样本 i，设 a 是它到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同簇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其他样本的平均距离，b 是它到最近异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簇所有样本的平均距离：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formula98"/>
                <p:cNvSpPr txBox="1">
                  <a:spLocks noGrp="1"/>
                </p:cNvSpPr>
                <p:nvPr/>
              </p:nvSpPr>
              <p:spPr>
                <a:xfrm>
                  <a:off x="6262688" y="4704398"/>
                  <a:ext cx="520350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sepChr m:val=""/>
                                    <m:endChr m:val="}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7" name="TextBox 77"/>
            <p:cNvSpPr txBox="1"/>
            <p:nvPr/>
          </p:nvSpPr>
          <p:spPr>
            <a:xfrm>
              <a:off x="6255830" y="525018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取全体平均作为整体得分，它比肘部法客观。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9" name="Rectangle 7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892" y="6023610"/>
              <a:ext cx="9532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肘部法只能给出建议：真实数据里 SSE 曲线常常一路平滑下降，找不到肘。此时应结合业务含义和轮廓系数一起判断。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0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194" y="407194"/>
              <a:ext cx="233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划分聚类：K-means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噪声与离群点：一个远点就能把中心拖走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47838"/>
            <a:chOff x="533400" y="1524000"/>
            <a:chExt cx="5410200" cy="17478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一维例子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429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一个离群点的破坏力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4659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样本 1、2、3、4、100。均值是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，落在没有任何样本的空档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里；中位数是 3；medoid（使簇内总距离最小的那个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真实样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）也是 3。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903696"/>
              <a:ext cx="50916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平方距离对远点的惩罚是二次的，所以 K-means 会被一个离群点拽得很远。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47098"/>
            <a:ext cx="5410200" cy="2512695"/>
            <a:chOff x="533400" y="3447098"/>
            <a:chExt cx="5410200" cy="2512695"/>
          </a:xfrm>
        </p:grpSpPr>
        <p:sp>
          <p:nvSpPr>
            <p:cNvPr id="15" name="Rectangle 15"/>
            <p:cNvSpPr/>
            <p:nvPr/>
          </p:nvSpPr>
          <p:spPr>
            <a:xfrm>
              <a:off x="533400" y="3447098"/>
              <a:ext cx="5410200" cy="2512695"/>
            </a:xfrm>
            <a:prstGeom prst="roundRect">
              <a:avLst>
                <a:gd name="adj" fmla="val 53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80448"/>
              <a:ext cx="47625" cy="22459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6395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36737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597" y="3678555"/>
              <a:ext cx="2313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K-medoids 不是“求中位数”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012882"/>
              <a:ext cx="474573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版第 27 页的改进算法表把 K-medoids 的优化写成“从求平均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切换为求中位数”。中位数是 K-medians 的做法，而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K-medoids 是在簇内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挑一个真实存在的样本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当代表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（medoid），使它到簇内其余样本的距离之和最小。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8190" y="5083016"/>
              <a:ext cx="46840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一维时 medoid 恰好落在中位数附近，但在二维以上，中位数根本不是一个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样本点，两件事不能混。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3066" y="1524000"/>
            <a:ext cx="5415534" cy="2508504"/>
            <a:chOff x="6243066" y="1524000"/>
            <a:chExt cx="5415534" cy="2508504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415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84121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针对的不足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6577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48412" y="2054066"/>
              <a:ext cx="7926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K-medoids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46670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对离群点敏感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85948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用簇内真实样本当中心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8412" y="2459831"/>
              <a:ext cx="10081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 K-means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46670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初值影响大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85948" y="2459831"/>
              <a:ext cx="1726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每次把 SSE 最大的簇二分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8412" y="2865596"/>
              <a:ext cx="834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K-means++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46670" y="28655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初始中心分布不均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85948" y="28655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按距离平方的概率选初值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14706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8412" y="3271361"/>
              <a:ext cx="7507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Mini Batch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46670" y="33713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样本多时每轮太慢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85948" y="337137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每轮只抽一小批样本更新中心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41895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381172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3066" y="3827145"/>
              <a:ext cx="1620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K-means 的四种常见改进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4166235"/>
            <a:ext cx="5410200" cy="1792605"/>
            <a:chOff x="6248400" y="4166235"/>
            <a:chExt cx="5410200" cy="1792605"/>
          </a:xfrm>
        </p:grpSpPr>
        <p:sp>
          <p:nvSpPr>
            <p:cNvPr id="49" name="Rectangle 49"/>
            <p:cNvSpPr/>
            <p:nvPr/>
          </p:nvSpPr>
          <p:spPr>
            <a:xfrm>
              <a:off x="6248400" y="4166235"/>
              <a:ext cx="5410200" cy="1792605"/>
            </a:xfrm>
            <a:prstGeom prst="roundRect">
              <a:avLst>
                <a:gd name="adj" fmla="val 743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40805" y="43586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32245" y="43929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24497" y="4398645"/>
              <a:ext cx="1942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K-means 的优点与缺点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49378" y="478917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05397" y="473297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优点：经典、简单、快，对大数据集可伸缩，簇密集时效果好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49378" y="50911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05397" y="5034915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缺点：只适合数值型数据；k 必须预先给定；对初值敏感；对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噪声和离群点敏感；发现不了非凸形状或大小差别很大的簇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35090" y="5591651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因此它常常不是终点，而是别的算法（比如谱聚类）的最后一步。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078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194" y="407194"/>
              <a:ext cx="233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划分聚类：K-means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一条直线分不开两个同心环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898580" cy="264033"/>
            <a:chOff x="526542" y="1545907"/>
            <a:chExt cx="989858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898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K-means 把样本判给最近的中心，两个中心之间的判别边界就是它们连线的垂直平分线，是一条直线（高维下是超平面）。</a:t>
              </a:r>
            </a:p>
          </p:txBody>
        </p:sp>
      </p:grpSp>
      <p:grpSp>
        <p:nvGrpSpPr>
          <p:cNvPr id="31" name="c1-graph-1"/>
          <p:cNvGrpSpPr/>
          <p:nvPr/>
        </p:nvGrpSpPr>
        <p:grpSpPr>
          <a:xfrm>
            <a:off x="1041184" y="2065020"/>
            <a:ext cx="4449788" cy="2744152"/>
            <a:chOff x="1041184" y="2065020"/>
            <a:chExt cx="4449788" cy="2744152"/>
          </a:xfrm>
        </p:grpSpPr>
        <p:sp>
          <p:nvSpPr>
            <p:cNvPr id="9" name="Freeform 9"/>
            <p:cNvSpPr/>
            <p:nvPr/>
          </p:nvSpPr>
          <p:spPr>
            <a:xfrm>
              <a:off x="3129915" y="2065020"/>
              <a:ext cx="9525" cy="2744152"/>
            </a:xfrm>
            <a:custGeom>
              <a:avLst/>
              <a:gdLst/>
              <a:ahLst/>
              <a:cxnLst/>
              <a:rect l="l" t="t" r="r" b="b"/>
              <a:pathLst>
                <a:path w="9525" h="2744152">
                  <a:moveTo>
                    <a:pt x="0" y="0"/>
                  </a:moveTo>
                  <a:lnTo>
                    <a:pt x="0" y="2744152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3513772" y="338994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295650" y="306419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869882" y="306419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651760" y="338994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864168" y="37157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295650" y="37157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381500" y="338994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210050" y="281940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731895" y="240315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082290" y="2248852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433638" y="240315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955482" y="281940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784032" y="338994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955482" y="396049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433638" y="437673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082290" y="4530090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731895" y="4376738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210050" y="3960495"/>
              <a:ext cx="95250" cy="952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16018" y="2744629"/>
              <a:ext cx="774954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118"/>
                </a:lnSpc>
              </a:pPr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K-means 的判别</a:t>
              </a:r>
              <a:br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90087" y="367998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内环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184" y="33485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外环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115878"/>
            <a:ext cx="5193982" cy="1187768"/>
            <a:chOff x="533400" y="5115878"/>
            <a:chExt cx="5193982" cy="1187768"/>
          </a:xfrm>
        </p:grpSpPr>
        <p:sp>
          <p:nvSpPr>
            <p:cNvPr id="32" name="Rectangle 32"/>
            <p:cNvSpPr/>
            <p:nvPr/>
          </p:nvSpPr>
          <p:spPr>
            <a:xfrm>
              <a:off x="533400" y="5115878"/>
              <a:ext cx="5193982" cy="1187768"/>
            </a:xfrm>
            <a:prstGeom prst="roundRect">
              <a:avLst>
                <a:gd name="adj" fmla="val 962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610225"/>
              <a:ext cx="200026" cy="200026"/>
              <a:chOff x="738188" y="561022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6102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676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7102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5491162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图中竖直虚线就是两个中心一左一右时的判别边界：它把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两个环各切成两半，任何一半都不是一个环。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032182" y="1928812"/>
            <a:ext cx="5626418" cy="1459230"/>
            <a:chOff x="6032182" y="1928812"/>
            <a:chExt cx="5626418" cy="1459230"/>
          </a:xfrm>
        </p:grpSpPr>
        <p:sp>
          <p:nvSpPr>
            <p:cNvPr id="39" name="Rectangle 39"/>
            <p:cNvSpPr/>
            <p:nvPr/>
          </p:nvSpPr>
          <p:spPr>
            <a:xfrm>
              <a:off x="6032182" y="1928812"/>
              <a:ext cx="5626418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41708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6972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869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22567" y="21507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直线边界切不出环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50114" y="2476500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无论把两个中心放在哪里，判别边界都是一条直线，只能把平面切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成两个半平面。两个同心环的正确划分是“里面一圈”和“外面一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圈”，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任何直线都做不到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032182" y="3558540"/>
            <a:ext cx="5626418" cy="1845945"/>
            <a:chOff x="6032182" y="3558540"/>
            <a:chExt cx="5626418" cy="1845945"/>
          </a:xfrm>
        </p:grpSpPr>
        <p:sp>
          <p:nvSpPr>
            <p:cNvPr id="46" name="Rectangle 46"/>
            <p:cNvSpPr/>
            <p:nvPr/>
          </p:nvSpPr>
          <p:spPr>
            <a:xfrm>
              <a:off x="6032182" y="3558540"/>
              <a:ext cx="5626418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41708" y="3691890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6972" y="37452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8692" y="37780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22567" y="3779520"/>
              <a:ext cx="3102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DBSCAN 在很宽的参数范围里都能分对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50114" y="4106227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内环半径 1、外环半径 3，各 60 个带噪点：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265545" y="44624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21564" y="4406265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0.4：外环被打碎成 3 至 5 个簇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265545" y="476250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21564" y="4706302"/>
              <a:ext cx="3769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在 0.6 到 1.5、MinPts 取 3 至 5：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全部正确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265545" y="50625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21564" y="5006340"/>
              <a:ext cx="2439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2.0：两个环被连成一个簇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032182" y="5574030"/>
            <a:ext cx="5626418" cy="729615"/>
            <a:chOff x="6032182" y="5574030"/>
            <a:chExt cx="5626418" cy="729615"/>
          </a:xfrm>
        </p:grpSpPr>
        <p:sp>
          <p:nvSpPr>
            <p:cNvPr id="59" name="Rectangle 59"/>
            <p:cNvSpPr/>
            <p:nvPr/>
          </p:nvSpPr>
          <p:spPr>
            <a:xfrm>
              <a:off x="6032182" y="557403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236970" y="5838825"/>
              <a:ext cx="200026" cy="200025"/>
              <a:chOff x="6236970" y="583882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236970" y="58388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276709" y="58832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311424" y="59944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539674" y="5719762"/>
              <a:ext cx="46000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把坐标换成“到原点的距离”后 K-means 又能分对了：失败的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不是算法，而是特征与距离的组合。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57935" cy="3351847"/>
            <a:chOff x="667512" y="1835468"/>
            <a:chExt cx="465793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层次聚类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480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不给 k，而是给出一整棵可以任意高度切割的树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凝聚法（自下而上）与分裂法（自上而下）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树状图 dendrogram 怎么读、怎么切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五种类间联接准则及其性格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265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手算例题：single 与 complete 给出不同的划分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层次聚类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凝聚法：每次合并最近的两类，直到只剩一类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36512" cy="264033"/>
            <a:chOff x="526542" y="1545907"/>
            <a:chExt cx="1003651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36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层次聚类法（hierarchical clustering，也叫系统聚类法）需要两样东西：样本点之间的距离，以及类与类之间的联接程度。</a:t>
              </a:r>
            </a:p>
          </p:txBody>
        </p:sp>
      </p:grpSp>
      <p:grpSp>
        <p:nvGrpSpPr>
          <p:cNvPr id="34" name="c1-steps-1"/>
          <p:cNvGrpSpPr/>
          <p:nvPr/>
        </p:nvGrpSpPr>
        <p:grpSpPr>
          <a:xfrm>
            <a:off x="533400" y="1938338"/>
            <a:ext cx="2403348" cy="3255263"/>
            <a:chOff x="533400" y="1938338"/>
            <a:chExt cx="2403348" cy="3255263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2765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15004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2238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7034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7772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19683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223135"/>
              <a:ext cx="1878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每个样本各自成一类，共 N 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25217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算距离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277653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计算所有类对的相异度矩阵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332898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合并联接程度最近的两类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388239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算新类与其余各类的联接程度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41809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166" y="443579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回到第 3 步，直到只剩一类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023" y="4733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166" y="498824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输出树状图，按需要的高度切割</a:t>
              </a:r>
            </a:p>
          </p:txBody>
        </p:sp>
      </p:grpSp>
      <p:grpSp>
        <p:nvGrpSpPr>
          <p:cNvPr id="41" name="c1-callout-2"/>
          <p:cNvGrpSpPr/>
          <p:nvPr/>
        </p:nvGrpSpPr>
        <p:grpSpPr>
          <a:xfrm>
            <a:off x="533400" y="5354955"/>
            <a:ext cx="5626418" cy="937260"/>
            <a:chOff x="533400" y="5354955"/>
            <a:chExt cx="5626418" cy="937260"/>
          </a:xfrm>
        </p:grpSpPr>
        <p:sp>
          <p:nvSpPr>
            <p:cNvPr id="35" name="Rectangle 35"/>
            <p:cNvSpPr/>
            <p:nvPr/>
          </p:nvSpPr>
          <p:spPr>
            <a:xfrm>
              <a:off x="533400" y="5354955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724525"/>
              <a:ext cx="200026" cy="200026"/>
              <a:chOff x="738188" y="5724525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7245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79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58245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1273" y="5500211"/>
              <a:ext cx="47271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凝聚法比分裂法常用得多。分裂法每一步要在指数多的拆法里挑一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种，代价太高；R 语言 cluster 包里的 diana 函数是少见的分裂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式实现。</a:t>
              </a:r>
            </a:p>
          </p:txBody>
        </p:sp>
      </p:grpSp>
      <p:grpSp>
        <p:nvGrpSpPr>
          <p:cNvPr id="66" name="c2-compare-1"/>
          <p:cNvGrpSpPr/>
          <p:nvPr/>
        </p:nvGrpSpPr>
        <p:grpSpPr>
          <a:xfrm>
            <a:off x="6464618" y="1928812"/>
            <a:ext cx="5193982" cy="1957388"/>
            <a:chOff x="6464618" y="1928812"/>
            <a:chExt cx="5193982" cy="1957388"/>
          </a:xfrm>
        </p:grpSpPr>
        <p:sp>
          <p:nvSpPr>
            <p:cNvPr id="42" name="Rectangle 42"/>
            <p:cNvSpPr/>
            <p:nvPr/>
          </p:nvSpPr>
          <p:spPr>
            <a:xfrm>
              <a:off x="6464618" y="1928812"/>
              <a:ext cx="2253615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2062162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77216" y="2130266"/>
              <a:ext cx="1182167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聚合方法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agglomerative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93218" y="27031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48666" y="26503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自下而上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93218" y="298799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48666" y="2935129"/>
              <a:ext cx="1428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 个单点类开始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93218" y="327279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8666" y="32208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每步合并两类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93218" y="355758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48666" y="3505676"/>
              <a:ext cx="767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N−1 步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404985" y="1928812"/>
              <a:ext cx="2253615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414510" y="2062162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617583" y="2130266"/>
              <a:ext cx="1416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分裂方法 divisive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633585" y="248412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89033" y="24322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自上而下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633585" y="276891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789033" y="27170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从一个全集类开始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633585" y="305466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89033" y="30018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每步把一类拆成两类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633585" y="333946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89033" y="328660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拆法的选择空间很大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766810" y="2611755"/>
              <a:ext cx="590550" cy="590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815006" y="285083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两个方向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464618" y="4050030"/>
            <a:ext cx="5193982" cy="2242185"/>
            <a:chOff x="6464618" y="4050030"/>
            <a:chExt cx="5193982" cy="2242185"/>
          </a:xfrm>
        </p:grpSpPr>
        <p:sp>
          <p:nvSpPr>
            <p:cNvPr id="67" name="Rectangle 67"/>
            <p:cNvSpPr/>
            <p:nvPr/>
          </p:nvSpPr>
          <p:spPr>
            <a:xfrm>
              <a:off x="6464618" y="4050030"/>
              <a:ext cx="5193982" cy="2242185"/>
            </a:xfrm>
            <a:prstGeom prst="roundRect">
              <a:avLst>
                <a:gd name="adj" fmla="val 594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45592" y="42310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38264" y="42638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12520" y="42714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不需要预先指定簇数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39116" y="4587716"/>
              <a:ext cx="46459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树建好以后，想要几个簇就在对应高度切一刀。代价是运算量大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（朴素实现 O(N³)、存储 O(N²)），只适合不太大的数据集；而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且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一旦合并就不能撤销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，早期的错误会一直留在树里。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40259" y="5354955"/>
              <a:ext cx="458457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针对这一点的改进算法有 BIRCH、CURE、ROCK、Chameleon。更正：两版课件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都拼成了 BRICH、BURE。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层次聚类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树状图：叶子是样本，高度是合并时的距离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683895" y="1579721"/>
            <a:ext cx="5325428" cy="4535900"/>
            <a:chOff x="683895" y="1579721"/>
            <a:chExt cx="5325428" cy="4535900"/>
          </a:xfrm>
        </p:grpSpPr>
        <p:sp>
          <p:nvSpPr>
            <p:cNvPr id="7" name="Freeform 7"/>
            <p:cNvSpPr/>
            <p:nvPr/>
          </p:nvSpPr>
          <p:spPr>
            <a:xfrm>
              <a:off x="983932" y="2105025"/>
              <a:ext cx="4275772" cy="3765232"/>
            </a:xfrm>
            <a:custGeom>
              <a:avLst/>
              <a:gdLst/>
              <a:ahLst/>
              <a:cxnLst/>
              <a:rect l="l" t="t" r="r" b="b"/>
              <a:pathLst>
                <a:path w="4275772" h="3765232">
                  <a:moveTo>
                    <a:pt x="0" y="3765232"/>
                  </a:moveTo>
                  <a:lnTo>
                    <a:pt x="0" y="2999422"/>
                  </a:lnTo>
                  <a:lnTo>
                    <a:pt x="449580" y="2999422"/>
                  </a:lnTo>
                  <a:lnTo>
                    <a:pt x="449580" y="1354455"/>
                  </a:lnTo>
                  <a:lnTo>
                    <a:pt x="1405890" y="1354455"/>
                  </a:lnTo>
                  <a:lnTo>
                    <a:pt x="1405890" y="0"/>
                  </a:lnTo>
                  <a:lnTo>
                    <a:pt x="4275772" y="0"/>
                  </a:lnTo>
                  <a:lnTo>
                    <a:pt x="4275772" y="2322195"/>
                  </a:lnTo>
                  <a:lnTo>
                    <a:pt x="3825240" y="2322195"/>
                  </a:lnTo>
                  <a:lnTo>
                    <a:pt x="3825240" y="37652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83932" y="3459480"/>
              <a:ext cx="2363152" cy="2410777"/>
            </a:xfrm>
            <a:custGeom>
              <a:avLst/>
              <a:gdLst/>
              <a:ahLst/>
              <a:cxnLst/>
              <a:rect l="l" t="t" r="r" b="b"/>
              <a:pathLst>
                <a:path w="2363152" h="2410777">
                  <a:moveTo>
                    <a:pt x="0" y="2410777"/>
                  </a:moveTo>
                  <a:lnTo>
                    <a:pt x="0" y="1644968"/>
                  </a:lnTo>
                  <a:lnTo>
                    <a:pt x="449580" y="1644968"/>
                  </a:lnTo>
                  <a:lnTo>
                    <a:pt x="449580" y="0"/>
                  </a:lnTo>
                  <a:lnTo>
                    <a:pt x="2363152" y="0"/>
                  </a:lnTo>
                  <a:lnTo>
                    <a:pt x="2363152" y="1258253"/>
                  </a:lnTo>
                  <a:lnTo>
                    <a:pt x="1912620" y="1258253"/>
                  </a:lnTo>
                  <a:lnTo>
                    <a:pt x="1912620" y="2410777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433512" y="3459480"/>
              <a:ext cx="2363152" cy="2410777"/>
            </a:xfrm>
            <a:custGeom>
              <a:avLst/>
              <a:gdLst/>
              <a:ahLst/>
              <a:cxnLst/>
              <a:rect l="l" t="t" r="r" b="b"/>
              <a:pathLst>
                <a:path w="2363152" h="2410777">
                  <a:moveTo>
                    <a:pt x="450533" y="2410777"/>
                  </a:moveTo>
                  <a:lnTo>
                    <a:pt x="450533" y="1644968"/>
                  </a:lnTo>
                  <a:lnTo>
                    <a:pt x="0" y="1644968"/>
                  </a:lnTo>
                  <a:lnTo>
                    <a:pt x="0" y="0"/>
                  </a:lnTo>
                  <a:lnTo>
                    <a:pt x="1913572" y="0"/>
                  </a:lnTo>
                  <a:lnTo>
                    <a:pt x="1913572" y="1258253"/>
                  </a:lnTo>
                  <a:lnTo>
                    <a:pt x="2363152" y="1258253"/>
                  </a:lnTo>
                  <a:lnTo>
                    <a:pt x="2363152" y="2410777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09172" y="4427220"/>
              <a:ext cx="901065" cy="1443037"/>
            </a:xfrm>
            <a:custGeom>
              <a:avLst/>
              <a:gdLst/>
              <a:ahLst/>
              <a:cxnLst/>
              <a:rect l="l" t="t" r="r" b="b"/>
              <a:pathLst>
                <a:path w="901065" h="1443037">
                  <a:moveTo>
                    <a:pt x="0" y="1443037"/>
                  </a:moveTo>
                  <a:lnTo>
                    <a:pt x="0" y="0"/>
                  </a:lnTo>
                  <a:lnTo>
                    <a:pt x="901065" y="0"/>
                  </a:lnTo>
                  <a:lnTo>
                    <a:pt x="901065" y="1443037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83895" y="2975610"/>
              <a:ext cx="5325428" cy="9525"/>
            </a:xfrm>
            <a:custGeom>
              <a:avLst/>
              <a:gdLst/>
              <a:ahLst/>
              <a:cxnLst/>
              <a:rect l="l" t="t" r="r" b="b"/>
              <a:pathLst>
                <a:path w="5325428" h="9525">
                  <a:moveTo>
                    <a:pt x="0" y="0"/>
                  </a:moveTo>
                  <a:lnTo>
                    <a:pt x="532542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2" name="Rectangle 12"/>
            <p:cNvSpPr/>
            <p:nvPr/>
          </p:nvSpPr>
          <p:spPr>
            <a:xfrm>
              <a:off x="845820" y="5870258"/>
              <a:ext cx="275272" cy="210502"/>
            </a:xfrm>
            <a:prstGeom prst="roundRect">
              <a:avLst>
                <a:gd name="adj" fmla="val 45249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745932" y="5870258"/>
              <a:ext cx="275272" cy="210502"/>
            </a:xfrm>
            <a:prstGeom prst="roundRect">
              <a:avLst>
                <a:gd name="adj" fmla="val 45249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759392" y="5870258"/>
              <a:ext cx="275272" cy="210502"/>
            </a:xfrm>
            <a:prstGeom prst="roundRect">
              <a:avLst>
                <a:gd name="adj" fmla="val 45249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59505" y="5870258"/>
              <a:ext cx="275272" cy="210502"/>
            </a:xfrm>
            <a:prstGeom prst="roundRect">
              <a:avLst>
                <a:gd name="adj" fmla="val 45249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72012" y="5870258"/>
              <a:ext cx="275272" cy="210502"/>
            </a:xfrm>
            <a:prstGeom prst="roundRect">
              <a:avLst>
                <a:gd name="adj" fmla="val 45249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72125" y="5870258"/>
              <a:ext cx="275272" cy="210502"/>
            </a:xfrm>
            <a:prstGeom prst="roundRect">
              <a:avLst>
                <a:gd name="adj" fmla="val 45249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5473" y="59102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35586" y="59102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48093" y="59102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48206" y="59102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0713" y="59102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61778" y="59102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79992" y="2499836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在这个高度切一刀 → 2 个簇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26907" y="1579721"/>
              <a:ext cx="1240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高度 = 合并时两类的距离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524000"/>
            <a:ext cx="5193982" cy="1772602"/>
            <a:chOff x="6464618" y="1524000"/>
            <a:chExt cx="5193982" cy="1772602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1657350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50620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四条规则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683692" y="204978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35599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54393" y="206168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每个叶结点是一个样本，每个结点代表一个类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83692" y="233553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35599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54393" y="234648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根结点是包含全部样本的那一类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83692" y="262032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5599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4393" y="26312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中间结点的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高度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就是合并它两个子类时的距离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3692" y="29051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5599" y="29407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4393" y="291607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在某个高度横着切一刀，切断几条竖线就得到几个簇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464618" y="3461385"/>
            <a:ext cx="5193982" cy="702945"/>
            <a:chOff x="6464618" y="3461385"/>
            <a:chExt cx="5193982" cy="702945"/>
          </a:xfrm>
        </p:grpSpPr>
        <p:sp>
          <p:nvSpPr>
            <p:cNvPr id="45" name="Rectangle 45"/>
            <p:cNvSpPr/>
            <p:nvPr/>
          </p:nvSpPr>
          <p:spPr>
            <a:xfrm>
              <a:off x="6464618" y="346138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3712847"/>
              <a:ext cx="200023" cy="200023"/>
              <a:chOff x="6669405" y="371284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669405" y="37128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02755" y="3779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2491" y="360568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高度差大的地方是好的切割点：说明下一次合并要跨越很大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的距离，两边本来就不该并在一起。</a:t>
              </a:r>
            </a:p>
          </p:txBody>
        </p:sp>
      </p:grpSp>
      <p:grpSp>
        <p:nvGrpSpPr>
          <p:cNvPr id="58" name="c2-card-3"/>
          <p:cNvGrpSpPr/>
          <p:nvPr/>
        </p:nvGrpSpPr>
        <p:grpSpPr>
          <a:xfrm>
            <a:off x="6464618" y="4329112"/>
            <a:ext cx="5193982" cy="1892618"/>
            <a:chOff x="6464618" y="4329112"/>
            <a:chExt cx="5193982" cy="1892618"/>
          </a:xfrm>
        </p:grpSpPr>
        <p:sp>
          <p:nvSpPr>
            <p:cNvPr id="51" name="Rectangle 51"/>
            <p:cNvSpPr/>
            <p:nvPr/>
          </p:nvSpPr>
          <p:spPr>
            <a:xfrm>
              <a:off x="6464618" y="4329112"/>
              <a:ext cx="5193982" cy="1892618"/>
            </a:xfrm>
            <a:prstGeom prst="roundRect">
              <a:avLst>
                <a:gd name="adj" fmla="val 7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4462462"/>
              <a:ext cx="47625" cy="1625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83692" y="45100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76364" y="45429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50620" y="4549616"/>
              <a:ext cx="2313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树状图高度满足 ultrametric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77216" y="4865846"/>
              <a:ext cx="458089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只要树没有“逆转”（父结点比子结点还矮），任意三个样本的合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并高度就满足 h(x,z) ≤ max{h(x,y), h(y,z)}，比三角不等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式更强。single、complete、average、ward 建出的树都满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78359" y="5875972"/>
              <a:ext cx="4032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centroid 联接可能逆转，这条不再成立，切树时很难确定簇数。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层次聚类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五种类间联接准则：同一棵森林，不同的合并顺序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2287905"/>
            <a:chOff x="533400" y="1524000"/>
            <a:chExt cx="11125200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63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准则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3571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7327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7651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1036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 最短距离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08301" y="2023110"/>
              <a:ext cx="1759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D(I,J) = min dist(xᵢ, xⱼ)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45861" y="202311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有串链效应：只看最近的一对点，簇会连成长条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421" y="2023110"/>
              <a:ext cx="985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条形、S 形的簇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04110"/>
              <a:ext cx="1266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complete 最长距离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08301" y="2404110"/>
              <a:ext cx="1795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D(I,J) = max dist(xᵢ, xⱼ)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45861" y="240411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避免串链，但受异常点影响大，容易切出过大的类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421" y="2404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紧凑的球形簇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78511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average 平均距离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08301" y="2785110"/>
              <a:ext cx="2192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D(I,J) = 所有跨类点对距离的平均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45861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前两者的折中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3421" y="2785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大多数场合的默认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167062"/>
              <a:ext cx="1236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centroid 重心距离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08301" y="3167062"/>
              <a:ext cx="1910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D(I,J) = 两类均值向量的距离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5861" y="3167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可能出现树的逆转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421" y="3167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样本量差不多时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548062"/>
              <a:ext cx="1118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ward 离差平方和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08301" y="3548062"/>
              <a:ext cx="2192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D(I,J) = 合并后增加的离差平方和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45861" y="35480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倾向于得到规模相近的簇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83421" y="3548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需要均衡划分时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0886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4642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8398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rd-2"/>
          <p:cNvGrpSpPr/>
          <p:nvPr/>
        </p:nvGrpSpPr>
        <p:grpSpPr>
          <a:xfrm>
            <a:off x="533400" y="3976688"/>
            <a:ext cx="11125200" cy="1160145"/>
            <a:chOff x="533400" y="3976688"/>
            <a:chExt cx="11125200" cy="1160145"/>
          </a:xfrm>
        </p:grpSpPr>
        <p:sp>
          <p:nvSpPr>
            <p:cNvPr id="43" name="Rectangle 43"/>
            <p:cNvSpPr/>
            <p:nvPr/>
          </p:nvSpPr>
          <p:spPr>
            <a:xfrm>
              <a:off x="533400" y="3976688"/>
              <a:ext cx="11125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411003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2475" y="41576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044" y="41905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单调变换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68006" y="419814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哪些准则对相异度的单调变换稳定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5998" y="4514374"/>
              <a:ext cx="1000267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把所有距离都换成它们的平方（或任何单调增函数），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single 与 complete 的聚类结果不变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，因为它们只比较大小；average、centroid、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ward 都要做算术平均或求和，结果会变。</a:t>
              </a:r>
            </a:p>
          </p:txBody>
        </p:sp>
      </p:grpSp>
      <p:grpSp>
        <p:nvGrpSpPr>
          <p:cNvPr id="56" name="c1-callout-3"/>
          <p:cNvGrpSpPr/>
          <p:nvPr/>
        </p:nvGrpSpPr>
        <p:grpSpPr>
          <a:xfrm>
            <a:off x="533400" y="5302568"/>
            <a:ext cx="11125200" cy="1060132"/>
            <a:chOff x="533400" y="5302568"/>
            <a:chExt cx="11125200" cy="1060132"/>
          </a:xfrm>
        </p:grpSpPr>
        <p:sp>
          <p:nvSpPr>
            <p:cNvPr id="50" name="Rectangle 50"/>
            <p:cNvSpPr/>
            <p:nvPr/>
          </p:nvSpPr>
          <p:spPr>
            <a:xfrm>
              <a:off x="533400" y="5302568"/>
              <a:ext cx="11125200" cy="1060132"/>
            </a:xfrm>
            <a:prstGeom prst="roundRect">
              <a:avLst>
                <a:gd name="adj" fmla="val 1078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732145"/>
              <a:ext cx="200026" cy="200025"/>
              <a:chOff x="738188" y="573214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7321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57765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58877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625941"/>
              <a:ext cx="953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朴素实现里 single 联接是 O(N³)，用优先队列维护最近对可以把 complete 联接降到 O(N² log N)；SLINK 算法能把 single 联接做到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O(N²)。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88429" cy="909257"/>
            <a:chOff x="520446" y="342900"/>
            <a:chExt cx="75884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层次聚类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884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Ward 法：把“合并代价”定义成离差平方和的增量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775460"/>
            <a:chOff x="533400" y="1524000"/>
            <a:chExt cx="5626418" cy="1775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075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离差平方和 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87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对一个类 I，它的离差平方和是类内各点到重心的欧式距离平方和。把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和 J 合并成 M 后，Ward 距离定义为增加的那部分。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1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226368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bi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p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464242"/>
            <a:ext cx="5626418" cy="1704022"/>
            <a:chOff x="533400" y="3464242"/>
            <a:chExt cx="5626418" cy="1704022"/>
          </a:xfrm>
        </p:grpSpPr>
        <p:sp>
          <p:nvSpPr>
            <p:cNvPr id="15" name="Rectangle 15"/>
            <p:cNvSpPr/>
            <p:nvPr/>
          </p:nvSpPr>
          <p:spPr>
            <a:xfrm>
              <a:off x="533400" y="3464242"/>
              <a:ext cx="5626418" cy="1704022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97592"/>
              <a:ext cx="47625" cy="14373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64521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1096" y="36780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实用式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3228" y="368474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不必真的合并就能算出来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12"/>
                <p:cNvSpPr txBox="1">
                  <a:spLocks noGrp="1"/>
                </p:cNvSpPr>
                <p:nvPr/>
              </p:nvSpPr>
              <p:spPr>
                <a:xfrm>
                  <a:off x="752475" y="3980498"/>
                  <a:ext cx="522636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den>
                        </m:f>
                        <m:sSup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45998" y="4545806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两式恒等，已用随机数据逐例验证（脚本 ml_ch07_calc.py 第 5b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节，误差在 10⁻¹⁴ 量级）。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333048"/>
            <a:ext cx="5626418" cy="937260"/>
            <a:chOff x="533400" y="5333048"/>
            <a:chExt cx="5626418" cy="937260"/>
          </a:xfrm>
        </p:grpSpPr>
        <p:sp>
          <p:nvSpPr>
            <p:cNvPr id="23" name="Rectangle 23"/>
            <p:cNvSpPr/>
            <p:nvPr/>
          </p:nvSpPr>
          <p:spPr>
            <a:xfrm>
              <a:off x="533400" y="5333048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702620"/>
              <a:ext cx="200023" cy="200023"/>
              <a:chOff x="738188" y="5702620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7026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7692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1273" y="5478304"/>
              <a:ext cx="459714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 nᵢnⱼ/(nᵢ+nⱼ) 随类的规模增大而增大，所以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两个大类之间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的 Ward 距离天然更大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，不容易被合并，最终得到规模相近的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簇。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1930718"/>
            <a:chOff x="6464618" y="1524000"/>
            <a:chExt cx="5193982" cy="1930718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50620" y="1744504"/>
              <a:ext cx="1553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版课件的两处写法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83692" y="204978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35599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54393" y="2061686"/>
              <a:ext cx="43370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29 页说 Ward 距离是“合并后新聚类的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与合并前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两个聚类方差的差值”。W 是离差平方和（不除以样本数），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不是方差；B 版第 36 页写的“离差平方和”才对。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83692" y="282130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35599" y="28559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54393" y="2832259"/>
              <a:ext cx="4182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版同页把公式写成 D(I,J) = ‖W(M) − W(I) − W(J)‖。W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是一个标量，不该套范数符号，直接写差值即可。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619500"/>
            <a:ext cx="5193982" cy="1403032"/>
            <a:chOff x="6464618" y="3619500"/>
            <a:chExt cx="5193982" cy="1403032"/>
          </a:xfrm>
        </p:grpSpPr>
        <p:sp>
          <p:nvSpPr>
            <p:cNvPr id="41" name="Rectangle 41"/>
            <p:cNvSpPr/>
            <p:nvPr/>
          </p:nvSpPr>
          <p:spPr>
            <a:xfrm>
              <a:off x="6464618" y="3619500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37528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3692" y="3800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6364" y="3833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0620" y="384095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一个三维的小例子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7216" y="4157186"/>
              <a:ext cx="45565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nᵢ = 3、nⱼ = 3 的两组随机点，直接算 W(M) − W(I) − W(J)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10.6079280380，用实用式算得 10.6079280380，两者完全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464618" y="5188268"/>
            <a:ext cx="5193982" cy="1082992"/>
            <a:chOff x="6464618" y="5188268"/>
            <a:chExt cx="5193982" cy="1082992"/>
          </a:xfrm>
        </p:grpSpPr>
        <p:sp>
          <p:nvSpPr>
            <p:cNvPr id="48" name="Rectangle 48"/>
            <p:cNvSpPr/>
            <p:nvPr/>
          </p:nvSpPr>
          <p:spPr>
            <a:xfrm>
              <a:off x="6464618" y="5188268"/>
              <a:ext cx="5193982" cy="1082992"/>
            </a:xfrm>
            <a:prstGeom prst="roundRect">
              <a:avLst>
                <a:gd name="adj" fmla="val 1055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629275"/>
              <a:ext cx="200026" cy="200026"/>
              <a:chOff x="6669405" y="562927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669405" y="56292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69418" y="5695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58305" y="57292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2491" y="552307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Ward 距离的量纲是距离的平方。画树状图时有的软件对它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开方后再画高度，比较两份图之前要先确认纵轴是哪一种。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3425" cy="909257"/>
            <a:chOff x="520446" y="342900"/>
            <a:chExt cx="77334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层次聚类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34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手算例题：single 与 complete 切出不同的两个簇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32895" cy="264033"/>
            <a:chOff x="526542" y="1545907"/>
            <a:chExt cx="853289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32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六个一维样本 A=0、B=1、C=2.2、D=3.6、E=5.2、F=7.0，相邻间隔依次是 1、1.2、1.4、1.6、1.8。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28447" y="1928812"/>
            <a:ext cx="5415153" cy="2663857"/>
            <a:chOff x="528447" y="1928812"/>
            <a:chExt cx="5415153" cy="266385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7100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804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9059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3202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合并后的类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0160" y="2450306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03220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85260" y="245030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{A,B}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0160" y="2850356"/>
              <a:ext cx="783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{A,B} 与 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3220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85260" y="2850356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{A,B,C}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0160" y="3250406"/>
              <a:ext cx="958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{A,B,C} 与 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03220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85260" y="3250406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{A,B,C,D}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80160" y="3650456"/>
              <a:ext cx="1133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{A,B,C,D} 与 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03220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97630" y="3538538"/>
              <a:ext cx="203644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85260" y="3650456"/>
              <a:ext cx="975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{A,B,C,D,E}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80160" y="4050506"/>
              <a:ext cx="5916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{…} 与 F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03220" y="40505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85260" y="4050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28812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7824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80130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88334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447" y="440197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single 联接（取两类间最近的一对）</a:t>
              </a:r>
            </a:p>
          </p:txBody>
        </p:sp>
      </p:grpSp>
      <p:grpSp>
        <p:nvGrpSpPr>
          <p:cNvPr id="53" name="c1-callout-2"/>
          <p:cNvGrpSpPr/>
          <p:nvPr/>
        </p:nvGrpSpPr>
        <p:grpSpPr>
          <a:xfrm>
            <a:off x="533400" y="4724400"/>
            <a:ext cx="5410200" cy="978218"/>
            <a:chOff x="533400" y="4724400"/>
            <a:chExt cx="5410200" cy="978218"/>
          </a:xfrm>
        </p:grpSpPr>
        <p:sp>
          <p:nvSpPr>
            <p:cNvPr id="47" name="Rectangle 47"/>
            <p:cNvSpPr/>
            <p:nvPr/>
          </p:nvSpPr>
          <p:spPr>
            <a:xfrm>
              <a:off x="533400" y="472440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109328"/>
              <a:ext cx="224134" cy="192560"/>
              <a:chOff x="726129" y="5109328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1796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1093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257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4870132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每一步都只把最右边的那一个点吸进来，从头到尾只有一个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类在长大，这就是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串链效应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。在 k = 2 处切开得到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{A,B,C,D,E} 和 {F}。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6243447" y="1928812"/>
            <a:ext cx="5415153" cy="2663857"/>
            <a:chOff x="6243447" y="1928812"/>
            <a:chExt cx="5415153" cy="2663857"/>
          </a:xfrm>
        </p:grpSpPr>
        <p:sp>
          <p:nvSpPr>
            <p:cNvPr id="54" name="Rectangle 54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92100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5304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0559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48202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合并后的类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45555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95160" y="2450306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18220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00260" y="245030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{A,B}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5555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95160" y="2850356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与 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18220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00260" y="285035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{C,D}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5555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95160" y="3250406"/>
              <a:ext cx="43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F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18220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00260" y="325040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{E,F}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45555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95160" y="3650456"/>
              <a:ext cx="1133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{A,B} 与 {C,D}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18220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612630" y="3538538"/>
              <a:ext cx="20364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00260" y="3650456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{A,B,C,D}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45555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995160" y="4050506"/>
              <a:ext cx="1484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{A,B,C,D} 与 {E,F}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618220" y="40505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00260" y="4050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全集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1928812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89324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51630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59834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43447" y="4401979"/>
              <a:ext cx="2338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complete 联接（取两类间最远的一对）</a:t>
              </a:r>
            </a:p>
          </p:txBody>
        </p:sp>
      </p:grpSp>
      <p:grpSp>
        <p:nvGrpSpPr>
          <p:cNvPr id="97" name="c2-callout-2"/>
          <p:cNvGrpSpPr/>
          <p:nvPr/>
        </p:nvGrpSpPr>
        <p:grpSpPr>
          <a:xfrm>
            <a:off x="6248400" y="4724400"/>
            <a:ext cx="5410200" cy="978218"/>
            <a:chOff x="6248400" y="4724400"/>
            <a:chExt cx="5410200" cy="978218"/>
          </a:xfrm>
        </p:grpSpPr>
        <p:sp>
          <p:nvSpPr>
            <p:cNvPr id="92" name="Rectangle 92"/>
            <p:cNvSpPr/>
            <p:nvPr/>
          </p:nvSpPr>
          <p:spPr>
            <a:xfrm>
              <a:off x="6248400" y="472440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6453188" y="5113020"/>
              <a:ext cx="200026" cy="200026"/>
              <a:chOff x="6453188" y="5113020"/>
              <a:chExt cx="200026" cy="20002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453188" y="51130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519863" y="51908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6755892" y="4870132"/>
              <a:ext cx="450570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complete 先把点两两配成三对再往上并，k = 2 处切开得到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{A,B,C,D} 和 {E,F}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。第 4 步的 3.6 是最远的一对 A 与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D。</a:t>
              </a:r>
            </a:p>
          </p:txBody>
        </p:sp>
      </p:grpSp>
      <p:grpSp>
        <p:nvGrpSpPr>
          <p:cNvPr id="10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8" name="Rectangle 9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1040892" y="6028373"/>
              <a:ext cx="7255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同一组数据、同一个 k，换个联接准则结果就变。报告聚类结果时必须写清用了哪种联接。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159186" cy="3351847"/>
            <a:chOff x="667512" y="1835468"/>
            <a:chExt cx="415918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密度聚类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不看到中心的距离，只看周围挤不挤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919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DBSCAN：ε 邻域、核心点、边界点与噪声点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密度直达、密度可达、密度相连三种关系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簇的形式化定义与算法流程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密度最大值聚类：ρ 与 δ 构成的决策图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密度聚类：低密度的地方就是簇的边界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741170"/>
            <a:chOff x="533400" y="1524000"/>
            <a:chExt cx="5410200" cy="1741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基于密度的聚类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428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此类算法假设聚类结构能通过样本分布的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紧密程度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确定。做法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是从密度的角度考察样本之间的可连接性，再基于可连接的样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本不断扩展簇。只要某个区域的密度超过阈值，就把它并进相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邻的簇。</a:t>
              </a:r>
            </a:p>
          </p:txBody>
        </p:sp>
      </p:grpSp>
      <p:grpSp>
        <p:nvGrpSpPr>
          <p:cNvPr id="16" name="c1-image-2"/>
          <p:cNvGrpSpPr/>
          <p:nvPr/>
        </p:nvGrpSpPr>
        <p:grpSpPr>
          <a:xfrm>
            <a:off x="1607630" y="3440430"/>
            <a:ext cx="3261741" cy="1945577"/>
            <a:chOff x="1607630" y="3440430"/>
            <a:chExt cx="3261741" cy="1945577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rcRect l="7" t="0" r="7" b="0"/>
            <a:stretch>
              <a:fillRect/>
            </a:stretch>
          </p:blipFill>
          <p:spPr>
            <a:xfrm>
              <a:off x="2140268" y="3440430"/>
              <a:ext cx="2195512" cy="1646872"/>
            </a:xfrm>
            <a:prstGeom prst="roundRect">
              <a:avLst>
                <a:gd name="adj" fmla="val 8097"/>
              </a:avLst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607630" y="5180648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两条弯月形的密集带，中间是空白，零星几粒是噪声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5538788"/>
            <a:ext cx="5410200" cy="741998"/>
            <a:chOff x="533400" y="5538788"/>
            <a:chExt cx="5410200" cy="741998"/>
          </a:xfrm>
        </p:grpSpPr>
        <p:sp>
          <p:nvSpPr>
            <p:cNvPr id="17" name="Rectangle 17"/>
            <p:cNvSpPr/>
            <p:nvPr/>
          </p:nvSpPr>
          <p:spPr>
            <a:xfrm>
              <a:off x="533400" y="5538788"/>
              <a:ext cx="5410200" cy="741998"/>
            </a:xfrm>
            <a:prstGeom prst="roundRect">
              <a:avLst>
                <a:gd name="adj" fmla="val 1540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809300"/>
              <a:ext cx="200023" cy="200023"/>
              <a:chOff x="738188" y="5809300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8093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58759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5691188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密度法不依赖“到中心的距离”，因此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能发现任意形状的簇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而且天然把稀疏处的点标成噪声，不强行塞进某个簇。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248400" y="1524000"/>
            <a:ext cx="5410200" cy="2840355"/>
            <a:chOff x="6248400" y="1524000"/>
            <a:chExt cx="5410200" cy="284035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612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5082" y="1648301"/>
              <a:ext cx="658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K-means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2358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密度聚类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48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簇的定义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46670" y="20540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离哪个中心最近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密度相连的最大集合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8412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46670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必须预先给定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03118" y="24598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由数据和参数自动决定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8412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46670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只能是凸的团块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03118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任意形状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8412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噪声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46670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必须归入某个簇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03118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单独标为噪声点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8412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4667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03118" y="3677126"/>
              <a:ext cx="835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与 MinPts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8412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主要代价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46670" y="4082891"/>
              <a:ext cx="10726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 O(N·k·n)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03118" y="40828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需要大量邻域查询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1524000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4189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59834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6248400" y="4539615"/>
            <a:ext cx="5410200" cy="1741170"/>
            <a:chOff x="6248400" y="4539615"/>
            <a:chExt cx="5410200" cy="1741170"/>
          </a:xfrm>
        </p:grpSpPr>
        <p:sp>
          <p:nvSpPr>
            <p:cNvPr id="57" name="Rectangle 57"/>
            <p:cNvSpPr/>
            <p:nvPr/>
          </p:nvSpPr>
          <p:spPr>
            <a:xfrm>
              <a:off x="6248400" y="4539615"/>
              <a:ext cx="5410200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4672965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8905" y="4732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0345" y="4766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62597" y="4772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密度计算不便宜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72047" y="5105400"/>
              <a:ext cx="475430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朴素实现要算 N² 次距离。工程上用 kd 树、R 树或球树建立空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间索引把邻域查询降到 O(log N)，整体做到 O(N log N)。维数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很高时索引会退化，这也是密度聚类在高维数据上不好用的原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72234" cy="909257"/>
            <a:chOff x="520446" y="342900"/>
            <a:chExt cx="43722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722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DBSCAN：两个参数、三种点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330699" cy="264033"/>
            <a:chOff x="526542" y="1545907"/>
            <a:chExt cx="533069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30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DBSCAN 用一组邻域参数 (ε, MinPts) 刻画样本分布的紧密程度。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410200" cy="1564958"/>
            <a:chOff x="533400" y="1928812"/>
            <a:chExt cx="5410200" cy="15649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邻域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邻域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491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对样本 xⱼ ∈ D，它的 ε 邻域是 D 中与它距离不大于 ε 的所有样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24"/>
                <p:cNvSpPr txBox="1">
                  <a:spLocks noGrp="1"/>
                </p:cNvSpPr>
                <p:nvPr/>
              </p:nvSpPr>
              <p:spPr>
                <a:xfrm>
                  <a:off x="752475" y="2972752"/>
                  <a:ext cx="501015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dist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1-table-2"/>
          <p:cNvGrpSpPr/>
          <p:nvPr/>
        </p:nvGrpSpPr>
        <p:grpSpPr>
          <a:xfrm>
            <a:off x="533400" y="3658552"/>
            <a:ext cx="5410200" cy="1525905"/>
            <a:chOff x="533400" y="3658552"/>
            <a:chExt cx="5410200" cy="1525905"/>
          </a:xfrm>
        </p:grpSpPr>
        <p:sp>
          <p:nvSpPr>
            <p:cNvPr id="17" name="Rectangle 17"/>
            <p:cNvSpPr/>
            <p:nvPr/>
          </p:nvSpPr>
          <p:spPr>
            <a:xfrm>
              <a:off x="533400" y="365855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4969" y="37757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点的类别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00069" y="37757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判定条件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42925" y="4049078"/>
              <a:ext cx="127920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41576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26336" y="4157662"/>
              <a:ext cx="2423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 ε 邻域里至少有 MinPts 个样本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167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4215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45386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6336" y="453866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自己不是核心点，但落在某个核心点的邻域里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7977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812030"/>
              <a:ext cx="127920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49196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噪声点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26336" y="491966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既不是核心点，也不在任何核心点的邻域里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658552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826895" y="365855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3"/>
          <p:cNvGrpSpPr/>
          <p:nvPr/>
        </p:nvGrpSpPr>
        <p:grpSpPr>
          <a:xfrm>
            <a:off x="533400" y="5349240"/>
            <a:ext cx="5410200" cy="937260"/>
            <a:chOff x="533400" y="5349240"/>
            <a:chExt cx="5410200" cy="937260"/>
          </a:xfrm>
        </p:grpSpPr>
        <p:sp>
          <p:nvSpPr>
            <p:cNvPr id="34" name="Rectangle 34"/>
            <p:cNvSpPr/>
            <p:nvPr/>
          </p:nvSpPr>
          <p:spPr>
            <a:xfrm>
              <a:off x="533400" y="5349240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714166"/>
              <a:ext cx="224134" cy="192560"/>
              <a:chOff x="726129" y="571416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57845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7141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8623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5493544"/>
              <a:ext cx="432892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更正：B 版第 41 页先说“至少含有 m 个对象”（≥），同页最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后一行又写成“大于时 m”。统一按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≥ MinPts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判定，而且 xⱼ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自己也算在 Nε(xⱼ) 里面。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6898005" y="2263140"/>
            <a:ext cx="4580763" cy="2380774"/>
            <a:chOff x="6898005" y="2263140"/>
            <a:chExt cx="4580763" cy="2380774"/>
          </a:xfrm>
        </p:grpSpPr>
        <p:sp>
          <p:nvSpPr>
            <p:cNvPr id="41" name="Freeform 41"/>
            <p:cNvSpPr/>
            <p:nvPr/>
          </p:nvSpPr>
          <p:spPr>
            <a:xfrm>
              <a:off x="6898005" y="2263140"/>
              <a:ext cx="1946910" cy="1647825"/>
            </a:xfrm>
            <a:custGeom>
              <a:avLst/>
              <a:gdLst/>
              <a:ahLst/>
              <a:cxnLst/>
              <a:rect l="l" t="t" r="r" b="b"/>
              <a:pathLst>
                <a:path w="1946910" h="1647825">
                  <a:moveTo>
                    <a:pt x="935355" y="0"/>
                  </a:moveTo>
                  <a:lnTo>
                    <a:pt x="721042" y="23812"/>
                  </a:lnTo>
                  <a:lnTo>
                    <a:pt x="486727" y="106680"/>
                  </a:lnTo>
                  <a:lnTo>
                    <a:pt x="284797" y="238125"/>
                  </a:lnTo>
                  <a:lnTo>
                    <a:pt x="129540" y="408623"/>
                  </a:lnTo>
                  <a:lnTo>
                    <a:pt x="32385" y="607695"/>
                  </a:lnTo>
                  <a:lnTo>
                    <a:pt x="0" y="822007"/>
                  </a:lnTo>
                  <a:lnTo>
                    <a:pt x="32385" y="1035368"/>
                  </a:lnTo>
                  <a:lnTo>
                    <a:pt x="129540" y="1234440"/>
                  </a:lnTo>
                  <a:lnTo>
                    <a:pt x="284797" y="1405890"/>
                  </a:lnTo>
                  <a:lnTo>
                    <a:pt x="486727" y="1536382"/>
                  </a:lnTo>
                  <a:lnTo>
                    <a:pt x="721042" y="1619250"/>
                  </a:lnTo>
                  <a:lnTo>
                    <a:pt x="973455" y="1647825"/>
                  </a:lnTo>
                  <a:lnTo>
                    <a:pt x="1225867" y="1619250"/>
                  </a:lnTo>
                  <a:lnTo>
                    <a:pt x="1460182" y="1536382"/>
                  </a:lnTo>
                  <a:lnTo>
                    <a:pt x="1662112" y="1405890"/>
                  </a:lnTo>
                  <a:lnTo>
                    <a:pt x="1817370" y="1234440"/>
                  </a:lnTo>
                  <a:lnTo>
                    <a:pt x="1914525" y="1035368"/>
                  </a:lnTo>
                  <a:lnTo>
                    <a:pt x="1946910" y="822007"/>
                  </a:lnTo>
                  <a:lnTo>
                    <a:pt x="1914525" y="607695"/>
                  </a:lnTo>
                  <a:lnTo>
                    <a:pt x="1817370" y="408623"/>
                  </a:lnTo>
                  <a:lnTo>
                    <a:pt x="1662112" y="238125"/>
                  </a:lnTo>
                  <a:lnTo>
                    <a:pt x="1460182" y="106680"/>
                  </a:lnTo>
                  <a:lnTo>
                    <a:pt x="1225867" y="23812"/>
                  </a:lnTo>
                  <a:lnTo>
                    <a:pt x="101155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7725728" y="2634615"/>
              <a:ext cx="1946910" cy="1647825"/>
            </a:xfrm>
            <a:custGeom>
              <a:avLst/>
              <a:gdLst/>
              <a:ahLst/>
              <a:cxnLst/>
              <a:rect l="l" t="t" r="r" b="b"/>
              <a:pathLst>
                <a:path w="1946910" h="1647825">
                  <a:moveTo>
                    <a:pt x="935355" y="0"/>
                  </a:moveTo>
                  <a:lnTo>
                    <a:pt x="721042" y="23812"/>
                  </a:lnTo>
                  <a:lnTo>
                    <a:pt x="486728" y="106680"/>
                  </a:lnTo>
                  <a:lnTo>
                    <a:pt x="284797" y="238125"/>
                  </a:lnTo>
                  <a:lnTo>
                    <a:pt x="130492" y="408622"/>
                  </a:lnTo>
                  <a:lnTo>
                    <a:pt x="32385" y="607695"/>
                  </a:lnTo>
                  <a:lnTo>
                    <a:pt x="0" y="822007"/>
                  </a:lnTo>
                  <a:lnTo>
                    <a:pt x="32385" y="1035367"/>
                  </a:lnTo>
                  <a:lnTo>
                    <a:pt x="130492" y="1234440"/>
                  </a:lnTo>
                  <a:lnTo>
                    <a:pt x="284797" y="1405890"/>
                  </a:lnTo>
                  <a:lnTo>
                    <a:pt x="486728" y="1537335"/>
                  </a:lnTo>
                  <a:lnTo>
                    <a:pt x="721042" y="1619250"/>
                  </a:lnTo>
                  <a:lnTo>
                    <a:pt x="973455" y="1647825"/>
                  </a:lnTo>
                  <a:lnTo>
                    <a:pt x="1225867" y="1619250"/>
                  </a:lnTo>
                  <a:lnTo>
                    <a:pt x="1460182" y="1537335"/>
                  </a:lnTo>
                  <a:lnTo>
                    <a:pt x="1662112" y="1405890"/>
                  </a:lnTo>
                  <a:lnTo>
                    <a:pt x="1817370" y="1234440"/>
                  </a:lnTo>
                  <a:lnTo>
                    <a:pt x="1914525" y="1035367"/>
                  </a:lnTo>
                  <a:lnTo>
                    <a:pt x="1946910" y="822007"/>
                  </a:lnTo>
                  <a:lnTo>
                    <a:pt x="1914525" y="607695"/>
                  </a:lnTo>
                  <a:lnTo>
                    <a:pt x="1817370" y="408622"/>
                  </a:lnTo>
                  <a:lnTo>
                    <a:pt x="1662112" y="238125"/>
                  </a:lnTo>
                  <a:lnTo>
                    <a:pt x="1460182" y="106680"/>
                  </a:lnTo>
                  <a:lnTo>
                    <a:pt x="1225867" y="23812"/>
                  </a:lnTo>
                  <a:lnTo>
                    <a:pt x="1011555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43" name="Ellipse 43"/>
            <p:cNvSpPr/>
            <p:nvPr/>
          </p:nvSpPr>
          <p:spPr>
            <a:xfrm>
              <a:off x="7795260" y="3008948"/>
              <a:ext cx="152400" cy="1524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230428" y="257365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349615" y="253174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252460" y="364712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8622982" y="3380422"/>
              <a:ext cx="152400" cy="1524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834688" y="4064318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91522" y="2390299"/>
              <a:ext cx="1587246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118"/>
                </a:lnSpc>
              </a:pPr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核心点（蓝色大点）：邻域内 5 个</a:t>
              </a:r>
              <a:br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点 ≥ MinPts = 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91522" y="3216116"/>
              <a:ext cx="1587246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118"/>
                </a:lnSpc>
              </a:pPr>
              <a:r>
                <a:rPr lang="zh-CN" sz="82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边界点（橙色）：邻域内只有 3 个</a:t>
              </a:r>
              <a:br/>
              <a:r>
                <a:rPr lang="zh-CN" sz="82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点，但落在核心点的邻域里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31017" y="437245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噪声点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6476" y="4481989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虚线圈是半径 ε 的邻域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248400" y="4846320"/>
            <a:ext cx="5410200" cy="1440180"/>
            <a:chOff x="6248400" y="4846320"/>
            <a:chExt cx="5410200" cy="1440180"/>
          </a:xfrm>
        </p:grpSpPr>
        <p:sp>
          <p:nvSpPr>
            <p:cNvPr id="54" name="Rectangle 54"/>
            <p:cNvSpPr/>
            <p:nvPr/>
          </p:nvSpPr>
          <p:spPr>
            <a:xfrm>
              <a:off x="6248400" y="4846320"/>
              <a:ext cx="5410200" cy="1440180"/>
            </a:xfrm>
            <a:prstGeom prst="roundRect">
              <a:avLst>
                <a:gd name="adj" fmla="val 793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5466398"/>
              <a:ext cx="200026" cy="200025"/>
              <a:chOff x="6453188" y="546639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4663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92926" y="55108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27642" y="56219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6273" y="5360194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三类点的比例随 ε 与 MinPts 一起变：把 ε 调大，噪声点会逐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个变成边界点甚至核心点。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三种密度关系：一条有方向，两条没方向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4985385" cy="2177415"/>
            <a:chOff x="525780" y="1548765"/>
            <a:chExt cx="4985385" cy="217741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密度直达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65935" y="1548765"/>
              <a:ext cx="32442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xⱼ 在 xᵢ 的 ε 邻域中，且 xᵢ 是核心对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象，则称 xⱼ 由 xᵢ 密度直达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密度可达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935" y="2270760"/>
              <a:ext cx="34918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存在样本序列 p₁ = xᵢ, …, pₜ = xⱼ，其中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pᵤ₊₁ 都由 pᵤ 密度直达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密度相连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5935" y="2992755"/>
              <a:ext cx="3609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xₖ 使得 xᵢ 与 xⱼ 都由 xₖ 密度可达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127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4328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非密度相连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5935" y="343281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两个点不满足密度相连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857625"/>
            <a:ext cx="4977765" cy="2438400"/>
            <a:chOff x="533400" y="3857625"/>
            <a:chExt cx="4977765" cy="2438400"/>
          </a:xfrm>
        </p:grpSpPr>
        <p:sp>
          <p:nvSpPr>
            <p:cNvPr id="19" name="Rectangle 19"/>
            <p:cNvSpPr/>
            <p:nvPr/>
          </p:nvSpPr>
          <p:spPr>
            <a:xfrm>
              <a:off x="533400" y="3857625"/>
              <a:ext cx="4977765" cy="2438400"/>
            </a:xfrm>
            <a:prstGeom prst="roundRect">
              <a:avLst>
                <a:gd name="adj" fmla="val 5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990975"/>
              <a:ext cx="47625" cy="21717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0671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4102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2078" y="410241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两版课件都把链条的方向写反了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4463415"/>
              <a:ext cx="43205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36 页、B 版第 43 页都写“p₁ = xᵢ, pₙ = xⱼ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且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pᵢ 由 pᵢ₊₁ 密度直达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”，方向是从后往前。定义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要求从 xᵢ 出发一步步走到 xⱼ，应是 pᵤ₊₁ 由 pᵤ 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度直达。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573" y="5652611"/>
              <a:ext cx="4320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另外原文说“该 xᵢ 与 xⱼ 密度可达”，容易让人以为这是对称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关系；正确说法是 xⱼ 由 xᵢ 密度可达。</a:t>
              </a:r>
            </a:p>
          </p:txBody>
        </p:sp>
      </p:grpSp>
      <p:grpSp>
        <p:nvGrpSpPr>
          <p:cNvPr id="56" name="c2-graph-1"/>
          <p:cNvGrpSpPr/>
          <p:nvPr/>
        </p:nvGrpSpPr>
        <p:grpSpPr>
          <a:xfrm>
            <a:off x="6064410" y="1705451"/>
            <a:ext cx="5367495" cy="3277743"/>
            <a:chOff x="6064410" y="1705451"/>
            <a:chExt cx="5367495" cy="3277743"/>
          </a:xfrm>
        </p:grpSpPr>
        <p:sp>
          <p:nvSpPr>
            <p:cNvPr id="27" name="Freeform 27"/>
            <p:cNvSpPr/>
            <p:nvPr/>
          </p:nvSpPr>
          <p:spPr>
            <a:xfrm>
              <a:off x="7544752" y="3518535"/>
              <a:ext cx="827722" cy="355283"/>
            </a:xfrm>
            <a:custGeom>
              <a:avLst/>
              <a:gdLst/>
              <a:ahLst/>
              <a:cxnLst/>
              <a:rect l="l" t="t" r="r" b="b"/>
              <a:pathLst>
                <a:path w="827722" h="355283">
                  <a:moveTo>
                    <a:pt x="827722" y="0"/>
                  </a:moveTo>
                  <a:lnTo>
                    <a:pt x="0" y="355283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457122" y="3830955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0" y="80962"/>
                  </a:moveTo>
                  <a:lnTo>
                    <a:pt x="68580" y="0"/>
                  </a:lnTo>
                  <a:lnTo>
                    <a:pt x="106680" y="86678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483792" y="3023235"/>
              <a:ext cx="888682" cy="381953"/>
            </a:xfrm>
            <a:custGeom>
              <a:avLst/>
              <a:gdLst/>
              <a:ahLst/>
              <a:cxnLst/>
              <a:rect l="l" t="t" r="r" b="b"/>
              <a:pathLst>
                <a:path w="888682" h="381953">
                  <a:moveTo>
                    <a:pt x="888682" y="38195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396162" y="2979420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0" y="6667"/>
                  </a:moveTo>
                  <a:lnTo>
                    <a:pt x="105728" y="0"/>
                  </a:lnTo>
                  <a:lnTo>
                    <a:pt x="68580" y="8763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498908" y="2674620"/>
              <a:ext cx="772478" cy="263842"/>
            </a:xfrm>
            <a:custGeom>
              <a:avLst/>
              <a:gdLst/>
              <a:ahLst/>
              <a:cxnLst/>
              <a:rect l="l" t="t" r="r" b="b"/>
              <a:pathLst>
                <a:path w="772478" h="263842">
                  <a:moveTo>
                    <a:pt x="772478" y="26384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409372" y="262985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14288"/>
                  </a:moveTo>
                  <a:lnTo>
                    <a:pt x="105728" y="0"/>
                  </a:lnTo>
                  <a:lnTo>
                    <a:pt x="74295" y="8953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642032" y="3213735"/>
              <a:ext cx="872490" cy="214312"/>
            </a:xfrm>
            <a:custGeom>
              <a:avLst/>
              <a:gdLst/>
              <a:ahLst/>
              <a:cxnLst/>
              <a:rect l="l" t="t" r="r" b="b"/>
              <a:pathLst>
                <a:path w="872490" h="214312">
                  <a:moveTo>
                    <a:pt x="0" y="214312"/>
                  </a:moveTo>
                  <a:lnTo>
                    <a:pt x="87249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503092" y="3167062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23812"/>
                  </a:moveTo>
                  <a:lnTo>
                    <a:pt x="22860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730740" y="2819400"/>
              <a:ext cx="616267" cy="324803"/>
            </a:xfrm>
            <a:custGeom>
              <a:avLst/>
              <a:gdLst/>
              <a:ahLst/>
              <a:cxnLst/>
              <a:rect l="l" t="t" r="r" b="b"/>
              <a:pathLst>
                <a:path w="616267" h="324803">
                  <a:moveTo>
                    <a:pt x="0" y="324803"/>
                  </a:moveTo>
                  <a:lnTo>
                    <a:pt x="616267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24148" y="2775585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0"/>
                  </a:moveTo>
                  <a:lnTo>
                    <a:pt x="44767" y="86678"/>
                  </a:lnTo>
                  <a:lnTo>
                    <a:pt x="0" y="190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52748" y="2532698"/>
              <a:ext cx="539115" cy="189548"/>
            </a:xfrm>
            <a:custGeom>
              <a:avLst/>
              <a:gdLst/>
              <a:ahLst/>
              <a:cxnLst/>
              <a:rect l="l" t="t" r="r" b="b"/>
              <a:pathLst>
                <a:path w="539115" h="189548">
                  <a:moveTo>
                    <a:pt x="0" y="189548"/>
                  </a:moveTo>
                  <a:lnTo>
                    <a:pt x="53911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1076622" y="248793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3335"/>
                  </a:moveTo>
                  <a:lnTo>
                    <a:pt x="31432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158865" y="2476500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278052" y="290226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211378" y="3840480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369618" y="3328988"/>
              <a:ext cx="266700" cy="2667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614535" y="311753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432732" y="268700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184255" y="2333625"/>
              <a:ext cx="247650" cy="2476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83302" y="25260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35815" y="3890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03580" y="33870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8692" y="238220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52398" y="362235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77442" y="36571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11516" y="4792504"/>
              <a:ext cx="1651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是核心对象，MinPts = 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95512" y="4146709"/>
              <a:ext cx="1752346" cy="358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灰点是链条中间的点，它们也必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须是核心对象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64410" y="1705451"/>
              <a:ext cx="1606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x₃ 由 x₁ 密度可达（两步）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55023" y="1705451"/>
              <a:ext cx="1602994" cy="358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x₄ 由 x₁ 密度可达，故 x₃ 与</a:t>
              </a:r>
              <a:br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x₄ 密度相连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5815965" y="5303520"/>
            <a:ext cx="5842635" cy="1059180"/>
            <a:chOff x="5815965" y="5303520"/>
            <a:chExt cx="5842635" cy="1059180"/>
          </a:xfrm>
        </p:grpSpPr>
        <p:sp>
          <p:nvSpPr>
            <p:cNvPr id="57" name="Rectangle 57"/>
            <p:cNvSpPr/>
            <p:nvPr/>
          </p:nvSpPr>
          <p:spPr>
            <a:xfrm>
              <a:off x="5815965" y="530352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020753" y="5733100"/>
              <a:ext cx="200023" cy="200023"/>
              <a:chOff x="6020753" y="573310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020753" y="57331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54103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322695" y="5452110"/>
              <a:ext cx="48539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密度可达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不对称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：xⱼ 由 xᵢ 可达，不代表 xᵢ 由 xⱼ 可达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（xⱼ 可能根本不是核心点）。密度相连是对称的，簇正是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靠它定义出来的。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5860" cy="909257"/>
            <a:chOff x="520446" y="342900"/>
            <a:chExt cx="86058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58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DBSCAN 的簇：由密度可达关系导出的最大密度相连集合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193982" cy="2486025"/>
            <a:chOff x="533400" y="1524000"/>
            <a:chExt cx="5193982" cy="2486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486025"/>
            </a:xfrm>
            <a:prstGeom prst="roundRect">
              <a:avLst>
                <a:gd name="adj" fmla="val 5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193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两条性质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什么样的子集才算一个簇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37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给定邻域参数，簇是满足下面两条的非空子集 C：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465070"/>
              <a:ext cx="4412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连接性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：xᵢ ∈ C 且 xⱼ ∈ C，则 xᵢ 与 xⱼ 密度相连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2800350"/>
              <a:ext cx="4412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：xᵢ ∈ C 且 xⱼ 由 xᵢ 密度可达，则 xⱼ ∈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3132296"/>
              <a:ext cx="445084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可以证明：若 x 是核心对象，则由 x 密度可达的所有样本组成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的集合恰好同时满足这两条，所以一个核心对象就能长出一个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簇。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200525"/>
            <a:ext cx="5193982" cy="1474470"/>
            <a:chOff x="533400" y="4200525"/>
            <a:chExt cx="5193982" cy="1474470"/>
          </a:xfrm>
        </p:grpSpPr>
        <p:sp>
          <p:nvSpPr>
            <p:cNvPr id="21" name="Rectangle 21"/>
            <p:cNvSpPr/>
            <p:nvPr/>
          </p:nvSpPr>
          <p:spPr>
            <a:xfrm>
              <a:off x="533400" y="4200525"/>
              <a:ext cx="5193982" cy="1474470"/>
            </a:xfrm>
            <a:prstGeom prst="roundRect">
              <a:avLst>
                <a:gd name="adj" fmla="val 775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4834056"/>
              <a:ext cx="224134" cy="192560"/>
              <a:chOff x="726129" y="4834056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49044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48340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9822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418648"/>
              <a:ext cx="42062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密度相连的两个点一定同簇，非密度相连的两个点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要么不同簇，要么其中有噪声点。边界点可能同时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落在两个核心点的邻域里，此时它归谁取决于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扫描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顺序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，这是 DBSCAN 少有的不确定之处。</a:t>
              </a:r>
            </a:p>
          </p:txBody>
        </p:sp>
      </p:grpSp>
      <p:grpSp>
        <p:nvGrpSpPr>
          <p:cNvPr id="49" name="c2-steps-1"/>
          <p:cNvGrpSpPr/>
          <p:nvPr/>
        </p:nvGrpSpPr>
        <p:grpSpPr>
          <a:xfrm>
            <a:off x="6032182" y="1533525"/>
            <a:ext cx="5252310" cy="3179730"/>
            <a:chOff x="6032182" y="1533525"/>
            <a:chExt cx="5252310" cy="3179730"/>
          </a:xfrm>
        </p:grpSpPr>
        <p:sp>
          <p:nvSpPr>
            <p:cNvPr id="28" name="Rectangle 28"/>
            <p:cNvSpPr/>
            <p:nvPr/>
          </p:nvSpPr>
          <p:spPr>
            <a:xfrm>
              <a:off x="6165532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32182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2580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32182" y="34861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25806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32182" y="41367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5806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3662" y="1567815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取未访问点 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4806" y="186166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标记为已访问，检查它是不是核心点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3662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不是核心点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4806" y="2512219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暂时标为噪声，回第 1 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3662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是核心点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4806" y="3162776"/>
              <a:ext cx="2806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新建簇 C，把 Nε(p) 全放进候选集 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43662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4806" y="3813334"/>
              <a:ext cx="4839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 中未归簇的点加入 C；若它也是核心点，把它的邻域并入 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3662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806" y="4463891"/>
              <a:ext cx="3676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空则簇 C 完成，回第 1 步直到所有点都访问过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032182" y="4892040"/>
            <a:ext cx="5626418" cy="782955"/>
            <a:chOff x="6032182" y="4892040"/>
            <a:chExt cx="5626418" cy="782955"/>
          </a:xfrm>
        </p:grpSpPr>
        <p:sp>
          <p:nvSpPr>
            <p:cNvPr id="50" name="Rectangle 50"/>
            <p:cNvSpPr/>
            <p:nvPr/>
          </p:nvSpPr>
          <p:spPr>
            <a:xfrm>
              <a:off x="6032182" y="489204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236970" y="5183505"/>
              <a:ext cx="200026" cy="200025"/>
              <a:chOff x="6236970" y="518350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236970" y="51835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276709" y="52279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311424" y="53390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538912" y="5040630"/>
              <a:ext cx="4615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步标成噪声的点后面可能被别的核心点捞回去当边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界点，所以“噪声”这个标记要到全部扫描结束才算数。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6331" cy="909257"/>
            <a:chOff x="520446" y="342900"/>
            <a:chExt cx="55163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63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手算例题：八个点，跑一遍 DBSCAN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853985" cy="264033"/>
            <a:chOff x="526542" y="1545907"/>
            <a:chExt cx="10853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853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ε = 1.5、MinPts = 3（邻域含点自身）。样本 A(1,1)、B(1,2)、C(2,2)、D(2,1)、H(3.2,2)、E(6,6)、F(7,6)、G(10,1)。</a:t>
              </a:r>
            </a:p>
          </p:txBody>
        </p:sp>
      </p:grpSp>
      <p:grpSp>
        <p:nvGrpSpPr>
          <p:cNvPr id="59" name="c1-table-1"/>
          <p:cNvGrpSpPr/>
          <p:nvPr/>
        </p:nvGrpSpPr>
        <p:grpSpPr>
          <a:xfrm>
            <a:off x="528447" y="1928812"/>
            <a:ext cx="5847588" cy="3314414"/>
            <a:chOff x="528447" y="1928812"/>
            <a:chExt cx="5847588" cy="331441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53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56628" y="2045970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ε 邻域内的点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6812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305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6276" y="2426970"/>
              <a:ext cx="720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B, C, 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991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18114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6276" y="2808923"/>
              <a:ext cx="720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B, C, 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9916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18114" y="2808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89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46276" y="3189923"/>
              <a:ext cx="929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B, C, D, 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9916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8114" y="3189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571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6276" y="3571875"/>
              <a:ext cx="720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A, B, C, 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9991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18114" y="3571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952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46276" y="3952875"/>
              <a:ext cx="30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C, 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99916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632960" y="3845242"/>
              <a:ext cx="173355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18114" y="3952875"/>
              <a:ext cx="1454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非核心，在 C 的邻域里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2167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333875"/>
              <a:ext cx="418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46276" y="4333875"/>
              <a:ext cx="30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E, 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99916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632960" y="4226242"/>
              <a:ext cx="173355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18114" y="433387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非核心，无核心点相邻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5939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78" y="47158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46276" y="471582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899916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632960" y="4608195"/>
              <a:ext cx="173355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718114" y="4715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孤立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928812"/>
              <a:ext cx="5842635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346835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800475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618672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447" y="5052536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逐点统计 ε 邻域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680835" y="1928812"/>
            <a:ext cx="4977765" cy="1160145"/>
            <a:chOff x="6680835" y="1928812"/>
            <a:chExt cx="4977765" cy="1160145"/>
          </a:xfrm>
        </p:grpSpPr>
        <p:sp>
          <p:nvSpPr>
            <p:cNvPr id="60" name="Rectangle 60"/>
            <p:cNvSpPr/>
            <p:nvPr/>
          </p:nvSpPr>
          <p:spPr>
            <a:xfrm>
              <a:off x="6680835" y="1928812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90360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999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925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66838" y="21493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一个簇，三个噪声点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93433" y="2465546"/>
              <a:ext cx="433989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簇 C₁ = {A, B, C, D, H}，其中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A、B、C、D 是核心点，H 是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边界点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；E、F、G 都是噪声点。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680835" y="3253740"/>
            <a:ext cx="4977765" cy="1403032"/>
            <a:chOff x="6680835" y="3253740"/>
            <a:chExt cx="4977765" cy="1403032"/>
          </a:xfrm>
        </p:grpSpPr>
        <p:sp>
          <p:nvSpPr>
            <p:cNvPr id="67" name="Rectangle 67"/>
            <p:cNvSpPr/>
            <p:nvPr/>
          </p:nvSpPr>
          <p:spPr>
            <a:xfrm>
              <a:off x="6680835" y="3253740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90360" y="338709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9910" y="34347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85432" y="34675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值得注意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15441" y="3474244"/>
              <a:ext cx="1601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F 明明挨在一起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93433" y="3791426"/>
              <a:ext cx="438216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和 F 相距 1，比 C 到 H 还近，却被判成噪声，因为它们的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邻域各只有 2 个点。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MinPts 定义了多少个点才算一个簇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2 它们就会单独成簇。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680835" y="4821555"/>
            <a:ext cx="4977765" cy="702945"/>
            <a:chOff x="6680835" y="4821555"/>
            <a:chExt cx="4977765" cy="702945"/>
          </a:xfrm>
        </p:grpSpPr>
        <p:sp>
          <p:nvSpPr>
            <p:cNvPr id="74" name="Rectangle 74"/>
            <p:cNvSpPr/>
            <p:nvPr/>
          </p:nvSpPr>
          <p:spPr>
            <a:xfrm>
              <a:off x="6680835" y="4821555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885623" y="5073015"/>
              <a:ext cx="200026" cy="200025"/>
              <a:chOff x="6885623" y="5073015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885623" y="5073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925361" y="5117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960077" y="5228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188708" y="4966811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手算顺序：先列距离矩阵，再逐点数邻域，标出所有核心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点，最后从任一核心点出发做一次广度优先扩展。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1" name="Rectangle 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9219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到 C 是 √2 ≈ 1.414 ≤ ε，所以 A、B、C、D 互相都在邻域内；C 到 H 是 1.2，而 D 到 H 是 1.562 &gt; ε，H 只与 C 相邻。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5241" cy="909257"/>
            <a:chOff x="520446" y="342900"/>
            <a:chExt cx="79252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52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与 MinPts 怎么定：一个太小打碎，一个太大粘连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27685" y="1524000"/>
            <a:ext cx="5415915" cy="2877027"/>
            <a:chOff x="527685" y="1524000"/>
            <a:chExt cx="5415915" cy="287702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67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0944" y="1655445"/>
              <a:ext cx="573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MinPts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384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簇数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691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2078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8660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39440" y="1964055"/>
              <a:ext cx="279463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35262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外环被打碎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51555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2078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8660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35262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外环碎成更多段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29460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2078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660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5262" y="2946082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碎得更厉害，还出现 6 个噪声点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375660"/>
              <a:ext cx="76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 ~ 1.5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20787" y="337566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~ 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8660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39440" y="3253740"/>
              <a:ext cx="279463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35262" y="33756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正确分出内外两环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38061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20787" y="380619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~ 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8660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139440" y="3684270"/>
              <a:ext cx="279463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35262" y="380619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两环被连成一个簇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5410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10678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47650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12515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685" y="4180999"/>
              <a:ext cx="3991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同心圆数据（内环半径 1、外环半径 3，各 60 点）上的实测</a:t>
              </a:r>
            </a:p>
          </p:txBody>
        </p:sp>
      </p:grpSp>
      <p:grpSp>
        <p:nvGrpSpPr>
          <p:cNvPr id="52" name="c1-callout-2"/>
          <p:cNvGrpSpPr/>
          <p:nvPr/>
        </p:nvGrpSpPr>
        <p:grpSpPr>
          <a:xfrm>
            <a:off x="533400" y="4541520"/>
            <a:ext cx="5410200" cy="1759268"/>
            <a:chOff x="533400" y="4541520"/>
            <a:chExt cx="5410200" cy="1759268"/>
          </a:xfrm>
        </p:grpSpPr>
        <p:sp>
          <p:nvSpPr>
            <p:cNvPr id="47" name="Rectangle 47"/>
            <p:cNvSpPr/>
            <p:nvPr/>
          </p:nvSpPr>
          <p:spPr>
            <a:xfrm>
              <a:off x="533400" y="4541520"/>
              <a:ext cx="5410200" cy="1759268"/>
            </a:xfrm>
            <a:prstGeom prst="roundRect">
              <a:avLst>
                <a:gd name="adj" fmla="val 649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321618"/>
              <a:ext cx="200026" cy="200026"/>
              <a:chOff x="738188" y="532161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3216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04863" y="53994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5059204"/>
              <a:ext cx="432460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合适的参数区间往往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相当宽</a:t>
              </a: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：这里 ε 取 0.6、0.8、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1.0、1.2、1.5，MinPts 取 3 到 5，15 种组合全部正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确。难点在于如何找到这个区间的一端。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6248400" y="1524000"/>
            <a:ext cx="5410200" cy="2755582"/>
            <a:chOff x="6248400" y="1524000"/>
            <a:chExt cx="5410200" cy="2755582"/>
          </a:xfrm>
        </p:grpSpPr>
        <p:sp>
          <p:nvSpPr>
            <p:cNvPr id="53" name="Rectangle 53"/>
            <p:cNvSpPr/>
            <p:nvPr/>
          </p:nvSpPr>
          <p:spPr>
            <a:xfrm>
              <a:off x="6248400" y="1524000"/>
              <a:ext cx="5410200" cy="2755582"/>
            </a:xfrm>
            <a:prstGeom prst="roundRect">
              <a:avLst>
                <a:gd name="adj" fmla="val 483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522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345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实用做法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37488" y="1767364"/>
              <a:ext cx="11705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k-距离图定 ε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52235" y="210693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105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43129" y="2119789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先定 MinPts，经验取值是 2n（n 为维数），二维数据常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4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52235" y="269843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105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43129" y="2711291"/>
              <a:ext cx="38603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对每个样本算它到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第 MinPts 近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的邻居的距离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52235" y="301847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10580" y="30588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43129" y="3031331"/>
              <a:ext cx="31141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把这 N 个距离从大到小排序画成曲线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52235" y="333851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10580" y="337885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43129" y="3351371"/>
              <a:ext cx="285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曲线急剧下降处的拐点值就取作 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46139" y="3667125"/>
              <a:ext cx="4706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道理是：簇内点的 k-距离都不大且彼此接近，噪声点的 k-距离明显更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大，拐点正是两者的分界。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248400" y="4465320"/>
            <a:ext cx="5410200" cy="1836420"/>
            <a:chOff x="6248400" y="4465320"/>
            <a:chExt cx="5410200" cy="1836420"/>
          </a:xfrm>
        </p:grpSpPr>
        <p:sp>
          <p:nvSpPr>
            <p:cNvPr id="71" name="Rectangle 71"/>
            <p:cNvSpPr/>
            <p:nvPr/>
          </p:nvSpPr>
          <p:spPr>
            <a:xfrm>
              <a:off x="6248400" y="4465320"/>
              <a:ext cx="5410200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57925" y="4598670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90335" y="4669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80543" y="4704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91744" y="4708684"/>
              <a:ext cx="31127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全局一个 ε 管不了密度差异大的数据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83096" y="5060156"/>
              <a:ext cx="473036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若一个簇很密、另一个簇很疏，小 ε 会把疏的簇整个判成噪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声，大 ε 又会把密的两个簇粘在一起。改进算法 OPTICS 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直接给出簇，而是输出一个可达距离序列，让使用者事后按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不同的 ε 切开。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密度最大值聚类：每个点只算两个数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450392" cy="264033"/>
            <a:chOff x="526542" y="1545907"/>
            <a:chExt cx="645039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450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Rodriguez 与 Laio 在 2014 年提出，只要两个量就能同时找出簇中心和异常点。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626418" cy="1613535"/>
            <a:chOff x="533400" y="1928812"/>
            <a:chExt cx="5626418" cy="16135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70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局部密度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8006" y="2149316"/>
              <a:ext cx="227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ρᵢ：截断距离内有多少个邻居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37"/>
                <p:cNvSpPr txBox="1">
                  <a:spLocks noGrp="1"/>
                </p:cNvSpPr>
                <p:nvPr/>
              </p:nvSpPr>
              <p:spPr>
                <a:xfrm>
                  <a:off x="752475" y="2445068"/>
                  <a:ext cx="5226368" cy="6153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χ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otherwise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45998" y="3161824"/>
              <a:ext cx="3907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也就是与点 i 的距离小于截断距离 dc 的点的个数。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707130"/>
            <a:ext cx="5626418" cy="1662112"/>
            <a:chOff x="533400" y="3707130"/>
            <a:chExt cx="5626418" cy="1662112"/>
          </a:xfrm>
        </p:grpSpPr>
        <p:sp>
          <p:nvSpPr>
            <p:cNvPr id="17" name="Rectangle 17"/>
            <p:cNvSpPr/>
            <p:nvPr/>
          </p:nvSpPr>
          <p:spPr>
            <a:xfrm>
              <a:off x="533400" y="3707130"/>
              <a:ext cx="5626418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4048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388810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894" y="392096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高密度点距离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16608" y="3927634"/>
              <a:ext cx="227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δᵢ：到更高密度点的最近距离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38"/>
                <p:cNvSpPr txBox="1">
                  <a:spLocks noGrp="1"/>
                </p:cNvSpPr>
                <p:nvPr/>
              </p:nvSpPr>
              <p:spPr>
                <a:xfrm>
                  <a:off x="752475" y="4223385"/>
                  <a:ext cx="5226368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: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ρ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745998" y="4746784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对密度最大的那个点，没有更高密度的点可比，约定取 δᵢ 为它到所有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点的最大距离 max dᵢⱼ。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534025"/>
            <a:ext cx="5626418" cy="702945"/>
            <a:chOff x="533400" y="5534025"/>
            <a:chExt cx="5626418" cy="702945"/>
          </a:xfrm>
        </p:grpSpPr>
        <p:sp>
          <p:nvSpPr>
            <p:cNvPr id="25" name="Rectangle 25"/>
            <p:cNvSpPr/>
            <p:nvPr/>
          </p:nvSpPr>
          <p:spPr>
            <a:xfrm>
              <a:off x="533400" y="5534025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785485"/>
              <a:ext cx="200026" cy="200025"/>
              <a:chOff x="738188" y="5785485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785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829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941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5679281"/>
              <a:ext cx="47393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dc 的推荐取法是让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平均每个点的邻居数占总点数的 1% 到 2%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。算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法只对 ρ 的相对大小敏感，所以 dc 的选择相当稳健。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928812"/>
            <a:ext cx="5193982" cy="1733550"/>
            <a:chOff x="6464618" y="1928812"/>
            <a:chExt cx="5193982" cy="1733550"/>
          </a:xfrm>
        </p:grpSpPr>
        <p:sp>
          <p:nvSpPr>
            <p:cNvPr id="32" name="Rectangle 32"/>
            <p:cNvSpPr/>
            <p:nvPr/>
          </p:nvSpPr>
          <p:spPr>
            <a:xfrm>
              <a:off x="6464618" y="1928812"/>
              <a:ext cx="5193982" cy="1733550"/>
            </a:xfrm>
            <a:prstGeom prst="roundRect">
              <a:avLst>
                <a:gd name="adj" fmla="val 769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45592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38264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12520" y="21493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三类点，两个量就能分开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55118" y="251841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10566" y="246554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簇中心：ρ 大且 δ 大（周围很挤，而且离别的高密度区很远）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55118" y="280320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0566" y="2751296"/>
              <a:ext cx="4096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普通点：ρ 中等，δ 很小（旁边就有比自己更密的点）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55118" y="30880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10566" y="303609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异常点：ρ 很小但 δ 很大（自己孤零零，离任何密集区都远）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40259" y="3317558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只有密度是局部或全局最大的点，才会有远大于正常邻点间距的 δ。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3827145"/>
            <a:ext cx="5193982" cy="1403032"/>
            <a:chOff x="6464618" y="3827145"/>
            <a:chExt cx="5193982" cy="1403032"/>
          </a:xfrm>
        </p:grpSpPr>
        <p:sp>
          <p:nvSpPr>
            <p:cNvPr id="44" name="Rectangle 44"/>
            <p:cNvSpPr/>
            <p:nvPr/>
          </p:nvSpPr>
          <p:spPr>
            <a:xfrm>
              <a:off x="6464618" y="3827145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396049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3692" y="40081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6364" y="40409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50620" y="40476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中心定了以后怎么分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77216" y="4363879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确定簇中心之后，其余每个点按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距离最近的已知簇中心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归类。这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是教科书写法；实践中也常按密度可达的方式，把每个点指给它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δ 所指向的那个更高密度点，沿链一路归到中心。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464618" y="5394960"/>
            <a:ext cx="5193982" cy="842010"/>
            <a:chOff x="6464618" y="5394960"/>
            <a:chExt cx="5193982" cy="842010"/>
          </a:xfrm>
        </p:grpSpPr>
        <p:sp>
          <p:nvSpPr>
            <p:cNvPr id="51" name="Rectangle 51"/>
            <p:cNvSpPr/>
            <p:nvPr/>
          </p:nvSpPr>
          <p:spPr>
            <a:xfrm>
              <a:off x="6464618" y="5394960"/>
              <a:ext cx="5193982" cy="842010"/>
            </a:xfrm>
            <a:prstGeom prst="roundRect">
              <a:avLst>
                <a:gd name="adj" fmla="val 1357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5715953"/>
              <a:ext cx="200026" cy="200026"/>
              <a:chOff x="6669405" y="5715953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57159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5782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58305" y="58159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2491" y="5609749"/>
              <a:ext cx="4312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把两个量乘起来得 γᵢ = ρᵢ·δᵢ，按 γ 从大到小排序，排在最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前面的几个就是簇中心，这是实现里常用的自动选法。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密度聚类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决策图与手算例题：十一个点，两个中心一个异常点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798298" cy="278702"/>
            <a:chOff x="526161" y="1547336"/>
            <a:chExt cx="879829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7982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决策图以 ρ 为横轴、δ 为纵轴。更正：两版课件把它的英文写成 decision tree，应为 decision graph。</a:t>
              </a:r>
            </a:p>
          </p:txBody>
        </p:sp>
      </p:grpSp>
      <p:grpSp>
        <p:nvGrpSpPr>
          <p:cNvPr id="62" name="c1-table-1"/>
          <p:cNvGrpSpPr/>
          <p:nvPr/>
        </p:nvGrpSpPr>
        <p:grpSpPr>
          <a:xfrm>
            <a:off x="528066" y="1941195"/>
            <a:ext cx="5847969" cy="2915222"/>
            <a:chOff x="528066" y="1941195"/>
            <a:chExt cx="5847969" cy="291522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2818" y="2065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088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坐标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2158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3978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96082" y="2065496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 = ρδ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7756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3412" y="2471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34452" y="24712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2032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1368" y="24712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5.800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55770" y="24712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23.2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100638" y="2356485"/>
              <a:ext cx="12668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91125" y="24712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簇中心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479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75272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28770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4452" y="28770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20327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21368" y="28770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55770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100638" y="2762250"/>
              <a:ext cx="12668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91125" y="28770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簇中心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1537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338280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a₂…a₅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34452" y="3282791"/>
              <a:ext cx="793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(±1,0)(0,±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20327" y="338280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21368" y="338280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55770" y="338280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91125" y="33828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7595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76428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412" y="388858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b₂…b₅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34452" y="388858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中心外 0.8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20327" y="38885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21368" y="3888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55770" y="38885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91125" y="38885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1652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42943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34452" y="429434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(2.5,5)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20327" y="42943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21368" y="429434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4.717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55770" y="429434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100638" y="4179570"/>
              <a:ext cx="126682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191125" y="42943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941195"/>
              <a:ext cx="5842635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29678" y="1941195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515552" y="1941195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216592" y="1941195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150995" y="1941195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086350" y="1941195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8066" y="4651058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dc = 1.5 的完整计算结果</a:t>
              </a:r>
            </a:p>
          </p:txBody>
        </p:sp>
      </p:grpSp>
      <p:grpSp>
        <p:nvGrpSpPr>
          <p:cNvPr id="69" name="c1-callout-2"/>
          <p:cNvGrpSpPr/>
          <p:nvPr/>
        </p:nvGrpSpPr>
        <p:grpSpPr>
          <a:xfrm>
            <a:off x="533400" y="4990148"/>
            <a:ext cx="5842635" cy="1159192"/>
            <a:chOff x="533400" y="4990148"/>
            <a:chExt cx="5842635" cy="1159192"/>
          </a:xfrm>
        </p:grpSpPr>
        <p:sp>
          <p:nvSpPr>
            <p:cNvPr id="63" name="Rectangle 63"/>
            <p:cNvSpPr/>
            <p:nvPr/>
          </p:nvSpPr>
          <p:spPr>
            <a:xfrm>
              <a:off x="533400" y="4990148"/>
              <a:ext cx="5842635" cy="1159192"/>
            </a:xfrm>
            <a:prstGeom prst="roundRect">
              <a:avLst>
                <a:gd name="adj" fmla="val 98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469255"/>
              <a:ext cx="200026" cy="200026"/>
              <a:chOff x="738188" y="5469255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4692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55359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55692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5226368"/>
              <a:ext cx="488289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与 b₁ 的 ρ 都是 4 且并列最大，谁都找不到比自己更密的点，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于是两者的 δ 都按约定取到最远点的距离，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自然地被顶到决策图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的右上角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9" name="c2-graph-1"/>
          <p:cNvGrpSpPr/>
          <p:nvPr/>
        </p:nvGrpSpPr>
        <p:grpSpPr>
          <a:xfrm>
            <a:off x="6892309" y="1964055"/>
            <a:ext cx="4704360" cy="1731645"/>
            <a:chOff x="6892309" y="1964055"/>
            <a:chExt cx="4704360" cy="1731645"/>
          </a:xfrm>
        </p:grpSpPr>
        <p:sp>
          <p:nvSpPr>
            <p:cNvPr id="70" name="Freeform 70"/>
            <p:cNvSpPr/>
            <p:nvPr/>
          </p:nvSpPr>
          <p:spPr>
            <a:xfrm>
              <a:off x="7217092" y="3470910"/>
              <a:ext cx="4109085" cy="9525"/>
            </a:xfrm>
            <a:custGeom>
              <a:avLst/>
              <a:gdLst/>
              <a:ahLst/>
              <a:cxnLst/>
              <a:rect l="l" t="t" r="r" b="b"/>
              <a:pathLst>
                <a:path w="4109085" h="9525">
                  <a:moveTo>
                    <a:pt x="0" y="0"/>
                  </a:moveTo>
                  <a:lnTo>
                    <a:pt x="41090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11326178" y="34232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7178992" y="2296478"/>
              <a:ext cx="9525" cy="1060132"/>
            </a:xfrm>
            <a:custGeom>
              <a:avLst/>
              <a:gdLst/>
              <a:ahLst/>
              <a:cxnLst/>
              <a:rect l="l" t="t" r="r" b="b"/>
              <a:pathLst>
                <a:path w="9525" h="1060132">
                  <a:moveTo>
                    <a:pt x="0" y="106013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7131368" y="22012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7186612" y="2399348"/>
              <a:ext cx="133350" cy="1333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9908858" y="320040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9908858" y="326802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10829925" y="2193608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0829925" y="2084070"/>
              <a:ext cx="133350" cy="1333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520507" y="351948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892309" y="196405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144879" y="2061686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b₁ (4, 6.0)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144879" y="2197894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a₁ (4, 5.8)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415994" y="247126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簇中心：ρ 大 δ 大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422832" y="2380774"/>
              <a:ext cx="16156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 (0, 4.72)：异常点，ρ 小 δ 大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559747" y="3199924"/>
              <a:ext cx="12624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个普通点：ρ = 3，δ ≤ 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43873" y="3527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930888" y="3527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861481" y="3527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6680835" y="3936682"/>
            <a:ext cx="4977765" cy="2211705"/>
            <a:chOff x="6680835" y="3936682"/>
            <a:chExt cx="4977765" cy="2211705"/>
          </a:xfrm>
        </p:grpSpPr>
        <p:sp>
          <p:nvSpPr>
            <p:cNvPr id="90" name="Rectangle 90"/>
            <p:cNvSpPr/>
            <p:nvPr/>
          </p:nvSpPr>
          <p:spPr>
            <a:xfrm>
              <a:off x="6680835" y="3936682"/>
              <a:ext cx="4977765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6690360" y="4070032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911340" y="412908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998780" y="41633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可靠性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628382" y="4169092"/>
              <a:ext cx="1715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边界区域与光晕 halo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904482" y="4503420"/>
              <a:ext cx="43171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对每个簇定义边界区域：划分给该簇、但到其他簇的点的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距离小于 dc 的那些点。取边界区域里局部密度最大的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点，记它的密度为 ρₕ。簇内密度高于 ρₕ 的点算作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簇核心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（归属可靠），其余的点算作光晕，可以当噪声看待。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905625" y="5573554"/>
              <a:ext cx="43639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课件引用的原论文实验：同一分布抽 4000 点和 1000 点，决策图上都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5 个点突出；抽样越多，错分率越低。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367528" cy="3706177"/>
            <a:chOff x="667512" y="1835468"/>
            <a:chExt cx="5367528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网格法与基于模型的聚类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先假设数据是怎么生成的，再把参数估出来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581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网格聚类：STING 与 CLIQUE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79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算法：两枚硬币的完整计算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1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高斯混合模型与它的 EM 求解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再看 k-means：它是 GMM 的硬划分极限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 聚类：吸引度与归属度两种消息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网格聚类：先把空间切成格子，再合并稠密的格子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3289529" cy="3454242"/>
            <a:chOff x="533400" y="1533525"/>
            <a:chExt cx="3289529" cy="345424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9346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6817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419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183308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把数据空间切成有限个单元格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41982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随机取一个还没遍历过的格子 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00656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 c 里的样本数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35933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密度超阈值则标为新簇，再检查它的邻居格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39128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18099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邻居也超阈值就并进来，直到没有新邻居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642" y="449961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4767739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回到第 2 步，直到所有格子都遍历过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156835"/>
            <a:ext cx="5410200" cy="1113472"/>
            <a:chOff x="533400" y="5156835"/>
            <a:chExt cx="5410200" cy="1113472"/>
          </a:xfrm>
        </p:grpSpPr>
        <p:sp>
          <p:nvSpPr>
            <p:cNvPr id="33" name="Rectangle 33"/>
            <p:cNvSpPr/>
            <p:nvPr/>
          </p:nvSpPr>
          <p:spPr>
            <a:xfrm>
              <a:off x="533400" y="5156835"/>
              <a:ext cx="5410200" cy="1113472"/>
            </a:xfrm>
            <a:prstGeom prst="roundRect">
              <a:avLst>
                <a:gd name="adj" fmla="val 1026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613085"/>
              <a:ext cx="200023" cy="200023"/>
              <a:chOff x="738188" y="561308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6130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56797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5370195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所有处理都以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格子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为对象而不是以样本为对象，所以复杂度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只和格子数有关，与样本数几乎无关。这是它能处理超大数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据集的原因。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248400" y="1524000"/>
            <a:ext cx="5410200" cy="1617345"/>
            <a:chOff x="6248400" y="1524000"/>
            <a:chExt cx="5410200" cy="161734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8215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代表算法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645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286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8412" y="2154079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30452" y="2154079"/>
              <a:ext cx="2075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Statistical Information Grid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10750" y="205406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多分辨率的层次网格，每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层存统计量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253555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8412" y="2759869"/>
              <a:ext cx="555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CLIQUE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30452" y="2759869"/>
              <a:ext cx="1447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Clustering in QUEst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10750" y="265985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网格与密度结合，能在子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空间里找簇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1617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25678" y="1524000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705975" y="1524000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ompare-2"/>
          <p:cNvGrpSpPr/>
          <p:nvPr/>
        </p:nvGrpSpPr>
        <p:grpSpPr>
          <a:xfrm>
            <a:off x="6248400" y="3316605"/>
            <a:ext cx="5410200" cy="1800225"/>
            <a:chOff x="6248400" y="3316605"/>
            <a:chExt cx="5410200" cy="1800225"/>
          </a:xfrm>
        </p:grpSpPr>
        <p:sp>
          <p:nvSpPr>
            <p:cNvPr id="55" name="Rectangle 55"/>
            <p:cNvSpPr/>
            <p:nvPr/>
          </p:nvSpPr>
          <p:spPr>
            <a:xfrm>
              <a:off x="6248400" y="3316605"/>
              <a:ext cx="2466022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3449955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72047" y="3530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7478" y="39071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43497" y="385095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实现简单、容易理解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87478" y="42100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43497" y="415385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处理大规模数据很快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87478" y="45119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43497" y="44557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簇的数量和大小自适应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92578" y="3316605"/>
              <a:ext cx="2466022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202102" y="3449955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16224" y="3530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9431655" y="39071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587674" y="385095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对形状和密度差异敏感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431655" y="42100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587674" y="415385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格子大小与阈值要手动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431655" y="47691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587674" y="47129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簇边界模糊，可能重叠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762048" y="4025265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816619" y="41562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82" name="c2-callout-3"/>
          <p:cNvGrpSpPr/>
          <p:nvPr/>
        </p:nvGrpSpPr>
        <p:grpSpPr>
          <a:xfrm>
            <a:off x="6248400" y="5291138"/>
            <a:ext cx="5410200" cy="978218"/>
            <a:chOff x="6248400" y="5291138"/>
            <a:chExt cx="5410200" cy="978218"/>
          </a:xfrm>
        </p:grpSpPr>
        <p:sp>
          <p:nvSpPr>
            <p:cNvPr id="76" name="Rectangle 76"/>
            <p:cNvSpPr/>
            <p:nvPr/>
          </p:nvSpPr>
          <p:spPr>
            <a:xfrm>
              <a:off x="6248400" y="5291138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453188" y="5680710"/>
              <a:ext cx="200026" cy="200026"/>
              <a:chOff x="6453188" y="5680710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453188" y="56807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553200" y="57473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542088" y="57807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755892" y="5437823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格子切得越细越接近真实形状，但空格子的数量随维数指数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增长，高维下绝大多数格子是空的，这限制了网格法的适用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87446" cy="909257"/>
            <a:chOff x="520446" y="342900"/>
            <a:chExt cx="81874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874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算法：不知道归属就先猜，再用猜的结果更新参数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642110"/>
            <a:chOff x="533400" y="1524000"/>
            <a:chExt cx="5626418" cy="1642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33468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期望最大算法 Expectation Maximization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11359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061686"/>
              <a:ext cx="50002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 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：用当前参数和观测数据，估计每个样本属于各个成分的概率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3983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346484"/>
              <a:ext cx="40045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：把这些概率当权重，用极大似然重新估计参数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141" y="2627948"/>
              <a:ext cx="49446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每次迭代之后似然函数都不会减小，所以一定收敛，但只保证收敛到局部最优，结果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受初始值影响。</a:t>
              </a:r>
            </a:p>
          </p:txBody>
        </p:sp>
      </p:grpSp>
      <p:grpSp>
        <p:nvGrpSpPr>
          <p:cNvPr id="20" name="c1-image-2"/>
          <p:cNvGrpSpPr/>
          <p:nvPr/>
        </p:nvGrpSpPr>
        <p:grpSpPr>
          <a:xfrm>
            <a:off x="1231290" y="3330892"/>
            <a:ext cx="4231589" cy="1739932"/>
            <a:chOff x="1231290" y="3330892"/>
            <a:chExt cx="4231589" cy="173993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5535" y="3330892"/>
              <a:ext cx="1943100" cy="1457325"/>
            </a:xfrm>
            <a:prstGeom prst="roundRect">
              <a:avLst>
                <a:gd name="adj" fmla="val 9150"/>
              </a:avLst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1231290" y="4880134"/>
              <a:ext cx="42315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先把混在一起的豆子按当前判断分进两个罐子，再按罐里的比例修正判断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5216842"/>
            <a:ext cx="5626418" cy="937260"/>
            <a:chOff x="533400" y="5216842"/>
            <a:chExt cx="5626418" cy="937260"/>
          </a:xfrm>
        </p:grpSpPr>
        <p:sp>
          <p:nvSpPr>
            <p:cNvPr id="21" name="Rectangle 21"/>
            <p:cNvSpPr/>
            <p:nvPr/>
          </p:nvSpPr>
          <p:spPr>
            <a:xfrm>
              <a:off x="533400" y="5216842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585460"/>
              <a:ext cx="200026" cy="200025"/>
              <a:chOff x="738188" y="5585460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5854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56299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57410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5361146"/>
              <a:ext cx="47271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引入隐变量后往往有两组未知量互相纠缠：知道归属就能算参数，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知道参数就能算归属。EM 就是固定一组、更新另一组，交替进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459665" y="1524000"/>
            <a:ext cx="5198935" cy="2552414"/>
            <a:chOff x="6459665" y="1524000"/>
            <a:chExt cx="5198935" cy="2552414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561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87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用的硬币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0601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929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4651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40521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正 5 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929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4651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40521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正 1 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9296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4651" y="2785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40521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正 2 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9296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4651" y="3167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40521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正 6 反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9296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94651" y="3548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40521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正 3 反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521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64108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9665" y="3885724"/>
              <a:ext cx="4428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引子：硬币 A、B 各抛若干轮，每轮 10 次，且每轮用的哪枚硬币都记录在案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4202430"/>
            <a:ext cx="5193982" cy="1951672"/>
            <a:chOff x="6464618" y="4202430"/>
            <a:chExt cx="5193982" cy="1951672"/>
          </a:xfrm>
        </p:grpSpPr>
        <p:sp>
          <p:nvSpPr>
            <p:cNvPr id="58" name="Rectangle 58"/>
            <p:cNvSpPr/>
            <p:nvPr/>
          </p:nvSpPr>
          <p:spPr>
            <a:xfrm>
              <a:off x="6464618" y="4202430"/>
              <a:ext cx="5193982" cy="1951672"/>
            </a:xfrm>
            <a:prstGeom prst="roundRect">
              <a:avLst>
                <a:gd name="adj" fmla="val 68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4335780"/>
              <a:ext cx="47625" cy="16849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77216" y="44048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有标记时直接数就行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77216" y="4705826"/>
              <a:ext cx="460690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记两枚硬币抛出正面的概率为 θ₁（硬币 A）与 θ₂（硬币 B）。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 用了第 2、3、5 轮：24 正 6 反，θ₁ = 24/30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；B 用了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1、4 轮：9 正 11 反，θ₂ = 9/20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0.45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。把“用的哪枚硬币”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这一列抹掉，它就成了隐变量。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0680" cy="909257"/>
            <a:chOff x="520446" y="342900"/>
            <a:chExt cx="54406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06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两枚硬币：一轮完整的 E 步与 M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961145" cy="278702"/>
            <a:chOff x="526161" y="1547336"/>
            <a:chExt cx="896114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961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随机初始化 θ₁ = 0.6、θ₂ = 0.5。E 步算每一轮由硬币 A 生成的后验概率 P₁，M 步用它加权重数正反面。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50"/>
              <p:cNvSpPr txBox="1">
                <a:spLocks noGrp="1"/>
              </p:cNvSpPr>
              <p:nvPr/>
            </p:nvSpPr>
            <p:spPr>
              <a:xfrm>
                <a:off x="533400" y="1941195"/>
                <a:ext cx="584263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70" name="c1-table-2"/>
          <p:cNvGrpSpPr/>
          <p:nvPr/>
        </p:nvGrpSpPr>
        <p:grpSpPr>
          <a:xfrm>
            <a:off x="528066" y="2579370"/>
            <a:ext cx="5847969" cy="3120009"/>
            <a:chOff x="528066" y="2579370"/>
            <a:chExt cx="5847969" cy="3120009"/>
          </a:xfrm>
        </p:grpSpPr>
        <p:sp>
          <p:nvSpPr>
            <p:cNvPr id="10" name="Rectangle 10"/>
            <p:cNvSpPr/>
            <p:nvPr/>
          </p:nvSpPr>
          <p:spPr>
            <a:xfrm>
              <a:off x="533400" y="2579370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431" y="27036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45628" y="27036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80702" y="270367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98899" y="270367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44729" y="2703671"/>
              <a:ext cx="806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记到 A 名下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30604" y="2703671"/>
              <a:ext cx="806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记到 B 名下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31094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4452" y="310943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5正5反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69808" y="31094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87052" y="31094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5250" y="310943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正 2.2 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91125" y="310943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 正 2.8 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861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9090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515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4452" y="351520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9正1反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69808" y="351520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87052" y="351520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05250" y="351520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 正 0.8 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91125" y="351520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 正 0.2 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91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920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34452" y="392096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8正2反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69808" y="39209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7052" y="39209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05250" y="392096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 正 1.5 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91125" y="392096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正 0.5 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976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024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3267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34452" y="432673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4正6反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69808" y="43267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87052" y="43267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05250" y="432673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正 2.1 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91125" y="4326731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 正 3.9 反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6034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4732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34452" y="473249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7正3反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269808" y="47324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87052" y="47324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05250" y="473249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 正 1.9 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91125" y="4732496"/>
              <a:ext cx="946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正 1.1 反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0091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50139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3412" y="5138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334452" y="5138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269808" y="5138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87052" y="5138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814762" y="5023485"/>
              <a:ext cx="126682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905250" y="513826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21.3 正 8.6 反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00638" y="5023485"/>
              <a:ext cx="126682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191125" y="513826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11.7 正 8.4 反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2579370"/>
              <a:ext cx="584263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229678" y="257937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2165032" y="257937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982278" y="257937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800475" y="257937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086350" y="257937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28066" y="5494020"/>
              <a:ext cx="4257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 步：第 1 轮 5 正 5 反，0.6⁵·0.4⁵ = 7.96e-4，0.5¹⁰ = 9.77e-4</a:t>
              </a:r>
            </a:p>
          </p:txBody>
        </p:sp>
      </p:grpSp>
      <p:grpSp>
        <p:nvGrpSpPr>
          <p:cNvPr id="76" name="c2-callout-1"/>
          <p:cNvGrpSpPr/>
          <p:nvPr/>
        </p:nvGrpSpPr>
        <p:grpSpPr>
          <a:xfrm>
            <a:off x="6680835" y="1941195"/>
            <a:ext cx="4977765" cy="978218"/>
            <a:chOff x="6680835" y="1941195"/>
            <a:chExt cx="4977765" cy="978218"/>
          </a:xfrm>
        </p:grpSpPr>
        <p:sp>
          <p:nvSpPr>
            <p:cNvPr id="71" name="Rectangle 71"/>
            <p:cNvSpPr/>
            <p:nvPr/>
          </p:nvSpPr>
          <p:spPr>
            <a:xfrm>
              <a:off x="6680835" y="1941195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885623" y="2330768"/>
              <a:ext cx="200026" cy="200026"/>
              <a:chOff x="6885623" y="2330768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885623" y="2330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952298" y="24085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188327" y="2087880"/>
              <a:ext cx="411137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步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：θ₁ = 21.3/(21.3+8.6) = 0.71，θ₂ =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11.7/(11.7+8.4) = 0.58。第 2 轮记到 A 名下的计数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 9 正 1 反乘 P₁ = 0.80。</a:t>
              </a:r>
            </a:p>
          </p:txBody>
        </p:sp>
      </p:grpSp>
      <p:grpSp>
        <p:nvGrpSpPr>
          <p:cNvPr id="103" name="c2-table-2"/>
          <p:cNvGrpSpPr/>
          <p:nvPr/>
        </p:nvGrpSpPr>
        <p:grpSpPr>
          <a:xfrm>
            <a:off x="6675501" y="3094672"/>
            <a:ext cx="4983099" cy="2308479"/>
            <a:chOff x="6675501" y="3094672"/>
            <a:chExt cx="4983099" cy="2308479"/>
          </a:xfrm>
        </p:grpSpPr>
        <p:sp>
          <p:nvSpPr>
            <p:cNvPr id="77" name="Rectangle 77"/>
            <p:cNvSpPr/>
            <p:nvPr/>
          </p:nvSpPr>
          <p:spPr>
            <a:xfrm>
              <a:off x="6680835" y="3094672"/>
              <a:ext cx="497776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71106" y="32189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53105" y="32189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θ₁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695228" y="32189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780848" y="36247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74367" y="362473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0.7130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16490" y="362473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0.5813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680835" y="39014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680835" y="3906202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80848" y="4030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74367" y="403050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0.7453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016490" y="403050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0.5693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680835" y="43072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780848" y="44362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274367" y="443626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0.7681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016490" y="443626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0.5495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680835" y="47129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680835" y="4717732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80848" y="484203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8183880" y="4727258"/>
              <a:ext cx="172307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274367" y="484203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0.7967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016490" y="484203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0.5197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680835" y="3094672"/>
              <a:ext cx="497776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169592" y="309467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9911715" y="309467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75501" y="5197792"/>
              <a:ext cx="3878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把新的 θ 代回 E 步反复迭代（用精确值而非表中的两位小数）</a:t>
              </a:r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04" name="Rectangle 10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0892" y="6023610"/>
              <a:ext cx="7737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θ₁ 收敛到 0.797，与有标记时的 0.80 几乎一样；θ₂ 收敛到 0.520，比有标记时的 0.45 偏高。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41686" cy="909257"/>
            <a:chOff x="520446" y="342900"/>
            <a:chExt cx="6141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41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Jensen 不等式：凸函数的弦在曲线上方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784894" cy="264033"/>
            <a:chOff x="526542" y="1545907"/>
            <a:chExt cx="578489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784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EM 的收敛证明要用到它。设 X 是随机变量，f 是定义在实数上的函数。</a:t>
              </a:r>
            </a:p>
          </p:txBody>
        </p:sp>
      </p:grpSp>
      <p:grpSp>
        <p:nvGrpSpPr>
          <p:cNvPr id="28" name="c1-graph-1"/>
          <p:cNvGrpSpPr/>
          <p:nvPr/>
        </p:nvGrpSpPr>
        <p:grpSpPr>
          <a:xfrm>
            <a:off x="756285" y="2142172"/>
            <a:ext cx="4987290" cy="2424589"/>
            <a:chOff x="756285" y="2142172"/>
            <a:chExt cx="4987290" cy="2424589"/>
          </a:xfrm>
        </p:grpSpPr>
        <p:sp>
          <p:nvSpPr>
            <p:cNvPr id="9" name="Freeform 9"/>
            <p:cNvSpPr/>
            <p:nvPr/>
          </p:nvSpPr>
          <p:spPr>
            <a:xfrm>
              <a:off x="842010" y="4332922"/>
              <a:ext cx="4806315" cy="9525"/>
            </a:xfrm>
            <a:custGeom>
              <a:avLst/>
              <a:gdLst/>
              <a:ahLst/>
              <a:cxnLst/>
              <a:rect l="l" t="t" r="r" b="b"/>
              <a:pathLst>
                <a:path w="4806315" h="9525">
                  <a:moveTo>
                    <a:pt x="0" y="0"/>
                  </a:moveTo>
                  <a:lnTo>
                    <a:pt x="48063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648325" y="42852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03910" y="2237422"/>
              <a:ext cx="9525" cy="1988820"/>
            </a:xfrm>
            <a:custGeom>
              <a:avLst/>
              <a:gdLst/>
              <a:ahLst/>
              <a:cxnLst/>
              <a:rect l="l" t="t" r="r" b="b"/>
              <a:pathLst>
                <a:path w="9525" h="1988820">
                  <a:moveTo>
                    <a:pt x="0" y="198882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56285" y="21421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221105" y="2296478"/>
              <a:ext cx="4251960" cy="1766888"/>
            </a:xfrm>
            <a:custGeom>
              <a:avLst/>
              <a:gdLst/>
              <a:ahLst/>
              <a:cxnLst/>
              <a:rect l="l" t="t" r="r" b="b"/>
              <a:pathLst>
                <a:path w="4251960" h="1766888">
                  <a:moveTo>
                    <a:pt x="0" y="0"/>
                  </a:moveTo>
                  <a:lnTo>
                    <a:pt x="69533" y="97155"/>
                  </a:lnTo>
                  <a:lnTo>
                    <a:pt x="394335" y="502920"/>
                  </a:lnTo>
                  <a:lnTo>
                    <a:pt x="719138" y="855345"/>
                  </a:lnTo>
                  <a:lnTo>
                    <a:pt x="1043940" y="1149668"/>
                  </a:lnTo>
                  <a:lnTo>
                    <a:pt x="1367790" y="1387793"/>
                  </a:lnTo>
                  <a:lnTo>
                    <a:pt x="1692592" y="1566863"/>
                  </a:lnTo>
                  <a:lnTo>
                    <a:pt x="2017395" y="1689735"/>
                  </a:lnTo>
                  <a:lnTo>
                    <a:pt x="2342198" y="1756410"/>
                  </a:lnTo>
                  <a:lnTo>
                    <a:pt x="2667000" y="1766888"/>
                  </a:lnTo>
                  <a:lnTo>
                    <a:pt x="2990850" y="1719263"/>
                  </a:lnTo>
                  <a:lnTo>
                    <a:pt x="3315652" y="1614488"/>
                  </a:lnTo>
                  <a:lnTo>
                    <a:pt x="3640455" y="1454468"/>
                  </a:lnTo>
                  <a:lnTo>
                    <a:pt x="3965258" y="1235393"/>
                  </a:lnTo>
                  <a:lnTo>
                    <a:pt x="4251960" y="99250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81162" y="2812732"/>
              <a:ext cx="3439478" cy="705802"/>
            </a:xfrm>
            <a:custGeom>
              <a:avLst/>
              <a:gdLst/>
              <a:ahLst/>
              <a:cxnLst/>
              <a:rect l="l" t="t" r="r" b="b"/>
              <a:pathLst>
                <a:path w="3439478" h="705802">
                  <a:moveTo>
                    <a:pt x="0" y="0"/>
                  </a:moveTo>
                  <a:lnTo>
                    <a:pt x="3439478" y="705802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615440" y="2866072"/>
              <a:ext cx="9525" cy="1360170"/>
            </a:xfrm>
            <a:custGeom>
              <a:avLst/>
              <a:gdLst/>
              <a:ahLst/>
              <a:cxnLst/>
              <a:rect l="l" t="t" r="r" b="b"/>
              <a:pathLst>
                <a:path w="9525" h="1360170">
                  <a:moveTo>
                    <a:pt x="0" y="13601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5186362" y="3598545"/>
              <a:ext cx="9525" cy="627697"/>
            </a:xfrm>
            <a:custGeom>
              <a:avLst/>
              <a:gdLst/>
              <a:ahLst/>
              <a:cxnLst/>
              <a:rect l="l" t="t" r="r" b="b"/>
              <a:pathLst>
                <a:path w="9525" h="627697">
                  <a:moveTo>
                    <a:pt x="0" y="62769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3400425" y="3232785"/>
              <a:ext cx="9525" cy="993458"/>
            </a:xfrm>
            <a:custGeom>
              <a:avLst/>
              <a:gdLst/>
              <a:ahLst/>
              <a:cxnLst/>
              <a:rect l="l" t="t" r="r" b="b"/>
              <a:pathLst>
                <a:path w="9525" h="993458">
                  <a:moveTo>
                    <a:pt x="0" y="9934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Ellipse 18"/>
            <p:cNvSpPr/>
            <p:nvPr/>
          </p:nvSpPr>
          <p:spPr>
            <a:xfrm>
              <a:off x="1558290" y="274224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129212" y="347472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343275" y="3108960"/>
              <a:ext cx="114300" cy="1143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343275" y="3969068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80321" y="44048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1243" y="44048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67362" y="4404836"/>
              <a:ext cx="2661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E[X]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8540" y="2855119"/>
              <a:ext cx="10025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E[f(X)]：弦的中点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84667" y="4137184"/>
              <a:ext cx="11128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f(E[X])：曲线上的点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7971" y="29617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765358"/>
            <a:ext cx="5410200" cy="1478280"/>
            <a:chOff x="533400" y="4765358"/>
            <a:chExt cx="5410200" cy="1478280"/>
          </a:xfrm>
        </p:grpSpPr>
        <p:sp>
          <p:nvSpPr>
            <p:cNvPr id="29" name="Rectangle 29"/>
            <p:cNvSpPr/>
            <p:nvPr/>
          </p:nvSpPr>
          <p:spPr>
            <a:xfrm>
              <a:off x="533400" y="4765358"/>
              <a:ext cx="5410200" cy="1478280"/>
            </a:xfrm>
            <a:prstGeom prst="roundRect">
              <a:avLst>
                <a:gd name="adj" fmla="val 773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404485"/>
              <a:ext cx="200026" cy="200026"/>
              <a:chOff x="738188" y="5404485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4044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4711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5044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063014"/>
              <a:ext cx="4499610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 X 以 0.5 的概率取 a、0.5 的概率取 b。E[f(X)]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(f(a)+f(b))/2 落在弦上，f(E[X]) 落在曲线上，弦更高。课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件的“凸”指开口向上（如 x²），有的高数教材叫“凹”，认公式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别认名字。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928812"/>
            <a:ext cx="5410200" cy="1202055"/>
            <a:chOff x="6248400" y="1928812"/>
            <a:chExt cx="5410200" cy="1202055"/>
          </a:xfrm>
        </p:grpSpPr>
        <p:sp>
          <p:nvSpPr>
            <p:cNvPr id="36" name="Rectangle 36"/>
            <p:cNvSpPr/>
            <p:nvPr/>
          </p:nvSpPr>
          <p:spPr>
            <a:xfrm>
              <a:off x="6248400" y="1928812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206216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7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0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33451" y="21493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凸函数与凹函数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7000" y="251841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2448" y="2465546"/>
              <a:ext cx="4303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一元：处处 f''(x) ≥ 0 是凸函数，f''(x) ≤ 0 是凹函数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7000" y="280320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2448" y="2751296"/>
              <a:ext cx="4508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多元：Hessian 矩阵 H 半正定是凸函数，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 半负定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是凹函数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formula157"/>
              <p:cNvSpPr txBox="1">
                <a:spLocks noGrp="1"/>
              </p:cNvSpPr>
              <p:nvPr/>
            </p:nvSpPr>
            <p:spPr>
              <a:xfrm>
                <a:off x="6248400" y="3295650"/>
                <a:ext cx="5410200" cy="470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convex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concave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58" name="c2-card-3"/>
          <p:cNvGrpSpPr/>
          <p:nvPr/>
        </p:nvGrpSpPr>
        <p:grpSpPr>
          <a:xfrm>
            <a:off x="6248400" y="3930968"/>
            <a:ext cx="5410200" cy="1444942"/>
            <a:chOff x="6248400" y="3930968"/>
            <a:chExt cx="5410200" cy="1444942"/>
          </a:xfrm>
        </p:grpSpPr>
        <p:sp>
          <p:nvSpPr>
            <p:cNvPr id="47" name="Rectangle 47"/>
            <p:cNvSpPr/>
            <p:nvPr/>
          </p:nvSpPr>
          <p:spPr>
            <a:xfrm>
              <a:off x="6248400" y="3930968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4064318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7475" y="41119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0147" y="41448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33451" y="4151471"/>
              <a:ext cx="1861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版第 60 页的两处笔误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67475" y="445770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19382" y="449237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37223" y="4468654"/>
              <a:ext cx="4345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原文“二阶导数小于 0 或者 H &gt; 0 是凹函数”：H &gt; 0 对应凸函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数，凹函数要 H 半负定。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67475" y="498538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19382" y="5021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37223" y="4996339"/>
              <a:ext cx="4796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原文说 E(X) 是 a 和 b 的中值“a + b /2”，应写成 (a + b)/2。</a:t>
              </a:r>
            </a:p>
          </p:txBody>
        </p:sp>
      </p:grpSp>
      <p:grpSp>
        <p:nvGrpSpPr>
          <p:cNvPr id="64" name="c2-callout-4"/>
          <p:cNvGrpSpPr/>
          <p:nvPr/>
        </p:nvGrpSpPr>
        <p:grpSpPr>
          <a:xfrm>
            <a:off x="6248400" y="5541645"/>
            <a:ext cx="5410200" cy="702945"/>
            <a:chOff x="6248400" y="5541645"/>
            <a:chExt cx="5410200" cy="702945"/>
          </a:xfrm>
        </p:grpSpPr>
        <p:sp>
          <p:nvSpPr>
            <p:cNvPr id="59" name="Rectangle 59"/>
            <p:cNvSpPr/>
            <p:nvPr/>
          </p:nvSpPr>
          <p:spPr>
            <a:xfrm>
              <a:off x="6248400" y="554164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792155"/>
              <a:ext cx="200023" cy="200023"/>
              <a:chOff x="6453188" y="579215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7921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86538" y="5858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6273" y="5685949"/>
              <a:ext cx="434964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log 的二阶导数 −1/x² &lt; 0，是凹函数，故 </a:t>
              </a:r>
              <a:r>
                <a:rPr lang="en-US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log E[Y] ≥ E[log</a:t>
              </a:r>
              <a:br/>
              <a:r>
                <a:rPr lang="en-US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Y]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。下一页按 Qᵢ(z) 取期望，就得到似然的下界。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1041" cy="909257"/>
            <a:chOff x="520446" y="342900"/>
            <a:chExt cx="64710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10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为什么收敛：每一轮都在抬高一条下界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775460"/>
            <a:chOff x="533400" y="1524000"/>
            <a:chExt cx="5626418" cy="1775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对数里套着求和，没法直接求导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76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5226368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;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func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  <m:sup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;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5998" y="2677001"/>
              <a:ext cx="4954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z 已知，log 里只有一项，求导就完事；z 是隐变量时，log 里是一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个和式，导数形式极其复杂。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64242"/>
            <a:ext cx="5626418" cy="1856422"/>
            <a:chOff x="533400" y="3464242"/>
            <a:chExt cx="5626418" cy="1856422"/>
          </a:xfrm>
        </p:grpSpPr>
        <p:sp>
          <p:nvSpPr>
            <p:cNvPr id="15" name="Rectangle 15"/>
            <p:cNvSpPr/>
            <p:nvPr/>
          </p:nvSpPr>
          <p:spPr>
            <a:xfrm>
              <a:off x="533400" y="3464242"/>
              <a:ext cx="5626418" cy="1856422"/>
            </a:xfrm>
            <a:prstGeom prst="roundRect">
              <a:avLst>
                <a:gd name="adj" fmla="val 71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97592"/>
              <a:ext cx="47625" cy="158972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6452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7044" y="36780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8006" y="3684746"/>
              <a:ext cx="2103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Jensen 不等式换出下界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001929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对每个样本引入隐变量 z 的分布 Qᵢ(z)，要求它对所有 z 求和为 1 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处处非负。log 是凹函数，故 log E[·] ≥ E[log ·]：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77"/>
                <p:cNvSpPr txBox="1">
                  <a:spLocks noGrp="1"/>
                </p:cNvSpPr>
                <p:nvPr/>
              </p:nvSpPr>
              <p:spPr>
                <a:xfrm>
                  <a:off x="752475" y="4508182"/>
                  <a:ext cx="5226368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  <m:sup/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Q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e>
                                    </m:d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m:rPr>
                                                    <m:sty m:val="bi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,</m:t>
                                            </m:r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;</m:t>
                                            </m:r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Q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den>
                                    </m:f>
                                  </m:e>
                                </m:nary>
                              </m:e>
                            </m:func>
                          </m:e>
                        </m:nary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</m:d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m:rPr>
                                                    <m:sty m:val="bi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,</m:t>
                                            </m:r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;</m:t>
                                            </m:r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Q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z</m:t>
                                            </m:r>
                                          </m:e>
                                        </m:d>
                                      </m:den>
                                    </m:f>
                                  </m:e>
                                </m:func>
                              </m:e>
                            </m:nary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2028825"/>
            <a:chOff x="6464618" y="1524000"/>
            <a:chExt cx="5193982" cy="202882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2028825"/>
            </a:xfrm>
            <a:prstGeom prst="roundRect">
              <a:avLst>
                <a:gd name="adj" fmla="val 657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45592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23012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等号何时成立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09726" y="1744504"/>
              <a:ext cx="1438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这正好给出了 E 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39116" y="2061686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取等的条件是括号里的量恒为常数 c；两边对 z 求和，再用 Qᵢ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的归一化，得 c = p(xᵢ;θ)，于是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78"/>
                <p:cNvSpPr txBox="1">
                  <a:spLocks noGrp="1"/>
                </p:cNvSpPr>
                <p:nvPr/>
              </p:nvSpPr>
              <p:spPr>
                <a:xfrm>
                  <a:off x="6645592" y="2567940"/>
                  <a:ext cx="4832032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;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b>
                              <m:sup/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;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d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639116" y="3173254"/>
              <a:ext cx="4842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也就是隐变量的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后验概率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，它让下界在当前 θ 处与 L(θ) 相切。</a:t>
              </a:r>
            </a:p>
          </p:txBody>
        </p:sp>
      </p:grpSp>
      <p:grpSp>
        <p:nvGrpSpPr>
          <p:cNvPr id="44" name="c2-steps-2"/>
          <p:cNvGrpSpPr/>
          <p:nvPr/>
        </p:nvGrpSpPr>
        <p:grpSpPr>
          <a:xfrm>
            <a:off x="6464618" y="3727132"/>
            <a:ext cx="2755525" cy="1596962"/>
            <a:chOff x="6464618" y="3727132"/>
            <a:chExt cx="2755525" cy="1596962"/>
          </a:xfrm>
        </p:grpSpPr>
        <p:sp>
          <p:nvSpPr>
            <p:cNvPr id="31" name="Rectangle 31"/>
            <p:cNvSpPr/>
            <p:nvPr/>
          </p:nvSpPr>
          <p:spPr>
            <a:xfrm>
              <a:off x="6597968" y="3870008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464618" y="37271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8241" y="3800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64618" y="428053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8241" y="4354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64618" y="48339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8241" y="4907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7241" y="3758089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8384" y="4012882"/>
              <a:ext cx="2341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θ，取 Q 为后验，下界与 L 相等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7241" y="4311491"/>
              <a:ext cx="385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8384" y="4565332"/>
              <a:ext cx="1983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Q，最大化下界得到新的 θ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7241" y="48639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78384" y="5118735"/>
              <a:ext cx="1913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 θ 处 L ≥ 下界 ≥ 旧 θ 处的 L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9781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似然单调不减且有上界，一定收敛；但收敛点未必是全局最大，EM 的结果依赖初始值，实践中常多次随机初始化取最好的一次。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98843" cy="909257"/>
            <a:chOff x="520446" y="342900"/>
            <a:chExt cx="5498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98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高斯混合模型：K 个高斯按权重叠加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06892"/>
            <a:chOff x="533400" y="1524000"/>
            <a:chExt cx="5410200" cy="18068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06892"/>
            </a:xfrm>
            <a:prstGeom prst="roundRect">
              <a:avLst>
                <a:gd name="adj" fmla="val 7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01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假设每个簇的样本各自服从一个高斯分布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想把数据分成 K 个簇，就假设有 K 个高斯分布，第 i 个的参数是均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 μᵢ 和协方差 Σᵢ，再配一个权重 αᵢ 表示这个成分占多大比例。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7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01015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98"/>
              <p:cNvSpPr txBox="1">
                <a:spLocks noGrp="1"/>
              </p:cNvSpPr>
              <p:nvPr/>
            </p:nvSpPr>
            <p:spPr>
              <a:xfrm>
                <a:off x="533400" y="3495675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cr m:val="script"/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bi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m:rPr>
                              <m:sty m:val="bi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,Σ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2π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e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bi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μ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bi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m:rPr>
                                      <m:sty m:val="bi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llout-3"/>
          <p:cNvGrpSpPr/>
          <p:nvPr/>
        </p:nvGrpSpPr>
        <p:grpSpPr>
          <a:xfrm>
            <a:off x="533400" y="4071938"/>
            <a:ext cx="5410200" cy="1865948"/>
            <a:chOff x="533400" y="4071938"/>
            <a:chExt cx="5410200" cy="1865948"/>
          </a:xfrm>
        </p:grpSpPr>
        <p:sp>
          <p:nvSpPr>
            <p:cNvPr id="16" name="Rectangle 16"/>
            <p:cNvSpPr/>
            <p:nvPr/>
          </p:nvSpPr>
          <p:spPr>
            <a:xfrm>
              <a:off x="533400" y="4071938"/>
              <a:ext cx="5410200" cy="1865948"/>
            </a:xfrm>
            <a:prstGeom prst="roundRect">
              <a:avLst>
                <a:gd name="adj" fmla="val 612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4901683"/>
              <a:ext cx="224134" cy="192560"/>
              <a:chOff x="726129" y="4901683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49720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49016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0498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4681061"/>
              <a:ext cx="453212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更正：B 版第 85 页把混合分布写成 Σₗ₌₁ᵏ αᵢ·p(x|μᵢ,Σᵢ)，求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和变量 l 与下标 i 对不上，约束式同样如此；第 83 页多元高斯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的系数写成 (2π)ᴷ，K 与成分个数撞名，应为维数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744028"/>
            <a:chOff x="6248400" y="1524000"/>
            <a:chExt cx="5410200" cy="1744028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1744028"/>
            </a:xfrm>
            <a:prstGeom prst="roundRect">
              <a:avLst>
                <a:gd name="adj" fmla="val 76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4773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67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4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为什么要迭代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1608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对数似然是非凸的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99"/>
                <p:cNvSpPr txBox="1">
                  <a:spLocks noGrp="1"/>
                </p:cNvSpPr>
                <p:nvPr/>
              </p:nvSpPr>
              <p:spPr>
                <a:xfrm>
                  <a:off x="6467475" y="2040255"/>
                  <a:ext cx="5010150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grow m:val="off"/>
                                        <m:subHide m:val="off"/>
                                        <m:supHide m:val="off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=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p>
                                      <m:e>
                                        <m:sSub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α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cr m:val="script"/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e>
                                                <m:r>
                                                  <m:rPr>
                                                    <m:sty m:val="bi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j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∣</m:t>
                                            </m:r>
                                            <m:sSub>
                                              <m:e>
                                                <m:r>
                                                  <m:rPr>
                                                    <m:sty m:val="bi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,</m:t>
                                            </m:r>
                                            <m:sSub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60998" y="2645569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里面又是求和，K 个高斯的和不是高斯，直接求导解不出来，而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且每个样本属于哪个成分事先不知道。这正是 EM 要处理的局面。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432810"/>
            <a:ext cx="5410200" cy="1403032"/>
            <a:chOff x="6248400" y="3432810"/>
            <a:chExt cx="5410200" cy="1403032"/>
          </a:xfrm>
        </p:grpSpPr>
        <p:sp>
          <p:nvSpPr>
            <p:cNvPr id="31" name="Rectangle 31"/>
            <p:cNvSpPr/>
            <p:nvPr/>
          </p:nvSpPr>
          <p:spPr>
            <a:xfrm>
              <a:off x="6248400" y="343281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56616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7475" y="361378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40843" y="364664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与单高斯的差别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56386" y="36533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混合模型能拟合多峰分布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0998" y="397049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一个高斯只有一个峰，形状被均值和协方差锁死。把若干个高斯按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权重叠加，就能拟合任意多峰、任意胖瘦的分布，这是它比单一分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布强的地方，也是它参数多、容易过拟合的原因。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6248400" y="5000625"/>
            <a:ext cx="5410200" cy="937260"/>
            <a:chOff x="6248400" y="5000625"/>
            <a:chExt cx="5410200" cy="937260"/>
          </a:xfrm>
        </p:grpSpPr>
        <p:sp>
          <p:nvSpPr>
            <p:cNvPr id="38" name="Rectangle 38"/>
            <p:cNvSpPr/>
            <p:nvPr/>
          </p:nvSpPr>
          <p:spPr>
            <a:xfrm>
              <a:off x="6248400" y="5000625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53188" y="5369243"/>
              <a:ext cx="200026" cy="200025"/>
              <a:chOff x="6453188" y="5369243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53188" y="53692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92926" y="54136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27642" y="55248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6273" y="5145881"/>
              <a:ext cx="446709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协方差矩阵可以受限：取对角阵就假设各维独立，取球形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（σ²I）就假设各向同性。限制越强，参数越少，越不容易过拟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6519" cy="909257"/>
            <a:chOff x="520446" y="342900"/>
            <a:chExt cx="67165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65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GMM 的 EM：E 步算后验，M 步做加权平均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47775"/>
            <a:chOff x="533400" y="1524000"/>
            <a:chExt cx="5626418" cy="12477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47775"/>
            </a:xfrm>
            <a:prstGeom prst="roundRect">
              <a:avLst>
                <a:gd name="adj" fmla="val 106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10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38" y="1737836"/>
              <a:ext cx="2662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E 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5115" y="1744504"/>
              <a:ext cx="2923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个样本属于第 i 个成分的后验概率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18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5226368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cr m:val="script"/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∣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2936558"/>
            <a:ext cx="5626418" cy="1800225"/>
            <a:chOff x="533400" y="2936558"/>
            <a:chExt cx="5626418" cy="1800225"/>
          </a:xfrm>
        </p:grpSpPr>
        <p:sp>
          <p:nvSpPr>
            <p:cNvPr id="14" name="Rectangle 14"/>
            <p:cNvSpPr/>
            <p:nvPr/>
          </p:nvSpPr>
          <p:spPr>
            <a:xfrm>
              <a:off x="533400" y="2936558"/>
              <a:ext cx="5626418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069908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117532"/>
              <a:ext cx="47148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9984" y="3150394"/>
              <a:ext cx="295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 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1786" y="315706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三个参数各自的更新式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19"/>
                <p:cNvSpPr txBox="1">
                  <a:spLocks noGrp="1"/>
                </p:cNvSpPr>
                <p:nvPr/>
              </p:nvSpPr>
              <p:spPr>
                <a:xfrm>
                  <a:off x="752475" y="3452812"/>
                  <a:ext cx="5226368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'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ji</m:t>
                                    </m:r>
                                  </m:sub>
                                </m:s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'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20"/>
                <p:cNvSpPr txBox="1">
                  <a:spLocks noGrp="1"/>
                </p:cNvSpPr>
                <p:nvPr/>
              </p:nvSpPr>
              <p:spPr>
                <a:xfrm>
                  <a:off x="752475" y="4036695"/>
                  <a:ext cx="5226368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'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ji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'</m:t>
                                    </m:r>
                                  </m:e>
                                </m:d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'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1-callout-3"/>
          <p:cNvGrpSpPr/>
          <p:nvPr/>
        </p:nvGrpSpPr>
        <p:grpSpPr>
          <a:xfrm>
            <a:off x="533400" y="4901565"/>
            <a:ext cx="5626418" cy="1423035"/>
            <a:chOff x="533400" y="4901565"/>
            <a:chExt cx="5626418" cy="1423035"/>
          </a:xfrm>
        </p:grpSpPr>
        <p:sp>
          <p:nvSpPr>
            <p:cNvPr id="22" name="Rectangle 22"/>
            <p:cNvSpPr/>
            <p:nvPr/>
          </p:nvSpPr>
          <p:spPr>
            <a:xfrm>
              <a:off x="533400" y="4901565"/>
              <a:ext cx="5626418" cy="1423035"/>
            </a:xfrm>
            <a:prstGeom prst="roundRect">
              <a:avLst>
                <a:gd name="adj" fmla="val 803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513070"/>
              <a:ext cx="200026" cy="200026"/>
              <a:chOff x="738188" y="551307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5130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5797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6130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1273" y="5288756"/>
              <a:ext cx="456463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 Σⱼ γⱼᵢ 是第 i 个成分的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有效样本数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，再除以 N 就是它的权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重。三个更新式其实就是把普通的均值、协方差、频率公式里的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“属于”换成了“属于的概率”。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917258"/>
            <a:chOff x="6464618" y="1524000"/>
            <a:chExt cx="5193982" cy="917258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50620" y="1744504"/>
              <a:ext cx="1955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一维两成分，做一次 E 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77216" y="206168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α = (0.5, 0.5)，μ = (0, 4)，两个成分的 σ 都是 1。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464618" y="2606040"/>
            <a:ext cx="5193982" cy="1525905"/>
            <a:chOff x="6464618" y="2606040"/>
            <a:chExt cx="5193982" cy="1525905"/>
          </a:xfrm>
        </p:grpSpPr>
        <p:sp>
          <p:nvSpPr>
            <p:cNvPr id="36" name="Rectangle 36"/>
            <p:cNvSpPr/>
            <p:nvPr/>
          </p:nvSpPr>
          <p:spPr>
            <a:xfrm>
              <a:off x="6464618" y="2606040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26355" y="272319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 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6845" y="2723198"/>
              <a:ext cx="1066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γ（属于成分 1）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12813" y="2723198"/>
              <a:ext cx="1066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γ（属于成分 2）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9296" y="3105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02296" y="310515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0.9820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27311" y="310515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3642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36899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3486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17142" y="3378518"/>
              <a:ext cx="200691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02296" y="348615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642158" y="3378518"/>
              <a:ext cx="200691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27311" y="348615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7452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9296" y="3868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02296" y="38681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27311" y="38681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0.9820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2606040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602855" y="26060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627870" y="26060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llout-3"/>
          <p:cNvGrpSpPr/>
          <p:nvPr/>
        </p:nvGrpSpPr>
        <p:grpSpPr>
          <a:xfrm>
            <a:off x="6464618" y="4296728"/>
            <a:ext cx="5193982" cy="702945"/>
            <a:chOff x="6464618" y="4296728"/>
            <a:chExt cx="5193982" cy="702945"/>
          </a:xfrm>
        </p:grpSpPr>
        <p:sp>
          <p:nvSpPr>
            <p:cNvPr id="58" name="Rectangle 58"/>
            <p:cNvSpPr/>
            <p:nvPr/>
          </p:nvSpPr>
          <p:spPr>
            <a:xfrm>
              <a:off x="6464618" y="4296728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4548190"/>
              <a:ext cx="200023" cy="200023"/>
              <a:chOff x="6669405" y="454819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45481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802755" y="4614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2491" y="4441031"/>
              <a:ext cx="4320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2 正好在两个均值中间，两边各 0.5，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这个样本对两个成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分的更新贡献一样大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。这就是软划分。</a:t>
              </a:r>
            </a:p>
          </p:txBody>
        </p:sp>
      </p:grpSp>
      <p:grpSp>
        <p:nvGrpSpPr>
          <p:cNvPr id="70" name="c2-card-4"/>
          <p:cNvGrpSpPr/>
          <p:nvPr/>
        </p:nvGrpSpPr>
        <p:grpSpPr>
          <a:xfrm>
            <a:off x="6464618" y="5164455"/>
            <a:ext cx="5193982" cy="1160145"/>
            <a:chOff x="6464618" y="5164455"/>
            <a:chExt cx="5193982" cy="1160145"/>
          </a:xfrm>
        </p:grpSpPr>
        <p:sp>
          <p:nvSpPr>
            <p:cNvPr id="64" name="Rectangle 64"/>
            <p:cNvSpPr/>
            <p:nvPr/>
          </p:nvSpPr>
          <p:spPr>
            <a:xfrm>
              <a:off x="6464618" y="5164455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4142" y="529780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83692" y="534543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69214" y="53782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整体流程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99223" y="53849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77216" y="5701189"/>
              <a:ext cx="4393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K 并给出初值 → 交替做 E 步与 M 步 → 似然增量小于阈值时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 → 把每个样本判给 γ 最大的成分。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9621" cy="909257"/>
            <a:chOff x="520446" y="342900"/>
            <a:chExt cx="74296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96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再看 k-means：它是高斯混合模型的硬划分极限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403032"/>
            <a:chOff x="533400" y="1524000"/>
            <a:chExt cx="5626418" cy="1403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89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对应关系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9906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参数是中心，隐变量是归属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061686"/>
              <a:ext cx="50685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EM 的角度看，k-means 的参数就是每个簇的质心 μ，隐变量是每个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样本属于哪个簇。知道归属就能求平均得到 μ，知道 μ 就能算归属，于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是照样用 EM 的思路交替更新。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233"/>
              <p:cNvSpPr txBox="1">
                <a:spLocks noGrp="1"/>
              </p:cNvSpPr>
              <p:nvPr/>
            </p:nvSpPr>
            <p:spPr>
              <a:xfrm>
                <a:off x="533400" y="3091815"/>
                <a:ext cx="5626418" cy="615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arg</m:t>
                                  </m:r>
                                </m:fName>
                                <m:e>
                                  <m:func>
                                    <m:funcPr/>
                                    <m:fName>
                                      <m:limLow>
                                        <m:limLowPr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min</m:t>
                                          </m:r>
                                        </m:e>
                                        <m:lim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l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sSup>
                                        <m:e>
                                          <m:d>
                                            <m:dPr>
                                              <m:begChr m:val="‖"/>
                                              <m:sepChr m:val=""/>
                                              <m:endChr m:val="‖"/>
                                              <m:grow m:val="on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e>
                                                  <m:r>
                                                    <m:rPr>
                                                      <m:sty m:val="bi"/>
                                                    </m:rPr>
                                                    <a:rPr lang="zh-CN" sz="128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x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sz="128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j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e>
                                                  <m:r>
                                                    <m:rPr>
                                                      <m:sty m:val="bi"/>
                                                    </m:rPr>
                                                    <a:rPr lang="zh-CN" sz="128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sz="128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l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func>
                                </m:e>
                              </m:func>
                            </m: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3"/>
          <p:cNvGrpSpPr/>
          <p:nvPr/>
        </p:nvGrpSpPr>
        <p:grpSpPr>
          <a:xfrm>
            <a:off x="533400" y="3871912"/>
            <a:ext cx="5626418" cy="2221230"/>
            <a:chOff x="533400" y="3871912"/>
            <a:chExt cx="5626418" cy="2221230"/>
          </a:xfrm>
        </p:grpSpPr>
        <p:sp>
          <p:nvSpPr>
            <p:cNvPr id="14" name="Rectangle 14"/>
            <p:cNvSpPr/>
            <p:nvPr/>
          </p:nvSpPr>
          <p:spPr>
            <a:xfrm>
              <a:off x="533400" y="3871912"/>
              <a:ext cx="5626418" cy="2221230"/>
            </a:xfrm>
            <a:prstGeom prst="roundRect">
              <a:avLst>
                <a:gd name="adj" fmla="val 60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005262"/>
              <a:ext cx="47625" cy="19545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4052888"/>
              <a:ext cx="47148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9984" y="4085749"/>
              <a:ext cx="295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 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1786" y="4092416"/>
              <a:ext cx="1438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J 求导得到质心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409599"/>
              <a:ext cx="497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rⱼᵢ 后目标函数是 J = Σⱼ Σᵢ rⱼᵢ||xⱼ − μᵢ||²。对 μᵢ 求导并令其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34"/>
                <p:cNvSpPr txBox="1">
                  <a:spLocks noGrp="1"/>
                </p:cNvSpPr>
                <p:nvPr/>
              </p:nvSpPr>
              <p:spPr>
                <a:xfrm>
                  <a:off x="752475" y="4915852"/>
                  <a:ext cx="5226368" cy="502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⟹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45998" y="552116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这正是簇内样本的均值向量，与直接写出的更新规则一致。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1160145"/>
            <a:chOff x="6464618" y="1524000"/>
            <a:chExt cx="5193982" cy="116014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极限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50620" y="1744504"/>
              <a:ext cx="20251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→ 0 时软划分变成硬划分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77216" y="2061686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GMM 的协方差固定成 σ²I 并让 σ 趋于 0。仍取 μ = (0, 4)、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x = 1：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6464618" y="2848928"/>
            <a:ext cx="5193982" cy="1906905"/>
            <a:chOff x="6464618" y="2848928"/>
            <a:chExt cx="5193982" cy="1906905"/>
          </a:xfrm>
        </p:grpSpPr>
        <p:sp>
          <p:nvSpPr>
            <p:cNvPr id="30" name="Rectangle 30"/>
            <p:cNvSpPr/>
            <p:nvPr/>
          </p:nvSpPr>
          <p:spPr>
            <a:xfrm>
              <a:off x="6464618" y="2848928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86146" y="29660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02479" y="2966085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γ（成分 2）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1316" y="2966085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γ（成分 1）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9296" y="334803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4651" y="334803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83521" y="334803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36071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361188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9296" y="372903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4651" y="372903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1.1×10⁻⁷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83521" y="3729038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1 − 1.1×10⁻⁷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9881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9296" y="411099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4651" y="411099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3.7×10⁻⁴⁴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83521" y="411099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43700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437483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9296" y="449199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94651" y="4491990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e 的 −1600 次方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798368" y="4384358"/>
              <a:ext cx="18507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83521" y="449199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2848928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95210" y="28489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84080" y="284892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llout-3"/>
          <p:cNvGrpSpPr/>
          <p:nvPr/>
        </p:nvGrpSpPr>
        <p:grpSpPr>
          <a:xfrm>
            <a:off x="6464618" y="4920615"/>
            <a:ext cx="5193982" cy="1172528"/>
            <a:chOff x="6464618" y="4920615"/>
            <a:chExt cx="5193982" cy="1172528"/>
          </a:xfrm>
        </p:grpSpPr>
        <p:sp>
          <p:nvSpPr>
            <p:cNvPr id="56" name="Rectangle 56"/>
            <p:cNvSpPr/>
            <p:nvPr/>
          </p:nvSpPr>
          <p:spPr>
            <a:xfrm>
              <a:off x="6464618" y="4920615"/>
              <a:ext cx="5193982" cy="1172528"/>
            </a:xfrm>
            <a:prstGeom prst="roundRect">
              <a:avLst>
                <a:gd name="adj" fmla="val 974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5407343"/>
              <a:ext cx="200026" cy="200026"/>
              <a:chOff x="6669405" y="5407343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669405" y="54073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36080" y="54851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2491" y="5065871"/>
              <a:ext cx="4296410" cy="952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σ 越小，后验越快趋向 0 或 1，软划分退化成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只归给最近的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中心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，EM 就变成了 k-means。反过来看，GMM 是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k-means 的软化版：归属从硬划分变成概率，簇形状从球形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放宽到任意椭球，代价是多了权重和协方差两组参数。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4715" cy="909257"/>
            <a:chOff x="520446" y="342900"/>
            <a:chExt cx="74247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47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 聚类：让样本互相传两种消息，自己选出中心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36880" cy="264033"/>
            <a:chOff x="526542" y="1545907"/>
            <a:chExt cx="723688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36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Frey 与 Dueck 2007 年发表在 Science 上的吸引子传播算法（Affinity Propagation）。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410200" cy="1459230"/>
            <a:chOff x="533400" y="1928812"/>
            <a:chExt cx="5410200" cy="145923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6811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出发点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8562" y="215074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所有样本一开始都是候选中心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7971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算法输入是相似性矩阵，一般取 s(i,j) = −||xᵢ − xⱼ||²。把每个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样本既当数据点又当候选中心，让两种消息在样本之间反复传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递，最后中心自己浮现出来。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542" y="3580448"/>
            <a:ext cx="5417058" cy="1163192"/>
            <a:chOff x="526542" y="3580448"/>
            <a:chExt cx="5417058" cy="1163192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3580448"/>
              <a:ext cx="1150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吸引度 r(i,j)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91475" y="3580448"/>
              <a:ext cx="369989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由样本 i 发给候选中心 j，表示在考虑其他候选中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心之后，j 适合当 i 的中心的程度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1205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542" y="4226242"/>
              <a:ext cx="1150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归属度 a(i,j)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91475" y="4226242"/>
              <a:ext cx="368274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由候选中心 j 发给样本 i，表示在 j 也适合当别人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的中心之后，i 选择 j 的合适程度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861560"/>
            <a:ext cx="5410200" cy="1459230"/>
            <a:chOff x="533400" y="4861560"/>
            <a:chExt cx="5410200" cy="1459230"/>
          </a:xfrm>
        </p:grpSpPr>
        <p:sp>
          <p:nvSpPr>
            <p:cNvPr id="22" name="Rectangle 22"/>
            <p:cNvSpPr/>
            <p:nvPr/>
          </p:nvSpPr>
          <p:spPr>
            <a:xfrm>
              <a:off x="533400" y="4861560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99491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50482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759" y="50811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自相似性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73340" y="5082540"/>
              <a:ext cx="1695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s(i,i) 决定最终簇数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332" y="5409248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对角线 s(i,i) 叫偏好度（preference）。A 版课件取全部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N(N−1) 个非对角元素 s(i,j) 的平均值。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它越小，簇数越少；越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大，簇数越多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，这是 AP 里唯一需要人调的旋钮。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255"/>
              <p:cNvSpPr txBox="1">
                <a:spLocks noGrp="1"/>
              </p:cNvSpPr>
              <p:nvPr/>
            </p:nvSpPr>
            <p:spPr>
              <a:xfrm>
                <a:off x="6248400" y="1928812"/>
                <a:ext cx="5410200" cy="445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j'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j'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j'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256"/>
              <p:cNvSpPr txBox="1">
                <a:spLocks noGrp="1"/>
              </p:cNvSpPr>
              <p:nvPr/>
            </p:nvSpPr>
            <p:spPr>
              <a:xfrm>
                <a:off x="6248400" y="2544128"/>
                <a:ext cx="5410200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 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i'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≠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  <m:sup/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{"/>
                                          <m:sepChr m:val=""/>
                                          <m:endChr m:val="}"/>
                                          <m:grow m:val="on"/>
                                          <m:ctrl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r</m:t>
                                          </m:r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i'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zh-CN" sz="12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j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257"/>
              <p:cNvSpPr txBox="1">
                <a:spLocks noGrp="1"/>
              </p:cNvSpPr>
              <p:nvPr/>
            </p:nvSpPr>
            <p:spPr>
              <a:xfrm>
                <a:off x="6248400" y="3281362"/>
                <a:ext cx="5410200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i'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/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i'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39" name="c2-card-4"/>
          <p:cNvGrpSpPr/>
          <p:nvPr/>
        </p:nvGrpSpPr>
        <p:grpSpPr>
          <a:xfrm>
            <a:off x="6248400" y="4017645"/>
            <a:ext cx="5410200" cy="2303145"/>
            <a:chOff x="6248400" y="4017645"/>
            <a:chExt cx="5410200" cy="2303145"/>
          </a:xfrm>
        </p:grpSpPr>
        <p:sp>
          <p:nvSpPr>
            <p:cNvPr id="32" name="Rectangle 32"/>
            <p:cNvSpPr/>
            <p:nvPr/>
          </p:nvSpPr>
          <p:spPr>
            <a:xfrm>
              <a:off x="6248400" y="4017645"/>
              <a:ext cx="5410200" cy="2303145"/>
            </a:xfrm>
            <a:prstGeom prst="roundRect">
              <a:avLst>
                <a:gd name="adj" fmla="val 579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35090" y="42043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7762" y="42371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阻尼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00684" y="423957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为什么要加阻尼系数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8232" y="4565332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两个矩阵互相依赖，直接迭代会震荡。实现里用阻尼系数 λ（常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0.5 至 0.9）做平滑：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58"/>
                <p:cNvSpPr txBox="1">
                  <a:spLocks noGrp="1"/>
                </p:cNvSpPr>
                <p:nvPr/>
              </p:nvSpPr>
              <p:spPr>
                <a:xfrm>
                  <a:off x="6435090" y="5100638"/>
                  <a:ext cx="503682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new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new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old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428232" y="5511165"/>
              <a:ext cx="3784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矩阵同理。λ 太小会震荡，太大则收敛很慢。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1438" cy="909257"/>
            <a:chOff x="520446" y="342900"/>
            <a:chExt cx="79014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网格法与基于模型的聚类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14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 的流程与代价：不用给 k，但要存三个 N×N 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424667" cy="2702814"/>
            <a:chOff x="533400" y="1533525"/>
            <a:chExt cx="4424667" cy="27028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452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算相似性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1818322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对所有样本对算 s(i,j)，对角线取偏好度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371725"/>
              <a:ext cx="4010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a(i,j) 全设为 0，r(i,j) 取 s(i,j) 减去同行其余位置里最大的 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更新消息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925128"/>
              <a:ext cx="24296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按公式交替更新 R 与 A，并做阻尼平滑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判定中心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477578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i 取使 r(i,j)+a(i,j) 最大的 j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761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03098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中心不再变化或达到最大迭代次数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397692"/>
            <a:ext cx="5193982" cy="702945"/>
            <a:chOff x="533400" y="4397692"/>
            <a:chExt cx="5193982" cy="702945"/>
          </a:xfrm>
        </p:grpSpPr>
        <p:sp>
          <p:nvSpPr>
            <p:cNvPr id="29" name="Rectangle 29"/>
            <p:cNvSpPr/>
            <p:nvPr/>
          </p:nvSpPr>
          <p:spPr>
            <a:xfrm>
              <a:off x="533400" y="439769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4649153"/>
              <a:ext cx="200026" cy="200025"/>
              <a:chOff x="738188" y="4649153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46491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46936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48047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4542949"/>
              <a:ext cx="4312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步里若 j = i，说明 i 自己被选成了中心（exemplar）。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所有中心都是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真实存在的样本点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，不是新造出来的均值。</a:t>
              </a:r>
            </a:p>
          </p:txBody>
        </p:sp>
      </p:grpSp>
      <p:grpSp>
        <p:nvGrpSpPr>
          <p:cNvPr id="42" name="c1-callout-3"/>
          <p:cNvGrpSpPr/>
          <p:nvPr/>
        </p:nvGrpSpPr>
        <p:grpSpPr>
          <a:xfrm>
            <a:off x="533400" y="5265420"/>
            <a:ext cx="5193982" cy="702945"/>
            <a:chOff x="533400" y="5265420"/>
            <a:chExt cx="5193982" cy="702945"/>
          </a:xfrm>
        </p:grpSpPr>
        <p:sp>
          <p:nvSpPr>
            <p:cNvPr id="36" name="Rectangle 36"/>
            <p:cNvSpPr/>
            <p:nvPr/>
          </p:nvSpPr>
          <p:spPr>
            <a:xfrm>
              <a:off x="533400" y="5265420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513188"/>
              <a:ext cx="224134" cy="192560"/>
              <a:chOff x="726129" y="551318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583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513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661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5409724"/>
              <a:ext cx="41826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样本量大时的常见做法是先用 k-means 粗分、或改用并行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实现（Parallel AP），把 N×N 的矩阵拆到多机上。</a:t>
              </a:r>
            </a:p>
          </p:txBody>
        </p:sp>
      </p:grpSp>
      <p:grpSp>
        <p:nvGrpSpPr>
          <p:cNvPr id="71" name="c2-compare-1"/>
          <p:cNvGrpSpPr/>
          <p:nvPr/>
        </p:nvGrpSpPr>
        <p:grpSpPr>
          <a:xfrm>
            <a:off x="6032182" y="1524000"/>
            <a:ext cx="5626418" cy="2793682"/>
            <a:chOff x="6032182" y="1524000"/>
            <a:chExt cx="5626418" cy="2793682"/>
          </a:xfrm>
        </p:grpSpPr>
        <p:sp>
          <p:nvSpPr>
            <p:cNvPr id="43" name="Rectangle 43"/>
            <p:cNvSpPr/>
            <p:nvPr/>
          </p:nvSpPr>
          <p:spPr>
            <a:xfrm>
              <a:off x="6032182" y="1524000"/>
              <a:ext cx="2585085" cy="2793682"/>
            </a:xfrm>
            <a:prstGeom prst="roundRect">
              <a:avLst>
                <a:gd name="adj" fmla="val 51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1708" y="1657350"/>
              <a:ext cx="47625" cy="25269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4780" y="17264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60782" y="207930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6230" y="202739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不需要事先指定簇数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60782" y="236505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16230" y="231219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中心是真实样本，可解释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60782" y="264985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16230" y="25969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对初始值不敏感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260782" y="293465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16230" y="28817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相似性矩阵不必对称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260782" y="321945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16230" y="316753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只用相似度，适合高维稀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疏数据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260782" y="374713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16230" y="3695224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平方误差通常小于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073515" y="1524000"/>
              <a:ext cx="2585085" cy="2793682"/>
            </a:xfrm>
            <a:prstGeom prst="roundRect">
              <a:avLst>
                <a:gd name="adj" fmla="val 51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083040" y="1657350"/>
              <a:ext cx="47625" cy="25269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286113" y="17264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302115" y="207930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57563" y="202739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偏好度仍需人工调节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9302115" y="236505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57563" y="2312194"/>
              <a:ext cx="1671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要存 S、R、A 三个 N×N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9302115" y="289274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57563" y="2839879"/>
              <a:ext cx="19402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 O(N²) 甚至 O(N³)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9302115" y="317754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57563" y="312467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样本上万就吃不消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663940" y="2740342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718994" y="28651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78" name="c2-card-2"/>
          <p:cNvGrpSpPr/>
          <p:nvPr/>
        </p:nvGrpSpPr>
        <p:grpSpPr>
          <a:xfrm>
            <a:off x="6032182" y="4482465"/>
            <a:ext cx="5626418" cy="1484948"/>
            <a:chOff x="6032182" y="4482465"/>
            <a:chExt cx="5626418" cy="1484948"/>
          </a:xfrm>
        </p:grpSpPr>
        <p:sp>
          <p:nvSpPr>
            <p:cNvPr id="72" name="Rectangle 72"/>
            <p:cNvSpPr/>
            <p:nvPr/>
          </p:nvSpPr>
          <p:spPr>
            <a:xfrm>
              <a:off x="6032182" y="4482465"/>
              <a:ext cx="5626418" cy="1484948"/>
            </a:xfrm>
            <a:prstGeom prst="roundRect">
              <a:avLst>
                <a:gd name="adj" fmla="val 89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41708" y="4615815"/>
              <a:ext cx="47625" cy="12182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51258" y="46634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2977" y="46963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17233" y="470392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它在哪些地方被用过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44780" y="502015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人脸识别中的样本挑选、基因表达数据的分组、航线网络的枢纽选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取、文本挖掘里的代表文档选择。共同点是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需要一个真实存在的代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，而不是一个虚拟的中心。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谱聚类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把样本看成图的结点，聚类就变成了切图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图的表示、图的划分与损失函数 cut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10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minCut 的毛病与 RatioCut、Ncut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8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拉普拉斯矩阵 L = D − W 及其性质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算法流程与一个六结点的手算例题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谱聚类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图、权重与切图：聚类变成一个图划分问题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59230"/>
            <a:chOff x="533400" y="1524000"/>
            <a:chExt cx="5410200" cy="1459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表示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无向带权图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G(V, E) 表示无向图，V = {v₁, …, vₙ} 是点集，E 是边集。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wᵢⱼ 表示结点 i 与 j 之间的关系强度，称为权重。无向图满足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wᵢⱼ = wⱼᵢ，并约定 wᵢᵢ = 0、wᵢⱼ ≥ 0。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153728"/>
            <a:ext cx="5410200" cy="1371600"/>
            <a:chOff x="533400" y="3153728"/>
            <a:chExt cx="5410200" cy="1371600"/>
          </a:xfrm>
        </p:grpSpPr>
        <p:sp>
          <p:nvSpPr>
            <p:cNvPr id="14" name="Rectangle 14"/>
            <p:cNvSpPr/>
            <p:nvPr/>
          </p:nvSpPr>
          <p:spPr>
            <a:xfrm>
              <a:off x="533400" y="3153728"/>
              <a:ext cx="5410200" cy="137160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87078"/>
              <a:ext cx="47625" cy="11049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3404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862" y="33732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3784" y="337566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把图完全切成若干个无交集的子图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69"/>
                <p:cNvSpPr txBox="1">
                  <a:spLocks noGrp="1"/>
                </p:cNvSpPr>
                <p:nvPr/>
              </p:nvSpPr>
              <p:spPr>
                <a:xfrm>
                  <a:off x="758190" y="3678555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∪⋯∪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∩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=∅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51332" y="412813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要求同一子图内的点相似度高，不同子图的点相似度低。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695825"/>
            <a:ext cx="5410200" cy="1594485"/>
            <a:chOff x="533400" y="4695825"/>
            <a:chExt cx="5410200" cy="1594485"/>
          </a:xfrm>
        </p:grpSpPr>
        <p:sp>
          <p:nvSpPr>
            <p:cNvPr id="22" name="Rectangle 22"/>
            <p:cNvSpPr/>
            <p:nvPr/>
          </p:nvSpPr>
          <p:spPr>
            <a:xfrm>
              <a:off x="533400" y="4695825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829175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8825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759" y="49153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损失函数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73340" y="4916805"/>
              <a:ext cx="2145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cut：被切断的边的权重和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270"/>
                <p:cNvSpPr txBox="1">
                  <a:spLocks noGrp="1"/>
                </p:cNvSpPr>
                <p:nvPr/>
              </p:nvSpPr>
              <p:spPr>
                <a:xfrm>
                  <a:off x="758190" y="5220652"/>
                  <a:ext cx="499872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cut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bar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ba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751332" y="58931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 ½ 是因为每条跨组边在求和里被数了两次。</a:t>
              </a:r>
            </a:p>
          </p:txBody>
        </p:sp>
      </p:grpSp>
      <p:grpSp>
        <p:nvGrpSpPr>
          <p:cNvPr id="69" name="c2-graph-1"/>
          <p:cNvGrpSpPr/>
          <p:nvPr/>
        </p:nvGrpSpPr>
        <p:grpSpPr>
          <a:xfrm>
            <a:off x="6430328" y="1991678"/>
            <a:ext cx="5046344" cy="4165948"/>
            <a:chOff x="6430328" y="1991678"/>
            <a:chExt cx="5046344" cy="4165948"/>
          </a:xfrm>
        </p:grpSpPr>
        <p:sp>
          <p:nvSpPr>
            <p:cNvPr id="30" name="Freeform 30"/>
            <p:cNvSpPr/>
            <p:nvPr/>
          </p:nvSpPr>
          <p:spPr>
            <a:xfrm>
              <a:off x="6691312" y="3070860"/>
              <a:ext cx="844868" cy="680085"/>
            </a:xfrm>
            <a:custGeom>
              <a:avLst/>
              <a:gdLst/>
              <a:ahLst/>
              <a:cxnLst/>
              <a:rect l="l" t="t" r="r" b="b"/>
              <a:pathLst>
                <a:path w="844868" h="680085">
                  <a:moveTo>
                    <a:pt x="844868" y="0"/>
                  </a:moveTo>
                  <a:lnTo>
                    <a:pt x="0" y="68008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663815" y="3128010"/>
              <a:ext cx="90488" cy="1630680"/>
            </a:xfrm>
            <a:custGeom>
              <a:avLst/>
              <a:gdLst/>
              <a:ahLst/>
              <a:cxnLst/>
              <a:rect l="l" t="t" r="r" b="b"/>
              <a:pathLst>
                <a:path w="90488" h="1630680">
                  <a:moveTo>
                    <a:pt x="0" y="0"/>
                  </a:moveTo>
                  <a:lnTo>
                    <a:pt x="90488" y="163068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686550" y="3948112"/>
              <a:ext cx="962978" cy="861060"/>
            </a:xfrm>
            <a:custGeom>
              <a:avLst/>
              <a:gdLst/>
              <a:ahLst/>
              <a:cxnLst/>
              <a:rect l="l" t="t" r="r" b="b"/>
              <a:pathLst>
                <a:path w="962978" h="861060">
                  <a:moveTo>
                    <a:pt x="0" y="0"/>
                  </a:moveTo>
                  <a:lnTo>
                    <a:pt x="962978" y="86106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043160" y="2934652"/>
              <a:ext cx="92392" cy="1824038"/>
            </a:xfrm>
            <a:custGeom>
              <a:avLst/>
              <a:gdLst/>
              <a:ahLst/>
              <a:cxnLst/>
              <a:rect l="l" t="t" r="r" b="b"/>
              <a:pathLst>
                <a:path w="92392" h="1824038">
                  <a:moveTo>
                    <a:pt x="0" y="1824038"/>
                  </a:moveTo>
                  <a:lnTo>
                    <a:pt x="92392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248900" y="2892742"/>
              <a:ext cx="980123" cy="1036320"/>
            </a:xfrm>
            <a:custGeom>
              <a:avLst/>
              <a:gdLst/>
              <a:ahLst/>
              <a:cxnLst/>
              <a:rect l="l" t="t" r="r" b="b"/>
              <a:pathLst>
                <a:path w="980123" h="1036320">
                  <a:moveTo>
                    <a:pt x="0" y="0"/>
                  </a:moveTo>
                  <a:lnTo>
                    <a:pt x="980123" y="103632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162222" y="4125278"/>
              <a:ext cx="1044892" cy="701040"/>
            </a:xfrm>
            <a:custGeom>
              <a:avLst/>
              <a:gdLst/>
              <a:ahLst/>
              <a:cxnLst/>
              <a:rect l="l" t="t" r="r" b="b"/>
              <a:pathLst>
                <a:path w="1044892" h="701040">
                  <a:moveTo>
                    <a:pt x="0" y="701040"/>
                  </a:moveTo>
                  <a:lnTo>
                    <a:pt x="1044892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806690" y="2793682"/>
              <a:ext cx="2185035" cy="170497"/>
            </a:xfrm>
            <a:custGeom>
              <a:avLst/>
              <a:gdLst/>
              <a:ahLst/>
              <a:cxnLst/>
              <a:rect l="l" t="t" r="r" b="b"/>
              <a:pathLst>
                <a:path w="2185035" h="170497">
                  <a:moveTo>
                    <a:pt x="0" y="170497"/>
                  </a:moveTo>
                  <a:lnTo>
                    <a:pt x="218503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7915275" y="4911090"/>
              <a:ext cx="1967865" cy="9525"/>
            </a:xfrm>
            <a:custGeom>
              <a:avLst/>
              <a:gdLst/>
              <a:ahLst/>
              <a:cxnLst/>
              <a:rect l="l" t="t" r="r" b="b"/>
              <a:pathLst>
                <a:path w="1967865" h="9525">
                  <a:moveTo>
                    <a:pt x="0" y="0"/>
                  </a:moveTo>
                  <a:lnTo>
                    <a:pt x="196786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8" name="Ellipse 38"/>
            <p:cNvSpPr/>
            <p:nvPr/>
          </p:nvSpPr>
          <p:spPr>
            <a:xfrm>
              <a:off x="7512368" y="2832735"/>
              <a:ext cx="285750" cy="2857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30328" y="3703320"/>
              <a:ext cx="285750" cy="2857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620000" y="4768215"/>
              <a:ext cx="285750" cy="285750"/>
            </a:xfrm>
            <a:prstGeom prst="ellipse">
              <a:avLst/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001250" y="263937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892665" y="476821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1190922" y="3897630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09093" y="290988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27053" y="37814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16726" y="48453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97976" y="27165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89391" y="48453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87648" y="39747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973252" y="331851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00429" y="335327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68565" y="3850005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95742" y="388477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027545" y="428625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54722" y="432101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948862" y="3753802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76039" y="37885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598468" y="331851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624692" y="335327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544175" y="4382452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571352" y="44172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758238" y="2786062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785414" y="282082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58238" y="4818698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85414" y="48525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62991" y="1991678"/>
              <a:ext cx="502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子图 G₁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50131" y="1991678"/>
              <a:ext cx="502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子图 G₂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2599" y="5966936"/>
              <a:ext cx="20218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被切断的两条边：0.1 + 0.2 = 0.3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谱聚类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只最小化 cut 会切下孤立点，要除以子图的大小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72166" cy="512636"/>
            <a:chOff x="526542" y="1545907"/>
            <a:chExt cx="10472166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72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换一个七结点的图（A 版第 107 页）：1-2、1-7、2-7 权重 0.6、0.6、0.7，4-5、5-6、4-6 权重 0.8、0.8、0.7，跨接边 2-5、1-4 各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0.2，结点 3 只连着 1，权重 0.3。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28447" y="2177415"/>
            <a:ext cx="5415153" cy="2170461"/>
            <a:chOff x="528447" y="2177415"/>
            <a:chExt cx="5415153" cy="2170461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06830" y="229457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40211" y="229457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40954" y="2294572"/>
              <a:ext cx="635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RatioCut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77383" y="2294572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Ncut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675573"/>
              <a:ext cx="954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{3} | 其余六点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82202" y="2567940"/>
              <a:ext cx="117157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7356" y="267557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57981" y="267557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7654" y="267557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1.032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56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94036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057525"/>
              <a:ext cx="1450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{1,2,3,7} | {4,5,6}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67356" y="305752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572828" y="2949892"/>
              <a:ext cx="117157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57981" y="305752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62500" y="2949892"/>
              <a:ext cx="117157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47654" y="305752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66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438525"/>
              <a:ext cx="671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{7} | 其余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67356" y="343852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57981" y="343852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1.517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47654" y="343852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1.153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6976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70236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820478"/>
              <a:ext cx="671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{6} | 其余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7356" y="382047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57981" y="382047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1.750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47654" y="382047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1.181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2177415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67915" y="21774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558540" y="21774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48212" y="21774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415718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同一个图上三种目标函数的取值</a:t>
              </a:r>
            </a:p>
          </p:txBody>
        </p:sp>
      </p:grpSp>
      <p:grpSp>
        <p:nvGrpSpPr>
          <p:cNvPr id="50" name="c1-callout-2"/>
          <p:cNvGrpSpPr/>
          <p:nvPr/>
        </p:nvGrpSpPr>
        <p:grpSpPr>
          <a:xfrm>
            <a:off x="533400" y="4474845"/>
            <a:ext cx="5410200" cy="937260"/>
            <a:chOff x="533400" y="4474845"/>
            <a:chExt cx="5410200" cy="937260"/>
          </a:xfrm>
        </p:grpSpPr>
        <p:sp>
          <p:nvSpPr>
            <p:cNvPr id="44" name="Rectangle 44"/>
            <p:cNvSpPr/>
            <p:nvPr/>
          </p:nvSpPr>
          <p:spPr>
            <a:xfrm>
              <a:off x="533400" y="4474845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4839771"/>
              <a:ext cx="224134" cy="192560"/>
              <a:chOff x="726129" y="4839771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49101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48397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49879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4619149"/>
              <a:ext cx="450773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只看 cut，最优解是把结点 3 单独切出来（0.30 &lt; 0.40），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得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到只有一个点的“簇”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。RatioCut 和 Ncut 都把四三分划评为最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优（63 种二分已穷举）。</a:t>
              </a:r>
            </a:p>
          </p:txBody>
        </p:sp>
      </p:grpSp>
      <p:grpSp>
        <p:nvGrpSpPr>
          <p:cNvPr id="57" name="c1-callout-3"/>
          <p:cNvGrpSpPr/>
          <p:nvPr/>
        </p:nvGrpSpPr>
        <p:grpSpPr>
          <a:xfrm>
            <a:off x="533400" y="5576888"/>
            <a:ext cx="5410200" cy="702945"/>
            <a:chOff x="533400" y="5576888"/>
            <a:chExt cx="5410200" cy="702945"/>
          </a:xfrm>
        </p:grpSpPr>
        <p:sp>
          <p:nvSpPr>
            <p:cNvPr id="51" name="Rectangle 51"/>
            <p:cNvSpPr/>
            <p:nvPr/>
          </p:nvSpPr>
          <p:spPr>
            <a:xfrm>
              <a:off x="533400" y="557688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28348"/>
              <a:ext cx="200026" cy="200026"/>
              <a:chOff x="738188" y="582834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8283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895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59283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5721191"/>
              <a:ext cx="4263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更正：A 版第 93 页 RatioCut 的两个等号两边差一个 ½。第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 页的推导用不带 ½ 的右式，本讲义按右式计算。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formula283"/>
              <p:cNvSpPr txBox="1">
                <a:spLocks noGrp="1"/>
              </p:cNvSpPr>
              <p:nvPr/>
            </p:nvSpPr>
            <p:spPr>
              <a:xfrm>
                <a:off x="6248400" y="2177415"/>
                <a:ext cx="5410200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RatioCut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cut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sSub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ba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284"/>
              <p:cNvSpPr txBox="1">
                <a:spLocks noGrp="1"/>
              </p:cNvSpPr>
              <p:nvPr/>
            </p:nvSpPr>
            <p:spPr>
              <a:xfrm>
                <a:off x="6248400" y="2876550"/>
                <a:ext cx="5410200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Ncut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cut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barPr>
                                    <m:e>
                                      <m:sSub>
                                        <m:e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2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bar>
                                </m:e>
                              </m:d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vol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vol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68" name="c2-kv-3"/>
          <p:cNvGrpSpPr/>
          <p:nvPr/>
        </p:nvGrpSpPr>
        <p:grpSpPr>
          <a:xfrm>
            <a:off x="6241923" y="3596164"/>
            <a:ext cx="5416677" cy="998029"/>
            <a:chOff x="6241923" y="3596164"/>
            <a:chExt cx="5416677" cy="998029"/>
          </a:xfrm>
        </p:grpSpPr>
        <p:sp>
          <p:nvSpPr>
            <p:cNvPr id="60" name="TextBox 60"/>
            <p:cNvSpPr txBox="1"/>
            <p:nvPr/>
          </p:nvSpPr>
          <p:spPr>
            <a:xfrm>
              <a:off x="6241923" y="3596164"/>
              <a:ext cx="232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|A|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31546" y="3596164"/>
              <a:ext cx="3202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子图里的结点个数，RatioCut 用它做分母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8681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41923" y="3970496"/>
              <a:ext cx="572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vol(A)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31546" y="3970496"/>
              <a:ext cx="3379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子图里所有结点的度之和，Ncut 用它做分母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42424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41923" y="43448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31546" y="43448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分母惩罚了过小的子图，逼着划分变均衡</a:t>
              </a:r>
            </a:p>
          </p:txBody>
        </p:sp>
      </p:grpSp>
      <p:grpSp>
        <p:nvGrpSpPr>
          <p:cNvPr id="74" name="c2-callout-4"/>
          <p:cNvGrpSpPr/>
          <p:nvPr/>
        </p:nvGrpSpPr>
        <p:grpSpPr>
          <a:xfrm>
            <a:off x="6248400" y="4708208"/>
            <a:ext cx="5410200" cy="1570672"/>
            <a:chOff x="6248400" y="4708208"/>
            <a:chExt cx="5410200" cy="1570672"/>
          </a:xfrm>
        </p:grpSpPr>
        <p:sp>
          <p:nvSpPr>
            <p:cNvPr id="69" name="Rectangle 69"/>
            <p:cNvSpPr/>
            <p:nvPr/>
          </p:nvSpPr>
          <p:spPr>
            <a:xfrm>
              <a:off x="6248400" y="4708208"/>
              <a:ext cx="5410200" cy="1570672"/>
            </a:xfrm>
            <a:prstGeom prst="roundRect">
              <a:avLst>
                <a:gd name="adj" fmla="val 727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53188" y="5394010"/>
              <a:ext cx="200023" cy="200023"/>
              <a:chOff x="6453188" y="539401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53188" y="53940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86538" y="5460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56273" y="5169694"/>
              <a:ext cx="44020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只含一个结点的子图分母很小，比值立刻变大，所以这两个目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自动排除了孤立点式的划分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。代价是问题从多项式可解变成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NP 难，必须放松成特征值问题。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6457" cy="909257"/>
            <a:chOff x="520446" y="342900"/>
            <a:chExt cx="75564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谱聚类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64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拉普拉斯矩阵 L = D − W：把切图代价写成二次型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160145"/>
            <a:chOff x="533400" y="1524000"/>
            <a:chExt cx="5626418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度矩阵与拉普拉斯矩阵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7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度矩阵 D = diag(d₁, …, dₙ)，其中 dᵢ = Σⱼ wᵢⱼ 是结点 i 所有边的权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重和。拉普拉斯矩阵定义为 L = D − W。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2848928"/>
            <a:ext cx="5626418" cy="1806892"/>
            <a:chOff x="533400" y="2848928"/>
            <a:chExt cx="5626418" cy="1806892"/>
          </a:xfrm>
        </p:grpSpPr>
        <p:sp>
          <p:nvSpPr>
            <p:cNvPr id="14" name="Rectangle 14"/>
            <p:cNvSpPr/>
            <p:nvPr/>
          </p:nvSpPr>
          <p:spPr>
            <a:xfrm>
              <a:off x="533400" y="2848928"/>
              <a:ext cx="5626418" cy="1806892"/>
            </a:xfrm>
            <a:prstGeom prst="roundRect">
              <a:avLst>
                <a:gd name="adj" fmla="val 7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982278"/>
              <a:ext cx="47625" cy="15401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0299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946" y="30627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核心恒等式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91830" y="3069431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任意向量 f 都满足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97"/>
                <p:cNvSpPr txBox="1">
                  <a:spLocks noGrp="1"/>
                </p:cNvSpPr>
                <p:nvPr/>
              </p:nvSpPr>
              <p:spPr>
                <a:xfrm>
                  <a:off x="752475" y="3365182"/>
                  <a:ext cx="522636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bi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45998" y="4033361"/>
              <a:ext cx="45077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推导：fᵀDf − fᵀWf = Σ dᵢfᵢ² − Σ fᵢfⱼwᵢⱼ = ½(Σ dᵢfᵢ² − 2Σ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fᵢfⱼwᵢⱼ + Σ dⱼfⱼ²)，正好配成平方。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4820602"/>
            <a:ext cx="5626418" cy="1296352"/>
            <a:chOff x="533400" y="4820602"/>
            <a:chExt cx="5626418" cy="1296352"/>
          </a:xfrm>
        </p:grpSpPr>
        <p:sp>
          <p:nvSpPr>
            <p:cNvPr id="22" name="Rectangle 22"/>
            <p:cNvSpPr/>
            <p:nvPr/>
          </p:nvSpPr>
          <p:spPr>
            <a:xfrm>
              <a:off x="533400" y="4820602"/>
              <a:ext cx="5626418" cy="1296352"/>
            </a:xfrm>
            <a:prstGeom prst="roundRect">
              <a:avLst>
                <a:gd name="adj" fmla="val 8817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369245"/>
              <a:ext cx="200023" cy="200023"/>
              <a:chOff x="738188" y="5369245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3692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435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5145881"/>
              <a:ext cx="464591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这个恒等式是谱聚类的全部秘密：给结点各赋一个数 fᵢ，则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fᵀLf 就是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所有边上两端数值差的加权平方和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。让它小，就是让相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连的点取相近的值。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464618" y="1524000"/>
            <a:ext cx="5193982" cy="2015490"/>
            <a:chOff x="6464618" y="1524000"/>
            <a:chExt cx="5193982" cy="2015490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1657350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50620" y="1744504"/>
              <a:ext cx="1037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的四条性质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83692" y="204978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35599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54393" y="2061686"/>
              <a:ext cx="3317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对称且半正定（由恒等式可见 fᵀLf ≥ 0）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83692" y="233553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35599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54393" y="234648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最小特征值是 0，对应特征向量是全 1 向量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3692" y="262032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35599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54393" y="2631281"/>
              <a:ext cx="3433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个特征值都非负实数，0 = λ₁ ≤ λ₂ ≤ … ≤ λₙ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3692" y="29051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5599" y="29407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54393" y="2916079"/>
              <a:ext cx="427324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特征值 0 的重数等于图中连通分量的个数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，其特征空间由各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连通分量的指示向量张成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464618" y="3704272"/>
            <a:ext cx="5193982" cy="1545908"/>
            <a:chOff x="6464618" y="3704272"/>
            <a:chExt cx="5193982" cy="1545908"/>
          </a:xfrm>
        </p:grpSpPr>
        <p:sp>
          <p:nvSpPr>
            <p:cNvPr id="46" name="Rectangle 46"/>
            <p:cNvSpPr/>
            <p:nvPr/>
          </p:nvSpPr>
          <p:spPr>
            <a:xfrm>
              <a:off x="6464618" y="3704272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4142" y="383762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3692" y="388524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2313" y="39181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74446" y="392477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两种归一化拉普拉斯矩阵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298"/>
                <p:cNvSpPr txBox="1">
                  <a:spLocks noGrp="1"/>
                </p:cNvSpPr>
                <p:nvPr/>
              </p:nvSpPr>
              <p:spPr>
                <a:xfrm>
                  <a:off x="6683692" y="4220528"/>
                  <a:ext cx="479393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sym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rw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2" name="TextBox 52"/>
            <p:cNvSpPr txBox="1"/>
            <p:nvPr/>
          </p:nvSpPr>
          <p:spPr>
            <a:xfrm>
              <a:off x="6677216" y="4626769"/>
              <a:ext cx="4532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两者都来自 Ncut 的松弛：前者是对称阵，后者与图上的随机游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走有关。它们特征值相同，特征向量相差一个 D^(1/2) 因子。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464618" y="5414962"/>
            <a:ext cx="5193982" cy="702945"/>
            <a:chOff x="6464618" y="5414962"/>
            <a:chExt cx="5193982" cy="702945"/>
          </a:xfrm>
        </p:grpSpPr>
        <p:sp>
          <p:nvSpPr>
            <p:cNvPr id="54" name="Rectangle 54"/>
            <p:cNvSpPr/>
            <p:nvPr/>
          </p:nvSpPr>
          <p:spPr>
            <a:xfrm>
              <a:off x="6464618" y="541496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69405" y="5666423"/>
              <a:ext cx="200026" cy="200025"/>
              <a:chOff x="6669405" y="5666423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69405" y="56664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09144" y="57108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43859" y="58219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2491" y="5560219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 条解释了谱聚类为什么有效：图若恰好由 k 个互不相连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的块组成，前 k 个特征向量直接把块标了出来。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4038" cy="909257"/>
            <a:chOff x="520446" y="342900"/>
            <a:chExt cx="71440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谱聚类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4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 的 RatioCut 怎样变成一个特征向量问题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3423342" cy="2702814"/>
            <a:chOff x="533400" y="1533525"/>
            <a:chExt cx="3423342" cy="27028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452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5644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构造指示向量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1818322"/>
              <a:ext cx="2290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按结点属于 A 还是 Ā 给 fᵢ 赋两个值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代入恒等式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371725"/>
              <a:ext cx="2147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 fᵀLf 恰好等于 |V|·RatioCut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核对约束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925128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这样构造的 f 满足两条约束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放松取值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477578"/>
              <a:ext cx="30095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 f 取任意实数，用 Rayleigh-Ritz 定理求解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761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还原离散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03098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f 的分量符号把结点分成两组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311"/>
              <p:cNvSpPr txBox="1">
                <a:spLocks noGrp="1"/>
              </p:cNvSpPr>
              <p:nvPr/>
            </p:nvSpPr>
            <p:spPr>
              <a:xfrm>
                <a:off x="533400" y="4397692"/>
                <a:ext cx="5626418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</m:d>
                                </m:e>
                              </m:rad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rad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acc>
                                <m:accPr>
                                  <m:chr m:val="̅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6" name="c1-callout-3"/>
          <p:cNvGrpSpPr/>
          <p:nvPr/>
        </p:nvGrpSpPr>
        <p:grpSpPr>
          <a:xfrm>
            <a:off x="533400" y="5400675"/>
            <a:ext cx="5626418" cy="895350"/>
            <a:chOff x="533400" y="5400675"/>
            <a:chExt cx="5626418" cy="895350"/>
          </a:xfrm>
        </p:grpSpPr>
        <p:sp>
          <p:nvSpPr>
            <p:cNvPr id="30" name="Rectangle 30"/>
            <p:cNvSpPr/>
            <p:nvPr/>
          </p:nvSpPr>
          <p:spPr>
            <a:xfrm>
              <a:off x="533400" y="5400675"/>
              <a:ext cx="5626418" cy="895350"/>
            </a:xfrm>
            <a:prstGeom prst="roundRect">
              <a:avLst>
                <a:gd name="adj" fmla="val 127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748338"/>
              <a:ext cx="200026" cy="200026"/>
              <a:chOff x="738188" y="5748338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7483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8150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8483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5642134"/>
              <a:ext cx="4393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这样取 f 之后可以验证 Σᵢ fᵢ = 0（即 f 与全 1 向量正交）且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||f||² = n。两条约束恰好把全 1 这个平凡解排除掉。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524000"/>
            <a:ext cx="5193982" cy="1662112"/>
            <a:chOff x="6464618" y="1524000"/>
            <a:chExt cx="5193982" cy="1662112"/>
          </a:xfrm>
        </p:grpSpPr>
        <p:sp>
          <p:nvSpPr>
            <p:cNvPr id="37" name="Rectangle 37"/>
            <p:cNvSpPr/>
            <p:nvPr/>
          </p:nvSpPr>
          <p:spPr>
            <a:xfrm>
              <a:off x="6464618" y="1524000"/>
              <a:ext cx="5193982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3692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1112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松弛后的问题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7826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求解第二小特征值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312"/>
                <p:cNvSpPr txBox="1">
                  <a:spLocks noGrp="1"/>
                </p:cNvSpPr>
                <p:nvPr/>
              </p:nvSpPr>
              <p:spPr>
                <a:xfrm>
                  <a:off x="6683692" y="2040255"/>
                  <a:ext cx="4793932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sSup>
                                  <m:e>
                                    <m:r>
                                      <m:rPr>
                                        <m:scr m:val="double-struck"/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e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</m:e>
                        </m:func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bi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s.t.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bi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⊥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d>
                          <m:dPr>
                            <m:begChr m:val="‖"/>
                            <m:sepChr m:val=""/>
                            <m:endChr m:val="‖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677216" y="2563654"/>
              <a:ext cx="45890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Rayleigh-Ritz 定理，解就是 L 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第二小特征值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对应的特征向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量，称为 Fiedler 向量。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3350895"/>
            <a:ext cx="5193982" cy="1843088"/>
            <a:chOff x="6464618" y="3350895"/>
            <a:chExt cx="5193982" cy="1843088"/>
          </a:xfrm>
        </p:grpSpPr>
        <p:sp>
          <p:nvSpPr>
            <p:cNvPr id="45" name="Rectangle 45"/>
            <p:cNvSpPr/>
            <p:nvPr/>
          </p:nvSpPr>
          <p:spPr>
            <a:xfrm>
              <a:off x="6464618" y="3350895"/>
              <a:ext cx="5193982" cy="1843088"/>
            </a:xfrm>
            <a:prstGeom prst="roundRect">
              <a:avLst>
                <a:gd name="adj" fmla="val 723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5592" y="3531870"/>
              <a:ext cx="69437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1538" y="3564731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一般的 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47788" y="3571399"/>
              <a:ext cx="2558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取前 k 个特征向量再做 k-means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39116" y="3888581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个子集时定义 k 个指示向量拼成矩阵 H，可以证明 H 的列两两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正交且 RatioCut(A₁,…,Aₖ) = Tr(HᵀLH)。放松 H 为任意满足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HᵀH = I 的实矩阵后，最优解就是前 k 个特征向量。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40259" y="4655820"/>
              <a:ext cx="453790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这时 H 的每一行是一个 k 维的新样本，再用 k-means 把这 n 个新样本聚成 k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类，就得到最终划分。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464618" y="5358765"/>
            <a:ext cx="5193982" cy="937260"/>
            <a:chOff x="6464618" y="5358765"/>
            <a:chExt cx="5193982" cy="937260"/>
          </a:xfrm>
        </p:grpSpPr>
        <p:sp>
          <p:nvSpPr>
            <p:cNvPr id="52" name="Rectangle 52"/>
            <p:cNvSpPr/>
            <p:nvPr/>
          </p:nvSpPr>
          <p:spPr>
            <a:xfrm>
              <a:off x="6464618" y="5358765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57347" y="5723691"/>
              <a:ext cx="224134" cy="192560"/>
              <a:chOff x="6657347" y="5723691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769418" y="57940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57347" y="57236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69418" y="58718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2491" y="5503069"/>
              <a:ext cx="42191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Ncut 的推导完全平行，只是把 |A| 换成 vol(A)、把 L 换成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归一化的那一个，约束变成 HᵀDH = I。实践中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Ncut 用得比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RatioCut 多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53675" cy="909257"/>
            <a:chOff x="520446" y="342900"/>
            <a:chExt cx="69536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谱聚类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536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手算例题：六个结点的图，算出 Fiedler 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table-1"/>
          <p:cNvGrpSpPr/>
          <p:nvPr/>
        </p:nvGrpSpPr>
        <p:grpSpPr>
          <a:xfrm>
            <a:off x="528447" y="1524000"/>
            <a:ext cx="5631371" cy="2933414"/>
            <a:chOff x="528447" y="1524000"/>
            <a:chExt cx="5631371" cy="29334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7213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1605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5996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0388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779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9171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1006" y="2023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34921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78836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22751" y="2023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6666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10581" y="2023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1006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4921" y="2404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78836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22751" y="2404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6666" y="2404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10581" y="2404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1006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34921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78836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22751" y="2785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6666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10581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045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049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91006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34921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78836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22751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66666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10581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426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807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91006" y="3548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34921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78836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22751" y="3548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66666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10581" y="3548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807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38119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807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91006" y="3930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34921" y="3930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878836" y="3930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22751" y="393001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66666" y="393001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-0.8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10581" y="3930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1524000"/>
              <a:ext cx="5626418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9156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93548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277939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362331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46722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1114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8447" y="4266724"/>
              <a:ext cx="4152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仍用第 52 页那个六结点的图，拉普拉斯矩阵 L = D − W（对角线是度）</a:t>
              </a:r>
            </a:p>
          </p:txBody>
        </p:sp>
      </p:grpSp>
      <p:grpSp>
        <p:nvGrpSpPr>
          <p:cNvPr id="79" name="c1-callout-2"/>
          <p:cNvGrpSpPr/>
          <p:nvPr/>
        </p:nvGrpSpPr>
        <p:grpSpPr>
          <a:xfrm>
            <a:off x="533400" y="4584382"/>
            <a:ext cx="5626418" cy="702945"/>
            <a:chOff x="533400" y="4584382"/>
            <a:chExt cx="5626418" cy="702945"/>
          </a:xfrm>
        </p:grpSpPr>
        <p:sp>
          <p:nvSpPr>
            <p:cNvPr id="73" name="Rectangle 73"/>
            <p:cNvSpPr/>
            <p:nvPr/>
          </p:nvSpPr>
          <p:spPr>
            <a:xfrm>
              <a:off x="533400" y="4584382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4835843"/>
              <a:ext cx="200026" cy="200026"/>
              <a:chOff x="738188" y="4835843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48358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4902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7088" y="49358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1273" y="4728686"/>
              <a:ext cx="45971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 = 0.8+0.6+0.1 = 1.5，d₄ = 0.2+0.8+0.7 = 1.7。每行元素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之和都是 0，对应“全 1 向量是特征值 0 的特征向量”。</a:t>
              </a:r>
            </a:p>
          </p:txBody>
        </p:sp>
      </p:grpSp>
      <p:grpSp>
        <p:nvGrpSpPr>
          <p:cNvPr id="88" name="c2-card-1"/>
          <p:cNvGrpSpPr/>
          <p:nvPr/>
        </p:nvGrpSpPr>
        <p:grpSpPr>
          <a:xfrm>
            <a:off x="6464618" y="1524000"/>
            <a:ext cx="5193982" cy="1691640"/>
            <a:chOff x="6464618" y="1524000"/>
            <a:chExt cx="5193982" cy="1691640"/>
          </a:xfrm>
        </p:grpSpPr>
        <p:sp>
          <p:nvSpPr>
            <p:cNvPr id="80" name="Rectangle 80"/>
            <p:cNvSpPr/>
            <p:nvPr/>
          </p:nvSpPr>
          <p:spPr>
            <a:xfrm>
              <a:off x="6464618" y="1524000"/>
              <a:ext cx="5193982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474142" y="1657350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250620" y="1744504"/>
              <a:ext cx="1767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特征值与 Fiedler 向量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77216" y="2061686"/>
              <a:ext cx="409564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的六个特征值：0、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0.1882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、2.084、2.285、2.469、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2.574。第二小特征值对应的特征向量是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677216" y="2589371"/>
              <a:ext cx="4639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(−0.408, −0.442, −0.371, +0.371, +0.405, +0.445)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678359" y="2870835"/>
              <a:ext cx="3770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前三个为负、后三个为正，正好切出 {1,2,3} 与 {4,5,6}。</a:t>
              </a:r>
            </a:p>
          </p:txBody>
        </p:sp>
      </p:grpSp>
      <p:grpSp>
        <p:nvGrpSpPr>
          <p:cNvPr id="113" name="c2-table-2"/>
          <p:cNvGrpSpPr/>
          <p:nvPr/>
        </p:nvGrpSpPr>
        <p:grpSpPr>
          <a:xfrm>
            <a:off x="6464618" y="3380422"/>
            <a:ext cx="5193982" cy="1906905"/>
            <a:chOff x="6464618" y="3380422"/>
            <a:chExt cx="5193982" cy="1906905"/>
          </a:xfrm>
        </p:grpSpPr>
        <p:sp>
          <p:nvSpPr>
            <p:cNvPr id="89" name="Rectangle 89"/>
            <p:cNvSpPr/>
            <p:nvPr/>
          </p:nvSpPr>
          <p:spPr>
            <a:xfrm>
              <a:off x="6464618" y="3380422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167753" y="34975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569833" y="34975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317480" y="34975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559296" y="38785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λ₂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117586" y="387858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0.1882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364409" y="3878580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越接近 0 越容易切开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464618" y="41386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464618" y="414337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559296" y="426053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cut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117586" y="426053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364409" y="426053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切断 0.1 与 0.2 两条边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464618" y="45196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59296" y="4641532"/>
              <a:ext cx="635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RatioCut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117586" y="464153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364409" y="464153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同时是全局最优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464618" y="49006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464618" y="490537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59296" y="5023485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Ncut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117586" y="502348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364409" y="502348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同时是全局最优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464618" y="338042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018145" y="338042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9264968" y="338042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9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14" name="Rectangle 114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8" name="TextBox 118"/>
            <p:cNvSpPr txBox="1"/>
            <p:nvPr/>
          </p:nvSpPr>
          <p:spPr>
            <a:xfrm>
              <a:off x="1041273" y="5805011"/>
              <a:ext cx="99778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Fiedler 向量的符号只能给出二分。要分 k 类时取前 k 个特征向量，把每个结点对应的那一行当作新样本做 k-means，下一页把整个流程串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起来。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73328" cy="909257"/>
            <a:chOff x="520446" y="342900"/>
            <a:chExt cx="93733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 · 谱聚类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733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谱聚类的完整流程：高斯核建图，Ncut 切图，k-means 收尾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895769" cy="264033"/>
            <a:chOff x="526542" y="1545907"/>
            <a:chExt cx="889576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895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版第 105 页以 Ncut 总结了最常用的组合：相似矩阵用高斯核全连接，切图用 Ncut，最后一步用 k-means。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38338"/>
            <a:ext cx="5286642" cy="2702813"/>
            <a:chOff x="533400" y="1938338"/>
            <a:chExt cx="5286642" cy="2702813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15004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2238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19683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相似矩阵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223135"/>
              <a:ext cx="3275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按高斯核 exp(−‖xᵢ − xⱼ‖²/(2σ²)) 算出全连接的 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5217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拉普拉斯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776538"/>
              <a:ext cx="39338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 得 W 与 D，L = D − W，归一化成 D^(−1/2) L D^(−1/2)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075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328988"/>
              <a:ext cx="4872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取最小的 k₁ 个特征值对应的特征向量，按列排成 n×k₁ 矩阵，逐行标准化得 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6275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3882390"/>
              <a:ext cx="353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的每一行当作一个 k₁ 维样本，用 k-means 聚成 k₂ 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1809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4435792"/>
              <a:ext cx="3617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i 的类别就是 F 第 i 行的类别；k₁、k₂ 常取相同的值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802505"/>
            <a:ext cx="5410200" cy="1350645"/>
            <a:chOff x="533400" y="4802505"/>
            <a:chExt cx="5410200" cy="1350645"/>
          </a:xfrm>
        </p:grpSpPr>
        <p:sp>
          <p:nvSpPr>
            <p:cNvPr id="31" name="Rectangle 31"/>
            <p:cNvSpPr/>
            <p:nvPr/>
          </p:nvSpPr>
          <p:spPr>
            <a:xfrm>
              <a:off x="533400" y="4802505"/>
              <a:ext cx="5410200" cy="1350645"/>
            </a:xfrm>
            <a:prstGeom prst="roundRect">
              <a:avLst>
                <a:gd name="adj" fmla="val 98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935855"/>
              <a:ext cx="47625" cy="10839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98348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3946" y="501634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课件的做法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91830" y="50230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真实图像先做超像素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339239"/>
              <a:ext cx="4629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像素太多时 W 放不下。先把图像切成超像素，按区域平均灰度算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与 L，再取第二小特征值的特征向量做 k-means，得到 2 类。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928812"/>
            <a:ext cx="5410200" cy="1160145"/>
            <a:chOff x="6248400" y="1928812"/>
            <a:chExt cx="5410200" cy="1160145"/>
          </a:xfrm>
        </p:grpSpPr>
        <p:sp>
          <p:nvSpPr>
            <p:cNvPr id="38" name="Rectangle 38"/>
            <p:cNvSpPr/>
            <p:nvPr/>
          </p:nvSpPr>
          <p:spPr>
            <a:xfrm>
              <a:off x="6248400" y="1928812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7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0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33451" y="214931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图像分割：每个像素是图的一个结点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0998" y="2465546"/>
              <a:ext cx="4710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5×5 的二值图像画着一个 T，25 个像素就是 25 个结点。边权只看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灰度：wᵢⱼ = exp(−(xᵢ − xⱼ)²/(2σ²))。</a:t>
              </a:r>
            </a:p>
          </p:txBody>
        </p:sp>
      </p:grpSp>
      <p:grpSp>
        <p:nvGrpSpPr>
          <p:cNvPr id="100" name="c2-cells-2"/>
          <p:cNvGrpSpPr/>
          <p:nvPr/>
        </p:nvGrpSpPr>
        <p:grpSpPr>
          <a:xfrm>
            <a:off x="6243638" y="3253740"/>
            <a:ext cx="3268980" cy="1797368"/>
            <a:chOff x="6243638" y="3253740"/>
            <a:chExt cx="3268980" cy="1797368"/>
          </a:xfrm>
        </p:grpSpPr>
        <p:sp>
          <p:nvSpPr>
            <p:cNvPr id="45" name="TextBox 45"/>
            <p:cNvSpPr txBox="1"/>
            <p:nvPr/>
          </p:nvSpPr>
          <p:spPr>
            <a:xfrm>
              <a:off x="6243638" y="3319462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 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97968" y="325374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49686" y="33194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80898" y="3253740"/>
              <a:ext cx="582930" cy="24288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32616" y="33194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63828" y="3253740"/>
              <a:ext cx="582930" cy="24288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15546" y="33194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346758" y="3253740"/>
              <a:ext cx="582930" cy="24288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98476" y="33194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929688" y="325374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81406" y="33194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3638" y="3708082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 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597968" y="364236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49686" y="37080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80898" y="364236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2616" y="37080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763828" y="3642360"/>
              <a:ext cx="582930" cy="24288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15546" y="37080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346758" y="364236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98476" y="37080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29688" y="364236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81406" y="37080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43638" y="4096702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 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97968" y="403098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49686" y="40967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180898" y="403098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32616" y="40967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763828" y="4030980"/>
              <a:ext cx="582930" cy="24288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015546" y="40967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346758" y="403098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98476" y="40967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929688" y="403098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81406" y="40967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43638" y="4485322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 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597968" y="441960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849686" y="44853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180898" y="441960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32616" y="44853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763828" y="4419600"/>
              <a:ext cx="582930" cy="24288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015546" y="44853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346758" y="441960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598476" y="44853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929688" y="441960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181406" y="44853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243638" y="4873942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行 5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597968" y="480822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849686" y="48739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180898" y="480822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432616" y="48739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763828" y="4808220"/>
              <a:ext cx="582930" cy="24288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015546" y="48739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8346758" y="480822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598476" y="48739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929688" y="4808220"/>
              <a:ext cx="582930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9181406" y="48739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06" name="c2-callout-3"/>
          <p:cNvGrpSpPr/>
          <p:nvPr/>
        </p:nvGrpSpPr>
        <p:grpSpPr>
          <a:xfrm>
            <a:off x="6248400" y="5215890"/>
            <a:ext cx="5410200" cy="937260"/>
            <a:chOff x="6248400" y="5215890"/>
            <a:chExt cx="5410200" cy="937260"/>
          </a:xfrm>
        </p:grpSpPr>
        <p:sp>
          <p:nvSpPr>
            <p:cNvPr id="101" name="Rectangle 101"/>
            <p:cNvSpPr/>
            <p:nvPr/>
          </p:nvSpPr>
          <p:spPr>
            <a:xfrm>
              <a:off x="6248400" y="5215890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6453188" y="5584508"/>
              <a:ext cx="200026" cy="200026"/>
              <a:chOff x="6453188" y="5584508"/>
              <a:chExt cx="200026" cy="200026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6453188" y="55845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6519863" y="56622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6756273" y="5361146"/>
              <a:ext cx="437769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 σ = 0.5 实算：归一化拉普拉斯矩阵的第二小特征值是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0.342，对应特征向量按符号正好把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 个 T 像素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和 18 个背景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像素分开。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自测题（一）概念与判断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20615" cy="264033"/>
            <a:chOff x="526542" y="1545907"/>
            <a:chExt cx="49206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先自己写出答案，再对照。带计算的题请把每一步都写出来。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2652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为什么比较两个聚类结果时不能直接比簇标记 λ 和 λ*？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7515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簇标记只是编号。把编号 1 和 2 对调，λ 完全不同但聚类结果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一样。样本对的关系（两个样本是否同簇）不随编号改变，所以外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部指标都建立在 a、b、c、d 四类样本对之上。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3881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 与 complete 对相异度的单调变换稳定吗？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571524"/>
              <a:ext cx="48409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都稳定。它们取的是两类间距离的最小值和最大值，只比较大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小，任何单调增函数都不改变顺序。average、centroid、ward 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做算术平均或求和，结果会变。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990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 的两步都不让 J 变大，为什么仍不能保证得到最优解？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单调不增只说明算法会停在一个谁也改不动的点上。分配步只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考虑把单个样本换簇，更新步只考虑移动中心，都是局部动作。第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 页的例子里两种初值分别停在 SSE = 26 和 1.5。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79384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“xⱼ 由 xᵢ 密度可达”是对称关系吗？边界点的归属为什么可能不唯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8409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不对称：链条上每一步的出发点都必须是核心对象，而 xⱼ 可以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不是核心点。边界点可能同时落在两个簇的核心点邻域里，被哪个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簇先扫描到就归给谁。密度相连才是对称的。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457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题要能举出具体反例，第 4 题要能说清“核心对象”这个条件加在链条的哪一端。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自测题（二）计算与易错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025968"/>
            <a:chOff x="533400" y="1524000"/>
            <a:chExt cx="5410200" cy="2025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71659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聚类结果 C = {x₁,x₂,x₃} 与 {x₄,x₅}，参考划分 C*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{x₁,x₂} 与 {x₃,x₄,x₅}。求 a、b、c、d 与 JC、FMI、RI。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 与 (4,5) 两边都同 → a = 2；(1,3)(2,3) 在 C 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簇、C* 不同类 → b = 2；(3,4)(3,5) 反之 → c = 2；其余四对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都不同 → d = 4。JC = 2/6 ≈ 0.333，FMI = 0.5，RI = 0.6。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725228"/>
            <a:ext cx="5410200" cy="2540318"/>
            <a:chOff x="533400" y="3725228"/>
            <a:chExt cx="5410200" cy="2540318"/>
          </a:xfrm>
        </p:grpSpPr>
        <p:sp>
          <p:nvSpPr>
            <p:cNvPr id="13" name="Rectangle 13"/>
            <p:cNvSpPr/>
            <p:nvPr/>
          </p:nvSpPr>
          <p:spPr>
            <a:xfrm>
              <a:off x="533400" y="3725228"/>
              <a:ext cx="5410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274820"/>
              <a:ext cx="446627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六个一维样本 0、1、2.2、3.6、5.2、7.0，用 single 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complete 联接做凝聚聚类，写出前三步。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833937"/>
              <a:ext cx="470287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single：A-B 1.0；{A,B} 与 C 取 B-C，1.2；{A,B,C}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取 C-D，1.4；k = 2 时是 {A,B,C,D,E}|{F}。complete：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A-B 1.0；C-D 1.4（{A,B} 到 C 的最远距离 2.2 更大）；E-F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1.8；k = 2 时是 {A,B,C,D}|{E,F}。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83142"/>
            <a:chOff x="6248400" y="1524000"/>
            <a:chExt cx="5410200" cy="2283142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3947" y="2072640"/>
              <a:ext cx="479845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(0,0)、(2,0)、(0,2)、(10,0)、(10,2)，初始中心取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 与 (2,0)，k = 2。手算到收敛并给出 SSE。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3947" y="2632710"/>
              <a:ext cx="480574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轮得 {x₁,x₃} 与 {x₂,x₄,x₅}（x₃ 到 c₁ 是 2、到 c₂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2.83），新中心 (0,1) 与 (22/3, 2/3)。第 2 轮 x₂ 到 c₁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2.24、到 c₂ 是 5.37 而改判，新中心 (⅔,⅔) 与 (10,1)，收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敛。SSE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22/3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82402"/>
            <a:ext cx="5410200" cy="2283142"/>
            <a:chOff x="6248400" y="3982402"/>
            <a:chExt cx="5410200" cy="2283142"/>
          </a:xfrm>
        </p:grpSpPr>
        <p:sp>
          <p:nvSpPr>
            <p:cNvPr id="25" name="Rectangle 25"/>
            <p:cNvSpPr/>
            <p:nvPr/>
          </p:nvSpPr>
          <p:spPr>
            <a:xfrm>
              <a:off x="6248400" y="3982402"/>
              <a:ext cx="5410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4531995"/>
              <a:ext cx="4687872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六结点图，边权 w₁₂=0.8、w₁₃=0.6、w₁₅=0.1、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w₂₃=0.8、w₃₄=0.2、w₄₅=0.8、w₄₆=0.7、w₅₆=0.8。求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{1,2,3} | {4,5,6} 的 cut、RatioCut 与 Ncut。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5348288"/>
              <a:ext cx="46857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度依次是 1.5、1.6、1.6、1.7、1.7、1.5。被切断的是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w₁₅ 与 w₃₄，cut = 0.3；两边各 3 点，RatioCut = 0.2；vol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4.7 与 4.9，故 Ncut ≈ 0.13。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对照原课件：本讲义改正了哪些地方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629349" cy="278702"/>
            <a:chOff x="526161" y="1547336"/>
            <a:chExt cx="662934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6293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版指机器学习 A 的新版课件，B 版指机器学习 B 的课件，页码按 PDF 页序。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1941195"/>
            <a:ext cx="5410200" cy="3446145"/>
            <a:chOff x="533400" y="1941195"/>
            <a:chExt cx="5410200" cy="344614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0618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讲义页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64055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原写法（出处）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6699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571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0650" y="2471261"/>
              <a:ext cx="22374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1 ≤ i ≤ j，dmin 写 (C)（B 58–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04335" y="2571274"/>
              <a:ext cx="1087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&lt; j；(Cᵢ, Cⱼ)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479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5275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307705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0650" y="3077051"/>
              <a:ext cx="2153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求和上限 n 与维数撞名（B 23）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04335" y="30770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对簇内样本求和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537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4828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90650" y="3482816"/>
              <a:ext cx="17200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准则函数叫 MSE（A 20）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04335" y="3482816"/>
              <a:ext cx="1075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误差平方和 SSE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95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428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8885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90650" y="3888581"/>
              <a:ext cx="2016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K-medoids 求中位数（B 27）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4335" y="38885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挑簇内真实样本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652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2943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90650" y="4294346"/>
              <a:ext cx="1514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BRICH、BURE（两版）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4335" y="4294346"/>
              <a:ext cx="910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BIRCH、CURE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710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57581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7001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90650" y="4700111"/>
              <a:ext cx="195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Ward 是“方差之差”（A 29）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4335" y="470011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离差平方和之差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9768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5105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90650" y="5105876"/>
              <a:ext cx="2003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核心点写成“大于 m”（B 41）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04335" y="5105876"/>
              <a:ext cx="641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MinPts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41195"/>
              <a:ext cx="5410200" cy="3446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285875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99560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c2-table-1"/>
          <p:cNvGrpSpPr/>
          <p:nvPr/>
        </p:nvGrpSpPr>
        <p:grpSpPr>
          <a:xfrm>
            <a:off x="6248400" y="1941195"/>
            <a:ext cx="5410200" cy="3651885"/>
            <a:chOff x="6248400" y="1941195"/>
            <a:chExt cx="5410200" cy="3651885"/>
          </a:xfrm>
        </p:grpSpPr>
        <p:sp>
          <p:nvSpPr>
            <p:cNvPr id="47" name="Rectangle 47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95618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讲义页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79055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原写法（出处）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8199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48412" y="2471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5650" y="2471261"/>
              <a:ext cx="2170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由 pᵢ₊₁ 直达（A 36、B 43）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19335" y="2471261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pᵢ₊₁ 由 pᵢ 直达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8412" y="28770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05650" y="2877026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决策图叫 decision tree（两版）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19335" y="2877026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decision graph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8412" y="32827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05650" y="3282791"/>
              <a:ext cx="1632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&gt; 0 是凹函数（A 60）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19335" y="3282791"/>
              <a:ext cx="599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半负定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8412" y="36885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05650" y="3688556"/>
              <a:ext cx="1822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中值写成 a + b /2（A 60）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919335" y="368855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+ b)/2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965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48412" y="409432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05650" y="4094321"/>
              <a:ext cx="1686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高斯系数 (2π)ᴷ（B 83）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919335" y="409432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(2π)ⁿ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4371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48400" y="43757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48412" y="45000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105650" y="4500086"/>
              <a:ext cx="1889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的变量 l 配下标 i（B 85）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919335" y="45000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求和变量统一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4776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8412" y="490585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105650" y="4905851"/>
              <a:ext cx="1995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优点页标题写“缺点”（A 75）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919335" y="49058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优点、代价分列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51825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48400" y="518731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48412" y="53116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05650" y="5311616"/>
              <a:ext cx="1884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RatioCut 两式差 ½（A 93）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19335" y="531161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按不带 ½ 的式子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1941195"/>
              <a:ext cx="541020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000875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814560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0" name="Rectangle 9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6023610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每一处都在对应讲义页用“更正”字样写明了原文和理由，考试作答以讲义的写法为准。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第7章 聚类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4785355" cy="1863567"/>
            <a:chOff x="533400" y="1532572"/>
            <a:chExt cx="4785355" cy="1863567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9105" y="156429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542574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聚类要回答三件事：距离怎么定义、用什么算法切、结果怎么评价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04988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9105" y="183670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1814989"/>
              <a:ext cx="4204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外部指标只用 a、b、c、d 四个数；DBI 越小越好，DI 越大越好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77402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9105" y="210912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87404"/>
              <a:ext cx="3745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 的两步都让 SSE 单调不增，但只停在局部最优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349818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9105" y="238153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955" y="2359819"/>
              <a:ext cx="4097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层次聚类给出一整棵树，切树高度即簇数，single 有串链效应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622232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05" y="265395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2632234"/>
              <a:ext cx="405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DBSCAN 的簇是密度相连的最大集合，密度峰值法只算 ρ 和 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93695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9105" y="292636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2955" y="2903696"/>
              <a:ext cx="45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 是 GMM 在 σ → 0 时的硬划分极限，两者都靠 EM 交替求解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166110"/>
              <a:ext cx="160020" cy="16002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9105" y="319782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2955" y="3176111"/>
              <a:ext cx="4165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谱聚类把聚类变成切图，除以 |A| 或 vol(A) 再松弛成特征问题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527108"/>
            <a:ext cx="5626418" cy="1786890"/>
            <a:chOff x="533400" y="3527108"/>
            <a:chExt cx="5626418" cy="1786890"/>
          </a:xfrm>
        </p:grpSpPr>
        <p:sp>
          <p:nvSpPr>
            <p:cNvPr id="29" name="Rectangle 29"/>
            <p:cNvSpPr/>
            <p:nvPr/>
          </p:nvSpPr>
          <p:spPr>
            <a:xfrm>
              <a:off x="533400" y="3527108"/>
              <a:ext cx="562641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660458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371951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5345" y="3753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7597" y="3759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考前对照这两条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2478" y="41500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497" y="4093845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能手算：外部指标、两轮 K-means、single 与 complete 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聚、DBSCAN 邻域判定、六结点图的 Fiedler 向量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470916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4652962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能说清：EM 为什么收敛、k-means 与 GMM 的关系、RatioCut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为什么要除以 |A|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64618" y="1524000"/>
            <a:ext cx="5193982" cy="2634615"/>
            <a:chOff x="6464618" y="1524000"/>
            <a:chExt cx="5193982" cy="2634615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8345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0457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4630" y="2054066"/>
              <a:ext cx="658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K-means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15275" y="2054066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反复“分配、求均值”，只认球形簇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4630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层次聚类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15275" y="24598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每步合并最近的两类，给出一棵树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4630" y="286559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DBSCAN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15275" y="286559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高密度的点长成簇，稀疏处标噪声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4630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密度峰值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15275" y="32713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与 δ 都大的点就是簇中心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4630" y="3677126"/>
              <a:ext cx="9676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GMM / AP / 谱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15275" y="3777139"/>
              <a:ext cx="2226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 求解；互传消息；求特征向量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1524000"/>
              <a:ext cx="5193982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810500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464618" y="4333875"/>
            <a:ext cx="5193982" cy="1226820"/>
            <a:chOff x="6464618" y="4333875"/>
            <a:chExt cx="5193982" cy="1226820"/>
          </a:xfrm>
        </p:grpSpPr>
        <p:sp>
          <p:nvSpPr>
            <p:cNvPr id="61" name="Rectangle 61"/>
            <p:cNvSpPr/>
            <p:nvPr/>
          </p:nvSpPr>
          <p:spPr>
            <a:xfrm>
              <a:off x="6464618" y="4333875"/>
              <a:ext cx="5193982" cy="1226820"/>
            </a:xfrm>
            <a:prstGeom prst="roundRect">
              <a:avLst>
                <a:gd name="adj" fmla="val 1087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57022" y="452628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44462" y="45605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74064" y="4566285"/>
              <a:ext cx="2289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8 章 数据降维与流形学习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50164" y="489966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本章多次碰到同一个障碍：维数一高，距离就不可靠，密度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也估不准。下一章把高维样本映射到低维。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7" name="Rectangle 6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9507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版作业：同一组数据分别跑 K-means、DBSCAN、GMM 和 AP，比较簇数与归属的差异，用 300 至 500 字解释原因。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第7章 聚类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7">
  <a:themeElements>
    <a:clrScheme name="ml_ch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2026-09-23T09:48:47Z</dcterms:created>
  <dcterms:modified xsi:type="dcterms:W3CDTF">2026-09-23T09:48:47Z</dcterms:modified>
  <cp:category/>
  <cp:contentStatus/>
</cp:coreProperties>
</file>