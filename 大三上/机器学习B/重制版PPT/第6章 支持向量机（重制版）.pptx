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l_ch0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l_ch0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4d6c3ecee4407e8.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769d9c95bc6b47a.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14dce00a40d5000.png"/>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4632198" cy="3437763"/>
            <a:chOff x="666750" y="1619250"/>
            <a:chExt cx="4632198" cy="3437763"/>
          </a:xfrm>
        </p:grpSpPr>
        <p:sp>
          <p:nvSpPr>
            <p:cNvPr id="4" name="Rectangle 4"/>
            <p:cNvSpPr/>
            <p:nvPr/>
          </p:nvSpPr>
          <p:spPr>
            <a:xfrm>
              <a:off x="685800" y="1619250"/>
              <a:ext cx="1593532" cy="342900"/>
            </a:xfrm>
            <a:prstGeom prst="roundRect">
              <a:avLst>
                <a:gd name="adj" fmla="val 50000"/>
              </a:avLst>
            </a:prstGeom>
            <a:solidFill>
              <a:srgbClr val="E2F3F4"/>
            </a:solidFill>
            <a:ln>
              <a:noFill/>
            </a:ln>
          </p:spPr>
        </p:sp>
        <p:sp>
          <p:nvSpPr>
            <p:cNvPr id="5" name="TextBox 5"/>
            <p:cNvSpPr txBox="1"/>
            <p:nvPr/>
          </p:nvSpPr>
          <p:spPr>
            <a:xfrm>
              <a:off x="814010" y="1718310"/>
              <a:ext cx="1338064" cy="234696"/>
            </a:xfrm>
            <a:prstGeom prst="rect">
              <a:avLst/>
            </a:prstGeom>
            <a:noFill/>
            <a:ln>
              <a:noFill/>
            </a:ln>
          </p:spPr>
          <p:txBody>
            <a:bodyPr wrap="none" lIns="0" tIns="0" rIns="0" bIns="0" anchor="t" anchorCtr="0">
              <a:spAutoFit/>
            </a:bodyPr>
            <a:lstStyle/>
            <a:p>
              <a:pPr algn="ctr"/>
              <a:r>
                <a:rPr lang="zh-CN" sz="1200" b="1" dirty="0">
                  <a:solidFill>
                    <a:srgbClr val="0E7C86"/>
                  </a:solidFill>
                  <a:latin typeface="+mn-lt"/>
                  <a:ea typeface="+mn-ea"/>
                  <a:cs typeface="+mn-cs"/>
                </a:rPr>
                <a:t>机器学习 · 第六章</a:t>
              </a:r>
            </a:p>
          </p:txBody>
        </p:sp>
        <p:sp>
          <p:nvSpPr>
            <p:cNvPr id="6" name="TextBox 6"/>
            <p:cNvSpPr txBox="1"/>
            <p:nvPr/>
          </p:nvSpPr>
          <p:spPr>
            <a:xfrm>
              <a:off x="666750" y="2407920"/>
              <a:ext cx="2865120"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支持向量机</a:t>
              </a:r>
            </a:p>
          </p:txBody>
        </p:sp>
        <p:sp>
          <p:nvSpPr>
            <p:cNvPr id="7" name="Rectangle 7"/>
            <p:cNvSpPr/>
            <p:nvPr/>
          </p:nvSpPr>
          <p:spPr>
            <a:xfrm>
              <a:off x="685800" y="3147060"/>
              <a:ext cx="990600" cy="57150"/>
            </a:xfrm>
            <a:prstGeom prst="roundRect">
              <a:avLst>
                <a:gd name="adj" fmla="val 50000"/>
              </a:avLst>
            </a:prstGeom>
            <a:gradFill>
              <a:gsLst>
                <a:gs pos="0">
                  <a:srgbClr val="0E7C86"/>
                </a:gs>
                <a:gs pos="100000">
                  <a:srgbClr val="F26B3A"/>
                </a:gs>
              </a:gsLst>
              <a:lin ang="0" scaled="1"/>
            </a:gradFill>
            <a:ln>
              <a:noFill/>
            </a:ln>
          </p:spPr>
        </p:sp>
        <p:sp>
          <p:nvSpPr>
            <p:cNvPr id="8" name="TextBox 8"/>
            <p:cNvSpPr txBox="1"/>
            <p:nvPr/>
          </p:nvSpPr>
          <p:spPr>
            <a:xfrm>
              <a:off x="676656" y="3467100"/>
              <a:ext cx="4622292"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在能分开的无穷多条界线里挑最宽的那一条</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统计学习理论与间隔</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1296848"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对偶问题与 KKT</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128587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软间隔与核方法</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1296848"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分解算法与 SVR</a:t>
              </a:r>
            </a:p>
          </p:txBody>
        </p:sp>
      </p:grpSp>
      <p:grpSp>
        <p:nvGrpSpPr>
          <p:cNvPr id="19" name="cover-credit"/>
          <p:cNvGrpSpPr/>
          <p:nvPr/>
        </p:nvGrpSpPr>
        <p:grpSpPr>
          <a:xfrm>
            <a:off x="680466" y="6192202"/>
            <a:ext cx="4983290" cy="205359"/>
            <a:chOff x="680466" y="6192202"/>
            <a:chExt cx="4983290" cy="205359"/>
          </a:xfrm>
        </p:grpSpPr>
        <p:sp>
          <p:nvSpPr>
            <p:cNvPr id="18" name="TextBox 18"/>
            <p:cNvSpPr txBox="1"/>
            <p:nvPr/>
          </p:nvSpPr>
          <p:spPr>
            <a:xfrm>
              <a:off x="680466" y="6192202"/>
              <a:ext cx="498329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自学复习版｜据吉林大学《机器学习》A、B 两版第6章课件合并整理</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1389698" cy="266700"/>
            </a:xfrm>
            <a:prstGeom prst="roundRect">
              <a:avLst>
                <a:gd name="adj" fmla="val 50000"/>
              </a:avLst>
            </a:prstGeom>
            <a:solidFill>
              <a:srgbClr val="E2F3F4"/>
            </a:solidFill>
            <a:ln>
              <a:noFill/>
            </a:ln>
          </p:spPr>
        </p:sp>
        <p:sp>
          <p:nvSpPr>
            <p:cNvPr id="3" name="TextBox 3"/>
            <p:cNvSpPr txBox="1"/>
            <p:nvPr/>
          </p:nvSpPr>
          <p:spPr>
            <a:xfrm>
              <a:off x="627064" y="407194"/>
              <a:ext cx="120141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本章学习路线</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4" name="c1-agenda-1"/>
          <p:cNvGrpSpPr/>
          <p:nvPr/>
        </p:nvGrpSpPr>
        <p:grpSpPr>
          <a:xfrm>
            <a:off x="523113" y="1520666"/>
            <a:ext cx="6286310" cy="4735831"/>
            <a:chOff x="523113" y="1520666"/>
            <a:chExt cx="6286310" cy="4735831"/>
          </a:xfrm>
        </p:grpSpPr>
        <p:sp>
          <p:nvSpPr>
            <p:cNvPr id="7" name="TextBox 7"/>
            <p:cNvSpPr txBox="1"/>
            <p:nvPr/>
          </p:nvSpPr>
          <p:spPr>
            <a:xfrm>
              <a:off x="523113" y="1520666"/>
              <a:ext cx="334656" cy="396050"/>
            </a:xfrm>
            <a:prstGeom prst="rect">
              <a:avLst/>
            </a:prstGeom>
            <a:noFill/>
            <a:ln>
              <a:noFill/>
            </a:ln>
          </p:spPr>
          <p:txBody>
            <a:bodyPr wrap="none" lIns="0" tIns="0" rIns="0" bIns="0" anchor="t" anchorCtr="0">
              <a:spAutoFit/>
            </a:bodyPr>
            <a:lstStyle/>
            <a:p>
              <a:pPr algn="l"/>
              <a:r>
                <a:rPr lang="zh-CN" sz="2020" b="1" dirty="0">
                  <a:solidFill>
                    <a:srgbClr val="0E7C86"/>
                  </a:solidFill>
                  <a:latin typeface="+mn-lt"/>
                  <a:ea typeface="+mn-ea"/>
                  <a:cs typeface="+mn-cs"/>
                </a:rPr>
                <a:t>01</a:t>
              </a:r>
            </a:p>
          </p:txBody>
        </p:sp>
        <p:sp>
          <p:nvSpPr>
            <p:cNvPr id="8" name="TextBox 8"/>
            <p:cNvSpPr txBox="1"/>
            <p:nvPr/>
          </p:nvSpPr>
          <p:spPr>
            <a:xfrm>
              <a:off x="1031558" y="154876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理论基础</a:t>
              </a:r>
            </a:p>
          </p:txBody>
        </p:sp>
        <p:sp>
          <p:nvSpPr>
            <p:cNvPr id="9" name="TextBox 9"/>
            <p:cNvSpPr txBox="1"/>
            <p:nvPr/>
          </p:nvSpPr>
          <p:spPr>
            <a:xfrm>
              <a:off x="1033462" y="1839754"/>
              <a:ext cx="309917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期望风险、经验风险、VC 维与结构风险最小化</a:t>
              </a:r>
            </a:p>
          </p:txBody>
        </p:sp>
        <p:sp>
          <p:nvSpPr>
            <p:cNvPr id="10" name="Rectangle 10"/>
            <p:cNvSpPr/>
            <p:nvPr/>
          </p:nvSpPr>
          <p:spPr>
            <a:xfrm>
              <a:off x="1039178" y="2119312"/>
              <a:ext cx="5770245" cy="9525"/>
            </a:xfrm>
            <a:prstGeom prst="rect">
              <a:avLst/>
            </a:prstGeom>
            <a:solidFill>
              <a:srgbClr val="D9DFEA"/>
            </a:solidFill>
            <a:ln>
              <a:noFill/>
            </a:ln>
          </p:spPr>
        </p:sp>
        <p:sp>
          <p:nvSpPr>
            <p:cNvPr id="11" name="TextBox 11"/>
            <p:cNvSpPr txBox="1"/>
            <p:nvPr/>
          </p:nvSpPr>
          <p:spPr>
            <a:xfrm>
              <a:off x="523113" y="2219801"/>
              <a:ext cx="334656" cy="396050"/>
            </a:xfrm>
            <a:prstGeom prst="rect">
              <a:avLst/>
            </a:prstGeom>
            <a:noFill/>
            <a:ln>
              <a:noFill/>
            </a:ln>
          </p:spPr>
          <p:txBody>
            <a:bodyPr wrap="none" lIns="0" tIns="0" rIns="0" bIns="0" anchor="t" anchorCtr="0">
              <a:spAutoFit/>
            </a:bodyPr>
            <a:lstStyle/>
            <a:p>
              <a:pPr algn="l"/>
              <a:r>
                <a:rPr lang="zh-CN" sz="2020" b="1" dirty="0">
                  <a:solidFill>
                    <a:srgbClr val="0E7C86"/>
                  </a:solidFill>
                  <a:latin typeface="+mn-lt"/>
                  <a:ea typeface="+mn-ea"/>
                  <a:cs typeface="+mn-cs"/>
                </a:rPr>
                <a:t>02</a:t>
              </a:r>
            </a:p>
          </p:txBody>
        </p:sp>
        <p:sp>
          <p:nvSpPr>
            <p:cNvPr id="12" name="TextBox 12"/>
            <p:cNvSpPr txBox="1"/>
            <p:nvPr/>
          </p:nvSpPr>
          <p:spPr>
            <a:xfrm>
              <a:off x="1031558" y="2247900"/>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最优分类面</a:t>
              </a:r>
            </a:p>
          </p:txBody>
        </p:sp>
        <p:sp>
          <p:nvSpPr>
            <p:cNvPr id="13" name="TextBox 13"/>
            <p:cNvSpPr txBox="1"/>
            <p:nvPr/>
          </p:nvSpPr>
          <p:spPr>
            <a:xfrm>
              <a:off x="1033462" y="2538889"/>
              <a:ext cx="3177692"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线性判别函数、几何间隔、硬间隔的凸二次规划</a:t>
              </a:r>
            </a:p>
          </p:txBody>
        </p:sp>
        <p:sp>
          <p:nvSpPr>
            <p:cNvPr id="14" name="Rectangle 14"/>
            <p:cNvSpPr/>
            <p:nvPr/>
          </p:nvSpPr>
          <p:spPr>
            <a:xfrm>
              <a:off x="1039178" y="2819400"/>
              <a:ext cx="5770245" cy="9525"/>
            </a:xfrm>
            <a:prstGeom prst="rect">
              <a:avLst/>
            </a:prstGeom>
            <a:solidFill>
              <a:srgbClr val="D9DFEA"/>
            </a:solidFill>
            <a:ln>
              <a:noFill/>
            </a:ln>
          </p:spPr>
        </p:sp>
        <p:sp>
          <p:nvSpPr>
            <p:cNvPr id="15" name="TextBox 15"/>
            <p:cNvSpPr txBox="1"/>
            <p:nvPr/>
          </p:nvSpPr>
          <p:spPr>
            <a:xfrm>
              <a:off x="523113" y="2919889"/>
              <a:ext cx="334656" cy="396050"/>
            </a:xfrm>
            <a:prstGeom prst="rect">
              <a:avLst/>
            </a:prstGeom>
            <a:noFill/>
            <a:ln>
              <a:noFill/>
            </a:ln>
          </p:spPr>
          <p:txBody>
            <a:bodyPr wrap="none" lIns="0" tIns="0" rIns="0" bIns="0" anchor="t" anchorCtr="0">
              <a:spAutoFit/>
            </a:bodyPr>
            <a:lstStyle/>
            <a:p>
              <a:pPr algn="l"/>
              <a:r>
                <a:rPr lang="zh-CN" sz="2020" b="1" dirty="0">
                  <a:solidFill>
                    <a:srgbClr val="0E7C86"/>
                  </a:solidFill>
                  <a:latin typeface="+mn-lt"/>
                  <a:ea typeface="+mn-ea"/>
                  <a:cs typeface="+mn-cs"/>
                </a:rPr>
                <a:t>03</a:t>
              </a:r>
            </a:p>
          </p:txBody>
        </p:sp>
        <p:sp>
          <p:nvSpPr>
            <p:cNvPr id="16" name="TextBox 16"/>
            <p:cNvSpPr txBox="1"/>
            <p:nvPr/>
          </p:nvSpPr>
          <p:spPr>
            <a:xfrm>
              <a:off x="1031558" y="2947988"/>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对偶问题</a:t>
              </a:r>
            </a:p>
          </p:txBody>
        </p:sp>
        <p:sp>
          <p:nvSpPr>
            <p:cNvPr id="17" name="TextBox 17"/>
            <p:cNvSpPr txBox="1"/>
            <p:nvPr/>
          </p:nvSpPr>
          <p:spPr>
            <a:xfrm>
              <a:off x="1033462" y="3238976"/>
              <a:ext cx="305863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拉格朗日乘子、KKT 条件、只含 α 的对偶形式</a:t>
              </a:r>
            </a:p>
          </p:txBody>
        </p:sp>
        <p:sp>
          <p:nvSpPr>
            <p:cNvPr id="18" name="Rectangle 18"/>
            <p:cNvSpPr/>
            <p:nvPr/>
          </p:nvSpPr>
          <p:spPr>
            <a:xfrm>
              <a:off x="1039178" y="3518535"/>
              <a:ext cx="5770245" cy="9525"/>
            </a:xfrm>
            <a:prstGeom prst="rect">
              <a:avLst/>
            </a:prstGeom>
            <a:solidFill>
              <a:srgbClr val="D9DFEA"/>
            </a:solidFill>
            <a:ln>
              <a:noFill/>
            </a:ln>
          </p:spPr>
        </p:sp>
        <p:sp>
          <p:nvSpPr>
            <p:cNvPr id="19" name="TextBox 19"/>
            <p:cNvSpPr txBox="1"/>
            <p:nvPr/>
          </p:nvSpPr>
          <p:spPr>
            <a:xfrm>
              <a:off x="523113" y="3619024"/>
              <a:ext cx="334656" cy="396050"/>
            </a:xfrm>
            <a:prstGeom prst="rect">
              <a:avLst/>
            </a:prstGeom>
            <a:noFill/>
            <a:ln>
              <a:noFill/>
            </a:ln>
          </p:spPr>
          <p:txBody>
            <a:bodyPr wrap="none" lIns="0" tIns="0" rIns="0" bIns="0" anchor="t" anchorCtr="0">
              <a:spAutoFit/>
            </a:bodyPr>
            <a:lstStyle/>
            <a:p>
              <a:pPr algn="l"/>
              <a:r>
                <a:rPr lang="zh-CN" sz="2020" b="1" dirty="0">
                  <a:solidFill>
                    <a:srgbClr val="0E7C86"/>
                  </a:solidFill>
                  <a:latin typeface="+mn-lt"/>
                  <a:ea typeface="+mn-ea"/>
                  <a:cs typeface="+mn-cs"/>
                </a:rPr>
                <a:t>04</a:t>
              </a:r>
            </a:p>
          </p:txBody>
        </p:sp>
        <p:sp>
          <p:nvSpPr>
            <p:cNvPr id="20" name="TextBox 20"/>
            <p:cNvSpPr txBox="1"/>
            <p:nvPr/>
          </p:nvSpPr>
          <p:spPr>
            <a:xfrm>
              <a:off x="1031558" y="3647122"/>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软间隔</a:t>
              </a:r>
            </a:p>
          </p:txBody>
        </p:sp>
        <p:sp>
          <p:nvSpPr>
            <p:cNvPr id="21" name="TextBox 21"/>
            <p:cNvSpPr txBox="1"/>
            <p:nvPr/>
          </p:nvSpPr>
          <p:spPr>
            <a:xfrm>
              <a:off x="1033462" y="3938111"/>
              <a:ext cx="2383083"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松弛变量、惩罚参数 C、Hinge 损失</a:t>
              </a:r>
            </a:p>
          </p:txBody>
        </p:sp>
        <p:sp>
          <p:nvSpPr>
            <p:cNvPr id="22" name="Rectangle 22"/>
            <p:cNvSpPr/>
            <p:nvPr/>
          </p:nvSpPr>
          <p:spPr>
            <a:xfrm>
              <a:off x="1039178" y="4217670"/>
              <a:ext cx="5770245" cy="9525"/>
            </a:xfrm>
            <a:prstGeom prst="rect">
              <a:avLst/>
            </a:prstGeom>
            <a:solidFill>
              <a:srgbClr val="D9DFEA"/>
            </a:solidFill>
            <a:ln>
              <a:noFill/>
            </a:ln>
          </p:spPr>
        </p:sp>
        <p:sp>
          <p:nvSpPr>
            <p:cNvPr id="23" name="TextBox 23"/>
            <p:cNvSpPr txBox="1"/>
            <p:nvPr/>
          </p:nvSpPr>
          <p:spPr>
            <a:xfrm>
              <a:off x="523113" y="4319111"/>
              <a:ext cx="334656" cy="396050"/>
            </a:xfrm>
            <a:prstGeom prst="rect">
              <a:avLst/>
            </a:prstGeom>
            <a:noFill/>
            <a:ln>
              <a:noFill/>
            </a:ln>
          </p:spPr>
          <p:txBody>
            <a:bodyPr wrap="none" lIns="0" tIns="0" rIns="0" bIns="0" anchor="t" anchorCtr="0">
              <a:spAutoFit/>
            </a:bodyPr>
            <a:lstStyle/>
            <a:p>
              <a:pPr algn="l"/>
              <a:r>
                <a:rPr lang="zh-CN" sz="2020" b="1" dirty="0">
                  <a:solidFill>
                    <a:srgbClr val="0E7C86"/>
                  </a:solidFill>
                  <a:latin typeface="+mn-lt"/>
                  <a:ea typeface="+mn-ea"/>
                  <a:cs typeface="+mn-cs"/>
                </a:rPr>
                <a:t>05</a:t>
              </a:r>
            </a:p>
          </p:txBody>
        </p:sp>
        <p:sp>
          <p:nvSpPr>
            <p:cNvPr id="24" name="TextBox 24"/>
            <p:cNvSpPr txBox="1"/>
            <p:nvPr/>
          </p:nvSpPr>
          <p:spPr>
            <a:xfrm>
              <a:off x="1031558" y="434721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核方法</a:t>
              </a:r>
            </a:p>
          </p:txBody>
        </p:sp>
        <p:sp>
          <p:nvSpPr>
            <p:cNvPr id="25" name="TextBox 25"/>
            <p:cNvSpPr txBox="1"/>
            <p:nvPr/>
          </p:nvSpPr>
          <p:spPr>
            <a:xfrm>
              <a:off x="1033462" y="4638199"/>
              <a:ext cx="2725369"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升维、核函数、核形式的对偶与决策函数</a:t>
              </a:r>
            </a:p>
          </p:txBody>
        </p:sp>
        <p:sp>
          <p:nvSpPr>
            <p:cNvPr id="26" name="Rectangle 26"/>
            <p:cNvSpPr/>
            <p:nvPr/>
          </p:nvSpPr>
          <p:spPr>
            <a:xfrm>
              <a:off x="1039178" y="4917758"/>
              <a:ext cx="5770245" cy="9525"/>
            </a:xfrm>
            <a:prstGeom prst="rect">
              <a:avLst/>
            </a:prstGeom>
            <a:solidFill>
              <a:srgbClr val="D9DFEA"/>
            </a:solidFill>
            <a:ln>
              <a:noFill/>
            </a:ln>
          </p:spPr>
        </p:sp>
        <p:sp>
          <p:nvSpPr>
            <p:cNvPr id="27" name="TextBox 27"/>
            <p:cNvSpPr txBox="1"/>
            <p:nvPr/>
          </p:nvSpPr>
          <p:spPr>
            <a:xfrm>
              <a:off x="523113" y="5018246"/>
              <a:ext cx="334656" cy="396050"/>
            </a:xfrm>
            <a:prstGeom prst="rect">
              <a:avLst/>
            </a:prstGeom>
            <a:noFill/>
            <a:ln>
              <a:noFill/>
            </a:ln>
          </p:spPr>
          <p:txBody>
            <a:bodyPr wrap="none" lIns="0" tIns="0" rIns="0" bIns="0" anchor="t" anchorCtr="0">
              <a:spAutoFit/>
            </a:bodyPr>
            <a:lstStyle/>
            <a:p>
              <a:pPr algn="l"/>
              <a:r>
                <a:rPr lang="zh-CN" sz="2020" b="1" dirty="0">
                  <a:solidFill>
                    <a:srgbClr val="0E7C86"/>
                  </a:solidFill>
                  <a:latin typeface="+mn-lt"/>
                  <a:ea typeface="+mn-ea"/>
                  <a:cs typeface="+mn-cs"/>
                </a:rPr>
                <a:t>06</a:t>
              </a:r>
            </a:p>
          </p:txBody>
        </p:sp>
        <p:sp>
          <p:nvSpPr>
            <p:cNvPr id="28" name="TextBox 28"/>
            <p:cNvSpPr txBox="1"/>
            <p:nvPr/>
          </p:nvSpPr>
          <p:spPr>
            <a:xfrm>
              <a:off x="1031558" y="504634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求解算法</a:t>
              </a:r>
            </a:p>
          </p:txBody>
        </p:sp>
        <p:sp>
          <p:nvSpPr>
            <p:cNvPr id="29" name="TextBox 29"/>
            <p:cNvSpPr txBox="1"/>
            <p:nvPr/>
          </p:nvSpPr>
          <p:spPr>
            <a:xfrm>
              <a:off x="1033462" y="5337334"/>
              <a:ext cx="3099745"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分解算法、工作集选择、SMO 的两变量闭式解</a:t>
              </a:r>
            </a:p>
          </p:txBody>
        </p:sp>
        <p:sp>
          <p:nvSpPr>
            <p:cNvPr id="30" name="Rectangle 30"/>
            <p:cNvSpPr/>
            <p:nvPr/>
          </p:nvSpPr>
          <p:spPr>
            <a:xfrm>
              <a:off x="1039178" y="5616892"/>
              <a:ext cx="5770245" cy="9525"/>
            </a:xfrm>
            <a:prstGeom prst="rect">
              <a:avLst/>
            </a:prstGeom>
            <a:solidFill>
              <a:srgbClr val="D9DFEA"/>
            </a:solidFill>
            <a:ln>
              <a:noFill/>
            </a:ln>
          </p:spPr>
        </p:sp>
        <p:sp>
          <p:nvSpPr>
            <p:cNvPr id="31" name="TextBox 31"/>
            <p:cNvSpPr txBox="1"/>
            <p:nvPr/>
          </p:nvSpPr>
          <p:spPr>
            <a:xfrm>
              <a:off x="523113" y="5717381"/>
              <a:ext cx="334656" cy="396050"/>
            </a:xfrm>
            <a:prstGeom prst="rect">
              <a:avLst/>
            </a:prstGeom>
            <a:noFill/>
            <a:ln>
              <a:noFill/>
            </a:ln>
          </p:spPr>
          <p:txBody>
            <a:bodyPr wrap="none" lIns="0" tIns="0" rIns="0" bIns="0" anchor="t" anchorCtr="0">
              <a:spAutoFit/>
            </a:bodyPr>
            <a:lstStyle/>
            <a:p>
              <a:pPr algn="l"/>
              <a:r>
                <a:rPr lang="zh-CN" sz="2020" b="1" dirty="0">
                  <a:solidFill>
                    <a:srgbClr val="0E7C86"/>
                  </a:solidFill>
                  <a:latin typeface="+mn-lt"/>
                  <a:ea typeface="+mn-ea"/>
                  <a:cs typeface="+mn-cs"/>
                </a:rPr>
                <a:t>07</a:t>
              </a:r>
            </a:p>
          </p:txBody>
        </p:sp>
        <p:sp>
          <p:nvSpPr>
            <p:cNvPr id="32" name="TextBox 32"/>
            <p:cNvSpPr txBox="1"/>
            <p:nvPr/>
          </p:nvSpPr>
          <p:spPr>
            <a:xfrm>
              <a:off x="1031558" y="5745480"/>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回归与多类</a:t>
              </a:r>
            </a:p>
          </p:txBody>
        </p:sp>
        <p:sp>
          <p:nvSpPr>
            <p:cNvPr id="33" name="TextBox 33"/>
            <p:cNvSpPr txBox="1"/>
            <p:nvPr/>
          </p:nvSpPr>
          <p:spPr>
            <a:xfrm>
              <a:off x="1033462" y="6036469"/>
              <a:ext cx="3669274"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ε-不敏感损失、SVR 对偶、one-vs-all 与 one-vs-one</a:t>
              </a:r>
            </a:p>
          </p:txBody>
        </p:sp>
      </p:grpSp>
      <p:grpSp>
        <p:nvGrpSpPr>
          <p:cNvPr id="49" name="c2-card-1"/>
          <p:cNvGrpSpPr/>
          <p:nvPr/>
        </p:nvGrpSpPr>
        <p:grpSpPr>
          <a:xfrm>
            <a:off x="7114222" y="1524000"/>
            <a:ext cx="4544378" cy="4688205"/>
            <a:chOff x="7114222" y="1524000"/>
            <a:chExt cx="4544378" cy="4688205"/>
          </a:xfrm>
        </p:grpSpPr>
        <p:sp>
          <p:nvSpPr>
            <p:cNvPr id="35" name="Rectangle 35"/>
            <p:cNvSpPr/>
            <p:nvPr/>
          </p:nvSpPr>
          <p:spPr>
            <a:xfrm>
              <a:off x="7114222" y="1524000"/>
              <a:ext cx="4544378" cy="4688205"/>
            </a:xfrm>
            <a:prstGeom prst="roundRect">
              <a:avLst>
                <a:gd name="adj" fmla="val 2934"/>
              </a:avLst>
            </a:prstGeom>
            <a:solidFill>
              <a:srgbClr val="FFFFFF"/>
            </a:solidFill>
            <a:ln w="14288">
              <a:solidFill>
                <a:srgbClr val="D9DFEA"/>
              </a:solidFill>
            </a:ln>
          </p:spPr>
        </p:sp>
        <p:sp>
          <p:nvSpPr>
            <p:cNvPr id="36" name="Rectangle 36"/>
            <p:cNvSpPr/>
            <p:nvPr/>
          </p:nvSpPr>
          <p:spPr>
            <a:xfrm>
              <a:off x="7123748" y="1657350"/>
              <a:ext cx="47625" cy="4421505"/>
            </a:xfrm>
            <a:prstGeom prst="roundRect">
              <a:avLst>
                <a:gd name="adj" fmla="val 50000"/>
              </a:avLst>
            </a:prstGeom>
            <a:solidFill>
              <a:srgbClr val="0E7C86"/>
            </a:solidFill>
            <a:ln>
              <a:noFill/>
            </a:ln>
          </p:spPr>
        </p:sp>
        <p:sp>
          <p:nvSpPr>
            <p:cNvPr id="37" name="Rectangle 37"/>
            <p:cNvSpPr/>
            <p:nvPr/>
          </p:nvSpPr>
          <p:spPr>
            <a:xfrm>
              <a:off x="7344728" y="1716405"/>
              <a:ext cx="742950" cy="247650"/>
            </a:xfrm>
            <a:prstGeom prst="roundRect">
              <a:avLst>
                <a:gd name="adj" fmla="val 50000"/>
              </a:avLst>
            </a:prstGeom>
            <a:solidFill>
              <a:srgbClr val="E2F3F4"/>
            </a:solidFill>
            <a:ln>
              <a:noFill/>
            </a:ln>
          </p:spPr>
        </p:sp>
        <p:sp>
          <p:nvSpPr>
            <p:cNvPr id="38" name="TextBox 38"/>
            <p:cNvSpPr txBox="1"/>
            <p:nvPr/>
          </p:nvSpPr>
          <p:spPr>
            <a:xfrm>
              <a:off x="7428167" y="1750695"/>
              <a:ext cx="576072"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学习目标</a:t>
              </a:r>
            </a:p>
          </p:txBody>
        </p:sp>
        <p:sp>
          <p:nvSpPr>
            <p:cNvPr id="39" name="Ellipse 39"/>
            <p:cNvSpPr/>
            <p:nvPr/>
          </p:nvSpPr>
          <p:spPr>
            <a:xfrm>
              <a:off x="7353300" y="2128838"/>
              <a:ext cx="59055" cy="59055"/>
            </a:xfrm>
            <a:prstGeom prst="ellipse">
              <a:avLst/>
            </a:prstGeom>
            <a:solidFill>
              <a:srgbClr val="0E7C86"/>
            </a:solidFill>
            <a:ln>
              <a:noFill/>
            </a:ln>
          </p:spPr>
        </p:sp>
        <p:sp>
          <p:nvSpPr>
            <p:cNvPr id="40" name="TextBox 40"/>
            <p:cNvSpPr txBox="1"/>
            <p:nvPr/>
          </p:nvSpPr>
          <p:spPr>
            <a:xfrm>
              <a:off x="7509320" y="2072640"/>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说清楚为什么最小化训练误差不等于学得好</a:t>
              </a:r>
            </a:p>
          </p:txBody>
        </p:sp>
        <p:sp>
          <p:nvSpPr>
            <p:cNvPr id="41" name="Ellipse 41"/>
            <p:cNvSpPr/>
            <p:nvPr/>
          </p:nvSpPr>
          <p:spPr>
            <a:xfrm>
              <a:off x="7353300" y="2431732"/>
              <a:ext cx="59055" cy="59055"/>
            </a:xfrm>
            <a:prstGeom prst="ellipse">
              <a:avLst/>
            </a:prstGeom>
            <a:solidFill>
              <a:srgbClr val="0E7C86"/>
            </a:solidFill>
            <a:ln>
              <a:noFill/>
            </a:ln>
          </p:spPr>
        </p:sp>
        <p:sp>
          <p:nvSpPr>
            <p:cNvPr id="42" name="TextBox 42"/>
            <p:cNvSpPr txBox="1"/>
            <p:nvPr/>
          </p:nvSpPr>
          <p:spPr>
            <a:xfrm>
              <a:off x="7509320" y="2375535"/>
              <a:ext cx="37856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手算三个点的最优分类面，原问题和对偶问题各走</a:t>
              </a:r>
              <a:br/>
              <a:r>
                <a:rPr lang="zh-CN" sz="1350" dirty="0">
                  <a:solidFill>
                    <a:srgbClr val="1F2937"/>
                  </a:solidFill>
                  <a:latin typeface="+mn-lt"/>
                  <a:ea typeface="+mn-ea"/>
                  <a:cs typeface="+mn-cs"/>
                </a:rPr>
                <a:t>一遍</a:t>
              </a:r>
            </a:p>
          </p:txBody>
        </p:sp>
        <p:sp>
          <p:nvSpPr>
            <p:cNvPr id="43" name="Ellipse 43"/>
            <p:cNvSpPr/>
            <p:nvPr/>
          </p:nvSpPr>
          <p:spPr>
            <a:xfrm>
              <a:off x="7353300" y="2991802"/>
              <a:ext cx="59055" cy="59055"/>
            </a:xfrm>
            <a:prstGeom prst="ellipse">
              <a:avLst/>
            </a:prstGeom>
            <a:solidFill>
              <a:srgbClr val="0E7C86"/>
            </a:solidFill>
            <a:ln>
              <a:noFill/>
            </a:ln>
          </p:spPr>
        </p:sp>
        <p:sp>
          <p:nvSpPr>
            <p:cNvPr id="44" name="TextBox 44"/>
            <p:cNvSpPr txBox="1"/>
            <p:nvPr/>
          </p:nvSpPr>
          <p:spPr>
            <a:xfrm>
              <a:off x="7509320" y="2935605"/>
              <a:ext cx="363988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写出软间隔对偶，并由 α 的取值判断样本落在哪</a:t>
              </a:r>
              <a:br/>
              <a:r>
                <a:rPr lang="zh-CN" sz="1350" dirty="0">
                  <a:solidFill>
                    <a:srgbClr val="1F2937"/>
                  </a:solidFill>
                  <a:latin typeface="+mn-lt"/>
                  <a:ea typeface="+mn-ea"/>
                  <a:cs typeface="+mn-cs"/>
                </a:rPr>
                <a:t>里</a:t>
              </a:r>
            </a:p>
          </p:txBody>
        </p:sp>
        <p:sp>
          <p:nvSpPr>
            <p:cNvPr id="45" name="Ellipse 45"/>
            <p:cNvSpPr/>
            <p:nvPr/>
          </p:nvSpPr>
          <p:spPr>
            <a:xfrm>
              <a:off x="7353300" y="3550920"/>
              <a:ext cx="59055" cy="59055"/>
            </a:xfrm>
            <a:prstGeom prst="ellipse">
              <a:avLst/>
            </a:prstGeom>
            <a:solidFill>
              <a:srgbClr val="0E7C86"/>
            </a:solidFill>
            <a:ln>
              <a:noFill/>
            </a:ln>
          </p:spPr>
        </p:sp>
        <p:sp>
          <p:nvSpPr>
            <p:cNvPr id="46" name="TextBox 46"/>
            <p:cNvSpPr txBox="1"/>
            <p:nvPr/>
          </p:nvSpPr>
          <p:spPr>
            <a:xfrm>
              <a:off x="7509320" y="3494722"/>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验证一个具体的核函数确实等于某个映射的内积</a:t>
              </a:r>
            </a:p>
          </p:txBody>
        </p:sp>
        <p:sp>
          <p:nvSpPr>
            <p:cNvPr id="47" name="Ellipse 47"/>
            <p:cNvSpPr/>
            <p:nvPr/>
          </p:nvSpPr>
          <p:spPr>
            <a:xfrm>
              <a:off x="7353300" y="3853815"/>
              <a:ext cx="59055" cy="59055"/>
            </a:xfrm>
            <a:prstGeom prst="ellipse">
              <a:avLst/>
            </a:prstGeom>
            <a:solidFill>
              <a:srgbClr val="0E7C86"/>
            </a:solidFill>
            <a:ln>
              <a:noFill/>
            </a:ln>
          </p:spPr>
        </p:sp>
        <p:sp>
          <p:nvSpPr>
            <p:cNvPr id="48" name="TextBox 48"/>
            <p:cNvSpPr txBox="1"/>
            <p:nvPr/>
          </p:nvSpPr>
          <p:spPr>
            <a:xfrm>
              <a:off x="7509320" y="3797618"/>
              <a:ext cx="379418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手算一步 SMO 更新，并解释 ε 变大时 SVR 为什么</a:t>
              </a:r>
              <a:br/>
              <a:r>
                <a:rPr lang="zh-CN" sz="1350" dirty="0">
                  <a:solidFill>
                    <a:srgbClr val="1F2937"/>
                  </a:solidFill>
                  <a:latin typeface="+mn-lt"/>
                  <a:ea typeface="+mn-ea"/>
                  <a:cs typeface="+mn-cs"/>
                </a:rPr>
                <a:t>变平</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1" name="TextBox 51"/>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8" name="section-title"/>
          <p:cNvGrpSpPr/>
          <p:nvPr/>
        </p:nvGrpSpPr>
        <p:grpSpPr>
          <a:xfrm>
            <a:off x="667512" y="1835468"/>
            <a:ext cx="4013778" cy="3351847"/>
            <a:chOff x="667512" y="1835468"/>
            <a:chExt cx="401377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361572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SVM 的理论基础</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03872"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为什么“把训练误差压到 0”反而不是好事</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期望风险算不出来，只能用经验风险代替</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32461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经验风险最小化在小样本下会过学习</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53517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VC 维衡量函数集的复杂程度</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310476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结构风险 = 经验风险 + 复杂度风险</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593658" cy="266700"/>
            </a:xfrm>
            <a:prstGeom prst="roundRect">
              <a:avLst>
                <a:gd name="adj" fmla="val 50000"/>
              </a:avLst>
            </a:prstGeom>
            <a:solidFill>
              <a:srgbClr val="E2F3F4"/>
            </a:solidFill>
            <a:ln>
              <a:noFill/>
            </a:ln>
          </p:spPr>
        </p:sp>
        <p:sp>
          <p:nvSpPr>
            <p:cNvPr id="3" name="TextBox 3"/>
            <p:cNvSpPr txBox="1"/>
            <p:nvPr/>
          </p:nvSpPr>
          <p:spPr>
            <a:xfrm>
              <a:off x="576106" y="407194"/>
              <a:ext cx="2507294"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SVM 的理论基础</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支持向量机：间隔最大的线性分类器</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465826" cy="264033"/>
            <a:chOff x="526542" y="1545907"/>
            <a:chExt cx="5465826" cy="264033"/>
          </a:xfrm>
        </p:grpSpPr>
        <p:sp>
          <p:nvSpPr>
            <p:cNvPr id="7" name="TextBox 7"/>
            <p:cNvSpPr txBox="1"/>
            <p:nvPr/>
          </p:nvSpPr>
          <p:spPr>
            <a:xfrm>
              <a:off x="526542" y="1545907"/>
              <a:ext cx="546582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先把这一章要造的东西说清楚，后面每一节都是在给这句话补细节。</a:t>
              </a:r>
            </a:p>
          </p:txBody>
        </p:sp>
      </p:grpSp>
      <p:grpSp>
        <p:nvGrpSpPr>
          <p:cNvPr id="21" name="c1-card-1"/>
          <p:cNvGrpSpPr/>
          <p:nvPr/>
        </p:nvGrpSpPr>
        <p:grpSpPr>
          <a:xfrm>
            <a:off x="533400" y="1928812"/>
            <a:ext cx="5842635" cy="2015490"/>
            <a:chOff x="533400" y="1928812"/>
            <a:chExt cx="5842635" cy="2015490"/>
          </a:xfrm>
        </p:grpSpPr>
        <p:sp>
          <p:nvSpPr>
            <p:cNvPr id="9" name="Rectangle 9"/>
            <p:cNvSpPr/>
            <p:nvPr/>
          </p:nvSpPr>
          <p:spPr>
            <a:xfrm>
              <a:off x="533400" y="1928812"/>
              <a:ext cx="5842635" cy="2015490"/>
            </a:xfrm>
            <a:prstGeom prst="roundRect">
              <a:avLst>
                <a:gd name="adj" fmla="val 6616"/>
              </a:avLst>
            </a:prstGeom>
            <a:solidFill>
              <a:srgbClr val="FFFFFF"/>
            </a:solidFill>
            <a:ln w="14288">
              <a:solidFill>
                <a:srgbClr val="D9DFEA"/>
              </a:solidFill>
            </a:ln>
          </p:spPr>
        </p:sp>
        <p:sp>
          <p:nvSpPr>
            <p:cNvPr id="10" name="Rectangle 10"/>
            <p:cNvSpPr/>
            <p:nvPr/>
          </p:nvSpPr>
          <p:spPr>
            <a:xfrm>
              <a:off x="542925" y="2062162"/>
              <a:ext cx="47625" cy="1748790"/>
            </a:xfrm>
            <a:prstGeom prst="roundRect">
              <a:avLst>
                <a:gd name="adj" fmla="val 50000"/>
              </a:avLst>
            </a:prstGeom>
            <a:solidFill>
              <a:srgbClr val="0E7C86"/>
            </a:solidFill>
            <a:ln>
              <a:noFill/>
            </a:ln>
          </p:spPr>
        </p:sp>
        <p:sp>
          <p:nvSpPr>
            <p:cNvPr id="11" name="Rectangle 11"/>
            <p:cNvSpPr/>
            <p:nvPr/>
          </p:nvSpPr>
          <p:spPr>
            <a:xfrm>
              <a:off x="752475" y="2109788"/>
              <a:ext cx="458152" cy="238125"/>
            </a:xfrm>
            <a:prstGeom prst="roundRect">
              <a:avLst>
                <a:gd name="adj" fmla="val 50000"/>
              </a:avLst>
            </a:prstGeom>
            <a:solidFill>
              <a:srgbClr val="E2F3F4"/>
            </a:solidFill>
            <a:ln>
              <a:noFill/>
            </a:ln>
          </p:spPr>
        </p:sp>
        <p:sp>
          <p:nvSpPr>
            <p:cNvPr id="12" name="TextBox 12"/>
            <p:cNvSpPr txBox="1"/>
            <p:nvPr/>
          </p:nvSpPr>
          <p:spPr>
            <a:xfrm>
              <a:off x="845147" y="2142649"/>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13" name="TextBox 13"/>
            <p:cNvSpPr txBox="1"/>
            <p:nvPr/>
          </p:nvSpPr>
          <p:spPr>
            <a:xfrm>
              <a:off x="1318450" y="2149316"/>
              <a:ext cx="303673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支持向量机 Support Vector Machine</a:t>
              </a:r>
            </a:p>
          </p:txBody>
        </p:sp>
        <p:sp>
          <p:nvSpPr>
            <p:cNvPr id="14" name="TextBox 14"/>
            <p:cNvSpPr txBox="1"/>
            <p:nvPr/>
          </p:nvSpPr>
          <p:spPr>
            <a:xfrm>
              <a:off x="745998" y="2465546"/>
              <a:ext cx="52148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二类分类模型，基本模型是定义在特征空间上的</a:t>
              </a:r>
              <a:r>
                <a:rPr lang="zh-CN" sz="1280" b="1" dirty="0">
                  <a:solidFill>
                    <a:srgbClr val="C2410C"/>
                  </a:solidFill>
                  <a:latin typeface="+mn-lt"/>
                  <a:ea typeface="+mn-ea"/>
                  <a:cs typeface="+mn-cs"/>
                </a:rPr>
                <a:t>间隔最大</a:t>
              </a:r>
              <a:r>
                <a:rPr lang="zh-CN" sz="1280" dirty="0">
                  <a:solidFill>
                    <a:srgbClr val="1F2937"/>
                  </a:solidFill>
                  <a:latin typeface="+mn-lt"/>
                  <a:ea typeface="+mn-ea"/>
                  <a:cs typeface="+mn-cs"/>
                </a:rPr>
                <a:t>的线性分类器。</a:t>
              </a:r>
              <a:br/>
              <a:r>
                <a:rPr lang="zh-CN" sz="1280" dirty="0">
                  <a:solidFill>
                    <a:srgbClr val="1F2937"/>
                  </a:solidFill>
                  <a:latin typeface="+mn-lt"/>
                  <a:ea typeface="+mn-ea"/>
                  <a:cs typeface="+mn-cs"/>
                </a:rPr>
                <a:t>感知机只要能分开就停，SVM 还要求分得尽量开。</a:t>
              </a:r>
            </a:p>
          </p:txBody>
        </p:sp>
        <p:sp>
          <p:nvSpPr>
            <p:cNvPr id="15" name="Ellipse 15"/>
            <p:cNvSpPr/>
            <p:nvPr/>
          </p:nvSpPr>
          <p:spPr>
            <a:xfrm>
              <a:off x="762000" y="3046095"/>
              <a:ext cx="57150" cy="57150"/>
            </a:xfrm>
            <a:prstGeom prst="ellipse">
              <a:avLst/>
            </a:prstGeom>
            <a:solidFill>
              <a:srgbClr val="0E7C86"/>
            </a:solidFill>
            <a:ln>
              <a:noFill/>
            </a:ln>
          </p:spPr>
        </p:sp>
        <p:sp>
          <p:nvSpPr>
            <p:cNvPr id="16" name="TextBox 16"/>
            <p:cNvSpPr txBox="1"/>
            <p:nvPr/>
          </p:nvSpPr>
          <p:spPr>
            <a:xfrm>
              <a:off x="917448" y="2994184"/>
              <a:ext cx="432079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学习策略：间隔最大化，可形式化为一个</a:t>
              </a:r>
              <a:r>
                <a:rPr lang="zh-CN" sz="1280" b="1" dirty="0">
                  <a:solidFill>
                    <a:srgbClr val="1F2937"/>
                  </a:solidFill>
                  <a:latin typeface="+mn-lt"/>
                  <a:ea typeface="+mn-ea"/>
                  <a:cs typeface="+mn-cs"/>
                </a:rPr>
                <a:t>凸二次规划</a:t>
              </a:r>
              <a:r>
                <a:rPr lang="zh-CN" sz="1280" dirty="0">
                  <a:solidFill>
                    <a:srgbClr val="1F2937"/>
                  </a:solidFill>
                  <a:latin typeface="+mn-lt"/>
                  <a:ea typeface="+mn-ea"/>
                  <a:cs typeface="+mn-cs"/>
                </a:rPr>
                <a:t>问题</a:t>
              </a:r>
            </a:p>
          </p:txBody>
        </p:sp>
        <p:sp>
          <p:nvSpPr>
            <p:cNvPr id="17" name="Ellipse 17"/>
            <p:cNvSpPr/>
            <p:nvPr/>
          </p:nvSpPr>
          <p:spPr>
            <a:xfrm>
              <a:off x="762000" y="3330892"/>
              <a:ext cx="57150" cy="57150"/>
            </a:xfrm>
            <a:prstGeom prst="ellipse">
              <a:avLst/>
            </a:prstGeom>
            <a:solidFill>
              <a:srgbClr val="0E7C86"/>
            </a:solidFill>
            <a:ln>
              <a:noFill/>
            </a:ln>
          </p:spPr>
        </p:sp>
        <p:sp>
          <p:nvSpPr>
            <p:cNvPr id="18" name="TextBox 18"/>
            <p:cNvSpPr txBox="1"/>
            <p:nvPr/>
          </p:nvSpPr>
          <p:spPr>
            <a:xfrm>
              <a:off x="917448" y="3278981"/>
              <a:ext cx="394775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等价形式：正则化的 Hinge 损失最小化（第 29 页）</a:t>
              </a:r>
            </a:p>
          </p:txBody>
        </p:sp>
        <p:sp>
          <p:nvSpPr>
            <p:cNvPr id="19" name="Ellipse 19"/>
            <p:cNvSpPr/>
            <p:nvPr/>
          </p:nvSpPr>
          <p:spPr>
            <a:xfrm>
              <a:off x="762000" y="3616642"/>
              <a:ext cx="57150" cy="57150"/>
            </a:xfrm>
            <a:prstGeom prst="ellipse">
              <a:avLst/>
            </a:prstGeom>
            <a:solidFill>
              <a:srgbClr val="0E7C86"/>
            </a:solidFill>
            <a:ln>
              <a:noFill/>
            </a:ln>
          </p:spPr>
        </p:sp>
        <p:sp>
          <p:nvSpPr>
            <p:cNvPr id="20" name="TextBox 20"/>
            <p:cNvSpPr txBox="1"/>
            <p:nvPr/>
          </p:nvSpPr>
          <p:spPr>
            <a:xfrm>
              <a:off x="917448" y="3563779"/>
              <a:ext cx="311459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加上核技巧后成为实质上的非线性分类器</a:t>
              </a:r>
            </a:p>
          </p:txBody>
        </p:sp>
      </p:grpSp>
      <p:grpSp>
        <p:nvGrpSpPr>
          <p:cNvPr id="31" name="c1-card-2"/>
          <p:cNvGrpSpPr/>
          <p:nvPr/>
        </p:nvGrpSpPr>
        <p:grpSpPr>
          <a:xfrm>
            <a:off x="533400" y="4109085"/>
            <a:ext cx="5842635" cy="2105978"/>
            <a:chOff x="533400" y="4109085"/>
            <a:chExt cx="5842635" cy="2105978"/>
          </a:xfrm>
        </p:grpSpPr>
        <p:sp>
          <p:nvSpPr>
            <p:cNvPr id="22" name="Rectangle 22"/>
            <p:cNvSpPr/>
            <p:nvPr/>
          </p:nvSpPr>
          <p:spPr>
            <a:xfrm>
              <a:off x="533400" y="4109085"/>
              <a:ext cx="5842635" cy="2105978"/>
            </a:xfrm>
            <a:prstGeom prst="roundRect">
              <a:avLst>
                <a:gd name="adj" fmla="val 6332"/>
              </a:avLst>
            </a:prstGeom>
            <a:solidFill>
              <a:srgbClr val="FFFFFF"/>
            </a:solidFill>
            <a:ln w="14288">
              <a:solidFill>
                <a:srgbClr val="D9DFEA"/>
              </a:solidFill>
            </a:ln>
          </p:spPr>
        </p:sp>
        <p:sp>
          <p:nvSpPr>
            <p:cNvPr id="23" name="Rectangle 23"/>
            <p:cNvSpPr/>
            <p:nvPr/>
          </p:nvSpPr>
          <p:spPr>
            <a:xfrm>
              <a:off x="542925" y="4242435"/>
              <a:ext cx="47625" cy="1839278"/>
            </a:xfrm>
            <a:prstGeom prst="roundRect">
              <a:avLst>
                <a:gd name="adj" fmla="val 50000"/>
              </a:avLst>
            </a:prstGeom>
            <a:solidFill>
              <a:srgbClr val="5B6475"/>
            </a:solidFill>
            <a:ln>
              <a:noFill/>
            </a:ln>
          </p:spPr>
        </p:sp>
        <p:sp>
          <p:nvSpPr>
            <p:cNvPr id="24" name="Rectangle 24"/>
            <p:cNvSpPr/>
            <p:nvPr/>
          </p:nvSpPr>
          <p:spPr>
            <a:xfrm>
              <a:off x="752475" y="4290060"/>
              <a:ext cx="707708" cy="238125"/>
            </a:xfrm>
            <a:prstGeom prst="roundRect">
              <a:avLst>
                <a:gd name="adj" fmla="val 50000"/>
              </a:avLst>
            </a:prstGeom>
            <a:solidFill>
              <a:srgbClr val="F4F6FB"/>
            </a:solidFill>
            <a:ln>
              <a:noFill/>
            </a:ln>
          </p:spPr>
        </p:sp>
        <p:sp>
          <p:nvSpPr>
            <p:cNvPr id="25" name="TextBox 25"/>
            <p:cNvSpPr txBox="1"/>
            <p:nvPr/>
          </p:nvSpPr>
          <p:spPr>
            <a:xfrm>
              <a:off x="837044" y="4322921"/>
              <a:ext cx="537616"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记号约定</a:t>
              </a:r>
            </a:p>
          </p:txBody>
        </p:sp>
        <p:sp>
          <p:nvSpPr>
            <p:cNvPr id="26" name="TextBox 26"/>
            <p:cNvSpPr txBox="1"/>
            <p:nvPr/>
          </p:nvSpPr>
          <p:spPr>
            <a:xfrm>
              <a:off x="1568006" y="4329589"/>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本章与前五章的记号差别</a:t>
              </a:r>
            </a:p>
          </p:txBody>
        </p:sp>
        <p:sp>
          <p:nvSpPr>
            <p:cNvPr id="27" name="Ellipse 27"/>
            <p:cNvSpPr/>
            <p:nvPr/>
          </p:nvSpPr>
          <p:spPr>
            <a:xfrm>
              <a:off x="762000" y="4698682"/>
              <a:ext cx="57150" cy="57150"/>
            </a:xfrm>
            <a:prstGeom prst="ellipse">
              <a:avLst/>
            </a:prstGeom>
            <a:solidFill>
              <a:srgbClr val="0E7C86"/>
            </a:solidFill>
            <a:ln>
              <a:noFill/>
            </a:ln>
          </p:spPr>
        </p:sp>
        <p:sp>
          <p:nvSpPr>
            <p:cNvPr id="28" name="TextBox 28"/>
            <p:cNvSpPr txBox="1"/>
            <p:nvPr/>
          </p:nvSpPr>
          <p:spPr>
            <a:xfrm>
              <a:off x="917448" y="4645819"/>
              <a:ext cx="481660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第 i 个样本记 xᵢ ∈ Rⁿ（第1至5章记作 x⁽ⁱ⁾），yᵢ ∈ {−1, +1}，样</a:t>
              </a:r>
              <a:br/>
              <a:r>
                <a:rPr lang="zh-CN" sz="1280" dirty="0">
                  <a:solidFill>
                    <a:srgbClr val="1F2937"/>
                  </a:solidFill>
                  <a:latin typeface="+mn-lt"/>
                  <a:ea typeface="+mn-ea"/>
                  <a:cs typeface="+mn-cs"/>
                </a:rPr>
                <a:t>本数 N，维数 n</a:t>
              </a:r>
            </a:p>
          </p:txBody>
        </p:sp>
        <p:sp>
          <p:nvSpPr>
            <p:cNvPr id="29" name="Ellipse 29"/>
            <p:cNvSpPr/>
            <p:nvPr/>
          </p:nvSpPr>
          <p:spPr>
            <a:xfrm>
              <a:off x="762000" y="5226368"/>
              <a:ext cx="57150" cy="57150"/>
            </a:xfrm>
            <a:prstGeom prst="ellipse">
              <a:avLst/>
            </a:prstGeom>
            <a:solidFill>
              <a:srgbClr val="0E7C86"/>
            </a:solidFill>
            <a:ln>
              <a:noFill/>
            </a:ln>
          </p:spPr>
        </p:sp>
        <p:sp>
          <p:nvSpPr>
            <p:cNvPr id="30" name="TextBox 30"/>
            <p:cNvSpPr txBox="1"/>
            <p:nvPr/>
          </p:nvSpPr>
          <p:spPr>
            <a:xfrm>
              <a:off x="917448" y="5173504"/>
              <a:ext cx="505280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拉格朗日乘子统一记 αᵢ（A 版写 λᵢ，与第1章的正则化系数撞名）</a:t>
              </a:r>
            </a:p>
          </p:txBody>
        </p:sp>
      </p:grpSp>
      <p:grpSp>
        <p:nvGrpSpPr>
          <p:cNvPr id="53" name="c2-table-1"/>
          <p:cNvGrpSpPr/>
          <p:nvPr/>
        </p:nvGrpSpPr>
        <p:grpSpPr>
          <a:xfrm>
            <a:off x="6675882" y="1928812"/>
            <a:ext cx="4982718" cy="1789462"/>
            <a:chOff x="6675882" y="1928812"/>
            <a:chExt cx="4982718" cy="1789462"/>
          </a:xfrm>
        </p:grpSpPr>
        <p:sp>
          <p:nvSpPr>
            <p:cNvPr id="32" name="Rectangle 32"/>
            <p:cNvSpPr/>
            <p:nvPr/>
          </p:nvSpPr>
          <p:spPr>
            <a:xfrm>
              <a:off x="6680835" y="1928812"/>
              <a:ext cx="4977765" cy="381000"/>
            </a:xfrm>
            <a:prstGeom prst="rect">
              <a:avLst/>
            </a:prstGeom>
            <a:solidFill>
              <a:srgbClr val="0E7C86"/>
            </a:solidFill>
            <a:ln>
              <a:noFill/>
            </a:ln>
          </p:spPr>
        </p:sp>
        <p:sp>
          <p:nvSpPr>
            <p:cNvPr id="33" name="TextBox 33"/>
            <p:cNvSpPr txBox="1"/>
            <p:nvPr/>
          </p:nvSpPr>
          <p:spPr>
            <a:xfrm>
              <a:off x="7280910"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类型</a:t>
              </a:r>
            </a:p>
          </p:txBody>
        </p:sp>
        <p:sp>
          <p:nvSpPr>
            <p:cNvPr id="34" name="TextBox 34"/>
            <p:cNvSpPr txBox="1"/>
            <p:nvPr/>
          </p:nvSpPr>
          <p:spPr>
            <a:xfrm>
              <a:off x="8732139" y="20459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数据情况</a:t>
              </a:r>
            </a:p>
          </p:txBody>
        </p:sp>
        <p:sp>
          <p:nvSpPr>
            <p:cNvPr id="35" name="TextBox 35"/>
            <p:cNvSpPr txBox="1"/>
            <p:nvPr/>
          </p:nvSpPr>
          <p:spPr>
            <a:xfrm>
              <a:off x="10403586"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用到的工具</a:t>
              </a:r>
            </a:p>
          </p:txBody>
        </p:sp>
        <p:sp>
          <p:nvSpPr>
            <p:cNvPr id="36" name="TextBox 36"/>
            <p:cNvSpPr txBox="1"/>
            <p:nvPr/>
          </p:nvSpPr>
          <p:spPr>
            <a:xfrm>
              <a:off x="6775514" y="2426970"/>
              <a:ext cx="913234"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线性可分 SVM</a:t>
              </a:r>
            </a:p>
          </p:txBody>
        </p:sp>
        <p:sp>
          <p:nvSpPr>
            <p:cNvPr id="37" name="TextBox 37"/>
            <p:cNvSpPr txBox="1"/>
            <p:nvPr/>
          </p:nvSpPr>
          <p:spPr>
            <a:xfrm>
              <a:off x="8269034" y="2426970"/>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训练数据线性可分</a:t>
              </a:r>
            </a:p>
          </p:txBody>
        </p:sp>
        <p:sp>
          <p:nvSpPr>
            <p:cNvPr id="38" name="TextBox 38"/>
            <p:cNvSpPr txBox="1"/>
            <p:nvPr/>
          </p:nvSpPr>
          <p:spPr>
            <a:xfrm>
              <a:off x="9961626" y="2426970"/>
              <a:ext cx="85877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硬间隔最大化</a:t>
              </a:r>
            </a:p>
          </p:txBody>
        </p:sp>
        <p:sp>
          <p:nvSpPr>
            <p:cNvPr id="39" name="Rectangle 39"/>
            <p:cNvSpPr/>
            <p:nvPr/>
          </p:nvSpPr>
          <p:spPr>
            <a:xfrm>
              <a:off x="6680835" y="2687002"/>
              <a:ext cx="4977765" cy="9525"/>
            </a:xfrm>
            <a:prstGeom prst="rect">
              <a:avLst/>
            </a:prstGeom>
            <a:solidFill>
              <a:srgbClr val="D9DFEA"/>
            </a:solidFill>
            <a:ln>
              <a:noFill/>
            </a:ln>
          </p:spPr>
        </p:sp>
        <p:sp>
          <p:nvSpPr>
            <p:cNvPr id="40" name="Rectangle 40"/>
            <p:cNvSpPr/>
            <p:nvPr/>
          </p:nvSpPr>
          <p:spPr>
            <a:xfrm>
              <a:off x="6680835" y="2691765"/>
              <a:ext cx="4977765" cy="381000"/>
            </a:xfrm>
            <a:prstGeom prst="rect">
              <a:avLst/>
            </a:prstGeom>
            <a:solidFill>
              <a:srgbClr val="F4F6FB"/>
            </a:solidFill>
            <a:ln>
              <a:noFill/>
            </a:ln>
          </p:spPr>
        </p:sp>
        <p:sp>
          <p:nvSpPr>
            <p:cNvPr id="41" name="TextBox 41"/>
            <p:cNvSpPr txBox="1"/>
            <p:nvPr/>
          </p:nvSpPr>
          <p:spPr>
            <a:xfrm>
              <a:off x="6775514" y="2808923"/>
              <a:ext cx="63053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线性 SVM</a:t>
              </a:r>
            </a:p>
          </p:txBody>
        </p:sp>
        <p:sp>
          <p:nvSpPr>
            <p:cNvPr id="42" name="TextBox 42"/>
            <p:cNvSpPr txBox="1"/>
            <p:nvPr/>
          </p:nvSpPr>
          <p:spPr>
            <a:xfrm>
              <a:off x="8269034" y="2808923"/>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数据近似线性可分</a:t>
              </a:r>
            </a:p>
          </p:txBody>
        </p:sp>
        <p:sp>
          <p:nvSpPr>
            <p:cNvPr id="43" name="TextBox 43"/>
            <p:cNvSpPr txBox="1"/>
            <p:nvPr/>
          </p:nvSpPr>
          <p:spPr>
            <a:xfrm>
              <a:off x="9961626" y="2808923"/>
              <a:ext cx="85877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软间隔最大化</a:t>
              </a:r>
            </a:p>
          </p:txBody>
        </p:sp>
        <p:sp>
          <p:nvSpPr>
            <p:cNvPr id="44" name="Rectangle 44"/>
            <p:cNvSpPr/>
            <p:nvPr/>
          </p:nvSpPr>
          <p:spPr>
            <a:xfrm>
              <a:off x="6680835" y="3068002"/>
              <a:ext cx="4977765" cy="9525"/>
            </a:xfrm>
            <a:prstGeom prst="rect">
              <a:avLst/>
            </a:prstGeom>
            <a:solidFill>
              <a:srgbClr val="D9DFEA"/>
            </a:solidFill>
            <a:ln>
              <a:noFill/>
            </a:ln>
          </p:spPr>
        </p:sp>
        <p:sp>
          <p:nvSpPr>
            <p:cNvPr id="45" name="TextBox 45"/>
            <p:cNvSpPr txBox="1"/>
            <p:nvPr/>
          </p:nvSpPr>
          <p:spPr>
            <a:xfrm>
              <a:off x="6775514" y="3189923"/>
              <a:ext cx="771883"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非线性 SVM</a:t>
              </a:r>
            </a:p>
          </p:txBody>
        </p:sp>
        <p:sp>
          <p:nvSpPr>
            <p:cNvPr id="46" name="TextBox 46"/>
            <p:cNvSpPr txBox="1"/>
            <p:nvPr/>
          </p:nvSpPr>
          <p:spPr>
            <a:xfrm>
              <a:off x="8269034" y="3189923"/>
              <a:ext cx="100012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数据线性不可分</a:t>
              </a:r>
            </a:p>
          </p:txBody>
        </p:sp>
        <p:sp>
          <p:nvSpPr>
            <p:cNvPr id="47" name="Rectangle 47"/>
            <p:cNvSpPr/>
            <p:nvPr/>
          </p:nvSpPr>
          <p:spPr>
            <a:xfrm>
              <a:off x="9876472" y="3082290"/>
              <a:ext cx="1772602" cy="361950"/>
            </a:xfrm>
            <a:prstGeom prst="rect">
              <a:avLst/>
            </a:prstGeom>
            <a:solidFill>
              <a:srgbClr val="FDEEE7"/>
            </a:solidFill>
            <a:ln>
              <a:noFill/>
            </a:ln>
          </p:spPr>
        </p:sp>
        <p:sp>
          <p:nvSpPr>
            <p:cNvPr id="48" name="TextBox 48"/>
            <p:cNvSpPr txBox="1"/>
            <p:nvPr/>
          </p:nvSpPr>
          <p:spPr>
            <a:xfrm>
              <a:off x="9961626" y="3189923"/>
              <a:ext cx="102132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核技巧 + 软间隔</a:t>
              </a:r>
            </a:p>
          </p:txBody>
        </p:sp>
        <p:sp>
          <p:nvSpPr>
            <p:cNvPr id="49" name="Rectangle 49"/>
            <p:cNvSpPr/>
            <p:nvPr/>
          </p:nvSpPr>
          <p:spPr>
            <a:xfrm>
              <a:off x="6680835" y="1928812"/>
              <a:ext cx="4977765" cy="1525905"/>
            </a:xfrm>
            <a:prstGeom prst="rect">
              <a:avLst/>
            </a:prstGeom>
            <a:noFill/>
            <a:ln w="14288">
              <a:solidFill>
                <a:srgbClr val="D9DFEA"/>
              </a:solidFill>
            </a:ln>
          </p:spPr>
        </p:sp>
        <p:sp>
          <p:nvSpPr>
            <p:cNvPr id="50" name="Rectangle 50"/>
            <p:cNvSpPr/>
            <p:nvPr/>
          </p:nvSpPr>
          <p:spPr>
            <a:xfrm>
              <a:off x="8169592" y="1928812"/>
              <a:ext cx="9525" cy="1525905"/>
            </a:xfrm>
            <a:prstGeom prst="rect">
              <a:avLst/>
            </a:prstGeom>
            <a:solidFill>
              <a:srgbClr val="D9DFEA"/>
            </a:solidFill>
            <a:ln>
              <a:noFill/>
            </a:ln>
          </p:spPr>
        </p:sp>
        <p:sp>
          <p:nvSpPr>
            <p:cNvPr id="51" name="Rectangle 51"/>
            <p:cNvSpPr/>
            <p:nvPr/>
          </p:nvSpPr>
          <p:spPr>
            <a:xfrm>
              <a:off x="9862185" y="1928812"/>
              <a:ext cx="9525" cy="1525905"/>
            </a:xfrm>
            <a:prstGeom prst="rect">
              <a:avLst/>
            </a:prstGeom>
            <a:solidFill>
              <a:srgbClr val="D9DFEA"/>
            </a:solidFill>
            <a:ln>
              <a:noFill/>
            </a:ln>
          </p:spPr>
        </p:sp>
        <p:sp>
          <p:nvSpPr>
            <p:cNvPr id="52" name="TextBox 52"/>
            <p:cNvSpPr txBox="1"/>
            <p:nvPr/>
          </p:nvSpPr>
          <p:spPr>
            <a:xfrm>
              <a:off x="6675882" y="3527584"/>
              <a:ext cx="325383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三种 SVM 是一步步放宽假设得到的，后一种包含前一种</a:t>
              </a:r>
            </a:p>
          </p:txBody>
        </p:sp>
      </p:grpSp>
      <p:grpSp>
        <p:nvGrpSpPr>
          <p:cNvPr id="62" name="c2-card-2"/>
          <p:cNvGrpSpPr/>
          <p:nvPr/>
        </p:nvGrpSpPr>
        <p:grpSpPr>
          <a:xfrm>
            <a:off x="6680835" y="3844290"/>
            <a:ext cx="4977765" cy="2370772"/>
            <a:chOff x="6680835" y="3844290"/>
            <a:chExt cx="4977765" cy="2370772"/>
          </a:xfrm>
        </p:grpSpPr>
        <p:sp>
          <p:nvSpPr>
            <p:cNvPr id="54" name="Rectangle 54"/>
            <p:cNvSpPr/>
            <p:nvPr/>
          </p:nvSpPr>
          <p:spPr>
            <a:xfrm>
              <a:off x="6680835" y="3844290"/>
              <a:ext cx="4977765" cy="2370772"/>
            </a:xfrm>
            <a:prstGeom prst="roundRect">
              <a:avLst>
                <a:gd name="adj" fmla="val 5625"/>
              </a:avLst>
            </a:prstGeom>
            <a:solidFill>
              <a:srgbClr val="FFFFFF"/>
            </a:solidFill>
            <a:ln w="14288">
              <a:solidFill>
                <a:srgbClr val="D9DFEA"/>
              </a:solidFill>
            </a:ln>
          </p:spPr>
        </p:sp>
        <p:sp>
          <p:nvSpPr>
            <p:cNvPr id="55" name="Rectangle 55"/>
            <p:cNvSpPr/>
            <p:nvPr/>
          </p:nvSpPr>
          <p:spPr>
            <a:xfrm>
              <a:off x="6690360" y="3977640"/>
              <a:ext cx="47625" cy="2104072"/>
            </a:xfrm>
            <a:prstGeom prst="roundRect">
              <a:avLst>
                <a:gd name="adj" fmla="val 50000"/>
              </a:avLst>
            </a:prstGeom>
            <a:solidFill>
              <a:srgbClr val="D97706"/>
            </a:solidFill>
            <a:ln>
              <a:noFill/>
            </a:ln>
          </p:spPr>
        </p:sp>
        <p:sp>
          <p:nvSpPr>
            <p:cNvPr id="56" name="Rectangle 56"/>
            <p:cNvSpPr/>
            <p:nvPr/>
          </p:nvSpPr>
          <p:spPr>
            <a:xfrm>
              <a:off x="6899910" y="4025265"/>
              <a:ext cx="582930" cy="238125"/>
            </a:xfrm>
            <a:prstGeom prst="roundRect">
              <a:avLst>
                <a:gd name="adj" fmla="val 50000"/>
              </a:avLst>
            </a:prstGeom>
            <a:solidFill>
              <a:srgbClr val="FEF3C7"/>
            </a:solidFill>
            <a:ln>
              <a:noFill/>
            </a:ln>
          </p:spPr>
        </p:sp>
        <p:sp>
          <p:nvSpPr>
            <p:cNvPr id="57" name="TextBox 57"/>
            <p:cNvSpPr txBox="1"/>
            <p:nvPr/>
          </p:nvSpPr>
          <p:spPr>
            <a:xfrm>
              <a:off x="6988531" y="4058126"/>
              <a:ext cx="405689"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核方法</a:t>
              </a:r>
            </a:p>
          </p:txBody>
        </p:sp>
        <p:sp>
          <p:nvSpPr>
            <p:cNvPr id="58" name="TextBox 58"/>
            <p:cNvSpPr txBox="1"/>
            <p:nvPr/>
          </p:nvSpPr>
          <p:spPr>
            <a:xfrm>
              <a:off x="7590663" y="4064794"/>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核函数是什么</a:t>
              </a:r>
            </a:p>
          </p:txBody>
        </p:sp>
        <p:sp>
          <p:nvSpPr>
            <p:cNvPr id="59" name="TextBox 59"/>
            <p:cNvSpPr txBox="1"/>
            <p:nvPr/>
          </p:nvSpPr>
          <p:spPr>
            <a:xfrm>
              <a:off x="6893433" y="4381976"/>
              <a:ext cx="4272026"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输入空间取欧氏空间或离散集合，特征空间取希尔伯特空间</a:t>
              </a:r>
              <a:br/>
              <a:r>
                <a:rPr lang="zh-CN" sz="1280" dirty="0">
                  <a:solidFill>
                    <a:srgbClr val="1F2937"/>
                  </a:solidFill>
                  <a:latin typeface="+mn-lt"/>
                  <a:ea typeface="+mn-ea"/>
                  <a:cs typeface="+mn-cs"/>
                </a:rPr>
                <a:t>时，核函数 K(x, z) 表示把输入映射到特征空间后得到的两</a:t>
              </a:r>
              <a:br/>
              <a:r>
                <a:rPr lang="zh-CN" sz="1280" dirty="0">
                  <a:solidFill>
                    <a:srgbClr val="1F2937"/>
                  </a:solidFill>
                  <a:latin typeface="+mn-lt"/>
                  <a:ea typeface="+mn-ea"/>
                  <a:cs typeface="+mn-cs"/>
                </a:rPr>
                <a:t>个特征向量的内积。</a:t>
              </a:r>
            </a:p>
          </p:txBody>
        </p:sp>
        <p:sp>
          <p:nvSpPr>
            <p:cNvPr id="60" name="TextBox 60"/>
            <p:cNvSpPr txBox="1"/>
            <p:nvPr/>
          </p:nvSpPr>
          <p:spPr>
            <a:xfrm>
              <a:off x="6893433" y="5152549"/>
              <a:ext cx="4263898"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用核函数学非线性 SVM，等价于隐式地在高维特征空间里学</a:t>
              </a:r>
              <a:br/>
              <a:r>
                <a:rPr lang="zh-CN" sz="1280" dirty="0">
                  <a:solidFill>
                    <a:srgbClr val="1F2937"/>
                  </a:solidFill>
                  <a:latin typeface="+mn-lt"/>
                  <a:ea typeface="+mn-ea"/>
                  <a:cs typeface="+mn-cs"/>
                </a:rPr>
                <a:t>一个线性 SVM。</a:t>
              </a:r>
            </a:p>
          </p:txBody>
        </p:sp>
        <p:sp>
          <p:nvSpPr>
            <p:cNvPr id="61" name="TextBox 61"/>
            <p:cNvSpPr txBox="1"/>
            <p:nvPr/>
          </p:nvSpPr>
          <p:spPr>
            <a:xfrm>
              <a:off x="6894576" y="5676900"/>
              <a:ext cx="4184523"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5B6475"/>
                  </a:solidFill>
                  <a:latin typeface="+mn-lt"/>
                  <a:ea typeface="+mn-ea"/>
                  <a:cs typeface="+mn-cs"/>
                </a:rPr>
                <a:t>核方法（kernel method）比 SVM 更一般，也可以装到别的算法上（核</a:t>
              </a:r>
              <a:br/>
              <a:r>
                <a:rPr lang="zh-CN" sz="1050" dirty="0">
                  <a:solidFill>
                    <a:srgbClr val="5B6475"/>
                  </a:solidFill>
                  <a:latin typeface="+mn-lt"/>
                  <a:ea typeface="+mn-ea"/>
                  <a:cs typeface="+mn-cs"/>
                </a:rPr>
                <a:t>PCA、核岭回归）。</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4" name="TextBox 6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593658" cy="266700"/>
            </a:xfrm>
            <a:prstGeom prst="roundRect">
              <a:avLst>
                <a:gd name="adj" fmla="val 50000"/>
              </a:avLst>
            </a:prstGeom>
            <a:solidFill>
              <a:srgbClr val="E2F3F4"/>
            </a:solidFill>
            <a:ln>
              <a:noFill/>
            </a:ln>
          </p:spPr>
        </p:sp>
        <p:sp>
          <p:nvSpPr>
            <p:cNvPr id="3" name="TextBox 3"/>
            <p:cNvSpPr txBox="1"/>
            <p:nvPr/>
          </p:nvSpPr>
          <p:spPr>
            <a:xfrm>
              <a:off x="576106" y="407194"/>
              <a:ext cx="2507294"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SVM 的理论基础</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期望风险算不出来，只好退而用经验风险</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6210948" cy="264033"/>
            <a:chOff x="526542" y="1545907"/>
            <a:chExt cx="6210948" cy="264033"/>
          </a:xfrm>
        </p:grpSpPr>
        <p:sp>
          <p:nvSpPr>
            <p:cNvPr id="7" name="TextBox 7"/>
            <p:cNvSpPr txBox="1"/>
            <p:nvPr/>
          </p:nvSpPr>
          <p:spPr>
            <a:xfrm>
              <a:off x="526542" y="1545907"/>
              <a:ext cx="6210948"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学习的目标是让模型在“将来的数据”上错得少，可这个量恰恰是算不出来的。</a:t>
              </a:r>
            </a:p>
          </p:txBody>
        </p:sp>
      </p:grpSp>
      <p:grpSp>
        <p:nvGrpSpPr>
          <p:cNvPr id="17" name="c1-card-1"/>
          <p:cNvGrpSpPr/>
          <p:nvPr/>
        </p:nvGrpSpPr>
        <p:grpSpPr>
          <a:xfrm>
            <a:off x="533400" y="1928812"/>
            <a:ext cx="5626418" cy="1849755"/>
            <a:chOff x="533400" y="1928812"/>
            <a:chExt cx="5626418" cy="1849755"/>
          </a:xfrm>
        </p:grpSpPr>
        <p:sp>
          <p:nvSpPr>
            <p:cNvPr id="9" name="Rectangle 9"/>
            <p:cNvSpPr/>
            <p:nvPr/>
          </p:nvSpPr>
          <p:spPr>
            <a:xfrm>
              <a:off x="533400" y="1928812"/>
              <a:ext cx="5626418" cy="1849755"/>
            </a:xfrm>
            <a:prstGeom prst="roundRect">
              <a:avLst>
                <a:gd name="adj" fmla="val 7209"/>
              </a:avLst>
            </a:prstGeom>
            <a:solidFill>
              <a:srgbClr val="FFFFFF"/>
            </a:solidFill>
            <a:ln w="14288">
              <a:solidFill>
                <a:srgbClr val="D9DFEA"/>
              </a:solidFill>
            </a:ln>
          </p:spPr>
        </p:sp>
        <p:sp>
          <p:nvSpPr>
            <p:cNvPr id="10" name="Rectangle 10"/>
            <p:cNvSpPr/>
            <p:nvPr/>
          </p:nvSpPr>
          <p:spPr>
            <a:xfrm>
              <a:off x="542925" y="2062162"/>
              <a:ext cx="47625" cy="1583055"/>
            </a:xfrm>
            <a:prstGeom prst="roundRect">
              <a:avLst>
                <a:gd name="adj" fmla="val 50000"/>
              </a:avLst>
            </a:prstGeom>
            <a:solidFill>
              <a:srgbClr val="0E7C86"/>
            </a:solidFill>
            <a:ln>
              <a:noFill/>
            </a:ln>
          </p:spPr>
        </p:sp>
        <p:sp>
          <p:nvSpPr>
            <p:cNvPr id="11" name="Rectangle 11"/>
            <p:cNvSpPr/>
            <p:nvPr/>
          </p:nvSpPr>
          <p:spPr>
            <a:xfrm>
              <a:off x="752475" y="2109788"/>
              <a:ext cx="707708" cy="238125"/>
            </a:xfrm>
            <a:prstGeom prst="roundRect">
              <a:avLst>
                <a:gd name="adj" fmla="val 50000"/>
              </a:avLst>
            </a:prstGeom>
            <a:solidFill>
              <a:srgbClr val="E2F3F4"/>
            </a:solidFill>
            <a:ln>
              <a:noFill/>
            </a:ln>
          </p:spPr>
        </p:sp>
        <p:sp>
          <p:nvSpPr>
            <p:cNvPr id="12" name="TextBox 12"/>
            <p:cNvSpPr txBox="1"/>
            <p:nvPr/>
          </p:nvSpPr>
          <p:spPr>
            <a:xfrm>
              <a:off x="837044" y="2142649"/>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期望风险</a:t>
              </a:r>
            </a:p>
          </p:txBody>
        </p:sp>
        <p:sp>
          <p:nvSpPr>
            <p:cNvPr id="13" name="TextBox 13"/>
            <p:cNvSpPr txBox="1"/>
            <p:nvPr/>
          </p:nvSpPr>
          <p:spPr>
            <a:xfrm>
              <a:off x="1568006" y="2149316"/>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我们真正想最小化的量</a:t>
              </a:r>
            </a:p>
          </p:txBody>
        </p:sp>
        <p:sp>
          <p:nvSpPr>
            <p:cNvPr id="14" name="TextBox 14"/>
            <p:cNvSpPr txBox="1"/>
            <p:nvPr/>
          </p:nvSpPr>
          <p:spPr>
            <a:xfrm>
              <a:off x="745998" y="2465546"/>
              <a:ext cx="488162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设最优分类器为 y = f(x, w)，损失函数 L(y, f(x, w))，则期望风</a:t>
              </a:r>
              <a:br/>
              <a:r>
                <a:rPr lang="zh-CN" sz="1280" dirty="0">
                  <a:solidFill>
                    <a:srgbClr val="1F2937"/>
                  </a:solidFill>
                  <a:latin typeface="+mn-lt"/>
                  <a:ea typeface="+mn-ea"/>
                  <a:cs typeface="+mn-cs"/>
                </a:rPr>
                <a:t>险是损失对真实分布 F(x, y) 的积分。</a:t>
              </a:r>
            </a:p>
          </p:txBody>
        </p:sp>
        <mc:AlternateContent xmlns:mc="http://schemas.openxmlformats.org/markup-compatibility/2006">
          <mc:Choice xmlns:a14="http://schemas.microsoft.com/office/drawing/2010/main" Requires="a14">
            <p:sp>
              <p:nvSpPr>
                <p:cNvPr id="15" name="formula13"/>
                <p:cNvSpPr txBox="1">
                  <a:spLocks noGrp="1"/>
                </p:cNvSpPr>
                <p:nvPr/>
              </p:nvSpPr>
              <p:spPr>
                <a:xfrm>
                  <a:off x="752475" y="2972752"/>
                  <a:ext cx="5226368"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420" dirty="0">
                            <a:solidFill>
                              <a:srgbClr val="1F2937"/>
                            </a:solidFill>
                            <a:latin typeface="Cambria Math"/>
                            <a:ea typeface="Cambria Math"/>
                            <a:cs typeface="Cambria Math"/>
                          </a:rPr>
                          <m:t>R</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e>
                        </m:d>
                        <m:r>
                          <m:rPr>
                            <m:sty m:val="p"/>
                          </m:rPr>
                          <a:rPr lang="zh-CN" sz="1420" dirty="0">
                            <a:solidFill>
                              <a:srgbClr val="1F2937"/>
                            </a:solidFill>
                            <a:latin typeface="Cambria Math"/>
                            <a:ea typeface="Cambria Math"/>
                            <a:cs typeface="Cambria Math"/>
                          </a:rPr>
                          <m:t>=</m:t>
                        </m:r>
                        <m:nary>
                          <m:naryPr>
                            <m:chr m:val="∫"/>
                            <m:limLoc m:val="subSup"/>
                            <m:grow m:val="off"/>
                            <m:subHide m:val="on"/>
                            <m:supHide m:val="on"/>
                            <m:ctrlPr>
                              <a:rPr lang="zh-CN" sz="1420" dirty="0">
                                <a:solidFill>
                                  <a:srgbClr val="1F2937"/>
                                </a:solidFill>
                                <a:latin typeface="Cambria Math"/>
                                <a:ea typeface="Cambria Math"/>
                                <a:cs typeface="Cambria Math"/>
                              </a:rPr>
                            </m:ctrlPr>
                          </m:naryPr>
                          <m:sub/>
                          <m:sup/>
                          <m:e>
                            <m:r>
                              <a:rPr lang="zh-CN" sz="1420" dirty="0">
                                <a:solidFill>
                                  <a:srgbClr val="1F2937"/>
                                </a:solidFill>
                                <a:latin typeface="Cambria Math"/>
                                <a:ea typeface="Cambria Math"/>
                                <a:cs typeface="Cambria Math"/>
                              </a:rPr>
                              <m:t>L</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y</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f</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x</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w</m:t>
                                    </m:r>
                                  </m:e>
                                </m:d>
                              </m:e>
                            </m:d>
                            <m:r>
                              <a:rPr lang="zh-CN" sz="1420" dirty="0">
                                <a:solidFill>
                                  <a:srgbClr val="1F2937"/>
                                </a:solidFill>
                                <a:latin typeface="Cambria Math"/>
                                <a:ea typeface="Cambria Math"/>
                                <a:cs typeface="Cambria Math"/>
                              </a:rPr>
                              <m:t xml:space="preserve"> </m:t>
                            </m:r>
                            <m:r>
                              <a:rPr lang="zh-CN" sz="1420" dirty="0">
                                <a:solidFill>
                                  <a:srgbClr val="1F2937"/>
                                </a:solidFill>
                                <a:latin typeface="Cambria Math"/>
                                <a:ea typeface="Cambria Math"/>
                                <a:cs typeface="Cambria Math"/>
                              </a:rPr>
                              <m:t>dF</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x</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y</m:t>
                                </m:r>
                              </m:e>
                            </m:d>
                          </m:e>
                        </m:nary>
                      </m:oMath>
                    </m:oMathPara>
                  </a14:m>
                </a:p>
              </p:txBody>
            </p:sp>
          </mc:Choice>
        </mc:AlternateContent>
        <p:sp>
          <p:nvSpPr>
            <p:cNvPr id="16" name="TextBox 16"/>
            <p:cNvSpPr txBox="1"/>
            <p:nvPr/>
          </p:nvSpPr>
          <p:spPr>
            <a:xfrm>
              <a:off x="747141" y="3432810"/>
              <a:ext cx="497702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分类问题常取 0/1 损失：判对记 0，判错记 1，这时 R(w) 就是“判错的概率”。</a:t>
              </a:r>
            </a:p>
          </p:txBody>
        </p:sp>
      </p:grpSp>
      <p:grpSp>
        <p:nvGrpSpPr>
          <p:cNvPr id="24" name="c1-card-2"/>
          <p:cNvGrpSpPr/>
          <p:nvPr/>
        </p:nvGrpSpPr>
        <p:grpSpPr>
          <a:xfrm>
            <a:off x="533400" y="3942398"/>
            <a:ext cx="5626418" cy="1428750"/>
            <a:chOff x="533400" y="3942398"/>
            <a:chExt cx="5626418" cy="1428750"/>
          </a:xfrm>
        </p:grpSpPr>
        <p:sp>
          <p:nvSpPr>
            <p:cNvPr id="18" name="Rectangle 18"/>
            <p:cNvSpPr/>
            <p:nvPr/>
          </p:nvSpPr>
          <p:spPr>
            <a:xfrm>
              <a:off x="533400" y="3942398"/>
              <a:ext cx="5626418" cy="1428750"/>
            </a:xfrm>
            <a:prstGeom prst="roundRect">
              <a:avLst>
                <a:gd name="adj" fmla="val 9333"/>
              </a:avLst>
            </a:prstGeom>
            <a:solidFill>
              <a:srgbClr val="FFFFFF"/>
            </a:solidFill>
            <a:ln w="14288">
              <a:solidFill>
                <a:srgbClr val="D9DFEA"/>
              </a:solidFill>
            </a:ln>
          </p:spPr>
        </p:sp>
        <p:sp>
          <p:nvSpPr>
            <p:cNvPr id="19" name="Rectangle 19"/>
            <p:cNvSpPr/>
            <p:nvPr/>
          </p:nvSpPr>
          <p:spPr>
            <a:xfrm>
              <a:off x="542925" y="4075748"/>
              <a:ext cx="47625" cy="1162050"/>
            </a:xfrm>
            <a:prstGeom prst="roundRect">
              <a:avLst>
                <a:gd name="adj" fmla="val 50000"/>
              </a:avLst>
            </a:prstGeom>
            <a:solidFill>
              <a:srgbClr val="B42318"/>
            </a:solidFill>
            <a:ln>
              <a:noFill/>
            </a:ln>
          </p:spPr>
        </p:sp>
        <p:sp>
          <p:nvSpPr>
            <p:cNvPr id="20" name="Rectangle 20"/>
            <p:cNvSpPr/>
            <p:nvPr/>
          </p:nvSpPr>
          <p:spPr>
            <a:xfrm>
              <a:off x="752475" y="4123372"/>
              <a:ext cx="458152" cy="238125"/>
            </a:xfrm>
            <a:prstGeom prst="roundRect">
              <a:avLst>
                <a:gd name="adj" fmla="val 50000"/>
              </a:avLst>
            </a:prstGeom>
            <a:solidFill>
              <a:srgbClr val="FDECEA"/>
            </a:solidFill>
            <a:ln>
              <a:noFill/>
            </a:ln>
          </p:spPr>
        </p:sp>
        <p:sp>
          <p:nvSpPr>
            <p:cNvPr id="21" name="TextBox 21"/>
            <p:cNvSpPr txBox="1"/>
            <p:nvPr/>
          </p:nvSpPr>
          <p:spPr>
            <a:xfrm>
              <a:off x="845147" y="4156234"/>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困难</a:t>
              </a:r>
            </a:p>
          </p:txBody>
        </p:sp>
        <p:sp>
          <p:nvSpPr>
            <p:cNvPr id="22" name="TextBox 22"/>
            <p:cNvSpPr txBox="1"/>
            <p:nvPr/>
          </p:nvSpPr>
          <p:spPr>
            <a:xfrm>
              <a:off x="1318450" y="4163854"/>
              <a:ext cx="124883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F(x, y) 不可知</a:t>
              </a:r>
            </a:p>
          </p:txBody>
        </p:sp>
        <p:sp>
          <p:nvSpPr>
            <p:cNvPr id="23" name="TextBox 23"/>
            <p:cNvSpPr txBox="1"/>
            <p:nvPr/>
          </p:nvSpPr>
          <p:spPr>
            <a:xfrm>
              <a:off x="745998" y="4480084"/>
              <a:ext cx="4914138"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真实的联合分布拿不到，积分也就算不出来。只能用手上 N 个观测样</a:t>
              </a:r>
              <a:br/>
              <a:r>
                <a:rPr lang="zh-CN" sz="1280" dirty="0">
                  <a:solidFill>
                    <a:srgbClr val="1F2937"/>
                  </a:solidFill>
                  <a:latin typeface="+mn-lt"/>
                  <a:ea typeface="+mn-ea"/>
                  <a:cs typeface="+mn-cs"/>
                </a:rPr>
                <a:t>本去估计，这一步的依据是大数定律。</a:t>
              </a:r>
            </a:p>
          </p:txBody>
        </p:sp>
      </p:grpSp>
      <p:grpSp>
        <p:nvGrpSpPr>
          <p:cNvPr id="32" name="c2-card-1"/>
          <p:cNvGrpSpPr/>
          <p:nvPr/>
        </p:nvGrpSpPr>
        <p:grpSpPr>
          <a:xfrm>
            <a:off x="6464618" y="1928812"/>
            <a:ext cx="5193982" cy="1874520"/>
            <a:chOff x="6464618" y="1928812"/>
            <a:chExt cx="5193982" cy="1874520"/>
          </a:xfrm>
        </p:grpSpPr>
        <p:sp>
          <p:nvSpPr>
            <p:cNvPr id="25" name="Rectangle 25"/>
            <p:cNvSpPr/>
            <p:nvPr/>
          </p:nvSpPr>
          <p:spPr>
            <a:xfrm>
              <a:off x="6464618" y="1928812"/>
              <a:ext cx="5193982" cy="1874520"/>
            </a:xfrm>
            <a:prstGeom prst="roundRect">
              <a:avLst>
                <a:gd name="adj" fmla="val 7114"/>
              </a:avLst>
            </a:prstGeom>
            <a:solidFill>
              <a:srgbClr val="FFFFFF"/>
            </a:solidFill>
            <a:ln w="14288">
              <a:solidFill>
                <a:srgbClr val="D9DFEA"/>
              </a:solidFill>
            </a:ln>
          </p:spPr>
        </p:sp>
        <p:sp>
          <p:nvSpPr>
            <p:cNvPr id="26" name="Rectangle 26"/>
            <p:cNvSpPr/>
            <p:nvPr/>
          </p:nvSpPr>
          <p:spPr>
            <a:xfrm>
              <a:off x="6474142" y="2062162"/>
              <a:ext cx="47625" cy="1607820"/>
            </a:xfrm>
            <a:prstGeom prst="roundRect">
              <a:avLst>
                <a:gd name="adj" fmla="val 50000"/>
              </a:avLst>
            </a:prstGeom>
            <a:solidFill>
              <a:srgbClr val="0E7C86"/>
            </a:solidFill>
            <a:ln>
              <a:noFill/>
            </a:ln>
          </p:spPr>
        </p:sp>
        <p:sp>
          <p:nvSpPr>
            <p:cNvPr id="27" name="Rectangle 27"/>
            <p:cNvSpPr/>
            <p:nvPr/>
          </p:nvSpPr>
          <p:spPr>
            <a:xfrm>
              <a:off x="6683692" y="2109788"/>
              <a:ext cx="707708" cy="238125"/>
            </a:xfrm>
            <a:prstGeom prst="roundRect">
              <a:avLst>
                <a:gd name="adj" fmla="val 50000"/>
              </a:avLst>
            </a:prstGeom>
            <a:solidFill>
              <a:srgbClr val="E2F3F4"/>
            </a:solidFill>
            <a:ln>
              <a:noFill/>
            </a:ln>
          </p:spPr>
        </p:sp>
        <p:sp>
          <p:nvSpPr>
            <p:cNvPr id="28" name="TextBox 28"/>
            <p:cNvSpPr txBox="1"/>
            <p:nvPr/>
          </p:nvSpPr>
          <p:spPr>
            <a:xfrm>
              <a:off x="6769214" y="2142649"/>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经验风险</a:t>
              </a:r>
            </a:p>
          </p:txBody>
        </p:sp>
        <p:sp>
          <p:nvSpPr>
            <p:cNvPr id="29" name="TextBox 29"/>
            <p:cNvSpPr txBox="1"/>
            <p:nvPr/>
          </p:nvSpPr>
          <p:spPr>
            <a:xfrm>
              <a:off x="7499223" y="2149316"/>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用样本平均代替积分</a:t>
              </a:r>
            </a:p>
          </p:txBody>
        </p:sp>
        <mc:AlternateContent xmlns:mc="http://schemas.openxmlformats.org/markup-compatibility/2006">
          <mc:Choice xmlns:a14="http://schemas.microsoft.com/office/drawing/2010/main" Requires="a14">
            <p:sp>
              <p:nvSpPr>
                <p:cNvPr id="30" name="formula14"/>
                <p:cNvSpPr txBox="1">
                  <a:spLocks noGrp="1"/>
                </p:cNvSpPr>
                <p:nvPr/>
              </p:nvSpPr>
              <p:spPr>
                <a:xfrm>
                  <a:off x="6683692" y="2445068"/>
                  <a:ext cx="4793932" cy="63341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420" dirty="0">
                                <a:solidFill>
                                  <a:srgbClr val="1F2937"/>
                                </a:solidFill>
                                <a:latin typeface="Cambria Math"/>
                                <a:ea typeface="Cambria Math"/>
                                <a:cs typeface="Cambria Math"/>
                              </a:rPr>
                              <m:t>R</m:t>
                            </m:r>
                          </m:e>
                          <m:sub>
                            <m:r>
                              <m:rPr>
                                <m:sty m:val="p"/>
                              </m:rPr>
                              <a:rPr lang="zh-CN" sz="1420" dirty="0">
                                <a:solidFill>
                                  <a:srgbClr val="1F2937"/>
                                </a:solidFill>
                                <a:latin typeface="Cambria Math"/>
                                <a:ea typeface="Cambria Math"/>
                                <a:cs typeface="Cambria Math"/>
                              </a:rPr>
                              <m:t>emp</m:t>
                            </m:r>
                          </m:sub>
                        </m:sSub>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e>
                        </m:d>
                        <m:r>
                          <m:rPr>
                            <m:sty m:val="p"/>
                          </m:rPr>
                          <a:rPr lang="zh-CN" sz="1420" dirty="0">
                            <a:solidFill>
                              <a:srgbClr val="1F2937"/>
                            </a:solidFill>
                            <a:latin typeface="Cambria Math"/>
                            <a:ea typeface="Cambria Math"/>
                            <a:cs typeface="Cambria Math"/>
                          </a:rPr>
                          <m:t>=</m:t>
                        </m:r>
                        <m:f>
                          <m:fPr>
                            <m:type m:val="bar"/>
                            <m:ctrlPr>
                              <a:rPr lang="zh-CN" sz="1420" dirty="0">
                                <a:solidFill>
                                  <a:srgbClr val="1F2937"/>
                                </a:solidFill>
                                <a:latin typeface="Cambria Math"/>
                                <a:ea typeface="Cambria Math"/>
                                <a:cs typeface="Cambria Math"/>
                              </a:rPr>
                            </m:ctrlPr>
                          </m:fPr>
                          <m:num>
                            <m:r>
                              <a:rPr lang="zh-CN" sz="1420" dirty="0">
                                <a:solidFill>
                                  <a:srgbClr val="1F2937"/>
                                </a:solidFill>
                                <a:latin typeface="Cambria Math"/>
                                <a:ea typeface="Cambria Math"/>
                                <a:cs typeface="Cambria Math"/>
                              </a:rPr>
                              <m:t>1</m:t>
                            </m:r>
                          </m:num>
                          <m:den>
                            <m:r>
                              <a:rPr lang="zh-CN" sz="1420" dirty="0">
                                <a:solidFill>
                                  <a:srgbClr val="1F2937"/>
                                </a:solidFill>
                                <a:latin typeface="Cambria Math"/>
                                <a:ea typeface="Cambria Math"/>
                                <a:cs typeface="Cambria Math"/>
                              </a:rPr>
                              <m:t>N</m:t>
                            </m:r>
                          </m:den>
                        </m:f>
                        <m:nary>
                          <m:naryPr>
                            <m:chr m:val="∑"/>
                            <m:limLoc m:val="undOvr"/>
                            <m:grow m:val="off"/>
                            <m:subHide m:val="off"/>
                            <m:supHide m:val="off"/>
                            <m:ctrlPr>
                              <a:rPr lang="zh-CN" sz="1420" dirty="0">
                                <a:solidFill>
                                  <a:srgbClr val="1F2937"/>
                                </a:solidFill>
                                <a:latin typeface="Cambria Math"/>
                                <a:ea typeface="Cambria Math"/>
                                <a:cs typeface="Cambria Math"/>
                              </a:rPr>
                            </m:ctrlPr>
                          </m:naryPr>
                          <m:sub>
                            <m:r>
                              <a:rPr lang="zh-CN" sz="1420" dirty="0">
                                <a:solidFill>
                                  <a:srgbClr val="1F2937"/>
                                </a:solidFill>
                                <a:latin typeface="Cambria Math"/>
                                <a:ea typeface="Cambria Math"/>
                                <a:cs typeface="Cambria Math"/>
                              </a:rPr>
                              <m:t>i</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1</m:t>
                            </m:r>
                          </m:sub>
                          <m:sup>
                            <m:r>
                              <a:rPr lang="zh-CN" sz="1420" dirty="0">
                                <a:solidFill>
                                  <a:srgbClr val="1F2937"/>
                                </a:solidFill>
                                <a:latin typeface="Cambria Math"/>
                                <a:ea typeface="Cambria Math"/>
                                <a:cs typeface="Cambria Math"/>
                              </a:rPr>
                              <m:t>N</m:t>
                            </m:r>
                          </m:sup>
                          <m:e>
                            <m:r>
                              <a:rPr lang="zh-CN" sz="1420" dirty="0">
                                <a:solidFill>
                                  <a:srgbClr val="1F2937"/>
                                </a:solidFill>
                                <a:latin typeface="Cambria Math"/>
                                <a:ea typeface="Cambria Math"/>
                                <a:cs typeface="Cambria Math"/>
                              </a:rPr>
                              <m:t>L</m:t>
                            </m:r>
                            <m:d>
                              <m:dPr>
                                <m:begChr m:val="("/>
                                <m:sepChr m:val=""/>
                                <m:endChr m:val=")"/>
                                <m:grow m:val="on"/>
                                <m:ctrlPr>
                                  <a:rPr lang="zh-CN" sz="1420" dirty="0">
                                    <a:solidFill>
                                      <a:srgbClr val="1F2937"/>
                                    </a:solidFill>
                                    <a:latin typeface="Cambria Math"/>
                                    <a:ea typeface="Cambria Math"/>
                                    <a:cs typeface="Cambria Math"/>
                                  </a:rPr>
                                </m:ctrlPr>
                              </m:dPr>
                              <m:e>
                                <m:sSub>
                                  <m:e>
                                    <m:r>
                                      <a:rPr lang="zh-CN" sz="1420" dirty="0">
                                        <a:solidFill>
                                          <a:srgbClr val="1F2937"/>
                                        </a:solidFill>
                                        <a:latin typeface="Cambria Math"/>
                                        <a:ea typeface="Cambria Math"/>
                                        <a:cs typeface="Cambria Math"/>
                                      </a:rPr>
                                      <m:t>y</m:t>
                                    </m:r>
                                  </m:e>
                                  <m:sub>
                                    <m:r>
                                      <a:rPr lang="zh-CN" sz="1420" dirty="0">
                                        <a:solidFill>
                                          <a:srgbClr val="1F2937"/>
                                        </a:solidFill>
                                        <a:latin typeface="Cambria Math"/>
                                        <a:ea typeface="Cambria Math"/>
                                        <a:cs typeface="Cambria Math"/>
                                      </a:rPr>
                                      <m:t>i</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f</m:t>
                                </m:r>
                                <m:d>
                                  <m:dPr>
                                    <m:begChr m:val="("/>
                                    <m:sepChr m:val=""/>
                                    <m:endChr m:val=")"/>
                                    <m:grow m:val="on"/>
                                    <m:ctrlPr>
                                      <a:rPr lang="zh-CN" sz="1420" dirty="0">
                                        <a:solidFill>
                                          <a:srgbClr val="1F2937"/>
                                        </a:solidFill>
                                        <a:latin typeface="Cambria Math"/>
                                        <a:ea typeface="Cambria Math"/>
                                        <a:cs typeface="Cambria Math"/>
                                      </a:rPr>
                                    </m:ctrlPr>
                                  </m:dPr>
                                  <m:e>
                                    <m:sSub>
                                      <m:e>
                                        <m:r>
                                          <a:rPr lang="zh-CN" sz="1420" dirty="0">
                                            <a:solidFill>
                                              <a:srgbClr val="1F2937"/>
                                            </a:solidFill>
                                            <a:latin typeface="Cambria Math"/>
                                            <a:ea typeface="Cambria Math"/>
                                            <a:cs typeface="Cambria Math"/>
                                          </a:rPr>
                                          <m:t>x</m:t>
                                        </m:r>
                                      </m:e>
                                      <m:sub>
                                        <m:r>
                                          <a:rPr lang="zh-CN" sz="1420" dirty="0">
                                            <a:solidFill>
                                              <a:srgbClr val="1F2937"/>
                                            </a:solidFill>
                                            <a:latin typeface="Cambria Math"/>
                                            <a:ea typeface="Cambria Math"/>
                                            <a:cs typeface="Cambria Math"/>
                                          </a:rPr>
                                          <m:t>i</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w</m:t>
                                    </m:r>
                                  </m:e>
                                </m:d>
                              </m:e>
                            </m:d>
                          </m:e>
                        </m:nary>
                      </m:oMath>
                    </m:oMathPara>
                  </a14:m>
                </a:p>
              </p:txBody>
            </p:sp>
          </mc:Choice>
        </mc:AlternateContent>
        <p:sp>
          <p:nvSpPr>
            <p:cNvPr id="31" name="TextBox 31"/>
            <p:cNvSpPr txBox="1"/>
            <p:nvPr/>
          </p:nvSpPr>
          <p:spPr>
            <a:xfrm>
              <a:off x="6677216" y="3179921"/>
              <a:ext cx="44914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取 0/1 损失时，N·R_emp 就是训练集上判错的样本数，R_emp</a:t>
              </a:r>
              <a:br/>
              <a:r>
                <a:rPr lang="zh-CN" sz="1280" dirty="0">
                  <a:solidFill>
                    <a:srgbClr val="1F2937"/>
                  </a:solidFill>
                  <a:latin typeface="+mn-lt"/>
                  <a:ea typeface="+mn-ea"/>
                  <a:cs typeface="+mn-cs"/>
                </a:rPr>
                <a:t>就是训练错误率。</a:t>
              </a:r>
            </a:p>
          </p:txBody>
        </p:sp>
      </p:grpSp>
      <p:grpSp>
        <p:nvGrpSpPr>
          <p:cNvPr id="39" name="c2-card-2"/>
          <p:cNvGrpSpPr/>
          <p:nvPr/>
        </p:nvGrpSpPr>
        <p:grpSpPr>
          <a:xfrm>
            <a:off x="6464618" y="3968115"/>
            <a:ext cx="5193982" cy="1403032"/>
            <a:chOff x="6464618" y="3968115"/>
            <a:chExt cx="5193982" cy="1403032"/>
          </a:xfrm>
        </p:grpSpPr>
        <p:sp>
          <p:nvSpPr>
            <p:cNvPr id="33" name="Rectangle 33"/>
            <p:cNvSpPr/>
            <p:nvPr/>
          </p:nvSpPr>
          <p:spPr>
            <a:xfrm>
              <a:off x="6464618" y="3968115"/>
              <a:ext cx="5193982" cy="1403032"/>
            </a:xfrm>
            <a:prstGeom prst="roundRect">
              <a:avLst>
                <a:gd name="adj" fmla="val 9504"/>
              </a:avLst>
            </a:prstGeom>
            <a:solidFill>
              <a:srgbClr val="FFFFFF"/>
            </a:solidFill>
            <a:ln w="14288">
              <a:solidFill>
                <a:srgbClr val="D9DFEA"/>
              </a:solidFill>
            </a:ln>
          </p:spPr>
        </p:sp>
        <p:sp>
          <p:nvSpPr>
            <p:cNvPr id="34" name="Rectangle 34"/>
            <p:cNvSpPr/>
            <p:nvPr/>
          </p:nvSpPr>
          <p:spPr>
            <a:xfrm>
              <a:off x="6474142" y="4101465"/>
              <a:ext cx="47625" cy="1136332"/>
            </a:xfrm>
            <a:prstGeom prst="roundRect">
              <a:avLst>
                <a:gd name="adj" fmla="val 50000"/>
              </a:avLst>
            </a:prstGeom>
            <a:solidFill>
              <a:srgbClr val="5B6475"/>
            </a:solidFill>
            <a:ln>
              <a:noFill/>
            </a:ln>
          </p:spPr>
        </p:sp>
        <p:sp>
          <p:nvSpPr>
            <p:cNvPr id="35" name="Rectangle 35"/>
            <p:cNvSpPr/>
            <p:nvPr/>
          </p:nvSpPr>
          <p:spPr>
            <a:xfrm>
              <a:off x="6683692" y="4149090"/>
              <a:ext cx="458152" cy="238125"/>
            </a:xfrm>
            <a:prstGeom prst="roundRect">
              <a:avLst>
                <a:gd name="adj" fmla="val 50000"/>
              </a:avLst>
            </a:prstGeom>
            <a:solidFill>
              <a:srgbClr val="F4F6FB"/>
            </a:solidFill>
            <a:ln>
              <a:noFill/>
            </a:ln>
          </p:spPr>
        </p:sp>
        <p:sp>
          <p:nvSpPr>
            <p:cNvPr id="36" name="TextBox 36"/>
            <p:cNvSpPr txBox="1"/>
            <p:nvPr/>
          </p:nvSpPr>
          <p:spPr>
            <a:xfrm>
              <a:off x="6776364" y="4181951"/>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37" name="TextBox 37"/>
            <p:cNvSpPr txBox="1"/>
            <p:nvPr/>
          </p:nvSpPr>
          <p:spPr>
            <a:xfrm>
              <a:off x="7250620" y="4188619"/>
              <a:ext cx="124730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原课件漏了 1/N</a:t>
              </a:r>
            </a:p>
          </p:txBody>
        </p:sp>
        <p:sp>
          <p:nvSpPr>
            <p:cNvPr id="38" name="TextBox 38"/>
            <p:cNvSpPr txBox="1"/>
            <p:nvPr/>
          </p:nvSpPr>
          <p:spPr>
            <a:xfrm>
              <a:off x="6677216" y="4505801"/>
              <a:ext cx="4613402"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B 版第 8 页写 R_emp(w) = Σᵢ L(yᵢ, f(xᵢ,w))，同一份课件第</a:t>
              </a:r>
              <a:br/>
              <a:r>
                <a:rPr lang="zh-CN" sz="1280" dirty="0">
                  <a:solidFill>
                    <a:srgbClr val="1F2937"/>
                  </a:solidFill>
                  <a:latin typeface="+mn-lt"/>
                  <a:ea typeface="+mn-ea"/>
                  <a:cs typeface="+mn-cs"/>
                </a:rPr>
                <a:t>85 页又写成 (1/n)Σ。经验风险是</a:t>
              </a:r>
              <a:r>
                <a:rPr lang="zh-CN" sz="1280" b="1" dirty="0">
                  <a:solidFill>
                    <a:srgbClr val="C2410C"/>
                  </a:solidFill>
                  <a:latin typeface="+mn-lt"/>
                  <a:ea typeface="+mn-ea"/>
                  <a:cs typeface="+mn-cs"/>
                </a:rPr>
                <a:t>平均</a:t>
              </a:r>
              <a:r>
                <a:rPr lang="zh-CN" sz="1280" dirty="0">
                  <a:solidFill>
                    <a:srgbClr val="1F2937"/>
                  </a:solidFill>
                  <a:latin typeface="+mn-lt"/>
                  <a:ea typeface="+mn-ea"/>
                  <a:cs typeface="+mn-cs"/>
                </a:rPr>
                <a:t>损失，必须带 1/N，否则</a:t>
              </a:r>
              <a:br/>
              <a:r>
                <a:rPr lang="zh-CN" sz="1280" dirty="0">
                  <a:solidFill>
                    <a:srgbClr val="1F2937"/>
                  </a:solidFill>
                  <a:latin typeface="+mn-lt"/>
                  <a:ea typeface="+mn-ea"/>
                  <a:cs typeface="+mn-cs"/>
                </a:rPr>
                <a:t>它会随样本数增大而无限增大，和期望风险不在一个量纲上。</a:t>
              </a:r>
            </a:p>
          </p:txBody>
        </p:sp>
      </p:grpSp>
      <p:grpSp>
        <p:nvGrpSpPr>
          <p:cNvPr id="45" name="takeaway"/>
          <p:cNvGrpSpPr/>
          <p:nvPr/>
        </p:nvGrpSpPr>
        <p:grpSpPr>
          <a:xfrm>
            <a:off x="533400" y="5895022"/>
            <a:ext cx="11125200" cy="467678"/>
            <a:chOff x="533400" y="5895022"/>
            <a:chExt cx="11125200" cy="467678"/>
          </a:xfrm>
        </p:grpSpPr>
        <p:sp>
          <p:nvSpPr>
            <p:cNvPr id="40" name="Rectangle 40"/>
            <p:cNvSpPr/>
            <p:nvPr/>
          </p:nvSpPr>
          <p:spPr>
            <a:xfrm>
              <a:off x="533400" y="5895022"/>
              <a:ext cx="11125200" cy="467678"/>
            </a:xfrm>
            <a:prstGeom prst="roundRect">
              <a:avLst>
                <a:gd name="adj" fmla="val 24440"/>
              </a:avLst>
            </a:prstGeom>
            <a:solidFill>
              <a:srgbClr val="0E7C86"/>
            </a:solidFill>
            <a:ln>
              <a:noFill/>
            </a:ln>
          </p:spPr>
        </p:sp>
        <p:grpSp>
          <p:nvGrpSpPr>
            <p:cNvPr id="43" name="Group 43"/>
            <p:cNvGrpSpPr/>
            <p:nvPr/>
          </p:nvGrpSpPr>
          <p:grpSpPr>
            <a:xfrm>
              <a:off x="738188" y="6028375"/>
              <a:ext cx="200023" cy="200023"/>
              <a:chOff x="738188" y="6028375"/>
              <a:chExt cx="200023" cy="200023"/>
            </a:xfrm>
          </p:grpSpPr>
          <p:sp>
            <p:nvSpPr>
              <p:cNvPr id="41" name="Freeform 41"/>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2" name="Freeform 42"/>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4" name="TextBox 44"/>
            <p:cNvSpPr txBox="1"/>
            <p:nvPr/>
          </p:nvSpPr>
          <p:spPr>
            <a:xfrm>
              <a:off x="1041273" y="6039326"/>
              <a:ext cx="7938770"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用 R_emp 代替 R 叫经验风险最小化（ERM）。它只在 N → ∞ 时才有理论保证，而实际的 N 总是有限的。</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7" name="TextBox 4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54625" cy="909257"/>
            <a:chOff x="520446" y="342900"/>
            <a:chExt cx="6854625" cy="909257"/>
          </a:xfrm>
        </p:grpSpPr>
        <p:sp>
          <p:nvSpPr>
            <p:cNvPr id="2" name="Rectangle 2"/>
            <p:cNvSpPr/>
            <p:nvPr/>
          </p:nvSpPr>
          <p:spPr>
            <a:xfrm>
              <a:off x="533400" y="342900"/>
              <a:ext cx="2593658" cy="266700"/>
            </a:xfrm>
            <a:prstGeom prst="roundRect">
              <a:avLst>
                <a:gd name="adj" fmla="val 50000"/>
              </a:avLst>
            </a:prstGeom>
            <a:solidFill>
              <a:srgbClr val="E2F3F4"/>
            </a:solidFill>
            <a:ln>
              <a:noFill/>
            </a:ln>
          </p:spPr>
        </p:sp>
        <p:sp>
          <p:nvSpPr>
            <p:cNvPr id="3" name="TextBox 3"/>
            <p:cNvSpPr txBox="1"/>
            <p:nvPr/>
          </p:nvSpPr>
          <p:spPr>
            <a:xfrm>
              <a:off x="576106" y="407194"/>
              <a:ext cx="2507294"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SVM 的理论基础</a:t>
              </a:r>
            </a:p>
          </p:txBody>
        </p:sp>
        <p:sp>
          <p:nvSpPr>
            <p:cNvPr id="4" name="TextBox 4"/>
            <p:cNvSpPr txBox="1"/>
            <p:nvPr/>
          </p:nvSpPr>
          <p:spPr>
            <a:xfrm>
              <a:off x="520446" y="753428"/>
              <a:ext cx="685462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只盯训练误差：一条正弦曲线就能把它压到 0</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4977765" cy="2338388"/>
            <a:chOff x="533400" y="1524000"/>
            <a:chExt cx="4977765" cy="2338388"/>
          </a:xfrm>
        </p:grpSpPr>
        <p:sp>
          <p:nvSpPr>
            <p:cNvPr id="7" name="Rectangle 7"/>
            <p:cNvSpPr/>
            <p:nvPr/>
          </p:nvSpPr>
          <p:spPr>
            <a:xfrm>
              <a:off x="533400" y="1524000"/>
              <a:ext cx="4977765" cy="2338388"/>
            </a:xfrm>
            <a:prstGeom prst="roundRect">
              <a:avLst>
                <a:gd name="adj" fmla="val 5703"/>
              </a:avLst>
            </a:prstGeom>
            <a:solidFill>
              <a:srgbClr val="FFFFFF"/>
            </a:solidFill>
            <a:ln w="14288">
              <a:solidFill>
                <a:srgbClr val="D9DFEA"/>
              </a:solidFill>
            </a:ln>
          </p:spPr>
        </p:sp>
        <p:sp>
          <p:nvSpPr>
            <p:cNvPr id="8" name="Rectangle 8"/>
            <p:cNvSpPr/>
            <p:nvPr/>
          </p:nvSpPr>
          <p:spPr>
            <a:xfrm>
              <a:off x="542925" y="1657350"/>
              <a:ext cx="47625" cy="2071688"/>
            </a:xfrm>
            <a:prstGeom prst="roundRect">
              <a:avLst>
                <a:gd name="adj" fmla="val 50000"/>
              </a:avLst>
            </a:prstGeom>
            <a:solidFill>
              <a:srgbClr val="14A38B"/>
            </a:solidFill>
            <a:ln>
              <a:noFill/>
            </a:ln>
          </p:spPr>
        </p:sp>
        <p:sp>
          <p:nvSpPr>
            <p:cNvPr id="9" name="Rectangle 9"/>
            <p:cNvSpPr/>
            <p:nvPr/>
          </p:nvSpPr>
          <p:spPr>
            <a:xfrm>
              <a:off x="775335" y="1727835"/>
              <a:ext cx="494348" cy="257175"/>
            </a:xfrm>
            <a:prstGeom prst="roundRect">
              <a:avLst>
                <a:gd name="adj" fmla="val 50000"/>
              </a:avLst>
            </a:prstGeom>
            <a:solidFill>
              <a:srgbClr val="E3F5F1"/>
            </a:solidFill>
            <a:ln>
              <a:noFill/>
            </a:ln>
          </p:spPr>
        </p:sp>
        <p:sp>
          <p:nvSpPr>
            <p:cNvPr id="10" name="TextBox 10"/>
            <p:cNvSpPr txBox="1"/>
            <p:nvPr/>
          </p:nvSpPr>
          <p:spPr>
            <a:xfrm>
              <a:off x="865543" y="176355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例子</a:t>
              </a:r>
            </a:p>
          </p:txBody>
        </p:sp>
        <p:sp>
          <p:nvSpPr>
            <p:cNvPr id="11" name="TextBox 11"/>
            <p:cNvSpPr txBox="1"/>
            <p:nvPr/>
          </p:nvSpPr>
          <p:spPr>
            <a:xfrm>
              <a:off x="1376744" y="1767364"/>
              <a:ext cx="2687378"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用 y = sin(w·x) 拟合任意数据</a:t>
              </a:r>
            </a:p>
          </p:txBody>
        </p:sp>
        <p:sp>
          <p:nvSpPr>
            <p:cNvPr id="12" name="TextBox 12"/>
            <p:cNvSpPr txBox="1"/>
            <p:nvPr/>
          </p:nvSpPr>
          <p:spPr>
            <a:xfrm>
              <a:off x="768096" y="2119789"/>
              <a:ext cx="4252468"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取一组形如 (x, y) 的训练样本，x 分布在实数范围</a:t>
              </a:r>
              <a:br/>
              <a:r>
                <a:rPr lang="zh-CN" sz="1420" dirty="0">
                  <a:solidFill>
                    <a:srgbClr val="1F2937"/>
                  </a:solidFill>
                  <a:latin typeface="+mn-lt"/>
                  <a:ea typeface="+mn-ea"/>
                  <a:cs typeface="+mn-cs"/>
                </a:rPr>
                <a:t>内，y 取值在 [0, 1] 之间。无论这些样本由什么模型</a:t>
              </a:r>
              <a:br/>
              <a:r>
                <a:rPr lang="zh-CN" sz="1420" dirty="0">
                  <a:solidFill>
                    <a:srgbClr val="1F2937"/>
                  </a:solidFill>
                  <a:latin typeface="+mn-lt"/>
                  <a:ea typeface="+mn-ea"/>
                  <a:cs typeface="+mn-cs"/>
                </a:rPr>
                <a:t>产生，总能挑一个足够大的频率 w，让 y = sin(w·x)</a:t>
              </a:r>
              <a:br/>
              <a:r>
                <a:rPr lang="zh-CN" sz="1420" dirty="0">
                  <a:solidFill>
                    <a:srgbClr val="1F2937"/>
                  </a:solidFill>
                  <a:latin typeface="+mn-lt"/>
                  <a:ea typeface="+mn-ea"/>
                  <a:cs typeface="+mn-cs"/>
                </a:rPr>
                <a:t>穿过每一个样本点，训练误差为 0。</a:t>
              </a:r>
            </a:p>
          </p:txBody>
        </p:sp>
        <p:sp>
          <p:nvSpPr>
            <p:cNvPr id="13" name="TextBox 13"/>
            <p:cNvSpPr txBox="1"/>
            <p:nvPr/>
          </p:nvSpPr>
          <p:spPr>
            <a:xfrm>
              <a:off x="769239" y="3249930"/>
              <a:ext cx="430225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x ∈ (−100 : 1 : 100) 时，只要 w 足够大，曲线在相邻两个整数</a:t>
              </a:r>
              <a:br/>
              <a:r>
                <a:rPr lang="zh-CN" sz="1200" dirty="0">
                  <a:solidFill>
                    <a:srgbClr val="5B6475"/>
                  </a:solidFill>
                  <a:latin typeface="+mn-lt"/>
                  <a:ea typeface="+mn-ea"/>
                  <a:cs typeface="+mn-cs"/>
                </a:rPr>
                <a:t>之间就能上下走完一整个周期，想穿哪儿穿哪儿。</a:t>
              </a:r>
            </a:p>
          </p:txBody>
        </p:sp>
      </p:grpSp>
      <p:grpSp>
        <p:nvGrpSpPr>
          <p:cNvPr id="20" name="c1-kv-2"/>
          <p:cNvGrpSpPr/>
          <p:nvPr/>
        </p:nvGrpSpPr>
        <p:grpSpPr>
          <a:xfrm>
            <a:off x="526161" y="4071461"/>
            <a:ext cx="4985004" cy="1235964"/>
            <a:chOff x="526161" y="4071461"/>
            <a:chExt cx="4985004" cy="1235964"/>
          </a:xfrm>
        </p:grpSpPr>
        <p:sp>
          <p:nvSpPr>
            <p:cNvPr id="15" name="TextBox 15"/>
            <p:cNvSpPr txBox="1"/>
            <p:nvPr/>
          </p:nvSpPr>
          <p:spPr>
            <a:xfrm>
              <a:off x="526161" y="4071461"/>
              <a:ext cx="779120" cy="278702"/>
            </a:xfrm>
            <a:prstGeom prst="rect">
              <a:avLst/>
            </a:prstGeom>
            <a:noFill/>
            <a:ln>
              <a:noFill/>
            </a:ln>
          </p:spPr>
          <p:txBody>
            <a:bodyPr wrap="none" lIns="0" tIns="0" rIns="0" bIns="0" anchor="t" anchorCtr="0">
              <a:spAutoFit/>
            </a:bodyPr>
            <a:lstStyle/>
            <a:p>
              <a:pPr algn="l"/>
              <a:r>
                <a:rPr lang="zh-CN" sz="1420" b="1" dirty="0">
                  <a:solidFill>
                    <a:srgbClr val="0E7C86"/>
                  </a:solidFill>
                  <a:latin typeface="+mn-lt"/>
                  <a:ea typeface="+mn-ea"/>
                  <a:cs typeface="+mn-cs"/>
                </a:rPr>
                <a:t>推广能力</a:t>
              </a:r>
            </a:p>
          </p:txBody>
        </p:sp>
        <p:sp>
          <p:nvSpPr>
            <p:cNvPr id="16" name="TextBox 16"/>
            <p:cNvSpPr txBox="1"/>
            <p:nvPr/>
          </p:nvSpPr>
          <p:spPr>
            <a:xfrm>
              <a:off x="1712976" y="4071461"/>
              <a:ext cx="344093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模型对未来输入做出正确预测的能力，也叫</a:t>
              </a:r>
              <a:br/>
              <a:r>
                <a:rPr lang="zh-CN" sz="1420" dirty="0">
                  <a:solidFill>
                    <a:srgbClr val="1F2937"/>
                  </a:solidFill>
                  <a:latin typeface="+mn-lt"/>
                  <a:ea typeface="+mn-ea"/>
                  <a:cs typeface="+mn-cs"/>
                </a:rPr>
                <a:t>泛化能力</a:t>
              </a:r>
            </a:p>
          </p:txBody>
        </p:sp>
        <p:sp>
          <p:nvSpPr>
            <p:cNvPr id="17" name="Rectangle 17"/>
            <p:cNvSpPr/>
            <p:nvPr/>
          </p:nvSpPr>
          <p:spPr>
            <a:xfrm>
              <a:off x="533400" y="4645342"/>
              <a:ext cx="4977765" cy="9525"/>
            </a:xfrm>
            <a:prstGeom prst="rect">
              <a:avLst/>
            </a:prstGeom>
            <a:solidFill>
              <a:srgbClr val="D9DFEA"/>
            </a:solidFill>
            <a:ln>
              <a:noFill/>
            </a:ln>
          </p:spPr>
        </p:sp>
        <p:sp>
          <p:nvSpPr>
            <p:cNvPr id="18" name="TextBox 18"/>
            <p:cNvSpPr txBox="1"/>
            <p:nvPr/>
          </p:nvSpPr>
          <p:spPr>
            <a:xfrm>
              <a:off x="526161" y="4761071"/>
              <a:ext cx="970280" cy="278702"/>
            </a:xfrm>
            <a:prstGeom prst="rect">
              <a:avLst/>
            </a:prstGeom>
            <a:noFill/>
            <a:ln>
              <a:noFill/>
            </a:ln>
          </p:spPr>
          <p:txBody>
            <a:bodyPr wrap="none" lIns="0" tIns="0" rIns="0" bIns="0" anchor="t" anchorCtr="0">
              <a:spAutoFit/>
            </a:bodyPr>
            <a:lstStyle/>
            <a:p>
              <a:pPr algn="l"/>
              <a:r>
                <a:rPr lang="zh-CN" sz="1420" b="1" dirty="0">
                  <a:solidFill>
                    <a:srgbClr val="0E7C86"/>
                  </a:solidFill>
                  <a:latin typeface="+mn-lt"/>
                  <a:ea typeface="+mn-ea"/>
                  <a:cs typeface="+mn-cs"/>
                </a:rPr>
                <a:t>过学习问题</a:t>
              </a:r>
            </a:p>
          </p:txBody>
        </p:sp>
        <p:sp>
          <p:nvSpPr>
            <p:cNvPr id="19" name="TextBox 19"/>
            <p:cNvSpPr txBox="1"/>
            <p:nvPr/>
          </p:nvSpPr>
          <p:spPr>
            <a:xfrm>
              <a:off x="1712976" y="4761071"/>
              <a:ext cx="344093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训练精度高、测试精度低、推广能力差的现</a:t>
              </a:r>
              <a:br/>
              <a:r>
                <a:rPr lang="zh-CN" sz="1420" dirty="0">
                  <a:solidFill>
                    <a:srgbClr val="1F2937"/>
                  </a:solidFill>
                  <a:latin typeface="+mn-lt"/>
                  <a:ea typeface="+mn-ea"/>
                  <a:cs typeface="+mn-cs"/>
                </a:rPr>
                <a:t>象</a:t>
              </a:r>
            </a:p>
          </p:txBody>
        </p:sp>
      </p:grpSp>
      <p:grpSp>
        <p:nvGrpSpPr>
          <p:cNvPr id="27" name="c1-callout-3"/>
          <p:cNvGrpSpPr/>
          <p:nvPr/>
        </p:nvGrpSpPr>
        <p:grpSpPr>
          <a:xfrm>
            <a:off x="533400" y="5436870"/>
            <a:ext cx="4977765" cy="756285"/>
            <a:chOff x="533400" y="5436870"/>
            <a:chExt cx="4977765" cy="756285"/>
          </a:xfrm>
        </p:grpSpPr>
        <p:sp>
          <p:nvSpPr>
            <p:cNvPr id="21" name="Rectangle 21"/>
            <p:cNvSpPr/>
            <p:nvPr/>
          </p:nvSpPr>
          <p:spPr>
            <a:xfrm>
              <a:off x="533400" y="5436870"/>
              <a:ext cx="4977765" cy="756285"/>
            </a:xfrm>
            <a:prstGeom prst="roundRect">
              <a:avLst>
                <a:gd name="adj" fmla="val 15113"/>
              </a:avLst>
            </a:prstGeom>
            <a:solidFill>
              <a:srgbClr val="FDECEA"/>
            </a:solidFill>
            <a:ln>
              <a:noFill/>
            </a:ln>
          </p:spPr>
        </p:sp>
        <p:grpSp>
          <p:nvGrpSpPr>
            <p:cNvPr id="25" name="Group 25"/>
            <p:cNvGrpSpPr/>
            <p:nvPr/>
          </p:nvGrpSpPr>
          <p:grpSpPr>
            <a:xfrm>
              <a:off x="726129" y="5711308"/>
              <a:ext cx="224134" cy="192560"/>
              <a:chOff x="726129" y="5711308"/>
              <a:chExt cx="224134" cy="192560"/>
            </a:xfrm>
          </p:grpSpPr>
          <p:sp>
            <p:nvSpPr>
              <p:cNvPr id="22" name="Freeform 22"/>
              <p:cNvSpPr/>
              <p:nvPr/>
            </p:nvSpPr>
            <p:spPr>
              <a:xfrm>
                <a:off x="838200" y="578167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23" name="Freeform 23"/>
              <p:cNvSpPr/>
              <p:nvPr/>
            </p:nvSpPr>
            <p:spPr>
              <a:xfrm>
                <a:off x="726129" y="571130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24" name="Freeform 24"/>
              <p:cNvSpPr/>
              <p:nvPr/>
            </p:nvSpPr>
            <p:spPr>
              <a:xfrm>
                <a:off x="838200" y="585946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26" name="TextBox 26"/>
            <p:cNvSpPr txBox="1"/>
            <p:nvPr/>
          </p:nvSpPr>
          <p:spPr>
            <a:xfrm>
              <a:off x="1040511" y="5584031"/>
              <a:ext cx="4009009"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B42318"/>
                  </a:solidFill>
                  <a:latin typeface="+mn-lt"/>
                  <a:ea typeface="+mn-ea"/>
                  <a:cs typeface="+mn-cs"/>
                </a:rPr>
                <a:t>训练误差为 0 不能说明任何事：它只说明这个函数</a:t>
              </a:r>
              <a:br/>
              <a:r>
                <a:rPr lang="zh-CN" sz="1420" dirty="0">
                  <a:solidFill>
                    <a:srgbClr val="B42318"/>
                  </a:solidFill>
                  <a:latin typeface="+mn-lt"/>
                  <a:ea typeface="+mn-ea"/>
                  <a:cs typeface="+mn-cs"/>
                </a:rPr>
                <a:t>集足够大，大到能把噪声也背下来。</a:t>
              </a:r>
            </a:p>
          </p:txBody>
        </p:sp>
      </p:grpSp>
      <p:grpSp>
        <p:nvGrpSpPr>
          <p:cNvPr id="38" name="c2-graph-1"/>
          <p:cNvGrpSpPr/>
          <p:nvPr/>
        </p:nvGrpSpPr>
        <p:grpSpPr>
          <a:xfrm>
            <a:off x="6320790" y="1575435"/>
            <a:ext cx="5007292" cy="2206942"/>
            <a:chOff x="6320790" y="1575435"/>
            <a:chExt cx="5007292" cy="2206942"/>
          </a:xfrm>
        </p:grpSpPr>
        <p:sp>
          <p:nvSpPr>
            <p:cNvPr id="28" name="Freeform 28"/>
            <p:cNvSpPr/>
            <p:nvPr/>
          </p:nvSpPr>
          <p:spPr>
            <a:xfrm>
              <a:off x="6320790" y="3455670"/>
              <a:ext cx="5007292" cy="9525"/>
            </a:xfrm>
            <a:custGeom>
              <a:avLst/>
              <a:gdLst/>
              <a:ahLst/>
              <a:cxnLst/>
              <a:rect l="l" t="t" r="r" b="b"/>
              <a:pathLst>
                <a:path w="5007292" h="9525">
                  <a:moveTo>
                    <a:pt x="0" y="0"/>
                  </a:moveTo>
                  <a:lnTo>
                    <a:pt x="5007292" y="0"/>
                  </a:lnTo>
                </a:path>
              </a:pathLst>
            </a:custGeom>
            <a:noFill/>
            <a:ln w="17145">
              <a:solidFill>
                <a:srgbClr val="5B6475"/>
              </a:solidFill>
            </a:ln>
          </p:spPr>
        </p:sp>
        <p:sp>
          <p:nvSpPr>
            <p:cNvPr id="29" name="Freeform 29"/>
            <p:cNvSpPr/>
            <p:nvPr/>
          </p:nvSpPr>
          <p:spPr>
            <a:xfrm>
              <a:off x="6415088" y="1870710"/>
              <a:ext cx="4796790" cy="1559243"/>
            </a:xfrm>
            <a:custGeom>
              <a:avLst/>
              <a:gdLst/>
              <a:ahLst/>
              <a:cxnLst/>
              <a:rect l="l" t="t" r="r" b="b"/>
              <a:pathLst>
                <a:path w="4796790" h="1559243">
                  <a:moveTo>
                    <a:pt x="0" y="1493520"/>
                  </a:moveTo>
                  <a:lnTo>
                    <a:pt x="218122" y="148590"/>
                  </a:lnTo>
                  <a:lnTo>
                    <a:pt x="452438" y="1287780"/>
                  </a:lnTo>
                  <a:lnTo>
                    <a:pt x="568643" y="643890"/>
                  </a:lnTo>
                  <a:lnTo>
                    <a:pt x="802957" y="0"/>
                  </a:lnTo>
                  <a:lnTo>
                    <a:pt x="1036320" y="1386840"/>
                  </a:lnTo>
                  <a:lnTo>
                    <a:pt x="1270635" y="247650"/>
                  </a:lnTo>
                  <a:lnTo>
                    <a:pt x="1503997" y="1188720"/>
                  </a:lnTo>
                  <a:lnTo>
                    <a:pt x="1737360" y="99060"/>
                  </a:lnTo>
                  <a:lnTo>
                    <a:pt x="1971675" y="1436370"/>
                  </a:lnTo>
                  <a:lnTo>
                    <a:pt x="2205038" y="396240"/>
                  </a:lnTo>
                  <a:lnTo>
                    <a:pt x="2438400" y="297180"/>
                  </a:lnTo>
                  <a:lnTo>
                    <a:pt x="2672715" y="1337310"/>
                  </a:lnTo>
                  <a:lnTo>
                    <a:pt x="2906078" y="198120"/>
                  </a:lnTo>
                  <a:lnTo>
                    <a:pt x="3140393" y="1485900"/>
                  </a:lnTo>
                  <a:lnTo>
                    <a:pt x="3373755" y="1015365"/>
                  </a:lnTo>
                  <a:lnTo>
                    <a:pt x="3607118" y="148590"/>
                  </a:lnTo>
                  <a:lnTo>
                    <a:pt x="3841432" y="1287780"/>
                  </a:lnTo>
                  <a:lnTo>
                    <a:pt x="4074795" y="346710"/>
                  </a:lnTo>
                  <a:lnTo>
                    <a:pt x="4308158" y="495300"/>
                  </a:lnTo>
                  <a:lnTo>
                    <a:pt x="4542473" y="1386840"/>
                  </a:lnTo>
                  <a:lnTo>
                    <a:pt x="4796790" y="1559243"/>
                  </a:lnTo>
                </a:path>
              </a:pathLst>
            </a:custGeom>
            <a:noFill/>
            <a:ln w="17145">
              <a:solidFill>
                <a:srgbClr val="B42318"/>
              </a:solidFill>
            </a:ln>
          </p:spPr>
        </p:sp>
        <p:sp>
          <p:nvSpPr>
            <p:cNvPr id="30" name="Ellipse 30"/>
            <p:cNvSpPr/>
            <p:nvPr/>
          </p:nvSpPr>
          <p:spPr>
            <a:xfrm>
              <a:off x="6926580" y="2457450"/>
              <a:ext cx="114300" cy="114300"/>
            </a:xfrm>
            <a:prstGeom prst="ellipse">
              <a:avLst/>
            </a:prstGeom>
            <a:solidFill>
              <a:srgbClr val="0E7C86"/>
            </a:solidFill>
            <a:ln>
              <a:noFill/>
            </a:ln>
          </p:spPr>
        </p:sp>
        <p:sp>
          <p:nvSpPr>
            <p:cNvPr id="31" name="Ellipse 31"/>
            <p:cNvSpPr/>
            <p:nvPr/>
          </p:nvSpPr>
          <p:spPr>
            <a:xfrm>
              <a:off x="7861935" y="3002280"/>
              <a:ext cx="114300" cy="114300"/>
            </a:xfrm>
            <a:prstGeom prst="ellipse">
              <a:avLst/>
            </a:prstGeom>
            <a:solidFill>
              <a:srgbClr val="0E7C86"/>
            </a:solidFill>
            <a:ln>
              <a:noFill/>
            </a:ln>
          </p:spPr>
        </p:sp>
        <p:sp>
          <p:nvSpPr>
            <p:cNvPr id="32" name="Ellipse 32"/>
            <p:cNvSpPr/>
            <p:nvPr/>
          </p:nvSpPr>
          <p:spPr>
            <a:xfrm>
              <a:off x="8796338" y="2110740"/>
              <a:ext cx="114300" cy="114300"/>
            </a:xfrm>
            <a:prstGeom prst="ellipse">
              <a:avLst/>
            </a:prstGeom>
            <a:solidFill>
              <a:srgbClr val="0E7C86"/>
            </a:solidFill>
            <a:ln>
              <a:noFill/>
            </a:ln>
          </p:spPr>
        </p:sp>
        <p:sp>
          <p:nvSpPr>
            <p:cNvPr id="33" name="Ellipse 33"/>
            <p:cNvSpPr/>
            <p:nvPr/>
          </p:nvSpPr>
          <p:spPr>
            <a:xfrm>
              <a:off x="9731692" y="2828925"/>
              <a:ext cx="114300" cy="114300"/>
            </a:xfrm>
            <a:prstGeom prst="ellipse">
              <a:avLst/>
            </a:prstGeom>
            <a:solidFill>
              <a:srgbClr val="0E7C86"/>
            </a:solidFill>
            <a:ln>
              <a:noFill/>
            </a:ln>
          </p:spPr>
        </p:sp>
        <p:sp>
          <p:nvSpPr>
            <p:cNvPr id="34" name="Ellipse 34"/>
            <p:cNvSpPr/>
            <p:nvPr/>
          </p:nvSpPr>
          <p:spPr>
            <a:xfrm>
              <a:off x="10666095" y="2308860"/>
              <a:ext cx="114300" cy="114300"/>
            </a:xfrm>
            <a:prstGeom prst="ellipse">
              <a:avLst/>
            </a:prstGeom>
            <a:solidFill>
              <a:srgbClr val="0E7C86"/>
            </a:solidFill>
            <a:ln>
              <a:noFill/>
            </a:ln>
          </p:spPr>
        </p:sp>
        <p:sp>
          <p:nvSpPr>
            <p:cNvPr id="35" name="TextBox 35"/>
            <p:cNvSpPr txBox="1"/>
            <p:nvPr/>
          </p:nvSpPr>
          <p:spPr>
            <a:xfrm>
              <a:off x="6970966" y="3556635"/>
              <a:ext cx="494157" cy="176212"/>
            </a:xfrm>
            <a:prstGeom prst="rect">
              <a:avLst/>
            </a:prstGeom>
            <a:noFill/>
            <a:ln>
              <a:noFill/>
            </a:ln>
          </p:spPr>
          <p:txBody>
            <a:bodyPr wrap="none" lIns="0" tIns="0" rIns="0" bIns="0" anchor="t" anchorCtr="0">
              <a:spAutoFit/>
            </a:bodyPr>
            <a:lstStyle/>
            <a:p>
              <a:pPr algn="ctr"/>
              <a:r>
                <a:rPr lang="zh-CN" sz="900" dirty="0">
                  <a:solidFill>
                    <a:srgbClr val="0E7C86"/>
                  </a:solidFill>
                  <a:latin typeface="+mn-lt"/>
                  <a:ea typeface="+mn-ea"/>
                  <a:cs typeface="+mn-cs"/>
                </a:rPr>
                <a:t>训练样本</a:t>
              </a:r>
            </a:p>
          </p:txBody>
        </p:sp>
        <p:sp>
          <p:nvSpPr>
            <p:cNvPr id="36" name="TextBox 36"/>
            <p:cNvSpPr txBox="1"/>
            <p:nvPr/>
          </p:nvSpPr>
          <p:spPr>
            <a:xfrm>
              <a:off x="9720148" y="3606165"/>
              <a:ext cx="1475537" cy="176212"/>
            </a:xfrm>
            <a:prstGeom prst="rect">
              <a:avLst/>
            </a:prstGeom>
            <a:noFill/>
            <a:ln>
              <a:noFill/>
            </a:ln>
          </p:spPr>
          <p:txBody>
            <a:bodyPr wrap="none" lIns="0" tIns="0" rIns="0" bIns="0" anchor="t" anchorCtr="0">
              <a:spAutoFit/>
            </a:bodyPr>
            <a:lstStyle/>
            <a:p>
              <a:pPr algn="r"/>
              <a:r>
                <a:rPr lang="zh-CN" sz="900" dirty="0">
                  <a:solidFill>
                    <a:srgbClr val="B42318"/>
                  </a:solidFill>
                  <a:latin typeface="+mn-lt"/>
                  <a:ea typeface="+mn-ea"/>
                  <a:cs typeface="+mn-cs"/>
                </a:rPr>
                <a:t>y = sin(w·x)，w 取得很大</a:t>
              </a:r>
            </a:p>
          </p:txBody>
        </p:sp>
        <p:sp>
          <p:nvSpPr>
            <p:cNvPr id="37" name="TextBox 37"/>
            <p:cNvSpPr txBox="1"/>
            <p:nvPr/>
          </p:nvSpPr>
          <p:spPr>
            <a:xfrm>
              <a:off x="7842009" y="1575435"/>
              <a:ext cx="1790548"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每个样本都被穿过，训练误差 = 0</a:t>
              </a:r>
            </a:p>
          </p:txBody>
        </p:sp>
      </p:grpSp>
      <p:grpSp>
        <p:nvGrpSpPr>
          <p:cNvPr id="45" name="c2-card-2"/>
          <p:cNvGrpSpPr/>
          <p:nvPr/>
        </p:nvGrpSpPr>
        <p:grpSpPr>
          <a:xfrm>
            <a:off x="5815965" y="4185285"/>
            <a:ext cx="5842635" cy="2006918"/>
            <a:chOff x="5815965" y="4185285"/>
            <a:chExt cx="5842635" cy="2006918"/>
          </a:xfrm>
        </p:grpSpPr>
        <p:sp>
          <p:nvSpPr>
            <p:cNvPr id="39" name="Rectangle 39"/>
            <p:cNvSpPr/>
            <p:nvPr/>
          </p:nvSpPr>
          <p:spPr>
            <a:xfrm>
              <a:off x="5815965" y="4185285"/>
              <a:ext cx="5842635" cy="2006918"/>
            </a:xfrm>
            <a:prstGeom prst="roundRect">
              <a:avLst>
                <a:gd name="adj" fmla="val 6645"/>
              </a:avLst>
            </a:prstGeom>
            <a:solidFill>
              <a:srgbClr val="0E7C86"/>
            </a:solidFill>
            <a:ln>
              <a:noFill/>
            </a:ln>
          </p:spPr>
        </p:sp>
        <p:sp>
          <p:nvSpPr>
            <p:cNvPr id="40" name="Rectangle 40"/>
            <p:cNvSpPr/>
            <p:nvPr/>
          </p:nvSpPr>
          <p:spPr>
            <a:xfrm>
              <a:off x="6019800" y="4389120"/>
              <a:ext cx="494348" cy="257175"/>
            </a:xfrm>
            <a:prstGeom prst="roundRect">
              <a:avLst>
                <a:gd name="adj" fmla="val 50000"/>
              </a:avLst>
            </a:prstGeom>
            <a:solidFill>
              <a:srgbClr val="0B5F67"/>
            </a:solidFill>
            <a:ln>
              <a:noFill/>
            </a:ln>
          </p:spPr>
        </p:sp>
        <p:sp>
          <p:nvSpPr>
            <p:cNvPr id="41" name="TextBox 41"/>
            <p:cNvSpPr txBox="1"/>
            <p:nvPr/>
          </p:nvSpPr>
          <p:spPr>
            <a:xfrm>
              <a:off x="6110008" y="442483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结论</a:t>
              </a:r>
            </a:p>
          </p:txBody>
        </p:sp>
        <p:sp>
          <p:nvSpPr>
            <p:cNvPr id="42" name="TextBox 42"/>
            <p:cNvSpPr txBox="1"/>
            <p:nvPr/>
          </p:nvSpPr>
          <p:spPr>
            <a:xfrm>
              <a:off x="6620256" y="4429601"/>
              <a:ext cx="2308403"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有限样本下要同时管两件事</a:t>
              </a:r>
            </a:p>
          </p:txBody>
        </p:sp>
        <p:sp>
          <p:nvSpPr>
            <p:cNvPr id="43" name="TextBox 43"/>
            <p:cNvSpPr txBox="1"/>
            <p:nvPr/>
          </p:nvSpPr>
          <p:spPr>
            <a:xfrm>
              <a:off x="6012561" y="4781074"/>
              <a:ext cx="50639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经验风险小，只说明模型在已见过的点上对；还要限制函数集本</a:t>
              </a:r>
              <a:br/>
              <a:r>
                <a:rPr lang="zh-CN" sz="1420" dirty="0">
                  <a:solidFill>
                    <a:srgbClr val="FFFFFF"/>
                  </a:solidFill>
                  <a:latin typeface="+mn-lt"/>
                  <a:ea typeface="+mn-ea"/>
                  <a:cs typeface="+mn-cs"/>
                </a:rPr>
                <a:t>身的复杂程度，才能指望在没见过的点上也对。</a:t>
              </a:r>
            </a:p>
          </p:txBody>
        </p:sp>
        <p:sp>
          <p:nvSpPr>
            <p:cNvPr id="44" name="TextBox 44"/>
            <p:cNvSpPr txBox="1"/>
            <p:nvPr/>
          </p:nvSpPr>
          <p:spPr>
            <a:xfrm>
              <a:off x="6013704" y="5368290"/>
              <a:ext cx="520903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FFFFFF"/>
                  </a:solidFill>
                  <a:latin typeface="+mn-lt"/>
                  <a:ea typeface="+mn-ea"/>
                  <a:cs typeface="+mn-cs"/>
                </a:rPr>
                <a:t>统计学习理论（SLT）正是针对</a:t>
              </a:r>
              <a:r>
                <a:rPr lang="zh-CN" sz="1200" b="1" dirty="0">
                  <a:solidFill>
                    <a:srgbClr val="FFD58A"/>
                  </a:solidFill>
                  <a:latin typeface="+mn-lt"/>
                  <a:ea typeface="+mn-ea"/>
                  <a:cs typeface="+mn-cs"/>
                </a:rPr>
                <a:t>有限样本</a:t>
              </a:r>
              <a:r>
                <a:rPr lang="zh-CN" sz="1200" dirty="0">
                  <a:solidFill>
                    <a:srgbClr val="FFFFFF"/>
                  </a:solidFill>
                  <a:latin typeface="+mn-lt"/>
                  <a:ea typeface="+mn-ea"/>
                  <a:cs typeface="+mn-cs"/>
                </a:rPr>
                <a:t>提出的，这也是 SVM 与传统统计模式</a:t>
              </a:r>
              <a:br/>
              <a:r>
                <a:rPr lang="zh-CN" sz="1200" dirty="0">
                  <a:solidFill>
                    <a:srgbClr val="FFFFFF"/>
                  </a:solidFill>
                  <a:latin typeface="+mn-lt"/>
                  <a:ea typeface="+mn-ea"/>
                  <a:cs typeface="+mn-cs"/>
                </a:rPr>
                <a:t>识别方法的分界线。</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7" name="TextBox 4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761518" cy="909257"/>
            <a:chOff x="520446" y="342900"/>
            <a:chExt cx="5761518" cy="909257"/>
          </a:xfrm>
        </p:grpSpPr>
        <p:sp>
          <p:nvSpPr>
            <p:cNvPr id="2" name="Rectangle 2"/>
            <p:cNvSpPr/>
            <p:nvPr/>
          </p:nvSpPr>
          <p:spPr>
            <a:xfrm>
              <a:off x="533400" y="342900"/>
              <a:ext cx="2593658" cy="266700"/>
            </a:xfrm>
            <a:prstGeom prst="roundRect">
              <a:avLst>
                <a:gd name="adj" fmla="val 50000"/>
              </a:avLst>
            </a:prstGeom>
            <a:solidFill>
              <a:srgbClr val="E2F3F4"/>
            </a:solidFill>
            <a:ln>
              <a:noFill/>
            </a:ln>
          </p:spPr>
        </p:sp>
        <p:sp>
          <p:nvSpPr>
            <p:cNvPr id="3" name="TextBox 3"/>
            <p:cNvSpPr txBox="1"/>
            <p:nvPr/>
          </p:nvSpPr>
          <p:spPr>
            <a:xfrm>
              <a:off x="576106" y="407194"/>
              <a:ext cx="2507294"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SVM 的理论基础</a:t>
              </a:r>
            </a:p>
          </p:txBody>
        </p:sp>
        <p:sp>
          <p:nvSpPr>
            <p:cNvPr id="4" name="TextBox 4"/>
            <p:cNvSpPr txBox="1"/>
            <p:nvPr/>
          </p:nvSpPr>
          <p:spPr>
            <a:xfrm>
              <a:off x="520446" y="753428"/>
              <a:ext cx="57615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VC 维把“函数集有多复杂”变成一个数</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247056" cy="264033"/>
            <a:chOff x="526542" y="1545907"/>
            <a:chExt cx="5247056" cy="264033"/>
          </a:xfrm>
        </p:grpSpPr>
        <p:sp>
          <p:nvSpPr>
            <p:cNvPr id="7" name="TextBox 7"/>
            <p:cNvSpPr txBox="1"/>
            <p:nvPr/>
          </p:nvSpPr>
          <p:spPr>
            <a:xfrm>
              <a:off x="526542" y="1545907"/>
              <a:ext cx="524705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有了 VC 维，就能给期望风险写出一个只用训练集就能算的上界。</a:t>
              </a:r>
            </a:p>
          </p:txBody>
        </p:sp>
      </p:grpSp>
      <p:grpSp>
        <p:nvGrpSpPr>
          <p:cNvPr id="23" name="c1-kv-1"/>
          <p:cNvGrpSpPr/>
          <p:nvPr/>
        </p:nvGrpSpPr>
        <p:grpSpPr>
          <a:xfrm>
            <a:off x="526923" y="1949291"/>
            <a:ext cx="5416677" cy="2225802"/>
            <a:chOff x="526923" y="1949291"/>
            <a:chExt cx="5416677" cy="2225802"/>
          </a:xfrm>
        </p:grpSpPr>
        <p:sp>
          <p:nvSpPr>
            <p:cNvPr id="9" name="TextBox 9"/>
            <p:cNvSpPr txBox="1"/>
            <p:nvPr/>
          </p:nvSpPr>
          <p:spPr>
            <a:xfrm>
              <a:off x="526923" y="1949291"/>
              <a:ext cx="606696"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VC 维 h</a:t>
              </a:r>
            </a:p>
          </p:txBody>
        </p:sp>
        <p:sp>
          <p:nvSpPr>
            <p:cNvPr id="10" name="TextBox 10"/>
            <p:cNvSpPr txBox="1"/>
            <p:nvPr/>
          </p:nvSpPr>
          <p:spPr>
            <a:xfrm>
              <a:off x="1621346" y="1949291"/>
              <a:ext cx="407695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对学习函数集复杂程度的衡量：能被这个函数集打散的最</a:t>
              </a:r>
              <a:br/>
              <a:r>
                <a:rPr lang="zh-CN" sz="1280" dirty="0">
                  <a:solidFill>
                    <a:srgbClr val="1F2937"/>
                  </a:solidFill>
                  <a:latin typeface="+mn-lt"/>
                  <a:ea typeface="+mn-ea"/>
                  <a:cs typeface="+mn-cs"/>
                </a:rPr>
                <a:t>多样本点数</a:t>
              </a:r>
            </a:p>
          </p:txBody>
        </p:sp>
        <p:sp>
          <p:nvSpPr>
            <p:cNvPr id="11" name="Rectangle 11"/>
            <p:cNvSpPr/>
            <p:nvPr/>
          </p:nvSpPr>
          <p:spPr>
            <a:xfrm>
              <a:off x="533400" y="2461260"/>
              <a:ext cx="5410200" cy="9525"/>
            </a:xfrm>
            <a:prstGeom prst="rect">
              <a:avLst/>
            </a:prstGeom>
            <a:solidFill>
              <a:srgbClr val="D9DFEA"/>
            </a:solidFill>
            <a:ln>
              <a:noFill/>
            </a:ln>
          </p:spPr>
        </p:sp>
        <p:sp>
          <p:nvSpPr>
            <p:cNvPr id="12" name="TextBox 12"/>
            <p:cNvSpPr txBox="1"/>
            <p:nvPr/>
          </p:nvSpPr>
          <p:spPr>
            <a:xfrm>
              <a:off x="526923" y="2563654"/>
              <a:ext cx="702208"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经验风险</a:t>
              </a:r>
            </a:p>
          </p:txBody>
        </p:sp>
        <p:sp>
          <p:nvSpPr>
            <p:cNvPr id="13" name="TextBox 13"/>
            <p:cNvSpPr txBox="1"/>
            <p:nvPr/>
          </p:nvSpPr>
          <p:spPr>
            <a:xfrm>
              <a:off x="1621346" y="2563654"/>
              <a:ext cx="314177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由观测样本算出来的学习误差 R_emp(w)</a:t>
              </a:r>
            </a:p>
          </p:txBody>
        </p:sp>
        <p:sp>
          <p:nvSpPr>
            <p:cNvPr id="14" name="Rectangle 14"/>
            <p:cNvSpPr/>
            <p:nvPr/>
          </p:nvSpPr>
          <p:spPr>
            <a:xfrm>
              <a:off x="533400" y="2835592"/>
              <a:ext cx="5410200" cy="9525"/>
            </a:xfrm>
            <a:prstGeom prst="rect">
              <a:avLst/>
            </a:prstGeom>
            <a:solidFill>
              <a:srgbClr val="D9DFEA"/>
            </a:solidFill>
            <a:ln>
              <a:noFill/>
            </a:ln>
          </p:spPr>
        </p:sp>
        <p:sp>
          <p:nvSpPr>
            <p:cNvPr id="15" name="TextBox 15"/>
            <p:cNvSpPr txBox="1"/>
            <p:nvPr/>
          </p:nvSpPr>
          <p:spPr>
            <a:xfrm>
              <a:off x="526923" y="2937034"/>
              <a:ext cx="702208"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期望风险</a:t>
              </a:r>
            </a:p>
          </p:txBody>
        </p:sp>
        <p:sp>
          <p:nvSpPr>
            <p:cNvPr id="16" name="TextBox 16"/>
            <p:cNvSpPr txBox="1"/>
            <p:nvPr/>
          </p:nvSpPr>
          <p:spPr>
            <a:xfrm>
              <a:off x="1621346" y="2937034"/>
              <a:ext cx="273144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模型在统计意义上的学习误差 R(w)</a:t>
              </a:r>
            </a:p>
          </p:txBody>
        </p:sp>
        <p:sp>
          <p:nvSpPr>
            <p:cNvPr id="17" name="Rectangle 17"/>
            <p:cNvSpPr/>
            <p:nvPr/>
          </p:nvSpPr>
          <p:spPr>
            <a:xfrm>
              <a:off x="533400" y="3208972"/>
              <a:ext cx="5410200" cy="9525"/>
            </a:xfrm>
            <a:prstGeom prst="rect">
              <a:avLst/>
            </a:prstGeom>
            <a:solidFill>
              <a:srgbClr val="D9DFEA"/>
            </a:solidFill>
            <a:ln>
              <a:noFill/>
            </a:ln>
          </p:spPr>
        </p:sp>
        <p:sp>
          <p:nvSpPr>
            <p:cNvPr id="18" name="TextBox 18"/>
            <p:cNvSpPr txBox="1"/>
            <p:nvPr/>
          </p:nvSpPr>
          <p:spPr>
            <a:xfrm>
              <a:off x="526923" y="3311366"/>
              <a:ext cx="874522"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复杂度风险</a:t>
              </a:r>
            </a:p>
          </p:txBody>
        </p:sp>
        <p:sp>
          <p:nvSpPr>
            <p:cNvPr id="19" name="TextBox 19"/>
            <p:cNvSpPr txBox="1"/>
            <p:nvPr/>
          </p:nvSpPr>
          <p:spPr>
            <a:xfrm>
              <a:off x="1621346" y="3311366"/>
              <a:ext cx="424016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与 VC 维和样本数有关的那一项 Φ(h/N)，也叫置信范围</a:t>
              </a:r>
            </a:p>
          </p:txBody>
        </p:sp>
        <p:sp>
          <p:nvSpPr>
            <p:cNvPr id="20" name="Rectangle 20"/>
            <p:cNvSpPr/>
            <p:nvPr/>
          </p:nvSpPr>
          <p:spPr>
            <a:xfrm>
              <a:off x="533400" y="3583305"/>
              <a:ext cx="5410200" cy="9525"/>
            </a:xfrm>
            <a:prstGeom prst="rect">
              <a:avLst/>
            </a:prstGeom>
            <a:solidFill>
              <a:srgbClr val="D9DFEA"/>
            </a:solidFill>
            <a:ln>
              <a:noFill/>
            </a:ln>
          </p:spPr>
        </p:sp>
        <p:sp>
          <p:nvSpPr>
            <p:cNvPr id="21" name="TextBox 21"/>
            <p:cNvSpPr txBox="1"/>
            <p:nvPr/>
          </p:nvSpPr>
          <p:spPr>
            <a:xfrm>
              <a:off x="526923" y="3685699"/>
              <a:ext cx="702208"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结构风险</a:t>
              </a:r>
            </a:p>
          </p:txBody>
        </p:sp>
        <p:sp>
          <p:nvSpPr>
            <p:cNvPr id="22" name="TextBox 22"/>
            <p:cNvSpPr txBox="1"/>
            <p:nvPr/>
          </p:nvSpPr>
          <p:spPr>
            <a:xfrm>
              <a:off x="1621346" y="3685699"/>
              <a:ext cx="4028186"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在一定的 VC 维下，由经验风险与复杂度风险组成的期望</a:t>
              </a:r>
              <a:br/>
              <a:r>
                <a:rPr lang="zh-CN" sz="1280" dirty="0">
                  <a:solidFill>
                    <a:srgbClr val="1F2937"/>
                  </a:solidFill>
                  <a:latin typeface="+mn-lt"/>
                  <a:ea typeface="+mn-ea"/>
                  <a:cs typeface="+mn-cs"/>
                </a:rPr>
                <a:t>风险上界</a:t>
              </a:r>
            </a:p>
          </p:txBody>
        </p:sp>
      </p:grpSp>
      <p:grpSp>
        <p:nvGrpSpPr>
          <p:cNvPr id="31" name="c1-card-2"/>
          <p:cNvGrpSpPr/>
          <p:nvPr/>
        </p:nvGrpSpPr>
        <p:grpSpPr>
          <a:xfrm>
            <a:off x="533400" y="4289108"/>
            <a:ext cx="5410200" cy="1344930"/>
            <a:chOff x="533400" y="4289108"/>
            <a:chExt cx="5410200" cy="1344930"/>
          </a:xfrm>
        </p:grpSpPr>
        <p:sp>
          <p:nvSpPr>
            <p:cNvPr id="24" name="Rectangle 24"/>
            <p:cNvSpPr/>
            <p:nvPr/>
          </p:nvSpPr>
          <p:spPr>
            <a:xfrm>
              <a:off x="533400" y="4289108"/>
              <a:ext cx="5410200" cy="1344930"/>
            </a:xfrm>
            <a:prstGeom prst="roundRect">
              <a:avLst>
                <a:gd name="adj" fmla="val 9915"/>
              </a:avLst>
            </a:prstGeom>
            <a:solidFill>
              <a:srgbClr val="FFFFFF"/>
            </a:solidFill>
            <a:ln w="14288">
              <a:solidFill>
                <a:srgbClr val="D9DFEA"/>
              </a:solidFill>
            </a:ln>
          </p:spPr>
        </p:sp>
        <p:sp>
          <p:nvSpPr>
            <p:cNvPr id="25" name="Rectangle 25"/>
            <p:cNvSpPr/>
            <p:nvPr/>
          </p:nvSpPr>
          <p:spPr>
            <a:xfrm>
              <a:off x="542925" y="4422458"/>
              <a:ext cx="47625" cy="1078230"/>
            </a:xfrm>
            <a:prstGeom prst="roundRect">
              <a:avLst>
                <a:gd name="adj" fmla="val 50000"/>
              </a:avLst>
            </a:prstGeom>
            <a:solidFill>
              <a:srgbClr val="F26B3A"/>
            </a:solidFill>
            <a:ln>
              <a:noFill/>
            </a:ln>
          </p:spPr>
        </p:sp>
        <p:sp>
          <p:nvSpPr>
            <p:cNvPr id="26" name="Rectangle 26"/>
            <p:cNvSpPr/>
            <p:nvPr/>
          </p:nvSpPr>
          <p:spPr>
            <a:xfrm>
              <a:off x="752475" y="4470082"/>
              <a:ext cx="458152" cy="238125"/>
            </a:xfrm>
            <a:prstGeom prst="roundRect">
              <a:avLst>
                <a:gd name="adj" fmla="val 50000"/>
              </a:avLst>
            </a:prstGeom>
            <a:solidFill>
              <a:srgbClr val="FDEEE7"/>
            </a:solidFill>
            <a:ln>
              <a:noFill/>
            </a:ln>
          </p:spPr>
        </p:sp>
        <p:sp>
          <p:nvSpPr>
            <p:cNvPr id="27" name="TextBox 27"/>
            <p:cNvSpPr txBox="1"/>
            <p:nvPr/>
          </p:nvSpPr>
          <p:spPr>
            <a:xfrm>
              <a:off x="845147" y="4502944"/>
              <a:ext cx="273761"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上界</a:t>
              </a:r>
            </a:p>
          </p:txBody>
        </p:sp>
        <p:sp>
          <p:nvSpPr>
            <p:cNvPr id="28" name="TextBox 28"/>
            <p:cNvSpPr txBox="1"/>
            <p:nvPr/>
          </p:nvSpPr>
          <p:spPr>
            <a:xfrm>
              <a:off x="1318450" y="4509611"/>
              <a:ext cx="207942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以不小于 1 − η 的概率成立</a:t>
              </a:r>
            </a:p>
          </p:txBody>
        </p:sp>
        <mc:AlternateContent xmlns:mc="http://schemas.openxmlformats.org/markup-compatibility/2006">
          <mc:Choice xmlns:a14="http://schemas.microsoft.com/office/drawing/2010/main" Requires="a14">
            <p:sp>
              <p:nvSpPr>
                <p:cNvPr id="29" name="formula21"/>
                <p:cNvSpPr txBox="1">
                  <a:spLocks noGrp="1"/>
                </p:cNvSpPr>
                <p:nvPr/>
              </p:nvSpPr>
              <p:spPr>
                <a:xfrm>
                  <a:off x="752475" y="4805362"/>
                  <a:ext cx="5010150" cy="38576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120" dirty="0">
                            <a:solidFill>
                              <a:srgbClr val="1F2937"/>
                            </a:solidFill>
                            <a:latin typeface="Cambria Math"/>
                            <a:ea typeface="Cambria Math"/>
                            <a:cs typeface="Cambria Math"/>
                          </a:rPr>
                          <m:t>R</m:t>
                        </m:r>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w</m:t>
                            </m:r>
                          </m:e>
                        </m:d>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R</m:t>
                            </m:r>
                          </m:e>
                          <m:sub>
                            <m:r>
                              <m:rPr>
                                <m:sty m:val="p"/>
                              </m:rPr>
                              <a:rPr lang="zh-CN" sz="1120" dirty="0">
                                <a:solidFill>
                                  <a:srgbClr val="1F2937"/>
                                </a:solidFill>
                                <a:latin typeface="Cambria Math"/>
                                <a:ea typeface="Cambria Math"/>
                                <a:cs typeface="Cambria Math"/>
                              </a:rPr>
                              <m:t>emp</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w</m:t>
                            </m:r>
                          </m:e>
                        </m:d>
                        <m:r>
                          <m:rPr>
                            <m:sty m:val="p"/>
                          </m:rPr>
                          <a:rPr lang="zh-CN" sz="1120" dirty="0">
                            <a:solidFill>
                              <a:srgbClr val="1F2937"/>
                            </a:solidFill>
                            <a:latin typeface="Cambria Math"/>
                            <a:ea typeface="Cambria Math"/>
                            <a:cs typeface="Cambria Math"/>
                          </a:rPr>
                          <m:t>+</m:t>
                        </m:r>
                        <m:rad>
                          <m:radPr>
                            <m:degHide m:val="on"/>
                            <m:ctrlPr>
                              <a:rPr lang="zh-CN" sz="1120" dirty="0">
                                <a:solidFill>
                                  <a:srgbClr val="1F2937"/>
                                </a:solidFill>
                                <a:latin typeface="Cambria Math"/>
                                <a:ea typeface="Cambria Math"/>
                                <a:cs typeface="Cambria Math"/>
                              </a:rPr>
                            </m:ctrlPr>
                          </m:radPr>
                          <m:deg/>
                          <m:e>
                            <m:f>
                              <m:fPr>
                                <m:type m:val="bar"/>
                                <m:ctrlPr>
                                  <a:rPr lang="zh-CN" sz="1120" dirty="0">
                                    <a:solidFill>
                                      <a:srgbClr val="1F2937"/>
                                    </a:solidFill>
                                    <a:latin typeface="Cambria Math"/>
                                    <a:ea typeface="Cambria Math"/>
                                    <a:cs typeface="Cambria Math"/>
                                  </a:rPr>
                                </m:ctrlPr>
                              </m:fPr>
                              <m:num>
                                <m:r>
                                  <a:rPr lang="zh-CN" sz="1120" dirty="0">
                                    <a:solidFill>
                                      <a:srgbClr val="1F2937"/>
                                    </a:solidFill>
                                    <a:latin typeface="Cambria Math"/>
                                    <a:ea typeface="Cambria Math"/>
                                    <a:cs typeface="Cambria Math"/>
                                  </a:rPr>
                                  <m:t>h</m:t>
                                </m:r>
                                <m:d>
                                  <m:dPr>
                                    <m:begChr m:val="("/>
                                    <m:sepChr m:val=""/>
                                    <m:endChr m:val=")"/>
                                    <m:grow m:val="on"/>
                                    <m:ctrlPr>
                                      <a:rPr lang="zh-CN" sz="1120" dirty="0">
                                        <a:solidFill>
                                          <a:srgbClr val="1F2937"/>
                                        </a:solidFill>
                                        <a:latin typeface="Cambria Math"/>
                                        <a:ea typeface="Cambria Math"/>
                                        <a:cs typeface="Cambria Math"/>
                                      </a:rPr>
                                    </m:ctrlPr>
                                  </m:dPr>
                                  <m:e>
                                    <m:func>
                                      <m:funcPr/>
                                      <m:fName>
                                        <m:r>
                                          <m:rPr>
                                            <m:sty m:val="p"/>
                                          </m:rPr>
                                          <a:rPr lang="zh-CN" sz="1120" dirty="0">
                                            <a:solidFill>
                                              <a:srgbClr val="1F2937"/>
                                            </a:solidFill>
                                            <a:latin typeface="Cambria Math"/>
                                            <a:ea typeface="Cambria Math"/>
                                            <a:cs typeface="Cambria Math"/>
                                          </a:rPr>
                                          <m:t>ln</m:t>
                                        </m:r>
                                      </m:fName>
                                      <m:e>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2N</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h</m:t>
                                            </m:r>
                                          </m:e>
                                        </m:d>
                                      </m:e>
                                    </m:func>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e>
                                </m:d>
                                <m:r>
                                  <m:rPr>
                                    <m:sty m:val="p"/>
                                  </m:rPr>
                                  <a:rPr lang="zh-CN" sz="1120" dirty="0">
                                    <a:solidFill>
                                      <a:srgbClr val="1F2937"/>
                                    </a:solidFill>
                                    <a:latin typeface="Cambria Math"/>
                                    <a:ea typeface="Cambria Math"/>
                                    <a:cs typeface="Cambria Math"/>
                                  </a:rPr>
                                  <m:t>−</m:t>
                                </m:r>
                                <m:func>
                                  <m:funcPr/>
                                  <m:fName>
                                    <m:r>
                                      <m:rPr>
                                        <m:sty m:val="p"/>
                                      </m:rPr>
                                      <a:rPr lang="zh-CN" sz="1120" dirty="0">
                                        <a:solidFill>
                                          <a:srgbClr val="1F2937"/>
                                        </a:solidFill>
                                        <a:latin typeface="Cambria Math"/>
                                        <a:ea typeface="Cambria Math"/>
                                        <a:cs typeface="Cambria Math"/>
                                      </a:rPr>
                                      <m:t>ln</m:t>
                                    </m:r>
                                  </m:fName>
                                  <m:e>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η</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4</m:t>
                                        </m:r>
                                      </m:e>
                                    </m:d>
                                  </m:e>
                                </m:func>
                              </m:num>
                              <m:den>
                                <m:r>
                                  <a:rPr lang="zh-CN" sz="1120" dirty="0">
                                    <a:solidFill>
                                      <a:srgbClr val="1F2937"/>
                                    </a:solidFill>
                                    <a:latin typeface="Cambria Math"/>
                                    <a:ea typeface="Cambria Math"/>
                                    <a:cs typeface="Cambria Math"/>
                                  </a:rPr>
                                  <m:t>N</m:t>
                                </m:r>
                              </m:den>
                            </m:f>
                          </m:e>
                        </m:rad>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R</m:t>
                            </m:r>
                          </m:e>
                          <m:sub>
                            <m:r>
                              <m:rPr>
                                <m:sty m:val="p"/>
                              </m:rPr>
                              <a:rPr lang="zh-CN" sz="1120" dirty="0">
                                <a:solidFill>
                                  <a:srgbClr val="1F2937"/>
                                </a:solidFill>
                                <a:latin typeface="Cambria Math"/>
                                <a:ea typeface="Cambria Math"/>
                                <a:cs typeface="Cambria Math"/>
                              </a:rPr>
                              <m:t>emp</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w</m:t>
                            </m:r>
                          </m:e>
                        </m:d>
                        <m:r>
                          <m:rPr>
                            <m:sty m:val="p"/>
                          </m:rPr>
                          <a:rPr lang="zh-CN" sz="1120" dirty="0">
                            <a:solidFill>
                              <a:srgbClr val="1F2937"/>
                            </a:solidFill>
                            <a:latin typeface="Cambria Math"/>
                            <a:ea typeface="Cambria Math"/>
                            <a:cs typeface="Cambria Math"/>
                          </a:rPr>
                          <m:t>+Φ</m:t>
                        </m:r>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h</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N</m:t>
                            </m:r>
                          </m:e>
                        </m:d>
                      </m:oMath>
                    </m:oMathPara>
                  </a14:m>
                </a:p>
              </p:txBody>
            </p:sp>
          </mc:Choice>
        </mc:AlternateContent>
        <p:sp>
          <p:nvSpPr>
            <p:cNvPr id="30" name="TextBox 30"/>
            <p:cNvSpPr txBox="1"/>
            <p:nvPr/>
          </p:nvSpPr>
          <p:spPr>
            <a:xfrm>
              <a:off x="747141" y="5289233"/>
              <a:ext cx="4116648"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上界只依赖 h 与 N，与数据的真实分布无关，所以能真的拿来用。</a:t>
              </a:r>
            </a:p>
          </p:txBody>
        </p:sp>
      </p:grpSp>
      <p:grpSp>
        <p:nvGrpSpPr>
          <p:cNvPr id="65" name="c2-table-1"/>
          <p:cNvGrpSpPr/>
          <p:nvPr/>
        </p:nvGrpSpPr>
        <p:grpSpPr>
          <a:xfrm>
            <a:off x="6243447" y="1928812"/>
            <a:ext cx="5415153" cy="2170462"/>
            <a:chOff x="6243447" y="1928812"/>
            <a:chExt cx="5415153" cy="2170462"/>
          </a:xfrm>
        </p:grpSpPr>
        <p:sp>
          <p:nvSpPr>
            <p:cNvPr id="32" name="Rectangle 32"/>
            <p:cNvSpPr/>
            <p:nvPr/>
          </p:nvSpPr>
          <p:spPr>
            <a:xfrm>
              <a:off x="6248400" y="1928812"/>
              <a:ext cx="5410200" cy="381000"/>
            </a:xfrm>
            <a:prstGeom prst="rect">
              <a:avLst/>
            </a:prstGeom>
            <a:solidFill>
              <a:srgbClr val="0E7C86"/>
            </a:solidFill>
            <a:ln>
              <a:noFill/>
            </a:ln>
          </p:spPr>
        </p:sp>
        <p:sp>
          <p:nvSpPr>
            <p:cNvPr id="33" name="TextBox 33"/>
            <p:cNvSpPr txBox="1"/>
            <p:nvPr/>
          </p:nvSpPr>
          <p:spPr>
            <a:xfrm>
              <a:off x="6540559" y="2045970"/>
              <a:ext cx="49772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VC 维 h</a:t>
              </a:r>
            </a:p>
          </p:txBody>
        </p:sp>
        <p:sp>
          <p:nvSpPr>
            <p:cNvPr id="34" name="TextBox 34"/>
            <p:cNvSpPr txBox="1"/>
            <p:nvPr/>
          </p:nvSpPr>
          <p:spPr>
            <a:xfrm>
              <a:off x="7749376" y="2045970"/>
              <a:ext cx="56801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样本数 N</a:t>
              </a:r>
            </a:p>
          </p:txBody>
        </p:sp>
        <p:sp>
          <p:nvSpPr>
            <p:cNvPr id="35" name="TextBox 35"/>
            <p:cNvSpPr txBox="1"/>
            <p:nvPr/>
          </p:nvSpPr>
          <p:spPr>
            <a:xfrm>
              <a:off x="9147058" y="2045970"/>
              <a:ext cx="26248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h/N</a:t>
              </a:r>
            </a:p>
          </p:txBody>
        </p:sp>
        <p:sp>
          <p:nvSpPr>
            <p:cNvPr id="36" name="TextBox 36"/>
            <p:cNvSpPr txBox="1"/>
            <p:nvPr/>
          </p:nvSpPr>
          <p:spPr>
            <a:xfrm>
              <a:off x="10479019" y="2045970"/>
              <a:ext cx="518932" cy="205359"/>
            </a:xfrm>
            <a:prstGeom prst="rect">
              <a:avLst/>
            </a:prstGeom>
            <a:noFill/>
            <a:ln>
              <a:noFill/>
            </a:ln>
          </p:spPr>
          <p:txBody>
            <a:bodyPr wrap="none" lIns="0" tIns="0" rIns="0" bIns="0" anchor="t" anchorCtr="0">
              <a:spAutoFit/>
            </a:bodyPr>
            <a:lstStyle/>
            <a:p>
              <a:pPr algn="ctr"/>
              <a:r>
                <a:rPr lang="el-GR" sz="1050" b="1" dirty="0">
                  <a:solidFill>
                    <a:srgbClr val="FFFFFF"/>
                  </a:solidFill>
                  <a:latin typeface="+mn-lt"/>
                  <a:ea typeface="+mn-ea"/>
                  <a:cs typeface="+mn-cs"/>
                </a:rPr>
                <a:t>Φ(h/N)</a:t>
              </a:r>
            </a:p>
          </p:txBody>
        </p:sp>
        <p:sp>
          <p:nvSpPr>
            <p:cNvPr id="37" name="TextBox 37"/>
            <p:cNvSpPr txBox="1"/>
            <p:nvPr/>
          </p:nvSpPr>
          <p:spPr>
            <a:xfrm>
              <a:off x="6343079" y="2426970"/>
              <a:ext cx="17392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10</a:t>
              </a:r>
            </a:p>
          </p:txBody>
        </p:sp>
        <p:sp>
          <p:nvSpPr>
            <p:cNvPr id="38" name="TextBox 38"/>
            <p:cNvSpPr txBox="1"/>
            <p:nvPr/>
          </p:nvSpPr>
          <p:spPr>
            <a:xfrm>
              <a:off x="7425119" y="2426970"/>
              <a:ext cx="24389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100</a:t>
              </a:r>
            </a:p>
          </p:txBody>
        </p:sp>
        <p:sp>
          <p:nvSpPr>
            <p:cNvPr id="39" name="TextBox 39"/>
            <p:cNvSpPr txBox="1"/>
            <p:nvPr/>
          </p:nvSpPr>
          <p:spPr>
            <a:xfrm>
              <a:off x="8831961" y="2426970"/>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0.100</a:t>
              </a:r>
            </a:p>
          </p:txBody>
        </p:sp>
        <p:sp>
          <p:nvSpPr>
            <p:cNvPr id="40" name="TextBox 40"/>
            <p:cNvSpPr txBox="1"/>
            <p:nvPr/>
          </p:nvSpPr>
          <p:spPr>
            <a:xfrm>
              <a:off x="9914001" y="2426970"/>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0.666</a:t>
              </a:r>
            </a:p>
          </p:txBody>
        </p:sp>
        <p:sp>
          <p:nvSpPr>
            <p:cNvPr id="41" name="Rectangle 41"/>
            <p:cNvSpPr/>
            <p:nvPr/>
          </p:nvSpPr>
          <p:spPr>
            <a:xfrm>
              <a:off x="6248400" y="2687002"/>
              <a:ext cx="5410200" cy="9525"/>
            </a:xfrm>
            <a:prstGeom prst="rect">
              <a:avLst/>
            </a:prstGeom>
            <a:solidFill>
              <a:srgbClr val="D9DFEA"/>
            </a:solidFill>
            <a:ln>
              <a:noFill/>
            </a:ln>
          </p:spPr>
        </p:sp>
        <p:sp>
          <p:nvSpPr>
            <p:cNvPr id="42" name="Rectangle 42"/>
            <p:cNvSpPr/>
            <p:nvPr/>
          </p:nvSpPr>
          <p:spPr>
            <a:xfrm>
              <a:off x="6248400" y="2691765"/>
              <a:ext cx="5410200" cy="381000"/>
            </a:xfrm>
            <a:prstGeom prst="rect">
              <a:avLst/>
            </a:prstGeom>
            <a:solidFill>
              <a:srgbClr val="F4F6FB"/>
            </a:solidFill>
            <a:ln>
              <a:noFill/>
            </a:ln>
          </p:spPr>
        </p:sp>
        <p:sp>
          <p:nvSpPr>
            <p:cNvPr id="43" name="TextBox 43"/>
            <p:cNvSpPr txBox="1"/>
            <p:nvPr/>
          </p:nvSpPr>
          <p:spPr>
            <a:xfrm>
              <a:off x="6343079" y="2808923"/>
              <a:ext cx="17392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10</a:t>
              </a:r>
            </a:p>
          </p:txBody>
        </p:sp>
        <p:sp>
          <p:nvSpPr>
            <p:cNvPr id="44" name="TextBox 44"/>
            <p:cNvSpPr txBox="1"/>
            <p:nvPr/>
          </p:nvSpPr>
          <p:spPr>
            <a:xfrm>
              <a:off x="7425119" y="2808923"/>
              <a:ext cx="44178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10 000</a:t>
              </a:r>
            </a:p>
          </p:txBody>
        </p:sp>
        <p:sp>
          <p:nvSpPr>
            <p:cNvPr id="45" name="TextBox 45"/>
            <p:cNvSpPr txBox="1"/>
            <p:nvPr/>
          </p:nvSpPr>
          <p:spPr>
            <a:xfrm>
              <a:off x="8831961" y="280892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0.001</a:t>
              </a:r>
            </a:p>
          </p:txBody>
        </p:sp>
        <p:sp>
          <p:nvSpPr>
            <p:cNvPr id="46" name="Rectangle 46"/>
            <p:cNvSpPr/>
            <p:nvPr/>
          </p:nvSpPr>
          <p:spPr>
            <a:xfrm>
              <a:off x="9828848" y="2701290"/>
              <a:ext cx="1820228" cy="361950"/>
            </a:xfrm>
            <a:prstGeom prst="rect">
              <a:avLst/>
            </a:prstGeom>
            <a:solidFill>
              <a:srgbClr val="E3F5F1"/>
            </a:solidFill>
            <a:ln>
              <a:noFill/>
            </a:ln>
          </p:spPr>
        </p:sp>
        <p:sp>
          <p:nvSpPr>
            <p:cNvPr id="47" name="TextBox 47"/>
            <p:cNvSpPr txBox="1"/>
            <p:nvPr/>
          </p:nvSpPr>
          <p:spPr>
            <a:xfrm>
              <a:off x="9914001" y="280892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0.095</a:t>
              </a:r>
            </a:p>
          </p:txBody>
        </p:sp>
        <p:sp>
          <p:nvSpPr>
            <p:cNvPr id="48" name="Rectangle 48"/>
            <p:cNvSpPr/>
            <p:nvPr/>
          </p:nvSpPr>
          <p:spPr>
            <a:xfrm>
              <a:off x="6248400" y="3068002"/>
              <a:ext cx="5410200" cy="9525"/>
            </a:xfrm>
            <a:prstGeom prst="rect">
              <a:avLst/>
            </a:prstGeom>
            <a:solidFill>
              <a:srgbClr val="D9DFEA"/>
            </a:solidFill>
            <a:ln>
              <a:noFill/>
            </a:ln>
          </p:spPr>
        </p:sp>
        <p:sp>
          <p:nvSpPr>
            <p:cNvPr id="49" name="TextBox 49"/>
            <p:cNvSpPr txBox="1"/>
            <p:nvPr/>
          </p:nvSpPr>
          <p:spPr>
            <a:xfrm>
              <a:off x="6343079" y="3189923"/>
              <a:ext cx="255559"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100</a:t>
              </a:r>
            </a:p>
          </p:txBody>
        </p:sp>
        <p:sp>
          <p:nvSpPr>
            <p:cNvPr id="50" name="TextBox 50"/>
            <p:cNvSpPr txBox="1"/>
            <p:nvPr/>
          </p:nvSpPr>
          <p:spPr>
            <a:xfrm>
              <a:off x="7425119" y="3189923"/>
              <a:ext cx="44178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10 000</a:t>
              </a:r>
            </a:p>
          </p:txBody>
        </p:sp>
        <p:sp>
          <p:nvSpPr>
            <p:cNvPr id="51" name="TextBox 51"/>
            <p:cNvSpPr txBox="1"/>
            <p:nvPr/>
          </p:nvSpPr>
          <p:spPr>
            <a:xfrm>
              <a:off x="8831961" y="318992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0.010</a:t>
              </a:r>
            </a:p>
          </p:txBody>
        </p:sp>
        <p:sp>
          <p:nvSpPr>
            <p:cNvPr id="52" name="TextBox 52"/>
            <p:cNvSpPr txBox="1"/>
            <p:nvPr/>
          </p:nvSpPr>
          <p:spPr>
            <a:xfrm>
              <a:off x="9914001" y="3189923"/>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0.252</a:t>
              </a:r>
            </a:p>
          </p:txBody>
        </p:sp>
        <p:sp>
          <p:nvSpPr>
            <p:cNvPr id="53" name="Rectangle 53"/>
            <p:cNvSpPr/>
            <p:nvPr/>
          </p:nvSpPr>
          <p:spPr>
            <a:xfrm>
              <a:off x="6248400" y="3449002"/>
              <a:ext cx="5410200" cy="9525"/>
            </a:xfrm>
            <a:prstGeom prst="rect">
              <a:avLst/>
            </a:prstGeom>
            <a:solidFill>
              <a:srgbClr val="D9DFEA"/>
            </a:solidFill>
            <a:ln>
              <a:noFill/>
            </a:ln>
          </p:spPr>
        </p:sp>
        <p:sp>
          <p:nvSpPr>
            <p:cNvPr id="54" name="Rectangle 54"/>
            <p:cNvSpPr/>
            <p:nvPr/>
          </p:nvSpPr>
          <p:spPr>
            <a:xfrm>
              <a:off x="6248400" y="3453765"/>
              <a:ext cx="5410200" cy="381000"/>
            </a:xfrm>
            <a:prstGeom prst="rect">
              <a:avLst/>
            </a:prstGeom>
            <a:solidFill>
              <a:srgbClr val="F4F6FB"/>
            </a:solidFill>
            <a:ln>
              <a:noFill/>
            </a:ln>
          </p:spPr>
        </p:sp>
        <p:sp>
          <p:nvSpPr>
            <p:cNvPr id="55" name="TextBox 55"/>
            <p:cNvSpPr txBox="1"/>
            <p:nvPr/>
          </p:nvSpPr>
          <p:spPr>
            <a:xfrm>
              <a:off x="6343079" y="3571875"/>
              <a:ext cx="381714"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1 000</a:t>
              </a:r>
            </a:p>
          </p:txBody>
        </p:sp>
        <p:sp>
          <p:nvSpPr>
            <p:cNvPr id="56" name="TextBox 56"/>
            <p:cNvSpPr txBox="1"/>
            <p:nvPr/>
          </p:nvSpPr>
          <p:spPr>
            <a:xfrm>
              <a:off x="7425119" y="3571875"/>
              <a:ext cx="44178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10 000</a:t>
              </a:r>
            </a:p>
          </p:txBody>
        </p:sp>
        <p:sp>
          <p:nvSpPr>
            <p:cNvPr id="57" name="TextBox 57"/>
            <p:cNvSpPr txBox="1"/>
            <p:nvPr/>
          </p:nvSpPr>
          <p:spPr>
            <a:xfrm>
              <a:off x="8831961" y="357187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0.100</a:t>
              </a:r>
            </a:p>
          </p:txBody>
        </p:sp>
        <p:sp>
          <p:nvSpPr>
            <p:cNvPr id="58" name="Rectangle 58"/>
            <p:cNvSpPr/>
            <p:nvPr/>
          </p:nvSpPr>
          <p:spPr>
            <a:xfrm>
              <a:off x="9828848" y="3463290"/>
              <a:ext cx="1820228" cy="361950"/>
            </a:xfrm>
            <a:prstGeom prst="rect">
              <a:avLst/>
            </a:prstGeom>
            <a:solidFill>
              <a:srgbClr val="FDECEA"/>
            </a:solidFill>
            <a:ln>
              <a:noFill/>
            </a:ln>
          </p:spPr>
        </p:sp>
        <p:sp>
          <p:nvSpPr>
            <p:cNvPr id="59" name="TextBox 59"/>
            <p:cNvSpPr txBox="1"/>
            <p:nvPr/>
          </p:nvSpPr>
          <p:spPr>
            <a:xfrm>
              <a:off x="9914001" y="3571875"/>
              <a:ext cx="39938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0.633</a:t>
              </a:r>
            </a:p>
          </p:txBody>
        </p:sp>
        <p:sp>
          <p:nvSpPr>
            <p:cNvPr id="60" name="Rectangle 60"/>
            <p:cNvSpPr/>
            <p:nvPr/>
          </p:nvSpPr>
          <p:spPr>
            <a:xfrm>
              <a:off x="6248400" y="1928812"/>
              <a:ext cx="5410200" cy="1906905"/>
            </a:xfrm>
            <a:prstGeom prst="rect">
              <a:avLst/>
            </a:prstGeom>
            <a:noFill/>
            <a:ln w="14288">
              <a:solidFill>
                <a:srgbClr val="D9DFEA"/>
              </a:solidFill>
            </a:ln>
          </p:spPr>
        </p:sp>
        <p:sp>
          <p:nvSpPr>
            <p:cNvPr id="61" name="Rectangle 61"/>
            <p:cNvSpPr/>
            <p:nvPr/>
          </p:nvSpPr>
          <p:spPr>
            <a:xfrm>
              <a:off x="7325678" y="1928812"/>
              <a:ext cx="9525" cy="1906905"/>
            </a:xfrm>
            <a:prstGeom prst="rect">
              <a:avLst/>
            </a:prstGeom>
            <a:solidFill>
              <a:srgbClr val="D9DFEA"/>
            </a:solidFill>
            <a:ln>
              <a:noFill/>
            </a:ln>
          </p:spPr>
        </p:sp>
        <p:sp>
          <p:nvSpPr>
            <p:cNvPr id="62" name="Rectangle 62"/>
            <p:cNvSpPr/>
            <p:nvPr/>
          </p:nvSpPr>
          <p:spPr>
            <a:xfrm>
              <a:off x="8732520" y="1928812"/>
              <a:ext cx="9525" cy="1906905"/>
            </a:xfrm>
            <a:prstGeom prst="rect">
              <a:avLst/>
            </a:prstGeom>
            <a:solidFill>
              <a:srgbClr val="D9DFEA"/>
            </a:solidFill>
            <a:ln>
              <a:noFill/>
            </a:ln>
          </p:spPr>
        </p:sp>
        <p:sp>
          <p:nvSpPr>
            <p:cNvPr id="63" name="Rectangle 63"/>
            <p:cNvSpPr/>
            <p:nvPr/>
          </p:nvSpPr>
          <p:spPr>
            <a:xfrm>
              <a:off x="9814560" y="1928812"/>
              <a:ext cx="9525" cy="1906905"/>
            </a:xfrm>
            <a:prstGeom prst="rect">
              <a:avLst/>
            </a:prstGeom>
            <a:solidFill>
              <a:srgbClr val="D9DFEA"/>
            </a:solidFill>
            <a:ln>
              <a:noFill/>
            </a:ln>
          </p:spPr>
        </p:sp>
        <p:sp>
          <p:nvSpPr>
            <p:cNvPr id="64" name="TextBox 64"/>
            <p:cNvSpPr txBox="1"/>
            <p:nvPr/>
          </p:nvSpPr>
          <p:spPr>
            <a:xfrm>
              <a:off x="6243447" y="3908584"/>
              <a:ext cx="254360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η = 0.05 时的置信项：起作用的是比值 h/N</a:t>
              </a:r>
            </a:p>
          </p:txBody>
        </p:sp>
      </p:grpSp>
      <p:grpSp>
        <p:nvGrpSpPr>
          <p:cNvPr id="72" name="c2-card-2"/>
          <p:cNvGrpSpPr/>
          <p:nvPr/>
        </p:nvGrpSpPr>
        <p:grpSpPr>
          <a:xfrm>
            <a:off x="6248400" y="4226242"/>
            <a:ext cx="5410200" cy="1408748"/>
            <a:chOff x="6248400" y="4226242"/>
            <a:chExt cx="5410200" cy="1408748"/>
          </a:xfrm>
        </p:grpSpPr>
        <p:sp>
          <p:nvSpPr>
            <p:cNvPr id="66" name="Rectangle 66"/>
            <p:cNvSpPr/>
            <p:nvPr/>
          </p:nvSpPr>
          <p:spPr>
            <a:xfrm>
              <a:off x="6248400" y="4226242"/>
              <a:ext cx="5410200" cy="1408748"/>
            </a:xfrm>
            <a:prstGeom prst="roundRect">
              <a:avLst>
                <a:gd name="adj" fmla="val 9466"/>
              </a:avLst>
            </a:prstGeom>
            <a:solidFill>
              <a:srgbClr val="FFFFFF"/>
            </a:solidFill>
            <a:ln w="14288">
              <a:solidFill>
                <a:srgbClr val="D9DFEA"/>
              </a:solidFill>
            </a:ln>
          </p:spPr>
        </p:sp>
        <p:sp>
          <p:nvSpPr>
            <p:cNvPr id="67" name="Rectangle 67"/>
            <p:cNvSpPr/>
            <p:nvPr/>
          </p:nvSpPr>
          <p:spPr>
            <a:xfrm>
              <a:off x="6257925" y="4359592"/>
              <a:ext cx="47625" cy="1142048"/>
            </a:xfrm>
            <a:prstGeom prst="roundRect">
              <a:avLst>
                <a:gd name="adj" fmla="val 50000"/>
              </a:avLst>
            </a:prstGeom>
            <a:solidFill>
              <a:srgbClr val="5B6475"/>
            </a:solidFill>
            <a:ln>
              <a:noFill/>
            </a:ln>
          </p:spPr>
        </p:sp>
        <p:sp>
          <p:nvSpPr>
            <p:cNvPr id="68" name="Rectangle 68"/>
            <p:cNvSpPr/>
            <p:nvPr/>
          </p:nvSpPr>
          <p:spPr>
            <a:xfrm>
              <a:off x="6467475" y="4407218"/>
              <a:ext cx="458152" cy="238125"/>
            </a:xfrm>
            <a:prstGeom prst="roundRect">
              <a:avLst>
                <a:gd name="adj" fmla="val 50000"/>
              </a:avLst>
            </a:prstGeom>
            <a:solidFill>
              <a:srgbClr val="F4F6FB"/>
            </a:solidFill>
            <a:ln>
              <a:noFill/>
            </a:ln>
          </p:spPr>
        </p:sp>
        <p:sp>
          <p:nvSpPr>
            <p:cNvPr id="69" name="TextBox 69"/>
            <p:cNvSpPr txBox="1"/>
            <p:nvPr/>
          </p:nvSpPr>
          <p:spPr>
            <a:xfrm>
              <a:off x="6560147" y="4440079"/>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70" name="TextBox 70"/>
            <p:cNvSpPr txBox="1"/>
            <p:nvPr/>
          </p:nvSpPr>
          <p:spPr>
            <a:xfrm>
              <a:off x="7033451" y="4446746"/>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原课件把对数写反了</a:t>
              </a:r>
            </a:p>
          </p:txBody>
        </p:sp>
        <p:sp>
          <p:nvSpPr>
            <p:cNvPr id="71" name="TextBox 71"/>
            <p:cNvSpPr txBox="1"/>
            <p:nvPr/>
          </p:nvSpPr>
          <p:spPr>
            <a:xfrm>
              <a:off x="6460998" y="4762976"/>
              <a:ext cx="4639005"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B 版第 10 页、A 版第 6 页写成 ln(2h/n)，正确写法是</a:t>
              </a:r>
              <a:br/>
              <a:r>
                <a:rPr lang="en-US" sz="1280" b="1" dirty="0">
                  <a:solidFill>
                    <a:srgbClr val="C2410C"/>
                  </a:solidFill>
                  <a:latin typeface="+mn-lt"/>
                  <a:ea typeface="+mn-ea"/>
                  <a:cs typeface="+mn-cs"/>
                </a:rPr>
                <a:t>ln(2N/h)</a:t>
              </a:r>
              <a:r>
                <a:rPr lang="zh-CN" sz="1280" dirty="0">
                  <a:solidFill>
                    <a:srgbClr val="1F2937"/>
                  </a:solidFill>
                  <a:latin typeface="+mn-lt"/>
                  <a:ea typeface="+mn-ea"/>
                  <a:cs typeface="+mn-cs"/>
                </a:rPr>
                <a:t>。代 h = 10、N = 10000：原式的 2h/N = 0.002，ln 为</a:t>
              </a:r>
              <a:br/>
              <a:r>
                <a:rPr lang="zh-CN" sz="1280" dirty="0">
                  <a:solidFill>
                    <a:srgbClr val="1F2937"/>
                  </a:solidFill>
                  <a:latin typeface="+mn-lt"/>
                  <a:ea typeface="+mn-ea"/>
                  <a:cs typeface="+mn-cs"/>
                </a:rPr>
                <a:t>负，根号内变成 −47.76，根本开不出来。</a:t>
              </a:r>
            </a:p>
          </p:txBody>
        </p:sp>
      </p:grpSp>
      <p:grpSp>
        <p:nvGrpSpPr>
          <p:cNvPr id="79" name="takeaway"/>
          <p:cNvGrpSpPr/>
          <p:nvPr/>
        </p:nvGrpSpPr>
        <p:grpSpPr>
          <a:xfrm>
            <a:off x="533400" y="5895022"/>
            <a:ext cx="11125200" cy="467678"/>
            <a:chOff x="533400" y="5895022"/>
            <a:chExt cx="11125200" cy="467678"/>
          </a:xfrm>
        </p:grpSpPr>
        <p:sp>
          <p:nvSpPr>
            <p:cNvPr id="73" name="Rectangle 73"/>
            <p:cNvSpPr/>
            <p:nvPr/>
          </p:nvSpPr>
          <p:spPr>
            <a:xfrm>
              <a:off x="533400" y="5895022"/>
              <a:ext cx="11125200" cy="467678"/>
            </a:xfrm>
            <a:prstGeom prst="roundRect">
              <a:avLst>
                <a:gd name="adj" fmla="val 24440"/>
              </a:avLst>
            </a:prstGeom>
            <a:solidFill>
              <a:srgbClr val="FDEEE7"/>
            </a:solidFill>
            <a:ln>
              <a:noFill/>
            </a:ln>
          </p:spPr>
        </p:sp>
        <p:grpSp>
          <p:nvGrpSpPr>
            <p:cNvPr id="77" name="Group 77"/>
            <p:cNvGrpSpPr/>
            <p:nvPr/>
          </p:nvGrpSpPr>
          <p:grpSpPr>
            <a:xfrm>
              <a:off x="738188" y="6028373"/>
              <a:ext cx="200026" cy="200025"/>
              <a:chOff x="738188" y="6028373"/>
              <a:chExt cx="200026" cy="200025"/>
            </a:xfrm>
          </p:grpSpPr>
          <p:sp>
            <p:nvSpPr>
              <p:cNvPr id="74" name="Freeform 74"/>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5" name="Freeform 75"/>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6" name="Freeform 76"/>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8" name="TextBox 78"/>
            <p:cNvSpPr txBox="1"/>
            <p:nvPr/>
          </p:nvSpPr>
          <p:spPr>
            <a:xfrm>
              <a:off x="1041273" y="6039326"/>
              <a:ext cx="6536243"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h 固定时 N 越大 Φ 越小；N 固定时 h 越大 Φ 越大。小样本问题指的就是 h/N 不够小。</a:t>
              </a:r>
            </a:p>
          </p:txBody>
        </p:sp>
      </p:grpSp>
      <p:grpSp>
        <p:nvGrpSpPr>
          <p:cNvPr id="82" name="footer"/>
          <p:cNvGrpSpPr/>
          <p:nvPr/>
        </p:nvGrpSpPr>
        <p:grpSpPr>
          <a:xfrm>
            <a:off x="528447" y="6581299"/>
            <a:ext cx="11135106" cy="190690"/>
            <a:chOff x="528447" y="6581299"/>
            <a:chExt cx="11135106" cy="190690"/>
          </a:xfrm>
        </p:grpSpPr>
        <p:sp>
          <p:nvSpPr>
            <p:cNvPr id="80" name="TextBox 80"/>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81" name="TextBox 81"/>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54625" cy="909257"/>
            <a:chOff x="520446" y="342900"/>
            <a:chExt cx="6854625" cy="909257"/>
          </a:xfrm>
        </p:grpSpPr>
        <p:sp>
          <p:nvSpPr>
            <p:cNvPr id="2" name="Rectangle 2"/>
            <p:cNvSpPr/>
            <p:nvPr/>
          </p:nvSpPr>
          <p:spPr>
            <a:xfrm>
              <a:off x="533400" y="342900"/>
              <a:ext cx="2593658" cy="266700"/>
            </a:xfrm>
            <a:prstGeom prst="roundRect">
              <a:avLst>
                <a:gd name="adj" fmla="val 50000"/>
              </a:avLst>
            </a:prstGeom>
            <a:solidFill>
              <a:srgbClr val="E2F3F4"/>
            </a:solidFill>
            <a:ln>
              <a:noFill/>
            </a:ln>
          </p:spPr>
        </p:sp>
        <p:sp>
          <p:nvSpPr>
            <p:cNvPr id="3" name="TextBox 3"/>
            <p:cNvSpPr txBox="1"/>
            <p:nvPr/>
          </p:nvSpPr>
          <p:spPr>
            <a:xfrm>
              <a:off x="576106" y="407194"/>
              <a:ext cx="2507294"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SVM 的理论基础</a:t>
              </a:r>
            </a:p>
          </p:txBody>
        </p:sp>
        <p:sp>
          <p:nvSpPr>
            <p:cNvPr id="4" name="TextBox 4"/>
            <p:cNvSpPr txBox="1"/>
            <p:nvPr/>
          </p:nvSpPr>
          <p:spPr>
            <a:xfrm>
              <a:off x="520446" y="753428"/>
              <a:ext cx="685462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结构风险最小化：在欠学习与过学习之间挑 h</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6737985" cy="264033"/>
            <a:chOff x="526542" y="1545907"/>
            <a:chExt cx="6737985" cy="264033"/>
          </a:xfrm>
        </p:grpSpPr>
        <p:sp>
          <p:nvSpPr>
            <p:cNvPr id="7" name="TextBox 7"/>
            <p:cNvSpPr txBox="1"/>
            <p:nvPr/>
          </p:nvSpPr>
          <p:spPr>
            <a:xfrm>
              <a:off x="526542" y="1545907"/>
              <a:ext cx="673798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把函数集按复杂度排成一列嵌套的子集，逐个算上界，取上界最小的那个子集来学。</a:t>
              </a:r>
            </a:p>
          </p:txBody>
        </p:sp>
      </p:grpSp>
      <p:grpSp>
        <p:nvGrpSpPr>
          <p:cNvPr id="26" name="c1-graph-1"/>
          <p:cNvGrpSpPr/>
          <p:nvPr/>
        </p:nvGrpSpPr>
        <p:grpSpPr>
          <a:xfrm>
            <a:off x="953452" y="1979771"/>
            <a:ext cx="5151120" cy="3274695"/>
            <a:chOff x="953452" y="1979771"/>
            <a:chExt cx="5151120" cy="3274695"/>
          </a:xfrm>
        </p:grpSpPr>
        <p:sp>
          <p:nvSpPr>
            <p:cNvPr id="9" name="Freeform 9"/>
            <p:cNvSpPr/>
            <p:nvPr/>
          </p:nvSpPr>
          <p:spPr>
            <a:xfrm>
              <a:off x="1039178" y="4936808"/>
              <a:ext cx="4970145" cy="9525"/>
            </a:xfrm>
            <a:custGeom>
              <a:avLst/>
              <a:gdLst/>
              <a:ahLst/>
              <a:cxnLst/>
              <a:rect l="l" t="t" r="r" b="b"/>
              <a:pathLst>
                <a:path w="4970145" h="9525">
                  <a:moveTo>
                    <a:pt x="0" y="0"/>
                  </a:moveTo>
                  <a:lnTo>
                    <a:pt x="4970145" y="0"/>
                  </a:lnTo>
                </a:path>
              </a:pathLst>
            </a:custGeom>
            <a:noFill/>
            <a:ln w="17145">
              <a:solidFill>
                <a:srgbClr val="5B6475"/>
              </a:solidFill>
            </a:ln>
          </p:spPr>
        </p:sp>
        <p:sp>
          <p:nvSpPr>
            <p:cNvPr id="10" name="Freeform 10"/>
            <p:cNvSpPr/>
            <p:nvPr/>
          </p:nvSpPr>
          <p:spPr>
            <a:xfrm>
              <a:off x="6009322" y="4889182"/>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11" name="Freeform 11"/>
            <p:cNvSpPr/>
            <p:nvPr/>
          </p:nvSpPr>
          <p:spPr>
            <a:xfrm>
              <a:off x="1001078" y="2395538"/>
              <a:ext cx="9525" cy="2449830"/>
            </a:xfrm>
            <a:custGeom>
              <a:avLst/>
              <a:gdLst/>
              <a:ahLst/>
              <a:cxnLst/>
              <a:rect l="l" t="t" r="r" b="b"/>
              <a:pathLst>
                <a:path w="9525" h="2449830">
                  <a:moveTo>
                    <a:pt x="0" y="0"/>
                  </a:moveTo>
                  <a:lnTo>
                    <a:pt x="0" y="2449830"/>
                  </a:lnTo>
                </a:path>
              </a:pathLst>
            </a:custGeom>
            <a:noFill/>
            <a:ln w="17145">
              <a:solidFill>
                <a:srgbClr val="5B6475"/>
              </a:solidFill>
            </a:ln>
          </p:spPr>
        </p:sp>
        <p:sp>
          <p:nvSpPr>
            <p:cNvPr id="12" name="Freeform 12"/>
            <p:cNvSpPr/>
            <p:nvPr/>
          </p:nvSpPr>
          <p:spPr>
            <a:xfrm>
              <a:off x="953452" y="2300288"/>
              <a:ext cx="95250" cy="95250"/>
            </a:xfrm>
            <a:custGeom>
              <a:avLst/>
              <a:gdLst/>
              <a:ahLst/>
              <a:cxnLst/>
              <a:rect l="l" t="t" r="r" b="b"/>
              <a:pathLst>
                <a:path w="95250" h="95250">
                  <a:moveTo>
                    <a:pt x="47625" y="0"/>
                  </a:moveTo>
                  <a:lnTo>
                    <a:pt x="95250" y="95250"/>
                  </a:lnTo>
                  <a:lnTo>
                    <a:pt x="0" y="95250"/>
                  </a:lnTo>
                  <a:close/>
                </a:path>
              </a:pathLst>
            </a:custGeom>
            <a:solidFill>
              <a:srgbClr val="5B6475"/>
            </a:solidFill>
            <a:ln>
              <a:noFill/>
            </a:ln>
          </p:spPr>
        </p:sp>
        <p:sp>
          <p:nvSpPr>
            <p:cNvPr id="13" name="Freeform 13"/>
            <p:cNvSpPr/>
            <p:nvPr/>
          </p:nvSpPr>
          <p:spPr>
            <a:xfrm>
              <a:off x="3128010" y="3825240"/>
              <a:ext cx="9525" cy="1020127"/>
            </a:xfrm>
            <a:custGeom>
              <a:avLst/>
              <a:gdLst/>
              <a:ahLst/>
              <a:cxnLst/>
              <a:rect l="l" t="t" r="r" b="b"/>
              <a:pathLst>
                <a:path w="9525" h="1020127">
                  <a:moveTo>
                    <a:pt x="0" y="0"/>
                  </a:moveTo>
                  <a:lnTo>
                    <a:pt x="0" y="1020127"/>
                  </a:lnTo>
                </a:path>
              </a:pathLst>
            </a:custGeom>
            <a:noFill/>
            <a:ln w="17145">
              <a:solidFill>
                <a:srgbClr val="5B6475"/>
              </a:solidFill>
              <a:custDash>
                <a:ds d="333333" sp="222222"/>
              </a:custDash>
            </a:ln>
          </p:spPr>
        </p:sp>
        <p:sp>
          <p:nvSpPr>
            <p:cNvPr id="14" name="Freeform 14"/>
            <p:cNvSpPr/>
            <p:nvPr/>
          </p:nvSpPr>
          <p:spPr>
            <a:xfrm>
              <a:off x="1330642" y="3431858"/>
              <a:ext cx="4330065" cy="1267777"/>
            </a:xfrm>
            <a:custGeom>
              <a:avLst/>
              <a:gdLst/>
              <a:ahLst/>
              <a:cxnLst/>
              <a:rect l="l" t="t" r="r" b="b"/>
              <a:pathLst>
                <a:path w="4330065" h="1267777">
                  <a:moveTo>
                    <a:pt x="0" y="0"/>
                  </a:moveTo>
                  <a:lnTo>
                    <a:pt x="330518" y="231458"/>
                  </a:lnTo>
                  <a:lnTo>
                    <a:pt x="692468" y="441008"/>
                  </a:lnTo>
                  <a:lnTo>
                    <a:pt x="1061085" y="612458"/>
                  </a:lnTo>
                  <a:lnTo>
                    <a:pt x="1428750" y="756285"/>
                  </a:lnTo>
                  <a:lnTo>
                    <a:pt x="1797368" y="871538"/>
                  </a:lnTo>
                  <a:lnTo>
                    <a:pt x="2165032" y="965835"/>
                  </a:lnTo>
                  <a:lnTo>
                    <a:pt x="2533650" y="1046797"/>
                  </a:lnTo>
                  <a:lnTo>
                    <a:pt x="2895600" y="1109662"/>
                  </a:lnTo>
                  <a:lnTo>
                    <a:pt x="3263265" y="1162050"/>
                  </a:lnTo>
                  <a:lnTo>
                    <a:pt x="3631882" y="1207770"/>
                  </a:lnTo>
                  <a:lnTo>
                    <a:pt x="3999548" y="1242060"/>
                  </a:lnTo>
                  <a:lnTo>
                    <a:pt x="4330065" y="1267777"/>
                  </a:lnTo>
                </a:path>
              </a:pathLst>
            </a:custGeom>
            <a:noFill/>
            <a:ln w="17145">
              <a:solidFill>
                <a:srgbClr val="F26B3A"/>
              </a:solidFill>
            </a:ln>
          </p:spPr>
        </p:sp>
        <p:sp>
          <p:nvSpPr>
            <p:cNvPr id="15" name="Freeform 15"/>
            <p:cNvSpPr/>
            <p:nvPr/>
          </p:nvSpPr>
          <p:spPr>
            <a:xfrm>
              <a:off x="1330642" y="3211830"/>
              <a:ext cx="4330065" cy="1548765"/>
            </a:xfrm>
            <a:custGeom>
              <a:avLst/>
              <a:gdLst/>
              <a:ahLst/>
              <a:cxnLst/>
              <a:rect l="l" t="t" r="r" b="b"/>
              <a:pathLst>
                <a:path w="4330065" h="1548765">
                  <a:moveTo>
                    <a:pt x="0" y="1548765"/>
                  </a:moveTo>
                  <a:lnTo>
                    <a:pt x="330518" y="1511618"/>
                  </a:lnTo>
                  <a:lnTo>
                    <a:pt x="692468" y="1448753"/>
                  </a:lnTo>
                  <a:lnTo>
                    <a:pt x="1061085" y="1364932"/>
                  </a:lnTo>
                  <a:lnTo>
                    <a:pt x="1428750" y="1266825"/>
                  </a:lnTo>
                  <a:lnTo>
                    <a:pt x="1797368" y="1154430"/>
                  </a:lnTo>
                  <a:lnTo>
                    <a:pt x="2165032" y="1024890"/>
                  </a:lnTo>
                  <a:lnTo>
                    <a:pt x="2533650" y="882015"/>
                  </a:lnTo>
                  <a:lnTo>
                    <a:pt x="2895600" y="727710"/>
                  </a:lnTo>
                  <a:lnTo>
                    <a:pt x="3263265" y="560070"/>
                  </a:lnTo>
                  <a:lnTo>
                    <a:pt x="3631882" y="378142"/>
                  </a:lnTo>
                  <a:lnTo>
                    <a:pt x="3999548" y="181928"/>
                  </a:lnTo>
                  <a:lnTo>
                    <a:pt x="4330065" y="0"/>
                  </a:lnTo>
                </a:path>
              </a:pathLst>
            </a:custGeom>
            <a:noFill/>
            <a:ln w="17145">
              <a:solidFill>
                <a:srgbClr val="14A38B"/>
              </a:solidFill>
            </a:ln>
          </p:spPr>
        </p:sp>
        <p:sp>
          <p:nvSpPr>
            <p:cNvPr id="16" name="Freeform 16"/>
            <p:cNvSpPr/>
            <p:nvPr/>
          </p:nvSpPr>
          <p:spPr>
            <a:xfrm>
              <a:off x="1330642" y="2974658"/>
              <a:ext cx="4330065" cy="759142"/>
            </a:xfrm>
            <a:custGeom>
              <a:avLst/>
              <a:gdLst/>
              <a:ahLst/>
              <a:cxnLst/>
              <a:rect l="l" t="t" r="r" b="b"/>
              <a:pathLst>
                <a:path w="4330065" h="759142">
                  <a:moveTo>
                    <a:pt x="0" y="280988"/>
                  </a:moveTo>
                  <a:lnTo>
                    <a:pt x="330518" y="475297"/>
                  </a:lnTo>
                  <a:lnTo>
                    <a:pt x="692468" y="621983"/>
                  </a:lnTo>
                  <a:lnTo>
                    <a:pt x="1061085" y="713422"/>
                  </a:lnTo>
                  <a:lnTo>
                    <a:pt x="1428750" y="755333"/>
                  </a:lnTo>
                  <a:lnTo>
                    <a:pt x="1797368" y="759142"/>
                  </a:lnTo>
                  <a:lnTo>
                    <a:pt x="2165032" y="727710"/>
                  </a:lnTo>
                  <a:lnTo>
                    <a:pt x="2533650" y="661035"/>
                  </a:lnTo>
                  <a:lnTo>
                    <a:pt x="2895600" y="569595"/>
                  </a:lnTo>
                  <a:lnTo>
                    <a:pt x="3263265" y="454342"/>
                  </a:lnTo>
                  <a:lnTo>
                    <a:pt x="3631882" y="318135"/>
                  </a:lnTo>
                  <a:lnTo>
                    <a:pt x="3999548" y="157162"/>
                  </a:lnTo>
                  <a:lnTo>
                    <a:pt x="4330065" y="0"/>
                  </a:lnTo>
                </a:path>
              </a:pathLst>
            </a:custGeom>
            <a:noFill/>
            <a:ln w="17145">
              <a:solidFill>
                <a:srgbClr val="B42318"/>
              </a:solidFill>
            </a:ln>
          </p:spPr>
        </p:sp>
        <p:sp>
          <p:nvSpPr>
            <p:cNvPr id="17" name="Ellipse 17"/>
            <p:cNvSpPr/>
            <p:nvPr/>
          </p:nvSpPr>
          <p:spPr>
            <a:xfrm>
              <a:off x="3070860" y="3676650"/>
              <a:ext cx="114300" cy="114300"/>
            </a:xfrm>
            <a:prstGeom prst="ellipse">
              <a:avLst/>
            </a:prstGeom>
            <a:solidFill>
              <a:srgbClr val="0E7C86"/>
            </a:solidFill>
            <a:ln>
              <a:noFill/>
            </a:ln>
          </p:spPr>
        </p:sp>
        <p:sp>
          <p:nvSpPr>
            <p:cNvPr id="18" name="TextBox 18"/>
            <p:cNvSpPr txBox="1"/>
            <p:nvPr/>
          </p:nvSpPr>
          <p:spPr>
            <a:xfrm>
              <a:off x="1002132" y="1979771"/>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风险</a:t>
              </a:r>
            </a:p>
          </p:txBody>
        </p:sp>
        <p:sp>
          <p:nvSpPr>
            <p:cNvPr id="19" name="TextBox 19"/>
            <p:cNvSpPr txBox="1"/>
            <p:nvPr/>
          </p:nvSpPr>
          <p:spPr>
            <a:xfrm>
              <a:off x="5653242" y="5092541"/>
              <a:ext cx="377035" cy="161925"/>
            </a:xfrm>
            <a:prstGeom prst="rect">
              <a:avLst/>
            </a:prstGeom>
            <a:noFill/>
            <a:ln>
              <a:noFill/>
            </a:ln>
          </p:spPr>
          <p:txBody>
            <a:bodyPr wrap="none" lIns="0" tIns="0" rIns="0" bIns="0" anchor="t" anchorCtr="0">
              <a:spAutoFit/>
            </a:bodyPr>
            <a:lstStyle/>
            <a:p>
              <a:pPr algn="r"/>
              <a:r>
                <a:rPr lang="zh-CN" sz="820" dirty="0">
                  <a:solidFill>
                    <a:srgbClr val="5B6475"/>
                  </a:solidFill>
                  <a:latin typeface="+mn-lt"/>
                  <a:ea typeface="+mn-ea"/>
                  <a:cs typeface="+mn-cs"/>
                </a:rPr>
                <a:t>VC 维 h</a:t>
              </a:r>
            </a:p>
          </p:txBody>
        </p:sp>
        <p:sp>
          <p:nvSpPr>
            <p:cNvPr id="20" name="TextBox 20"/>
            <p:cNvSpPr txBox="1"/>
            <p:nvPr/>
          </p:nvSpPr>
          <p:spPr>
            <a:xfrm>
              <a:off x="4515053" y="4707731"/>
              <a:ext cx="451079" cy="161925"/>
            </a:xfrm>
            <a:prstGeom prst="rect">
              <a:avLst/>
            </a:prstGeom>
            <a:noFill/>
            <a:ln>
              <a:noFill/>
            </a:ln>
          </p:spPr>
          <p:txBody>
            <a:bodyPr wrap="none" lIns="0" tIns="0" rIns="0" bIns="0" anchor="t" anchorCtr="0">
              <a:spAutoFit/>
            </a:bodyPr>
            <a:lstStyle/>
            <a:p>
              <a:pPr algn="ctr"/>
              <a:r>
                <a:rPr lang="zh-CN" sz="820" dirty="0">
                  <a:solidFill>
                    <a:srgbClr val="F26B3A"/>
                  </a:solidFill>
                  <a:latin typeface="+mn-lt"/>
                  <a:ea typeface="+mn-ea"/>
                  <a:cs typeface="+mn-cs"/>
                </a:rPr>
                <a:t>经验风险</a:t>
              </a:r>
            </a:p>
          </p:txBody>
        </p:sp>
        <p:sp>
          <p:nvSpPr>
            <p:cNvPr id="21" name="TextBox 21"/>
            <p:cNvSpPr txBox="1"/>
            <p:nvPr/>
          </p:nvSpPr>
          <p:spPr>
            <a:xfrm>
              <a:off x="4225544" y="4007644"/>
              <a:ext cx="561467" cy="161925"/>
            </a:xfrm>
            <a:prstGeom prst="rect">
              <a:avLst/>
            </a:prstGeom>
            <a:noFill/>
            <a:ln>
              <a:noFill/>
            </a:ln>
          </p:spPr>
          <p:txBody>
            <a:bodyPr wrap="none" lIns="0" tIns="0" rIns="0" bIns="0" anchor="t" anchorCtr="0">
              <a:spAutoFit/>
            </a:bodyPr>
            <a:lstStyle/>
            <a:p>
              <a:pPr algn="ctr"/>
              <a:r>
                <a:rPr lang="zh-CN" sz="820" dirty="0">
                  <a:solidFill>
                    <a:srgbClr val="14A38B"/>
                  </a:solidFill>
                  <a:latin typeface="+mn-lt"/>
                  <a:ea typeface="+mn-ea"/>
                  <a:cs typeface="+mn-cs"/>
                </a:rPr>
                <a:t>复杂度风险</a:t>
              </a:r>
            </a:p>
          </p:txBody>
        </p:sp>
        <p:sp>
          <p:nvSpPr>
            <p:cNvPr id="22" name="TextBox 22"/>
            <p:cNvSpPr txBox="1"/>
            <p:nvPr/>
          </p:nvSpPr>
          <p:spPr>
            <a:xfrm>
              <a:off x="1606321" y="2888456"/>
              <a:ext cx="892632" cy="161925"/>
            </a:xfrm>
            <a:prstGeom prst="rect">
              <a:avLst/>
            </a:prstGeom>
            <a:noFill/>
            <a:ln>
              <a:noFill/>
            </a:ln>
          </p:spPr>
          <p:txBody>
            <a:bodyPr wrap="none" lIns="0" tIns="0" rIns="0" bIns="0" anchor="t" anchorCtr="0">
              <a:spAutoFit/>
            </a:bodyPr>
            <a:lstStyle/>
            <a:p>
              <a:pPr algn="ctr"/>
              <a:r>
                <a:rPr lang="zh-CN" sz="820" dirty="0">
                  <a:solidFill>
                    <a:srgbClr val="B42318"/>
                  </a:solidFill>
                  <a:latin typeface="+mn-lt"/>
                  <a:ea typeface="+mn-ea"/>
                  <a:cs typeface="+mn-cs"/>
                </a:rPr>
                <a:t>结构风险（上界）</a:t>
              </a:r>
            </a:p>
          </p:txBody>
        </p:sp>
        <p:sp>
          <p:nvSpPr>
            <p:cNvPr id="23" name="TextBox 23"/>
            <p:cNvSpPr txBox="1"/>
            <p:nvPr/>
          </p:nvSpPr>
          <p:spPr>
            <a:xfrm>
              <a:off x="3062534" y="5092541"/>
              <a:ext cx="130952" cy="161925"/>
            </a:xfrm>
            <a:prstGeom prst="rect">
              <a:avLst/>
            </a:prstGeom>
            <a:noFill/>
            <a:ln>
              <a:noFill/>
            </a:ln>
          </p:spPr>
          <p:txBody>
            <a:bodyPr wrap="none" lIns="0" tIns="0" rIns="0" bIns="0" anchor="t" anchorCtr="0">
              <a:spAutoFit/>
            </a:bodyPr>
            <a:lstStyle/>
            <a:p>
              <a:pPr algn="ctr"/>
              <a:r>
                <a:rPr lang="en-US" sz="820" dirty="0">
                  <a:solidFill>
                    <a:srgbClr val="0E7C86"/>
                  </a:solidFill>
                  <a:latin typeface="+mn-lt"/>
                  <a:ea typeface="+mn-ea"/>
                  <a:cs typeface="+mn-cs"/>
                </a:rPr>
                <a:t>h*</a:t>
              </a:r>
            </a:p>
          </p:txBody>
        </p:sp>
        <p:sp>
          <p:nvSpPr>
            <p:cNvPr id="24" name="TextBox 24"/>
            <p:cNvSpPr txBox="1"/>
            <p:nvPr/>
          </p:nvSpPr>
          <p:spPr>
            <a:xfrm>
              <a:off x="1414615" y="4218146"/>
              <a:ext cx="340690"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欠学习</a:t>
              </a:r>
            </a:p>
          </p:txBody>
        </p:sp>
        <p:sp>
          <p:nvSpPr>
            <p:cNvPr id="25" name="TextBox 25"/>
            <p:cNvSpPr txBox="1"/>
            <p:nvPr/>
          </p:nvSpPr>
          <p:spPr>
            <a:xfrm>
              <a:off x="5271287" y="4007644"/>
              <a:ext cx="340690"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过学习</a:t>
              </a:r>
            </a:p>
          </p:txBody>
        </p:sp>
      </p:grpSp>
      <p:grpSp>
        <p:nvGrpSpPr>
          <p:cNvPr id="37" name="c2-card-1"/>
          <p:cNvGrpSpPr/>
          <p:nvPr/>
        </p:nvGrpSpPr>
        <p:grpSpPr>
          <a:xfrm>
            <a:off x="6680835" y="1928812"/>
            <a:ext cx="4977765" cy="1973580"/>
            <a:chOff x="6680835" y="1928812"/>
            <a:chExt cx="4977765" cy="1973580"/>
          </a:xfrm>
        </p:grpSpPr>
        <p:sp>
          <p:nvSpPr>
            <p:cNvPr id="27" name="Rectangle 27"/>
            <p:cNvSpPr/>
            <p:nvPr/>
          </p:nvSpPr>
          <p:spPr>
            <a:xfrm>
              <a:off x="6680835" y="1928812"/>
              <a:ext cx="4977765" cy="1973580"/>
            </a:xfrm>
            <a:prstGeom prst="roundRect">
              <a:avLst>
                <a:gd name="adj" fmla="val 6757"/>
              </a:avLst>
            </a:prstGeom>
            <a:solidFill>
              <a:srgbClr val="FFFFFF"/>
            </a:solidFill>
            <a:ln w="14288">
              <a:solidFill>
                <a:srgbClr val="D9DFEA"/>
              </a:solidFill>
            </a:ln>
          </p:spPr>
        </p:sp>
        <p:sp>
          <p:nvSpPr>
            <p:cNvPr id="28" name="Rectangle 28"/>
            <p:cNvSpPr/>
            <p:nvPr/>
          </p:nvSpPr>
          <p:spPr>
            <a:xfrm>
              <a:off x="6690360" y="2062162"/>
              <a:ext cx="47625" cy="1706880"/>
            </a:xfrm>
            <a:prstGeom prst="roundRect">
              <a:avLst>
                <a:gd name="adj" fmla="val 50000"/>
              </a:avLst>
            </a:prstGeom>
            <a:solidFill>
              <a:srgbClr val="0E7C86"/>
            </a:solidFill>
            <a:ln>
              <a:noFill/>
            </a:ln>
          </p:spPr>
        </p:sp>
        <p:sp>
          <p:nvSpPr>
            <p:cNvPr id="29" name="Rectangle 29"/>
            <p:cNvSpPr/>
            <p:nvPr/>
          </p:nvSpPr>
          <p:spPr>
            <a:xfrm>
              <a:off x="6899910" y="2109788"/>
              <a:ext cx="1081088" cy="238125"/>
            </a:xfrm>
            <a:prstGeom prst="roundRect">
              <a:avLst>
                <a:gd name="adj" fmla="val 50000"/>
              </a:avLst>
            </a:prstGeom>
            <a:solidFill>
              <a:srgbClr val="E2F3F4"/>
            </a:solidFill>
            <a:ln>
              <a:noFill/>
            </a:ln>
          </p:spPr>
        </p:sp>
        <p:sp>
          <p:nvSpPr>
            <p:cNvPr id="30" name="TextBox 30"/>
            <p:cNvSpPr txBox="1"/>
            <p:nvPr/>
          </p:nvSpPr>
          <p:spPr>
            <a:xfrm>
              <a:off x="6974230" y="2142649"/>
              <a:ext cx="93339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结构风险最小化</a:t>
              </a:r>
            </a:p>
          </p:txBody>
        </p:sp>
        <p:sp>
          <p:nvSpPr>
            <p:cNvPr id="31" name="TextBox 31"/>
            <p:cNvSpPr txBox="1"/>
            <p:nvPr/>
          </p:nvSpPr>
          <p:spPr>
            <a:xfrm>
              <a:off x="8088820" y="2149316"/>
              <a:ext cx="303575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SRM，structural risk minimization</a:t>
              </a:r>
            </a:p>
          </p:txBody>
        </p:sp>
        <p:sp>
          <p:nvSpPr>
            <p:cNvPr id="32" name="TextBox 32"/>
            <p:cNvSpPr txBox="1"/>
            <p:nvPr/>
          </p:nvSpPr>
          <p:spPr>
            <a:xfrm>
              <a:off x="6893433" y="2465546"/>
              <a:ext cx="4272026"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把函数集拆成一列嵌套子集 S₁ ⊂ S₂ ⊂ S₃，对应的 VC 维 h₁</a:t>
              </a:r>
              <a:br/>
              <a:r>
                <a:rPr lang="zh-CN" sz="1280" dirty="0">
                  <a:solidFill>
                    <a:srgbClr val="1F2937"/>
                  </a:solidFill>
                  <a:latin typeface="+mn-lt"/>
                  <a:ea typeface="+mn-ea"/>
                  <a:cs typeface="+mn-cs"/>
                </a:rPr>
                <a:t>≤ h₂ ≤ h₃。在每个子集里做经验风险最小化，再比较各子集</a:t>
              </a:r>
              <a:br/>
              <a:r>
                <a:rPr lang="zh-CN" sz="1280" dirty="0">
                  <a:solidFill>
                    <a:srgbClr val="1F2937"/>
                  </a:solidFill>
                  <a:latin typeface="+mn-lt"/>
                  <a:ea typeface="+mn-ea"/>
                  <a:cs typeface="+mn-cs"/>
                </a:rPr>
                <a:t>的上界，取上界最小的那个。</a:t>
              </a:r>
            </a:p>
          </p:txBody>
        </p:sp>
        <p:sp>
          <p:nvSpPr>
            <p:cNvPr id="33" name="Ellipse 33"/>
            <p:cNvSpPr/>
            <p:nvPr/>
          </p:nvSpPr>
          <p:spPr>
            <a:xfrm>
              <a:off x="6909435" y="3288982"/>
              <a:ext cx="57150" cy="57150"/>
            </a:xfrm>
            <a:prstGeom prst="ellipse">
              <a:avLst/>
            </a:prstGeom>
            <a:solidFill>
              <a:srgbClr val="0E7C86"/>
            </a:solidFill>
            <a:ln>
              <a:noFill/>
            </a:ln>
          </p:spPr>
        </p:sp>
        <p:sp>
          <p:nvSpPr>
            <p:cNvPr id="34" name="TextBox 34"/>
            <p:cNvSpPr txBox="1"/>
            <p:nvPr/>
          </p:nvSpPr>
          <p:spPr>
            <a:xfrm>
              <a:off x="7064883" y="3237071"/>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子集越大，经验风险越低，复杂度风险越高</a:t>
              </a:r>
            </a:p>
          </p:txBody>
        </p:sp>
        <p:sp>
          <p:nvSpPr>
            <p:cNvPr id="35" name="Ellipse 35"/>
            <p:cNvSpPr/>
            <p:nvPr/>
          </p:nvSpPr>
          <p:spPr>
            <a:xfrm>
              <a:off x="6909435" y="3573780"/>
              <a:ext cx="57150" cy="57150"/>
            </a:xfrm>
            <a:prstGeom prst="ellipse">
              <a:avLst/>
            </a:prstGeom>
            <a:solidFill>
              <a:srgbClr val="0E7C86"/>
            </a:solidFill>
            <a:ln>
              <a:noFill/>
            </a:ln>
          </p:spPr>
        </p:sp>
        <p:sp>
          <p:nvSpPr>
            <p:cNvPr id="36" name="TextBox 36"/>
            <p:cNvSpPr txBox="1"/>
            <p:nvPr/>
          </p:nvSpPr>
          <p:spPr>
            <a:xfrm>
              <a:off x="7064883" y="3521869"/>
              <a:ext cx="370046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上界是两条反向曲线之和，所以有一个最低点 h*</a:t>
              </a:r>
            </a:p>
          </p:txBody>
        </p:sp>
      </p:grpSp>
      <p:grpSp>
        <p:nvGrpSpPr>
          <p:cNvPr id="54" name="c2-compare-2"/>
          <p:cNvGrpSpPr/>
          <p:nvPr/>
        </p:nvGrpSpPr>
        <p:grpSpPr>
          <a:xfrm>
            <a:off x="6680835" y="4066222"/>
            <a:ext cx="4977765" cy="1411605"/>
            <a:chOff x="6680835" y="4066222"/>
            <a:chExt cx="4977765" cy="1411605"/>
          </a:xfrm>
        </p:grpSpPr>
        <p:sp>
          <p:nvSpPr>
            <p:cNvPr id="38" name="Rectangle 38"/>
            <p:cNvSpPr/>
            <p:nvPr/>
          </p:nvSpPr>
          <p:spPr>
            <a:xfrm>
              <a:off x="6680835" y="4066222"/>
              <a:ext cx="2279332" cy="1411605"/>
            </a:xfrm>
            <a:prstGeom prst="roundRect">
              <a:avLst>
                <a:gd name="adj" fmla="val 9447"/>
              </a:avLst>
            </a:prstGeom>
            <a:solidFill>
              <a:srgbClr val="FFFFFF"/>
            </a:solidFill>
            <a:ln w="14288">
              <a:solidFill>
                <a:srgbClr val="D9DFEA"/>
              </a:solidFill>
            </a:ln>
          </p:spPr>
        </p:sp>
        <p:sp>
          <p:nvSpPr>
            <p:cNvPr id="39" name="Rectangle 39"/>
            <p:cNvSpPr/>
            <p:nvPr/>
          </p:nvSpPr>
          <p:spPr>
            <a:xfrm>
              <a:off x="6690360" y="4199572"/>
              <a:ext cx="47625" cy="1144905"/>
            </a:xfrm>
            <a:prstGeom prst="roundRect">
              <a:avLst>
                <a:gd name="adj" fmla="val 50000"/>
              </a:avLst>
            </a:prstGeom>
            <a:solidFill>
              <a:srgbClr val="B42318"/>
            </a:solidFill>
            <a:ln>
              <a:noFill/>
            </a:ln>
          </p:spPr>
        </p:sp>
        <p:sp>
          <p:nvSpPr>
            <p:cNvPr id="40" name="TextBox 40"/>
            <p:cNvSpPr txBox="1"/>
            <p:nvPr/>
          </p:nvSpPr>
          <p:spPr>
            <a:xfrm>
              <a:off x="6893433" y="4268629"/>
              <a:ext cx="137293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h 太小（欠学习）</a:t>
              </a:r>
            </a:p>
          </p:txBody>
        </p:sp>
        <p:sp>
          <p:nvSpPr>
            <p:cNvPr id="41" name="Ellipse 41"/>
            <p:cNvSpPr/>
            <p:nvPr/>
          </p:nvSpPr>
          <p:spPr>
            <a:xfrm>
              <a:off x="6909435" y="4622482"/>
              <a:ext cx="57150" cy="57150"/>
            </a:xfrm>
            <a:prstGeom prst="ellipse">
              <a:avLst/>
            </a:prstGeom>
            <a:solidFill>
              <a:srgbClr val="0E7C86"/>
            </a:solidFill>
            <a:ln>
              <a:noFill/>
            </a:ln>
          </p:spPr>
        </p:sp>
        <p:sp>
          <p:nvSpPr>
            <p:cNvPr id="42" name="TextBox 42"/>
            <p:cNvSpPr txBox="1"/>
            <p:nvPr/>
          </p:nvSpPr>
          <p:spPr>
            <a:xfrm>
              <a:off x="7064883" y="4569619"/>
              <a:ext cx="16385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假设空间装不下真实规</a:t>
              </a:r>
              <a:br/>
              <a:r>
                <a:rPr lang="zh-CN" sz="1280" dirty="0">
                  <a:solidFill>
                    <a:srgbClr val="1F2937"/>
                  </a:solidFill>
                  <a:latin typeface="+mn-lt"/>
                  <a:ea typeface="+mn-ea"/>
                  <a:cs typeface="+mn-cs"/>
                </a:rPr>
                <a:t>律</a:t>
              </a:r>
            </a:p>
          </p:txBody>
        </p:sp>
        <p:sp>
          <p:nvSpPr>
            <p:cNvPr id="43" name="Ellipse 43"/>
            <p:cNvSpPr/>
            <p:nvPr/>
          </p:nvSpPr>
          <p:spPr>
            <a:xfrm>
              <a:off x="6909435" y="5150168"/>
              <a:ext cx="57150" cy="57150"/>
            </a:xfrm>
            <a:prstGeom prst="ellipse">
              <a:avLst/>
            </a:prstGeom>
            <a:solidFill>
              <a:srgbClr val="0E7C86"/>
            </a:solidFill>
            <a:ln>
              <a:noFill/>
            </a:ln>
          </p:spPr>
        </p:sp>
        <p:sp>
          <p:nvSpPr>
            <p:cNvPr id="44" name="TextBox 44"/>
            <p:cNvSpPr txBox="1"/>
            <p:nvPr/>
          </p:nvSpPr>
          <p:spPr>
            <a:xfrm>
              <a:off x="7064883" y="5097304"/>
              <a:ext cx="173609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训练误差本身就下不来</a:t>
              </a:r>
            </a:p>
          </p:txBody>
        </p:sp>
        <p:sp>
          <p:nvSpPr>
            <p:cNvPr id="45" name="Rectangle 45"/>
            <p:cNvSpPr/>
            <p:nvPr/>
          </p:nvSpPr>
          <p:spPr>
            <a:xfrm>
              <a:off x="9379268" y="4066222"/>
              <a:ext cx="2279332" cy="1411605"/>
            </a:xfrm>
            <a:prstGeom prst="roundRect">
              <a:avLst>
                <a:gd name="adj" fmla="val 9447"/>
              </a:avLst>
            </a:prstGeom>
            <a:solidFill>
              <a:srgbClr val="FFFFFF"/>
            </a:solidFill>
            <a:ln w="14288">
              <a:solidFill>
                <a:srgbClr val="D9DFEA"/>
              </a:solidFill>
            </a:ln>
          </p:spPr>
        </p:sp>
        <p:sp>
          <p:nvSpPr>
            <p:cNvPr id="46" name="Rectangle 46"/>
            <p:cNvSpPr/>
            <p:nvPr/>
          </p:nvSpPr>
          <p:spPr>
            <a:xfrm>
              <a:off x="9388792" y="4199572"/>
              <a:ext cx="47625" cy="1144905"/>
            </a:xfrm>
            <a:prstGeom prst="roundRect">
              <a:avLst>
                <a:gd name="adj" fmla="val 50000"/>
              </a:avLst>
            </a:prstGeom>
            <a:solidFill>
              <a:srgbClr val="B42318"/>
            </a:solidFill>
            <a:ln>
              <a:noFill/>
            </a:ln>
          </p:spPr>
        </p:sp>
        <p:sp>
          <p:nvSpPr>
            <p:cNvPr id="47" name="TextBox 47"/>
            <p:cNvSpPr txBox="1"/>
            <p:nvPr/>
          </p:nvSpPr>
          <p:spPr>
            <a:xfrm>
              <a:off x="9591866" y="4268629"/>
              <a:ext cx="137293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h 太大（过学习）</a:t>
              </a:r>
            </a:p>
          </p:txBody>
        </p:sp>
        <p:sp>
          <p:nvSpPr>
            <p:cNvPr id="48" name="Ellipse 48"/>
            <p:cNvSpPr/>
            <p:nvPr/>
          </p:nvSpPr>
          <p:spPr>
            <a:xfrm>
              <a:off x="9607868" y="4622482"/>
              <a:ext cx="57150" cy="57150"/>
            </a:xfrm>
            <a:prstGeom prst="ellipse">
              <a:avLst/>
            </a:prstGeom>
            <a:solidFill>
              <a:srgbClr val="0E7C86"/>
            </a:solidFill>
            <a:ln>
              <a:noFill/>
            </a:ln>
          </p:spPr>
        </p:sp>
        <p:sp>
          <p:nvSpPr>
            <p:cNvPr id="49" name="TextBox 49"/>
            <p:cNvSpPr txBox="1"/>
            <p:nvPr/>
          </p:nvSpPr>
          <p:spPr>
            <a:xfrm>
              <a:off x="9763316" y="4569619"/>
              <a:ext cx="171024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训练误差很低甚至为 0</a:t>
              </a:r>
            </a:p>
          </p:txBody>
        </p:sp>
        <p:sp>
          <p:nvSpPr>
            <p:cNvPr id="50" name="Ellipse 50"/>
            <p:cNvSpPr/>
            <p:nvPr/>
          </p:nvSpPr>
          <p:spPr>
            <a:xfrm>
              <a:off x="9607868" y="4907280"/>
              <a:ext cx="57150" cy="57150"/>
            </a:xfrm>
            <a:prstGeom prst="ellipse">
              <a:avLst/>
            </a:prstGeom>
            <a:solidFill>
              <a:srgbClr val="0E7C86"/>
            </a:solidFill>
            <a:ln>
              <a:noFill/>
            </a:ln>
          </p:spPr>
        </p:sp>
        <p:sp>
          <p:nvSpPr>
            <p:cNvPr id="51" name="TextBox 51"/>
            <p:cNvSpPr txBox="1"/>
            <p:nvPr/>
          </p:nvSpPr>
          <p:spPr>
            <a:xfrm>
              <a:off x="9763316" y="4854416"/>
              <a:ext cx="16385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复杂度风险把上界顶了</a:t>
              </a:r>
              <a:br/>
              <a:r>
                <a:rPr lang="zh-CN" sz="1280" dirty="0">
                  <a:solidFill>
                    <a:srgbClr val="1F2937"/>
                  </a:solidFill>
                  <a:latin typeface="+mn-lt"/>
                  <a:ea typeface="+mn-ea"/>
                  <a:cs typeface="+mn-cs"/>
                </a:rPr>
                <a:t>回去</a:t>
              </a:r>
            </a:p>
          </p:txBody>
        </p:sp>
        <p:sp>
          <p:nvSpPr>
            <p:cNvPr id="52" name="Ellipse 52"/>
            <p:cNvSpPr/>
            <p:nvPr/>
          </p:nvSpPr>
          <p:spPr>
            <a:xfrm>
              <a:off x="9007792" y="4610100"/>
              <a:ext cx="323850" cy="323850"/>
            </a:xfrm>
            <a:prstGeom prst="ellipse">
              <a:avLst/>
            </a:prstGeom>
            <a:solidFill>
              <a:srgbClr val="F26B3A"/>
            </a:solidFill>
            <a:ln>
              <a:noFill/>
            </a:ln>
          </p:spPr>
        </p:sp>
        <p:sp>
          <p:nvSpPr>
            <p:cNvPr id="53" name="TextBox 53"/>
            <p:cNvSpPr txBox="1"/>
            <p:nvPr/>
          </p:nvSpPr>
          <p:spPr>
            <a:xfrm>
              <a:off x="9091026" y="4715828"/>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VS</a:t>
              </a:r>
            </a:p>
          </p:txBody>
        </p:sp>
      </p:grpSp>
      <p:grpSp>
        <p:nvGrpSpPr>
          <p:cNvPr id="60" name="takeaway"/>
          <p:cNvGrpSpPr/>
          <p:nvPr/>
        </p:nvGrpSpPr>
        <p:grpSpPr>
          <a:xfrm>
            <a:off x="533400" y="5895022"/>
            <a:ext cx="11125200" cy="467678"/>
            <a:chOff x="533400" y="5895022"/>
            <a:chExt cx="11125200" cy="467678"/>
          </a:xfrm>
        </p:grpSpPr>
        <p:sp>
          <p:nvSpPr>
            <p:cNvPr id="55" name="Rectangle 55"/>
            <p:cNvSpPr/>
            <p:nvPr/>
          </p:nvSpPr>
          <p:spPr>
            <a:xfrm>
              <a:off x="533400" y="5895022"/>
              <a:ext cx="11125200" cy="467678"/>
            </a:xfrm>
            <a:prstGeom prst="roundRect">
              <a:avLst>
                <a:gd name="adj" fmla="val 24440"/>
              </a:avLst>
            </a:prstGeom>
            <a:solidFill>
              <a:srgbClr val="0E7C86"/>
            </a:solidFill>
            <a:ln>
              <a:noFill/>
            </a:ln>
          </p:spPr>
        </p:sp>
        <p:grpSp>
          <p:nvGrpSpPr>
            <p:cNvPr id="58" name="Group 58"/>
            <p:cNvGrpSpPr/>
            <p:nvPr/>
          </p:nvGrpSpPr>
          <p:grpSpPr>
            <a:xfrm>
              <a:off x="738188" y="6028375"/>
              <a:ext cx="200023" cy="200023"/>
              <a:chOff x="738188" y="6028375"/>
              <a:chExt cx="200023" cy="200023"/>
            </a:xfrm>
          </p:grpSpPr>
          <p:sp>
            <p:nvSpPr>
              <p:cNvPr id="56" name="Freeform 56"/>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1273" y="6039326"/>
              <a:ext cx="7925237"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SVM 的做法：固定用线性函数（h 不大），再通过最大化间隔进一步把这一类函数的有效 VC 维压下去。</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2" name="TextBox 62"/>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18" name="section-title"/>
          <p:cNvGrpSpPr/>
          <p:nvPr/>
        </p:nvGrpSpPr>
        <p:grpSpPr>
          <a:xfrm>
            <a:off x="667512" y="1835468"/>
            <a:ext cx="5852160" cy="3351847"/>
            <a:chOff x="667512" y="1835468"/>
            <a:chExt cx="5852160"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585216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线性判别函数与最优分类面</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68134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能分开的界线有无穷多条，凭什么说某一条最好</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320573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线性判别函数 g(x) 与它的几何意义</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40538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函数间隔可以随意缩放，几何间隔才是真距离</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170135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支持向量与 2/||w||</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硬间隔最大化是一个凸二次规划</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线性判别函数与最优分类面</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线性判别函数：一个超平面把空间切成两半</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410200" cy="2185035"/>
            <a:chOff x="533400" y="1524000"/>
            <a:chExt cx="5410200" cy="2185035"/>
          </a:xfrm>
        </p:grpSpPr>
        <p:sp>
          <p:nvSpPr>
            <p:cNvPr id="7" name="Rectangle 7"/>
            <p:cNvSpPr/>
            <p:nvPr/>
          </p:nvSpPr>
          <p:spPr>
            <a:xfrm>
              <a:off x="533400" y="1524000"/>
              <a:ext cx="5410200" cy="2185035"/>
            </a:xfrm>
            <a:prstGeom prst="roundRect">
              <a:avLst>
                <a:gd name="adj" fmla="val 6103"/>
              </a:avLst>
            </a:prstGeom>
            <a:solidFill>
              <a:srgbClr val="FFFFFF"/>
            </a:solidFill>
            <a:ln w="14288">
              <a:solidFill>
                <a:srgbClr val="D9DFEA"/>
              </a:solidFill>
            </a:ln>
          </p:spPr>
        </p:sp>
        <p:sp>
          <p:nvSpPr>
            <p:cNvPr id="8" name="Rectangle 8"/>
            <p:cNvSpPr/>
            <p:nvPr/>
          </p:nvSpPr>
          <p:spPr>
            <a:xfrm>
              <a:off x="542925" y="1657350"/>
              <a:ext cx="47625" cy="1918335"/>
            </a:xfrm>
            <a:prstGeom prst="roundRect">
              <a:avLst>
                <a:gd name="adj" fmla="val 50000"/>
              </a:avLst>
            </a:prstGeom>
            <a:solidFill>
              <a:srgbClr val="0E7C86"/>
            </a:solidFill>
            <a:ln>
              <a:noFill/>
            </a:ln>
          </p:spPr>
        </p:sp>
        <p:sp>
          <p:nvSpPr>
            <p:cNvPr id="9" name="Rectangle 9"/>
            <p:cNvSpPr/>
            <p:nvPr/>
          </p:nvSpPr>
          <p:spPr>
            <a:xfrm>
              <a:off x="781050" y="1733550"/>
              <a:ext cx="494348" cy="257175"/>
            </a:xfrm>
            <a:prstGeom prst="roundRect">
              <a:avLst>
                <a:gd name="adj" fmla="val 50000"/>
              </a:avLst>
            </a:prstGeom>
            <a:solidFill>
              <a:srgbClr val="E2F3F4"/>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定义</a:t>
              </a:r>
            </a:p>
          </p:txBody>
        </p:sp>
        <p:sp>
          <p:nvSpPr>
            <p:cNvPr id="11" name="TextBox 11"/>
            <p:cNvSpPr txBox="1"/>
            <p:nvPr/>
          </p:nvSpPr>
          <p:spPr>
            <a:xfrm>
              <a:off x="1382078" y="1768792"/>
              <a:ext cx="3516706"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线性判别函数 discriminant function</a:t>
              </a:r>
            </a:p>
          </p:txBody>
        </p:sp>
        <p:sp>
          <p:nvSpPr>
            <p:cNvPr id="12" name="TextBox 12"/>
            <p:cNvSpPr txBox="1"/>
            <p:nvPr/>
          </p:nvSpPr>
          <p:spPr>
            <a:xfrm>
              <a:off x="773430" y="2129790"/>
              <a:ext cx="34783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由 x 的各个分量线性组合而成的函数：</a:t>
              </a:r>
            </a:p>
          </p:txBody>
        </p:sp>
        <mc:AlternateContent xmlns:mc="http://schemas.openxmlformats.org/markup-compatibility/2006">
          <mc:Choice xmlns:a14="http://schemas.microsoft.com/office/drawing/2010/main" Requires="a14">
            <p:sp>
              <p:nvSpPr>
                <p:cNvPr id="13" name="formula24"/>
                <p:cNvSpPr txBox="1">
                  <a:spLocks noGrp="1"/>
                </p:cNvSpPr>
                <p:nvPr/>
              </p:nvSpPr>
              <p:spPr>
                <a:xfrm>
                  <a:off x="781050" y="2440305"/>
                  <a:ext cx="4953000" cy="4191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650" dirty="0">
                            <a:solidFill>
                              <a:srgbClr val="1F2937"/>
                            </a:solidFill>
                            <a:latin typeface="Cambria Math"/>
                            <a:ea typeface="Cambria Math"/>
                            <a:cs typeface="Cambria Math"/>
                          </a:rPr>
                          <m:t>g</m:t>
                        </m:r>
                        <m:d>
                          <m:dPr>
                            <m:begChr m:val="("/>
                            <m:sepChr m:val=""/>
                            <m:endChr m:val=")"/>
                            <m:grow m:val="on"/>
                            <m:ctrlPr>
                              <a:rPr lang="zh-CN" sz="1650" dirty="0">
                                <a:solidFill>
                                  <a:srgbClr val="1F2937"/>
                                </a:solidFill>
                                <a:latin typeface="Cambria Math"/>
                                <a:ea typeface="Cambria Math"/>
                                <a:cs typeface="Cambria Math"/>
                              </a:rPr>
                            </m:ctrlPr>
                          </m:dPr>
                          <m:e>
                            <m:r>
                              <a:rPr lang="zh-CN" sz="1650" dirty="0">
                                <a:solidFill>
                                  <a:srgbClr val="1F2937"/>
                                </a:solidFill>
                                <a:latin typeface="Cambria Math"/>
                                <a:ea typeface="Cambria Math"/>
                                <a:cs typeface="Cambria Math"/>
                              </a:rPr>
                              <m:t>x</m:t>
                            </m:r>
                          </m:e>
                        </m:d>
                        <m:r>
                          <m:rPr>
                            <m:sty m:val="p"/>
                          </m:rPr>
                          <a:rPr lang="zh-CN" sz="1650" dirty="0">
                            <a:solidFill>
                              <a:srgbClr val="1F2937"/>
                            </a:solidFill>
                            <a:latin typeface="Cambria Math"/>
                            <a:ea typeface="Cambria Math"/>
                            <a:cs typeface="Cambria Math"/>
                          </a:rPr>
                          <m:t>=</m:t>
                        </m:r>
                        <m:sSup>
                          <m:e>
                            <m:r>
                              <a:rPr lang="zh-CN" sz="1650" dirty="0">
                                <a:solidFill>
                                  <a:srgbClr val="1F2937"/>
                                </a:solidFill>
                                <a:latin typeface="Cambria Math"/>
                                <a:ea typeface="Cambria Math"/>
                                <a:cs typeface="Cambria Math"/>
                              </a:rPr>
                              <m:t>w</m:t>
                            </m:r>
                          </m:e>
                          <m:sup>
                            <m:r>
                              <a:rPr lang="zh-CN" sz="1650" dirty="0">
                                <a:solidFill>
                                  <a:srgbClr val="1F2937"/>
                                </a:solidFill>
                                <a:latin typeface="Cambria Math"/>
                                <a:ea typeface="Cambria Math"/>
                                <a:cs typeface="Cambria Math"/>
                              </a:rPr>
                              <m:t>T</m:t>
                            </m:r>
                          </m:sup>
                        </m:sSup>
                        <m:r>
                          <a:rPr lang="zh-CN" sz="1650" dirty="0">
                            <a:solidFill>
                              <a:srgbClr val="1F2937"/>
                            </a:solidFill>
                            <a:latin typeface="Cambria Math"/>
                            <a:ea typeface="Cambria Math"/>
                            <a:cs typeface="Cambria Math"/>
                          </a:rPr>
                          <m:t>x</m:t>
                        </m:r>
                        <m:r>
                          <m:rPr>
                            <m:sty m:val="p"/>
                          </m:rPr>
                          <a:rPr lang="zh-CN" sz="1650" dirty="0">
                            <a:solidFill>
                              <a:srgbClr val="1F2937"/>
                            </a:solidFill>
                            <a:latin typeface="Cambria Math"/>
                            <a:ea typeface="Cambria Math"/>
                            <a:cs typeface="Cambria Math"/>
                          </a:rPr>
                          <m:t>+</m:t>
                        </m:r>
                        <m:sSub>
                          <m:e>
                            <m:r>
                              <a:rPr lang="zh-CN" sz="1650" dirty="0">
                                <a:solidFill>
                                  <a:srgbClr val="1F2937"/>
                                </a:solidFill>
                                <a:latin typeface="Cambria Math"/>
                                <a:ea typeface="Cambria Math"/>
                                <a:cs typeface="Cambria Math"/>
                              </a:rPr>
                              <m:t>w</m:t>
                            </m:r>
                          </m:e>
                          <m:sub>
                            <m:r>
                              <a:rPr lang="zh-CN" sz="1650" dirty="0">
                                <a:solidFill>
                                  <a:srgbClr val="1F2937"/>
                                </a:solidFill>
                                <a:latin typeface="Cambria Math"/>
                                <a:ea typeface="Cambria Math"/>
                                <a:cs typeface="Cambria Math"/>
                              </a:rPr>
                              <m:t>0</m:t>
                            </m:r>
                          </m:sub>
                        </m:sSub>
                      </m:oMath>
                    </m:oMathPara>
                  </a14:m>
                </a:p>
              </p:txBody>
            </p:sp>
          </mc:Choice>
        </mc:AlternateContent>
        <p:sp>
          <p:nvSpPr>
            <p:cNvPr id="14" name="TextBox 14"/>
            <p:cNvSpPr txBox="1"/>
            <p:nvPr/>
          </p:nvSpPr>
          <p:spPr>
            <a:xfrm>
              <a:off x="773430" y="2979420"/>
              <a:ext cx="47396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两类问题的决策规则：g(x) &gt; 0 判为 C₁，g(x) &lt; 0 判为</a:t>
              </a:r>
              <a:br/>
              <a:r>
                <a:rPr lang="zh-CN" sz="1500" dirty="0">
                  <a:solidFill>
                    <a:srgbClr val="1F2937"/>
                  </a:solidFill>
                  <a:latin typeface="+mn-lt"/>
                  <a:ea typeface="+mn-ea"/>
                  <a:cs typeface="+mn-cs"/>
                </a:rPr>
                <a:t>C₂，g(x) = 0 可以任意分到某一类，也可以拒绝判定。</a:t>
              </a:r>
            </a:p>
          </p:txBody>
        </p:sp>
      </p:grpSp>
      <p:grpSp>
        <p:nvGrpSpPr>
          <p:cNvPr id="22" name="c1-bullets-2"/>
          <p:cNvGrpSpPr/>
          <p:nvPr/>
        </p:nvGrpSpPr>
        <p:grpSpPr>
          <a:xfrm>
            <a:off x="539115" y="3924300"/>
            <a:ext cx="5161026" cy="982980"/>
            <a:chOff x="539115" y="3924300"/>
            <a:chExt cx="5161026" cy="982980"/>
          </a:xfrm>
        </p:grpSpPr>
        <p:sp>
          <p:nvSpPr>
            <p:cNvPr id="16" name="Ellipse 16"/>
            <p:cNvSpPr/>
            <p:nvPr/>
          </p:nvSpPr>
          <p:spPr>
            <a:xfrm>
              <a:off x="539115" y="3987165"/>
              <a:ext cx="64770" cy="64770"/>
            </a:xfrm>
            <a:prstGeom prst="ellipse">
              <a:avLst/>
            </a:prstGeom>
            <a:solidFill>
              <a:srgbClr val="0E7C86"/>
            </a:solidFill>
            <a:ln>
              <a:noFill/>
            </a:ln>
          </p:spPr>
        </p:sp>
        <p:sp>
          <p:nvSpPr>
            <p:cNvPr id="17" name="TextBox 17"/>
            <p:cNvSpPr txBox="1"/>
            <p:nvPr/>
          </p:nvSpPr>
          <p:spPr>
            <a:xfrm>
              <a:off x="697230" y="3924300"/>
              <a:ext cx="48196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g(x) = 0 定义一个</a:t>
              </a:r>
              <a:r>
                <a:rPr lang="zh-CN" sz="1500" b="1" dirty="0">
                  <a:solidFill>
                    <a:srgbClr val="1F2937"/>
                  </a:solidFill>
                  <a:latin typeface="+mn-lt"/>
                  <a:ea typeface="+mn-ea"/>
                  <a:cs typeface="+mn-cs"/>
                </a:rPr>
                <a:t>判定面</a:t>
              </a:r>
              <a:r>
                <a:rPr lang="zh-CN" sz="1500" dirty="0">
                  <a:solidFill>
                    <a:srgbClr val="1F2937"/>
                  </a:solidFill>
                  <a:latin typeface="+mn-lt"/>
                  <a:ea typeface="+mn-ea"/>
                  <a:cs typeface="+mn-cs"/>
                </a:rPr>
                <a:t>，把 C₁ 的点与 C₂ 的点分开</a:t>
              </a:r>
            </a:p>
          </p:txBody>
        </p:sp>
        <p:sp>
          <p:nvSpPr>
            <p:cNvPr id="18" name="Ellipse 18"/>
            <p:cNvSpPr/>
            <p:nvPr/>
          </p:nvSpPr>
          <p:spPr>
            <a:xfrm>
              <a:off x="539115" y="4331970"/>
              <a:ext cx="64770" cy="64770"/>
            </a:xfrm>
            <a:prstGeom prst="ellipse">
              <a:avLst/>
            </a:prstGeom>
            <a:solidFill>
              <a:srgbClr val="0E7C86"/>
            </a:solidFill>
            <a:ln>
              <a:noFill/>
            </a:ln>
          </p:spPr>
        </p:sp>
        <p:sp>
          <p:nvSpPr>
            <p:cNvPr id="19" name="TextBox 19"/>
            <p:cNvSpPr txBox="1"/>
            <p:nvPr/>
          </p:nvSpPr>
          <p:spPr>
            <a:xfrm>
              <a:off x="697230" y="4269105"/>
              <a:ext cx="427596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g 是线性函数时这个面叫</a:t>
              </a:r>
              <a:r>
                <a:rPr lang="zh-CN" sz="1500" b="1" dirty="0">
                  <a:solidFill>
                    <a:srgbClr val="C2410C"/>
                  </a:solidFill>
                  <a:latin typeface="+mn-lt"/>
                  <a:ea typeface="+mn-ea"/>
                  <a:cs typeface="+mn-cs"/>
                </a:rPr>
                <a:t>超平面</a:t>
              </a:r>
              <a:r>
                <a:rPr lang="zh-CN" sz="1500" dirty="0">
                  <a:solidFill>
                    <a:srgbClr val="1F2937"/>
                  </a:solidFill>
                  <a:latin typeface="+mn-lt"/>
                  <a:ea typeface="+mn-ea"/>
                  <a:cs typeface="+mn-cs"/>
                </a:rPr>
                <a:t>（hyperplane）</a:t>
              </a:r>
            </a:p>
          </p:txBody>
        </p:sp>
        <p:sp>
          <p:nvSpPr>
            <p:cNvPr id="20" name="Ellipse 20"/>
            <p:cNvSpPr/>
            <p:nvPr/>
          </p:nvSpPr>
          <p:spPr>
            <a:xfrm>
              <a:off x="539115" y="4676775"/>
              <a:ext cx="64770" cy="64770"/>
            </a:xfrm>
            <a:prstGeom prst="ellipse">
              <a:avLst/>
            </a:prstGeom>
            <a:solidFill>
              <a:srgbClr val="0E7C86"/>
            </a:solidFill>
            <a:ln>
              <a:noFill/>
            </a:ln>
          </p:spPr>
        </p:sp>
        <p:sp>
          <p:nvSpPr>
            <p:cNvPr id="21" name="TextBox 21"/>
            <p:cNvSpPr txBox="1"/>
            <p:nvPr/>
          </p:nvSpPr>
          <p:spPr>
            <a:xfrm>
              <a:off x="697230" y="4613910"/>
              <a:ext cx="5002911"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n 维空间的超平面是 n − 1 维：二维是直线，三维是平面</a:t>
              </a:r>
            </a:p>
          </p:txBody>
        </p:sp>
      </p:grpSp>
      <p:grpSp>
        <p:nvGrpSpPr>
          <p:cNvPr id="29" name="c1-callout-3"/>
          <p:cNvGrpSpPr/>
          <p:nvPr/>
        </p:nvGrpSpPr>
        <p:grpSpPr>
          <a:xfrm>
            <a:off x="533400" y="5038725"/>
            <a:ext cx="5410200" cy="1240155"/>
            <a:chOff x="533400" y="5038725"/>
            <a:chExt cx="5410200" cy="1240155"/>
          </a:xfrm>
        </p:grpSpPr>
        <p:sp>
          <p:nvSpPr>
            <p:cNvPr id="23" name="Rectangle 23"/>
            <p:cNvSpPr/>
            <p:nvPr/>
          </p:nvSpPr>
          <p:spPr>
            <a:xfrm>
              <a:off x="533400" y="5038725"/>
              <a:ext cx="5410200" cy="1240155"/>
            </a:xfrm>
            <a:prstGeom prst="roundRect">
              <a:avLst>
                <a:gd name="adj" fmla="val 9217"/>
              </a:avLst>
            </a:prstGeom>
            <a:solidFill>
              <a:srgbClr val="F4F6FB"/>
            </a:solidFill>
            <a:ln>
              <a:noFill/>
            </a:ln>
          </p:spPr>
        </p:sp>
        <p:grpSp>
          <p:nvGrpSpPr>
            <p:cNvPr id="27" name="Group 27"/>
            <p:cNvGrpSpPr/>
            <p:nvPr/>
          </p:nvGrpSpPr>
          <p:grpSpPr>
            <a:xfrm>
              <a:off x="738188" y="5558790"/>
              <a:ext cx="200026" cy="200026"/>
              <a:chOff x="738188" y="5558790"/>
              <a:chExt cx="200026" cy="200026"/>
            </a:xfrm>
          </p:grpSpPr>
          <p:sp>
            <p:nvSpPr>
              <p:cNvPr id="24" name="Freeform 24"/>
              <p:cNvSpPr/>
              <p:nvPr/>
            </p:nvSpPr>
            <p:spPr>
              <a:xfrm>
                <a:off x="738188" y="555879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5" name="Freeform 25"/>
              <p:cNvSpPr/>
              <p:nvPr/>
            </p:nvSpPr>
            <p:spPr>
              <a:xfrm>
                <a:off x="838200" y="562546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6" name="Freeform 26"/>
              <p:cNvSpPr/>
              <p:nvPr/>
            </p:nvSpPr>
            <p:spPr>
              <a:xfrm>
                <a:off x="827088" y="565880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8" name="TextBox 28"/>
            <p:cNvSpPr txBox="1"/>
            <p:nvPr/>
          </p:nvSpPr>
          <p:spPr>
            <a:xfrm>
              <a:off x="1040130" y="5415915"/>
              <a:ext cx="45205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后面统一写成 g(x) = w·x + b，b 就是这里的 w₀，两</a:t>
              </a:r>
              <a:br/>
              <a:r>
                <a:rPr lang="zh-CN" sz="1500" dirty="0">
                  <a:solidFill>
                    <a:srgbClr val="1F2937"/>
                  </a:solidFill>
                  <a:latin typeface="+mn-lt"/>
                  <a:ea typeface="+mn-ea"/>
                  <a:cs typeface="+mn-cs"/>
                </a:rPr>
                <a:t>种写法在两版课件里都出现过。</a:t>
              </a:r>
            </a:p>
          </p:txBody>
        </p:sp>
      </p:grpSp>
      <p:grpSp>
        <p:nvGrpSpPr>
          <p:cNvPr id="38" name="c2-card-1"/>
          <p:cNvGrpSpPr/>
          <p:nvPr/>
        </p:nvGrpSpPr>
        <p:grpSpPr>
          <a:xfrm>
            <a:off x="6248400" y="1524000"/>
            <a:ext cx="5410200" cy="2451735"/>
            <a:chOff x="6248400" y="1524000"/>
            <a:chExt cx="5410200" cy="2451735"/>
          </a:xfrm>
        </p:grpSpPr>
        <p:sp>
          <p:nvSpPr>
            <p:cNvPr id="30" name="Rectangle 30"/>
            <p:cNvSpPr/>
            <p:nvPr/>
          </p:nvSpPr>
          <p:spPr>
            <a:xfrm>
              <a:off x="6248400" y="1524000"/>
              <a:ext cx="5410200" cy="2451735"/>
            </a:xfrm>
            <a:prstGeom prst="roundRect">
              <a:avLst>
                <a:gd name="adj" fmla="val 5439"/>
              </a:avLst>
            </a:prstGeom>
            <a:solidFill>
              <a:srgbClr val="FFFFFF"/>
            </a:solidFill>
            <a:ln w="14288">
              <a:solidFill>
                <a:srgbClr val="D9DFEA"/>
              </a:solidFill>
            </a:ln>
          </p:spPr>
        </p:sp>
        <p:sp>
          <p:nvSpPr>
            <p:cNvPr id="31" name="Rectangle 31"/>
            <p:cNvSpPr/>
            <p:nvPr/>
          </p:nvSpPr>
          <p:spPr>
            <a:xfrm>
              <a:off x="6257925" y="1657350"/>
              <a:ext cx="47625" cy="2185035"/>
            </a:xfrm>
            <a:prstGeom prst="roundRect">
              <a:avLst>
                <a:gd name="adj" fmla="val 50000"/>
              </a:avLst>
            </a:prstGeom>
            <a:solidFill>
              <a:srgbClr val="F26B3A"/>
            </a:solidFill>
            <a:ln>
              <a:noFill/>
            </a:ln>
          </p:spPr>
        </p:sp>
        <p:sp>
          <p:nvSpPr>
            <p:cNvPr id="32" name="Rectangle 32"/>
            <p:cNvSpPr/>
            <p:nvPr/>
          </p:nvSpPr>
          <p:spPr>
            <a:xfrm>
              <a:off x="6496050" y="1733550"/>
              <a:ext cx="494348" cy="257175"/>
            </a:xfrm>
            <a:prstGeom prst="roundRect">
              <a:avLst>
                <a:gd name="adj" fmla="val 50000"/>
              </a:avLst>
            </a:prstGeom>
            <a:solidFill>
              <a:srgbClr val="FDEEE7"/>
            </a:solidFill>
            <a:ln>
              <a:noFill/>
            </a:ln>
          </p:spPr>
        </p:sp>
        <p:sp>
          <p:nvSpPr>
            <p:cNvPr id="33" name="TextBox 33"/>
            <p:cNvSpPr txBox="1"/>
            <p:nvPr/>
          </p:nvSpPr>
          <p:spPr>
            <a:xfrm>
              <a:off x="6586258" y="1769269"/>
              <a:ext cx="312979"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推论</a:t>
              </a:r>
            </a:p>
          </p:txBody>
        </p:sp>
        <p:sp>
          <p:nvSpPr>
            <p:cNvPr id="34" name="TextBox 34"/>
            <p:cNvSpPr txBox="1"/>
            <p:nvPr/>
          </p:nvSpPr>
          <p:spPr>
            <a:xfrm>
              <a:off x="7097078" y="1768792"/>
              <a:ext cx="1853308"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w 是超平面的法向量</a:t>
              </a:r>
            </a:p>
          </p:txBody>
        </p:sp>
        <p:sp>
          <p:nvSpPr>
            <p:cNvPr id="35" name="TextBox 35"/>
            <p:cNvSpPr txBox="1"/>
            <p:nvPr/>
          </p:nvSpPr>
          <p:spPr>
            <a:xfrm>
              <a:off x="6488430" y="2129790"/>
              <a:ext cx="43872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设 x₁ 和 x₂ 都在判定面上，则 wᵀx₁ + w₀ = wᵀx₂ +</a:t>
              </a:r>
              <a:br/>
              <a:r>
                <a:rPr lang="zh-CN" sz="1500" dirty="0">
                  <a:solidFill>
                    <a:srgbClr val="1F2937"/>
                  </a:solidFill>
                  <a:latin typeface="+mn-lt"/>
                  <a:ea typeface="+mn-ea"/>
                  <a:cs typeface="+mn-cs"/>
                </a:rPr>
                <a:t>w₀，相减得：</a:t>
              </a:r>
            </a:p>
          </p:txBody>
        </p:sp>
        <mc:AlternateContent xmlns:mc="http://schemas.openxmlformats.org/markup-compatibility/2006">
          <mc:Choice xmlns:a14="http://schemas.microsoft.com/office/drawing/2010/main" Requires="a14">
            <p:sp>
              <p:nvSpPr>
                <p:cNvPr id="36" name="formula25"/>
                <p:cNvSpPr txBox="1">
                  <a:spLocks noGrp="1"/>
                </p:cNvSpPr>
                <p:nvPr/>
              </p:nvSpPr>
              <p:spPr>
                <a:xfrm>
                  <a:off x="6496050" y="2726055"/>
                  <a:ext cx="4953000" cy="4000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580" dirty="0">
                                <a:solidFill>
                                  <a:srgbClr val="1F2937"/>
                                </a:solidFill>
                                <a:latin typeface="Cambria Math"/>
                                <a:ea typeface="Cambria Math"/>
                                <a:cs typeface="Cambria Math"/>
                              </a:rPr>
                              <m:t>w</m:t>
                            </m:r>
                          </m:e>
                          <m:sup>
                            <m:r>
                              <a:rPr lang="zh-CN" sz="1580" dirty="0">
                                <a:solidFill>
                                  <a:srgbClr val="1F2937"/>
                                </a:solidFill>
                                <a:latin typeface="Cambria Math"/>
                                <a:ea typeface="Cambria Math"/>
                                <a:cs typeface="Cambria Math"/>
                              </a:rPr>
                              <m:t>T</m:t>
                            </m:r>
                          </m:sup>
                        </m:sSup>
                        <m:d>
                          <m:dPr>
                            <m:begChr m:val="("/>
                            <m:sepChr m:val=""/>
                            <m:endChr m:val=")"/>
                            <m:grow m:val="on"/>
                            <m:ctrlPr>
                              <a:rPr lang="zh-CN" sz="1580" dirty="0">
                                <a:solidFill>
                                  <a:srgbClr val="1F2937"/>
                                </a:solidFill>
                                <a:latin typeface="Cambria Math"/>
                                <a:ea typeface="Cambria Math"/>
                                <a:cs typeface="Cambria Math"/>
                              </a:rPr>
                            </m:ctrlPr>
                          </m:dPr>
                          <m:e>
                            <m:sSub>
                              <m:e>
                                <m:r>
                                  <a:rPr lang="zh-CN" sz="1580" dirty="0">
                                    <a:solidFill>
                                      <a:srgbClr val="1F2937"/>
                                    </a:solidFill>
                                    <a:latin typeface="Cambria Math"/>
                                    <a:ea typeface="Cambria Math"/>
                                    <a:cs typeface="Cambria Math"/>
                                  </a:rPr>
                                  <m:t>x</m:t>
                                </m:r>
                              </m:e>
                              <m:sub>
                                <m:r>
                                  <a:rPr lang="zh-CN" sz="1580" dirty="0">
                                    <a:solidFill>
                                      <a:srgbClr val="1F2937"/>
                                    </a:solidFill>
                                    <a:latin typeface="Cambria Math"/>
                                    <a:ea typeface="Cambria Math"/>
                                    <a:cs typeface="Cambria Math"/>
                                  </a:rPr>
                                  <m:t>1</m:t>
                                </m:r>
                              </m:sub>
                            </m:sSub>
                            <m:r>
                              <m:rPr>
                                <m:sty m:val="p"/>
                              </m:rPr>
                              <a:rPr lang="zh-CN" sz="1580" dirty="0">
                                <a:solidFill>
                                  <a:srgbClr val="1F2937"/>
                                </a:solidFill>
                                <a:latin typeface="Cambria Math"/>
                                <a:ea typeface="Cambria Math"/>
                                <a:cs typeface="Cambria Math"/>
                              </a:rPr>
                              <m:t>−</m:t>
                            </m:r>
                            <m:sSub>
                              <m:e>
                                <m:r>
                                  <a:rPr lang="zh-CN" sz="1580" dirty="0">
                                    <a:solidFill>
                                      <a:srgbClr val="1F2937"/>
                                    </a:solidFill>
                                    <a:latin typeface="Cambria Math"/>
                                    <a:ea typeface="Cambria Math"/>
                                    <a:cs typeface="Cambria Math"/>
                                  </a:rPr>
                                  <m:t>x</m:t>
                                </m:r>
                              </m:e>
                              <m:sub>
                                <m:r>
                                  <a:rPr lang="zh-CN" sz="1580" dirty="0">
                                    <a:solidFill>
                                      <a:srgbClr val="1F2937"/>
                                    </a:solidFill>
                                    <a:latin typeface="Cambria Math"/>
                                    <a:ea typeface="Cambria Math"/>
                                    <a:cs typeface="Cambria Math"/>
                                  </a:rPr>
                                  <m:t>2</m:t>
                                </m:r>
                              </m:sub>
                            </m:sSub>
                          </m:e>
                        </m:d>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0</m:t>
                        </m:r>
                      </m:oMath>
                    </m:oMathPara>
                  </a14:m>
                </a:p>
              </p:txBody>
            </p:sp>
          </mc:Choice>
        </mc:AlternateContent>
        <p:sp>
          <p:nvSpPr>
            <p:cNvPr id="37" name="TextBox 37"/>
            <p:cNvSpPr txBox="1"/>
            <p:nvPr/>
          </p:nvSpPr>
          <p:spPr>
            <a:xfrm>
              <a:off x="6488430" y="3246120"/>
              <a:ext cx="4587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x₁ − x₂ 是超平面上的任意一个向量，所以 w 与超平面</a:t>
              </a:r>
              <a:br/>
              <a:r>
                <a:rPr lang="zh-CN" sz="1500" dirty="0">
                  <a:solidFill>
                    <a:srgbClr val="1F2937"/>
                  </a:solidFill>
                  <a:latin typeface="+mn-lt"/>
                  <a:ea typeface="+mn-ea"/>
                  <a:cs typeface="+mn-cs"/>
                </a:rPr>
                <a:t>上任意向量正交，称为超平面的法向量。</a:t>
              </a:r>
            </a:p>
          </p:txBody>
        </p:sp>
      </p:grpSp>
      <p:grpSp>
        <p:nvGrpSpPr>
          <p:cNvPr id="47" name="c2-kv-2"/>
          <p:cNvGrpSpPr/>
          <p:nvPr/>
        </p:nvGrpSpPr>
        <p:grpSpPr>
          <a:xfrm>
            <a:off x="6240780" y="4191000"/>
            <a:ext cx="5417820" cy="1173480"/>
            <a:chOff x="6240780" y="4191000"/>
            <a:chExt cx="5417820" cy="1173480"/>
          </a:xfrm>
        </p:grpSpPr>
        <p:sp>
          <p:nvSpPr>
            <p:cNvPr id="39" name="TextBox 39"/>
            <p:cNvSpPr txBox="1"/>
            <p:nvPr/>
          </p:nvSpPr>
          <p:spPr>
            <a:xfrm>
              <a:off x="6240780" y="4191000"/>
              <a:ext cx="419100"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方向</a:t>
              </a:r>
            </a:p>
          </p:txBody>
        </p:sp>
        <p:sp>
          <p:nvSpPr>
            <p:cNvPr id="40" name="TextBox 40"/>
            <p:cNvSpPr txBox="1"/>
            <p:nvPr/>
          </p:nvSpPr>
          <p:spPr>
            <a:xfrm>
              <a:off x="6885623" y="4191000"/>
              <a:ext cx="149942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由法向量 w 决定</a:t>
              </a:r>
            </a:p>
          </p:txBody>
        </p:sp>
        <p:sp>
          <p:nvSpPr>
            <p:cNvPr id="41" name="Rectangle 41"/>
            <p:cNvSpPr/>
            <p:nvPr/>
          </p:nvSpPr>
          <p:spPr>
            <a:xfrm>
              <a:off x="6248400" y="4511040"/>
              <a:ext cx="5410200" cy="9525"/>
            </a:xfrm>
            <a:prstGeom prst="rect">
              <a:avLst/>
            </a:prstGeom>
            <a:solidFill>
              <a:srgbClr val="D9DFEA"/>
            </a:solidFill>
            <a:ln>
              <a:noFill/>
            </a:ln>
          </p:spPr>
        </p:sp>
        <p:sp>
          <p:nvSpPr>
            <p:cNvPr id="42" name="TextBox 42"/>
            <p:cNvSpPr txBox="1"/>
            <p:nvPr/>
          </p:nvSpPr>
          <p:spPr>
            <a:xfrm>
              <a:off x="6240780" y="4631055"/>
              <a:ext cx="419100"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位置</a:t>
              </a:r>
            </a:p>
          </p:txBody>
        </p:sp>
        <p:sp>
          <p:nvSpPr>
            <p:cNvPr id="43" name="TextBox 43"/>
            <p:cNvSpPr txBox="1"/>
            <p:nvPr/>
          </p:nvSpPr>
          <p:spPr>
            <a:xfrm>
              <a:off x="6885623" y="4631055"/>
              <a:ext cx="140855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由阈值 w₀ 决定</a:t>
              </a:r>
            </a:p>
          </p:txBody>
        </p:sp>
        <p:sp>
          <p:nvSpPr>
            <p:cNvPr id="44" name="Rectangle 44"/>
            <p:cNvSpPr/>
            <p:nvPr/>
          </p:nvSpPr>
          <p:spPr>
            <a:xfrm>
              <a:off x="6248400" y="4951095"/>
              <a:ext cx="5410200" cy="9525"/>
            </a:xfrm>
            <a:prstGeom prst="rect">
              <a:avLst/>
            </a:prstGeom>
            <a:solidFill>
              <a:srgbClr val="D9DFEA"/>
            </a:solidFill>
            <a:ln>
              <a:noFill/>
            </a:ln>
          </p:spPr>
        </p:sp>
        <p:sp>
          <p:nvSpPr>
            <p:cNvPr id="45" name="TextBox 45"/>
            <p:cNvSpPr txBox="1"/>
            <p:nvPr/>
          </p:nvSpPr>
          <p:spPr>
            <a:xfrm>
              <a:off x="6240780" y="5071110"/>
              <a:ext cx="419100"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符号</a:t>
              </a:r>
            </a:p>
          </p:txBody>
        </p:sp>
        <p:sp>
          <p:nvSpPr>
            <p:cNvPr id="46" name="TextBox 46"/>
            <p:cNvSpPr txBox="1"/>
            <p:nvPr/>
          </p:nvSpPr>
          <p:spPr>
            <a:xfrm>
              <a:off x="6885623" y="5071110"/>
              <a:ext cx="349853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x 在正侧时 g(x) &gt; 0，负侧时 g(x) &lt; 0</a:t>
              </a:r>
            </a:p>
          </p:txBody>
        </p:sp>
      </p:grpSp>
      <p:grpSp>
        <p:nvGrpSpPr>
          <p:cNvPr id="54" name="c2-callout-3"/>
          <p:cNvGrpSpPr/>
          <p:nvPr/>
        </p:nvGrpSpPr>
        <p:grpSpPr>
          <a:xfrm>
            <a:off x="6248400" y="5495925"/>
            <a:ext cx="5410200" cy="782955"/>
            <a:chOff x="6248400" y="5495925"/>
            <a:chExt cx="5410200" cy="782955"/>
          </a:xfrm>
        </p:grpSpPr>
        <p:sp>
          <p:nvSpPr>
            <p:cNvPr id="48" name="Rectangle 48"/>
            <p:cNvSpPr/>
            <p:nvPr/>
          </p:nvSpPr>
          <p:spPr>
            <a:xfrm>
              <a:off x="6248400" y="5495925"/>
              <a:ext cx="5410200" cy="782955"/>
            </a:xfrm>
            <a:prstGeom prst="roundRect">
              <a:avLst>
                <a:gd name="adj" fmla="val 14599"/>
              </a:avLst>
            </a:prstGeom>
            <a:solidFill>
              <a:srgbClr val="FDEEE7"/>
            </a:solidFill>
            <a:ln>
              <a:noFill/>
            </a:ln>
          </p:spPr>
        </p:sp>
        <p:grpSp>
          <p:nvGrpSpPr>
            <p:cNvPr id="52" name="Group 52"/>
            <p:cNvGrpSpPr/>
            <p:nvPr/>
          </p:nvGrpSpPr>
          <p:grpSpPr>
            <a:xfrm>
              <a:off x="6453188" y="5787390"/>
              <a:ext cx="200026" cy="200025"/>
              <a:chOff x="6453188" y="5787390"/>
              <a:chExt cx="200026" cy="200025"/>
            </a:xfrm>
          </p:grpSpPr>
          <p:sp>
            <p:nvSpPr>
              <p:cNvPr id="49" name="Freeform 49"/>
              <p:cNvSpPr/>
              <p:nvPr/>
            </p:nvSpPr>
            <p:spPr>
              <a:xfrm>
                <a:off x="6453188" y="578739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0" name="Freeform 50"/>
              <p:cNvSpPr/>
              <p:nvPr/>
            </p:nvSpPr>
            <p:spPr>
              <a:xfrm>
                <a:off x="6492926" y="583184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1" name="Freeform 51"/>
              <p:cNvSpPr/>
              <p:nvPr/>
            </p:nvSpPr>
            <p:spPr>
              <a:xfrm>
                <a:off x="6527642" y="594296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3" name="TextBox 53"/>
            <p:cNvSpPr txBox="1"/>
            <p:nvPr/>
          </p:nvSpPr>
          <p:spPr>
            <a:xfrm>
              <a:off x="6755130" y="5644515"/>
              <a:ext cx="42824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把 x₀ ≡ 1 这个常数输入也画进去，线性判别函数就</a:t>
              </a:r>
              <a:br/>
              <a:r>
                <a:rPr lang="zh-CN" sz="1500" dirty="0">
                  <a:solidFill>
                    <a:srgbClr val="C2410C"/>
                  </a:solidFill>
                  <a:latin typeface="+mn-lt"/>
                  <a:ea typeface="+mn-ea"/>
                  <a:cs typeface="+mn-cs"/>
                </a:rPr>
                <a:t>是一个只有一层的神经元，w₀ 是它的偏置。</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6" name="TextBox 5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04185" cy="909257"/>
            <a:chOff x="520446" y="342900"/>
            <a:chExt cx="5804185"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线性判别函数与最优分类面</a:t>
              </a:r>
            </a:p>
          </p:txBody>
        </p:sp>
        <p:sp>
          <p:nvSpPr>
            <p:cNvPr id="4" name="TextBox 4"/>
            <p:cNvSpPr txBox="1"/>
            <p:nvPr/>
          </p:nvSpPr>
          <p:spPr>
            <a:xfrm>
              <a:off x="520446" y="753428"/>
              <a:ext cx="58041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g(x) 正比于 x 到超平面的带符号距离</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399" y="1550194"/>
            <a:ext cx="5120792" cy="308039"/>
            <a:chOff x="525399" y="1550194"/>
            <a:chExt cx="5120792" cy="308039"/>
          </a:xfrm>
        </p:grpSpPr>
        <p:sp>
          <p:nvSpPr>
            <p:cNvPr id="7" name="TextBox 7"/>
            <p:cNvSpPr txBox="1"/>
            <p:nvPr/>
          </p:nvSpPr>
          <p:spPr>
            <a:xfrm>
              <a:off x="525399" y="1550194"/>
              <a:ext cx="5120792"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这个结论是后面所有间隔公式的源头，推导只有三行。</a:t>
              </a:r>
            </a:p>
          </p:txBody>
        </p:sp>
      </p:grpSp>
      <p:grpSp>
        <p:nvGrpSpPr>
          <p:cNvPr id="26" name="c1-steps-1"/>
          <p:cNvGrpSpPr/>
          <p:nvPr/>
        </p:nvGrpSpPr>
        <p:grpSpPr>
          <a:xfrm>
            <a:off x="533400" y="1977390"/>
            <a:ext cx="4018316" cy="2529173"/>
            <a:chOff x="533400" y="1977390"/>
            <a:chExt cx="4018316" cy="2529173"/>
          </a:xfrm>
        </p:grpSpPr>
        <p:sp>
          <p:nvSpPr>
            <p:cNvPr id="9" name="Rectangle 9"/>
            <p:cNvSpPr/>
            <p:nvPr/>
          </p:nvSpPr>
          <p:spPr>
            <a:xfrm>
              <a:off x="666750" y="2120265"/>
              <a:ext cx="19050" cy="1952625"/>
            </a:xfrm>
            <a:prstGeom prst="rect">
              <a:avLst/>
            </a:prstGeom>
            <a:solidFill>
              <a:srgbClr val="D9DFEA"/>
            </a:solidFill>
            <a:ln>
              <a:noFill/>
            </a:ln>
          </p:spPr>
        </p:sp>
        <p:sp>
          <p:nvSpPr>
            <p:cNvPr id="10" name="Ellipse 10"/>
            <p:cNvSpPr/>
            <p:nvPr/>
          </p:nvSpPr>
          <p:spPr>
            <a:xfrm>
              <a:off x="533400" y="1977390"/>
              <a:ext cx="285750" cy="285750"/>
            </a:xfrm>
            <a:prstGeom prst="ellipse">
              <a:avLst/>
            </a:prstGeom>
            <a:solidFill>
              <a:srgbClr val="0E7C86"/>
            </a:solidFill>
            <a:ln>
              <a:noFill/>
            </a:ln>
          </p:spPr>
        </p:sp>
        <p:sp>
          <p:nvSpPr>
            <p:cNvPr id="11" name="TextBox 11"/>
            <p:cNvSpPr txBox="1"/>
            <p:nvPr/>
          </p:nvSpPr>
          <p:spPr>
            <a:xfrm>
              <a:off x="627024" y="205120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627948"/>
              <a:ext cx="285750" cy="285750"/>
            </a:xfrm>
            <a:prstGeom prst="ellipse">
              <a:avLst/>
            </a:prstGeom>
            <a:solidFill>
              <a:srgbClr val="0E7C86"/>
            </a:solidFill>
            <a:ln>
              <a:noFill/>
            </a:ln>
          </p:spPr>
        </p:sp>
        <p:sp>
          <p:nvSpPr>
            <p:cNvPr id="13" name="TextBox 13"/>
            <p:cNvSpPr txBox="1"/>
            <p:nvPr/>
          </p:nvSpPr>
          <p:spPr>
            <a:xfrm>
              <a:off x="627024" y="270176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278505"/>
              <a:ext cx="285750" cy="285750"/>
            </a:xfrm>
            <a:prstGeom prst="ellipse">
              <a:avLst/>
            </a:prstGeom>
            <a:solidFill>
              <a:srgbClr val="0E7C86"/>
            </a:solidFill>
            <a:ln>
              <a:noFill/>
            </a:ln>
          </p:spPr>
        </p:sp>
        <p:sp>
          <p:nvSpPr>
            <p:cNvPr id="15" name="TextBox 15"/>
            <p:cNvSpPr txBox="1"/>
            <p:nvPr/>
          </p:nvSpPr>
          <p:spPr>
            <a:xfrm>
              <a:off x="627024" y="335232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3929062"/>
              <a:ext cx="285750" cy="285750"/>
            </a:xfrm>
            <a:prstGeom prst="ellipse">
              <a:avLst/>
            </a:prstGeom>
            <a:solidFill>
              <a:srgbClr val="0E7C86"/>
            </a:solidFill>
            <a:ln>
              <a:noFill/>
            </a:ln>
          </p:spPr>
        </p:sp>
        <p:sp>
          <p:nvSpPr>
            <p:cNvPr id="17" name="TextBox 17"/>
            <p:cNvSpPr txBox="1"/>
            <p:nvPr/>
          </p:nvSpPr>
          <p:spPr>
            <a:xfrm>
              <a:off x="627024" y="400288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TextBox 18"/>
            <p:cNvSpPr txBox="1"/>
            <p:nvPr/>
          </p:nvSpPr>
          <p:spPr>
            <a:xfrm>
              <a:off x="944880" y="201168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设分解</a:t>
              </a:r>
            </a:p>
          </p:txBody>
        </p:sp>
        <p:sp>
          <p:nvSpPr>
            <p:cNvPr id="19" name="TextBox 19"/>
            <p:cNvSpPr txBox="1"/>
            <p:nvPr/>
          </p:nvSpPr>
          <p:spPr>
            <a:xfrm>
              <a:off x="946023" y="2304574"/>
              <a:ext cx="360569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x = xₚ + r·w/||w||，xₚ 是 x 在超平面上的投影</a:t>
              </a:r>
            </a:p>
          </p:txBody>
        </p:sp>
        <p:sp>
          <p:nvSpPr>
            <p:cNvPr id="20" name="TextBox 20"/>
            <p:cNvSpPr txBox="1"/>
            <p:nvPr/>
          </p:nvSpPr>
          <p:spPr>
            <a:xfrm>
              <a:off x="944880" y="2662238"/>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代入</a:t>
              </a:r>
            </a:p>
          </p:txBody>
        </p:sp>
        <p:sp>
          <p:nvSpPr>
            <p:cNvPr id="21" name="TextBox 21"/>
            <p:cNvSpPr txBox="1"/>
            <p:nvPr/>
          </p:nvSpPr>
          <p:spPr>
            <a:xfrm>
              <a:off x="946023" y="2955131"/>
              <a:ext cx="2597658"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g(x) = wᵀxₚ + w₀ + r·wᵀw/||w||</a:t>
              </a:r>
            </a:p>
          </p:txBody>
        </p:sp>
        <p:sp>
          <p:nvSpPr>
            <p:cNvPr id="22" name="TextBox 22"/>
            <p:cNvSpPr txBox="1"/>
            <p:nvPr/>
          </p:nvSpPr>
          <p:spPr>
            <a:xfrm>
              <a:off x="944880" y="3312795"/>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用投影性质</a:t>
              </a:r>
            </a:p>
          </p:txBody>
        </p:sp>
        <p:sp>
          <p:nvSpPr>
            <p:cNvPr id="23" name="TextBox 23"/>
            <p:cNvSpPr txBox="1"/>
            <p:nvPr/>
          </p:nvSpPr>
          <p:spPr>
            <a:xfrm>
              <a:off x="946023" y="3606641"/>
              <a:ext cx="207210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xₚ 在面上，wᵀxₚ + w₀ = 0</a:t>
              </a:r>
            </a:p>
          </p:txBody>
        </p:sp>
        <p:sp>
          <p:nvSpPr>
            <p:cNvPr id="24" name="TextBox 24"/>
            <p:cNvSpPr txBox="1"/>
            <p:nvPr/>
          </p:nvSpPr>
          <p:spPr>
            <a:xfrm>
              <a:off x="944880" y="3963352"/>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化简</a:t>
              </a:r>
            </a:p>
          </p:txBody>
        </p:sp>
        <p:sp>
          <p:nvSpPr>
            <p:cNvPr id="25" name="TextBox 25"/>
            <p:cNvSpPr txBox="1"/>
            <p:nvPr/>
          </p:nvSpPr>
          <p:spPr>
            <a:xfrm>
              <a:off x="946023" y="4257199"/>
              <a:ext cx="266658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wᵀw = ||w||²，于是 g(x) = r·||w||</a:t>
              </a:r>
            </a:p>
          </p:txBody>
        </p:sp>
      </p:grpSp>
      <mc:AlternateContent xmlns:mc="http://schemas.openxmlformats.org/markup-compatibility/2006">
        <mc:Choice xmlns:a14="http://schemas.microsoft.com/office/drawing/2010/main" Requires="a14">
          <p:sp>
            <p:nvSpPr>
              <p:cNvPr id="27" name="formula27"/>
              <p:cNvSpPr txBox="1">
                <a:spLocks noGrp="1"/>
              </p:cNvSpPr>
              <p:nvPr/>
            </p:nvSpPr>
            <p:spPr>
              <a:xfrm>
                <a:off x="533400" y="4684395"/>
                <a:ext cx="5410200" cy="59150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720" dirty="0">
                          <a:solidFill>
                            <a:srgbClr val="1F2937"/>
                          </a:solidFill>
                          <a:latin typeface="Cambria Math"/>
                          <a:ea typeface="Cambria Math"/>
                          <a:cs typeface="Cambria Math"/>
                        </a:rPr>
                        <m:t>g</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x</m:t>
                          </m:r>
                        </m:e>
                      </m:d>
                      <m:r>
                        <m:rPr>
                          <m:sty m:val="p"/>
                        </m:rPr>
                        <a:rPr lang="zh-CN" sz="1720" dirty="0">
                          <a:solidFill>
                            <a:srgbClr val="1F2937"/>
                          </a:solidFill>
                          <a:latin typeface="Cambria Math"/>
                          <a:ea typeface="Cambria Math"/>
                          <a:cs typeface="Cambria Math"/>
                        </a:rPr>
                        <m:t>=</m:t>
                      </m:r>
                      <m:sSup>
                        <m:e>
                          <m:r>
                            <a:rPr lang="zh-CN" sz="1720" dirty="0">
                              <a:solidFill>
                                <a:srgbClr val="1F2937"/>
                              </a:solidFill>
                              <a:latin typeface="Cambria Math"/>
                              <a:ea typeface="Cambria Math"/>
                              <a:cs typeface="Cambria Math"/>
                            </a:rPr>
                            <m:t>w</m:t>
                          </m:r>
                        </m:e>
                        <m:sup>
                          <m:r>
                            <a:rPr lang="zh-CN" sz="1720" dirty="0">
                              <a:solidFill>
                                <a:srgbClr val="1F2937"/>
                              </a:solidFill>
                              <a:latin typeface="Cambria Math"/>
                              <a:ea typeface="Cambria Math"/>
                              <a:cs typeface="Cambria Math"/>
                            </a:rPr>
                            <m:t>T</m:t>
                          </m:r>
                        </m:sup>
                      </m:sSup>
                      <m:r>
                        <a:rPr lang="zh-CN" sz="1720" dirty="0">
                          <a:solidFill>
                            <a:srgbClr val="1F2937"/>
                          </a:solidFill>
                          <a:latin typeface="Cambria Math"/>
                          <a:ea typeface="Cambria Math"/>
                          <a:cs typeface="Cambria Math"/>
                        </a:rPr>
                        <m:t>​</m:t>
                      </m:r>
                      <m:d>
                        <m:dPr>
                          <m:begChr m:val="("/>
                          <m:sepChr m:val=""/>
                          <m:endChr m:val=")"/>
                          <m:grow m:val="on"/>
                          <m:ctrlPr>
                            <a:rPr lang="zh-CN" sz="1720" dirty="0">
                              <a:solidFill>
                                <a:srgbClr val="1F2937"/>
                              </a:solidFill>
                              <a:latin typeface="Cambria Math"/>
                              <a:ea typeface="Cambria Math"/>
                              <a:cs typeface="Cambria Math"/>
                            </a:rPr>
                          </m:ctrlPr>
                        </m:dPr>
                        <m:e>
                          <m:sSub>
                            <m:e>
                              <m:r>
                                <a:rPr lang="zh-CN" sz="1720" dirty="0">
                                  <a:solidFill>
                                    <a:srgbClr val="1F2937"/>
                                  </a:solidFill>
                                  <a:latin typeface="Cambria Math"/>
                                  <a:ea typeface="Cambria Math"/>
                                  <a:cs typeface="Cambria Math"/>
                                </a:rPr>
                                <m:t>x</m:t>
                              </m:r>
                            </m:e>
                            <m:sub>
                              <m:r>
                                <a:rPr lang="zh-CN" sz="1720" dirty="0">
                                  <a:solidFill>
                                    <a:srgbClr val="1F2937"/>
                                  </a:solidFill>
                                  <a:latin typeface="Cambria Math"/>
                                  <a:ea typeface="Cambria Math"/>
                                  <a:cs typeface="Cambria Math"/>
                                </a:rPr>
                                <m:t>p</m:t>
                              </m:r>
                            </m:sub>
                          </m:sSub>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r</m:t>
                          </m:r>
                          <m:f>
                            <m:fPr>
                              <m:type m:val="bar"/>
                              <m:ctrlPr>
                                <a:rPr lang="zh-CN" sz="1720" dirty="0">
                                  <a:solidFill>
                                    <a:srgbClr val="1F2937"/>
                                  </a:solidFill>
                                  <a:latin typeface="Cambria Math"/>
                                  <a:ea typeface="Cambria Math"/>
                                  <a:cs typeface="Cambria Math"/>
                                </a:rPr>
                              </m:ctrlPr>
                            </m:fPr>
                            <m:num>
                              <m:r>
                                <a:rPr lang="zh-CN" sz="1720" dirty="0">
                                  <a:solidFill>
                                    <a:srgbClr val="1F2937"/>
                                  </a:solidFill>
                                  <a:latin typeface="Cambria Math"/>
                                  <a:ea typeface="Cambria Math"/>
                                  <a:cs typeface="Cambria Math"/>
                                </a:rPr>
                                <m:t>w</m:t>
                              </m:r>
                            </m:num>
                            <m:den>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w</m:t>
                                  </m:r>
                                </m:e>
                              </m:d>
                            </m:den>
                          </m:f>
                        </m:e>
                      </m:d>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w</m:t>
                          </m:r>
                        </m:e>
                        <m:sub>
                          <m:r>
                            <a:rPr lang="zh-CN" sz="1720" dirty="0">
                              <a:solidFill>
                                <a:srgbClr val="1F2937"/>
                              </a:solidFill>
                              <a:latin typeface="Cambria Math"/>
                              <a:ea typeface="Cambria Math"/>
                              <a:cs typeface="Cambria Math"/>
                            </a:rPr>
                            <m:t>0</m:t>
                          </m:r>
                        </m:sub>
                      </m:sSub>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r</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w</m:t>
                          </m:r>
                        </m:e>
                      </m:d>
                      <m:r>
                        <a:rPr lang="zh-CN" sz="1720" dirty="0">
                          <a:solidFill>
                            <a:srgbClr val="1F2937"/>
                          </a:solidFill>
                          <a:latin typeface="Cambria Math"/>
                          <a:ea typeface="Cambria Math"/>
                          <a:cs typeface="Cambria Math"/>
                        </a:rPr>
                        <m:t xml:space="preserve"> </m:t>
                      </m:r>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 xml:space="preserve"> </m:t>
                      </m:r>
                      <m:r>
                        <a:rPr lang="zh-CN" sz="1720" dirty="0">
                          <a:solidFill>
                            <a:srgbClr val="1F2937"/>
                          </a:solidFill>
                          <a:latin typeface="Cambria Math"/>
                          <a:ea typeface="Cambria Math"/>
                          <a:cs typeface="Cambria Math"/>
                        </a:rPr>
                        <m:t>r</m:t>
                      </m:r>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r>
                            <a:rPr lang="zh-CN" sz="1720" dirty="0">
                              <a:solidFill>
                                <a:srgbClr val="1F2937"/>
                              </a:solidFill>
                              <a:latin typeface="Cambria Math"/>
                              <a:ea typeface="Cambria Math"/>
                              <a:cs typeface="Cambria Math"/>
                            </a:rPr>
                            <m:t>g</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x</m:t>
                              </m:r>
                            </m:e>
                          </m:d>
                        </m:num>
                        <m:den>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w</m:t>
                              </m:r>
                            </m:e>
                          </m:d>
                        </m:den>
                      </m:f>
                    </m:oMath>
                  </m:oMathPara>
                </a14:m>
              </a:p>
            </p:txBody>
          </p:sp>
        </mc:Choice>
      </mc:AlternateContent>
      <p:grpSp>
        <p:nvGrpSpPr>
          <p:cNvPr id="33" name="c1-callout-3"/>
          <p:cNvGrpSpPr/>
          <p:nvPr/>
        </p:nvGrpSpPr>
        <p:grpSpPr>
          <a:xfrm>
            <a:off x="533400" y="5466398"/>
            <a:ext cx="5410200" cy="782955"/>
            <a:chOff x="533400" y="5466398"/>
            <a:chExt cx="5410200" cy="782955"/>
          </a:xfrm>
        </p:grpSpPr>
        <p:sp>
          <p:nvSpPr>
            <p:cNvPr id="28" name="Rectangle 28"/>
            <p:cNvSpPr/>
            <p:nvPr/>
          </p:nvSpPr>
          <p:spPr>
            <a:xfrm>
              <a:off x="533400" y="5466398"/>
              <a:ext cx="5410200" cy="782955"/>
            </a:xfrm>
            <a:prstGeom prst="roundRect">
              <a:avLst>
                <a:gd name="adj" fmla="val 14599"/>
              </a:avLst>
            </a:prstGeom>
            <a:solidFill>
              <a:srgbClr val="0E7C86"/>
            </a:solidFill>
            <a:ln>
              <a:noFill/>
            </a:ln>
          </p:spPr>
        </p:sp>
        <p:grpSp>
          <p:nvGrpSpPr>
            <p:cNvPr id="31" name="Group 31"/>
            <p:cNvGrpSpPr/>
            <p:nvPr/>
          </p:nvGrpSpPr>
          <p:grpSpPr>
            <a:xfrm>
              <a:off x="738188" y="5757865"/>
              <a:ext cx="200023" cy="200023"/>
              <a:chOff x="738188" y="5757865"/>
              <a:chExt cx="200023" cy="200023"/>
            </a:xfrm>
          </p:grpSpPr>
          <p:sp>
            <p:nvSpPr>
              <p:cNvPr id="29" name="Freeform 29"/>
              <p:cNvSpPr/>
              <p:nvPr/>
            </p:nvSpPr>
            <p:spPr>
              <a:xfrm>
                <a:off x="738188" y="575786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0" name="Freeform 30"/>
              <p:cNvSpPr/>
              <p:nvPr/>
            </p:nvSpPr>
            <p:spPr>
              <a:xfrm>
                <a:off x="871538" y="582453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2" name="TextBox 32"/>
            <p:cNvSpPr txBox="1"/>
            <p:nvPr/>
          </p:nvSpPr>
          <p:spPr>
            <a:xfrm>
              <a:off x="1040130" y="5614988"/>
              <a:ext cx="44443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r 带符号：x 在法向量指的那一侧时 r &gt; 0。取绝对值</a:t>
              </a:r>
              <a:br/>
              <a:r>
                <a:rPr lang="zh-CN" sz="1500" dirty="0">
                  <a:solidFill>
                    <a:srgbClr val="FFFFFF"/>
                  </a:solidFill>
                  <a:latin typeface="+mn-lt"/>
                  <a:ea typeface="+mn-ea"/>
                  <a:cs typeface="+mn-cs"/>
                </a:rPr>
                <a:t>就是真正的距离 |g(x)|/||w||。</a:t>
              </a:r>
            </a:p>
          </p:txBody>
        </p:sp>
      </p:grpSp>
      <p:grpSp>
        <p:nvGrpSpPr>
          <p:cNvPr id="50" name="c2-graph-1"/>
          <p:cNvGrpSpPr/>
          <p:nvPr/>
        </p:nvGrpSpPr>
        <p:grpSpPr>
          <a:xfrm>
            <a:off x="6782854" y="2197894"/>
            <a:ext cx="4448073" cy="1790223"/>
            <a:chOff x="6782854" y="2197894"/>
            <a:chExt cx="4448073" cy="1790223"/>
          </a:xfrm>
        </p:grpSpPr>
        <p:sp>
          <p:nvSpPr>
            <p:cNvPr id="34" name="Freeform 34"/>
            <p:cNvSpPr/>
            <p:nvPr/>
          </p:nvSpPr>
          <p:spPr>
            <a:xfrm>
              <a:off x="6827520" y="2616518"/>
              <a:ext cx="4251960" cy="1159192"/>
            </a:xfrm>
            <a:custGeom>
              <a:avLst/>
              <a:gdLst/>
              <a:ahLst/>
              <a:cxnLst/>
              <a:rect l="l" t="t" r="r" b="b"/>
              <a:pathLst>
                <a:path w="4251960" h="1159192">
                  <a:moveTo>
                    <a:pt x="0" y="1159192"/>
                  </a:moveTo>
                  <a:lnTo>
                    <a:pt x="4251960" y="0"/>
                  </a:lnTo>
                </a:path>
              </a:pathLst>
            </a:custGeom>
            <a:noFill/>
            <a:ln w="17145">
              <a:solidFill>
                <a:srgbClr val="0E7C86"/>
              </a:solidFill>
            </a:ln>
          </p:spPr>
        </p:sp>
        <p:sp>
          <p:nvSpPr>
            <p:cNvPr id="35" name="Freeform 35"/>
            <p:cNvSpPr/>
            <p:nvPr/>
          </p:nvSpPr>
          <p:spPr>
            <a:xfrm>
              <a:off x="9010650" y="3229928"/>
              <a:ext cx="877252" cy="518160"/>
            </a:xfrm>
            <a:custGeom>
              <a:avLst/>
              <a:gdLst/>
              <a:ahLst/>
              <a:cxnLst/>
              <a:rect l="l" t="t" r="r" b="b"/>
              <a:pathLst>
                <a:path w="877252" h="518160">
                  <a:moveTo>
                    <a:pt x="0" y="0"/>
                  </a:moveTo>
                  <a:lnTo>
                    <a:pt x="877252" y="518160"/>
                  </a:lnTo>
                </a:path>
              </a:pathLst>
            </a:custGeom>
            <a:noFill/>
            <a:ln w="17145">
              <a:solidFill>
                <a:srgbClr val="B42318"/>
              </a:solidFill>
            </a:ln>
          </p:spPr>
        </p:sp>
        <p:sp>
          <p:nvSpPr>
            <p:cNvPr id="36" name="Freeform 36"/>
            <p:cNvSpPr/>
            <p:nvPr/>
          </p:nvSpPr>
          <p:spPr>
            <a:xfrm>
              <a:off x="9864090" y="3707130"/>
              <a:ext cx="105728" cy="89535"/>
            </a:xfrm>
            <a:custGeom>
              <a:avLst/>
              <a:gdLst/>
              <a:ahLst/>
              <a:cxnLst/>
              <a:rect l="l" t="t" r="r" b="b"/>
              <a:pathLst>
                <a:path w="105728" h="89535">
                  <a:moveTo>
                    <a:pt x="105728" y="89535"/>
                  </a:moveTo>
                  <a:lnTo>
                    <a:pt x="0" y="81915"/>
                  </a:lnTo>
                  <a:lnTo>
                    <a:pt x="47625" y="0"/>
                  </a:lnTo>
                  <a:close/>
                </a:path>
              </a:pathLst>
            </a:custGeom>
            <a:solidFill>
              <a:srgbClr val="B42318"/>
            </a:solidFill>
            <a:ln>
              <a:noFill/>
            </a:ln>
          </p:spPr>
        </p:sp>
        <p:sp>
          <p:nvSpPr>
            <p:cNvPr id="37" name="Freeform 37"/>
            <p:cNvSpPr/>
            <p:nvPr/>
          </p:nvSpPr>
          <p:spPr>
            <a:xfrm>
              <a:off x="9014460" y="2810828"/>
              <a:ext cx="787717" cy="358140"/>
            </a:xfrm>
            <a:custGeom>
              <a:avLst/>
              <a:gdLst/>
              <a:ahLst/>
              <a:cxnLst/>
              <a:rect l="l" t="t" r="r" b="b"/>
              <a:pathLst>
                <a:path w="787717" h="358140">
                  <a:moveTo>
                    <a:pt x="0" y="358140"/>
                  </a:moveTo>
                  <a:lnTo>
                    <a:pt x="787717" y="0"/>
                  </a:lnTo>
                </a:path>
              </a:pathLst>
            </a:custGeom>
            <a:noFill/>
            <a:ln w="17145">
              <a:solidFill>
                <a:srgbClr val="F26B3A"/>
              </a:solidFill>
            </a:ln>
          </p:spPr>
        </p:sp>
        <p:sp>
          <p:nvSpPr>
            <p:cNvPr id="38" name="Freeform 38"/>
            <p:cNvSpPr/>
            <p:nvPr/>
          </p:nvSpPr>
          <p:spPr>
            <a:xfrm>
              <a:off x="9783128" y="2767012"/>
              <a:ext cx="105728" cy="86678"/>
            </a:xfrm>
            <a:custGeom>
              <a:avLst/>
              <a:gdLst/>
              <a:ahLst/>
              <a:cxnLst/>
              <a:rect l="l" t="t" r="r" b="b"/>
              <a:pathLst>
                <a:path w="105728" h="86678">
                  <a:moveTo>
                    <a:pt x="105728" y="3810"/>
                  </a:moveTo>
                  <a:lnTo>
                    <a:pt x="39053" y="86678"/>
                  </a:lnTo>
                  <a:lnTo>
                    <a:pt x="0" y="0"/>
                  </a:lnTo>
                  <a:close/>
                </a:path>
              </a:pathLst>
            </a:custGeom>
            <a:solidFill>
              <a:srgbClr val="F26B3A"/>
            </a:solidFill>
            <a:ln>
              <a:noFill/>
            </a:ln>
          </p:spPr>
        </p:sp>
        <p:sp>
          <p:nvSpPr>
            <p:cNvPr id="39" name="Freeform 39"/>
            <p:cNvSpPr/>
            <p:nvPr/>
          </p:nvSpPr>
          <p:spPr>
            <a:xfrm>
              <a:off x="7058025" y="2482215"/>
              <a:ext cx="2821305" cy="1282065"/>
            </a:xfrm>
            <a:custGeom>
              <a:avLst/>
              <a:gdLst/>
              <a:ahLst/>
              <a:cxnLst/>
              <a:rect l="l" t="t" r="r" b="b"/>
              <a:pathLst>
                <a:path w="2821305" h="1282065">
                  <a:moveTo>
                    <a:pt x="0" y="0"/>
                  </a:moveTo>
                  <a:lnTo>
                    <a:pt x="2821305" y="1282065"/>
                  </a:lnTo>
                </a:path>
              </a:pathLst>
            </a:custGeom>
            <a:noFill/>
            <a:ln w="17145">
              <a:solidFill>
                <a:srgbClr val="5B6475"/>
              </a:solidFill>
              <a:custDash>
                <a:ds d="333333" sp="222222"/>
              </a:custDash>
            </a:ln>
          </p:spPr>
        </p:sp>
        <p:sp>
          <p:nvSpPr>
            <p:cNvPr id="40" name="Freeform 40"/>
            <p:cNvSpPr/>
            <p:nvPr/>
          </p:nvSpPr>
          <p:spPr>
            <a:xfrm>
              <a:off x="9859328" y="3720465"/>
              <a:ext cx="106680" cy="86677"/>
            </a:xfrm>
            <a:custGeom>
              <a:avLst/>
              <a:gdLst/>
              <a:ahLst/>
              <a:cxnLst/>
              <a:rect l="l" t="t" r="r" b="b"/>
              <a:pathLst>
                <a:path w="106680" h="86677">
                  <a:moveTo>
                    <a:pt x="106680" y="82867"/>
                  </a:moveTo>
                  <a:lnTo>
                    <a:pt x="0" y="86677"/>
                  </a:lnTo>
                  <a:lnTo>
                    <a:pt x="40005" y="0"/>
                  </a:lnTo>
                  <a:close/>
                </a:path>
              </a:pathLst>
            </a:custGeom>
            <a:solidFill>
              <a:srgbClr val="5B6475"/>
            </a:solidFill>
            <a:ln>
              <a:noFill/>
            </a:ln>
          </p:spPr>
        </p:sp>
        <p:sp>
          <p:nvSpPr>
            <p:cNvPr id="41" name="Ellipse 41"/>
            <p:cNvSpPr/>
            <p:nvPr/>
          </p:nvSpPr>
          <p:spPr>
            <a:xfrm>
              <a:off x="8896350" y="3139440"/>
              <a:ext cx="114300" cy="114300"/>
            </a:xfrm>
            <a:prstGeom prst="ellipse">
              <a:avLst/>
            </a:prstGeom>
            <a:solidFill>
              <a:srgbClr val="0E7C86"/>
            </a:solidFill>
            <a:ln>
              <a:noFill/>
            </a:ln>
          </p:spPr>
        </p:sp>
        <p:sp>
          <p:nvSpPr>
            <p:cNvPr id="42" name="Ellipse 42"/>
            <p:cNvSpPr/>
            <p:nvPr/>
          </p:nvSpPr>
          <p:spPr>
            <a:xfrm>
              <a:off x="9968865" y="3768090"/>
              <a:ext cx="133350" cy="133350"/>
            </a:xfrm>
            <a:prstGeom prst="ellipse">
              <a:avLst/>
            </a:prstGeom>
            <a:solidFill>
              <a:srgbClr val="B42318"/>
            </a:solidFill>
            <a:ln>
              <a:noFill/>
            </a:ln>
          </p:spPr>
        </p:sp>
        <p:sp>
          <p:nvSpPr>
            <p:cNvPr id="43" name="Ellipse 43"/>
            <p:cNvSpPr/>
            <p:nvPr/>
          </p:nvSpPr>
          <p:spPr>
            <a:xfrm>
              <a:off x="6958012" y="2411730"/>
              <a:ext cx="95250" cy="95250"/>
            </a:xfrm>
            <a:prstGeom prst="ellipse">
              <a:avLst/>
            </a:prstGeom>
            <a:solidFill>
              <a:srgbClr val="D9DFEA"/>
            </a:solidFill>
            <a:ln>
              <a:noFill/>
            </a:ln>
          </p:spPr>
        </p:sp>
        <p:sp>
          <p:nvSpPr>
            <p:cNvPr id="44" name="TextBox 44"/>
            <p:cNvSpPr txBox="1"/>
            <p:nvPr/>
          </p:nvSpPr>
          <p:spPr>
            <a:xfrm>
              <a:off x="10748886" y="2362200"/>
              <a:ext cx="482041" cy="176212"/>
            </a:xfrm>
            <a:prstGeom prst="rect">
              <a:avLst/>
            </a:prstGeom>
            <a:noFill/>
            <a:ln>
              <a:noFill/>
            </a:ln>
          </p:spPr>
          <p:txBody>
            <a:bodyPr wrap="none" lIns="0" tIns="0" rIns="0" bIns="0" anchor="t" anchorCtr="0">
              <a:spAutoFit/>
            </a:bodyPr>
            <a:lstStyle/>
            <a:p>
              <a:pPr algn="r"/>
              <a:r>
                <a:rPr lang="en-US" sz="900" dirty="0">
                  <a:solidFill>
                    <a:srgbClr val="0E7C86"/>
                  </a:solidFill>
                  <a:latin typeface="+mn-lt"/>
                  <a:ea typeface="+mn-ea"/>
                  <a:cs typeface="+mn-cs"/>
                </a:rPr>
                <a:t>g(x) = 0</a:t>
              </a:r>
            </a:p>
          </p:txBody>
        </p:sp>
        <p:sp>
          <p:nvSpPr>
            <p:cNvPr id="45" name="TextBox 45"/>
            <p:cNvSpPr txBox="1"/>
            <p:nvPr/>
          </p:nvSpPr>
          <p:spPr>
            <a:xfrm>
              <a:off x="8557298" y="3222308"/>
              <a:ext cx="142799"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xₚ</a:t>
              </a:r>
            </a:p>
          </p:txBody>
        </p:sp>
        <p:sp>
          <p:nvSpPr>
            <p:cNvPr id="46" name="TextBox 46"/>
            <p:cNvSpPr txBox="1"/>
            <p:nvPr/>
          </p:nvSpPr>
          <p:spPr>
            <a:xfrm>
              <a:off x="10267969" y="3811905"/>
              <a:ext cx="76162" cy="176212"/>
            </a:xfrm>
            <a:prstGeom prst="rect">
              <a:avLst/>
            </a:prstGeom>
            <a:noFill/>
            <a:ln>
              <a:noFill/>
            </a:ln>
          </p:spPr>
          <p:txBody>
            <a:bodyPr wrap="none" lIns="0" tIns="0" rIns="0" bIns="0" anchor="t" anchorCtr="0">
              <a:spAutoFit/>
            </a:bodyPr>
            <a:lstStyle/>
            <a:p>
              <a:pPr algn="ctr"/>
              <a:r>
                <a:rPr lang="en-US" sz="900" dirty="0">
                  <a:solidFill>
                    <a:srgbClr val="B42318"/>
                  </a:solidFill>
                  <a:latin typeface="+mn-lt"/>
                  <a:ea typeface="+mn-ea"/>
                  <a:cs typeface="+mn-cs"/>
                </a:rPr>
                <a:t>x</a:t>
              </a:r>
            </a:p>
          </p:txBody>
        </p:sp>
        <p:sp>
          <p:nvSpPr>
            <p:cNvPr id="47" name="TextBox 47"/>
            <p:cNvSpPr txBox="1"/>
            <p:nvPr/>
          </p:nvSpPr>
          <p:spPr>
            <a:xfrm>
              <a:off x="9985343" y="2508885"/>
              <a:ext cx="100394" cy="176212"/>
            </a:xfrm>
            <a:prstGeom prst="rect">
              <a:avLst/>
            </a:prstGeom>
            <a:noFill/>
            <a:ln>
              <a:noFill/>
            </a:ln>
          </p:spPr>
          <p:txBody>
            <a:bodyPr wrap="none" lIns="0" tIns="0" rIns="0" bIns="0" anchor="t" anchorCtr="0">
              <a:spAutoFit/>
            </a:bodyPr>
            <a:lstStyle/>
            <a:p>
              <a:pPr algn="ctr"/>
              <a:r>
                <a:rPr lang="en-US" sz="900" dirty="0">
                  <a:solidFill>
                    <a:srgbClr val="F26B3A"/>
                  </a:solidFill>
                  <a:latin typeface="+mn-lt"/>
                  <a:ea typeface="+mn-ea"/>
                  <a:cs typeface="+mn-cs"/>
                </a:rPr>
                <a:t>w</a:t>
              </a:r>
            </a:p>
          </p:txBody>
        </p:sp>
        <p:sp>
          <p:nvSpPr>
            <p:cNvPr id="48" name="TextBox 48"/>
            <p:cNvSpPr txBox="1"/>
            <p:nvPr/>
          </p:nvSpPr>
          <p:spPr>
            <a:xfrm>
              <a:off x="9551041" y="3491865"/>
              <a:ext cx="536562" cy="176212"/>
            </a:xfrm>
            <a:prstGeom prst="rect">
              <a:avLst/>
            </a:prstGeom>
            <a:noFill/>
            <a:ln>
              <a:noFill/>
            </a:ln>
          </p:spPr>
          <p:txBody>
            <a:bodyPr wrap="none" lIns="0" tIns="0" rIns="0" bIns="0" anchor="t" anchorCtr="0">
              <a:spAutoFit/>
            </a:bodyPr>
            <a:lstStyle/>
            <a:p>
              <a:pPr algn="ctr"/>
              <a:r>
                <a:rPr lang="en-US" sz="900" dirty="0">
                  <a:solidFill>
                    <a:srgbClr val="B42318"/>
                  </a:solidFill>
                  <a:latin typeface="+mn-lt"/>
                  <a:ea typeface="+mn-ea"/>
                  <a:cs typeface="+mn-cs"/>
                </a:rPr>
                <a:t>r·w/||w||</a:t>
              </a:r>
            </a:p>
          </p:txBody>
        </p:sp>
        <p:sp>
          <p:nvSpPr>
            <p:cNvPr id="49" name="TextBox 49"/>
            <p:cNvSpPr txBox="1"/>
            <p:nvPr/>
          </p:nvSpPr>
          <p:spPr>
            <a:xfrm>
              <a:off x="6782854" y="2197894"/>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原点</a:t>
              </a:r>
            </a:p>
          </p:txBody>
        </p:sp>
      </p:grpSp>
      <p:grpSp>
        <p:nvGrpSpPr>
          <p:cNvPr id="57" name="c2-card-2"/>
          <p:cNvGrpSpPr/>
          <p:nvPr/>
        </p:nvGrpSpPr>
        <p:grpSpPr>
          <a:xfrm>
            <a:off x="6248400" y="4615815"/>
            <a:ext cx="5410200" cy="1634490"/>
            <a:chOff x="6248400" y="4615815"/>
            <a:chExt cx="5410200" cy="1634490"/>
          </a:xfrm>
        </p:grpSpPr>
        <p:sp>
          <p:nvSpPr>
            <p:cNvPr id="51" name="Rectangle 51"/>
            <p:cNvSpPr/>
            <p:nvPr/>
          </p:nvSpPr>
          <p:spPr>
            <a:xfrm>
              <a:off x="6248400" y="4615815"/>
              <a:ext cx="5410200" cy="1634490"/>
            </a:xfrm>
            <a:prstGeom prst="roundRect">
              <a:avLst>
                <a:gd name="adj" fmla="val 8159"/>
              </a:avLst>
            </a:prstGeom>
            <a:solidFill>
              <a:srgbClr val="FFFFFF"/>
            </a:solidFill>
            <a:ln w="14288">
              <a:solidFill>
                <a:srgbClr val="D9DFEA"/>
              </a:solidFill>
            </a:ln>
          </p:spPr>
        </p:sp>
        <p:sp>
          <p:nvSpPr>
            <p:cNvPr id="52" name="Rectangle 52"/>
            <p:cNvSpPr/>
            <p:nvPr/>
          </p:nvSpPr>
          <p:spPr>
            <a:xfrm>
              <a:off x="6257925" y="4749165"/>
              <a:ext cx="47625" cy="1367790"/>
            </a:xfrm>
            <a:prstGeom prst="roundRect">
              <a:avLst>
                <a:gd name="adj" fmla="val 50000"/>
              </a:avLst>
            </a:prstGeom>
            <a:solidFill>
              <a:srgbClr val="14A38B"/>
            </a:solidFill>
            <a:ln>
              <a:noFill/>
            </a:ln>
          </p:spPr>
        </p:sp>
        <p:sp>
          <p:nvSpPr>
            <p:cNvPr id="53" name="Rectangle 53"/>
            <p:cNvSpPr/>
            <p:nvPr/>
          </p:nvSpPr>
          <p:spPr>
            <a:xfrm>
              <a:off x="6496050" y="4825365"/>
              <a:ext cx="494348" cy="257175"/>
            </a:xfrm>
            <a:prstGeom prst="roundRect">
              <a:avLst>
                <a:gd name="adj" fmla="val 50000"/>
              </a:avLst>
            </a:prstGeom>
            <a:solidFill>
              <a:srgbClr val="E3F5F1"/>
            </a:solidFill>
            <a:ln>
              <a:noFill/>
            </a:ln>
          </p:spPr>
        </p:sp>
        <p:sp>
          <p:nvSpPr>
            <p:cNvPr id="54" name="TextBox 54"/>
            <p:cNvSpPr txBox="1"/>
            <p:nvPr/>
          </p:nvSpPr>
          <p:spPr>
            <a:xfrm>
              <a:off x="6586258" y="486108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特例</a:t>
              </a:r>
            </a:p>
          </p:txBody>
        </p:sp>
        <p:sp>
          <p:nvSpPr>
            <p:cNvPr id="55" name="TextBox 55"/>
            <p:cNvSpPr txBox="1"/>
            <p:nvPr/>
          </p:nvSpPr>
          <p:spPr>
            <a:xfrm>
              <a:off x="7097078" y="4860608"/>
              <a:ext cx="183261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原点到超平面的距离</a:t>
              </a:r>
            </a:p>
          </p:txBody>
        </p:sp>
        <p:sp>
          <p:nvSpPr>
            <p:cNvPr id="56" name="TextBox 56"/>
            <p:cNvSpPr txBox="1"/>
            <p:nvPr/>
          </p:nvSpPr>
          <p:spPr>
            <a:xfrm>
              <a:off x="6488430" y="5221605"/>
              <a:ext cx="474916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取 x = 0：r₀ = g(0)/||w|| = w₀/||w||。所以 w₀ 的绝对</a:t>
              </a:r>
              <a:br/>
              <a:r>
                <a:rPr lang="zh-CN" sz="1500" dirty="0">
                  <a:solidFill>
                    <a:srgbClr val="1F2937"/>
                  </a:solidFill>
                  <a:latin typeface="+mn-lt"/>
                  <a:ea typeface="+mn-ea"/>
                  <a:cs typeface="+mn-cs"/>
                </a:rPr>
                <a:t>值除以 ||w|| 就是超平面离原点多远，w₀ = 0 时超平面过</a:t>
              </a:r>
              <a:br/>
              <a:r>
                <a:rPr lang="zh-CN" sz="1500" dirty="0">
                  <a:solidFill>
                    <a:srgbClr val="1F2937"/>
                  </a:solidFill>
                  <a:latin typeface="+mn-lt"/>
                  <a:ea typeface="+mn-ea"/>
                  <a:cs typeface="+mn-cs"/>
                </a:rPr>
                <a:t>原点。</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线性判别函数与最优分类面</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能分开的直线有无穷多条，挑几何间隔最大的</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9" name="c1-image-1"/>
          <p:cNvGrpSpPr/>
          <p:nvPr/>
        </p:nvGrpSpPr>
        <p:grpSpPr>
          <a:xfrm>
            <a:off x="1212012" y="1524000"/>
            <a:ext cx="3835806" cy="1869471"/>
            <a:chOff x="1212012" y="1524000"/>
            <a:chExt cx="3835806" cy="1869471"/>
          </a:xfrm>
        </p:grpSpPr>
        <p:pic>
          <p:nvPicPr>
            <p:cNvPr id="7" name="Image 7"/>
            <p:cNvPicPr>
              <a:picLocks noChangeAspect="1"/>
            </p:cNvPicPr>
            <p:nvPr/>
          </p:nvPicPr>
          <p:blipFill>
            <a:blip r:embed="rId2"/>
            <a:srcRect l="8" t="0" r="7" b="0"/>
            <a:stretch>
              <a:fillRect/>
            </a:stretch>
          </p:blipFill>
          <p:spPr>
            <a:xfrm>
              <a:off x="2072640" y="1524000"/>
              <a:ext cx="2115502" cy="1586865"/>
            </a:xfrm>
            <a:prstGeom prst="roundRect">
              <a:avLst>
                <a:gd name="adj" fmla="val 8403"/>
              </a:avLst>
            </a:prstGeom>
          </p:spPr>
        </p:pic>
        <p:sp>
          <p:nvSpPr>
            <p:cNvPr id="8" name="TextBox 8"/>
            <p:cNvSpPr txBox="1"/>
            <p:nvPr/>
          </p:nvSpPr>
          <p:spPr>
            <a:xfrm>
              <a:off x="1212012" y="3202781"/>
              <a:ext cx="3835806"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两群点之间能走的最宽的一条街，街两侧贴着走的点就是支持向量</a:t>
              </a:r>
            </a:p>
          </p:txBody>
        </p:sp>
      </p:grpSp>
      <p:grpSp>
        <p:nvGrpSpPr>
          <p:cNvPr id="17" name="c1-card-2"/>
          <p:cNvGrpSpPr/>
          <p:nvPr/>
        </p:nvGrpSpPr>
        <p:grpSpPr>
          <a:xfrm>
            <a:off x="533400" y="3539490"/>
            <a:ext cx="5193982" cy="1780222"/>
            <a:chOff x="533400" y="3539490"/>
            <a:chExt cx="5193982" cy="1780222"/>
          </a:xfrm>
        </p:grpSpPr>
        <p:sp>
          <p:nvSpPr>
            <p:cNvPr id="10" name="Rectangle 10"/>
            <p:cNvSpPr/>
            <p:nvPr/>
          </p:nvSpPr>
          <p:spPr>
            <a:xfrm>
              <a:off x="533400" y="3539490"/>
              <a:ext cx="5193982" cy="1780222"/>
            </a:xfrm>
            <a:prstGeom prst="roundRect">
              <a:avLst>
                <a:gd name="adj" fmla="val 7491"/>
              </a:avLst>
            </a:prstGeom>
            <a:solidFill>
              <a:srgbClr val="FFFFFF"/>
            </a:solidFill>
            <a:ln w="14288">
              <a:solidFill>
                <a:srgbClr val="D9DFEA"/>
              </a:solidFill>
            </a:ln>
          </p:spPr>
        </p:sp>
        <p:sp>
          <p:nvSpPr>
            <p:cNvPr id="11" name="Rectangle 11"/>
            <p:cNvSpPr/>
            <p:nvPr/>
          </p:nvSpPr>
          <p:spPr>
            <a:xfrm>
              <a:off x="542925" y="3672840"/>
              <a:ext cx="47625" cy="1513522"/>
            </a:xfrm>
            <a:prstGeom prst="roundRect">
              <a:avLst>
                <a:gd name="adj" fmla="val 50000"/>
              </a:avLst>
            </a:prstGeom>
            <a:solidFill>
              <a:srgbClr val="0E7C86"/>
            </a:solidFill>
            <a:ln>
              <a:noFill/>
            </a:ln>
          </p:spPr>
        </p:sp>
        <p:sp>
          <p:nvSpPr>
            <p:cNvPr id="12" name="Rectangle 12"/>
            <p:cNvSpPr/>
            <p:nvPr/>
          </p:nvSpPr>
          <p:spPr>
            <a:xfrm>
              <a:off x="752475" y="3720465"/>
              <a:ext cx="458152" cy="238125"/>
            </a:xfrm>
            <a:prstGeom prst="roundRect">
              <a:avLst>
                <a:gd name="adj" fmla="val 50000"/>
              </a:avLst>
            </a:prstGeom>
            <a:solidFill>
              <a:srgbClr val="E2F3F4"/>
            </a:solidFill>
            <a:ln>
              <a:noFill/>
            </a:ln>
          </p:spPr>
        </p:sp>
        <p:sp>
          <p:nvSpPr>
            <p:cNvPr id="13" name="TextBox 13"/>
            <p:cNvSpPr txBox="1"/>
            <p:nvPr/>
          </p:nvSpPr>
          <p:spPr>
            <a:xfrm>
              <a:off x="845147" y="3753326"/>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14" name="TextBox 14"/>
            <p:cNvSpPr txBox="1"/>
            <p:nvPr/>
          </p:nvSpPr>
          <p:spPr>
            <a:xfrm>
              <a:off x="1318450" y="3759994"/>
              <a:ext cx="134450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分类间隔 margin</a:t>
              </a:r>
            </a:p>
          </p:txBody>
        </p:sp>
        <p:sp>
          <p:nvSpPr>
            <p:cNvPr id="15" name="TextBox 15"/>
            <p:cNvSpPr txBox="1"/>
            <p:nvPr/>
          </p:nvSpPr>
          <p:spPr>
            <a:xfrm>
              <a:off x="745998" y="4076224"/>
              <a:ext cx="445897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H 为分类线，H₁、H₂ 分别是过各类中离分类线最近的样本且平</a:t>
              </a:r>
              <a:br/>
              <a:r>
                <a:rPr lang="zh-CN" sz="1280" dirty="0">
                  <a:solidFill>
                    <a:srgbClr val="1F2937"/>
                  </a:solidFill>
                  <a:latin typeface="+mn-lt"/>
                  <a:ea typeface="+mn-ea"/>
                  <a:cs typeface="+mn-cs"/>
                </a:rPr>
                <a:t>行于 H 的直线，它们之间的距离叫分类间隔。</a:t>
              </a:r>
            </a:p>
          </p:txBody>
        </p:sp>
        <p:sp>
          <p:nvSpPr>
            <p:cNvPr id="16" name="TextBox 16"/>
            <p:cNvSpPr txBox="1"/>
            <p:nvPr/>
          </p:nvSpPr>
          <p:spPr>
            <a:xfrm>
              <a:off x="745998" y="4604861"/>
              <a:ext cx="454025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最优分类线要求：两类全部分对（训练错误率为 0），同时分类</a:t>
              </a:r>
              <a:br/>
              <a:r>
                <a:rPr lang="zh-CN" sz="1280" dirty="0">
                  <a:solidFill>
                    <a:srgbClr val="1F2937"/>
                  </a:solidFill>
                  <a:latin typeface="+mn-lt"/>
                  <a:ea typeface="+mn-ea"/>
                  <a:cs typeface="+mn-cs"/>
                </a:rPr>
                <a:t>间隔最大。推广到高维就是</a:t>
              </a:r>
              <a:r>
                <a:rPr lang="zh-CN" sz="1280" b="1" dirty="0">
                  <a:solidFill>
                    <a:srgbClr val="C2410C"/>
                  </a:solidFill>
                  <a:latin typeface="+mn-lt"/>
                  <a:ea typeface="+mn-ea"/>
                  <a:cs typeface="+mn-cs"/>
                </a:rPr>
                <a:t>最优分类面</a:t>
              </a:r>
              <a:r>
                <a:rPr lang="zh-CN" sz="1280" dirty="0">
                  <a:solidFill>
                    <a:srgbClr val="1F2937"/>
                  </a:solidFill>
                  <a:latin typeface="+mn-lt"/>
                  <a:ea typeface="+mn-ea"/>
                  <a:cs typeface="+mn-cs"/>
                </a:rPr>
                <a:t>。</a:t>
              </a:r>
            </a:p>
          </p:txBody>
        </p:sp>
      </p:grpSp>
      <p:grpSp>
        <p:nvGrpSpPr>
          <p:cNvPr id="27" name="c2-card-1"/>
          <p:cNvGrpSpPr/>
          <p:nvPr/>
        </p:nvGrpSpPr>
        <p:grpSpPr>
          <a:xfrm>
            <a:off x="6032182" y="1524000"/>
            <a:ext cx="5626418" cy="2185988"/>
            <a:chOff x="6032182" y="1524000"/>
            <a:chExt cx="5626418" cy="2185988"/>
          </a:xfrm>
        </p:grpSpPr>
        <p:sp>
          <p:nvSpPr>
            <p:cNvPr id="18" name="Rectangle 18"/>
            <p:cNvSpPr/>
            <p:nvPr/>
          </p:nvSpPr>
          <p:spPr>
            <a:xfrm>
              <a:off x="6032182" y="1524000"/>
              <a:ext cx="5626418" cy="2185988"/>
            </a:xfrm>
            <a:prstGeom prst="roundRect">
              <a:avLst>
                <a:gd name="adj" fmla="val 6100"/>
              </a:avLst>
            </a:prstGeom>
            <a:solidFill>
              <a:srgbClr val="FFFFFF"/>
            </a:solidFill>
            <a:ln w="14288">
              <a:solidFill>
                <a:srgbClr val="D9DFEA"/>
              </a:solidFill>
            </a:ln>
          </p:spPr>
        </p:sp>
        <p:sp>
          <p:nvSpPr>
            <p:cNvPr id="19" name="Rectangle 19"/>
            <p:cNvSpPr/>
            <p:nvPr/>
          </p:nvSpPr>
          <p:spPr>
            <a:xfrm>
              <a:off x="6041708" y="1657350"/>
              <a:ext cx="47625" cy="1919288"/>
            </a:xfrm>
            <a:prstGeom prst="roundRect">
              <a:avLst>
                <a:gd name="adj" fmla="val 50000"/>
              </a:avLst>
            </a:prstGeom>
            <a:solidFill>
              <a:srgbClr val="0E7C86"/>
            </a:solidFill>
            <a:ln>
              <a:noFill/>
            </a:ln>
          </p:spPr>
        </p:sp>
        <p:sp>
          <p:nvSpPr>
            <p:cNvPr id="20" name="Rectangle 20"/>
            <p:cNvSpPr/>
            <p:nvPr/>
          </p:nvSpPr>
          <p:spPr>
            <a:xfrm>
              <a:off x="6251258" y="1704975"/>
              <a:ext cx="707708" cy="238125"/>
            </a:xfrm>
            <a:prstGeom prst="roundRect">
              <a:avLst>
                <a:gd name="adj" fmla="val 50000"/>
              </a:avLst>
            </a:prstGeom>
            <a:solidFill>
              <a:srgbClr val="E2F3F4"/>
            </a:solidFill>
            <a:ln>
              <a:noFill/>
            </a:ln>
          </p:spPr>
        </p:sp>
        <p:sp>
          <p:nvSpPr>
            <p:cNvPr id="21" name="TextBox 21"/>
            <p:cNvSpPr txBox="1"/>
            <p:nvPr/>
          </p:nvSpPr>
          <p:spPr>
            <a:xfrm>
              <a:off x="6335827" y="1737836"/>
              <a:ext cx="537616"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两种间隔</a:t>
              </a:r>
            </a:p>
          </p:txBody>
        </p:sp>
        <p:sp>
          <p:nvSpPr>
            <p:cNvPr id="22" name="TextBox 22"/>
            <p:cNvSpPr txBox="1"/>
            <p:nvPr/>
          </p:nvSpPr>
          <p:spPr>
            <a:xfrm>
              <a:off x="7065836" y="1744504"/>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函数间隔与几何间隔</a:t>
              </a:r>
            </a:p>
          </p:txBody>
        </p:sp>
        <p:sp>
          <p:nvSpPr>
            <p:cNvPr id="23" name="TextBox 23"/>
            <p:cNvSpPr txBox="1"/>
            <p:nvPr/>
          </p:nvSpPr>
          <p:spPr>
            <a:xfrm>
              <a:off x="6244780" y="2061686"/>
              <a:ext cx="30370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任意点 xᵢ 到平面 w·x + b = 0 的距离：</a:t>
              </a:r>
            </a:p>
          </p:txBody>
        </p:sp>
        <mc:AlternateContent xmlns:mc="http://schemas.openxmlformats.org/markup-compatibility/2006">
          <mc:Choice xmlns:a14="http://schemas.microsoft.com/office/drawing/2010/main" Requires="a14">
            <p:sp>
              <p:nvSpPr>
                <p:cNvPr id="24" name="formula41"/>
                <p:cNvSpPr txBox="1">
                  <a:spLocks noGrp="1"/>
                </p:cNvSpPr>
                <p:nvPr/>
              </p:nvSpPr>
              <p:spPr>
                <a:xfrm>
                  <a:off x="6251258" y="2325052"/>
                  <a:ext cx="5226368" cy="46291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350" dirty="0">
                                <a:solidFill>
                                  <a:srgbClr val="1F2937"/>
                                </a:solidFill>
                                <a:latin typeface="Cambria Math"/>
                                <a:ea typeface="Cambria Math"/>
                                <a:cs typeface="Cambria Math"/>
                              </a:rPr>
                              <m:t>d</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f>
                          <m:fPr>
                            <m:type m:val="bar"/>
                            <m:ctrlPr>
                              <a:rPr lang="zh-CN" sz="1350" dirty="0">
                                <a:solidFill>
                                  <a:srgbClr val="1F2937"/>
                                </a:solidFill>
                                <a:latin typeface="Cambria Math"/>
                                <a:ea typeface="Cambria Math"/>
                                <a:cs typeface="Cambria Math"/>
                              </a:rPr>
                            </m:ctrlPr>
                          </m:fPr>
                          <m:num>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e>
                            </m:d>
                          </m:num>
                          <m:den>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e>
                            </m:d>
                          </m:den>
                        </m:f>
                        <m:r>
                          <m:rPr>
                            <m:sty m:val="p"/>
                          </m:rPr>
                          <a:rPr lang="zh-CN" sz="1350" dirty="0">
                            <a:solidFill>
                              <a:srgbClr val="1F2937"/>
                            </a:solidFill>
                            <a:latin typeface="Cambria Math"/>
                            <a:ea typeface="Cambria Math"/>
                            <a:cs typeface="Cambria Math"/>
                          </a:rPr>
                          <m:t>=</m:t>
                        </m:r>
                        <m:f>
                          <m:fPr>
                            <m:type m:val="bar"/>
                            <m:ctrlPr>
                              <a:rPr lang="zh-CN" sz="1350" dirty="0">
                                <a:solidFill>
                                  <a:srgbClr val="1F2937"/>
                                </a:solidFill>
                                <a:latin typeface="Cambria Math"/>
                                <a:ea typeface="Cambria Math"/>
                                <a:cs typeface="Cambria Math"/>
                              </a:rPr>
                            </m:ctrlPr>
                          </m:fPr>
                          <m:num>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e>
                            </m:d>
                          </m:num>
                          <m:den>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e>
                            </m:d>
                          </m:den>
                        </m:f>
                      </m:oMath>
                    </m:oMathPara>
                  </a14:m>
                </a:p>
              </p:txBody>
            </p:sp>
          </mc:Choice>
        </mc:AlternateContent>
        <p:sp>
          <p:nvSpPr>
            <p:cNvPr id="25" name="TextBox 25"/>
            <p:cNvSpPr txBox="1"/>
            <p:nvPr/>
          </p:nvSpPr>
          <p:spPr>
            <a:xfrm>
              <a:off x="6245924" y="2886075"/>
              <a:ext cx="4944618" cy="398716"/>
            </a:xfrm>
            <a:prstGeom prst="rect">
              <a:avLst/>
            </a:prstGeom>
            <a:noFill/>
            <a:ln>
              <a:noFill/>
            </a:ln>
          </p:spPr>
          <p:txBody>
            <a:bodyPr wrap="none" lIns="0" tIns="0" rIns="0" bIns="0" anchor="t" anchorCtr="0">
              <a:spAutoFit/>
            </a:bodyPr>
            <a:lstStyle/>
            <a:p>
              <a:pPr algn="l">
                <a:lnSpc>
                  <a:spcPts val="1522"/>
                </a:lnSpc>
              </a:pPr>
              <a:r>
                <a:rPr lang="zh-CN" sz="1050" dirty="0">
                  <a:solidFill>
                    <a:srgbClr val="5B6475"/>
                  </a:solidFill>
                  <a:latin typeface="+mn-lt"/>
                  <a:ea typeface="+mn-ea"/>
                  <a:cs typeface="+mn-cs"/>
                </a:rPr>
                <a:t>第二个等号用到线性可分：所有样本都满足 yᵢ(w·xᵢ + b) &gt; 0，所以 yᵢ 可以充当绝</a:t>
              </a:r>
              <a:br/>
              <a:r>
                <a:rPr lang="zh-CN" sz="1050" dirty="0">
                  <a:solidFill>
                    <a:srgbClr val="5B6475"/>
                  </a:solidFill>
                  <a:latin typeface="+mn-lt"/>
                  <a:ea typeface="+mn-ea"/>
                  <a:cs typeface="+mn-cs"/>
                </a:rPr>
                <a:t>对值符号。</a:t>
              </a:r>
            </a:p>
          </p:txBody>
        </p:sp>
        <p:sp>
          <p:nvSpPr>
            <p:cNvPr id="26" name="TextBox 26"/>
            <p:cNvSpPr txBox="1"/>
            <p:nvPr/>
          </p:nvSpPr>
          <p:spPr>
            <a:xfrm>
              <a:off x="6244780" y="3329464"/>
              <a:ext cx="43035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分子 yᵢ(w·xᵢ + b) 叫</a:t>
              </a:r>
              <a:r>
                <a:rPr lang="zh-CN" sz="1280" b="1" dirty="0">
                  <a:solidFill>
                    <a:srgbClr val="1F2937"/>
                  </a:solidFill>
                  <a:latin typeface="+mn-lt"/>
                  <a:ea typeface="+mn-ea"/>
                  <a:cs typeface="+mn-cs"/>
                </a:rPr>
                <a:t>函数间隔</a:t>
              </a:r>
              <a:r>
                <a:rPr lang="zh-CN" sz="1280" dirty="0">
                  <a:solidFill>
                    <a:srgbClr val="1F2937"/>
                  </a:solidFill>
                  <a:latin typeface="+mn-lt"/>
                  <a:ea typeface="+mn-ea"/>
                  <a:cs typeface="+mn-cs"/>
                </a:rPr>
                <a:t>，整个分式叫</a:t>
              </a:r>
              <a:r>
                <a:rPr lang="zh-CN" sz="1280" b="1" dirty="0">
                  <a:solidFill>
                    <a:srgbClr val="1F2937"/>
                  </a:solidFill>
                  <a:latin typeface="+mn-lt"/>
                  <a:ea typeface="+mn-ea"/>
                  <a:cs typeface="+mn-cs"/>
                </a:rPr>
                <a:t>几何间隔</a:t>
              </a:r>
              <a:r>
                <a:rPr lang="zh-CN" sz="1280" dirty="0">
                  <a:solidFill>
                    <a:srgbClr val="1F2937"/>
                  </a:solidFill>
                  <a:latin typeface="+mn-lt"/>
                  <a:ea typeface="+mn-ea"/>
                  <a:cs typeface="+mn-cs"/>
                </a:rPr>
                <a:t>。</a:t>
              </a:r>
            </a:p>
          </p:txBody>
        </p:sp>
      </p:grpSp>
      <p:grpSp>
        <p:nvGrpSpPr>
          <p:cNvPr id="35" name="c2-card-2"/>
          <p:cNvGrpSpPr/>
          <p:nvPr/>
        </p:nvGrpSpPr>
        <p:grpSpPr>
          <a:xfrm>
            <a:off x="6032182" y="3874770"/>
            <a:ext cx="5626418" cy="1444942"/>
            <a:chOff x="6032182" y="3874770"/>
            <a:chExt cx="5626418" cy="1444942"/>
          </a:xfrm>
        </p:grpSpPr>
        <p:sp>
          <p:nvSpPr>
            <p:cNvPr id="28" name="Rectangle 28"/>
            <p:cNvSpPr/>
            <p:nvPr/>
          </p:nvSpPr>
          <p:spPr>
            <a:xfrm>
              <a:off x="6032182" y="3874770"/>
              <a:ext cx="5626418" cy="1444942"/>
            </a:xfrm>
            <a:prstGeom prst="roundRect">
              <a:avLst>
                <a:gd name="adj" fmla="val 9229"/>
              </a:avLst>
            </a:prstGeom>
            <a:solidFill>
              <a:srgbClr val="FFFFFF"/>
            </a:solidFill>
            <a:ln w="14288">
              <a:solidFill>
                <a:srgbClr val="D9DFEA"/>
              </a:solidFill>
            </a:ln>
          </p:spPr>
        </p:sp>
        <p:sp>
          <p:nvSpPr>
            <p:cNvPr id="29" name="Rectangle 29"/>
            <p:cNvSpPr/>
            <p:nvPr/>
          </p:nvSpPr>
          <p:spPr>
            <a:xfrm>
              <a:off x="6041708" y="4008120"/>
              <a:ext cx="47625" cy="1178242"/>
            </a:xfrm>
            <a:prstGeom prst="roundRect">
              <a:avLst>
                <a:gd name="adj" fmla="val 50000"/>
              </a:avLst>
            </a:prstGeom>
            <a:solidFill>
              <a:srgbClr val="B42318"/>
            </a:solidFill>
            <a:ln>
              <a:noFill/>
            </a:ln>
          </p:spPr>
        </p:sp>
        <p:sp>
          <p:nvSpPr>
            <p:cNvPr id="30" name="Rectangle 30"/>
            <p:cNvSpPr/>
            <p:nvPr/>
          </p:nvSpPr>
          <p:spPr>
            <a:xfrm>
              <a:off x="6251258" y="4055745"/>
              <a:ext cx="582930" cy="238125"/>
            </a:xfrm>
            <a:prstGeom prst="roundRect">
              <a:avLst>
                <a:gd name="adj" fmla="val 50000"/>
              </a:avLst>
            </a:prstGeom>
            <a:solidFill>
              <a:srgbClr val="FDECEA"/>
            </a:solidFill>
            <a:ln>
              <a:noFill/>
            </a:ln>
          </p:spPr>
        </p:sp>
        <p:sp>
          <p:nvSpPr>
            <p:cNvPr id="31" name="TextBox 31"/>
            <p:cNvSpPr txBox="1"/>
            <p:nvPr/>
          </p:nvSpPr>
          <p:spPr>
            <a:xfrm>
              <a:off x="6339878" y="4088606"/>
              <a:ext cx="405689"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易错点</a:t>
              </a:r>
            </a:p>
          </p:txBody>
        </p:sp>
        <p:sp>
          <p:nvSpPr>
            <p:cNvPr id="32" name="TextBox 32"/>
            <p:cNvSpPr txBox="1"/>
            <p:nvPr/>
          </p:nvSpPr>
          <p:spPr>
            <a:xfrm>
              <a:off x="6942011" y="4095274"/>
              <a:ext cx="208071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只看函数间隔会被缩放骗到</a:t>
              </a:r>
            </a:p>
          </p:txBody>
        </p:sp>
        <p:sp>
          <p:nvSpPr>
            <p:cNvPr id="33" name="TextBox 33"/>
            <p:cNvSpPr txBox="1"/>
            <p:nvPr/>
          </p:nvSpPr>
          <p:spPr>
            <a:xfrm>
              <a:off x="6244780" y="4411504"/>
              <a:ext cx="48978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对任意 k ≠ 0，(w, b) 与 (kw, kb) 表示的是</a:t>
              </a:r>
              <a:r>
                <a:rPr lang="zh-CN" sz="1280" b="1" dirty="0">
                  <a:solidFill>
                    <a:srgbClr val="C2410C"/>
                  </a:solidFill>
                  <a:latin typeface="+mn-lt"/>
                  <a:ea typeface="+mn-ea"/>
                  <a:cs typeface="+mn-cs"/>
                </a:rPr>
                <a:t>同一个超平面</a:t>
              </a:r>
              <a:r>
                <a:rPr lang="zh-CN" sz="1280" dirty="0">
                  <a:solidFill>
                    <a:srgbClr val="1F2937"/>
                  </a:solidFill>
                  <a:latin typeface="+mn-lt"/>
                  <a:ea typeface="+mn-ea"/>
                  <a:cs typeface="+mn-cs"/>
                </a:rPr>
                <a:t>，但函数</a:t>
              </a:r>
              <a:br/>
              <a:r>
                <a:rPr lang="zh-CN" sz="1280" dirty="0">
                  <a:solidFill>
                    <a:srgbClr val="1F2937"/>
                  </a:solidFill>
                  <a:latin typeface="+mn-lt"/>
                  <a:ea typeface="+mn-ea"/>
                  <a:cs typeface="+mn-cs"/>
                </a:rPr>
                <a:t>间隔被放大了 k 倍，几何间隔不变。</a:t>
              </a:r>
            </a:p>
          </p:txBody>
        </p:sp>
        <p:sp>
          <p:nvSpPr>
            <p:cNvPr id="34" name="TextBox 34"/>
            <p:cNvSpPr txBox="1"/>
            <p:nvPr/>
          </p:nvSpPr>
          <p:spPr>
            <a:xfrm>
              <a:off x="6244780" y="4940141"/>
              <a:ext cx="519959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所以“让函数间隔最大”这个目标没有意义，必须先把尺度固定下来。</a:t>
              </a:r>
            </a:p>
          </p:txBody>
        </p:sp>
      </p:grpSp>
      <p:grpSp>
        <p:nvGrpSpPr>
          <p:cNvPr id="42" name="takeaway"/>
          <p:cNvGrpSpPr/>
          <p:nvPr/>
        </p:nvGrpSpPr>
        <p:grpSpPr>
          <a:xfrm>
            <a:off x="533400" y="5895022"/>
            <a:ext cx="11125200" cy="467678"/>
            <a:chOff x="533400" y="5895022"/>
            <a:chExt cx="11125200" cy="467678"/>
          </a:xfrm>
        </p:grpSpPr>
        <p:sp>
          <p:nvSpPr>
            <p:cNvPr id="36" name="Rectangle 36"/>
            <p:cNvSpPr/>
            <p:nvPr/>
          </p:nvSpPr>
          <p:spPr>
            <a:xfrm>
              <a:off x="533400" y="5895022"/>
              <a:ext cx="11125200" cy="467678"/>
            </a:xfrm>
            <a:prstGeom prst="roundRect">
              <a:avLst>
                <a:gd name="adj" fmla="val 24440"/>
              </a:avLst>
            </a:prstGeom>
            <a:solidFill>
              <a:srgbClr val="FDEEE7"/>
            </a:solidFill>
            <a:ln>
              <a:noFill/>
            </a:ln>
          </p:spPr>
        </p:sp>
        <p:grpSp>
          <p:nvGrpSpPr>
            <p:cNvPr id="40" name="Group 40"/>
            <p:cNvGrpSpPr/>
            <p:nvPr/>
          </p:nvGrpSpPr>
          <p:grpSpPr>
            <a:xfrm>
              <a:off x="738188" y="6028373"/>
              <a:ext cx="200026" cy="200025"/>
              <a:chOff x="738188" y="6028373"/>
              <a:chExt cx="200026" cy="200025"/>
            </a:xfrm>
          </p:grpSpPr>
          <p:sp>
            <p:nvSpPr>
              <p:cNvPr id="37" name="Freeform 37"/>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8" name="Freeform 38"/>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9" name="Freeform 39"/>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1" name="TextBox 41"/>
            <p:cNvSpPr txBox="1"/>
            <p:nvPr/>
          </p:nvSpPr>
          <p:spPr>
            <a:xfrm>
              <a:off x="1041273" y="6039326"/>
              <a:ext cx="5526989"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记法：函数间隔管符号（分没分对），几何间隔管长度（分得有多开）。</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4" name="TextBox 4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740484" cy="909257"/>
            <a:chOff x="520446" y="342900"/>
            <a:chExt cx="6740484"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线性判别函数与最优分类面</a:t>
              </a:r>
            </a:p>
          </p:txBody>
        </p:sp>
        <p:sp>
          <p:nvSpPr>
            <p:cNvPr id="4" name="TextBox 4"/>
            <p:cNvSpPr txBox="1"/>
            <p:nvPr/>
          </p:nvSpPr>
          <p:spPr>
            <a:xfrm>
              <a:off x="520446" y="753428"/>
              <a:ext cx="674048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归一化之后，支持向量满足 y(w·x + b) = 1</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6410858" cy="264033"/>
            <a:chOff x="526542" y="1545907"/>
            <a:chExt cx="6410858" cy="264033"/>
          </a:xfrm>
        </p:grpSpPr>
        <p:sp>
          <p:nvSpPr>
            <p:cNvPr id="7" name="TextBox 7"/>
            <p:cNvSpPr txBox="1"/>
            <p:nvPr/>
          </p:nvSpPr>
          <p:spPr>
            <a:xfrm>
              <a:off x="526542" y="1545907"/>
              <a:ext cx="6410858"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固定尺度的办法是把最小的函数间隔规定成 1，这样几何间隔就只剩下 1/||w||。</a:t>
              </a:r>
            </a:p>
          </p:txBody>
        </p:sp>
      </p:grpSp>
      <p:grpSp>
        <p:nvGrpSpPr>
          <p:cNvPr id="22" name="c1-steps-1"/>
          <p:cNvGrpSpPr/>
          <p:nvPr/>
        </p:nvGrpSpPr>
        <p:grpSpPr>
          <a:xfrm>
            <a:off x="533400" y="1938338"/>
            <a:ext cx="3138373" cy="1596009"/>
            <a:chOff x="533400" y="1938338"/>
            <a:chExt cx="3138373" cy="1596009"/>
          </a:xfrm>
        </p:grpSpPr>
        <p:sp>
          <p:nvSpPr>
            <p:cNvPr id="9" name="Rectangle 9"/>
            <p:cNvSpPr/>
            <p:nvPr/>
          </p:nvSpPr>
          <p:spPr>
            <a:xfrm>
              <a:off x="666750" y="2081212"/>
              <a:ext cx="19050" cy="1105852"/>
            </a:xfrm>
            <a:prstGeom prst="rect">
              <a:avLst/>
            </a:prstGeom>
            <a:solidFill>
              <a:srgbClr val="D9DFEA"/>
            </a:solidFill>
            <a:ln>
              <a:noFill/>
            </a:ln>
          </p:spPr>
        </p:sp>
        <p:sp>
          <p:nvSpPr>
            <p:cNvPr id="10" name="Ellipse 10"/>
            <p:cNvSpPr/>
            <p:nvPr/>
          </p:nvSpPr>
          <p:spPr>
            <a:xfrm>
              <a:off x="533400" y="1938338"/>
              <a:ext cx="285750" cy="285750"/>
            </a:xfrm>
            <a:prstGeom prst="ellipse">
              <a:avLst/>
            </a:prstGeom>
            <a:solidFill>
              <a:srgbClr val="0E7C86"/>
            </a:solidFill>
            <a:ln>
              <a:noFill/>
            </a:ln>
          </p:spPr>
        </p:sp>
        <p:sp>
          <p:nvSpPr>
            <p:cNvPr id="11" name="TextBox 11"/>
            <p:cNvSpPr txBox="1"/>
            <p:nvPr/>
          </p:nvSpPr>
          <p:spPr>
            <a:xfrm>
              <a:off x="627024" y="20121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490788"/>
              <a:ext cx="285750" cy="285750"/>
            </a:xfrm>
            <a:prstGeom prst="ellipse">
              <a:avLst/>
            </a:prstGeom>
            <a:solidFill>
              <a:srgbClr val="0E7C86"/>
            </a:solidFill>
            <a:ln>
              <a:noFill/>
            </a:ln>
          </p:spPr>
        </p:sp>
        <p:sp>
          <p:nvSpPr>
            <p:cNvPr id="13" name="TextBox 13"/>
            <p:cNvSpPr txBox="1"/>
            <p:nvPr/>
          </p:nvSpPr>
          <p:spPr>
            <a:xfrm>
              <a:off x="627024" y="256460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044190"/>
              <a:ext cx="285750" cy="285750"/>
            </a:xfrm>
            <a:prstGeom prst="ellipse">
              <a:avLst/>
            </a:prstGeom>
            <a:solidFill>
              <a:srgbClr val="0E7C86"/>
            </a:solidFill>
            <a:ln>
              <a:noFill/>
            </a:ln>
          </p:spPr>
        </p:sp>
        <p:sp>
          <p:nvSpPr>
            <p:cNvPr id="15" name="TextBox 15"/>
            <p:cNvSpPr txBox="1"/>
            <p:nvPr/>
          </p:nvSpPr>
          <p:spPr>
            <a:xfrm>
              <a:off x="627024" y="311800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TextBox 16"/>
            <p:cNvSpPr txBox="1"/>
            <p:nvPr/>
          </p:nvSpPr>
          <p:spPr>
            <a:xfrm>
              <a:off x="946023" y="1968341"/>
              <a:ext cx="121914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记最小函数间隔</a:t>
              </a:r>
            </a:p>
          </p:txBody>
        </p:sp>
        <p:sp>
          <p:nvSpPr>
            <p:cNvPr id="17" name="TextBox 17"/>
            <p:cNvSpPr txBox="1"/>
            <p:nvPr/>
          </p:nvSpPr>
          <p:spPr>
            <a:xfrm>
              <a:off x="947166" y="2223135"/>
              <a:ext cx="272460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γ̂ = min yᵢ(w·xᵢ + b) &gt; 0，所有 i 满足 ≥ γ̂</a:t>
              </a:r>
            </a:p>
          </p:txBody>
        </p:sp>
        <p:sp>
          <p:nvSpPr>
            <p:cNvPr id="18" name="TextBox 18"/>
            <p:cNvSpPr txBox="1"/>
            <p:nvPr/>
          </p:nvSpPr>
          <p:spPr>
            <a:xfrm>
              <a:off x="946023" y="2521744"/>
              <a:ext cx="5113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同除 γ̂</a:t>
              </a:r>
            </a:p>
          </p:txBody>
        </p:sp>
        <p:sp>
          <p:nvSpPr>
            <p:cNvPr id="19" name="TextBox 19"/>
            <p:cNvSpPr txBox="1"/>
            <p:nvPr/>
          </p:nvSpPr>
          <p:spPr>
            <a:xfrm>
              <a:off x="947166" y="2776538"/>
              <a:ext cx="195424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换成 (w/γ̂, b/γ̂)，超平面不变</a:t>
              </a:r>
            </a:p>
          </p:txBody>
        </p:sp>
        <p:sp>
          <p:nvSpPr>
            <p:cNvPr id="20" name="TextBox 20"/>
            <p:cNvSpPr txBox="1"/>
            <p:nvPr/>
          </p:nvSpPr>
          <p:spPr>
            <a:xfrm>
              <a:off x="946023" y="307514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得到约束</a:t>
              </a:r>
            </a:p>
          </p:txBody>
        </p:sp>
        <p:sp>
          <p:nvSpPr>
            <p:cNvPr id="21" name="TextBox 21"/>
            <p:cNvSpPr txBox="1"/>
            <p:nvPr/>
          </p:nvSpPr>
          <p:spPr>
            <a:xfrm>
              <a:off x="947166" y="3328988"/>
              <a:ext cx="114147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yᵢ(w·xᵢ + b) ≥ 1</a:t>
              </a:r>
            </a:p>
          </p:txBody>
        </p:sp>
      </p:grpSp>
      <mc:AlternateContent xmlns:mc="http://schemas.openxmlformats.org/markup-compatibility/2006">
        <mc:Choice xmlns:a14="http://schemas.microsoft.com/office/drawing/2010/main" Requires="a14">
          <p:sp>
            <p:nvSpPr>
              <p:cNvPr id="23" name="formula48"/>
              <p:cNvSpPr txBox="1">
                <a:spLocks noGrp="1"/>
              </p:cNvSpPr>
              <p:nvPr/>
            </p:nvSpPr>
            <p:spPr>
              <a:xfrm>
                <a:off x="533400" y="3696652"/>
                <a:ext cx="5626418" cy="44577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350" dirty="0">
                              <a:solidFill>
                                <a:srgbClr val="1F2937"/>
                              </a:solidFill>
                              <a:latin typeface="Cambria Math"/>
                              <a:ea typeface="Cambria Math"/>
                              <a:cs typeface="Cambria Math"/>
                            </a:rPr>
                            <m:t>d</m:t>
                          </m:r>
                        </m:e>
                        <m:sup>
                          <m:r>
                            <m:rPr>
                              <m:sty m:val="p"/>
                            </m:rPr>
                            <a:rPr lang="zh-CN" sz="1350" dirty="0">
                              <a:solidFill>
                                <a:srgbClr val="1F2937"/>
                              </a:solidFill>
                              <a:latin typeface="Cambria Math"/>
                              <a:ea typeface="Cambria Math"/>
                              <a:cs typeface="Cambria Math"/>
                            </a:rPr>
                            <m:t>*</m:t>
                          </m:r>
                        </m:sup>
                      </m:sSup>
                      <m:r>
                        <m:rPr>
                          <m:sty m:val="p"/>
                        </m:rPr>
                        <a:rPr lang="zh-CN" sz="1350" dirty="0">
                          <a:solidFill>
                            <a:srgbClr val="1F2937"/>
                          </a:solidFill>
                          <a:latin typeface="Cambria Math"/>
                          <a:ea typeface="Cambria Math"/>
                          <a:cs typeface="Cambria Math"/>
                        </a:rPr>
                        <m:t>=</m:t>
                      </m:r>
                      <m:func>
                        <m:funcPr/>
                        <m:fName>
                          <m:limLow>
                            <m:limLowPr/>
                            <m:e>
                              <m:r>
                                <m:rPr>
                                  <m:sty m:val="p"/>
                                </m:rPr>
                                <a:rPr lang="zh-CN" sz="1350" dirty="0">
                                  <a:solidFill>
                                    <a:srgbClr val="1F2937"/>
                                  </a:solidFill>
                                  <a:latin typeface="Cambria Math"/>
                                  <a:ea typeface="Cambria Math"/>
                                  <a:cs typeface="Cambria Math"/>
                                </a:rPr>
                                <m:t>min</m:t>
                              </m:r>
                            </m:e>
                            <m:lim>
                              <m:r>
                                <a:rPr lang="zh-CN" sz="1350" dirty="0">
                                  <a:solidFill>
                                    <a:srgbClr val="1F2937"/>
                                  </a:solidFill>
                                  <a:latin typeface="Cambria Math"/>
                                  <a:ea typeface="Cambria Math"/>
                                  <a:cs typeface="Cambria Math"/>
                                </a:rPr>
                                <m:t>1</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N</m:t>
                              </m:r>
                            </m:lim>
                          </m:limLow>
                        </m:fName>
                        <m:e>
                          <m:f>
                            <m:fPr>
                              <m:type m:val="bar"/>
                              <m:ctrlPr>
                                <a:rPr lang="zh-CN" sz="1350" dirty="0">
                                  <a:solidFill>
                                    <a:srgbClr val="1F2937"/>
                                  </a:solidFill>
                                  <a:latin typeface="Cambria Math"/>
                                  <a:ea typeface="Cambria Math"/>
                                  <a:cs typeface="Cambria Math"/>
                                </a:rPr>
                              </m:ctrlPr>
                            </m:fPr>
                            <m:num>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e>
                              </m:d>
                            </m:num>
                            <m:den>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e>
                              </m:d>
                            </m:den>
                          </m:f>
                        </m:e>
                      </m:func>
                      <m:r>
                        <m:rPr>
                          <m:sty m:val="p"/>
                        </m:rPr>
                        <a:rPr lang="zh-CN" sz="1350" dirty="0">
                          <a:solidFill>
                            <a:srgbClr val="1F2937"/>
                          </a:solidFill>
                          <a:latin typeface="Cambria Math"/>
                          <a:ea typeface="Cambria Math"/>
                          <a:cs typeface="Cambria Math"/>
                        </a:rPr>
                        <m:t>=</m:t>
                      </m:r>
                      <m:f>
                        <m:fPr>
                          <m:type m:val="bar"/>
                          <m:ctrlPr>
                            <a:rPr lang="zh-CN" sz="1350" dirty="0">
                              <a:solidFill>
                                <a:srgbClr val="1F2937"/>
                              </a:solidFill>
                              <a:latin typeface="Cambria Math"/>
                              <a:ea typeface="Cambria Math"/>
                              <a:cs typeface="Cambria Math"/>
                            </a:rPr>
                          </m:ctrlPr>
                        </m:fPr>
                        <m:num>
                          <m:r>
                            <a:rPr lang="zh-CN" sz="1350" dirty="0">
                              <a:solidFill>
                                <a:srgbClr val="1F2937"/>
                              </a:solidFill>
                              <a:latin typeface="Cambria Math"/>
                              <a:ea typeface="Cambria Math"/>
                              <a:cs typeface="Cambria Math"/>
                            </a:rPr>
                            <m:t>1</m:t>
                          </m:r>
                        </m:num>
                        <m:den>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e>
                          </m:d>
                        </m:den>
                      </m:f>
                    </m:oMath>
                  </m:oMathPara>
                </a14:m>
              </a:p>
            </p:txBody>
          </p:sp>
        </mc:Choice>
      </mc:AlternateContent>
      <p:grpSp>
        <p:nvGrpSpPr>
          <p:cNvPr id="31" name="c1-card-3"/>
          <p:cNvGrpSpPr/>
          <p:nvPr/>
        </p:nvGrpSpPr>
        <p:grpSpPr>
          <a:xfrm>
            <a:off x="533400" y="4307205"/>
            <a:ext cx="5626418" cy="1406842"/>
            <a:chOff x="533400" y="4307205"/>
            <a:chExt cx="5626418" cy="1406842"/>
          </a:xfrm>
        </p:grpSpPr>
        <p:sp>
          <p:nvSpPr>
            <p:cNvPr id="24" name="Rectangle 24"/>
            <p:cNvSpPr/>
            <p:nvPr/>
          </p:nvSpPr>
          <p:spPr>
            <a:xfrm>
              <a:off x="533400" y="4307205"/>
              <a:ext cx="5626418" cy="1406842"/>
            </a:xfrm>
            <a:prstGeom prst="roundRect">
              <a:avLst>
                <a:gd name="adj" fmla="val 9479"/>
              </a:avLst>
            </a:prstGeom>
            <a:solidFill>
              <a:srgbClr val="FFFFFF"/>
            </a:solidFill>
            <a:ln w="14288">
              <a:solidFill>
                <a:srgbClr val="D9DFEA"/>
              </a:solidFill>
            </a:ln>
          </p:spPr>
        </p:sp>
        <p:sp>
          <p:nvSpPr>
            <p:cNvPr id="25" name="Rectangle 25"/>
            <p:cNvSpPr/>
            <p:nvPr/>
          </p:nvSpPr>
          <p:spPr>
            <a:xfrm>
              <a:off x="542925" y="4440555"/>
              <a:ext cx="47625" cy="1140142"/>
            </a:xfrm>
            <a:prstGeom prst="roundRect">
              <a:avLst>
                <a:gd name="adj" fmla="val 50000"/>
              </a:avLst>
            </a:prstGeom>
            <a:solidFill>
              <a:srgbClr val="0E7C86"/>
            </a:solidFill>
            <a:ln>
              <a:noFill/>
            </a:ln>
          </p:spPr>
        </p:sp>
        <p:sp>
          <p:nvSpPr>
            <p:cNvPr id="26" name="Rectangle 26"/>
            <p:cNvSpPr/>
            <p:nvPr/>
          </p:nvSpPr>
          <p:spPr>
            <a:xfrm>
              <a:off x="752475" y="4488180"/>
              <a:ext cx="458152" cy="238125"/>
            </a:xfrm>
            <a:prstGeom prst="roundRect">
              <a:avLst>
                <a:gd name="adj" fmla="val 50000"/>
              </a:avLst>
            </a:prstGeom>
            <a:solidFill>
              <a:srgbClr val="E2F3F4"/>
            </a:solidFill>
            <a:ln>
              <a:noFill/>
            </a:ln>
          </p:spPr>
        </p:sp>
        <p:sp>
          <p:nvSpPr>
            <p:cNvPr id="27" name="TextBox 27"/>
            <p:cNvSpPr txBox="1"/>
            <p:nvPr/>
          </p:nvSpPr>
          <p:spPr>
            <a:xfrm>
              <a:off x="845147" y="4521041"/>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28" name="TextBox 28"/>
            <p:cNvSpPr txBox="1"/>
            <p:nvPr/>
          </p:nvSpPr>
          <p:spPr>
            <a:xfrm>
              <a:off x="1318450" y="4527709"/>
              <a:ext cx="210441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支持向量 support vector</a:t>
              </a:r>
            </a:p>
          </p:txBody>
        </p:sp>
        <p:sp>
          <p:nvSpPr>
            <p:cNvPr id="29" name="TextBox 29"/>
            <p:cNvSpPr txBox="1"/>
            <p:nvPr/>
          </p:nvSpPr>
          <p:spPr>
            <a:xfrm>
              <a:off x="745998" y="4843939"/>
              <a:ext cx="493852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归一化后，到超平面距离最小的样本恰好满足 yᵢ(w·xᵢ + b) = 1，称</a:t>
              </a:r>
              <a:br/>
              <a:r>
                <a:rPr lang="zh-CN" sz="1280" dirty="0">
                  <a:solidFill>
                    <a:srgbClr val="1F2937"/>
                  </a:solidFill>
                  <a:latin typeface="+mn-lt"/>
                  <a:ea typeface="+mn-ea"/>
                  <a:cs typeface="+mn-cs"/>
                </a:rPr>
                <a:t>为</a:t>
              </a:r>
              <a:r>
                <a:rPr lang="zh-CN" sz="1280" b="1" dirty="0">
                  <a:solidFill>
                    <a:srgbClr val="C2410C"/>
                  </a:solidFill>
                  <a:latin typeface="+mn-lt"/>
                  <a:ea typeface="+mn-ea"/>
                  <a:cs typeface="+mn-cs"/>
                </a:rPr>
                <a:t>支持向量</a:t>
              </a:r>
              <a:r>
                <a:rPr lang="zh-CN" sz="1280" dirty="0">
                  <a:solidFill>
                    <a:srgbClr val="1F2937"/>
                  </a:solidFill>
                  <a:latin typeface="+mn-lt"/>
                  <a:ea typeface="+mn-ea"/>
                  <a:cs typeface="+mn-cs"/>
                </a:rPr>
                <a:t>，落在 H₁、H₂ 两条边界上。</a:t>
              </a:r>
            </a:p>
          </p:txBody>
        </p:sp>
        <p:sp>
          <p:nvSpPr>
            <p:cNvPr id="30" name="TextBox 30"/>
            <p:cNvSpPr txBox="1"/>
            <p:nvPr/>
          </p:nvSpPr>
          <p:spPr>
            <a:xfrm>
              <a:off x="747141" y="5368290"/>
              <a:ext cx="2943701"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两条边界的距离是 1/||w|| + 1/||w|| = 2/||w||。</a:t>
              </a:r>
            </a:p>
          </p:txBody>
        </p:sp>
      </p:grpSp>
      <p:grpSp>
        <p:nvGrpSpPr>
          <p:cNvPr id="52" name="c2-graph-1"/>
          <p:cNvGrpSpPr/>
          <p:nvPr/>
        </p:nvGrpSpPr>
        <p:grpSpPr>
          <a:xfrm>
            <a:off x="6759560" y="2223135"/>
            <a:ext cx="4696157" cy="2795111"/>
            <a:chOff x="6759560" y="2223135"/>
            <a:chExt cx="4696157" cy="2795111"/>
          </a:xfrm>
        </p:grpSpPr>
        <p:sp>
          <p:nvSpPr>
            <p:cNvPr id="32" name="Freeform 32"/>
            <p:cNvSpPr/>
            <p:nvPr/>
          </p:nvSpPr>
          <p:spPr>
            <a:xfrm>
              <a:off x="6866572" y="2341245"/>
              <a:ext cx="3616642" cy="2444115"/>
            </a:xfrm>
            <a:custGeom>
              <a:avLst/>
              <a:gdLst/>
              <a:ahLst/>
              <a:cxnLst/>
              <a:rect l="l" t="t" r="r" b="b"/>
              <a:pathLst>
                <a:path w="3616642" h="2444115">
                  <a:moveTo>
                    <a:pt x="0" y="0"/>
                  </a:moveTo>
                  <a:lnTo>
                    <a:pt x="3616642" y="2444115"/>
                  </a:lnTo>
                </a:path>
              </a:pathLst>
            </a:custGeom>
            <a:noFill/>
            <a:ln w="17145">
              <a:solidFill>
                <a:srgbClr val="0E7C86"/>
              </a:solidFill>
            </a:ln>
          </p:spPr>
        </p:sp>
        <p:sp>
          <p:nvSpPr>
            <p:cNvPr id="33" name="Freeform 33"/>
            <p:cNvSpPr/>
            <p:nvPr/>
          </p:nvSpPr>
          <p:spPr>
            <a:xfrm>
              <a:off x="8539162" y="2223135"/>
              <a:ext cx="2873693" cy="1942148"/>
            </a:xfrm>
            <a:custGeom>
              <a:avLst/>
              <a:gdLst/>
              <a:ahLst/>
              <a:cxnLst/>
              <a:rect l="l" t="t" r="r" b="b"/>
              <a:pathLst>
                <a:path w="2873693" h="1942148">
                  <a:moveTo>
                    <a:pt x="0" y="0"/>
                  </a:moveTo>
                  <a:lnTo>
                    <a:pt x="2873693" y="1942148"/>
                  </a:lnTo>
                </a:path>
              </a:pathLst>
            </a:custGeom>
            <a:noFill/>
            <a:ln w="17145">
              <a:solidFill>
                <a:srgbClr val="F26B3A"/>
              </a:solidFill>
              <a:custDash>
                <a:ds d="333333" sp="222222"/>
              </a:custDash>
            </a:ln>
          </p:spPr>
        </p:sp>
        <p:sp>
          <p:nvSpPr>
            <p:cNvPr id="34" name="Freeform 34"/>
            <p:cNvSpPr/>
            <p:nvPr/>
          </p:nvSpPr>
          <p:spPr>
            <a:xfrm>
              <a:off x="6866572" y="3590925"/>
              <a:ext cx="1757362" cy="1187768"/>
            </a:xfrm>
            <a:custGeom>
              <a:avLst/>
              <a:gdLst/>
              <a:ahLst/>
              <a:cxnLst/>
              <a:rect l="l" t="t" r="r" b="b"/>
              <a:pathLst>
                <a:path w="1757362" h="1187768">
                  <a:moveTo>
                    <a:pt x="0" y="0"/>
                  </a:moveTo>
                  <a:lnTo>
                    <a:pt x="1757362" y="1187768"/>
                  </a:lnTo>
                </a:path>
              </a:pathLst>
            </a:custGeom>
            <a:noFill/>
            <a:ln w="17145">
              <a:solidFill>
                <a:srgbClr val="F26B3A"/>
              </a:solidFill>
              <a:custDash>
                <a:ds d="333333" sp="222222"/>
              </a:custDash>
            </a:ln>
          </p:spPr>
        </p:sp>
        <p:sp>
          <p:nvSpPr>
            <p:cNvPr id="35" name="Freeform 35"/>
            <p:cNvSpPr/>
            <p:nvPr/>
          </p:nvSpPr>
          <p:spPr>
            <a:xfrm>
              <a:off x="8402955" y="3451860"/>
              <a:ext cx="1733550" cy="1025843"/>
            </a:xfrm>
            <a:custGeom>
              <a:avLst/>
              <a:gdLst/>
              <a:ahLst/>
              <a:cxnLst/>
              <a:rect l="l" t="t" r="r" b="b"/>
              <a:pathLst>
                <a:path w="1733550" h="1025843">
                  <a:moveTo>
                    <a:pt x="0" y="1025843"/>
                  </a:moveTo>
                  <a:lnTo>
                    <a:pt x="1733550" y="0"/>
                  </a:lnTo>
                </a:path>
              </a:pathLst>
            </a:custGeom>
            <a:noFill/>
            <a:ln w="17145">
              <a:solidFill>
                <a:srgbClr val="B42318"/>
              </a:solidFill>
            </a:ln>
          </p:spPr>
        </p:sp>
        <p:sp>
          <p:nvSpPr>
            <p:cNvPr id="36" name="Freeform 36"/>
            <p:cNvSpPr/>
            <p:nvPr/>
          </p:nvSpPr>
          <p:spPr>
            <a:xfrm>
              <a:off x="10111740" y="3403282"/>
              <a:ext cx="106680" cy="89535"/>
            </a:xfrm>
            <a:custGeom>
              <a:avLst/>
              <a:gdLst/>
              <a:ahLst/>
              <a:cxnLst/>
              <a:rect l="l" t="t" r="r" b="b"/>
              <a:pathLst>
                <a:path w="106680" h="89535">
                  <a:moveTo>
                    <a:pt x="106680" y="0"/>
                  </a:moveTo>
                  <a:lnTo>
                    <a:pt x="48578" y="89535"/>
                  </a:lnTo>
                  <a:lnTo>
                    <a:pt x="0" y="7620"/>
                  </a:lnTo>
                  <a:close/>
                </a:path>
              </a:pathLst>
            </a:custGeom>
            <a:solidFill>
              <a:srgbClr val="B42318"/>
            </a:solidFill>
            <a:ln>
              <a:noFill/>
            </a:ln>
          </p:spPr>
        </p:sp>
        <p:sp>
          <p:nvSpPr>
            <p:cNvPr id="37" name="Freeform 37"/>
            <p:cNvSpPr/>
            <p:nvPr/>
          </p:nvSpPr>
          <p:spPr>
            <a:xfrm>
              <a:off x="8321040" y="4436745"/>
              <a:ext cx="105728" cy="89535"/>
            </a:xfrm>
            <a:custGeom>
              <a:avLst/>
              <a:gdLst/>
              <a:ahLst/>
              <a:cxnLst/>
              <a:rect l="l" t="t" r="r" b="b"/>
              <a:pathLst>
                <a:path w="105728" h="89535">
                  <a:moveTo>
                    <a:pt x="0" y="89535"/>
                  </a:moveTo>
                  <a:lnTo>
                    <a:pt x="57150" y="0"/>
                  </a:lnTo>
                  <a:lnTo>
                    <a:pt x="105728" y="81915"/>
                  </a:lnTo>
                  <a:close/>
                </a:path>
              </a:pathLst>
            </a:custGeom>
            <a:solidFill>
              <a:srgbClr val="B42318"/>
            </a:solidFill>
            <a:ln>
              <a:noFill/>
            </a:ln>
          </p:spPr>
        </p:sp>
        <p:sp>
          <p:nvSpPr>
            <p:cNvPr id="38" name="Ellipse 38"/>
            <p:cNvSpPr/>
            <p:nvPr/>
          </p:nvSpPr>
          <p:spPr>
            <a:xfrm>
              <a:off x="9535478" y="2875598"/>
              <a:ext cx="133350" cy="133350"/>
            </a:xfrm>
            <a:prstGeom prst="ellipse">
              <a:avLst/>
            </a:prstGeom>
            <a:solidFill>
              <a:srgbClr val="0E7C86"/>
            </a:solidFill>
            <a:ln>
              <a:noFill/>
            </a:ln>
          </p:spPr>
        </p:sp>
        <p:sp>
          <p:nvSpPr>
            <p:cNvPr id="39" name="Ellipse 39"/>
            <p:cNvSpPr/>
            <p:nvPr/>
          </p:nvSpPr>
          <p:spPr>
            <a:xfrm>
              <a:off x="10459402" y="2875598"/>
              <a:ext cx="133350" cy="133350"/>
            </a:xfrm>
            <a:prstGeom prst="ellipse">
              <a:avLst/>
            </a:prstGeom>
            <a:solidFill>
              <a:srgbClr val="0E7C86"/>
            </a:solidFill>
            <a:ln>
              <a:noFill/>
            </a:ln>
          </p:spPr>
        </p:sp>
        <p:sp>
          <p:nvSpPr>
            <p:cNvPr id="40" name="Ellipse 40"/>
            <p:cNvSpPr/>
            <p:nvPr/>
          </p:nvSpPr>
          <p:spPr>
            <a:xfrm>
              <a:off x="10086022" y="2419350"/>
              <a:ext cx="133350" cy="133350"/>
            </a:xfrm>
            <a:prstGeom prst="ellipse">
              <a:avLst/>
            </a:prstGeom>
            <a:solidFill>
              <a:srgbClr val="0E7C86"/>
            </a:solidFill>
            <a:ln>
              <a:noFill/>
            </a:ln>
          </p:spPr>
        </p:sp>
        <p:sp>
          <p:nvSpPr>
            <p:cNvPr id="41" name="Ellipse 41"/>
            <p:cNvSpPr/>
            <p:nvPr/>
          </p:nvSpPr>
          <p:spPr>
            <a:xfrm>
              <a:off x="10812780" y="3337560"/>
              <a:ext cx="133350" cy="133350"/>
            </a:xfrm>
            <a:prstGeom prst="ellipse">
              <a:avLst/>
            </a:prstGeom>
            <a:solidFill>
              <a:srgbClr val="0E7C86"/>
            </a:solidFill>
            <a:ln>
              <a:noFill/>
            </a:ln>
          </p:spPr>
        </p:sp>
        <p:sp>
          <p:nvSpPr>
            <p:cNvPr id="42" name="Ellipse 42"/>
            <p:cNvSpPr/>
            <p:nvPr/>
          </p:nvSpPr>
          <p:spPr>
            <a:xfrm>
              <a:off x="7685722" y="4124325"/>
              <a:ext cx="133350" cy="133350"/>
            </a:xfrm>
            <a:prstGeom prst="ellipse">
              <a:avLst/>
            </a:prstGeom>
            <a:solidFill>
              <a:srgbClr val="B42318"/>
            </a:solidFill>
            <a:ln>
              <a:noFill/>
            </a:ln>
          </p:spPr>
        </p:sp>
        <p:sp>
          <p:nvSpPr>
            <p:cNvPr id="43" name="Ellipse 43"/>
            <p:cNvSpPr/>
            <p:nvPr/>
          </p:nvSpPr>
          <p:spPr>
            <a:xfrm>
              <a:off x="7384732" y="4157662"/>
              <a:ext cx="133350" cy="133350"/>
            </a:xfrm>
            <a:prstGeom prst="ellipse">
              <a:avLst/>
            </a:prstGeom>
            <a:solidFill>
              <a:srgbClr val="B42318"/>
            </a:solidFill>
            <a:ln>
              <a:noFill/>
            </a:ln>
          </p:spPr>
        </p:sp>
        <p:sp>
          <p:nvSpPr>
            <p:cNvPr id="44" name="Ellipse 44"/>
            <p:cNvSpPr/>
            <p:nvPr/>
          </p:nvSpPr>
          <p:spPr>
            <a:xfrm>
              <a:off x="7540942" y="4714875"/>
              <a:ext cx="133350" cy="133350"/>
            </a:xfrm>
            <a:prstGeom prst="ellipse">
              <a:avLst/>
            </a:prstGeom>
            <a:solidFill>
              <a:srgbClr val="B42318"/>
            </a:solidFill>
            <a:ln>
              <a:noFill/>
            </a:ln>
          </p:spPr>
        </p:sp>
        <p:sp>
          <p:nvSpPr>
            <p:cNvPr id="45" name="Ellipse 45"/>
            <p:cNvSpPr/>
            <p:nvPr/>
          </p:nvSpPr>
          <p:spPr>
            <a:xfrm>
              <a:off x="7073265" y="4451985"/>
              <a:ext cx="133350" cy="133350"/>
            </a:xfrm>
            <a:prstGeom prst="ellipse">
              <a:avLst/>
            </a:prstGeom>
            <a:solidFill>
              <a:srgbClr val="B42318"/>
            </a:solidFill>
            <a:ln>
              <a:noFill/>
            </a:ln>
          </p:spPr>
        </p:sp>
        <p:sp>
          <p:nvSpPr>
            <p:cNvPr id="46" name="TextBox 46"/>
            <p:cNvSpPr txBox="1"/>
            <p:nvPr/>
          </p:nvSpPr>
          <p:spPr>
            <a:xfrm>
              <a:off x="10582585" y="4856321"/>
              <a:ext cx="73675" cy="161925"/>
            </a:xfrm>
            <a:prstGeom prst="rect">
              <a:avLst/>
            </a:prstGeom>
            <a:noFill/>
            <a:ln>
              <a:noFill/>
            </a:ln>
          </p:spPr>
          <p:txBody>
            <a:bodyPr wrap="none" lIns="0" tIns="0" rIns="0" bIns="0" anchor="t" anchorCtr="0">
              <a:spAutoFit/>
            </a:bodyPr>
            <a:lstStyle/>
            <a:p>
              <a:pPr algn="ctr"/>
              <a:r>
                <a:rPr lang="en-US" sz="820" dirty="0">
                  <a:solidFill>
                    <a:srgbClr val="0E7C86"/>
                  </a:solidFill>
                  <a:latin typeface="+mn-lt"/>
                  <a:ea typeface="+mn-ea"/>
                  <a:cs typeface="+mn-cs"/>
                </a:rPr>
                <a:t>H</a:t>
              </a:r>
            </a:p>
          </p:txBody>
        </p:sp>
        <p:sp>
          <p:nvSpPr>
            <p:cNvPr id="47" name="TextBox 47"/>
            <p:cNvSpPr txBox="1"/>
            <p:nvPr/>
          </p:nvSpPr>
          <p:spPr>
            <a:xfrm>
              <a:off x="11317892" y="4265771"/>
              <a:ext cx="137825" cy="161925"/>
            </a:xfrm>
            <a:prstGeom prst="rect">
              <a:avLst/>
            </a:prstGeom>
            <a:noFill/>
            <a:ln>
              <a:noFill/>
            </a:ln>
          </p:spPr>
          <p:txBody>
            <a:bodyPr wrap="none" lIns="0" tIns="0" rIns="0" bIns="0" anchor="t" anchorCtr="0">
              <a:spAutoFit/>
            </a:bodyPr>
            <a:lstStyle/>
            <a:p>
              <a:pPr algn="r"/>
              <a:r>
                <a:rPr lang="en-US" sz="820" dirty="0">
                  <a:solidFill>
                    <a:srgbClr val="F26B3A"/>
                  </a:solidFill>
                  <a:latin typeface="+mn-lt"/>
                  <a:ea typeface="+mn-ea"/>
                  <a:cs typeface="+mn-cs"/>
                </a:rPr>
                <a:t>H₁</a:t>
              </a:r>
            </a:p>
          </p:txBody>
        </p:sp>
        <p:sp>
          <p:nvSpPr>
            <p:cNvPr id="48" name="TextBox 48"/>
            <p:cNvSpPr txBox="1"/>
            <p:nvPr/>
          </p:nvSpPr>
          <p:spPr>
            <a:xfrm>
              <a:off x="6759560" y="3315176"/>
              <a:ext cx="137825" cy="161925"/>
            </a:xfrm>
            <a:prstGeom prst="rect">
              <a:avLst/>
            </a:prstGeom>
            <a:noFill/>
            <a:ln>
              <a:noFill/>
            </a:ln>
          </p:spPr>
          <p:txBody>
            <a:bodyPr wrap="none" lIns="0" tIns="0" rIns="0" bIns="0" anchor="t" anchorCtr="0">
              <a:spAutoFit/>
            </a:bodyPr>
            <a:lstStyle/>
            <a:p>
              <a:pPr algn="ctr"/>
              <a:r>
                <a:rPr lang="en-US" sz="820" dirty="0">
                  <a:solidFill>
                    <a:srgbClr val="F26B3A"/>
                  </a:solidFill>
                  <a:latin typeface="+mn-lt"/>
                  <a:ea typeface="+mn-ea"/>
                  <a:cs typeface="+mn-cs"/>
                </a:rPr>
                <a:t>H₂</a:t>
              </a:r>
            </a:p>
          </p:txBody>
        </p:sp>
        <p:sp>
          <p:nvSpPr>
            <p:cNvPr id="49" name="TextBox 49"/>
            <p:cNvSpPr txBox="1"/>
            <p:nvPr/>
          </p:nvSpPr>
          <p:spPr>
            <a:xfrm>
              <a:off x="8200573" y="3642836"/>
              <a:ext cx="346210" cy="161925"/>
            </a:xfrm>
            <a:prstGeom prst="rect">
              <a:avLst/>
            </a:prstGeom>
            <a:noFill/>
            <a:ln>
              <a:noFill/>
            </a:ln>
          </p:spPr>
          <p:txBody>
            <a:bodyPr wrap="none" lIns="0" tIns="0" rIns="0" bIns="0" anchor="t" anchorCtr="0">
              <a:spAutoFit/>
            </a:bodyPr>
            <a:lstStyle/>
            <a:p>
              <a:pPr algn="r"/>
              <a:r>
                <a:rPr lang="en-US" sz="820" dirty="0">
                  <a:solidFill>
                    <a:srgbClr val="B42318"/>
                  </a:solidFill>
                  <a:latin typeface="+mn-lt"/>
                  <a:ea typeface="+mn-ea"/>
                  <a:cs typeface="+mn-cs"/>
                </a:rPr>
                <a:t>2/||w||</a:t>
              </a:r>
            </a:p>
          </p:txBody>
        </p:sp>
        <p:sp>
          <p:nvSpPr>
            <p:cNvPr id="50" name="TextBox 50"/>
            <p:cNvSpPr txBox="1"/>
            <p:nvPr/>
          </p:nvSpPr>
          <p:spPr>
            <a:xfrm>
              <a:off x="11006425" y="2658904"/>
              <a:ext cx="137825" cy="161925"/>
            </a:xfrm>
            <a:prstGeom prst="rect">
              <a:avLst/>
            </a:prstGeom>
            <a:noFill/>
            <a:ln>
              <a:noFill/>
            </a:ln>
          </p:spPr>
          <p:txBody>
            <a:bodyPr wrap="none" lIns="0" tIns="0" rIns="0" bIns="0" anchor="t" anchorCtr="0">
              <a:spAutoFit/>
            </a:bodyPr>
            <a:lstStyle/>
            <a:p>
              <a:pPr algn="r"/>
              <a:r>
                <a:rPr lang="en-US" sz="820" dirty="0">
                  <a:solidFill>
                    <a:srgbClr val="0E7C86"/>
                  </a:solidFill>
                  <a:latin typeface="+mn-lt"/>
                  <a:ea typeface="+mn-ea"/>
                  <a:cs typeface="+mn-cs"/>
                </a:rPr>
                <a:t>C₊</a:t>
              </a:r>
            </a:p>
          </p:txBody>
        </p:sp>
        <p:sp>
          <p:nvSpPr>
            <p:cNvPr id="51" name="TextBox 51"/>
            <p:cNvSpPr txBox="1"/>
            <p:nvPr/>
          </p:nvSpPr>
          <p:spPr>
            <a:xfrm>
              <a:off x="6914817" y="4790599"/>
              <a:ext cx="137825" cy="161925"/>
            </a:xfrm>
            <a:prstGeom prst="rect">
              <a:avLst/>
            </a:prstGeom>
            <a:noFill/>
            <a:ln>
              <a:noFill/>
            </a:ln>
          </p:spPr>
          <p:txBody>
            <a:bodyPr wrap="none" lIns="0" tIns="0" rIns="0" bIns="0" anchor="t" anchorCtr="0">
              <a:spAutoFit/>
            </a:bodyPr>
            <a:lstStyle/>
            <a:p>
              <a:pPr algn="ctr"/>
              <a:r>
                <a:rPr lang="en-US" sz="820" dirty="0">
                  <a:solidFill>
                    <a:srgbClr val="B42318"/>
                  </a:solidFill>
                  <a:latin typeface="+mn-lt"/>
                  <a:ea typeface="+mn-ea"/>
                  <a:cs typeface="+mn-cs"/>
                </a:rPr>
                <a:t>C₋</a:t>
              </a:r>
            </a:p>
          </p:txBody>
        </p:sp>
      </p:grpSp>
      <p:grpSp>
        <p:nvGrpSpPr>
          <p:cNvPr id="58" name="takeaway"/>
          <p:cNvGrpSpPr/>
          <p:nvPr/>
        </p:nvGrpSpPr>
        <p:grpSpPr>
          <a:xfrm>
            <a:off x="533400" y="5895022"/>
            <a:ext cx="11125200" cy="467678"/>
            <a:chOff x="533400" y="5895022"/>
            <a:chExt cx="11125200" cy="467678"/>
          </a:xfrm>
        </p:grpSpPr>
        <p:sp>
          <p:nvSpPr>
            <p:cNvPr id="53" name="Rectangle 53"/>
            <p:cNvSpPr/>
            <p:nvPr/>
          </p:nvSpPr>
          <p:spPr>
            <a:xfrm>
              <a:off x="533400" y="5895022"/>
              <a:ext cx="11125200" cy="467678"/>
            </a:xfrm>
            <a:prstGeom prst="roundRect">
              <a:avLst>
                <a:gd name="adj" fmla="val 24440"/>
              </a:avLst>
            </a:prstGeom>
            <a:solidFill>
              <a:srgbClr val="0E7C86"/>
            </a:solidFill>
            <a:ln>
              <a:noFill/>
            </a:ln>
          </p:spPr>
        </p:sp>
        <p:grpSp>
          <p:nvGrpSpPr>
            <p:cNvPr id="56" name="Group 56"/>
            <p:cNvGrpSpPr/>
            <p:nvPr/>
          </p:nvGrpSpPr>
          <p:grpSpPr>
            <a:xfrm>
              <a:off x="738188" y="6028375"/>
              <a:ext cx="200023" cy="200023"/>
              <a:chOff x="738188" y="6028375"/>
              <a:chExt cx="200023" cy="200023"/>
            </a:xfrm>
          </p:grpSpPr>
          <p:sp>
            <p:nvSpPr>
              <p:cNvPr id="54" name="Freeform 54"/>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5" name="Freeform 55"/>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7" name="TextBox 57"/>
            <p:cNvSpPr txBox="1"/>
            <p:nvPr/>
          </p:nvSpPr>
          <p:spPr>
            <a:xfrm>
              <a:off x="1041273" y="6039326"/>
              <a:ext cx="6216244"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支持向量只有少数几个。把其余样本全部删掉重新训练，得到的超平面一模一样。</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线性判别函数与最优分类面</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硬间隔最大化写成凸二次规划</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768406" cy="278702"/>
            <a:chOff x="526161" y="1547336"/>
            <a:chExt cx="5768406" cy="278702"/>
          </a:xfrm>
        </p:grpSpPr>
        <p:sp>
          <p:nvSpPr>
            <p:cNvPr id="7" name="TextBox 7"/>
            <p:cNvSpPr txBox="1"/>
            <p:nvPr/>
          </p:nvSpPr>
          <p:spPr>
            <a:xfrm>
              <a:off x="526161" y="1547336"/>
              <a:ext cx="5768406"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把“间隔最大”直接翻译成优化问题，再换一个等价的、好解的写法。</a:t>
              </a:r>
            </a:p>
          </p:txBody>
        </p:sp>
      </p:grpSp>
      <p:grpSp>
        <p:nvGrpSpPr>
          <p:cNvPr id="16" name="c1-card-1"/>
          <p:cNvGrpSpPr/>
          <p:nvPr/>
        </p:nvGrpSpPr>
        <p:grpSpPr>
          <a:xfrm>
            <a:off x="533400" y="1941195"/>
            <a:ext cx="5410200" cy="1526858"/>
            <a:chOff x="533400" y="1941195"/>
            <a:chExt cx="5410200" cy="1526858"/>
          </a:xfrm>
        </p:grpSpPr>
        <p:sp>
          <p:nvSpPr>
            <p:cNvPr id="9" name="Rectangle 9"/>
            <p:cNvSpPr/>
            <p:nvPr/>
          </p:nvSpPr>
          <p:spPr>
            <a:xfrm>
              <a:off x="533400" y="1941195"/>
              <a:ext cx="5410200" cy="1526858"/>
            </a:xfrm>
            <a:prstGeom prst="roundRect">
              <a:avLst>
                <a:gd name="adj" fmla="val 8734"/>
              </a:avLst>
            </a:prstGeom>
            <a:solidFill>
              <a:srgbClr val="FFFFFF"/>
            </a:solidFill>
            <a:ln w="14288">
              <a:solidFill>
                <a:srgbClr val="D9DFEA"/>
              </a:solidFill>
            </a:ln>
          </p:spPr>
        </p:sp>
        <p:sp>
          <p:nvSpPr>
            <p:cNvPr id="10" name="Rectangle 10"/>
            <p:cNvSpPr/>
            <p:nvPr/>
          </p:nvSpPr>
          <p:spPr>
            <a:xfrm>
              <a:off x="542925" y="2074545"/>
              <a:ext cx="47625" cy="1260158"/>
            </a:xfrm>
            <a:prstGeom prst="roundRect">
              <a:avLst>
                <a:gd name="adj" fmla="val 50000"/>
              </a:avLst>
            </a:prstGeom>
            <a:solidFill>
              <a:srgbClr val="0E7C86"/>
            </a:solidFill>
            <a:ln>
              <a:noFill/>
            </a:ln>
          </p:spPr>
        </p:sp>
        <p:sp>
          <p:nvSpPr>
            <p:cNvPr id="11" name="Rectangle 11"/>
            <p:cNvSpPr/>
            <p:nvPr/>
          </p:nvSpPr>
          <p:spPr>
            <a:xfrm>
              <a:off x="763905" y="2133600"/>
              <a:ext cx="742950" cy="247650"/>
            </a:xfrm>
            <a:prstGeom prst="roundRect">
              <a:avLst>
                <a:gd name="adj" fmla="val 50000"/>
              </a:avLst>
            </a:prstGeom>
            <a:solidFill>
              <a:srgbClr val="E2F3F4"/>
            </a:solidFill>
            <a:ln>
              <a:noFill/>
            </a:ln>
          </p:spPr>
        </p:sp>
        <p:sp>
          <p:nvSpPr>
            <p:cNvPr id="12" name="TextBox 12"/>
            <p:cNvSpPr txBox="1"/>
            <p:nvPr/>
          </p:nvSpPr>
          <p:spPr>
            <a:xfrm>
              <a:off x="847344" y="2167890"/>
              <a:ext cx="576072"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原始形式</a:t>
              </a:r>
            </a:p>
          </p:txBody>
        </p:sp>
        <p:sp>
          <p:nvSpPr>
            <p:cNvPr id="13" name="TextBox 13"/>
            <p:cNvSpPr txBox="1"/>
            <p:nvPr/>
          </p:nvSpPr>
          <p:spPr>
            <a:xfrm>
              <a:off x="1614297" y="2173605"/>
              <a:ext cx="119818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最大化 1/||w||</a:t>
              </a:r>
            </a:p>
          </p:txBody>
        </p:sp>
        <mc:AlternateContent xmlns:mc="http://schemas.openxmlformats.org/markup-compatibility/2006">
          <mc:Choice xmlns:a14="http://schemas.microsoft.com/office/drawing/2010/main" Requires="a14">
            <p:sp>
              <p:nvSpPr>
                <p:cNvPr id="14" name="formula61"/>
                <p:cNvSpPr txBox="1">
                  <a:spLocks noGrp="1"/>
                </p:cNvSpPr>
                <p:nvPr/>
              </p:nvSpPr>
              <p:spPr>
                <a:xfrm>
                  <a:off x="763905" y="2486025"/>
                  <a:ext cx="4987290" cy="47053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420" dirty="0">
                                    <a:solidFill>
                                      <a:srgbClr val="1F2937"/>
                                    </a:solidFill>
                                    <a:latin typeface="Cambria Math"/>
                                    <a:ea typeface="Cambria Math"/>
                                    <a:cs typeface="Cambria Math"/>
                                  </a:rPr>
                                  <m:t>max</m:t>
                                </m:r>
                              </m:e>
                              <m:lim>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lim>
                            </m:limLow>
                          </m:fName>
                          <m:e>
                            <m:r>
                              <a:rPr lang="zh-CN" sz="1420" dirty="0">
                                <a:solidFill>
                                  <a:srgbClr val="1F2937"/>
                                </a:solidFill>
                                <a:latin typeface="Cambria Math"/>
                                <a:ea typeface="Cambria Math"/>
                                <a:cs typeface="Cambria Math"/>
                              </a:rPr>
                              <m:t xml:space="preserve"> </m:t>
                            </m:r>
                            <m:f>
                              <m:fPr>
                                <m:type m:val="bar"/>
                                <m:ctrlPr>
                                  <a:rPr lang="zh-CN" sz="1420" dirty="0">
                                    <a:solidFill>
                                      <a:srgbClr val="1F2937"/>
                                    </a:solidFill>
                                    <a:latin typeface="Cambria Math"/>
                                    <a:ea typeface="Cambria Math"/>
                                    <a:cs typeface="Cambria Math"/>
                                  </a:rPr>
                                </m:ctrlPr>
                              </m:fPr>
                              <m:num>
                                <m:r>
                                  <a:rPr lang="zh-CN" sz="1420" dirty="0">
                                    <a:solidFill>
                                      <a:srgbClr val="1F2937"/>
                                    </a:solidFill>
                                    <a:latin typeface="Cambria Math"/>
                                    <a:ea typeface="Cambria Math"/>
                                    <a:cs typeface="Cambria Math"/>
                                  </a:rPr>
                                  <m:t>1</m:t>
                                </m:r>
                              </m:num>
                              <m:den>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e>
                                </m:d>
                              </m:den>
                            </m:f>
                          </m:e>
                        </m:func>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r>
                          <m:rPr>
                            <m:sty m:val="p"/>
                          </m:rPr>
                          <a:rPr lang="zh-CN" sz="1420" dirty="0">
                            <a:solidFill>
                              <a:srgbClr val="1F2937"/>
                            </a:solidFill>
                            <a:latin typeface="Cambria Math"/>
                            <a:ea typeface="Cambria Math"/>
                            <a:cs typeface="Cambria Math"/>
                          </a:rPr>
                          <m:t>s.t.</m:t>
                        </m:r>
                        <m:r>
                          <a:rPr lang="zh-CN" sz="1420" dirty="0">
                            <a:solidFill>
                              <a:srgbClr val="1F2937"/>
                            </a:solidFill>
                            <a:latin typeface="Cambria Math"/>
                            <a:ea typeface="Cambria Math"/>
                            <a:cs typeface="Cambria Math"/>
                          </a:rPr>
                          <m:t xml:space="preserve">  </m:t>
                        </m:r>
                        <m:sSub>
                          <m:e>
                            <m:r>
                              <a:rPr lang="zh-CN" sz="1420" dirty="0">
                                <a:solidFill>
                                  <a:srgbClr val="1F2937"/>
                                </a:solidFill>
                                <a:latin typeface="Cambria Math"/>
                                <a:ea typeface="Cambria Math"/>
                                <a:cs typeface="Cambria Math"/>
                              </a:rPr>
                              <m:t>y</m:t>
                            </m:r>
                          </m:e>
                          <m:sub>
                            <m:r>
                              <a:rPr lang="zh-CN" sz="1420" dirty="0">
                                <a:solidFill>
                                  <a:srgbClr val="1F2937"/>
                                </a:solidFill>
                                <a:latin typeface="Cambria Math"/>
                                <a:ea typeface="Cambria Math"/>
                                <a:cs typeface="Cambria Math"/>
                              </a:rPr>
                              <m:t>i</m:t>
                            </m:r>
                          </m:sub>
                        </m:sSub>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x</m:t>
                                </m:r>
                              </m:e>
                              <m:sub>
                                <m:r>
                                  <a:rPr lang="zh-CN" sz="1420" dirty="0">
                                    <a:solidFill>
                                      <a:srgbClr val="1F2937"/>
                                    </a:solidFill>
                                    <a:latin typeface="Cambria Math"/>
                                    <a:ea typeface="Cambria Math"/>
                                    <a:cs typeface="Cambria Math"/>
                                  </a:rPr>
                                  <m:t>i</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e>
                        </m:d>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1</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r>
                          <a:rPr lang="zh-CN" sz="1420" dirty="0">
                            <a:solidFill>
                              <a:srgbClr val="1F2937"/>
                            </a:solidFill>
                            <a:latin typeface="Cambria Math"/>
                            <a:ea typeface="Cambria Math"/>
                            <a:cs typeface="Cambria Math"/>
                          </a:rPr>
                          <m:t>i</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1</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2</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N</m:t>
                        </m:r>
                      </m:oMath>
                    </m:oMathPara>
                  </a14:m>
                </a:p>
              </p:txBody>
            </p:sp>
          </mc:Choice>
        </mc:AlternateContent>
        <p:sp>
          <p:nvSpPr>
            <p:cNvPr id="15" name="TextBox 15"/>
            <p:cNvSpPr txBox="1"/>
            <p:nvPr/>
          </p:nvSpPr>
          <p:spPr>
            <a:xfrm>
              <a:off x="757047" y="3065145"/>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目标函数带根号又在分母上，不好求导。</a:t>
              </a:r>
            </a:p>
          </p:txBody>
        </p:sp>
      </p:grpSp>
      <p:grpSp>
        <p:nvGrpSpPr>
          <p:cNvPr id="23" name="c1-card-2"/>
          <p:cNvGrpSpPr/>
          <p:nvPr/>
        </p:nvGrpSpPr>
        <p:grpSpPr>
          <a:xfrm>
            <a:off x="533400" y="3643312"/>
            <a:ext cx="5410200" cy="1885950"/>
            <a:chOff x="533400" y="3643312"/>
            <a:chExt cx="5410200" cy="1885950"/>
          </a:xfrm>
        </p:grpSpPr>
        <p:sp>
          <p:nvSpPr>
            <p:cNvPr id="17" name="Rectangle 17"/>
            <p:cNvSpPr/>
            <p:nvPr/>
          </p:nvSpPr>
          <p:spPr>
            <a:xfrm>
              <a:off x="533400" y="3643312"/>
              <a:ext cx="5410200" cy="1885950"/>
            </a:xfrm>
            <a:prstGeom prst="roundRect">
              <a:avLst>
                <a:gd name="adj" fmla="val 7071"/>
              </a:avLst>
            </a:prstGeom>
            <a:solidFill>
              <a:srgbClr val="0E7C86"/>
            </a:solidFill>
            <a:ln>
              <a:noFill/>
            </a:ln>
          </p:spPr>
        </p:sp>
        <p:sp>
          <p:nvSpPr>
            <p:cNvPr id="18" name="Rectangle 18"/>
            <p:cNvSpPr/>
            <p:nvPr/>
          </p:nvSpPr>
          <p:spPr>
            <a:xfrm>
              <a:off x="725805" y="3835718"/>
              <a:ext cx="742950" cy="247650"/>
            </a:xfrm>
            <a:prstGeom prst="roundRect">
              <a:avLst>
                <a:gd name="adj" fmla="val 50000"/>
              </a:avLst>
            </a:prstGeom>
            <a:solidFill>
              <a:srgbClr val="0B5F67"/>
            </a:solidFill>
            <a:ln>
              <a:noFill/>
            </a:ln>
          </p:spPr>
        </p:sp>
        <p:sp>
          <p:nvSpPr>
            <p:cNvPr id="19" name="TextBox 19"/>
            <p:cNvSpPr txBox="1"/>
            <p:nvPr/>
          </p:nvSpPr>
          <p:spPr>
            <a:xfrm>
              <a:off x="809244" y="3870008"/>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等价形式</a:t>
              </a:r>
            </a:p>
          </p:txBody>
        </p:sp>
        <p:sp>
          <p:nvSpPr>
            <p:cNvPr id="20" name="TextBox 20"/>
            <p:cNvSpPr txBox="1"/>
            <p:nvPr/>
          </p:nvSpPr>
          <p:spPr>
            <a:xfrm>
              <a:off x="1576197" y="3875722"/>
              <a:ext cx="119818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最小化 ½||w||²</a:t>
              </a:r>
            </a:p>
          </p:txBody>
        </p:sp>
        <mc:AlternateContent xmlns:mc="http://schemas.openxmlformats.org/markup-compatibility/2006">
          <mc:Choice xmlns:a14="http://schemas.microsoft.com/office/drawing/2010/main" Requires="a14">
            <p:sp>
              <p:nvSpPr>
                <p:cNvPr id="21" name="formula62"/>
                <p:cNvSpPr txBox="1">
                  <a:spLocks noGrp="1"/>
                </p:cNvSpPr>
                <p:nvPr/>
              </p:nvSpPr>
              <p:spPr>
                <a:xfrm>
                  <a:off x="725805" y="4187190"/>
                  <a:ext cx="5025390" cy="47053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420" dirty="0">
                                    <a:solidFill>
                                      <a:srgbClr val="FFFFFF"/>
                                    </a:solidFill>
                                    <a:latin typeface="Cambria Math"/>
                                    <a:ea typeface="Cambria Math"/>
                                    <a:cs typeface="Cambria Math"/>
                                  </a:rPr>
                                  <m:t>min</m:t>
                                </m:r>
                              </m:e>
                              <m:lim>
                                <m:r>
                                  <a:rPr lang="zh-CN" sz="1420" dirty="0">
                                    <a:solidFill>
                                      <a:srgbClr val="FFFFFF"/>
                                    </a:solidFill>
                                    <a:latin typeface="Cambria Math"/>
                                    <a:ea typeface="Cambria Math"/>
                                    <a:cs typeface="Cambria Math"/>
                                  </a:rPr>
                                  <m:t>w</m:t>
                                </m:r>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b</m:t>
                                </m:r>
                              </m:lim>
                            </m:limLow>
                          </m:fName>
                          <m:e>
                            <m:r>
                              <a:rPr lang="zh-CN" sz="1420" dirty="0">
                                <a:solidFill>
                                  <a:srgbClr val="FFFFFF"/>
                                </a:solidFill>
                                <a:latin typeface="Cambria Math"/>
                                <a:ea typeface="Cambria Math"/>
                                <a:cs typeface="Cambria Math"/>
                              </a:rPr>
                              <m:t xml:space="preserve"> </m:t>
                            </m:r>
                            <m:f>
                              <m:fPr>
                                <m:type m:val="bar"/>
                                <m:ctrlPr>
                                  <a:rPr lang="zh-CN" sz="1420" dirty="0">
                                    <a:solidFill>
                                      <a:srgbClr val="FFFFFF"/>
                                    </a:solidFill>
                                    <a:latin typeface="Cambria Math"/>
                                    <a:ea typeface="Cambria Math"/>
                                    <a:cs typeface="Cambria Math"/>
                                  </a:rPr>
                                </m:ctrlPr>
                              </m:fPr>
                              <m:num>
                                <m:r>
                                  <a:rPr lang="zh-CN" sz="1420" dirty="0">
                                    <a:solidFill>
                                      <a:srgbClr val="FFFFFF"/>
                                    </a:solidFill>
                                    <a:latin typeface="Cambria Math"/>
                                    <a:ea typeface="Cambria Math"/>
                                    <a:cs typeface="Cambria Math"/>
                                  </a:rPr>
                                  <m:t>1</m:t>
                                </m:r>
                              </m:num>
                              <m:den>
                                <m:r>
                                  <a:rPr lang="zh-CN" sz="1420" dirty="0">
                                    <a:solidFill>
                                      <a:srgbClr val="FFFFFF"/>
                                    </a:solidFill>
                                    <a:latin typeface="Cambria Math"/>
                                    <a:ea typeface="Cambria Math"/>
                                    <a:cs typeface="Cambria Math"/>
                                  </a:rPr>
                                  <m:t>2</m:t>
                                </m:r>
                              </m:den>
                            </m:f>
                            <m:sSup>
                              <m:e>
                                <m:d>
                                  <m:dPr>
                                    <m:begChr m:val="‖"/>
                                    <m:sepChr m:val=""/>
                                    <m:endChr m:val="‖"/>
                                    <m:grow m:val="on"/>
                                    <m:ctrlPr>
                                      <a:rPr lang="zh-CN" sz="1420" dirty="0">
                                        <a:solidFill>
                                          <a:srgbClr val="FFFFFF"/>
                                        </a:solidFill>
                                        <a:latin typeface="Cambria Math"/>
                                        <a:ea typeface="Cambria Math"/>
                                        <a:cs typeface="Cambria Math"/>
                                      </a:rPr>
                                    </m:ctrlPr>
                                  </m:dPr>
                                  <m:e>
                                    <m:r>
                                      <a:rPr lang="zh-CN" sz="1420" dirty="0">
                                        <a:solidFill>
                                          <a:srgbClr val="FFFFFF"/>
                                        </a:solidFill>
                                        <a:latin typeface="Cambria Math"/>
                                        <a:ea typeface="Cambria Math"/>
                                        <a:cs typeface="Cambria Math"/>
                                      </a:rPr>
                                      <m:t>w</m:t>
                                    </m:r>
                                  </m:e>
                                </m:d>
                              </m:e>
                              <m:sup>
                                <m:r>
                                  <a:rPr lang="zh-CN" sz="1420" dirty="0">
                                    <a:solidFill>
                                      <a:srgbClr val="FFFFFF"/>
                                    </a:solidFill>
                                    <a:latin typeface="Cambria Math"/>
                                    <a:ea typeface="Cambria Math"/>
                                    <a:cs typeface="Cambria Math"/>
                                  </a:rPr>
                                  <m:t>2</m:t>
                                </m:r>
                              </m:sup>
                            </m:sSup>
                          </m:e>
                        </m:func>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 xml:space="preserve">  </m:t>
                        </m:r>
                        <m:r>
                          <m:rPr>
                            <m:sty m:val="p"/>
                          </m:rPr>
                          <a:rPr lang="zh-CN" sz="1420" dirty="0">
                            <a:solidFill>
                              <a:srgbClr val="FFFFFF"/>
                            </a:solidFill>
                            <a:latin typeface="Cambria Math"/>
                            <a:ea typeface="Cambria Math"/>
                            <a:cs typeface="Cambria Math"/>
                          </a:rPr>
                          <m:t>s.t.</m:t>
                        </m:r>
                        <m:r>
                          <a:rPr lang="zh-CN" sz="1420" dirty="0">
                            <a:solidFill>
                              <a:srgbClr val="FFFFFF"/>
                            </a:solidFill>
                            <a:latin typeface="Cambria Math"/>
                            <a:ea typeface="Cambria Math"/>
                            <a:cs typeface="Cambria Math"/>
                          </a:rPr>
                          <m:t xml:space="preserve">  </m:t>
                        </m:r>
                        <m:r>
                          <a:rPr lang="zh-CN" sz="1420" dirty="0">
                            <a:solidFill>
                              <a:srgbClr val="FFFFFF"/>
                            </a:solidFill>
                            <a:latin typeface="Cambria Math"/>
                            <a:ea typeface="Cambria Math"/>
                            <a:cs typeface="Cambria Math"/>
                          </a:rPr>
                          <m:t>1</m:t>
                        </m:r>
                        <m:r>
                          <m:rPr>
                            <m:sty m:val="p"/>
                          </m:rPr>
                          <a:rPr lang="zh-CN" sz="1420" dirty="0">
                            <a:solidFill>
                              <a:srgbClr val="FFFFFF"/>
                            </a:solidFill>
                            <a:latin typeface="Cambria Math"/>
                            <a:ea typeface="Cambria Math"/>
                            <a:cs typeface="Cambria Math"/>
                          </a:rPr>
                          <m:t>−</m:t>
                        </m:r>
                        <m:sSub>
                          <m:e>
                            <m:r>
                              <a:rPr lang="zh-CN" sz="1420" dirty="0">
                                <a:solidFill>
                                  <a:srgbClr val="FFFFFF"/>
                                </a:solidFill>
                                <a:latin typeface="Cambria Math"/>
                                <a:ea typeface="Cambria Math"/>
                                <a:cs typeface="Cambria Math"/>
                              </a:rPr>
                              <m:t>y</m:t>
                            </m:r>
                          </m:e>
                          <m:sub>
                            <m:r>
                              <a:rPr lang="zh-CN" sz="1420" dirty="0">
                                <a:solidFill>
                                  <a:srgbClr val="FFFFFF"/>
                                </a:solidFill>
                                <a:latin typeface="Cambria Math"/>
                                <a:ea typeface="Cambria Math"/>
                                <a:cs typeface="Cambria Math"/>
                              </a:rPr>
                              <m:t>i</m:t>
                            </m:r>
                          </m:sub>
                        </m:sSub>
                        <m:d>
                          <m:dPr>
                            <m:begChr m:val="("/>
                            <m:sepChr m:val=""/>
                            <m:endChr m:val=")"/>
                            <m:grow m:val="on"/>
                            <m:ctrlPr>
                              <a:rPr lang="zh-CN" sz="1420" dirty="0">
                                <a:solidFill>
                                  <a:srgbClr val="FFFFFF"/>
                                </a:solidFill>
                                <a:latin typeface="Cambria Math"/>
                                <a:ea typeface="Cambria Math"/>
                                <a:cs typeface="Cambria Math"/>
                              </a:rPr>
                            </m:ctrlPr>
                          </m:dPr>
                          <m:e>
                            <m:r>
                              <a:rPr lang="zh-CN" sz="1420" dirty="0">
                                <a:solidFill>
                                  <a:srgbClr val="FFFFFF"/>
                                </a:solidFill>
                                <a:latin typeface="Cambria Math"/>
                                <a:ea typeface="Cambria Math"/>
                                <a:cs typeface="Cambria Math"/>
                              </a:rPr>
                              <m:t>w</m:t>
                            </m:r>
                            <m:r>
                              <m:rPr>
                                <m:sty m:val="p"/>
                              </m:rPr>
                              <a:rPr lang="zh-CN" sz="1420" dirty="0">
                                <a:solidFill>
                                  <a:srgbClr val="FFFFFF"/>
                                </a:solidFill>
                                <a:latin typeface="Cambria Math"/>
                                <a:ea typeface="Cambria Math"/>
                                <a:cs typeface="Cambria Math"/>
                              </a:rPr>
                              <m:t>⋅</m:t>
                            </m:r>
                            <m:sSub>
                              <m:e>
                                <m:r>
                                  <a:rPr lang="zh-CN" sz="1420" dirty="0">
                                    <a:solidFill>
                                      <a:srgbClr val="FFFFFF"/>
                                    </a:solidFill>
                                    <a:latin typeface="Cambria Math"/>
                                    <a:ea typeface="Cambria Math"/>
                                    <a:cs typeface="Cambria Math"/>
                                  </a:rPr>
                                  <m:t>x</m:t>
                                </m:r>
                              </m:e>
                              <m:sub>
                                <m:r>
                                  <a:rPr lang="zh-CN" sz="1420" dirty="0">
                                    <a:solidFill>
                                      <a:srgbClr val="FFFFFF"/>
                                    </a:solidFill>
                                    <a:latin typeface="Cambria Math"/>
                                    <a:ea typeface="Cambria Math"/>
                                    <a:cs typeface="Cambria Math"/>
                                  </a:rPr>
                                  <m:t>i</m:t>
                                </m:r>
                              </m:sub>
                            </m:sSub>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b</m:t>
                            </m:r>
                          </m:e>
                        </m:d>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0</m:t>
                        </m:r>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 xml:space="preserve"> </m:t>
                        </m:r>
                        <m:r>
                          <a:rPr lang="zh-CN" sz="1420" dirty="0">
                            <a:solidFill>
                              <a:srgbClr val="FFFFFF"/>
                            </a:solidFill>
                            <a:latin typeface="Cambria Math"/>
                            <a:ea typeface="Cambria Math"/>
                            <a:cs typeface="Cambria Math"/>
                          </a:rPr>
                          <m:t>i</m:t>
                        </m:r>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1</m:t>
                        </m:r>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2</m:t>
                        </m:r>
                        <m:r>
                          <m:rPr>
                            <m:sty m:val="p"/>
                          </m:rPr>
                          <a:rPr lang="zh-CN" sz="1420" dirty="0">
                            <a:solidFill>
                              <a:srgbClr val="FFFFFF"/>
                            </a:solidFill>
                            <a:latin typeface="Cambria Math"/>
                            <a:ea typeface="Cambria Math"/>
                            <a:cs typeface="Cambria Math"/>
                          </a:rPr>
                          <m:t>,⋯,</m:t>
                        </m:r>
                        <m:r>
                          <a:rPr lang="zh-CN" sz="1420" dirty="0">
                            <a:solidFill>
                              <a:srgbClr val="FFFFFF"/>
                            </a:solidFill>
                            <a:latin typeface="Cambria Math"/>
                            <a:ea typeface="Cambria Math"/>
                            <a:cs typeface="Cambria Math"/>
                          </a:rPr>
                          <m:t>N</m:t>
                        </m:r>
                      </m:oMath>
                    </m:oMathPara>
                  </a14:m>
                </a:p>
              </p:txBody>
            </p:sp>
          </mc:Choice>
        </mc:AlternateContent>
        <p:sp>
          <p:nvSpPr>
            <p:cNvPr id="22" name="TextBox 22"/>
            <p:cNvSpPr txBox="1"/>
            <p:nvPr/>
          </p:nvSpPr>
          <p:spPr>
            <a:xfrm>
              <a:off x="718947" y="4767262"/>
              <a:ext cx="468572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最大化 1/||w|| 与最小化 ½||w||² 同解：||w|| &gt; 0 时二者单调相</a:t>
              </a:r>
              <a:br/>
              <a:r>
                <a:rPr lang="zh-CN" sz="1350" dirty="0">
                  <a:solidFill>
                    <a:srgbClr val="FFFFFF"/>
                  </a:solidFill>
                  <a:latin typeface="+mn-lt"/>
                  <a:ea typeface="+mn-ea"/>
                  <a:cs typeface="+mn-cs"/>
                </a:rPr>
                <a:t>反，½ 与平方只是为了求导后不留系数。</a:t>
              </a:r>
            </a:p>
          </p:txBody>
        </p:sp>
      </p:grpSp>
      <p:grpSp>
        <p:nvGrpSpPr>
          <p:cNvPr id="39" name="c2-card-1"/>
          <p:cNvGrpSpPr/>
          <p:nvPr/>
        </p:nvGrpSpPr>
        <p:grpSpPr>
          <a:xfrm>
            <a:off x="6248400" y="1941195"/>
            <a:ext cx="5410200" cy="2045018"/>
            <a:chOff x="6248400" y="1941195"/>
            <a:chExt cx="5410200" cy="2045018"/>
          </a:xfrm>
        </p:grpSpPr>
        <p:sp>
          <p:nvSpPr>
            <p:cNvPr id="24" name="Rectangle 24"/>
            <p:cNvSpPr/>
            <p:nvPr/>
          </p:nvSpPr>
          <p:spPr>
            <a:xfrm>
              <a:off x="6248400" y="1941195"/>
              <a:ext cx="5410200" cy="2045018"/>
            </a:xfrm>
            <a:prstGeom prst="roundRect">
              <a:avLst>
                <a:gd name="adj" fmla="val 6521"/>
              </a:avLst>
            </a:prstGeom>
            <a:solidFill>
              <a:srgbClr val="FFFFFF"/>
            </a:solidFill>
            <a:ln w="14288">
              <a:solidFill>
                <a:srgbClr val="D9DFEA"/>
              </a:solidFill>
            </a:ln>
          </p:spPr>
        </p:sp>
        <p:sp>
          <p:nvSpPr>
            <p:cNvPr id="25" name="Rectangle 25"/>
            <p:cNvSpPr/>
            <p:nvPr/>
          </p:nvSpPr>
          <p:spPr>
            <a:xfrm>
              <a:off x="6257925" y="2074545"/>
              <a:ext cx="47625" cy="1778318"/>
            </a:xfrm>
            <a:prstGeom prst="roundRect">
              <a:avLst>
                <a:gd name="adj" fmla="val 50000"/>
              </a:avLst>
            </a:prstGeom>
            <a:solidFill>
              <a:srgbClr val="F26B3A"/>
            </a:solidFill>
            <a:ln>
              <a:noFill/>
            </a:ln>
          </p:spPr>
        </p:sp>
        <p:sp>
          <p:nvSpPr>
            <p:cNvPr id="26" name="Rectangle 26"/>
            <p:cNvSpPr/>
            <p:nvPr/>
          </p:nvSpPr>
          <p:spPr>
            <a:xfrm>
              <a:off x="6478905" y="2133600"/>
              <a:ext cx="476250" cy="247650"/>
            </a:xfrm>
            <a:prstGeom prst="roundRect">
              <a:avLst>
                <a:gd name="adj" fmla="val 50000"/>
              </a:avLst>
            </a:prstGeom>
            <a:solidFill>
              <a:srgbClr val="FDEEE7"/>
            </a:solidFill>
            <a:ln>
              <a:noFill/>
            </a:ln>
          </p:spPr>
        </p:sp>
        <p:sp>
          <p:nvSpPr>
            <p:cNvPr id="27" name="TextBox 27"/>
            <p:cNvSpPr txBox="1"/>
            <p:nvPr/>
          </p:nvSpPr>
          <p:spPr>
            <a:xfrm>
              <a:off x="6570345" y="2167890"/>
              <a:ext cx="293370"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性质</a:t>
              </a:r>
            </a:p>
          </p:txBody>
        </p:sp>
        <p:sp>
          <p:nvSpPr>
            <p:cNvPr id="28" name="TextBox 28"/>
            <p:cNvSpPr txBox="1"/>
            <p:nvPr/>
          </p:nvSpPr>
          <p:spPr>
            <a:xfrm>
              <a:off x="7062597" y="2173605"/>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为什么说它好解</a:t>
              </a:r>
            </a:p>
          </p:txBody>
        </p:sp>
        <p:sp>
          <p:nvSpPr>
            <p:cNvPr id="29" name="Ellipse 29"/>
            <p:cNvSpPr/>
            <p:nvPr/>
          </p:nvSpPr>
          <p:spPr>
            <a:xfrm>
              <a:off x="6478905" y="2495550"/>
              <a:ext cx="192405" cy="192405"/>
            </a:xfrm>
            <a:prstGeom prst="ellipse">
              <a:avLst/>
            </a:prstGeom>
            <a:solidFill>
              <a:srgbClr val="0E7C86"/>
            </a:solidFill>
            <a:ln>
              <a:noFill/>
            </a:ln>
          </p:spPr>
        </p:sp>
        <p:sp>
          <p:nvSpPr>
            <p:cNvPr id="30" name="TextBox 30"/>
            <p:cNvSpPr txBox="1"/>
            <p:nvPr/>
          </p:nvSpPr>
          <p:spPr>
            <a:xfrm>
              <a:off x="6534583" y="25339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1" name="TextBox 31"/>
            <p:cNvSpPr txBox="1"/>
            <p:nvPr/>
          </p:nvSpPr>
          <p:spPr>
            <a:xfrm>
              <a:off x="6759702" y="2507932"/>
              <a:ext cx="403583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目标 ½wᵀw 是凸的（二次型，Hessian 是单位阵）</a:t>
              </a:r>
            </a:p>
          </p:txBody>
        </p:sp>
        <p:sp>
          <p:nvSpPr>
            <p:cNvPr id="32" name="Ellipse 32"/>
            <p:cNvSpPr/>
            <p:nvPr/>
          </p:nvSpPr>
          <p:spPr>
            <a:xfrm>
              <a:off x="6478905" y="2798445"/>
              <a:ext cx="192405" cy="192405"/>
            </a:xfrm>
            <a:prstGeom prst="ellipse">
              <a:avLst/>
            </a:prstGeom>
            <a:solidFill>
              <a:srgbClr val="0E7C86"/>
            </a:solidFill>
            <a:ln>
              <a:noFill/>
            </a:ln>
          </p:spPr>
        </p:sp>
        <p:sp>
          <p:nvSpPr>
            <p:cNvPr id="33" name="TextBox 33"/>
            <p:cNvSpPr txBox="1"/>
            <p:nvPr/>
          </p:nvSpPr>
          <p:spPr>
            <a:xfrm>
              <a:off x="6534583" y="283683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4" name="TextBox 34"/>
            <p:cNvSpPr txBox="1"/>
            <p:nvPr/>
          </p:nvSpPr>
          <p:spPr>
            <a:xfrm>
              <a:off x="6759702" y="2810827"/>
              <a:ext cx="343945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约束关于 (w, b) 是线性的，可行域是凸的</a:t>
              </a:r>
            </a:p>
          </p:txBody>
        </p:sp>
        <p:sp>
          <p:nvSpPr>
            <p:cNvPr id="35" name="Ellipse 35"/>
            <p:cNvSpPr/>
            <p:nvPr/>
          </p:nvSpPr>
          <p:spPr>
            <a:xfrm>
              <a:off x="6478905" y="3100388"/>
              <a:ext cx="192405" cy="192405"/>
            </a:xfrm>
            <a:prstGeom prst="ellipse">
              <a:avLst/>
            </a:prstGeom>
            <a:solidFill>
              <a:srgbClr val="0E7C86"/>
            </a:solidFill>
            <a:ln>
              <a:noFill/>
            </a:ln>
          </p:spPr>
        </p:sp>
        <p:sp>
          <p:nvSpPr>
            <p:cNvPr id="36" name="TextBox 36"/>
            <p:cNvSpPr txBox="1"/>
            <p:nvPr/>
          </p:nvSpPr>
          <p:spPr>
            <a:xfrm>
              <a:off x="6534583" y="313972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37" name="TextBox 37"/>
            <p:cNvSpPr txBox="1"/>
            <p:nvPr/>
          </p:nvSpPr>
          <p:spPr>
            <a:xfrm>
              <a:off x="6759702" y="3112770"/>
              <a:ext cx="333950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凸目标 + 凸可行域 ⟹ 局部最优即全局最优</a:t>
              </a:r>
            </a:p>
          </p:txBody>
        </p:sp>
        <p:sp>
          <p:nvSpPr>
            <p:cNvPr id="38" name="TextBox 38"/>
            <p:cNvSpPr txBox="1"/>
            <p:nvPr/>
          </p:nvSpPr>
          <p:spPr>
            <a:xfrm>
              <a:off x="6473190" y="3411379"/>
              <a:ext cx="47053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线性可分时解存在且唯一；不可分时可行域为空，必须换成第四部分的软间</a:t>
              </a:r>
              <a:br/>
              <a:r>
                <a:rPr lang="zh-CN" sz="1120" dirty="0">
                  <a:solidFill>
                    <a:srgbClr val="5B6475"/>
                  </a:solidFill>
                  <a:latin typeface="+mn-lt"/>
                  <a:ea typeface="+mn-ea"/>
                  <a:cs typeface="+mn-cs"/>
                </a:rPr>
                <a:t>隔。</a:t>
              </a:r>
            </a:p>
          </p:txBody>
        </p:sp>
      </p:grpSp>
      <p:grpSp>
        <p:nvGrpSpPr>
          <p:cNvPr id="45" name="c2-card-2"/>
          <p:cNvGrpSpPr/>
          <p:nvPr/>
        </p:nvGrpSpPr>
        <p:grpSpPr>
          <a:xfrm>
            <a:off x="6248400" y="4162425"/>
            <a:ext cx="5410200" cy="1367790"/>
            <a:chOff x="6248400" y="4162425"/>
            <a:chExt cx="5410200" cy="1367790"/>
          </a:xfrm>
        </p:grpSpPr>
        <p:sp>
          <p:nvSpPr>
            <p:cNvPr id="40" name="Rectangle 40"/>
            <p:cNvSpPr/>
            <p:nvPr/>
          </p:nvSpPr>
          <p:spPr>
            <a:xfrm>
              <a:off x="6248400" y="4162425"/>
              <a:ext cx="5410200" cy="1367790"/>
            </a:xfrm>
            <a:prstGeom prst="roundRect">
              <a:avLst>
                <a:gd name="adj" fmla="val 9749"/>
              </a:avLst>
            </a:prstGeom>
            <a:solidFill>
              <a:srgbClr val="FFFFFF"/>
            </a:solidFill>
            <a:ln w="14288">
              <a:solidFill>
                <a:srgbClr val="D9DFEA"/>
              </a:solidFill>
            </a:ln>
          </p:spPr>
        </p:sp>
        <p:sp>
          <p:nvSpPr>
            <p:cNvPr id="41" name="Rectangle 41"/>
            <p:cNvSpPr/>
            <p:nvPr/>
          </p:nvSpPr>
          <p:spPr>
            <a:xfrm>
              <a:off x="6257925" y="4295775"/>
              <a:ext cx="47625" cy="1101090"/>
            </a:xfrm>
            <a:prstGeom prst="roundRect">
              <a:avLst>
                <a:gd name="adj" fmla="val 50000"/>
              </a:avLst>
            </a:prstGeom>
            <a:solidFill>
              <a:srgbClr val="14A38B"/>
            </a:solidFill>
            <a:ln>
              <a:noFill/>
            </a:ln>
          </p:spPr>
        </p:sp>
        <p:sp>
          <p:nvSpPr>
            <p:cNvPr id="42" name="TextBox 42"/>
            <p:cNvSpPr txBox="1"/>
            <p:nvPr/>
          </p:nvSpPr>
          <p:spPr>
            <a:xfrm>
              <a:off x="6472047" y="4376738"/>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学出来以后怎么用</a:t>
              </a:r>
            </a:p>
          </p:txBody>
        </p:sp>
        <mc:AlternateContent xmlns:mc="http://schemas.openxmlformats.org/markup-compatibility/2006">
          <mc:Choice xmlns:a14="http://schemas.microsoft.com/office/drawing/2010/main" Requires="a14">
            <p:sp>
              <p:nvSpPr>
                <p:cNvPr id="43" name="formula63"/>
                <p:cNvSpPr txBox="1">
                  <a:spLocks noGrp="1"/>
                </p:cNvSpPr>
                <p:nvPr/>
              </p:nvSpPr>
              <p:spPr>
                <a:xfrm>
                  <a:off x="6478905" y="4674870"/>
                  <a:ext cx="4987290"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350" dirty="0">
                                <a:solidFill>
                                  <a:srgbClr val="1F2937"/>
                                </a:solidFill>
                                <a:latin typeface="Cambria Math"/>
                                <a:ea typeface="Cambria Math"/>
                                <a:cs typeface="Cambria Math"/>
                              </a:rPr>
                              <m:t>w</m:t>
                            </m:r>
                          </m:e>
                          <m:sup>
                            <m:r>
                              <m:rPr>
                                <m:sty m:val="p"/>
                              </m:rPr>
                              <a:rPr lang="zh-CN" sz="1350" dirty="0">
                                <a:solidFill>
                                  <a:srgbClr val="1F2937"/>
                                </a:solidFill>
                                <a:latin typeface="Cambria Math"/>
                                <a:ea typeface="Cambria Math"/>
                                <a:cs typeface="Cambria Math"/>
                              </a:rPr>
                              <m:t>*</m:t>
                            </m:r>
                          </m:sup>
                        </m:s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x</m:t>
                        </m:r>
                        <m:r>
                          <m:rPr>
                            <m:sty m:val="p"/>
                          </m:rPr>
                          <a:rPr lang="zh-CN" sz="1350" dirty="0">
                            <a:solidFill>
                              <a:srgbClr val="1F2937"/>
                            </a:solidFill>
                            <a:latin typeface="Cambria Math"/>
                            <a:ea typeface="Cambria Math"/>
                            <a:cs typeface="Cambria Math"/>
                          </a:rPr>
                          <m:t>+</m:t>
                        </m:r>
                        <m:sSup>
                          <m:e>
                            <m:r>
                              <a:rPr lang="zh-CN" sz="1350" dirty="0">
                                <a:solidFill>
                                  <a:srgbClr val="1F2937"/>
                                </a:solidFill>
                                <a:latin typeface="Cambria Math"/>
                                <a:ea typeface="Cambria Math"/>
                                <a:cs typeface="Cambria Math"/>
                              </a:rPr>
                              <m:t>b</m:t>
                            </m:r>
                          </m:e>
                          <m:sup>
                            <m:r>
                              <m:rPr>
                                <m:sty m:val="p"/>
                              </m:rPr>
                              <a:rPr lang="zh-CN" sz="1350" dirty="0">
                                <a:solidFill>
                                  <a:srgbClr val="1F2937"/>
                                </a:solidFill>
                                <a:latin typeface="Cambria Math"/>
                                <a:ea typeface="Cambria Math"/>
                                <a:cs typeface="Cambria Math"/>
                              </a:rPr>
                              <m:t>*</m:t>
                            </m:r>
                          </m:sup>
                        </m:s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r>
                          <a:rPr lang="zh-CN" sz="1350" dirty="0">
                            <a:solidFill>
                              <a:srgbClr val="1F2937"/>
                            </a:solidFill>
                            <a:latin typeface="Cambria Math"/>
                            <a:ea typeface="Cambria Math"/>
                            <a:cs typeface="Cambria Math"/>
                          </a:rPr>
                          <m:t>f</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x</m:t>
                            </m:r>
                          </m:e>
                        </m:d>
                        <m:r>
                          <m:rPr>
                            <m:sty m:val="p"/>
                          </m:rPr>
                          <a:rPr lang="zh-CN" sz="1350" dirty="0">
                            <a:solidFill>
                              <a:srgbClr val="1F2937"/>
                            </a:solidFill>
                            <a:latin typeface="Cambria Math"/>
                            <a:ea typeface="Cambria Math"/>
                            <a:cs typeface="Cambria Math"/>
                          </a:rPr>
                          <m:t>=</m:t>
                        </m:r>
                        <m:r>
                          <m:rPr>
                            <m:sty m:val="p"/>
                          </m:rPr>
                          <a:rPr lang="zh-CN" sz="1350" dirty="0">
                            <a:solidFill>
                              <a:srgbClr val="1F2937"/>
                            </a:solidFill>
                            <a:latin typeface="Cambria Math"/>
                            <a:ea typeface="Cambria Math"/>
                            <a:cs typeface="Cambria Math"/>
                          </a:rPr>
                          <m:t>sign</m:t>
                        </m:r>
                        <m:d>
                          <m:dPr>
                            <m:begChr m:val="("/>
                            <m:sepChr m:val=""/>
                            <m:endChr m:val=")"/>
                            <m:grow m:val="on"/>
                            <m:ctrlPr>
                              <a:rPr lang="zh-CN" sz="1350" dirty="0">
                                <a:solidFill>
                                  <a:srgbClr val="1F2937"/>
                                </a:solidFill>
                                <a:latin typeface="Cambria Math"/>
                                <a:ea typeface="Cambria Math"/>
                                <a:cs typeface="Cambria Math"/>
                              </a:rPr>
                            </m:ctrlPr>
                          </m:dPr>
                          <m:e>
                            <m:sSup>
                              <m:e>
                                <m:r>
                                  <a:rPr lang="zh-CN" sz="1350" dirty="0">
                                    <a:solidFill>
                                      <a:srgbClr val="1F2937"/>
                                    </a:solidFill>
                                    <a:latin typeface="Cambria Math"/>
                                    <a:ea typeface="Cambria Math"/>
                                    <a:cs typeface="Cambria Math"/>
                                  </a:rPr>
                                  <m:t>w</m:t>
                                </m:r>
                              </m:e>
                              <m:sup>
                                <m:r>
                                  <m:rPr>
                                    <m:sty m:val="p"/>
                                  </m:rPr>
                                  <a:rPr lang="zh-CN" sz="1350" dirty="0">
                                    <a:solidFill>
                                      <a:srgbClr val="1F2937"/>
                                    </a:solidFill>
                                    <a:latin typeface="Cambria Math"/>
                                    <a:ea typeface="Cambria Math"/>
                                    <a:cs typeface="Cambria Math"/>
                                  </a:rPr>
                                  <m:t>*</m:t>
                                </m:r>
                              </m:sup>
                            </m:s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x</m:t>
                            </m:r>
                            <m:r>
                              <m:rPr>
                                <m:sty m:val="p"/>
                              </m:rPr>
                              <a:rPr lang="zh-CN" sz="1350" dirty="0">
                                <a:solidFill>
                                  <a:srgbClr val="1F2937"/>
                                </a:solidFill>
                                <a:latin typeface="Cambria Math"/>
                                <a:ea typeface="Cambria Math"/>
                                <a:cs typeface="Cambria Math"/>
                              </a:rPr>
                              <m:t>+</m:t>
                            </m:r>
                            <m:sSup>
                              <m:e>
                                <m:r>
                                  <a:rPr lang="zh-CN" sz="1350" dirty="0">
                                    <a:solidFill>
                                      <a:srgbClr val="1F2937"/>
                                    </a:solidFill>
                                    <a:latin typeface="Cambria Math"/>
                                    <a:ea typeface="Cambria Math"/>
                                    <a:cs typeface="Cambria Math"/>
                                  </a:rPr>
                                  <m:t>b</m:t>
                                </m:r>
                              </m:e>
                              <m:sup>
                                <m:r>
                                  <m:rPr>
                                    <m:sty m:val="p"/>
                                  </m:rPr>
                                  <a:rPr lang="zh-CN" sz="1350" dirty="0">
                                    <a:solidFill>
                                      <a:srgbClr val="1F2937"/>
                                    </a:solidFill>
                                    <a:latin typeface="Cambria Math"/>
                                    <a:ea typeface="Cambria Math"/>
                                    <a:cs typeface="Cambria Math"/>
                                  </a:rPr>
                                  <m:t>*</m:t>
                                </m:r>
                              </m:sup>
                            </m:sSup>
                          </m:e>
                        </m:d>
                      </m:oMath>
                    </m:oMathPara>
                  </a14:m>
                </a:p>
              </p:txBody>
            </p:sp>
          </mc:Choice>
        </mc:AlternateContent>
        <p:sp>
          <p:nvSpPr>
            <p:cNvPr id="44" name="TextBox 44"/>
            <p:cNvSpPr txBox="1"/>
            <p:nvPr/>
          </p:nvSpPr>
          <p:spPr>
            <a:xfrm>
              <a:off x="6472047" y="5126355"/>
              <a:ext cx="437540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分离超平面给出边界，决策函数对新样本取符号即可。</a:t>
              </a:r>
            </a:p>
          </p:txBody>
        </p:sp>
      </p:grpSp>
      <p:grpSp>
        <p:nvGrpSpPr>
          <p:cNvPr id="52" name="takeaway"/>
          <p:cNvGrpSpPr/>
          <p:nvPr/>
        </p:nvGrpSpPr>
        <p:grpSpPr>
          <a:xfrm>
            <a:off x="533400" y="5874068"/>
            <a:ext cx="11125200" cy="488632"/>
            <a:chOff x="533400" y="5874068"/>
            <a:chExt cx="11125200" cy="488632"/>
          </a:xfrm>
        </p:grpSpPr>
        <p:sp>
          <p:nvSpPr>
            <p:cNvPr id="46" name="Rectangle 46"/>
            <p:cNvSpPr/>
            <p:nvPr/>
          </p:nvSpPr>
          <p:spPr>
            <a:xfrm>
              <a:off x="533400" y="5874068"/>
              <a:ext cx="11125200" cy="488632"/>
            </a:xfrm>
            <a:prstGeom prst="roundRect">
              <a:avLst>
                <a:gd name="adj" fmla="val 23392"/>
              </a:avLst>
            </a:prstGeom>
            <a:solidFill>
              <a:srgbClr val="FDEEE7"/>
            </a:solidFill>
            <a:ln>
              <a:noFill/>
            </a:ln>
          </p:spPr>
        </p:sp>
        <p:grpSp>
          <p:nvGrpSpPr>
            <p:cNvPr id="50" name="Group 50"/>
            <p:cNvGrpSpPr/>
            <p:nvPr/>
          </p:nvGrpSpPr>
          <p:grpSpPr>
            <a:xfrm>
              <a:off x="738188" y="6017895"/>
              <a:ext cx="200026" cy="200025"/>
              <a:chOff x="738188" y="6017895"/>
              <a:chExt cx="200026" cy="200025"/>
            </a:xfrm>
          </p:grpSpPr>
          <p:sp>
            <p:nvSpPr>
              <p:cNvPr id="47" name="Freeform 47"/>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8" name="Freeform 48"/>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9" name="Freeform 49"/>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1" name="TextBox 51"/>
            <p:cNvSpPr txBox="1"/>
            <p:nvPr/>
          </p:nvSpPr>
          <p:spPr>
            <a:xfrm>
              <a:off x="1040892" y="6023610"/>
              <a:ext cx="7410412"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二次规划有现成求解器，但一般不直接解它，而是解第三部分的对偶问题，原因见第 20 页。</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线性判别函数与最优分类面</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例题：三个点的最优分类面（几何解法）</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7228675" cy="264033"/>
            <a:chOff x="526542" y="1545907"/>
            <a:chExt cx="7228675" cy="264033"/>
          </a:xfrm>
        </p:grpSpPr>
        <p:sp>
          <p:nvSpPr>
            <p:cNvPr id="7" name="TextBox 7"/>
            <p:cNvSpPr txBox="1"/>
            <p:nvPr/>
          </p:nvSpPr>
          <p:spPr>
            <a:xfrm>
              <a:off x="526542" y="1545907"/>
              <a:ext cx="722867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数据小到可以在纸上画出来，先用几何直观把答案定下来，第 24 页再用对偶问题算一遍。</a:t>
              </a:r>
            </a:p>
          </p:txBody>
        </p:sp>
      </p:grpSp>
      <p:grpSp>
        <p:nvGrpSpPr>
          <p:cNvPr id="28" name="c1-table-1"/>
          <p:cNvGrpSpPr/>
          <p:nvPr/>
        </p:nvGrpSpPr>
        <p:grpSpPr>
          <a:xfrm>
            <a:off x="533400" y="1928812"/>
            <a:ext cx="4977765" cy="1600200"/>
            <a:chOff x="533400" y="1928812"/>
            <a:chExt cx="4977765" cy="1600200"/>
          </a:xfrm>
        </p:grpSpPr>
        <p:sp>
          <p:nvSpPr>
            <p:cNvPr id="9" name="Rectangle 9"/>
            <p:cNvSpPr/>
            <p:nvPr/>
          </p:nvSpPr>
          <p:spPr>
            <a:xfrm>
              <a:off x="533400" y="1928812"/>
              <a:ext cx="4977765" cy="400050"/>
            </a:xfrm>
            <a:prstGeom prst="rect">
              <a:avLst/>
            </a:prstGeom>
            <a:solidFill>
              <a:srgbClr val="0E7C86"/>
            </a:solidFill>
            <a:ln>
              <a:noFill/>
            </a:ln>
          </p:spPr>
        </p:sp>
        <p:sp>
          <p:nvSpPr>
            <p:cNvPr id="10" name="TextBox 10"/>
            <p:cNvSpPr txBox="1"/>
            <p:nvPr/>
          </p:nvSpPr>
          <p:spPr>
            <a:xfrm>
              <a:off x="974128"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样本</a:t>
              </a:r>
            </a:p>
          </p:txBody>
        </p:sp>
        <p:sp>
          <p:nvSpPr>
            <p:cNvPr id="11" name="TextBox 11"/>
            <p:cNvSpPr txBox="1"/>
            <p:nvPr/>
          </p:nvSpPr>
          <p:spPr>
            <a:xfrm>
              <a:off x="2617191"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坐标</a:t>
              </a:r>
            </a:p>
          </p:txBody>
        </p:sp>
        <p:sp>
          <p:nvSpPr>
            <p:cNvPr id="12" name="TextBox 12"/>
            <p:cNvSpPr txBox="1"/>
            <p:nvPr/>
          </p:nvSpPr>
          <p:spPr>
            <a:xfrm>
              <a:off x="4507903"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标签</a:t>
              </a:r>
            </a:p>
          </p:txBody>
        </p:sp>
        <p:sp>
          <p:nvSpPr>
            <p:cNvPr id="13" name="TextBox 13"/>
            <p:cNvSpPr txBox="1"/>
            <p:nvPr/>
          </p:nvSpPr>
          <p:spPr>
            <a:xfrm>
              <a:off x="630555" y="2450306"/>
              <a:ext cx="185574"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x₁</a:t>
              </a:r>
            </a:p>
          </p:txBody>
        </p:sp>
        <p:sp>
          <p:nvSpPr>
            <p:cNvPr id="14" name="TextBox 14"/>
            <p:cNvSpPr txBox="1"/>
            <p:nvPr/>
          </p:nvSpPr>
          <p:spPr>
            <a:xfrm>
              <a:off x="1824990" y="2450306"/>
              <a:ext cx="47129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(3, 3)</a:t>
              </a:r>
            </a:p>
          </p:txBody>
        </p:sp>
        <p:sp>
          <p:nvSpPr>
            <p:cNvPr id="15" name="TextBox 15"/>
            <p:cNvSpPr txBox="1"/>
            <p:nvPr/>
          </p:nvSpPr>
          <p:spPr>
            <a:xfrm>
              <a:off x="3915727" y="2450306"/>
              <a:ext cx="51652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y₁ = +1</a:t>
              </a:r>
            </a:p>
          </p:txBody>
        </p:sp>
        <p:sp>
          <p:nvSpPr>
            <p:cNvPr id="16" name="Rectangle 16"/>
            <p:cNvSpPr/>
            <p:nvPr/>
          </p:nvSpPr>
          <p:spPr>
            <a:xfrm>
              <a:off x="533400" y="2724150"/>
              <a:ext cx="4977765" cy="9525"/>
            </a:xfrm>
            <a:prstGeom prst="rect">
              <a:avLst/>
            </a:prstGeom>
            <a:solidFill>
              <a:srgbClr val="D9DFEA"/>
            </a:solidFill>
            <a:ln>
              <a:noFill/>
            </a:ln>
          </p:spPr>
        </p:sp>
        <p:sp>
          <p:nvSpPr>
            <p:cNvPr id="17" name="Rectangle 17"/>
            <p:cNvSpPr/>
            <p:nvPr/>
          </p:nvSpPr>
          <p:spPr>
            <a:xfrm>
              <a:off x="533400" y="2728912"/>
              <a:ext cx="4977765" cy="400050"/>
            </a:xfrm>
            <a:prstGeom prst="rect">
              <a:avLst/>
            </a:prstGeom>
            <a:solidFill>
              <a:srgbClr val="F4F6FB"/>
            </a:solidFill>
            <a:ln>
              <a:noFill/>
            </a:ln>
          </p:spPr>
        </p:sp>
        <p:sp>
          <p:nvSpPr>
            <p:cNvPr id="18" name="TextBox 18"/>
            <p:cNvSpPr txBox="1"/>
            <p:nvPr/>
          </p:nvSpPr>
          <p:spPr>
            <a:xfrm>
              <a:off x="630555" y="2850356"/>
              <a:ext cx="185574"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x₂</a:t>
              </a:r>
            </a:p>
          </p:txBody>
        </p:sp>
        <p:sp>
          <p:nvSpPr>
            <p:cNvPr id="19" name="TextBox 19"/>
            <p:cNvSpPr txBox="1"/>
            <p:nvPr/>
          </p:nvSpPr>
          <p:spPr>
            <a:xfrm>
              <a:off x="1824990" y="2850356"/>
              <a:ext cx="47129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(4, 3)</a:t>
              </a:r>
            </a:p>
          </p:txBody>
        </p:sp>
        <p:sp>
          <p:nvSpPr>
            <p:cNvPr id="20" name="TextBox 20"/>
            <p:cNvSpPr txBox="1"/>
            <p:nvPr/>
          </p:nvSpPr>
          <p:spPr>
            <a:xfrm>
              <a:off x="3915727" y="2850356"/>
              <a:ext cx="51652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y₂ = +1</a:t>
              </a:r>
            </a:p>
          </p:txBody>
        </p:sp>
        <p:sp>
          <p:nvSpPr>
            <p:cNvPr id="21" name="Rectangle 21"/>
            <p:cNvSpPr/>
            <p:nvPr/>
          </p:nvSpPr>
          <p:spPr>
            <a:xfrm>
              <a:off x="533400" y="3124200"/>
              <a:ext cx="4977765" cy="9525"/>
            </a:xfrm>
            <a:prstGeom prst="rect">
              <a:avLst/>
            </a:prstGeom>
            <a:solidFill>
              <a:srgbClr val="D9DFEA"/>
            </a:solidFill>
            <a:ln>
              <a:noFill/>
            </a:ln>
          </p:spPr>
        </p:sp>
        <p:sp>
          <p:nvSpPr>
            <p:cNvPr id="22" name="TextBox 22"/>
            <p:cNvSpPr txBox="1"/>
            <p:nvPr/>
          </p:nvSpPr>
          <p:spPr>
            <a:xfrm>
              <a:off x="630555" y="3250406"/>
              <a:ext cx="185574"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x₃</a:t>
              </a:r>
            </a:p>
          </p:txBody>
        </p:sp>
        <p:sp>
          <p:nvSpPr>
            <p:cNvPr id="23" name="TextBox 23"/>
            <p:cNvSpPr txBox="1"/>
            <p:nvPr/>
          </p:nvSpPr>
          <p:spPr>
            <a:xfrm>
              <a:off x="1824990" y="3250406"/>
              <a:ext cx="47129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(1, 1)</a:t>
              </a:r>
            </a:p>
          </p:txBody>
        </p:sp>
        <p:sp>
          <p:nvSpPr>
            <p:cNvPr id="24" name="TextBox 24"/>
            <p:cNvSpPr txBox="1"/>
            <p:nvPr/>
          </p:nvSpPr>
          <p:spPr>
            <a:xfrm>
              <a:off x="3915727" y="3250406"/>
              <a:ext cx="51652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y₃ = −1</a:t>
              </a:r>
            </a:p>
          </p:txBody>
        </p:sp>
        <p:sp>
          <p:nvSpPr>
            <p:cNvPr id="25" name="Rectangle 25"/>
            <p:cNvSpPr/>
            <p:nvPr/>
          </p:nvSpPr>
          <p:spPr>
            <a:xfrm>
              <a:off x="533400" y="1928812"/>
              <a:ext cx="4977765" cy="1600200"/>
            </a:xfrm>
            <a:prstGeom prst="rect">
              <a:avLst/>
            </a:prstGeom>
            <a:noFill/>
            <a:ln w="14288">
              <a:solidFill>
                <a:srgbClr val="D9DFEA"/>
              </a:solidFill>
            </a:ln>
          </p:spPr>
        </p:sp>
        <p:sp>
          <p:nvSpPr>
            <p:cNvPr id="26" name="Rectangle 26"/>
            <p:cNvSpPr/>
            <p:nvPr/>
          </p:nvSpPr>
          <p:spPr>
            <a:xfrm>
              <a:off x="1723072" y="1928812"/>
              <a:ext cx="9525" cy="1600200"/>
            </a:xfrm>
            <a:prstGeom prst="rect">
              <a:avLst/>
            </a:prstGeom>
            <a:solidFill>
              <a:srgbClr val="D9DFEA"/>
            </a:solidFill>
            <a:ln>
              <a:noFill/>
            </a:ln>
          </p:spPr>
        </p:sp>
        <p:sp>
          <p:nvSpPr>
            <p:cNvPr id="27" name="Rectangle 27"/>
            <p:cNvSpPr/>
            <p:nvPr/>
          </p:nvSpPr>
          <p:spPr>
            <a:xfrm>
              <a:off x="3813810" y="1928812"/>
              <a:ext cx="9525" cy="1600200"/>
            </a:xfrm>
            <a:prstGeom prst="rect">
              <a:avLst/>
            </a:prstGeom>
            <a:solidFill>
              <a:srgbClr val="D9DFEA"/>
            </a:solidFill>
            <a:ln>
              <a:noFill/>
            </a:ln>
          </p:spPr>
        </p:sp>
      </p:grpSp>
      <p:grpSp>
        <p:nvGrpSpPr>
          <p:cNvPr id="42" name="c1-steps-2"/>
          <p:cNvGrpSpPr/>
          <p:nvPr/>
        </p:nvGrpSpPr>
        <p:grpSpPr>
          <a:xfrm>
            <a:off x="533400" y="3708082"/>
            <a:ext cx="3523229" cy="1685450"/>
            <a:chOff x="533400" y="3708082"/>
            <a:chExt cx="3523229" cy="1685450"/>
          </a:xfrm>
        </p:grpSpPr>
        <p:sp>
          <p:nvSpPr>
            <p:cNvPr id="29" name="Rectangle 29"/>
            <p:cNvSpPr/>
            <p:nvPr/>
          </p:nvSpPr>
          <p:spPr>
            <a:xfrm>
              <a:off x="666750" y="3850958"/>
              <a:ext cx="19050" cy="1165860"/>
            </a:xfrm>
            <a:prstGeom prst="rect">
              <a:avLst/>
            </a:prstGeom>
            <a:solidFill>
              <a:srgbClr val="D9DFEA"/>
            </a:solidFill>
            <a:ln>
              <a:noFill/>
            </a:ln>
          </p:spPr>
        </p:sp>
        <p:sp>
          <p:nvSpPr>
            <p:cNvPr id="30" name="Ellipse 30"/>
            <p:cNvSpPr/>
            <p:nvPr/>
          </p:nvSpPr>
          <p:spPr>
            <a:xfrm>
              <a:off x="533400" y="3708082"/>
              <a:ext cx="285750" cy="285750"/>
            </a:xfrm>
            <a:prstGeom prst="ellipse">
              <a:avLst/>
            </a:prstGeom>
            <a:solidFill>
              <a:srgbClr val="0E7C86"/>
            </a:solidFill>
            <a:ln>
              <a:noFill/>
            </a:ln>
          </p:spPr>
        </p:sp>
        <p:sp>
          <p:nvSpPr>
            <p:cNvPr id="31" name="TextBox 31"/>
            <p:cNvSpPr txBox="1"/>
            <p:nvPr/>
          </p:nvSpPr>
          <p:spPr>
            <a:xfrm>
              <a:off x="627024" y="378190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32" name="Ellipse 32"/>
            <p:cNvSpPr/>
            <p:nvPr/>
          </p:nvSpPr>
          <p:spPr>
            <a:xfrm>
              <a:off x="533400" y="4291012"/>
              <a:ext cx="285750" cy="285750"/>
            </a:xfrm>
            <a:prstGeom prst="ellipse">
              <a:avLst/>
            </a:prstGeom>
            <a:solidFill>
              <a:srgbClr val="0E7C86"/>
            </a:solidFill>
            <a:ln>
              <a:noFill/>
            </a:ln>
          </p:spPr>
        </p:sp>
        <p:sp>
          <p:nvSpPr>
            <p:cNvPr id="33" name="TextBox 33"/>
            <p:cNvSpPr txBox="1"/>
            <p:nvPr/>
          </p:nvSpPr>
          <p:spPr>
            <a:xfrm>
              <a:off x="627024" y="43648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34" name="Ellipse 34"/>
            <p:cNvSpPr/>
            <p:nvPr/>
          </p:nvSpPr>
          <p:spPr>
            <a:xfrm>
              <a:off x="533400" y="4873942"/>
              <a:ext cx="285750" cy="285750"/>
            </a:xfrm>
            <a:prstGeom prst="ellipse">
              <a:avLst/>
            </a:prstGeom>
            <a:solidFill>
              <a:srgbClr val="0E7C86"/>
            </a:solidFill>
            <a:ln>
              <a:noFill/>
            </a:ln>
          </p:spPr>
        </p:sp>
        <p:sp>
          <p:nvSpPr>
            <p:cNvPr id="35" name="TextBox 35"/>
            <p:cNvSpPr txBox="1"/>
            <p:nvPr/>
          </p:nvSpPr>
          <p:spPr>
            <a:xfrm>
              <a:off x="627024" y="494776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36" name="TextBox 36"/>
            <p:cNvSpPr txBox="1"/>
            <p:nvPr/>
          </p:nvSpPr>
          <p:spPr>
            <a:xfrm>
              <a:off x="945642" y="3740468"/>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找最近的异类对</a:t>
              </a:r>
            </a:p>
          </p:txBody>
        </p:sp>
        <p:sp>
          <p:nvSpPr>
            <p:cNvPr id="37" name="TextBox 37"/>
            <p:cNvSpPr txBox="1"/>
            <p:nvPr/>
          </p:nvSpPr>
          <p:spPr>
            <a:xfrm>
              <a:off x="946785" y="4007644"/>
              <a:ext cx="167748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x₁ 与 x₃ 距离 2√2，最短</a:t>
              </a:r>
            </a:p>
          </p:txBody>
        </p:sp>
        <p:sp>
          <p:nvSpPr>
            <p:cNvPr id="38" name="TextBox 38"/>
            <p:cNvSpPr txBox="1"/>
            <p:nvPr/>
          </p:nvSpPr>
          <p:spPr>
            <a:xfrm>
              <a:off x="945642" y="4323398"/>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取垂直平分面</a:t>
              </a:r>
            </a:p>
          </p:txBody>
        </p:sp>
        <p:sp>
          <p:nvSpPr>
            <p:cNvPr id="39" name="TextBox 39"/>
            <p:cNvSpPr txBox="1"/>
            <p:nvPr/>
          </p:nvSpPr>
          <p:spPr>
            <a:xfrm>
              <a:off x="946785" y="4590574"/>
              <a:ext cx="177549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中点 (2, 2)，方向 (1, 1)</a:t>
              </a:r>
            </a:p>
          </p:txBody>
        </p:sp>
        <p:sp>
          <p:nvSpPr>
            <p:cNvPr id="40" name="TextBox 40"/>
            <p:cNvSpPr txBox="1"/>
            <p:nvPr/>
          </p:nvSpPr>
          <p:spPr>
            <a:xfrm>
              <a:off x="945642" y="4906328"/>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定尺度解参数</a:t>
              </a:r>
            </a:p>
          </p:txBody>
        </p:sp>
        <p:sp>
          <p:nvSpPr>
            <p:cNvPr id="41" name="TextBox 41"/>
            <p:cNvSpPr txBox="1"/>
            <p:nvPr/>
          </p:nvSpPr>
          <p:spPr>
            <a:xfrm>
              <a:off x="946785" y="5173504"/>
              <a:ext cx="310984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令 x₁、x₃ 函数间隔为 1 ⟹ w = (½, ½)，b = −2</a:t>
              </a:r>
            </a:p>
          </p:txBody>
        </p:sp>
      </p:grpSp>
      <mc:AlternateContent xmlns:mc="http://schemas.openxmlformats.org/markup-compatibility/2006">
        <mc:Choice xmlns:a14="http://schemas.microsoft.com/office/drawing/2010/main" Requires="a14">
          <p:sp>
            <p:nvSpPr>
              <p:cNvPr id="43" name="formula69"/>
              <p:cNvSpPr txBox="1">
                <a:spLocks noGrp="1"/>
              </p:cNvSpPr>
              <p:nvPr/>
            </p:nvSpPr>
            <p:spPr>
              <a:xfrm>
                <a:off x="533400" y="5556885"/>
                <a:ext cx="4977765" cy="46291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350" dirty="0">
                              <a:solidFill>
                                <a:srgbClr val="1F2937"/>
                              </a:solidFill>
                              <a:latin typeface="Cambria Math"/>
                              <a:ea typeface="Cambria Math"/>
                              <a:cs typeface="Cambria Math"/>
                            </a:rPr>
                          </m:ctrlPr>
                        </m:fPr>
                        <m:num>
                          <m:r>
                            <a:rPr lang="zh-CN" sz="1350" dirty="0">
                              <a:solidFill>
                                <a:srgbClr val="1F2937"/>
                              </a:solidFill>
                              <a:latin typeface="Cambria Math"/>
                              <a:ea typeface="Cambria Math"/>
                              <a:cs typeface="Cambria Math"/>
                            </a:rPr>
                            <m:t>1</m:t>
                          </m:r>
                        </m:num>
                        <m:den>
                          <m:r>
                            <a:rPr lang="zh-CN" sz="1350" dirty="0">
                              <a:solidFill>
                                <a:srgbClr val="1F2937"/>
                              </a:solidFill>
                              <a:latin typeface="Cambria Math"/>
                              <a:ea typeface="Cambria Math"/>
                              <a:cs typeface="Cambria Math"/>
                            </a:rPr>
                            <m:t>2</m:t>
                          </m:r>
                        </m:den>
                      </m:f>
                      <m:sSup>
                        <m:e>
                          <m:r>
                            <a:rPr lang="zh-CN" sz="1350" dirty="0">
                              <a:solidFill>
                                <a:srgbClr val="1F2937"/>
                              </a:solidFill>
                              <a:latin typeface="Cambria Math"/>
                              <a:ea typeface="Cambria Math"/>
                              <a:cs typeface="Cambria Math"/>
                            </a:rPr>
                            <m:t>x</m:t>
                          </m:r>
                        </m:e>
                        <m:sup>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1</m:t>
                              </m:r>
                            </m:e>
                          </m:d>
                        </m:sup>
                      </m:sSup>
                      <m:r>
                        <m:rPr>
                          <m:sty m:val="p"/>
                        </m:rPr>
                        <a:rPr lang="zh-CN" sz="1350" dirty="0">
                          <a:solidFill>
                            <a:srgbClr val="1F2937"/>
                          </a:solidFill>
                          <a:latin typeface="Cambria Math"/>
                          <a:ea typeface="Cambria Math"/>
                          <a:cs typeface="Cambria Math"/>
                        </a:rPr>
                        <m:t>+</m:t>
                      </m:r>
                      <m:f>
                        <m:fPr>
                          <m:type m:val="bar"/>
                          <m:ctrlPr>
                            <a:rPr lang="zh-CN" sz="1350" dirty="0">
                              <a:solidFill>
                                <a:srgbClr val="1F2937"/>
                              </a:solidFill>
                              <a:latin typeface="Cambria Math"/>
                              <a:ea typeface="Cambria Math"/>
                              <a:cs typeface="Cambria Math"/>
                            </a:rPr>
                          </m:ctrlPr>
                        </m:fPr>
                        <m:num>
                          <m:r>
                            <a:rPr lang="zh-CN" sz="1350" dirty="0">
                              <a:solidFill>
                                <a:srgbClr val="1F2937"/>
                              </a:solidFill>
                              <a:latin typeface="Cambria Math"/>
                              <a:ea typeface="Cambria Math"/>
                              <a:cs typeface="Cambria Math"/>
                            </a:rPr>
                            <m:t>1</m:t>
                          </m:r>
                        </m:num>
                        <m:den>
                          <m:r>
                            <a:rPr lang="zh-CN" sz="1350" dirty="0">
                              <a:solidFill>
                                <a:srgbClr val="1F2937"/>
                              </a:solidFill>
                              <a:latin typeface="Cambria Math"/>
                              <a:ea typeface="Cambria Math"/>
                              <a:cs typeface="Cambria Math"/>
                            </a:rPr>
                            <m:t>2</m:t>
                          </m:r>
                        </m:den>
                      </m:f>
                      <m:sSup>
                        <m:e>
                          <m:r>
                            <a:rPr lang="zh-CN" sz="1350" dirty="0">
                              <a:solidFill>
                                <a:srgbClr val="1F2937"/>
                              </a:solidFill>
                              <a:latin typeface="Cambria Math"/>
                              <a:ea typeface="Cambria Math"/>
                              <a:cs typeface="Cambria Math"/>
                            </a:rPr>
                            <m:t>x</m:t>
                          </m:r>
                        </m:e>
                        <m:sup>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2</m:t>
                              </m:r>
                            </m:e>
                          </m:d>
                        </m:sup>
                      </m:s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2</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f>
                        <m:fPr>
                          <m:type m:val="bar"/>
                          <m:ctrlPr>
                            <a:rPr lang="zh-CN" sz="1350" dirty="0">
                              <a:solidFill>
                                <a:srgbClr val="1F2937"/>
                              </a:solidFill>
                              <a:latin typeface="Cambria Math"/>
                              <a:ea typeface="Cambria Math"/>
                              <a:cs typeface="Cambria Math"/>
                            </a:rPr>
                          </m:ctrlPr>
                        </m:fPr>
                        <m:num>
                          <m:r>
                            <a:rPr lang="zh-CN" sz="1350" dirty="0">
                              <a:solidFill>
                                <a:srgbClr val="1F2937"/>
                              </a:solidFill>
                              <a:latin typeface="Cambria Math"/>
                              <a:ea typeface="Cambria Math"/>
                              <a:cs typeface="Cambria Math"/>
                            </a:rPr>
                            <m:t>2</m:t>
                          </m:r>
                        </m:num>
                        <m:den>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e>
                          </m:d>
                        </m:den>
                      </m:f>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2</m:t>
                      </m:r>
                      <m:rad>
                        <m:radPr>
                          <m:degHide m:val="on"/>
                          <m:ctrlPr>
                            <a:rPr lang="zh-CN" sz="1350" dirty="0">
                              <a:solidFill>
                                <a:srgbClr val="1F2937"/>
                              </a:solidFill>
                              <a:latin typeface="Cambria Math"/>
                              <a:ea typeface="Cambria Math"/>
                              <a:cs typeface="Cambria Math"/>
                            </a:rPr>
                          </m:ctrlPr>
                        </m:radPr>
                        <m:deg/>
                        <m:e>
                          <m:r>
                            <a:rPr lang="zh-CN" sz="1350" dirty="0">
                              <a:solidFill>
                                <a:srgbClr val="1F2937"/>
                              </a:solidFill>
                              <a:latin typeface="Cambria Math"/>
                              <a:ea typeface="Cambria Math"/>
                              <a:cs typeface="Cambria Math"/>
                            </a:rPr>
                            <m:t>2</m:t>
                          </m:r>
                        </m:e>
                      </m:ra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2.828</m:t>
                      </m:r>
                    </m:oMath>
                  </m:oMathPara>
                </a14:m>
              </a:p>
            </p:txBody>
          </p:sp>
        </mc:Choice>
      </mc:AlternateContent>
      <p:grpSp>
        <p:nvGrpSpPr>
          <p:cNvPr id="63" name="c2-graph-1"/>
          <p:cNvGrpSpPr/>
          <p:nvPr/>
        </p:nvGrpSpPr>
        <p:grpSpPr>
          <a:xfrm>
            <a:off x="6176962" y="1959769"/>
            <a:ext cx="5210176" cy="2319337"/>
            <a:chOff x="6176962" y="1959769"/>
            <a:chExt cx="5210176" cy="2319337"/>
          </a:xfrm>
        </p:grpSpPr>
        <p:sp>
          <p:nvSpPr>
            <p:cNvPr id="44" name="Freeform 44"/>
            <p:cNvSpPr/>
            <p:nvPr/>
          </p:nvSpPr>
          <p:spPr>
            <a:xfrm>
              <a:off x="6262688" y="4038600"/>
              <a:ext cx="5029200" cy="9525"/>
            </a:xfrm>
            <a:custGeom>
              <a:avLst/>
              <a:gdLst/>
              <a:ahLst/>
              <a:cxnLst/>
              <a:rect l="l" t="t" r="r" b="b"/>
              <a:pathLst>
                <a:path w="5029200" h="9525">
                  <a:moveTo>
                    <a:pt x="0" y="0"/>
                  </a:moveTo>
                  <a:lnTo>
                    <a:pt x="5029200" y="0"/>
                  </a:lnTo>
                </a:path>
              </a:pathLst>
            </a:custGeom>
            <a:noFill/>
            <a:ln w="17145">
              <a:solidFill>
                <a:srgbClr val="5B6475"/>
              </a:solidFill>
            </a:ln>
          </p:spPr>
        </p:sp>
        <p:sp>
          <p:nvSpPr>
            <p:cNvPr id="45" name="Freeform 45"/>
            <p:cNvSpPr/>
            <p:nvPr/>
          </p:nvSpPr>
          <p:spPr>
            <a:xfrm>
              <a:off x="11291888" y="3990975"/>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46" name="Freeform 46"/>
            <p:cNvSpPr/>
            <p:nvPr/>
          </p:nvSpPr>
          <p:spPr>
            <a:xfrm>
              <a:off x="6224588" y="2306955"/>
              <a:ext cx="9525" cy="1640205"/>
            </a:xfrm>
            <a:custGeom>
              <a:avLst/>
              <a:gdLst/>
              <a:ahLst/>
              <a:cxnLst/>
              <a:rect l="l" t="t" r="r" b="b"/>
              <a:pathLst>
                <a:path w="9525" h="1640205">
                  <a:moveTo>
                    <a:pt x="0" y="0"/>
                  </a:moveTo>
                  <a:lnTo>
                    <a:pt x="0" y="1640205"/>
                  </a:lnTo>
                </a:path>
              </a:pathLst>
            </a:custGeom>
            <a:noFill/>
            <a:ln w="17145">
              <a:solidFill>
                <a:srgbClr val="5B6475"/>
              </a:solidFill>
            </a:ln>
          </p:spPr>
        </p:sp>
        <p:sp>
          <p:nvSpPr>
            <p:cNvPr id="47" name="Freeform 47"/>
            <p:cNvSpPr/>
            <p:nvPr/>
          </p:nvSpPr>
          <p:spPr>
            <a:xfrm>
              <a:off x="6176962" y="2211705"/>
              <a:ext cx="95250" cy="95250"/>
            </a:xfrm>
            <a:custGeom>
              <a:avLst/>
              <a:gdLst/>
              <a:ahLst/>
              <a:cxnLst/>
              <a:rect l="l" t="t" r="r" b="b"/>
              <a:pathLst>
                <a:path w="95250" h="95250">
                  <a:moveTo>
                    <a:pt x="47625" y="0"/>
                  </a:moveTo>
                  <a:lnTo>
                    <a:pt x="95250" y="95250"/>
                  </a:lnTo>
                  <a:lnTo>
                    <a:pt x="0" y="95250"/>
                  </a:lnTo>
                  <a:close/>
                </a:path>
              </a:pathLst>
            </a:custGeom>
            <a:solidFill>
              <a:srgbClr val="5B6475"/>
            </a:solidFill>
            <a:ln>
              <a:noFill/>
            </a:ln>
          </p:spPr>
        </p:sp>
        <p:sp>
          <p:nvSpPr>
            <p:cNvPr id="48" name="Freeform 48"/>
            <p:cNvSpPr/>
            <p:nvPr/>
          </p:nvSpPr>
          <p:spPr>
            <a:xfrm>
              <a:off x="6262688" y="2227898"/>
              <a:ext cx="4078605" cy="1791652"/>
            </a:xfrm>
            <a:custGeom>
              <a:avLst/>
              <a:gdLst/>
              <a:ahLst/>
              <a:cxnLst/>
              <a:rect l="l" t="t" r="r" b="b"/>
              <a:pathLst>
                <a:path w="4078605" h="1791652">
                  <a:moveTo>
                    <a:pt x="0" y="0"/>
                  </a:moveTo>
                  <a:lnTo>
                    <a:pt x="4078605" y="1791652"/>
                  </a:lnTo>
                </a:path>
              </a:pathLst>
            </a:custGeom>
            <a:noFill/>
            <a:ln w="17145">
              <a:solidFill>
                <a:srgbClr val="0E7C86"/>
              </a:solidFill>
            </a:ln>
          </p:spPr>
        </p:sp>
        <p:sp>
          <p:nvSpPr>
            <p:cNvPr id="49" name="Freeform 49"/>
            <p:cNvSpPr/>
            <p:nvPr/>
          </p:nvSpPr>
          <p:spPr>
            <a:xfrm>
              <a:off x="8143875" y="2142172"/>
              <a:ext cx="3243262" cy="1423987"/>
            </a:xfrm>
            <a:custGeom>
              <a:avLst/>
              <a:gdLst/>
              <a:ahLst/>
              <a:cxnLst/>
              <a:rect l="l" t="t" r="r" b="b"/>
              <a:pathLst>
                <a:path w="3243262" h="1423987">
                  <a:moveTo>
                    <a:pt x="0" y="0"/>
                  </a:moveTo>
                  <a:lnTo>
                    <a:pt x="3243262" y="1423987"/>
                  </a:lnTo>
                </a:path>
              </a:pathLst>
            </a:custGeom>
            <a:noFill/>
            <a:ln w="17145">
              <a:solidFill>
                <a:srgbClr val="F26B3A"/>
              </a:solidFill>
              <a:custDash>
                <a:ds d="333333" sp="222222"/>
              </a:custDash>
            </a:ln>
          </p:spPr>
        </p:sp>
        <p:sp>
          <p:nvSpPr>
            <p:cNvPr id="50" name="Freeform 50"/>
            <p:cNvSpPr/>
            <p:nvPr/>
          </p:nvSpPr>
          <p:spPr>
            <a:xfrm>
              <a:off x="6262688" y="3141345"/>
              <a:ext cx="1985962" cy="872490"/>
            </a:xfrm>
            <a:custGeom>
              <a:avLst/>
              <a:gdLst/>
              <a:ahLst/>
              <a:cxnLst/>
              <a:rect l="l" t="t" r="r" b="b"/>
              <a:pathLst>
                <a:path w="1985962" h="872490">
                  <a:moveTo>
                    <a:pt x="0" y="0"/>
                  </a:moveTo>
                  <a:lnTo>
                    <a:pt x="1985962" y="872490"/>
                  </a:lnTo>
                </a:path>
              </a:pathLst>
            </a:custGeom>
            <a:noFill/>
            <a:ln w="17145">
              <a:solidFill>
                <a:srgbClr val="F26B3A"/>
              </a:solidFill>
              <a:custDash>
                <a:ds d="333333" sp="222222"/>
              </a:custDash>
            </a:ln>
          </p:spPr>
        </p:sp>
        <p:sp>
          <p:nvSpPr>
            <p:cNvPr id="51" name="Freeform 51"/>
            <p:cNvSpPr/>
            <p:nvPr/>
          </p:nvSpPr>
          <p:spPr>
            <a:xfrm>
              <a:off x="7430452" y="2742248"/>
              <a:ext cx="1748790" cy="767715"/>
            </a:xfrm>
            <a:custGeom>
              <a:avLst/>
              <a:gdLst/>
              <a:ahLst/>
              <a:cxnLst/>
              <a:rect l="l" t="t" r="r" b="b"/>
              <a:pathLst>
                <a:path w="1748790" h="767715">
                  <a:moveTo>
                    <a:pt x="0" y="767715"/>
                  </a:moveTo>
                  <a:lnTo>
                    <a:pt x="1748790" y="0"/>
                  </a:lnTo>
                </a:path>
              </a:pathLst>
            </a:custGeom>
            <a:noFill/>
            <a:ln w="17145">
              <a:solidFill>
                <a:srgbClr val="B42318"/>
              </a:solidFill>
            </a:ln>
          </p:spPr>
        </p:sp>
        <p:sp>
          <p:nvSpPr>
            <p:cNvPr id="52" name="Freeform 52"/>
            <p:cNvSpPr/>
            <p:nvPr/>
          </p:nvSpPr>
          <p:spPr>
            <a:xfrm>
              <a:off x="9160192" y="2698432"/>
              <a:ext cx="105727" cy="87630"/>
            </a:xfrm>
            <a:custGeom>
              <a:avLst/>
              <a:gdLst/>
              <a:ahLst/>
              <a:cxnLst/>
              <a:rect l="l" t="t" r="r" b="b"/>
              <a:pathLst>
                <a:path w="105727" h="87630">
                  <a:moveTo>
                    <a:pt x="105727" y="5715"/>
                  </a:moveTo>
                  <a:lnTo>
                    <a:pt x="38100" y="87630"/>
                  </a:lnTo>
                  <a:lnTo>
                    <a:pt x="0" y="0"/>
                  </a:lnTo>
                  <a:close/>
                </a:path>
              </a:pathLst>
            </a:custGeom>
            <a:solidFill>
              <a:srgbClr val="B42318"/>
            </a:solidFill>
            <a:ln>
              <a:noFill/>
            </a:ln>
          </p:spPr>
        </p:sp>
        <p:sp>
          <p:nvSpPr>
            <p:cNvPr id="53" name="Freeform 53"/>
            <p:cNvSpPr/>
            <p:nvPr/>
          </p:nvSpPr>
          <p:spPr>
            <a:xfrm>
              <a:off x="7342822" y="3466148"/>
              <a:ext cx="106680" cy="87630"/>
            </a:xfrm>
            <a:custGeom>
              <a:avLst/>
              <a:gdLst/>
              <a:ahLst/>
              <a:cxnLst/>
              <a:rect l="l" t="t" r="r" b="b"/>
              <a:pathLst>
                <a:path w="106680" h="87630">
                  <a:moveTo>
                    <a:pt x="0" y="81915"/>
                  </a:moveTo>
                  <a:lnTo>
                    <a:pt x="68580" y="0"/>
                  </a:lnTo>
                  <a:lnTo>
                    <a:pt x="106680" y="87630"/>
                  </a:lnTo>
                  <a:close/>
                </a:path>
              </a:pathLst>
            </a:custGeom>
            <a:solidFill>
              <a:srgbClr val="B42318"/>
            </a:solidFill>
            <a:ln>
              <a:noFill/>
            </a:ln>
          </p:spPr>
        </p:sp>
        <p:sp>
          <p:nvSpPr>
            <p:cNvPr id="54" name="Ellipse 54"/>
            <p:cNvSpPr/>
            <p:nvPr/>
          </p:nvSpPr>
          <p:spPr>
            <a:xfrm>
              <a:off x="9268778" y="2592705"/>
              <a:ext cx="152400" cy="152400"/>
            </a:xfrm>
            <a:prstGeom prst="ellipse">
              <a:avLst/>
            </a:prstGeom>
            <a:solidFill>
              <a:srgbClr val="0E7C86"/>
            </a:solidFill>
            <a:ln>
              <a:noFill/>
            </a:ln>
          </p:spPr>
        </p:sp>
        <p:sp>
          <p:nvSpPr>
            <p:cNvPr id="55" name="Ellipse 55"/>
            <p:cNvSpPr/>
            <p:nvPr/>
          </p:nvSpPr>
          <p:spPr>
            <a:xfrm>
              <a:off x="10308908" y="2592705"/>
              <a:ext cx="152400" cy="152400"/>
            </a:xfrm>
            <a:prstGeom prst="ellipse">
              <a:avLst/>
            </a:prstGeom>
            <a:solidFill>
              <a:srgbClr val="0E7C86"/>
            </a:solidFill>
            <a:ln>
              <a:noFill/>
            </a:ln>
          </p:spPr>
        </p:sp>
        <p:sp>
          <p:nvSpPr>
            <p:cNvPr id="56" name="Ellipse 56"/>
            <p:cNvSpPr/>
            <p:nvPr/>
          </p:nvSpPr>
          <p:spPr>
            <a:xfrm>
              <a:off x="7188518" y="3506152"/>
              <a:ext cx="152400" cy="152400"/>
            </a:xfrm>
            <a:prstGeom prst="ellipse">
              <a:avLst/>
            </a:prstGeom>
            <a:solidFill>
              <a:srgbClr val="B42318"/>
            </a:solidFill>
            <a:ln>
              <a:noFill/>
            </a:ln>
          </p:spPr>
        </p:sp>
        <p:sp>
          <p:nvSpPr>
            <p:cNvPr id="57" name="TextBox 57"/>
            <p:cNvSpPr txBox="1"/>
            <p:nvPr/>
          </p:nvSpPr>
          <p:spPr>
            <a:xfrm>
              <a:off x="9221062" y="2415064"/>
              <a:ext cx="434520" cy="161925"/>
            </a:xfrm>
            <a:prstGeom prst="rect">
              <a:avLst/>
            </a:prstGeom>
            <a:noFill/>
            <a:ln>
              <a:noFill/>
            </a:ln>
          </p:spPr>
          <p:txBody>
            <a:bodyPr wrap="none" lIns="0" tIns="0" rIns="0" bIns="0" anchor="t" anchorCtr="0">
              <a:spAutoFit/>
            </a:bodyPr>
            <a:lstStyle/>
            <a:p>
              <a:pPr algn="ctr"/>
              <a:r>
                <a:rPr lang="en-US" sz="820" dirty="0">
                  <a:solidFill>
                    <a:srgbClr val="0E7C86"/>
                  </a:solidFill>
                  <a:latin typeface="+mn-lt"/>
                  <a:ea typeface="+mn-ea"/>
                  <a:cs typeface="+mn-cs"/>
                </a:rPr>
                <a:t>x₁(3,3)</a:t>
              </a:r>
            </a:p>
          </p:txBody>
        </p:sp>
        <p:sp>
          <p:nvSpPr>
            <p:cNvPr id="58" name="TextBox 58"/>
            <p:cNvSpPr txBox="1"/>
            <p:nvPr/>
          </p:nvSpPr>
          <p:spPr>
            <a:xfrm>
              <a:off x="10389780" y="2415064"/>
              <a:ext cx="434520" cy="161925"/>
            </a:xfrm>
            <a:prstGeom prst="rect">
              <a:avLst/>
            </a:prstGeom>
            <a:noFill/>
            <a:ln>
              <a:noFill/>
            </a:ln>
          </p:spPr>
          <p:txBody>
            <a:bodyPr wrap="none" lIns="0" tIns="0" rIns="0" bIns="0" anchor="t" anchorCtr="0">
              <a:spAutoFit/>
            </a:bodyPr>
            <a:lstStyle/>
            <a:p>
              <a:pPr algn="ctr"/>
              <a:r>
                <a:rPr lang="en-US" sz="820" dirty="0">
                  <a:solidFill>
                    <a:srgbClr val="0E7C86"/>
                  </a:solidFill>
                  <a:latin typeface="+mn-lt"/>
                  <a:ea typeface="+mn-ea"/>
                  <a:cs typeface="+mn-cs"/>
                </a:rPr>
                <a:t>x₂(4,3)</a:t>
              </a:r>
            </a:p>
          </p:txBody>
        </p:sp>
        <p:sp>
          <p:nvSpPr>
            <p:cNvPr id="59" name="TextBox 59"/>
            <p:cNvSpPr txBox="1"/>
            <p:nvPr/>
          </p:nvSpPr>
          <p:spPr>
            <a:xfrm>
              <a:off x="6766470" y="3661886"/>
              <a:ext cx="434520" cy="161925"/>
            </a:xfrm>
            <a:prstGeom prst="rect">
              <a:avLst/>
            </a:prstGeom>
            <a:noFill/>
            <a:ln>
              <a:noFill/>
            </a:ln>
          </p:spPr>
          <p:txBody>
            <a:bodyPr wrap="none" lIns="0" tIns="0" rIns="0" bIns="0" anchor="t" anchorCtr="0">
              <a:spAutoFit/>
            </a:bodyPr>
            <a:lstStyle/>
            <a:p>
              <a:pPr algn="ctr"/>
              <a:r>
                <a:rPr lang="en-US" sz="820" dirty="0">
                  <a:solidFill>
                    <a:srgbClr val="B42318"/>
                  </a:solidFill>
                  <a:latin typeface="+mn-lt"/>
                  <a:ea typeface="+mn-ea"/>
                  <a:cs typeface="+mn-cs"/>
                </a:rPr>
                <a:t>x₃(1,1)</a:t>
              </a:r>
            </a:p>
          </p:txBody>
        </p:sp>
        <p:sp>
          <p:nvSpPr>
            <p:cNvPr id="60" name="TextBox 60"/>
            <p:cNvSpPr txBox="1"/>
            <p:nvPr/>
          </p:nvSpPr>
          <p:spPr>
            <a:xfrm>
              <a:off x="8848725" y="2894171"/>
              <a:ext cx="191666" cy="161925"/>
            </a:xfrm>
            <a:prstGeom prst="rect">
              <a:avLst/>
            </a:prstGeom>
            <a:noFill/>
            <a:ln>
              <a:noFill/>
            </a:ln>
          </p:spPr>
          <p:txBody>
            <a:bodyPr wrap="none" lIns="0" tIns="0" rIns="0" bIns="0" anchor="t" anchorCtr="0">
              <a:spAutoFit/>
            </a:bodyPr>
            <a:lstStyle/>
            <a:p>
              <a:pPr algn="l"/>
              <a:r>
                <a:rPr lang="zh-CN" sz="820" dirty="0">
                  <a:solidFill>
                    <a:srgbClr val="B42318"/>
                  </a:solidFill>
                  <a:latin typeface="+mn-lt"/>
                  <a:ea typeface="+mn-ea"/>
                  <a:cs typeface="+mn-cs"/>
                </a:rPr>
                <a:t>2√2</a:t>
              </a:r>
            </a:p>
          </p:txBody>
        </p:sp>
        <p:sp>
          <p:nvSpPr>
            <p:cNvPr id="61" name="TextBox 61"/>
            <p:cNvSpPr txBox="1"/>
            <p:nvPr/>
          </p:nvSpPr>
          <p:spPr>
            <a:xfrm>
              <a:off x="11060463" y="4117181"/>
              <a:ext cx="252379" cy="161925"/>
            </a:xfrm>
            <a:prstGeom prst="rect">
              <a:avLst/>
            </a:prstGeom>
            <a:noFill/>
            <a:ln>
              <a:noFill/>
            </a:ln>
          </p:spPr>
          <p:txBody>
            <a:bodyPr wrap="none" lIns="0" tIns="0" rIns="0" bIns="0" anchor="t" anchorCtr="0">
              <a:spAutoFit/>
            </a:bodyPr>
            <a:lstStyle/>
            <a:p>
              <a:pPr algn="r"/>
              <a:r>
                <a:rPr lang="en-US" sz="820" dirty="0">
                  <a:solidFill>
                    <a:srgbClr val="5B6475"/>
                  </a:solidFill>
                  <a:latin typeface="+mn-lt"/>
                  <a:ea typeface="+mn-ea"/>
                  <a:cs typeface="+mn-cs"/>
                </a:rPr>
                <a:t>x⁽¹⁾</a:t>
              </a:r>
            </a:p>
          </p:txBody>
        </p:sp>
        <p:sp>
          <p:nvSpPr>
            <p:cNvPr id="62" name="TextBox 62"/>
            <p:cNvSpPr txBox="1"/>
            <p:nvPr/>
          </p:nvSpPr>
          <p:spPr>
            <a:xfrm>
              <a:off x="6331760" y="1959769"/>
              <a:ext cx="25237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x⁽²⁾</a:t>
              </a:r>
            </a:p>
          </p:txBody>
        </p:sp>
      </p:grpSp>
      <p:grpSp>
        <p:nvGrpSpPr>
          <p:cNvPr id="73" name="c2-card-2"/>
          <p:cNvGrpSpPr/>
          <p:nvPr/>
        </p:nvGrpSpPr>
        <p:grpSpPr>
          <a:xfrm>
            <a:off x="5815965" y="4495800"/>
            <a:ext cx="5842635" cy="1806892"/>
            <a:chOff x="5815965" y="4495800"/>
            <a:chExt cx="5842635" cy="1806892"/>
          </a:xfrm>
        </p:grpSpPr>
        <p:sp>
          <p:nvSpPr>
            <p:cNvPr id="64" name="Rectangle 64"/>
            <p:cNvSpPr/>
            <p:nvPr/>
          </p:nvSpPr>
          <p:spPr>
            <a:xfrm>
              <a:off x="5815965" y="4495800"/>
              <a:ext cx="5842635" cy="1806892"/>
            </a:xfrm>
            <a:prstGeom prst="roundRect">
              <a:avLst>
                <a:gd name="adj" fmla="val 7380"/>
              </a:avLst>
            </a:prstGeom>
            <a:solidFill>
              <a:srgbClr val="FFFFFF"/>
            </a:solidFill>
            <a:ln w="14288">
              <a:solidFill>
                <a:srgbClr val="D9DFEA"/>
              </a:solidFill>
            </a:ln>
          </p:spPr>
        </p:sp>
        <p:sp>
          <p:nvSpPr>
            <p:cNvPr id="65" name="Rectangle 65"/>
            <p:cNvSpPr/>
            <p:nvPr/>
          </p:nvSpPr>
          <p:spPr>
            <a:xfrm>
              <a:off x="5825490" y="4629150"/>
              <a:ext cx="47625" cy="1540192"/>
            </a:xfrm>
            <a:prstGeom prst="roundRect">
              <a:avLst>
                <a:gd name="adj" fmla="val 50000"/>
              </a:avLst>
            </a:prstGeom>
            <a:solidFill>
              <a:srgbClr val="14A38B"/>
            </a:solidFill>
            <a:ln>
              <a:noFill/>
            </a:ln>
          </p:spPr>
        </p:sp>
        <p:sp>
          <p:nvSpPr>
            <p:cNvPr id="66" name="Rectangle 66"/>
            <p:cNvSpPr/>
            <p:nvPr/>
          </p:nvSpPr>
          <p:spPr>
            <a:xfrm>
              <a:off x="6040755" y="4682490"/>
              <a:ext cx="458152" cy="238125"/>
            </a:xfrm>
            <a:prstGeom prst="roundRect">
              <a:avLst>
                <a:gd name="adj" fmla="val 50000"/>
              </a:avLst>
            </a:prstGeom>
            <a:solidFill>
              <a:srgbClr val="E3F5F1"/>
            </a:solidFill>
            <a:ln>
              <a:noFill/>
            </a:ln>
          </p:spPr>
        </p:sp>
        <p:sp>
          <p:nvSpPr>
            <p:cNvPr id="67" name="TextBox 67"/>
            <p:cNvSpPr txBox="1"/>
            <p:nvPr/>
          </p:nvSpPr>
          <p:spPr>
            <a:xfrm>
              <a:off x="6132474" y="4715351"/>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复核</a:t>
              </a:r>
            </a:p>
          </p:txBody>
        </p:sp>
        <p:sp>
          <p:nvSpPr>
            <p:cNvPr id="68" name="TextBox 68"/>
            <p:cNvSpPr txBox="1"/>
            <p:nvPr/>
          </p:nvSpPr>
          <p:spPr>
            <a:xfrm>
              <a:off x="6606349" y="4717732"/>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三个约束都要验</a:t>
              </a:r>
            </a:p>
          </p:txBody>
        </p:sp>
        <p:sp>
          <p:nvSpPr>
            <p:cNvPr id="69" name="TextBox 69"/>
            <p:cNvSpPr txBox="1"/>
            <p:nvPr/>
          </p:nvSpPr>
          <p:spPr>
            <a:xfrm>
              <a:off x="6033897" y="5043488"/>
              <a:ext cx="4507618"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 xml:space="preserve">y₁(w·x₁+b) = 1·(1.5+1.5−2) = </a:t>
              </a:r>
              <a:r>
                <a:rPr lang="zh-CN" sz="1350" b="1" dirty="0">
                  <a:solidFill>
                    <a:srgbClr val="C2410C"/>
                  </a:solidFill>
                  <a:latin typeface="+mn-lt"/>
                  <a:ea typeface="+mn-ea"/>
                  <a:cs typeface="+mn-cs"/>
                </a:rPr>
                <a:t>1</a:t>
              </a:r>
              <a:r>
                <a:rPr lang="zh-CN" sz="1350" dirty="0">
                  <a:solidFill>
                    <a:srgbClr val="1F2937"/>
                  </a:solidFill>
                  <a:latin typeface="+mn-lt"/>
                  <a:ea typeface="+mn-ea"/>
                  <a:cs typeface="+mn-cs"/>
                </a:rPr>
                <a:t>（取等，支持向量）</a:t>
              </a:r>
            </a:p>
          </p:txBody>
        </p:sp>
        <p:sp>
          <p:nvSpPr>
            <p:cNvPr id="70" name="TextBox 70"/>
            <p:cNvSpPr txBox="1"/>
            <p:nvPr/>
          </p:nvSpPr>
          <p:spPr>
            <a:xfrm>
              <a:off x="6033897" y="5343525"/>
              <a:ext cx="462983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y₂(w·x₂+b) = 1·(2+1.5−2) = 1.5 &gt; 1（不是支持向量）</a:t>
              </a:r>
            </a:p>
          </p:txBody>
        </p:sp>
        <p:sp>
          <p:nvSpPr>
            <p:cNvPr id="71" name="TextBox 71"/>
            <p:cNvSpPr txBox="1"/>
            <p:nvPr/>
          </p:nvSpPr>
          <p:spPr>
            <a:xfrm>
              <a:off x="6033897" y="5643562"/>
              <a:ext cx="4807484"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 xml:space="preserve">y₃(w·x₃+b) = (−1)·(0.5+0.5−2) = </a:t>
              </a:r>
              <a:r>
                <a:rPr lang="zh-CN" sz="1350" b="1" dirty="0">
                  <a:solidFill>
                    <a:srgbClr val="C2410C"/>
                  </a:solidFill>
                  <a:latin typeface="+mn-lt"/>
                  <a:ea typeface="+mn-ea"/>
                  <a:cs typeface="+mn-cs"/>
                </a:rPr>
                <a:t>1</a:t>
              </a:r>
              <a:r>
                <a:rPr lang="zh-CN" sz="1350" dirty="0">
                  <a:solidFill>
                    <a:srgbClr val="1F2937"/>
                  </a:solidFill>
                  <a:latin typeface="+mn-lt"/>
                  <a:ea typeface="+mn-ea"/>
                  <a:cs typeface="+mn-cs"/>
                </a:rPr>
                <a:t>（取等，支持向量）</a:t>
              </a:r>
            </a:p>
          </p:txBody>
        </p:sp>
        <p:sp>
          <p:nvSpPr>
            <p:cNvPr id="72" name="TextBox 72"/>
            <p:cNvSpPr txBox="1"/>
            <p:nvPr/>
          </p:nvSpPr>
          <p:spPr>
            <a:xfrm>
              <a:off x="6035040" y="5940266"/>
              <a:ext cx="2634905"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x₂ 离得远，把它删掉重算，答案不变。</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8" name="section-title"/>
          <p:cNvGrpSpPr/>
          <p:nvPr/>
        </p:nvGrpSpPr>
        <p:grpSpPr>
          <a:xfrm>
            <a:off x="667512" y="1835468"/>
            <a:ext cx="5367528" cy="3351847"/>
            <a:chOff x="667512" y="1835468"/>
            <a:chExt cx="536752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536752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拉格朗日函数与对偶问题</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82617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把带约束的问题换成只含乘子 α 的问题</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等式约束与不等式约束的乘子法</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184480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KKT 条件的四组式子</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305428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先对 w、b 求极小，再对 α 求极大</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对偶问题里只剩下样本之间的内积</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979065" cy="909257"/>
            <a:chOff x="520446" y="342900"/>
            <a:chExt cx="6979065"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697906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等式约束：在约束曲线上，∇f 必须与 ∇g 平行</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410200" cy="2722245"/>
            <a:chOff x="533400" y="1524000"/>
            <a:chExt cx="5410200" cy="2722245"/>
          </a:xfrm>
        </p:grpSpPr>
        <p:sp>
          <p:nvSpPr>
            <p:cNvPr id="7" name="Rectangle 7"/>
            <p:cNvSpPr/>
            <p:nvPr/>
          </p:nvSpPr>
          <p:spPr>
            <a:xfrm>
              <a:off x="533400" y="1524000"/>
              <a:ext cx="5410200" cy="2722245"/>
            </a:xfrm>
            <a:prstGeom prst="roundRect">
              <a:avLst>
                <a:gd name="adj" fmla="val 4899"/>
              </a:avLst>
            </a:prstGeom>
            <a:solidFill>
              <a:srgbClr val="FFFFFF"/>
            </a:solidFill>
            <a:ln w="14288">
              <a:solidFill>
                <a:srgbClr val="D9DFEA"/>
              </a:solidFill>
            </a:ln>
          </p:spPr>
        </p:sp>
        <p:sp>
          <p:nvSpPr>
            <p:cNvPr id="8" name="Rectangle 8"/>
            <p:cNvSpPr/>
            <p:nvPr/>
          </p:nvSpPr>
          <p:spPr>
            <a:xfrm>
              <a:off x="542925" y="1657350"/>
              <a:ext cx="47625" cy="2455545"/>
            </a:xfrm>
            <a:prstGeom prst="roundRect">
              <a:avLst>
                <a:gd name="adj" fmla="val 50000"/>
              </a:avLst>
            </a:prstGeom>
            <a:solidFill>
              <a:srgbClr val="0E7C86"/>
            </a:solidFill>
            <a:ln>
              <a:noFill/>
            </a:ln>
          </p:spPr>
        </p:sp>
        <p:sp>
          <p:nvSpPr>
            <p:cNvPr id="9" name="Rectangle 9"/>
            <p:cNvSpPr/>
            <p:nvPr/>
          </p:nvSpPr>
          <p:spPr>
            <a:xfrm>
              <a:off x="781050" y="1733550"/>
              <a:ext cx="494348" cy="257175"/>
            </a:xfrm>
            <a:prstGeom prst="roundRect">
              <a:avLst>
                <a:gd name="adj" fmla="val 50000"/>
              </a:avLst>
            </a:prstGeom>
            <a:solidFill>
              <a:srgbClr val="E2F3F4"/>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方法</a:t>
              </a:r>
            </a:p>
          </p:txBody>
        </p:sp>
        <p:sp>
          <p:nvSpPr>
            <p:cNvPr id="11" name="TextBox 11"/>
            <p:cNvSpPr txBox="1"/>
            <p:nvPr/>
          </p:nvSpPr>
          <p:spPr>
            <a:xfrm>
              <a:off x="1382078" y="1768792"/>
              <a:ext cx="142875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拉格朗日乘子法</a:t>
              </a:r>
            </a:p>
          </p:txBody>
        </p:sp>
        <p:sp>
          <p:nvSpPr>
            <p:cNvPr id="12" name="TextBox 12"/>
            <p:cNvSpPr txBox="1"/>
            <p:nvPr/>
          </p:nvSpPr>
          <p:spPr>
            <a:xfrm>
              <a:off x="773430" y="2129790"/>
              <a:ext cx="44348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求 min f(x) s.t. g(x) = 0，构造 L(x, λ) = f(x) +</a:t>
              </a:r>
              <a:br/>
              <a:r>
                <a:rPr lang="zh-CN" sz="1500" dirty="0">
                  <a:solidFill>
                    <a:srgbClr val="1F2937"/>
                  </a:solidFill>
                  <a:latin typeface="+mn-lt"/>
                  <a:ea typeface="+mn-ea"/>
                  <a:cs typeface="+mn-cs"/>
                </a:rPr>
                <a:t>λg(x)，再把 L 对 x 和对 λ 的偏导都置零：</a:t>
              </a:r>
            </a:p>
          </p:txBody>
        </p:sp>
        <mc:AlternateContent xmlns:mc="http://schemas.openxmlformats.org/markup-compatibility/2006">
          <mc:Choice xmlns:a14="http://schemas.microsoft.com/office/drawing/2010/main" Requires="a14">
            <p:sp>
              <p:nvSpPr>
                <p:cNvPr id="13" name="formula71"/>
                <p:cNvSpPr txBox="1">
                  <a:spLocks noGrp="1"/>
                </p:cNvSpPr>
                <p:nvPr/>
              </p:nvSpPr>
              <p:spPr>
                <a:xfrm>
                  <a:off x="781050" y="2726055"/>
                  <a:ext cx="4953000" cy="76009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d>
                          <m:dPr>
                            <m:begChr m:val="{"/>
                            <m:sepChr m:val=""/>
                            <m:endChr m:val=""/>
                            <m:grow m:val="on"/>
                            <m:ctrlPr>
                              <a:rPr lang="zh-CN" sz="1580" dirty="0">
                                <a:solidFill>
                                  <a:srgbClr val="1F2937"/>
                                </a:solidFill>
                                <a:latin typeface="Cambria Math"/>
                                <a:ea typeface="Cambria Math"/>
                                <a:cs typeface="Cambria Math"/>
                              </a:rPr>
                            </m:ctrlPr>
                          </m:dPr>
                          <m:e>
                            <m:eqArr>
                              <m:eqArrPr>
                                <m:baseJc m:val="center"/>
                              </m:eqArrPr>
                              <m:e>
                                <m:r>
                                  <a:rPr lang="zh-CN" sz="1580" dirty="0">
                                    <a:solidFill>
                                      <a:srgbClr val="1F2937"/>
                                    </a:solidFill>
                                    <a:latin typeface="Cambria Math"/>
                                    <a:ea typeface="Cambria Math"/>
                                    <a:cs typeface="Cambria Math"/>
                                  </a:rPr>
                                  <m:t>&amp;</m:t>
                                </m:r>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f</m:t>
                                </m:r>
                                <m:d>
                                  <m:dPr>
                                    <m:begChr m:val="("/>
                                    <m:sepChr m:val=""/>
                                    <m:endChr m:val=")"/>
                                    <m:grow m:val="on"/>
                                    <m:ctrlPr>
                                      <a:rPr lang="zh-CN" sz="1580" dirty="0">
                                        <a:solidFill>
                                          <a:srgbClr val="1F2937"/>
                                        </a:solidFill>
                                        <a:latin typeface="Cambria Math"/>
                                        <a:ea typeface="Cambria Math"/>
                                        <a:cs typeface="Cambria Math"/>
                                      </a:rPr>
                                    </m:ctrlPr>
                                  </m:dPr>
                                  <m:e>
                                    <m:r>
                                      <a:rPr lang="zh-CN" sz="1580" dirty="0">
                                        <a:solidFill>
                                          <a:srgbClr val="1F2937"/>
                                        </a:solidFill>
                                        <a:latin typeface="Cambria Math"/>
                                        <a:ea typeface="Cambria Math"/>
                                        <a:cs typeface="Cambria Math"/>
                                      </a:rPr>
                                      <m:t>x</m:t>
                                    </m:r>
                                  </m:e>
                                </m:d>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λ</m:t>
                                </m:r>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g</m:t>
                                </m:r>
                                <m:d>
                                  <m:dPr>
                                    <m:begChr m:val="("/>
                                    <m:sepChr m:val=""/>
                                    <m:endChr m:val=")"/>
                                    <m:grow m:val="on"/>
                                    <m:ctrlPr>
                                      <a:rPr lang="zh-CN" sz="1580" dirty="0">
                                        <a:solidFill>
                                          <a:srgbClr val="1F2937"/>
                                        </a:solidFill>
                                        <a:latin typeface="Cambria Math"/>
                                        <a:ea typeface="Cambria Math"/>
                                        <a:cs typeface="Cambria Math"/>
                                      </a:rPr>
                                    </m:ctrlPr>
                                  </m:dPr>
                                  <m:e>
                                    <m:r>
                                      <a:rPr lang="zh-CN" sz="1580" dirty="0">
                                        <a:solidFill>
                                          <a:srgbClr val="1F2937"/>
                                        </a:solidFill>
                                        <a:latin typeface="Cambria Math"/>
                                        <a:ea typeface="Cambria Math"/>
                                        <a:cs typeface="Cambria Math"/>
                                      </a:rPr>
                                      <m:t>x</m:t>
                                    </m:r>
                                  </m:e>
                                </m:d>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0</m:t>
                                </m:r>
                              </m:e>
                              <m:e>
                                <m:r>
                                  <a:rPr lang="zh-CN" sz="1580" dirty="0">
                                    <a:solidFill>
                                      <a:srgbClr val="1F2937"/>
                                    </a:solidFill>
                                    <a:latin typeface="Cambria Math"/>
                                    <a:ea typeface="Cambria Math"/>
                                    <a:cs typeface="Cambria Math"/>
                                  </a:rPr>
                                  <m:t>&amp;</m:t>
                                </m:r>
                                <m:r>
                                  <a:rPr lang="zh-CN" sz="1580" dirty="0">
                                    <a:solidFill>
                                      <a:srgbClr val="1F2937"/>
                                    </a:solidFill>
                                    <a:latin typeface="Cambria Math"/>
                                    <a:ea typeface="Cambria Math"/>
                                    <a:cs typeface="Cambria Math"/>
                                  </a:rPr>
                                  <m:t>g</m:t>
                                </m:r>
                                <m:d>
                                  <m:dPr>
                                    <m:begChr m:val="("/>
                                    <m:sepChr m:val=""/>
                                    <m:endChr m:val=")"/>
                                    <m:grow m:val="on"/>
                                    <m:ctrlPr>
                                      <a:rPr lang="zh-CN" sz="1580" dirty="0">
                                        <a:solidFill>
                                          <a:srgbClr val="1F2937"/>
                                        </a:solidFill>
                                        <a:latin typeface="Cambria Math"/>
                                        <a:ea typeface="Cambria Math"/>
                                        <a:cs typeface="Cambria Math"/>
                                      </a:rPr>
                                    </m:ctrlPr>
                                  </m:dPr>
                                  <m:e>
                                    <m:r>
                                      <a:rPr lang="zh-CN" sz="1580" dirty="0">
                                        <a:solidFill>
                                          <a:srgbClr val="1F2937"/>
                                        </a:solidFill>
                                        <a:latin typeface="Cambria Math"/>
                                        <a:ea typeface="Cambria Math"/>
                                        <a:cs typeface="Cambria Math"/>
                                      </a:rPr>
                                      <m:t>x</m:t>
                                    </m:r>
                                  </m:e>
                                </m:d>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0</m:t>
                                </m:r>
                              </m:e>
                            </m:eqArr>
                          </m:e>
                        </m:d>
                      </m:oMath>
                    </m:oMathPara>
                  </a14:m>
                </a:p>
              </p:txBody>
            </p:sp>
          </mc:Choice>
        </mc:AlternateContent>
        <p:sp>
          <p:nvSpPr>
            <p:cNvPr id="14" name="TextBox 14"/>
            <p:cNvSpPr txBox="1"/>
            <p:nvPr/>
          </p:nvSpPr>
          <p:spPr>
            <a:xfrm>
              <a:off x="774573" y="3602831"/>
              <a:ext cx="472719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几何解释：最优点处目标函数的等值线与约束曲线</a:t>
              </a:r>
              <a:r>
                <a:rPr lang="zh-CN" sz="1280" b="1" dirty="0">
                  <a:solidFill>
                    <a:srgbClr val="C2410C"/>
                  </a:solidFill>
                  <a:latin typeface="+mn-lt"/>
                  <a:ea typeface="+mn-ea"/>
                  <a:cs typeface="+mn-cs"/>
                </a:rPr>
                <a:t>相切</a:t>
              </a:r>
              <a:r>
                <a:rPr lang="zh-CN" sz="1280" dirty="0">
                  <a:solidFill>
                    <a:srgbClr val="5B6475"/>
                  </a:solidFill>
                  <a:latin typeface="+mn-lt"/>
                  <a:ea typeface="+mn-ea"/>
                  <a:cs typeface="+mn-cs"/>
                </a:rPr>
                <a:t>，两条曲线</a:t>
              </a:r>
              <a:br/>
              <a:r>
                <a:rPr lang="zh-CN" sz="1280" dirty="0">
                  <a:solidFill>
                    <a:srgbClr val="5B6475"/>
                  </a:solidFill>
                  <a:latin typeface="+mn-lt"/>
                  <a:ea typeface="+mn-ea"/>
                  <a:cs typeface="+mn-cs"/>
                </a:rPr>
                <a:t>在该点的梯度共线，所以差一个系数 λ。</a:t>
              </a:r>
            </a:p>
          </p:txBody>
        </p:sp>
      </p:grpSp>
      <p:grpSp>
        <p:nvGrpSpPr>
          <p:cNvPr id="22" name="c1-callout-2"/>
          <p:cNvGrpSpPr/>
          <p:nvPr/>
        </p:nvGrpSpPr>
        <p:grpSpPr>
          <a:xfrm>
            <a:off x="533400" y="4436745"/>
            <a:ext cx="5410200" cy="916305"/>
            <a:chOff x="533400" y="4436745"/>
            <a:chExt cx="5410200" cy="916305"/>
          </a:xfrm>
        </p:grpSpPr>
        <p:sp>
          <p:nvSpPr>
            <p:cNvPr id="16" name="Rectangle 16"/>
            <p:cNvSpPr/>
            <p:nvPr/>
          </p:nvSpPr>
          <p:spPr>
            <a:xfrm>
              <a:off x="533400" y="4436745"/>
              <a:ext cx="5410200" cy="916305"/>
            </a:xfrm>
            <a:prstGeom prst="roundRect">
              <a:avLst>
                <a:gd name="adj" fmla="val 12474"/>
              </a:avLst>
            </a:prstGeom>
            <a:solidFill>
              <a:srgbClr val="FDEEE7"/>
            </a:solidFill>
            <a:ln>
              <a:noFill/>
            </a:ln>
          </p:spPr>
        </p:sp>
        <p:grpSp>
          <p:nvGrpSpPr>
            <p:cNvPr id="20" name="Group 20"/>
            <p:cNvGrpSpPr/>
            <p:nvPr/>
          </p:nvGrpSpPr>
          <p:grpSpPr>
            <a:xfrm>
              <a:off x="738188" y="4794885"/>
              <a:ext cx="200026" cy="200025"/>
              <a:chOff x="738188" y="4794885"/>
              <a:chExt cx="200026" cy="200025"/>
            </a:xfrm>
          </p:grpSpPr>
          <p:sp>
            <p:nvSpPr>
              <p:cNvPr id="17" name="Freeform 17"/>
              <p:cNvSpPr/>
              <p:nvPr/>
            </p:nvSpPr>
            <p:spPr>
              <a:xfrm>
                <a:off x="738188" y="479488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18" name="Freeform 18"/>
              <p:cNvSpPr/>
              <p:nvPr/>
            </p:nvSpPr>
            <p:spPr>
              <a:xfrm>
                <a:off x="777926" y="483933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9" name="Freeform 19"/>
              <p:cNvSpPr/>
              <p:nvPr/>
            </p:nvSpPr>
            <p:spPr>
              <a:xfrm>
                <a:off x="812642" y="495046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1" name="TextBox 21"/>
            <p:cNvSpPr txBox="1"/>
            <p:nvPr/>
          </p:nvSpPr>
          <p:spPr>
            <a:xfrm>
              <a:off x="1040130" y="4652010"/>
              <a:ext cx="43300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对 λ 求偏导置零，得到的恰好就是原来的约束 g(x)</a:t>
              </a:r>
              <a:br/>
              <a:r>
                <a:rPr lang="zh-CN" sz="1500" dirty="0">
                  <a:solidFill>
                    <a:srgbClr val="C2410C"/>
                  </a:solidFill>
                  <a:latin typeface="+mn-lt"/>
                  <a:ea typeface="+mn-ea"/>
                  <a:cs typeface="+mn-cs"/>
                </a:rPr>
                <a:t>= 0，所以这两组式子合起来就是全部条件。</a:t>
              </a:r>
            </a:p>
          </p:txBody>
        </p:sp>
      </p:grpSp>
      <p:grpSp>
        <p:nvGrpSpPr>
          <p:cNvPr id="41" name="c2-card-1"/>
          <p:cNvGrpSpPr/>
          <p:nvPr/>
        </p:nvGrpSpPr>
        <p:grpSpPr>
          <a:xfrm>
            <a:off x="6248400" y="1524000"/>
            <a:ext cx="5410200" cy="3829050"/>
            <a:chOff x="6248400" y="1524000"/>
            <a:chExt cx="5410200" cy="3829050"/>
          </a:xfrm>
        </p:grpSpPr>
        <p:sp>
          <p:nvSpPr>
            <p:cNvPr id="23" name="Rectangle 23"/>
            <p:cNvSpPr/>
            <p:nvPr/>
          </p:nvSpPr>
          <p:spPr>
            <a:xfrm>
              <a:off x="6248400" y="1524000"/>
              <a:ext cx="5410200" cy="3829050"/>
            </a:xfrm>
            <a:prstGeom prst="roundRect">
              <a:avLst>
                <a:gd name="adj" fmla="val 3483"/>
              </a:avLst>
            </a:prstGeom>
            <a:solidFill>
              <a:srgbClr val="FFFFFF"/>
            </a:solidFill>
            <a:ln w="14288">
              <a:solidFill>
                <a:srgbClr val="D9DFEA"/>
              </a:solidFill>
            </a:ln>
          </p:spPr>
        </p:sp>
        <p:sp>
          <p:nvSpPr>
            <p:cNvPr id="24" name="Rectangle 24"/>
            <p:cNvSpPr/>
            <p:nvPr/>
          </p:nvSpPr>
          <p:spPr>
            <a:xfrm>
              <a:off x="6257925" y="1657350"/>
              <a:ext cx="47625" cy="3562350"/>
            </a:xfrm>
            <a:prstGeom prst="roundRect">
              <a:avLst>
                <a:gd name="adj" fmla="val 50000"/>
              </a:avLst>
            </a:prstGeom>
            <a:solidFill>
              <a:srgbClr val="14A38B"/>
            </a:solidFill>
            <a:ln>
              <a:noFill/>
            </a:ln>
          </p:spPr>
        </p:sp>
        <p:sp>
          <p:nvSpPr>
            <p:cNvPr id="25" name="Rectangle 25"/>
            <p:cNvSpPr/>
            <p:nvPr/>
          </p:nvSpPr>
          <p:spPr>
            <a:xfrm>
              <a:off x="6496050" y="1733550"/>
              <a:ext cx="494348" cy="257175"/>
            </a:xfrm>
            <a:prstGeom prst="roundRect">
              <a:avLst>
                <a:gd name="adj" fmla="val 50000"/>
              </a:avLst>
            </a:prstGeom>
            <a:solidFill>
              <a:srgbClr val="E3F5F1"/>
            </a:solidFill>
            <a:ln>
              <a:noFill/>
            </a:ln>
          </p:spPr>
        </p:sp>
        <p:sp>
          <p:nvSpPr>
            <p:cNvPr id="26" name="TextBox 26"/>
            <p:cNvSpPr txBox="1"/>
            <p:nvPr/>
          </p:nvSpPr>
          <p:spPr>
            <a:xfrm>
              <a:off x="6586258" y="176926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例题</a:t>
              </a:r>
            </a:p>
          </p:txBody>
        </p:sp>
        <p:sp>
          <p:nvSpPr>
            <p:cNvPr id="27" name="TextBox 27"/>
            <p:cNvSpPr txBox="1"/>
            <p:nvPr/>
          </p:nvSpPr>
          <p:spPr>
            <a:xfrm>
              <a:off x="7097078" y="1768792"/>
              <a:ext cx="3334969"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min x₁² + x₂²，约束 x₁²x₂ − 3 = 0</a:t>
              </a:r>
            </a:p>
          </p:txBody>
        </p:sp>
        <p:sp>
          <p:nvSpPr>
            <p:cNvPr id="28" name="TextBox 28"/>
            <p:cNvSpPr txBox="1"/>
            <p:nvPr/>
          </p:nvSpPr>
          <p:spPr>
            <a:xfrm>
              <a:off x="6488430" y="2129790"/>
              <a:ext cx="395820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L = x₁² + x₂² + λ(x₁²x₂ − 3)，三个方程：</a:t>
              </a:r>
            </a:p>
          </p:txBody>
        </p:sp>
        <p:sp>
          <p:nvSpPr>
            <p:cNvPr id="29" name="Ellipse 29"/>
            <p:cNvSpPr/>
            <p:nvPr/>
          </p:nvSpPr>
          <p:spPr>
            <a:xfrm>
              <a:off x="6496050" y="2451735"/>
              <a:ext cx="213360" cy="213360"/>
            </a:xfrm>
            <a:prstGeom prst="ellipse">
              <a:avLst/>
            </a:prstGeom>
            <a:solidFill>
              <a:srgbClr val="0E7C86"/>
            </a:solidFill>
            <a:ln>
              <a:noFill/>
            </a:ln>
          </p:spPr>
        </p:sp>
        <p:sp>
          <p:nvSpPr>
            <p:cNvPr id="30" name="TextBox 30"/>
            <p:cNvSpPr txBox="1"/>
            <p:nvPr/>
          </p:nvSpPr>
          <p:spPr>
            <a:xfrm>
              <a:off x="6557899" y="249402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31" name="TextBox 31"/>
            <p:cNvSpPr txBox="1"/>
            <p:nvPr/>
          </p:nvSpPr>
          <p:spPr>
            <a:xfrm>
              <a:off x="6797040" y="2465070"/>
              <a:ext cx="4211320" cy="293370"/>
            </a:xfrm>
            <a:prstGeom prst="rect">
              <a:avLst/>
            </a:prstGeom>
            <a:noFill/>
            <a:ln>
              <a:noFill/>
            </a:ln>
          </p:spPr>
          <p:txBody>
            <a:bodyPr wrap="none" lIns="0" tIns="0" rIns="0" bIns="0" anchor="t" anchorCtr="0">
              <a:spAutoFit/>
            </a:bodyPr>
            <a:lstStyle/>
            <a:p>
              <a:pPr algn="l"/>
              <a:r>
                <a:rPr lang="el-GR" sz="1500" dirty="0">
                  <a:solidFill>
                    <a:srgbClr val="1F2937"/>
                  </a:solidFill>
                  <a:latin typeface="+mn-lt"/>
                  <a:ea typeface="+mn-ea"/>
                  <a:cs typeface="+mn-cs"/>
                </a:rPr>
                <a:t>∂L/∂x₁ = 2x₁ + 2λx₁x₂ = 0 ⟹ x₁(1 + λx₂) = 0</a:t>
              </a:r>
            </a:p>
          </p:txBody>
        </p:sp>
        <p:sp>
          <p:nvSpPr>
            <p:cNvPr id="32" name="Ellipse 32"/>
            <p:cNvSpPr/>
            <p:nvPr/>
          </p:nvSpPr>
          <p:spPr>
            <a:xfrm>
              <a:off x="6496050" y="2787015"/>
              <a:ext cx="213360" cy="213360"/>
            </a:xfrm>
            <a:prstGeom prst="ellipse">
              <a:avLst/>
            </a:prstGeom>
            <a:solidFill>
              <a:srgbClr val="0E7C86"/>
            </a:solidFill>
            <a:ln>
              <a:noFill/>
            </a:ln>
          </p:spPr>
        </p:sp>
        <p:sp>
          <p:nvSpPr>
            <p:cNvPr id="33" name="TextBox 33"/>
            <p:cNvSpPr txBox="1"/>
            <p:nvPr/>
          </p:nvSpPr>
          <p:spPr>
            <a:xfrm>
              <a:off x="6557899" y="282930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34" name="TextBox 34"/>
            <p:cNvSpPr txBox="1"/>
            <p:nvPr/>
          </p:nvSpPr>
          <p:spPr>
            <a:xfrm>
              <a:off x="6797040" y="2800350"/>
              <a:ext cx="2292248" cy="293370"/>
            </a:xfrm>
            <a:prstGeom prst="rect">
              <a:avLst/>
            </a:prstGeom>
            <a:noFill/>
            <a:ln>
              <a:noFill/>
            </a:ln>
          </p:spPr>
          <p:txBody>
            <a:bodyPr wrap="none" lIns="0" tIns="0" rIns="0" bIns="0" anchor="t" anchorCtr="0">
              <a:spAutoFit/>
            </a:bodyPr>
            <a:lstStyle/>
            <a:p>
              <a:pPr algn="l"/>
              <a:r>
                <a:rPr lang="el-GR" sz="1500" dirty="0">
                  <a:solidFill>
                    <a:srgbClr val="1F2937"/>
                  </a:solidFill>
                  <a:latin typeface="+mn-lt"/>
                  <a:ea typeface="+mn-ea"/>
                  <a:cs typeface="+mn-cs"/>
                </a:rPr>
                <a:t>∂L/∂x₂ = 2x₂ + λx₁² = 0</a:t>
              </a:r>
            </a:p>
          </p:txBody>
        </p:sp>
        <p:sp>
          <p:nvSpPr>
            <p:cNvPr id="35" name="Ellipse 35"/>
            <p:cNvSpPr/>
            <p:nvPr/>
          </p:nvSpPr>
          <p:spPr>
            <a:xfrm>
              <a:off x="6496050" y="3122295"/>
              <a:ext cx="213360" cy="213360"/>
            </a:xfrm>
            <a:prstGeom prst="ellipse">
              <a:avLst/>
            </a:prstGeom>
            <a:solidFill>
              <a:srgbClr val="0E7C86"/>
            </a:solidFill>
            <a:ln>
              <a:noFill/>
            </a:ln>
          </p:spPr>
        </p:sp>
        <p:sp>
          <p:nvSpPr>
            <p:cNvPr id="36" name="TextBox 36"/>
            <p:cNvSpPr txBox="1"/>
            <p:nvPr/>
          </p:nvSpPr>
          <p:spPr>
            <a:xfrm>
              <a:off x="6557899" y="316458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37" name="TextBox 37"/>
            <p:cNvSpPr txBox="1"/>
            <p:nvPr/>
          </p:nvSpPr>
          <p:spPr>
            <a:xfrm>
              <a:off x="6797040" y="3135630"/>
              <a:ext cx="913828" cy="293370"/>
            </a:xfrm>
            <a:prstGeom prst="rect">
              <a:avLst/>
            </a:prstGeom>
            <a:noFill/>
            <a:ln>
              <a:noFill/>
            </a:ln>
          </p:spPr>
          <p:txBody>
            <a:bodyPr wrap="none" lIns="0" tIns="0" rIns="0" bIns="0" anchor="t" anchorCtr="0">
              <a:spAutoFit/>
            </a:bodyPr>
            <a:lstStyle/>
            <a:p>
              <a:pPr algn="l"/>
              <a:r>
                <a:rPr lang="en-US" sz="1500" dirty="0">
                  <a:solidFill>
                    <a:srgbClr val="1F2937"/>
                  </a:solidFill>
                  <a:latin typeface="+mn-lt"/>
                  <a:ea typeface="+mn-ea"/>
                  <a:cs typeface="+mn-cs"/>
                </a:rPr>
                <a:t>x₁²x₂ = 3</a:t>
              </a:r>
            </a:p>
          </p:txBody>
        </p:sp>
        <p:sp>
          <p:nvSpPr>
            <p:cNvPr id="38" name="TextBox 38"/>
            <p:cNvSpPr txBox="1"/>
            <p:nvPr/>
          </p:nvSpPr>
          <p:spPr>
            <a:xfrm>
              <a:off x="6488430" y="3470910"/>
              <a:ext cx="40443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由约束知 x₁ ≠ 0，故 λx₂ = −1；代入式 2 得 λ =</a:t>
              </a:r>
              <a:br/>
              <a:r>
                <a:rPr lang="zh-CN" sz="1500" dirty="0">
                  <a:solidFill>
                    <a:srgbClr val="1F2937"/>
                  </a:solidFill>
                  <a:latin typeface="+mn-lt"/>
                  <a:ea typeface="+mn-ea"/>
                  <a:cs typeface="+mn-cs"/>
                </a:rPr>
                <a:t>−2x₂/x₁²，于是 2x₂² = x₁²。</a:t>
              </a:r>
            </a:p>
          </p:txBody>
        </p:sp>
        <p:sp>
          <p:nvSpPr>
            <p:cNvPr id="39" name="TextBox 39"/>
            <p:cNvSpPr txBox="1"/>
            <p:nvPr/>
          </p:nvSpPr>
          <p:spPr>
            <a:xfrm>
              <a:off x="6488430" y="4091940"/>
              <a:ext cx="44824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再代入式 3：2x₂³ = 3，x₂ = ∛1.5 ≈ 1.1447，x₁ = ±</a:t>
              </a:r>
              <a:br/>
              <a:r>
                <a:rPr lang="zh-CN" sz="1500" dirty="0">
                  <a:solidFill>
                    <a:srgbClr val="1F2937"/>
                  </a:solidFill>
                  <a:latin typeface="+mn-lt"/>
                  <a:ea typeface="+mn-ea"/>
                  <a:cs typeface="+mn-cs"/>
                </a:rPr>
                <a:t>√(2x₂²) ≈ ±1.6188，λ = −1/x₂ ≈ −0.8736。</a:t>
              </a:r>
            </a:p>
          </p:txBody>
        </p:sp>
        <p:sp>
          <p:nvSpPr>
            <p:cNvPr id="40" name="TextBox 40"/>
            <p:cNvSpPr txBox="1"/>
            <p:nvPr/>
          </p:nvSpPr>
          <p:spPr>
            <a:xfrm>
              <a:off x="6489573" y="4709636"/>
              <a:ext cx="423382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 xml:space="preserve">最小值 f = x₁² + x₂² ≈ 2.6207 + 1.3103 = </a:t>
              </a:r>
              <a:r>
                <a:rPr lang="zh-CN" sz="1280" b="1" dirty="0">
                  <a:solidFill>
                    <a:srgbClr val="C2410C"/>
                  </a:solidFill>
                  <a:latin typeface="+mn-lt"/>
                  <a:ea typeface="+mn-ea"/>
                  <a:cs typeface="+mn-cs"/>
                </a:rPr>
                <a:t>3.9311</a:t>
              </a:r>
              <a:r>
                <a:rPr lang="zh-CN" sz="1280" dirty="0">
                  <a:solidFill>
                    <a:srgbClr val="5B6475"/>
                  </a:solidFill>
                  <a:latin typeface="+mn-lt"/>
                  <a:ea typeface="+mn-ea"/>
                  <a:cs typeface="+mn-cs"/>
                </a:rPr>
                <a:t>（已用</a:t>
              </a:r>
              <a:br/>
              <a:r>
                <a:rPr lang="zh-CN" sz="1280" dirty="0">
                  <a:solidFill>
                    <a:srgbClr val="5B6475"/>
                  </a:solidFill>
                  <a:latin typeface="+mn-lt"/>
                  <a:ea typeface="+mn-ea"/>
                  <a:cs typeface="+mn-cs"/>
                </a:rPr>
                <a:t>sympy 复核）。</a:t>
              </a:r>
            </a:p>
          </p:txBody>
        </p:sp>
      </p:grpSp>
      <p:grpSp>
        <p:nvGrpSpPr>
          <p:cNvPr id="44" name="footer"/>
          <p:cNvGrpSpPr/>
          <p:nvPr/>
        </p:nvGrpSpPr>
        <p:grpSpPr>
          <a:xfrm>
            <a:off x="528447" y="6581299"/>
            <a:ext cx="11135106" cy="190690"/>
            <a:chOff x="528447" y="6581299"/>
            <a:chExt cx="11135106" cy="190690"/>
          </a:xfrm>
        </p:grpSpPr>
        <p:sp>
          <p:nvSpPr>
            <p:cNvPr id="42" name="TextBox 42"/>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3" name="TextBox 4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不等式约束：要么约束没用，要么解在边界上</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7537628" cy="264033"/>
            <a:chOff x="526542" y="1545907"/>
            <a:chExt cx="7537628" cy="264033"/>
          </a:xfrm>
        </p:grpSpPr>
        <p:sp>
          <p:nvSpPr>
            <p:cNvPr id="7" name="TextBox 7"/>
            <p:cNvSpPr txBox="1"/>
            <p:nvPr/>
          </p:nvSpPr>
          <p:spPr>
            <a:xfrm>
              <a:off x="526542" y="1545907"/>
              <a:ext cx="7537628"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求 min f(x) s.t. g(x) ≤ 0 时，先分两种情况讨论，再把两种情况合并成一条互补松弛条件。</a:t>
              </a:r>
            </a:p>
          </p:txBody>
        </p:sp>
      </p:grpSp>
      <p:grpSp>
        <p:nvGrpSpPr>
          <p:cNvPr id="16" name="c1-card-1"/>
          <p:cNvGrpSpPr/>
          <p:nvPr/>
        </p:nvGrpSpPr>
        <p:grpSpPr>
          <a:xfrm>
            <a:off x="533400" y="1928812"/>
            <a:ext cx="5410200" cy="1760220"/>
            <a:chOff x="533400" y="1928812"/>
            <a:chExt cx="5410200" cy="1760220"/>
          </a:xfrm>
        </p:grpSpPr>
        <p:sp>
          <p:nvSpPr>
            <p:cNvPr id="9" name="Rectangle 9"/>
            <p:cNvSpPr/>
            <p:nvPr/>
          </p:nvSpPr>
          <p:spPr>
            <a:xfrm>
              <a:off x="533400" y="1928812"/>
              <a:ext cx="5410200" cy="1760220"/>
            </a:xfrm>
            <a:prstGeom prst="roundRect">
              <a:avLst>
                <a:gd name="adj" fmla="val 7576"/>
              </a:avLst>
            </a:prstGeom>
            <a:solidFill>
              <a:srgbClr val="FFFFFF"/>
            </a:solidFill>
            <a:ln w="14288">
              <a:solidFill>
                <a:srgbClr val="D9DFEA"/>
              </a:solidFill>
            </a:ln>
          </p:spPr>
        </p:sp>
        <p:sp>
          <p:nvSpPr>
            <p:cNvPr id="10" name="Rectangle 10"/>
            <p:cNvSpPr/>
            <p:nvPr/>
          </p:nvSpPr>
          <p:spPr>
            <a:xfrm>
              <a:off x="542925" y="2062162"/>
              <a:ext cx="47625" cy="1493520"/>
            </a:xfrm>
            <a:prstGeom prst="roundRect">
              <a:avLst>
                <a:gd name="adj" fmla="val 50000"/>
              </a:avLst>
            </a:prstGeom>
            <a:solidFill>
              <a:srgbClr val="14A38B"/>
            </a:solidFill>
            <a:ln>
              <a:noFill/>
            </a:ln>
          </p:spPr>
        </p:sp>
        <p:sp>
          <p:nvSpPr>
            <p:cNvPr id="11" name="Rectangle 11"/>
            <p:cNvSpPr/>
            <p:nvPr/>
          </p:nvSpPr>
          <p:spPr>
            <a:xfrm>
              <a:off x="758190" y="2115502"/>
              <a:ext cx="582930" cy="238125"/>
            </a:xfrm>
            <a:prstGeom prst="roundRect">
              <a:avLst>
                <a:gd name="adj" fmla="val 50000"/>
              </a:avLst>
            </a:prstGeom>
            <a:solidFill>
              <a:srgbClr val="E3F5F1"/>
            </a:solidFill>
            <a:ln>
              <a:noFill/>
            </a:ln>
          </p:spPr>
        </p:sp>
        <p:sp>
          <p:nvSpPr>
            <p:cNvPr id="12" name="TextBox 12"/>
            <p:cNvSpPr txBox="1"/>
            <p:nvPr/>
          </p:nvSpPr>
          <p:spPr>
            <a:xfrm>
              <a:off x="846811" y="2148364"/>
              <a:ext cx="405689"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情况一</a:t>
              </a:r>
            </a:p>
          </p:txBody>
        </p:sp>
        <p:sp>
          <p:nvSpPr>
            <p:cNvPr id="13" name="TextBox 13"/>
            <p:cNvSpPr txBox="1"/>
            <p:nvPr/>
          </p:nvSpPr>
          <p:spPr>
            <a:xfrm>
              <a:off x="1448562" y="2150745"/>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最优点落在约束区域内部</a:t>
              </a:r>
            </a:p>
          </p:txBody>
        </p:sp>
        <p:sp>
          <p:nvSpPr>
            <p:cNvPr id="14" name="TextBox 14"/>
            <p:cNvSpPr txBox="1"/>
            <p:nvPr/>
          </p:nvSpPr>
          <p:spPr>
            <a:xfrm>
              <a:off x="751332" y="2476500"/>
              <a:ext cx="471144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例：min x₁² + x₂²，约束 x₁ + x₂ − 1 ≤ 0。无约束极小点是原</a:t>
              </a:r>
              <a:br/>
              <a:r>
                <a:rPr lang="zh-CN" sz="1350" dirty="0">
                  <a:solidFill>
                    <a:srgbClr val="1F2937"/>
                  </a:solidFill>
                  <a:latin typeface="+mn-lt"/>
                  <a:ea typeface="+mn-ea"/>
                  <a:cs typeface="+mn-cs"/>
                </a:rPr>
                <a:t>点，代入得 −1 ≤ 0，满足。约束</a:t>
              </a:r>
              <a:r>
                <a:rPr lang="zh-CN" sz="1350" b="1" dirty="0">
                  <a:solidFill>
                    <a:srgbClr val="C2410C"/>
                  </a:solidFill>
                  <a:latin typeface="+mn-lt"/>
                  <a:ea typeface="+mn-ea"/>
                  <a:cs typeface="+mn-cs"/>
                </a:rPr>
                <a:t>等于没有</a:t>
              </a:r>
              <a:r>
                <a:rPr lang="zh-CN" sz="1350" dirty="0">
                  <a:solidFill>
                    <a:srgbClr val="1F2937"/>
                  </a:solidFill>
                  <a:latin typeface="+mn-lt"/>
                  <a:ea typeface="+mn-ea"/>
                  <a:cs typeface="+mn-cs"/>
                </a:rPr>
                <a:t>，直接令 ∇f = 0 即</a:t>
              </a:r>
              <a:br/>
              <a:r>
                <a:rPr lang="zh-CN" sz="1350" dirty="0">
                  <a:solidFill>
                    <a:srgbClr val="1F2937"/>
                  </a:solidFill>
                  <a:latin typeface="+mn-lt"/>
                  <a:ea typeface="+mn-ea"/>
                  <a:cs typeface="+mn-cs"/>
                </a:rPr>
                <a:t>可。</a:t>
              </a:r>
            </a:p>
          </p:txBody>
        </p:sp>
        <p:sp>
          <p:nvSpPr>
            <p:cNvPr id="15" name="TextBox 15"/>
            <p:cNvSpPr txBox="1"/>
            <p:nvPr/>
          </p:nvSpPr>
          <p:spPr>
            <a:xfrm>
              <a:off x="751332" y="3290888"/>
              <a:ext cx="32418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解：x* = (0, 0)，f* = 0，此时 </a:t>
              </a:r>
              <a:r>
                <a:rPr lang="el-GR" sz="1350" b="1" dirty="0">
                  <a:solidFill>
                    <a:srgbClr val="C2410C"/>
                  </a:solidFill>
                  <a:latin typeface="+mn-lt"/>
                  <a:ea typeface="+mn-ea"/>
                  <a:cs typeface="+mn-cs"/>
                </a:rPr>
                <a:t>λ = 0</a:t>
              </a:r>
              <a:r>
                <a:rPr lang="zh-CN" sz="1350" dirty="0">
                  <a:solidFill>
                    <a:srgbClr val="1F2937"/>
                  </a:solidFill>
                  <a:latin typeface="+mn-lt"/>
                  <a:ea typeface="+mn-ea"/>
                  <a:cs typeface="+mn-cs"/>
                </a:rPr>
                <a:t>。</a:t>
              </a:r>
            </a:p>
          </p:txBody>
        </p:sp>
      </p:grpSp>
      <p:grpSp>
        <p:nvGrpSpPr>
          <p:cNvPr id="25" name="c1-card-2"/>
          <p:cNvGrpSpPr/>
          <p:nvPr/>
        </p:nvGrpSpPr>
        <p:grpSpPr>
          <a:xfrm>
            <a:off x="533400" y="3858578"/>
            <a:ext cx="5410200" cy="2433638"/>
            <a:chOff x="533400" y="3858578"/>
            <a:chExt cx="5410200" cy="2433638"/>
          </a:xfrm>
        </p:grpSpPr>
        <p:sp>
          <p:nvSpPr>
            <p:cNvPr id="17" name="Rectangle 17"/>
            <p:cNvSpPr/>
            <p:nvPr/>
          </p:nvSpPr>
          <p:spPr>
            <a:xfrm>
              <a:off x="533400" y="3858578"/>
              <a:ext cx="5410200" cy="2433638"/>
            </a:xfrm>
            <a:prstGeom prst="roundRect">
              <a:avLst>
                <a:gd name="adj" fmla="val 5479"/>
              </a:avLst>
            </a:prstGeom>
            <a:solidFill>
              <a:srgbClr val="FFFFFF"/>
            </a:solidFill>
            <a:ln w="14288">
              <a:solidFill>
                <a:srgbClr val="D9DFEA"/>
              </a:solidFill>
            </a:ln>
          </p:spPr>
        </p:sp>
        <p:sp>
          <p:nvSpPr>
            <p:cNvPr id="18" name="Rectangle 18"/>
            <p:cNvSpPr/>
            <p:nvPr/>
          </p:nvSpPr>
          <p:spPr>
            <a:xfrm>
              <a:off x="542925" y="3991928"/>
              <a:ext cx="47625" cy="2166938"/>
            </a:xfrm>
            <a:prstGeom prst="roundRect">
              <a:avLst>
                <a:gd name="adj" fmla="val 50000"/>
              </a:avLst>
            </a:prstGeom>
            <a:solidFill>
              <a:srgbClr val="14A38B"/>
            </a:solidFill>
            <a:ln>
              <a:noFill/>
            </a:ln>
          </p:spPr>
        </p:sp>
        <p:sp>
          <p:nvSpPr>
            <p:cNvPr id="19" name="Rectangle 19"/>
            <p:cNvSpPr/>
            <p:nvPr/>
          </p:nvSpPr>
          <p:spPr>
            <a:xfrm>
              <a:off x="758190" y="4045268"/>
              <a:ext cx="582930" cy="238125"/>
            </a:xfrm>
            <a:prstGeom prst="roundRect">
              <a:avLst>
                <a:gd name="adj" fmla="val 50000"/>
              </a:avLst>
            </a:prstGeom>
            <a:solidFill>
              <a:srgbClr val="E3F5F1"/>
            </a:solidFill>
            <a:ln>
              <a:noFill/>
            </a:ln>
          </p:spPr>
        </p:sp>
        <p:sp>
          <p:nvSpPr>
            <p:cNvPr id="20" name="TextBox 20"/>
            <p:cNvSpPr txBox="1"/>
            <p:nvPr/>
          </p:nvSpPr>
          <p:spPr>
            <a:xfrm>
              <a:off x="846811" y="4078129"/>
              <a:ext cx="405689"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情况二</a:t>
              </a:r>
            </a:p>
          </p:txBody>
        </p:sp>
        <p:sp>
          <p:nvSpPr>
            <p:cNvPr id="21" name="TextBox 21"/>
            <p:cNvSpPr txBox="1"/>
            <p:nvPr/>
          </p:nvSpPr>
          <p:spPr>
            <a:xfrm>
              <a:off x="1448562" y="4080510"/>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最优点落在约束边界上</a:t>
              </a:r>
            </a:p>
          </p:txBody>
        </p:sp>
        <p:sp>
          <p:nvSpPr>
            <p:cNvPr id="22" name="TextBox 22"/>
            <p:cNvSpPr txBox="1"/>
            <p:nvPr/>
          </p:nvSpPr>
          <p:spPr>
            <a:xfrm>
              <a:off x="751332" y="4406265"/>
              <a:ext cx="471144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例：min x₁² + x₂²，约束 x₁ + x₂ + 2 ≤ 0。原点不可行，最优</a:t>
              </a:r>
              <a:br/>
              <a:r>
                <a:rPr lang="zh-CN" sz="1350" dirty="0">
                  <a:solidFill>
                    <a:srgbClr val="1F2937"/>
                  </a:solidFill>
                  <a:latin typeface="+mn-lt"/>
                  <a:ea typeface="+mn-ea"/>
                  <a:cs typeface="+mn-cs"/>
                </a:rPr>
                <a:t>解只能在边界取，等价于等式约束。</a:t>
              </a:r>
            </a:p>
          </p:txBody>
        </p:sp>
        <p:sp>
          <p:nvSpPr>
            <p:cNvPr id="23" name="TextBox 23"/>
            <p:cNvSpPr txBox="1"/>
            <p:nvPr/>
          </p:nvSpPr>
          <p:spPr>
            <a:xfrm>
              <a:off x="751332" y="4963478"/>
              <a:ext cx="456571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L = x₁² + x₂² + λ(x₁ + x₂ + 2)，解 2x₁ + λ = 0、2x₂ + λ =</a:t>
              </a:r>
              <a:br/>
              <a:r>
                <a:rPr lang="zh-CN" sz="1350" dirty="0">
                  <a:solidFill>
                    <a:srgbClr val="1F2937"/>
                  </a:solidFill>
                  <a:latin typeface="+mn-lt"/>
                  <a:ea typeface="+mn-ea"/>
                  <a:cs typeface="+mn-cs"/>
                </a:rPr>
                <a:t xml:space="preserve">0、x₁ + x₂ + 2 = 0，得 x₁ = x₂ = −1，λ = </a:t>
              </a:r>
              <a:r>
                <a:rPr lang="zh-CN" sz="1350" b="1" dirty="0">
                  <a:solidFill>
                    <a:srgbClr val="C2410C"/>
                  </a:solidFill>
                  <a:latin typeface="+mn-lt"/>
                  <a:ea typeface="+mn-ea"/>
                  <a:cs typeface="+mn-cs"/>
                </a:rPr>
                <a:t>2</a:t>
              </a:r>
              <a:r>
                <a:rPr lang="zh-CN" sz="1350" dirty="0">
                  <a:solidFill>
                    <a:srgbClr val="1F2937"/>
                  </a:solidFill>
                  <a:latin typeface="+mn-lt"/>
                  <a:ea typeface="+mn-ea"/>
                  <a:cs typeface="+mn-cs"/>
                </a:rPr>
                <a:t>，f* = 2。</a:t>
              </a:r>
            </a:p>
          </p:txBody>
        </p:sp>
        <p:sp>
          <p:nvSpPr>
            <p:cNvPr id="24" name="TextBox 24"/>
            <p:cNvSpPr txBox="1"/>
            <p:nvPr/>
          </p:nvSpPr>
          <p:spPr>
            <a:xfrm>
              <a:off x="752475" y="5517356"/>
              <a:ext cx="464134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更正：A 版第 27 页的 x* 对，但 λ 写成 0.5；由 2x₁ + λ = 0 直接得 λ = 2</a:t>
              </a:r>
              <a:br/>
              <a:r>
                <a:rPr lang="zh-CN" sz="1120" dirty="0">
                  <a:solidFill>
                    <a:srgbClr val="5B6475"/>
                  </a:solidFill>
                  <a:latin typeface="+mn-lt"/>
                  <a:ea typeface="+mn-ea"/>
                  <a:cs typeface="+mn-cs"/>
                </a:rPr>
                <a:t>（sympy 复核一致）。</a:t>
              </a:r>
            </a:p>
          </p:txBody>
        </p:sp>
      </p:grpSp>
      <p:grpSp>
        <p:nvGrpSpPr>
          <p:cNvPr id="45" name="c2-graph-1"/>
          <p:cNvGrpSpPr/>
          <p:nvPr/>
        </p:nvGrpSpPr>
        <p:grpSpPr>
          <a:xfrm>
            <a:off x="6611302" y="2125028"/>
            <a:ext cx="4792980" cy="1678781"/>
            <a:chOff x="6611302" y="2125028"/>
            <a:chExt cx="4792980" cy="1678781"/>
          </a:xfrm>
        </p:grpSpPr>
        <p:sp>
          <p:nvSpPr>
            <p:cNvPr id="26" name="Freeform 26"/>
            <p:cNvSpPr/>
            <p:nvPr/>
          </p:nvSpPr>
          <p:spPr>
            <a:xfrm>
              <a:off x="6611302" y="2934652"/>
              <a:ext cx="4697730" cy="9525"/>
            </a:xfrm>
            <a:custGeom>
              <a:avLst/>
              <a:gdLst/>
              <a:ahLst/>
              <a:cxnLst/>
              <a:rect l="l" t="t" r="r" b="b"/>
              <a:pathLst>
                <a:path w="4697730" h="9525">
                  <a:moveTo>
                    <a:pt x="0" y="0"/>
                  </a:moveTo>
                  <a:lnTo>
                    <a:pt x="4697730" y="0"/>
                  </a:lnTo>
                </a:path>
              </a:pathLst>
            </a:custGeom>
            <a:noFill/>
            <a:ln w="17145">
              <a:solidFill>
                <a:srgbClr val="5B6475"/>
              </a:solidFill>
            </a:ln>
          </p:spPr>
        </p:sp>
        <p:sp>
          <p:nvSpPr>
            <p:cNvPr id="27" name="Freeform 27"/>
            <p:cNvSpPr/>
            <p:nvPr/>
          </p:nvSpPr>
          <p:spPr>
            <a:xfrm>
              <a:off x="11309032" y="2887028"/>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28" name="Freeform 28"/>
            <p:cNvSpPr/>
            <p:nvPr/>
          </p:nvSpPr>
          <p:spPr>
            <a:xfrm>
              <a:off x="9603105" y="2220278"/>
              <a:ext cx="9525" cy="1565910"/>
            </a:xfrm>
            <a:custGeom>
              <a:avLst/>
              <a:gdLst/>
              <a:ahLst/>
              <a:cxnLst/>
              <a:rect l="l" t="t" r="r" b="b"/>
              <a:pathLst>
                <a:path w="9525" h="1565910">
                  <a:moveTo>
                    <a:pt x="0" y="1565910"/>
                  </a:moveTo>
                  <a:lnTo>
                    <a:pt x="0" y="0"/>
                  </a:lnTo>
                </a:path>
              </a:pathLst>
            </a:custGeom>
            <a:noFill/>
            <a:ln w="17145">
              <a:solidFill>
                <a:srgbClr val="5B6475"/>
              </a:solidFill>
            </a:ln>
          </p:spPr>
        </p:sp>
        <p:sp>
          <p:nvSpPr>
            <p:cNvPr id="29" name="Freeform 29"/>
            <p:cNvSpPr/>
            <p:nvPr/>
          </p:nvSpPr>
          <p:spPr>
            <a:xfrm>
              <a:off x="9555480" y="2125028"/>
              <a:ext cx="95250" cy="95250"/>
            </a:xfrm>
            <a:custGeom>
              <a:avLst/>
              <a:gdLst/>
              <a:ahLst/>
              <a:cxnLst/>
              <a:rect l="l" t="t" r="r" b="b"/>
              <a:pathLst>
                <a:path w="95250" h="95250">
                  <a:moveTo>
                    <a:pt x="47625" y="0"/>
                  </a:moveTo>
                  <a:lnTo>
                    <a:pt x="95250" y="95250"/>
                  </a:lnTo>
                  <a:lnTo>
                    <a:pt x="0" y="95250"/>
                  </a:lnTo>
                  <a:close/>
                </a:path>
              </a:pathLst>
            </a:custGeom>
            <a:solidFill>
              <a:srgbClr val="5B6475"/>
            </a:solidFill>
            <a:ln>
              <a:noFill/>
            </a:ln>
          </p:spPr>
        </p:sp>
        <p:sp>
          <p:nvSpPr>
            <p:cNvPr id="30" name="Freeform 30"/>
            <p:cNvSpPr/>
            <p:nvPr/>
          </p:nvSpPr>
          <p:spPr>
            <a:xfrm>
              <a:off x="8747760" y="2180272"/>
              <a:ext cx="1711642" cy="1508760"/>
            </a:xfrm>
            <a:custGeom>
              <a:avLst/>
              <a:gdLst/>
              <a:ahLst/>
              <a:cxnLst/>
              <a:rect l="l" t="t" r="r" b="b"/>
              <a:pathLst>
                <a:path w="1711642" h="1508760">
                  <a:moveTo>
                    <a:pt x="1711642" y="735330"/>
                  </a:moveTo>
                  <a:lnTo>
                    <a:pt x="1683067" y="559118"/>
                  </a:lnTo>
                  <a:lnTo>
                    <a:pt x="1596390" y="377190"/>
                  </a:lnTo>
                  <a:lnTo>
                    <a:pt x="1461135" y="221932"/>
                  </a:lnTo>
                  <a:lnTo>
                    <a:pt x="1282065" y="100012"/>
                  </a:lnTo>
                  <a:lnTo>
                    <a:pt x="1076325" y="24765"/>
                  </a:lnTo>
                  <a:lnTo>
                    <a:pt x="855345" y="0"/>
                  </a:lnTo>
                  <a:lnTo>
                    <a:pt x="633412" y="24765"/>
                  </a:lnTo>
                  <a:lnTo>
                    <a:pt x="427672" y="100012"/>
                  </a:lnTo>
                  <a:lnTo>
                    <a:pt x="248603" y="221932"/>
                  </a:lnTo>
                  <a:lnTo>
                    <a:pt x="113347" y="377190"/>
                  </a:lnTo>
                  <a:lnTo>
                    <a:pt x="27622" y="559118"/>
                  </a:lnTo>
                  <a:lnTo>
                    <a:pt x="0" y="754380"/>
                  </a:lnTo>
                  <a:lnTo>
                    <a:pt x="27622" y="948690"/>
                  </a:lnTo>
                  <a:lnTo>
                    <a:pt x="113347" y="1131570"/>
                  </a:lnTo>
                  <a:lnTo>
                    <a:pt x="248603" y="1288732"/>
                  </a:lnTo>
                  <a:lnTo>
                    <a:pt x="427672" y="1407795"/>
                  </a:lnTo>
                  <a:lnTo>
                    <a:pt x="633412" y="1483043"/>
                  </a:lnTo>
                  <a:lnTo>
                    <a:pt x="855345" y="1508760"/>
                  </a:lnTo>
                  <a:lnTo>
                    <a:pt x="1076325" y="1483043"/>
                  </a:lnTo>
                  <a:lnTo>
                    <a:pt x="1282065" y="1407795"/>
                  </a:lnTo>
                  <a:lnTo>
                    <a:pt x="1461135" y="1288732"/>
                  </a:lnTo>
                  <a:lnTo>
                    <a:pt x="1596390" y="1131570"/>
                  </a:lnTo>
                  <a:lnTo>
                    <a:pt x="1683067" y="948690"/>
                  </a:lnTo>
                  <a:lnTo>
                    <a:pt x="1711642" y="773430"/>
                  </a:lnTo>
                </a:path>
              </a:pathLst>
            </a:custGeom>
            <a:noFill/>
            <a:ln w="17145">
              <a:solidFill>
                <a:srgbClr val="0E7C86"/>
              </a:solidFill>
            </a:ln>
          </p:spPr>
        </p:sp>
        <p:sp>
          <p:nvSpPr>
            <p:cNvPr id="31" name="Freeform 31"/>
            <p:cNvSpPr/>
            <p:nvPr/>
          </p:nvSpPr>
          <p:spPr>
            <a:xfrm>
              <a:off x="9088755" y="2482215"/>
              <a:ext cx="1024890" cy="904875"/>
            </a:xfrm>
            <a:custGeom>
              <a:avLst/>
              <a:gdLst/>
              <a:ahLst/>
              <a:cxnLst/>
              <a:rect l="l" t="t" r="r" b="b"/>
              <a:pathLst>
                <a:path w="1024890" h="904875">
                  <a:moveTo>
                    <a:pt x="1024890" y="433388"/>
                  </a:moveTo>
                  <a:lnTo>
                    <a:pt x="1011555" y="335280"/>
                  </a:lnTo>
                  <a:lnTo>
                    <a:pt x="957262" y="225742"/>
                  </a:lnTo>
                  <a:lnTo>
                    <a:pt x="876300" y="131445"/>
                  </a:lnTo>
                  <a:lnTo>
                    <a:pt x="773430" y="60007"/>
                  </a:lnTo>
                  <a:lnTo>
                    <a:pt x="649605" y="14288"/>
                  </a:lnTo>
                  <a:lnTo>
                    <a:pt x="514350" y="0"/>
                  </a:lnTo>
                  <a:lnTo>
                    <a:pt x="379095" y="14288"/>
                  </a:lnTo>
                  <a:lnTo>
                    <a:pt x="254317" y="60007"/>
                  </a:lnTo>
                  <a:lnTo>
                    <a:pt x="151447" y="131445"/>
                  </a:lnTo>
                  <a:lnTo>
                    <a:pt x="70485" y="225742"/>
                  </a:lnTo>
                  <a:lnTo>
                    <a:pt x="16192" y="335280"/>
                  </a:lnTo>
                  <a:lnTo>
                    <a:pt x="0" y="452438"/>
                  </a:lnTo>
                  <a:lnTo>
                    <a:pt x="16192" y="569595"/>
                  </a:lnTo>
                  <a:lnTo>
                    <a:pt x="70485" y="678180"/>
                  </a:lnTo>
                  <a:lnTo>
                    <a:pt x="151447" y="772477"/>
                  </a:lnTo>
                  <a:lnTo>
                    <a:pt x="254317" y="843915"/>
                  </a:lnTo>
                  <a:lnTo>
                    <a:pt x="379095" y="890588"/>
                  </a:lnTo>
                  <a:lnTo>
                    <a:pt x="514350" y="904875"/>
                  </a:lnTo>
                  <a:lnTo>
                    <a:pt x="649605" y="890588"/>
                  </a:lnTo>
                  <a:lnTo>
                    <a:pt x="773430" y="843915"/>
                  </a:lnTo>
                  <a:lnTo>
                    <a:pt x="876300" y="772477"/>
                  </a:lnTo>
                  <a:lnTo>
                    <a:pt x="957262" y="678180"/>
                  </a:lnTo>
                  <a:lnTo>
                    <a:pt x="1011555" y="569595"/>
                  </a:lnTo>
                  <a:lnTo>
                    <a:pt x="1024890" y="471488"/>
                  </a:lnTo>
                </a:path>
              </a:pathLst>
            </a:custGeom>
            <a:noFill/>
            <a:ln w="17145">
              <a:solidFill>
                <a:srgbClr val="5B6475"/>
              </a:solidFill>
            </a:ln>
          </p:spPr>
        </p:sp>
        <p:sp>
          <p:nvSpPr>
            <p:cNvPr id="32" name="Freeform 32"/>
            <p:cNvSpPr/>
            <p:nvPr/>
          </p:nvSpPr>
          <p:spPr>
            <a:xfrm>
              <a:off x="8309610" y="2859405"/>
              <a:ext cx="1043940" cy="921067"/>
            </a:xfrm>
            <a:custGeom>
              <a:avLst/>
              <a:gdLst/>
              <a:ahLst/>
              <a:cxnLst/>
              <a:rect l="l" t="t" r="r" b="b"/>
              <a:pathLst>
                <a:path w="1043940" h="921067">
                  <a:moveTo>
                    <a:pt x="0" y="0"/>
                  </a:moveTo>
                  <a:lnTo>
                    <a:pt x="1043940" y="921067"/>
                  </a:lnTo>
                </a:path>
              </a:pathLst>
            </a:custGeom>
            <a:noFill/>
            <a:ln w="17145">
              <a:solidFill>
                <a:srgbClr val="F26B3A"/>
              </a:solidFill>
              <a:custDash>
                <a:ds d="333333" sp="222222"/>
              </a:custDash>
            </a:ln>
          </p:spPr>
        </p:sp>
        <p:sp>
          <p:nvSpPr>
            <p:cNvPr id="33" name="Freeform 33"/>
            <p:cNvSpPr/>
            <p:nvPr/>
          </p:nvSpPr>
          <p:spPr>
            <a:xfrm>
              <a:off x="8895398" y="3517582"/>
              <a:ext cx="43815" cy="39052"/>
            </a:xfrm>
            <a:custGeom>
              <a:avLst/>
              <a:gdLst/>
              <a:ahLst/>
              <a:cxnLst/>
              <a:rect l="l" t="t" r="r" b="b"/>
              <a:pathLst>
                <a:path w="43815" h="39052">
                  <a:moveTo>
                    <a:pt x="43815" y="0"/>
                  </a:moveTo>
                  <a:lnTo>
                    <a:pt x="0" y="39052"/>
                  </a:lnTo>
                </a:path>
              </a:pathLst>
            </a:custGeom>
            <a:noFill/>
            <a:ln w="17145">
              <a:solidFill>
                <a:srgbClr val="B42318"/>
              </a:solidFill>
            </a:ln>
          </p:spPr>
        </p:sp>
        <p:sp>
          <p:nvSpPr>
            <p:cNvPr id="34" name="Freeform 34"/>
            <p:cNvSpPr/>
            <p:nvPr/>
          </p:nvSpPr>
          <p:spPr>
            <a:xfrm>
              <a:off x="8823960" y="3520440"/>
              <a:ext cx="102870" cy="99060"/>
            </a:xfrm>
            <a:custGeom>
              <a:avLst/>
              <a:gdLst/>
              <a:ahLst/>
              <a:cxnLst/>
              <a:rect l="l" t="t" r="r" b="b"/>
              <a:pathLst>
                <a:path w="102870" h="99060">
                  <a:moveTo>
                    <a:pt x="0" y="99060"/>
                  </a:moveTo>
                  <a:lnTo>
                    <a:pt x="40005" y="0"/>
                  </a:lnTo>
                  <a:lnTo>
                    <a:pt x="102870" y="71438"/>
                  </a:lnTo>
                  <a:close/>
                </a:path>
              </a:pathLst>
            </a:custGeom>
            <a:solidFill>
              <a:srgbClr val="B42318"/>
            </a:solidFill>
            <a:ln>
              <a:noFill/>
            </a:ln>
          </p:spPr>
        </p:sp>
        <p:sp>
          <p:nvSpPr>
            <p:cNvPr id="35" name="Freeform 35"/>
            <p:cNvSpPr/>
            <p:nvPr/>
          </p:nvSpPr>
          <p:spPr>
            <a:xfrm>
              <a:off x="9053512" y="3376612"/>
              <a:ext cx="44768" cy="40005"/>
            </a:xfrm>
            <a:custGeom>
              <a:avLst/>
              <a:gdLst/>
              <a:ahLst/>
              <a:cxnLst/>
              <a:rect l="l" t="t" r="r" b="b"/>
              <a:pathLst>
                <a:path w="44768" h="40005">
                  <a:moveTo>
                    <a:pt x="0" y="40005"/>
                  </a:moveTo>
                  <a:lnTo>
                    <a:pt x="44768" y="0"/>
                  </a:lnTo>
                </a:path>
              </a:pathLst>
            </a:custGeom>
            <a:noFill/>
            <a:ln w="17145">
              <a:solidFill>
                <a:srgbClr val="14A38B"/>
              </a:solidFill>
            </a:ln>
          </p:spPr>
        </p:sp>
        <p:sp>
          <p:nvSpPr>
            <p:cNvPr id="36" name="Freeform 36"/>
            <p:cNvSpPr/>
            <p:nvPr/>
          </p:nvSpPr>
          <p:spPr>
            <a:xfrm>
              <a:off x="9066848" y="3313748"/>
              <a:ext cx="102870" cy="99060"/>
            </a:xfrm>
            <a:custGeom>
              <a:avLst/>
              <a:gdLst/>
              <a:ahLst/>
              <a:cxnLst/>
              <a:rect l="l" t="t" r="r" b="b"/>
              <a:pathLst>
                <a:path w="102870" h="99060">
                  <a:moveTo>
                    <a:pt x="102870" y="0"/>
                  </a:moveTo>
                  <a:lnTo>
                    <a:pt x="62865" y="99060"/>
                  </a:lnTo>
                  <a:lnTo>
                    <a:pt x="0" y="27623"/>
                  </a:lnTo>
                  <a:close/>
                </a:path>
              </a:pathLst>
            </a:custGeom>
            <a:solidFill>
              <a:srgbClr val="14A38B"/>
            </a:solidFill>
            <a:ln>
              <a:noFill/>
            </a:ln>
          </p:spPr>
        </p:sp>
        <p:sp>
          <p:nvSpPr>
            <p:cNvPr id="37" name="Ellipse 37"/>
            <p:cNvSpPr/>
            <p:nvPr/>
          </p:nvSpPr>
          <p:spPr>
            <a:xfrm>
              <a:off x="10453688" y="2925128"/>
              <a:ext cx="19050" cy="19050"/>
            </a:xfrm>
            <a:prstGeom prst="ellipse">
              <a:avLst/>
            </a:prstGeom>
            <a:solidFill>
              <a:srgbClr val="0E7C86"/>
            </a:solidFill>
            <a:ln>
              <a:noFill/>
            </a:ln>
          </p:spPr>
        </p:sp>
        <p:sp>
          <p:nvSpPr>
            <p:cNvPr id="38" name="Ellipse 38"/>
            <p:cNvSpPr/>
            <p:nvPr/>
          </p:nvSpPr>
          <p:spPr>
            <a:xfrm>
              <a:off x="10106978" y="2925128"/>
              <a:ext cx="19050" cy="19050"/>
            </a:xfrm>
            <a:prstGeom prst="ellipse">
              <a:avLst/>
            </a:prstGeom>
            <a:solidFill>
              <a:srgbClr val="D9DFEA"/>
            </a:solidFill>
            <a:ln>
              <a:noFill/>
            </a:ln>
          </p:spPr>
        </p:sp>
        <p:sp>
          <p:nvSpPr>
            <p:cNvPr id="39" name="Ellipse 39"/>
            <p:cNvSpPr/>
            <p:nvPr/>
          </p:nvSpPr>
          <p:spPr>
            <a:xfrm>
              <a:off x="8929688" y="3400425"/>
              <a:ext cx="133350" cy="133350"/>
            </a:xfrm>
            <a:prstGeom prst="ellipse">
              <a:avLst/>
            </a:prstGeom>
            <a:solidFill>
              <a:srgbClr val="B42318"/>
            </a:solidFill>
            <a:ln>
              <a:noFill/>
            </a:ln>
          </p:spPr>
        </p:sp>
        <p:sp>
          <p:nvSpPr>
            <p:cNvPr id="40" name="TextBox 40"/>
            <p:cNvSpPr txBox="1"/>
            <p:nvPr/>
          </p:nvSpPr>
          <p:spPr>
            <a:xfrm>
              <a:off x="7710354" y="2636044"/>
              <a:ext cx="754647" cy="161925"/>
            </a:xfrm>
            <a:prstGeom prst="rect">
              <a:avLst/>
            </a:prstGeom>
            <a:noFill/>
            <a:ln>
              <a:noFill/>
            </a:ln>
          </p:spPr>
          <p:txBody>
            <a:bodyPr wrap="none" lIns="0" tIns="0" rIns="0" bIns="0" anchor="t" anchorCtr="0">
              <a:spAutoFit/>
            </a:bodyPr>
            <a:lstStyle/>
            <a:p>
              <a:pPr algn="ctr"/>
              <a:r>
                <a:rPr lang="en-US" sz="820" dirty="0">
                  <a:solidFill>
                    <a:srgbClr val="F26B3A"/>
                  </a:solidFill>
                  <a:latin typeface="+mn-lt"/>
                  <a:ea typeface="+mn-ea"/>
                  <a:cs typeface="+mn-cs"/>
                </a:rPr>
                <a:t>x₁ + x₂ + 2 = 0</a:t>
              </a:r>
            </a:p>
          </p:txBody>
        </p:sp>
        <p:sp>
          <p:nvSpPr>
            <p:cNvPr id="41" name="TextBox 41"/>
            <p:cNvSpPr txBox="1"/>
            <p:nvPr/>
          </p:nvSpPr>
          <p:spPr>
            <a:xfrm>
              <a:off x="7404870" y="3432334"/>
              <a:ext cx="716011" cy="161925"/>
            </a:xfrm>
            <a:prstGeom prst="rect">
              <a:avLst/>
            </a:prstGeom>
            <a:noFill/>
            <a:ln>
              <a:noFill/>
            </a:ln>
          </p:spPr>
          <p:txBody>
            <a:bodyPr wrap="none" lIns="0" tIns="0" rIns="0" bIns="0" anchor="t" anchorCtr="0">
              <a:spAutoFit/>
            </a:bodyPr>
            <a:lstStyle/>
            <a:p>
              <a:pPr algn="ctr"/>
              <a:r>
                <a:rPr lang="en-US" sz="820" dirty="0">
                  <a:solidFill>
                    <a:srgbClr val="B42318"/>
                  </a:solidFill>
                  <a:latin typeface="+mn-lt"/>
                  <a:ea typeface="+mn-ea"/>
                  <a:cs typeface="+mn-cs"/>
                </a:rPr>
                <a:t>x* = (−1, −1)</a:t>
              </a:r>
            </a:p>
          </p:txBody>
        </p:sp>
        <p:sp>
          <p:nvSpPr>
            <p:cNvPr id="42" name="TextBox 42"/>
            <p:cNvSpPr txBox="1"/>
            <p:nvPr/>
          </p:nvSpPr>
          <p:spPr>
            <a:xfrm>
              <a:off x="8401296" y="3641884"/>
              <a:ext cx="130952" cy="161925"/>
            </a:xfrm>
            <a:prstGeom prst="rect">
              <a:avLst/>
            </a:prstGeom>
            <a:noFill/>
            <a:ln>
              <a:noFill/>
            </a:ln>
          </p:spPr>
          <p:txBody>
            <a:bodyPr wrap="none" lIns="0" tIns="0" rIns="0" bIns="0" anchor="t" anchorCtr="0">
              <a:spAutoFit/>
            </a:bodyPr>
            <a:lstStyle/>
            <a:p>
              <a:pPr algn="ctr"/>
              <a:r>
                <a:rPr lang="en-US" sz="820" dirty="0">
                  <a:solidFill>
                    <a:srgbClr val="B42318"/>
                  </a:solidFill>
                  <a:latin typeface="+mn-lt"/>
                  <a:ea typeface="+mn-ea"/>
                  <a:cs typeface="+mn-cs"/>
                </a:rPr>
                <a:t>∇f</a:t>
              </a:r>
            </a:p>
          </p:txBody>
        </p:sp>
        <p:sp>
          <p:nvSpPr>
            <p:cNvPr id="43" name="TextBox 43"/>
            <p:cNvSpPr txBox="1"/>
            <p:nvPr/>
          </p:nvSpPr>
          <p:spPr>
            <a:xfrm>
              <a:off x="9267119" y="2929414"/>
              <a:ext cx="130952" cy="161925"/>
            </a:xfrm>
            <a:prstGeom prst="rect">
              <a:avLst/>
            </a:prstGeom>
            <a:noFill/>
            <a:ln>
              <a:noFill/>
            </a:ln>
          </p:spPr>
          <p:txBody>
            <a:bodyPr wrap="none" lIns="0" tIns="0" rIns="0" bIns="0" anchor="t" anchorCtr="0">
              <a:spAutoFit/>
            </a:bodyPr>
            <a:lstStyle/>
            <a:p>
              <a:pPr algn="ctr"/>
              <a:r>
                <a:rPr lang="en-US" sz="820" dirty="0">
                  <a:solidFill>
                    <a:srgbClr val="14A38B"/>
                  </a:solidFill>
                  <a:latin typeface="+mn-lt"/>
                  <a:ea typeface="+mn-ea"/>
                  <a:cs typeface="+mn-cs"/>
                </a:rPr>
                <a:t>∇g</a:t>
              </a:r>
            </a:p>
          </p:txBody>
        </p:sp>
        <p:sp>
          <p:nvSpPr>
            <p:cNvPr id="44" name="TextBox 44"/>
            <p:cNvSpPr txBox="1"/>
            <p:nvPr/>
          </p:nvSpPr>
          <p:spPr>
            <a:xfrm>
              <a:off x="10847944" y="2216944"/>
              <a:ext cx="544909" cy="161925"/>
            </a:xfrm>
            <a:prstGeom prst="rect">
              <a:avLst/>
            </a:prstGeom>
            <a:noFill/>
            <a:ln>
              <a:noFill/>
            </a:ln>
          </p:spPr>
          <p:txBody>
            <a:bodyPr wrap="none" lIns="0" tIns="0" rIns="0" bIns="0" anchor="t" anchorCtr="0">
              <a:spAutoFit/>
            </a:bodyPr>
            <a:lstStyle/>
            <a:p>
              <a:pPr algn="r"/>
              <a:r>
                <a:rPr lang="zh-CN" sz="820" dirty="0">
                  <a:solidFill>
                    <a:srgbClr val="0E7C86"/>
                  </a:solidFill>
                  <a:latin typeface="+mn-lt"/>
                  <a:ea typeface="+mn-ea"/>
                  <a:cs typeface="+mn-cs"/>
                </a:rPr>
                <a:t>f 的等值圆</a:t>
              </a:r>
            </a:p>
          </p:txBody>
        </p:sp>
      </p:grpSp>
      <p:grpSp>
        <p:nvGrpSpPr>
          <p:cNvPr id="53" name="c2-card-2"/>
          <p:cNvGrpSpPr/>
          <p:nvPr/>
        </p:nvGrpSpPr>
        <p:grpSpPr>
          <a:xfrm>
            <a:off x="6248400" y="4193858"/>
            <a:ext cx="5410200" cy="2097405"/>
            <a:chOff x="6248400" y="4193858"/>
            <a:chExt cx="5410200" cy="2097405"/>
          </a:xfrm>
        </p:grpSpPr>
        <p:sp>
          <p:nvSpPr>
            <p:cNvPr id="46" name="Rectangle 46"/>
            <p:cNvSpPr/>
            <p:nvPr/>
          </p:nvSpPr>
          <p:spPr>
            <a:xfrm>
              <a:off x="6248400" y="4193858"/>
              <a:ext cx="5410200" cy="2097405"/>
            </a:xfrm>
            <a:prstGeom prst="roundRect">
              <a:avLst>
                <a:gd name="adj" fmla="val 6358"/>
              </a:avLst>
            </a:prstGeom>
            <a:solidFill>
              <a:srgbClr val="0E7C86"/>
            </a:solidFill>
            <a:ln>
              <a:noFill/>
            </a:ln>
          </p:spPr>
        </p:sp>
        <p:sp>
          <p:nvSpPr>
            <p:cNvPr id="47" name="Rectangle 47"/>
            <p:cNvSpPr/>
            <p:nvPr/>
          </p:nvSpPr>
          <p:spPr>
            <a:xfrm>
              <a:off x="6435090" y="4380548"/>
              <a:ext cx="458152" cy="238125"/>
            </a:xfrm>
            <a:prstGeom prst="roundRect">
              <a:avLst>
                <a:gd name="adj" fmla="val 50000"/>
              </a:avLst>
            </a:prstGeom>
            <a:solidFill>
              <a:srgbClr val="0B5F67"/>
            </a:solidFill>
            <a:ln>
              <a:noFill/>
            </a:ln>
          </p:spPr>
        </p:sp>
        <p:sp>
          <p:nvSpPr>
            <p:cNvPr id="48" name="TextBox 48"/>
            <p:cNvSpPr txBox="1"/>
            <p:nvPr/>
          </p:nvSpPr>
          <p:spPr>
            <a:xfrm>
              <a:off x="6527762" y="4413409"/>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合并</a:t>
              </a:r>
            </a:p>
          </p:txBody>
        </p:sp>
        <p:sp>
          <p:nvSpPr>
            <p:cNvPr id="49" name="TextBox 49"/>
            <p:cNvSpPr txBox="1"/>
            <p:nvPr/>
          </p:nvSpPr>
          <p:spPr>
            <a:xfrm>
              <a:off x="7000684" y="4415790"/>
              <a:ext cx="110413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互补松弛条件</a:t>
              </a:r>
            </a:p>
          </p:txBody>
        </p:sp>
        <p:sp>
          <p:nvSpPr>
            <p:cNvPr id="50" name="TextBox 50"/>
            <p:cNvSpPr txBox="1"/>
            <p:nvPr/>
          </p:nvSpPr>
          <p:spPr>
            <a:xfrm>
              <a:off x="6428232" y="4741545"/>
              <a:ext cx="479717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情况一 λ = 0、g(x) &lt; 0；情况二 λ &gt; 0、g(x) = 0。两种情况下</a:t>
              </a:r>
              <a:br/>
              <a:r>
                <a:rPr lang="zh-CN" sz="1350" dirty="0">
                  <a:solidFill>
                    <a:srgbClr val="FFFFFF"/>
                  </a:solidFill>
                  <a:latin typeface="+mn-lt"/>
                  <a:ea typeface="+mn-ea"/>
                  <a:cs typeface="+mn-cs"/>
                </a:rPr>
                <a:t>λ·g(x) 都是 0，所以可以合写成一条：</a:t>
              </a:r>
            </a:p>
          </p:txBody>
        </p:sp>
        <mc:AlternateContent xmlns:mc="http://schemas.openxmlformats.org/markup-compatibility/2006">
          <mc:Choice xmlns:a14="http://schemas.microsoft.com/office/drawing/2010/main" Requires="a14">
            <p:sp>
              <p:nvSpPr>
                <p:cNvPr id="51" name="formula77"/>
                <p:cNvSpPr txBox="1">
                  <a:spLocks noGrp="1"/>
                </p:cNvSpPr>
                <p:nvPr/>
              </p:nvSpPr>
              <p:spPr>
                <a:xfrm>
                  <a:off x="6435090" y="5276850"/>
                  <a:ext cx="5036820"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FFFFFF"/>
                            </a:solidFill>
                            <a:latin typeface="Cambria Math"/>
                            <a:ea typeface="Cambria Math"/>
                            <a:cs typeface="Cambria Math"/>
                          </a:rPr>
                          <m:t>λ</m:t>
                        </m:r>
                        <m:r>
                          <a:rPr lang="zh-CN" sz="1350" dirty="0">
                            <a:solidFill>
                              <a:srgbClr val="FFFFFF"/>
                            </a:solidFill>
                            <a:latin typeface="Cambria Math"/>
                            <a:ea typeface="Cambria Math"/>
                            <a:cs typeface="Cambria Math"/>
                          </a:rPr>
                          <m:t xml:space="preserve"> </m:t>
                        </m:r>
                        <m:r>
                          <a:rPr lang="zh-CN" sz="1350" dirty="0">
                            <a:solidFill>
                              <a:srgbClr val="FFFFFF"/>
                            </a:solidFill>
                            <a:latin typeface="Cambria Math"/>
                            <a:ea typeface="Cambria Math"/>
                            <a:cs typeface="Cambria Math"/>
                          </a:rPr>
                          <m:t>g</m:t>
                        </m:r>
                        <m:d>
                          <m:dPr>
                            <m:begChr m:val="("/>
                            <m:sepChr m:val=""/>
                            <m:endChr m:val=")"/>
                            <m:grow m:val="on"/>
                            <m:ctrlPr>
                              <a:rPr lang="zh-CN" sz="1350" dirty="0">
                                <a:solidFill>
                                  <a:srgbClr val="FFFFFF"/>
                                </a:solidFill>
                                <a:latin typeface="Cambria Math"/>
                                <a:ea typeface="Cambria Math"/>
                                <a:cs typeface="Cambria Math"/>
                              </a:rPr>
                            </m:ctrlPr>
                          </m:dPr>
                          <m:e>
                            <m:r>
                              <a:rPr lang="zh-CN" sz="1350" dirty="0">
                                <a:solidFill>
                                  <a:srgbClr val="FFFFFF"/>
                                </a:solidFill>
                                <a:latin typeface="Cambria Math"/>
                                <a:ea typeface="Cambria Math"/>
                                <a:cs typeface="Cambria Math"/>
                              </a:rPr>
                              <m:t>x</m:t>
                            </m:r>
                          </m:e>
                        </m:d>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0</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 xml:space="preserve">  </m:t>
                        </m:r>
                        <m:r>
                          <a:rPr lang="zh-CN" sz="1350" dirty="0">
                            <a:solidFill>
                              <a:srgbClr val="FFFFFF"/>
                            </a:solidFill>
                            <a:latin typeface="Cambria Math"/>
                            <a:ea typeface="Cambria Math"/>
                            <a:cs typeface="Cambria Math"/>
                          </a:rPr>
                          <m:t>λ</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0</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 xml:space="preserve">  </m:t>
                        </m:r>
                        <m:r>
                          <a:rPr lang="zh-CN" sz="1350" dirty="0">
                            <a:solidFill>
                              <a:srgbClr val="FFFFFF"/>
                            </a:solidFill>
                            <a:latin typeface="Cambria Math"/>
                            <a:ea typeface="Cambria Math"/>
                            <a:cs typeface="Cambria Math"/>
                          </a:rPr>
                          <m:t>g</m:t>
                        </m:r>
                        <m:d>
                          <m:dPr>
                            <m:begChr m:val="("/>
                            <m:sepChr m:val=""/>
                            <m:endChr m:val=")"/>
                            <m:grow m:val="on"/>
                            <m:ctrlPr>
                              <a:rPr lang="zh-CN" sz="1350" dirty="0">
                                <a:solidFill>
                                  <a:srgbClr val="FFFFFF"/>
                                </a:solidFill>
                                <a:latin typeface="Cambria Math"/>
                                <a:ea typeface="Cambria Math"/>
                                <a:cs typeface="Cambria Math"/>
                              </a:rPr>
                            </m:ctrlPr>
                          </m:dPr>
                          <m:e>
                            <m:r>
                              <a:rPr lang="zh-CN" sz="1350" dirty="0">
                                <a:solidFill>
                                  <a:srgbClr val="FFFFFF"/>
                                </a:solidFill>
                                <a:latin typeface="Cambria Math"/>
                                <a:ea typeface="Cambria Math"/>
                                <a:cs typeface="Cambria Math"/>
                              </a:rPr>
                              <m:t>x</m:t>
                            </m:r>
                          </m:e>
                        </m:d>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0</m:t>
                        </m:r>
                      </m:oMath>
                    </m:oMathPara>
                  </a14:m>
                </a:p>
              </p:txBody>
            </p:sp>
          </mc:Choice>
        </mc:AlternateContent>
        <p:sp>
          <p:nvSpPr>
            <p:cNvPr id="52" name="TextBox 52"/>
            <p:cNvSpPr txBox="1"/>
            <p:nvPr/>
          </p:nvSpPr>
          <p:spPr>
            <a:xfrm>
              <a:off x="6429375" y="5722144"/>
              <a:ext cx="467690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FFFFFF"/>
                  </a:solidFill>
                  <a:latin typeface="+mn-lt"/>
                  <a:ea typeface="+mn-ea"/>
                  <a:cs typeface="+mn-cs"/>
                </a:rPr>
                <a:t>λ ≥ 0 不能丢：边界上 ∇f 与 ∇g 必须方向</a:t>
              </a:r>
              <a:r>
                <a:rPr lang="zh-CN" sz="1120" b="1" dirty="0">
                  <a:solidFill>
                    <a:srgbClr val="FFD58A"/>
                  </a:solidFill>
                  <a:latin typeface="+mn-lt"/>
                  <a:ea typeface="+mn-ea"/>
                  <a:cs typeface="+mn-cs"/>
                </a:rPr>
                <a:t>相反</a:t>
              </a:r>
              <a:r>
                <a:rPr lang="zh-CN" sz="1120" dirty="0">
                  <a:solidFill>
                    <a:srgbClr val="FFFFFF"/>
                  </a:solidFill>
                  <a:latin typeface="+mn-lt"/>
                  <a:ea typeface="+mn-ea"/>
                  <a:cs typeface="+mn-cs"/>
                </a:rPr>
                <a:t>（f 要往可行域里减小），所</a:t>
              </a:r>
              <a:br/>
              <a:r>
                <a:rPr lang="zh-CN" sz="1120" dirty="0">
                  <a:solidFill>
                    <a:srgbClr val="FFFFFF"/>
                  </a:solidFill>
                  <a:latin typeface="+mn-lt"/>
                  <a:ea typeface="+mn-ea"/>
                  <a:cs typeface="+mn-cs"/>
                </a:rPr>
                <a:t>以系数为正。</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74495" cy="909257"/>
            <a:chOff x="520446" y="342900"/>
            <a:chExt cx="5574495"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557449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KKT 条件：四组式子，一条都不能少</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6244143" cy="278702"/>
            <a:chOff x="526161" y="1547336"/>
            <a:chExt cx="6244143" cy="278702"/>
          </a:xfrm>
        </p:grpSpPr>
        <p:sp>
          <p:nvSpPr>
            <p:cNvPr id="7" name="TextBox 7"/>
            <p:cNvSpPr txBox="1"/>
            <p:nvPr/>
          </p:nvSpPr>
          <p:spPr>
            <a:xfrm>
              <a:off x="526161" y="1547336"/>
              <a:ext cx="6244143"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把上一页的结论套到 SVM 的原问题上，得到最优解必须满足的全部条件。</a:t>
              </a:r>
            </a:p>
          </p:txBody>
        </p:sp>
      </p:grpSp>
      <p:grpSp>
        <p:nvGrpSpPr>
          <p:cNvPr id="16" name="c1-card-1"/>
          <p:cNvGrpSpPr/>
          <p:nvPr/>
        </p:nvGrpSpPr>
        <p:grpSpPr>
          <a:xfrm>
            <a:off x="533400" y="1941195"/>
            <a:ext cx="5626418" cy="2051685"/>
            <a:chOff x="533400" y="1941195"/>
            <a:chExt cx="5626418" cy="2051685"/>
          </a:xfrm>
        </p:grpSpPr>
        <p:sp>
          <p:nvSpPr>
            <p:cNvPr id="9" name="Rectangle 9"/>
            <p:cNvSpPr/>
            <p:nvPr/>
          </p:nvSpPr>
          <p:spPr>
            <a:xfrm>
              <a:off x="533400" y="1941195"/>
              <a:ext cx="5626418" cy="2051685"/>
            </a:xfrm>
            <a:prstGeom prst="roundRect">
              <a:avLst>
                <a:gd name="adj" fmla="val 6500"/>
              </a:avLst>
            </a:prstGeom>
            <a:solidFill>
              <a:srgbClr val="FFFFFF"/>
            </a:solidFill>
            <a:ln w="14288">
              <a:solidFill>
                <a:srgbClr val="D9DFEA"/>
              </a:solidFill>
            </a:ln>
          </p:spPr>
        </p:sp>
        <p:sp>
          <p:nvSpPr>
            <p:cNvPr id="10" name="Rectangle 10"/>
            <p:cNvSpPr/>
            <p:nvPr/>
          </p:nvSpPr>
          <p:spPr>
            <a:xfrm>
              <a:off x="542925" y="2074545"/>
              <a:ext cx="47625" cy="1784985"/>
            </a:xfrm>
            <a:prstGeom prst="roundRect">
              <a:avLst>
                <a:gd name="adj" fmla="val 50000"/>
              </a:avLst>
            </a:prstGeom>
            <a:solidFill>
              <a:srgbClr val="F26B3A"/>
            </a:solidFill>
            <a:ln>
              <a:noFill/>
            </a:ln>
          </p:spPr>
        </p:sp>
        <p:sp>
          <p:nvSpPr>
            <p:cNvPr id="11" name="Rectangle 11"/>
            <p:cNvSpPr/>
            <p:nvPr/>
          </p:nvSpPr>
          <p:spPr>
            <a:xfrm>
              <a:off x="763905" y="2133600"/>
              <a:ext cx="1667828" cy="247650"/>
            </a:xfrm>
            <a:prstGeom prst="roundRect">
              <a:avLst>
                <a:gd name="adj" fmla="val 50000"/>
              </a:avLst>
            </a:prstGeom>
            <a:solidFill>
              <a:srgbClr val="FDEEE7"/>
            </a:solidFill>
            <a:ln>
              <a:noFill/>
            </a:ln>
          </p:spPr>
        </p:sp>
        <p:sp>
          <p:nvSpPr>
            <p:cNvPr id="12" name="TextBox 12"/>
            <p:cNvSpPr txBox="1"/>
            <p:nvPr/>
          </p:nvSpPr>
          <p:spPr>
            <a:xfrm>
              <a:off x="799429" y="2167890"/>
              <a:ext cx="1595826"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硬间隔 SVM 的 KKT 条件</a:t>
              </a:r>
            </a:p>
          </p:txBody>
        </p:sp>
        <p:sp>
          <p:nvSpPr>
            <p:cNvPr id="13" name="TextBox 13"/>
            <p:cNvSpPr txBox="1"/>
            <p:nvPr/>
          </p:nvSpPr>
          <p:spPr>
            <a:xfrm>
              <a:off x="757047" y="2490788"/>
              <a:ext cx="435966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对 L(w, b, α) = ½||w||² + Σαᵢ[1 − yᵢ(w·xᵢ + b)]</a:t>
              </a:r>
            </a:p>
          </p:txBody>
        </p:sp>
        <mc:AlternateContent xmlns:mc="http://schemas.openxmlformats.org/markup-compatibility/2006">
          <mc:Choice xmlns:a14="http://schemas.microsoft.com/office/drawing/2010/main" Requires="a14">
            <p:sp>
              <p:nvSpPr>
                <p:cNvPr id="14" name="formula86"/>
                <p:cNvSpPr txBox="1">
                  <a:spLocks noGrp="1"/>
                </p:cNvSpPr>
                <p:nvPr/>
              </p:nvSpPr>
              <p:spPr>
                <a:xfrm>
                  <a:off x="763905" y="2787968"/>
                  <a:ext cx="5203508" cy="56578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m:rPr>
                                <m:sty m:val="p"/>
                              </m:rPr>
                              <a:rPr lang="zh-CN" sz="1350" dirty="0">
                                <a:solidFill>
                                  <a:srgbClr val="1F2937"/>
                                </a:solidFill>
                                <a:latin typeface="Cambria Math"/>
                                <a:ea typeface="Cambria Math"/>
                                <a:cs typeface="Cambria Math"/>
                              </a:rPr>
                              <m:t>∇</m:t>
                            </m:r>
                          </m:e>
                          <m:sub>
                            <m:r>
                              <a:rPr lang="zh-CN" sz="1350" dirty="0">
                                <a:solidFill>
                                  <a:srgbClr val="1F2937"/>
                                </a:solidFill>
                                <a:latin typeface="Cambria Math"/>
                                <a:ea typeface="Cambria Math"/>
                                <a:cs typeface="Cambria Math"/>
                              </a:rPr>
                              <m:t>w</m:t>
                            </m:r>
                          </m:sub>
                        </m:sSub>
                        <m:r>
                          <a:rPr lang="zh-CN" sz="1350" dirty="0">
                            <a:solidFill>
                              <a:srgbClr val="1F2937"/>
                            </a:solidFill>
                            <a:latin typeface="Cambria Math"/>
                            <a:ea typeface="Cambria Math"/>
                            <a:cs typeface="Cambria Math"/>
                          </a:rPr>
                          <m:t>L</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α</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sSub>
                          <m:e>
                            <m:r>
                              <m:rPr>
                                <m:sty m:val="p"/>
                              </m:rPr>
                              <a:rPr lang="zh-CN" sz="1350" dirty="0">
                                <a:solidFill>
                                  <a:srgbClr val="1F2937"/>
                                </a:solidFill>
                                <a:latin typeface="Cambria Math"/>
                                <a:ea typeface="Cambria Math"/>
                                <a:cs typeface="Cambria Math"/>
                              </a:rPr>
                              <m:t>∇</m:t>
                            </m:r>
                          </m:e>
                          <m:sub>
                            <m:r>
                              <a:rPr lang="zh-CN" sz="1350" dirty="0">
                                <a:solidFill>
                                  <a:srgbClr val="1F2937"/>
                                </a:solidFill>
                                <a:latin typeface="Cambria Math"/>
                                <a:ea typeface="Cambria Math"/>
                                <a:cs typeface="Cambria Math"/>
                              </a:rPr>
                              <m:t>b</m:t>
                            </m:r>
                          </m:sub>
                        </m:sSub>
                        <m:r>
                          <a:rPr lang="zh-CN" sz="1350" dirty="0">
                            <a:solidFill>
                              <a:srgbClr val="1F2937"/>
                            </a:solidFill>
                            <a:latin typeface="Cambria Math"/>
                            <a:ea typeface="Cambria Math"/>
                            <a:cs typeface="Cambria Math"/>
                          </a:rPr>
                          <m:t>L</m:t>
                        </m:r>
                        <m:r>
                          <m:rPr>
                            <m:sty m:val="p"/>
                          </m:rPr>
                          <a:rPr lang="zh-CN" sz="1350" dirty="0">
                            <a:solidFill>
                              <a:srgbClr val="1F2937"/>
                            </a:solidFill>
                            <a:latin typeface="Cambria Math"/>
                            <a:ea typeface="Cambria Math"/>
                            <a:cs typeface="Cambria Math"/>
                          </a:rPr>
                          <m:t>=−</m:t>
                        </m:r>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sSub>
                              <m:e>
                                <m:r>
                                  <a:rPr lang="zh-CN" sz="1350" dirty="0">
                                    <a:solidFill>
                                      <a:srgbClr val="1F2937"/>
                                    </a:solidFill>
                                    <a:latin typeface="Cambria Math"/>
                                    <a:ea typeface="Cambria Math"/>
                                    <a:cs typeface="Cambria Math"/>
                                  </a:rPr>
                                  <m:t>α</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e>
                        </m:nary>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oMath>
                    </m:oMathPara>
                  </a14:m>
                </a:p>
              </p:txBody>
            </p:sp>
          </mc:Choice>
        </mc:AlternateContent>
        <mc:AlternateContent xmlns:mc="http://schemas.openxmlformats.org/markup-compatibility/2006">
          <mc:Choice xmlns:a14="http://schemas.microsoft.com/office/drawing/2010/main" Requires="a14">
            <p:sp>
              <p:nvSpPr>
                <p:cNvPr id="15" name="formula87"/>
                <p:cNvSpPr txBox="1">
                  <a:spLocks noGrp="1"/>
                </p:cNvSpPr>
                <p:nvPr/>
              </p:nvSpPr>
              <p:spPr>
                <a:xfrm>
                  <a:off x="763905" y="3440430"/>
                  <a:ext cx="5203508"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1</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e>
                        </m: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sSub>
                          <m:e>
                            <m:r>
                              <a:rPr lang="zh-CN" sz="1350" dirty="0">
                                <a:solidFill>
                                  <a:srgbClr val="1F2937"/>
                                </a:solidFill>
                                <a:latin typeface="Cambria Math"/>
                                <a:ea typeface="Cambria Math"/>
                                <a:cs typeface="Cambria Math"/>
                              </a:rPr>
                              <m:t>α</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sSub>
                          <m:e>
                            <m:r>
                              <a:rPr lang="zh-CN" sz="1350" dirty="0">
                                <a:solidFill>
                                  <a:srgbClr val="1F2937"/>
                                </a:solidFill>
                                <a:latin typeface="Cambria Math"/>
                                <a:ea typeface="Cambria Math"/>
                                <a:cs typeface="Cambria Math"/>
                              </a:rPr>
                              <m:t>α</m:t>
                            </m:r>
                          </m:e>
                          <m:sub>
                            <m:r>
                              <a:rPr lang="zh-CN" sz="1350" dirty="0">
                                <a:solidFill>
                                  <a:srgbClr val="1F2937"/>
                                </a:solidFill>
                                <a:latin typeface="Cambria Math"/>
                                <a:ea typeface="Cambria Math"/>
                                <a:cs typeface="Cambria Math"/>
                              </a:rPr>
                              <m:t>i</m:t>
                            </m:r>
                          </m:sub>
                        </m:sSub>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1</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e>
                            </m:d>
                          </m:e>
                        </m: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0</m:t>
                        </m:r>
                      </m:oMath>
                    </m:oMathPara>
                  </a14:m>
                </a:p>
              </p:txBody>
            </p:sp>
          </mc:Choice>
        </mc:AlternateContent>
      </p:grpSp>
      <p:grpSp>
        <p:nvGrpSpPr>
          <p:cNvPr id="35" name="c1-table-2"/>
          <p:cNvGrpSpPr/>
          <p:nvPr/>
        </p:nvGrpSpPr>
        <p:grpSpPr>
          <a:xfrm>
            <a:off x="533400" y="4168140"/>
            <a:ext cx="5626418" cy="2028825"/>
            <a:chOff x="533400" y="4168140"/>
            <a:chExt cx="5626418" cy="2028825"/>
          </a:xfrm>
        </p:grpSpPr>
        <p:sp>
          <p:nvSpPr>
            <p:cNvPr id="17" name="Rectangle 17"/>
            <p:cNvSpPr/>
            <p:nvPr/>
          </p:nvSpPr>
          <p:spPr>
            <a:xfrm>
              <a:off x="533400" y="4168140"/>
              <a:ext cx="5626418" cy="405765"/>
            </a:xfrm>
            <a:prstGeom prst="rect">
              <a:avLst/>
            </a:prstGeom>
            <a:solidFill>
              <a:srgbClr val="0E7C86"/>
            </a:solidFill>
            <a:ln>
              <a:noFill/>
            </a:ln>
          </p:spPr>
        </p:sp>
        <p:sp>
          <p:nvSpPr>
            <p:cNvPr id="18" name="TextBox 18"/>
            <p:cNvSpPr txBox="1"/>
            <p:nvPr/>
          </p:nvSpPr>
          <p:spPr>
            <a:xfrm>
              <a:off x="1277023" y="429244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名称</a:t>
              </a:r>
            </a:p>
          </p:txBody>
        </p:sp>
        <p:sp>
          <p:nvSpPr>
            <p:cNvPr id="19" name="TextBox 19"/>
            <p:cNvSpPr txBox="1"/>
            <p:nvPr/>
          </p:nvSpPr>
          <p:spPr>
            <a:xfrm>
              <a:off x="4090708" y="429244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内容</a:t>
              </a:r>
            </a:p>
          </p:txBody>
        </p:sp>
        <p:sp>
          <p:nvSpPr>
            <p:cNvPr id="20" name="TextBox 20"/>
            <p:cNvSpPr txBox="1"/>
            <p:nvPr/>
          </p:nvSpPr>
          <p:spPr>
            <a:xfrm>
              <a:off x="633412" y="4698206"/>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平稳性</a:t>
              </a:r>
            </a:p>
          </p:txBody>
        </p:sp>
        <p:sp>
          <p:nvSpPr>
            <p:cNvPr id="21" name="TextBox 21"/>
            <p:cNvSpPr txBox="1"/>
            <p:nvPr/>
          </p:nvSpPr>
          <p:spPr>
            <a:xfrm>
              <a:off x="2433638" y="4698206"/>
              <a:ext cx="221999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L 对主问题参数 w、b 的偏导为 0</a:t>
              </a:r>
            </a:p>
          </p:txBody>
        </p:sp>
        <p:sp>
          <p:nvSpPr>
            <p:cNvPr id="22" name="Rectangle 22"/>
            <p:cNvSpPr/>
            <p:nvPr/>
          </p:nvSpPr>
          <p:spPr>
            <a:xfrm>
              <a:off x="533400" y="4974908"/>
              <a:ext cx="5626418" cy="9525"/>
            </a:xfrm>
            <a:prstGeom prst="rect">
              <a:avLst/>
            </a:prstGeom>
            <a:solidFill>
              <a:srgbClr val="D9DFEA"/>
            </a:solidFill>
            <a:ln>
              <a:noFill/>
            </a:ln>
          </p:spPr>
        </p:sp>
        <p:sp>
          <p:nvSpPr>
            <p:cNvPr id="23" name="Rectangle 23"/>
            <p:cNvSpPr/>
            <p:nvPr/>
          </p:nvSpPr>
          <p:spPr>
            <a:xfrm>
              <a:off x="533400" y="4979670"/>
              <a:ext cx="5626418" cy="405765"/>
            </a:xfrm>
            <a:prstGeom prst="rect">
              <a:avLst/>
            </a:prstGeom>
            <a:solidFill>
              <a:srgbClr val="F4F6FB"/>
            </a:solidFill>
            <a:ln>
              <a:noFill/>
            </a:ln>
          </p:spPr>
        </p:sp>
        <p:sp>
          <p:nvSpPr>
            <p:cNvPr id="24" name="TextBox 24"/>
            <p:cNvSpPr txBox="1"/>
            <p:nvPr/>
          </p:nvSpPr>
          <p:spPr>
            <a:xfrm>
              <a:off x="633412" y="5103971"/>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原始问题可行性</a:t>
              </a:r>
            </a:p>
          </p:txBody>
        </p:sp>
        <p:sp>
          <p:nvSpPr>
            <p:cNvPr id="25" name="TextBox 25"/>
            <p:cNvSpPr txBox="1"/>
            <p:nvPr/>
          </p:nvSpPr>
          <p:spPr>
            <a:xfrm>
              <a:off x="2433638" y="5103971"/>
              <a:ext cx="298168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1 − yᵢ(w·xᵢ + b) ≤ 0，即样本都在自己一侧</a:t>
              </a:r>
            </a:p>
          </p:txBody>
        </p:sp>
        <p:sp>
          <p:nvSpPr>
            <p:cNvPr id="26" name="Rectangle 26"/>
            <p:cNvSpPr/>
            <p:nvPr/>
          </p:nvSpPr>
          <p:spPr>
            <a:xfrm>
              <a:off x="533400" y="5380672"/>
              <a:ext cx="5626418" cy="9525"/>
            </a:xfrm>
            <a:prstGeom prst="rect">
              <a:avLst/>
            </a:prstGeom>
            <a:solidFill>
              <a:srgbClr val="D9DFEA"/>
            </a:solidFill>
            <a:ln>
              <a:noFill/>
            </a:ln>
          </p:spPr>
        </p:sp>
        <p:sp>
          <p:nvSpPr>
            <p:cNvPr id="27" name="TextBox 27"/>
            <p:cNvSpPr txBox="1"/>
            <p:nvPr/>
          </p:nvSpPr>
          <p:spPr>
            <a:xfrm>
              <a:off x="633412" y="5509736"/>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对偶问题可行性</a:t>
              </a:r>
            </a:p>
          </p:txBody>
        </p:sp>
        <p:sp>
          <p:nvSpPr>
            <p:cNvPr id="28" name="TextBox 28"/>
            <p:cNvSpPr txBox="1"/>
            <p:nvPr/>
          </p:nvSpPr>
          <p:spPr>
            <a:xfrm>
              <a:off x="2433638" y="5509736"/>
              <a:ext cx="433598"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αᵢ ≥ 0</a:t>
              </a:r>
            </a:p>
          </p:txBody>
        </p:sp>
        <p:sp>
          <p:nvSpPr>
            <p:cNvPr id="29" name="Rectangle 29"/>
            <p:cNvSpPr/>
            <p:nvPr/>
          </p:nvSpPr>
          <p:spPr>
            <a:xfrm>
              <a:off x="533400" y="5786438"/>
              <a:ext cx="5626418" cy="9525"/>
            </a:xfrm>
            <a:prstGeom prst="rect">
              <a:avLst/>
            </a:prstGeom>
            <a:solidFill>
              <a:srgbClr val="D9DFEA"/>
            </a:solidFill>
            <a:ln>
              <a:noFill/>
            </a:ln>
          </p:spPr>
        </p:sp>
        <p:sp>
          <p:nvSpPr>
            <p:cNvPr id="30" name="Rectangle 30"/>
            <p:cNvSpPr/>
            <p:nvPr/>
          </p:nvSpPr>
          <p:spPr>
            <a:xfrm>
              <a:off x="533400" y="5791200"/>
              <a:ext cx="5626418" cy="405765"/>
            </a:xfrm>
            <a:prstGeom prst="rect">
              <a:avLst/>
            </a:prstGeom>
            <a:solidFill>
              <a:srgbClr val="F4F6FB"/>
            </a:solidFill>
            <a:ln>
              <a:noFill/>
            </a:ln>
          </p:spPr>
        </p:sp>
        <p:sp>
          <p:nvSpPr>
            <p:cNvPr id="31" name="TextBox 31"/>
            <p:cNvSpPr txBox="1"/>
            <p:nvPr/>
          </p:nvSpPr>
          <p:spPr>
            <a:xfrm>
              <a:off x="633412" y="591550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互补松弛</a:t>
              </a:r>
            </a:p>
          </p:txBody>
        </p:sp>
        <p:sp>
          <p:nvSpPr>
            <p:cNvPr id="32" name="TextBox 32"/>
            <p:cNvSpPr txBox="1"/>
            <p:nvPr/>
          </p:nvSpPr>
          <p:spPr>
            <a:xfrm>
              <a:off x="2433638" y="5915501"/>
              <a:ext cx="1888571"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αᵢ·[1 − yᵢ(w·xᵢ + b)] = 0</a:t>
              </a:r>
            </a:p>
          </p:txBody>
        </p:sp>
        <p:sp>
          <p:nvSpPr>
            <p:cNvPr id="33" name="Rectangle 33"/>
            <p:cNvSpPr/>
            <p:nvPr/>
          </p:nvSpPr>
          <p:spPr>
            <a:xfrm>
              <a:off x="533400" y="4168140"/>
              <a:ext cx="5626418" cy="2028825"/>
            </a:xfrm>
            <a:prstGeom prst="rect">
              <a:avLst/>
            </a:prstGeom>
            <a:noFill/>
            <a:ln w="14288">
              <a:solidFill>
                <a:srgbClr val="D9DFEA"/>
              </a:solidFill>
            </a:ln>
          </p:spPr>
        </p:sp>
        <p:sp>
          <p:nvSpPr>
            <p:cNvPr id="34" name="Rectangle 34"/>
            <p:cNvSpPr/>
            <p:nvPr/>
          </p:nvSpPr>
          <p:spPr>
            <a:xfrm>
              <a:off x="2328862" y="4168140"/>
              <a:ext cx="9525" cy="2028825"/>
            </a:xfrm>
            <a:prstGeom prst="rect">
              <a:avLst/>
            </a:prstGeom>
            <a:solidFill>
              <a:srgbClr val="D9DFEA"/>
            </a:solidFill>
            <a:ln>
              <a:noFill/>
            </a:ln>
          </p:spPr>
        </p:sp>
      </p:grpSp>
      <p:grpSp>
        <p:nvGrpSpPr>
          <p:cNvPr id="43" name="c2-card-1"/>
          <p:cNvGrpSpPr/>
          <p:nvPr/>
        </p:nvGrpSpPr>
        <p:grpSpPr>
          <a:xfrm>
            <a:off x="6464618" y="1941195"/>
            <a:ext cx="5193982" cy="1786890"/>
            <a:chOff x="6464618" y="1941195"/>
            <a:chExt cx="5193982" cy="1786890"/>
          </a:xfrm>
        </p:grpSpPr>
        <p:sp>
          <p:nvSpPr>
            <p:cNvPr id="36" name="Rectangle 36"/>
            <p:cNvSpPr/>
            <p:nvPr/>
          </p:nvSpPr>
          <p:spPr>
            <a:xfrm>
              <a:off x="6464618" y="1941195"/>
              <a:ext cx="5193982" cy="1786890"/>
            </a:xfrm>
            <a:prstGeom prst="roundRect">
              <a:avLst>
                <a:gd name="adj" fmla="val 7463"/>
              </a:avLst>
            </a:prstGeom>
            <a:solidFill>
              <a:srgbClr val="FFFFFF"/>
            </a:solidFill>
            <a:ln w="14288">
              <a:solidFill>
                <a:srgbClr val="D9DFEA"/>
              </a:solidFill>
            </a:ln>
          </p:spPr>
        </p:sp>
        <p:sp>
          <p:nvSpPr>
            <p:cNvPr id="37" name="Rectangle 37"/>
            <p:cNvSpPr/>
            <p:nvPr/>
          </p:nvSpPr>
          <p:spPr>
            <a:xfrm>
              <a:off x="6474142" y="2074545"/>
              <a:ext cx="47625" cy="1520190"/>
            </a:xfrm>
            <a:prstGeom prst="roundRect">
              <a:avLst>
                <a:gd name="adj" fmla="val 50000"/>
              </a:avLst>
            </a:prstGeom>
            <a:solidFill>
              <a:srgbClr val="5B6475"/>
            </a:solidFill>
            <a:ln>
              <a:noFill/>
            </a:ln>
          </p:spPr>
        </p:sp>
        <p:sp>
          <p:nvSpPr>
            <p:cNvPr id="38" name="Rectangle 38"/>
            <p:cNvSpPr/>
            <p:nvPr/>
          </p:nvSpPr>
          <p:spPr>
            <a:xfrm>
              <a:off x="6695122" y="2133600"/>
              <a:ext cx="476250" cy="247650"/>
            </a:xfrm>
            <a:prstGeom prst="roundRect">
              <a:avLst>
                <a:gd name="adj" fmla="val 50000"/>
              </a:avLst>
            </a:prstGeom>
            <a:solidFill>
              <a:srgbClr val="F4F6FB"/>
            </a:solidFill>
            <a:ln>
              <a:noFill/>
            </a:ln>
          </p:spPr>
        </p:sp>
        <p:sp>
          <p:nvSpPr>
            <p:cNvPr id="39" name="TextBox 39"/>
            <p:cNvSpPr txBox="1"/>
            <p:nvPr/>
          </p:nvSpPr>
          <p:spPr>
            <a:xfrm>
              <a:off x="6786562" y="2167890"/>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40" name="TextBox 40"/>
            <p:cNvSpPr txBox="1"/>
            <p:nvPr/>
          </p:nvSpPr>
          <p:spPr>
            <a:xfrm>
              <a:off x="7278814" y="2173605"/>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原课件把标注贴错了行</a:t>
              </a:r>
            </a:p>
          </p:txBody>
        </p:sp>
        <p:sp>
          <p:nvSpPr>
            <p:cNvPr id="41" name="TextBox 41"/>
            <p:cNvSpPr txBox="1"/>
            <p:nvPr/>
          </p:nvSpPr>
          <p:spPr>
            <a:xfrm>
              <a:off x="6688264" y="2507932"/>
              <a:ext cx="434282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B 版第 59 页把 ∂L/∂ξ = C − α − β = 0 标成“原始问题可行</a:t>
              </a:r>
              <a:br/>
              <a:r>
                <a:rPr lang="zh-CN" sz="1350" dirty="0">
                  <a:solidFill>
                    <a:srgbClr val="1F2937"/>
                  </a:solidFill>
                  <a:latin typeface="+mn-lt"/>
                  <a:ea typeface="+mn-ea"/>
                  <a:cs typeface="+mn-cs"/>
                </a:rPr>
                <a:t>性”，它其实是</a:t>
              </a:r>
              <a:r>
                <a:rPr lang="zh-CN" sz="1350" b="1" dirty="0">
                  <a:solidFill>
                    <a:srgbClr val="C2410C"/>
                  </a:solidFill>
                  <a:latin typeface="+mn-lt"/>
                  <a:ea typeface="+mn-ea"/>
                  <a:cs typeface="+mn-cs"/>
                </a:rPr>
                <a:t>平稳性</a:t>
              </a:r>
              <a:r>
                <a:rPr lang="zh-CN" sz="1350" dirty="0">
                  <a:solidFill>
                    <a:srgbClr val="1F2937"/>
                  </a:solidFill>
                  <a:latin typeface="+mn-lt"/>
                  <a:ea typeface="+mn-ea"/>
                  <a:cs typeface="+mn-cs"/>
                </a:rPr>
                <a:t>条件。</a:t>
              </a:r>
            </a:p>
          </p:txBody>
        </p:sp>
        <p:sp>
          <p:nvSpPr>
            <p:cNvPr id="42" name="TextBox 42"/>
            <p:cNvSpPr txBox="1"/>
            <p:nvPr/>
          </p:nvSpPr>
          <p:spPr>
            <a:xfrm>
              <a:off x="6688264" y="3068002"/>
              <a:ext cx="445427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原始问题可行性指的是原问题的约束本身：1 − ξᵢ − yᵢ(w·</a:t>
              </a:r>
              <a:br/>
              <a:r>
                <a:rPr lang="zh-CN" sz="1350" dirty="0">
                  <a:solidFill>
                    <a:srgbClr val="1F2937"/>
                  </a:solidFill>
                  <a:latin typeface="+mn-lt"/>
                  <a:ea typeface="+mn-ea"/>
                  <a:cs typeface="+mn-cs"/>
                </a:rPr>
                <a:t>φ(xᵢ) + b) ≤ 0 与 ξᵢ ≥ 0。</a:t>
              </a:r>
            </a:p>
          </p:txBody>
        </p:sp>
      </p:grpSp>
      <p:grpSp>
        <p:nvGrpSpPr>
          <p:cNvPr id="54" name="c2-card-2"/>
          <p:cNvGrpSpPr/>
          <p:nvPr/>
        </p:nvGrpSpPr>
        <p:grpSpPr>
          <a:xfrm>
            <a:off x="6464618" y="3903345"/>
            <a:ext cx="5193982" cy="2293620"/>
            <a:chOff x="6464618" y="3903345"/>
            <a:chExt cx="5193982" cy="2293620"/>
          </a:xfrm>
        </p:grpSpPr>
        <p:sp>
          <p:nvSpPr>
            <p:cNvPr id="44" name="Rectangle 44"/>
            <p:cNvSpPr/>
            <p:nvPr/>
          </p:nvSpPr>
          <p:spPr>
            <a:xfrm>
              <a:off x="6464618" y="3903345"/>
              <a:ext cx="5193982" cy="2293620"/>
            </a:xfrm>
            <a:prstGeom prst="roundRect">
              <a:avLst>
                <a:gd name="adj" fmla="val 5814"/>
              </a:avLst>
            </a:prstGeom>
            <a:solidFill>
              <a:srgbClr val="0E7C86"/>
            </a:solidFill>
            <a:ln>
              <a:noFill/>
            </a:ln>
          </p:spPr>
        </p:sp>
        <p:sp>
          <p:nvSpPr>
            <p:cNvPr id="45" name="Rectangle 45"/>
            <p:cNvSpPr/>
            <p:nvPr/>
          </p:nvSpPr>
          <p:spPr>
            <a:xfrm>
              <a:off x="6657022" y="4095750"/>
              <a:ext cx="1009650" cy="247650"/>
            </a:xfrm>
            <a:prstGeom prst="roundRect">
              <a:avLst>
                <a:gd name="adj" fmla="val 50000"/>
              </a:avLst>
            </a:prstGeom>
            <a:solidFill>
              <a:srgbClr val="0B5F67"/>
            </a:solidFill>
            <a:ln>
              <a:noFill/>
            </a:ln>
          </p:spPr>
        </p:sp>
        <p:sp>
          <p:nvSpPr>
            <p:cNvPr id="46" name="TextBox 46"/>
            <p:cNvSpPr txBox="1"/>
            <p:nvPr/>
          </p:nvSpPr>
          <p:spPr>
            <a:xfrm>
              <a:off x="6732461" y="4130040"/>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最有用的一条</a:t>
              </a:r>
            </a:p>
          </p:txBody>
        </p:sp>
        <p:sp>
          <p:nvSpPr>
            <p:cNvPr id="47" name="TextBox 47"/>
            <p:cNvSpPr txBox="1"/>
            <p:nvPr/>
          </p:nvSpPr>
          <p:spPr>
            <a:xfrm>
              <a:off x="7774114" y="4135755"/>
              <a:ext cx="164934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互补松弛推出稀疏性</a:t>
              </a:r>
            </a:p>
          </p:txBody>
        </p:sp>
        <p:sp>
          <p:nvSpPr>
            <p:cNvPr id="48" name="TextBox 48"/>
            <p:cNvSpPr txBox="1"/>
            <p:nvPr/>
          </p:nvSpPr>
          <p:spPr>
            <a:xfrm>
              <a:off x="6650164" y="4469130"/>
              <a:ext cx="447535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对每个 i，αᵢ 与 [1 − yᵢ(w·xᵢ + b)] 至少有一个是 0：</a:t>
              </a:r>
            </a:p>
          </p:txBody>
        </p:sp>
        <p:sp>
          <p:nvSpPr>
            <p:cNvPr id="49" name="Ellipse 49"/>
            <p:cNvSpPr/>
            <p:nvPr/>
          </p:nvSpPr>
          <p:spPr>
            <a:xfrm>
              <a:off x="6665595" y="4828222"/>
              <a:ext cx="59055" cy="59055"/>
            </a:xfrm>
            <a:prstGeom prst="ellipse">
              <a:avLst/>
            </a:prstGeom>
            <a:solidFill>
              <a:srgbClr val="FFFFFF"/>
            </a:solidFill>
            <a:ln>
              <a:noFill/>
            </a:ln>
          </p:spPr>
        </p:sp>
        <p:sp>
          <p:nvSpPr>
            <p:cNvPr id="50" name="TextBox 50"/>
            <p:cNvSpPr txBox="1"/>
            <p:nvPr/>
          </p:nvSpPr>
          <p:spPr>
            <a:xfrm>
              <a:off x="6821614" y="4772025"/>
              <a:ext cx="429139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αᵢ &gt; 0 ⟹ yᵢ(w·xᵢ + b) = 1，该样本在边界上，是</a:t>
              </a:r>
              <a:r>
                <a:rPr lang="zh-CN" sz="1350" b="1" dirty="0">
                  <a:solidFill>
                    <a:srgbClr val="FFD58A"/>
                  </a:solidFill>
                  <a:latin typeface="+mn-lt"/>
                  <a:ea typeface="+mn-ea"/>
                  <a:cs typeface="+mn-cs"/>
                </a:rPr>
                <a:t>支持向</a:t>
              </a:r>
              <a:br/>
              <a:r>
                <a:rPr lang="zh-CN" sz="1350" b="1" dirty="0">
                  <a:solidFill>
                    <a:srgbClr val="FFD58A"/>
                  </a:solidFill>
                  <a:latin typeface="+mn-lt"/>
                  <a:ea typeface="+mn-ea"/>
                  <a:cs typeface="+mn-cs"/>
                </a:rPr>
                <a:t>量</a:t>
              </a:r>
            </a:p>
          </p:txBody>
        </p:sp>
        <p:sp>
          <p:nvSpPr>
            <p:cNvPr id="51" name="Ellipse 51"/>
            <p:cNvSpPr/>
            <p:nvPr/>
          </p:nvSpPr>
          <p:spPr>
            <a:xfrm>
              <a:off x="6665595" y="5388292"/>
              <a:ext cx="59055" cy="59055"/>
            </a:xfrm>
            <a:prstGeom prst="ellipse">
              <a:avLst/>
            </a:prstGeom>
            <a:solidFill>
              <a:srgbClr val="FFFFFF"/>
            </a:solidFill>
            <a:ln>
              <a:noFill/>
            </a:ln>
          </p:spPr>
        </p:sp>
        <p:sp>
          <p:nvSpPr>
            <p:cNvPr id="52" name="TextBox 52"/>
            <p:cNvSpPr txBox="1"/>
            <p:nvPr/>
          </p:nvSpPr>
          <p:spPr>
            <a:xfrm>
              <a:off x="6821614" y="5332095"/>
              <a:ext cx="4066451"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yᵢ(w·xᵢ + b) &gt; 1 ⟹ αᵢ = 0，该样本对 w 毫无贡献</a:t>
              </a:r>
            </a:p>
          </p:txBody>
        </p:sp>
        <p:sp>
          <p:nvSpPr>
            <p:cNvPr id="53" name="TextBox 53"/>
            <p:cNvSpPr txBox="1"/>
            <p:nvPr/>
          </p:nvSpPr>
          <p:spPr>
            <a:xfrm>
              <a:off x="6651308" y="5630704"/>
              <a:ext cx="4694568" cy="220028"/>
            </a:xfrm>
            <a:prstGeom prst="rect">
              <a:avLst/>
            </a:prstGeom>
            <a:noFill/>
            <a:ln>
              <a:noFill/>
            </a:ln>
          </p:spPr>
          <p:txBody>
            <a:bodyPr wrap="none" lIns="0" tIns="0" rIns="0" bIns="0" anchor="t" anchorCtr="0">
              <a:spAutoFit/>
            </a:bodyPr>
            <a:lstStyle/>
            <a:p>
              <a:pPr algn="l"/>
              <a:r>
                <a:rPr lang="zh-CN" sz="1120" dirty="0">
                  <a:solidFill>
                    <a:srgbClr val="FFFFFF"/>
                  </a:solidFill>
                  <a:latin typeface="+mn-lt"/>
                  <a:ea typeface="+mn-ea"/>
                  <a:cs typeface="+mn-cs"/>
                </a:rPr>
                <a:t>由 w = Σαᵢyᵢxᵢ 可知，w 只由支持向量决定，这就是 SVM 的稀疏性。</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6" name="TextBox 5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为什么绕一圈去解对偶问题</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6" name="c1-card-1"/>
          <p:cNvGrpSpPr/>
          <p:nvPr/>
        </p:nvGrpSpPr>
        <p:grpSpPr>
          <a:xfrm>
            <a:off x="533400" y="1524000"/>
            <a:ext cx="5410200" cy="2862262"/>
            <a:chOff x="533400" y="1524000"/>
            <a:chExt cx="5410200" cy="2862262"/>
          </a:xfrm>
        </p:grpSpPr>
        <p:sp>
          <p:nvSpPr>
            <p:cNvPr id="7" name="Rectangle 7"/>
            <p:cNvSpPr/>
            <p:nvPr/>
          </p:nvSpPr>
          <p:spPr>
            <a:xfrm>
              <a:off x="533400" y="1524000"/>
              <a:ext cx="5410200" cy="2862262"/>
            </a:xfrm>
            <a:prstGeom prst="roundRect">
              <a:avLst>
                <a:gd name="adj" fmla="val 4659"/>
              </a:avLst>
            </a:prstGeom>
            <a:solidFill>
              <a:srgbClr val="FFFFFF"/>
            </a:solidFill>
            <a:ln w="14288">
              <a:solidFill>
                <a:srgbClr val="D9DFEA"/>
              </a:solidFill>
            </a:ln>
          </p:spPr>
        </p:sp>
        <p:sp>
          <p:nvSpPr>
            <p:cNvPr id="8" name="Rectangle 8"/>
            <p:cNvSpPr/>
            <p:nvPr/>
          </p:nvSpPr>
          <p:spPr>
            <a:xfrm>
              <a:off x="542925" y="1657350"/>
              <a:ext cx="47625" cy="2595562"/>
            </a:xfrm>
            <a:prstGeom prst="roundRect">
              <a:avLst>
                <a:gd name="adj" fmla="val 50000"/>
              </a:avLst>
            </a:prstGeom>
            <a:solidFill>
              <a:srgbClr val="0E7C86"/>
            </a:solidFill>
            <a:ln>
              <a:noFill/>
            </a:ln>
          </p:spPr>
        </p:sp>
        <p:sp>
          <p:nvSpPr>
            <p:cNvPr id="9" name="Rectangle 9"/>
            <p:cNvSpPr/>
            <p:nvPr/>
          </p:nvSpPr>
          <p:spPr>
            <a:xfrm>
              <a:off x="752475" y="1704975"/>
              <a:ext cx="458152" cy="238125"/>
            </a:xfrm>
            <a:prstGeom prst="roundRect">
              <a:avLst>
                <a:gd name="adj" fmla="val 50000"/>
              </a:avLst>
            </a:prstGeom>
            <a:solidFill>
              <a:srgbClr val="E2F3F4"/>
            </a:solidFill>
            <a:ln>
              <a:noFill/>
            </a:ln>
          </p:spPr>
        </p:sp>
        <p:sp>
          <p:nvSpPr>
            <p:cNvPr id="10" name="TextBox 10"/>
            <p:cNvSpPr txBox="1"/>
            <p:nvPr/>
          </p:nvSpPr>
          <p:spPr>
            <a:xfrm>
              <a:off x="845147" y="1737836"/>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转换</a:t>
              </a:r>
            </a:p>
          </p:txBody>
        </p:sp>
        <p:sp>
          <p:nvSpPr>
            <p:cNvPr id="11" name="TextBox 11"/>
            <p:cNvSpPr txBox="1"/>
            <p:nvPr/>
          </p:nvSpPr>
          <p:spPr>
            <a:xfrm>
              <a:off x="1318450" y="1744504"/>
              <a:ext cx="204970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从 min max 换成 max min</a:t>
              </a:r>
            </a:p>
          </p:txBody>
        </p:sp>
        <p:sp>
          <p:nvSpPr>
            <p:cNvPr id="12" name="TextBox 12"/>
            <p:cNvSpPr txBox="1"/>
            <p:nvPr/>
          </p:nvSpPr>
          <p:spPr>
            <a:xfrm>
              <a:off x="745998" y="2061686"/>
              <a:ext cx="347645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先把约束吸收进目标函数。令 αᵢ ≥ 0，构造：</a:t>
              </a:r>
            </a:p>
          </p:txBody>
        </p:sp>
        <mc:AlternateContent xmlns:mc="http://schemas.openxmlformats.org/markup-compatibility/2006">
          <mc:Choice xmlns:a14="http://schemas.microsoft.com/office/drawing/2010/main" Requires="a14">
            <p:sp>
              <p:nvSpPr>
                <p:cNvPr id="13" name="formula100"/>
                <p:cNvSpPr txBox="1">
                  <a:spLocks noGrp="1"/>
                </p:cNvSpPr>
                <p:nvPr/>
              </p:nvSpPr>
              <p:spPr>
                <a:xfrm>
                  <a:off x="752475" y="2325052"/>
                  <a:ext cx="5010150" cy="56673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280" dirty="0">
                            <a:solidFill>
                              <a:srgbClr val="1F2937"/>
                            </a:solidFill>
                            <a:latin typeface="Cambria Math"/>
                            <a:ea typeface="Cambria Math"/>
                            <a:cs typeface="Cambria Math"/>
                          </a:rPr>
                          <m:t>L</m:t>
                        </m:r>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w</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b</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α</m:t>
                            </m:r>
                          </m:e>
                        </m:d>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sSup>
                          <m:e>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w</m:t>
                                </m:r>
                              </m:e>
                            </m:d>
                          </m:e>
                          <m:sup>
                            <m:r>
                              <a:rPr lang="zh-CN" sz="1280" dirty="0">
                                <a:solidFill>
                                  <a:srgbClr val="1F2937"/>
                                </a:solidFill>
                                <a:latin typeface="Cambria Math"/>
                                <a:ea typeface="Cambria Math"/>
                                <a:cs typeface="Cambria Math"/>
                              </a:rPr>
                              <m:t>2</m:t>
                            </m:r>
                          </m:sup>
                        </m:sSup>
                        <m:r>
                          <m:rPr>
                            <m:sty m:val="p"/>
                          </m:rPr>
                          <a:rPr lang="zh-CN" sz="1280" dirty="0">
                            <a:solidFill>
                              <a:srgbClr val="1F2937"/>
                            </a:solidFill>
                            <a:latin typeface="Cambria Math"/>
                            <a:ea typeface="Cambria Math"/>
                            <a:cs typeface="Cambria Math"/>
                          </a:rPr>
                          <m:t>+</m:t>
                        </m:r>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1</m:t>
                                </m:r>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i</m:t>
                                    </m:r>
                                  </m:sub>
                                </m:sSub>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w</m:t>
                                    </m:r>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b</m:t>
                                    </m:r>
                                  </m:e>
                                </m:d>
                              </m:e>
                            </m:d>
                          </m:e>
                        </m:nary>
                      </m:oMath>
                    </m:oMathPara>
                  </a14:m>
                </a:p>
              </p:txBody>
            </p:sp>
          </mc:Choice>
        </mc:AlternateContent>
        <p:sp>
          <p:nvSpPr>
            <p:cNvPr id="14" name="TextBox 14"/>
            <p:cNvSpPr txBox="1"/>
            <p:nvPr/>
          </p:nvSpPr>
          <p:spPr>
            <a:xfrm>
              <a:off x="745998" y="2994184"/>
              <a:ext cx="4792218"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对固定的 (w, b)，若某个约束被违反（方括号 &gt; 0），对 α 求极大</a:t>
              </a:r>
              <a:br/>
              <a:r>
                <a:rPr lang="zh-CN" sz="1280" dirty="0">
                  <a:solidFill>
                    <a:srgbClr val="1F2937"/>
                  </a:solidFill>
                  <a:latin typeface="+mn-lt"/>
                  <a:ea typeface="+mn-ea"/>
                  <a:cs typeface="+mn-cs"/>
                </a:rPr>
                <a:t>就是 +∞；若全部满足，极大值就是 ½||w||²。于是原问题等价于</a:t>
              </a:r>
              <a:r>
                <a:rPr lang="zh-CN" sz="1280" b="1" dirty="0">
                  <a:solidFill>
                    <a:srgbClr val="C2410C"/>
                  </a:solidFill>
                  <a:latin typeface="+mn-lt"/>
                  <a:ea typeface="+mn-ea"/>
                  <a:cs typeface="+mn-cs"/>
                </a:rPr>
                <a:t>先</a:t>
              </a:r>
              <a:br/>
              <a:r>
                <a:rPr lang="zh-CN" sz="1280" b="1" dirty="0">
                  <a:solidFill>
                    <a:srgbClr val="C2410C"/>
                  </a:solidFill>
                  <a:latin typeface="+mn-lt"/>
                  <a:ea typeface="+mn-ea"/>
                  <a:cs typeface="+mn-cs"/>
                </a:rPr>
                <a:t>对 α 求极大、再对 (w, b) 求极小</a:t>
              </a:r>
              <a:r>
                <a:rPr lang="zh-CN" sz="1280" dirty="0">
                  <a:solidFill>
                    <a:srgbClr val="1F2937"/>
                  </a:solidFill>
                  <a:latin typeface="+mn-lt"/>
                  <a:ea typeface="+mn-ea"/>
                  <a:cs typeface="+mn-cs"/>
                </a:rPr>
                <a:t>。</a:t>
              </a:r>
            </a:p>
          </p:txBody>
        </p:sp>
        <mc:AlternateContent xmlns:mc="http://schemas.openxmlformats.org/markup-compatibility/2006">
          <mc:Choice xmlns:a14="http://schemas.microsoft.com/office/drawing/2010/main" Requires="a14">
            <p:sp>
              <p:nvSpPr>
                <p:cNvPr id="15" name="formula101"/>
                <p:cNvSpPr txBox="1">
                  <a:spLocks noGrp="1"/>
                </p:cNvSpPr>
                <p:nvPr/>
              </p:nvSpPr>
              <p:spPr>
                <a:xfrm>
                  <a:off x="752475" y="3743325"/>
                  <a:ext cx="5010150" cy="44577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350" dirty="0">
                                    <a:solidFill>
                                      <a:srgbClr val="1F2937"/>
                                    </a:solidFill>
                                    <a:latin typeface="Cambria Math"/>
                                    <a:ea typeface="Cambria Math"/>
                                    <a:cs typeface="Cambria Math"/>
                                  </a:rPr>
                                  <m:t>min</m:t>
                                </m:r>
                              </m:e>
                              <m:lim>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lim>
                            </m:limLow>
                          </m:fName>
                          <m:e>
                            <m:func>
                              <m:funcPr/>
                              <m:fName>
                                <m:limLow>
                                  <m:limLowPr/>
                                  <m:e>
                                    <m:r>
                                      <m:rPr>
                                        <m:sty m:val="p"/>
                                      </m:rPr>
                                      <a:rPr lang="zh-CN" sz="1350" dirty="0">
                                        <a:solidFill>
                                          <a:srgbClr val="1F2937"/>
                                        </a:solidFill>
                                        <a:latin typeface="Cambria Math"/>
                                        <a:ea typeface="Cambria Math"/>
                                        <a:cs typeface="Cambria Math"/>
                                      </a:rPr>
                                      <m:t>max</m:t>
                                    </m:r>
                                  </m:e>
                                  <m:lim>
                                    <m:r>
                                      <a:rPr lang="zh-CN" sz="1350" dirty="0">
                                        <a:solidFill>
                                          <a:srgbClr val="1F2937"/>
                                        </a:solidFill>
                                        <a:latin typeface="Cambria Math"/>
                                        <a:ea typeface="Cambria Math"/>
                                        <a:cs typeface="Cambria Math"/>
                                      </a:rPr>
                                      <m:t>α</m:t>
                                    </m:r>
                                  </m:lim>
                                </m:limLow>
                              </m:fName>
                              <m:e>
                                <m:r>
                                  <a:rPr lang="zh-CN" sz="1350" dirty="0">
                                    <a:solidFill>
                                      <a:srgbClr val="1F2937"/>
                                    </a:solidFill>
                                    <a:latin typeface="Cambria Math"/>
                                    <a:ea typeface="Cambria Math"/>
                                    <a:cs typeface="Cambria Math"/>
                                  </a:rPr>
                                  <m:t>L</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α</m:t>
                                    </m:r>
                                  </m:e>
                                </m:d>
                              </m:e>
                            </m:func>
                          </m:e>
                        </m:func>
                        <m:r>
                          <a:rPr lang="zh-CN" sz="1350" dirty="0">
                            <a:solidFill>
                              <a:srgbClr val="1F2937"/>
                            </a:solidFill>
                            <a:latin typeface="Cambria Math"/>
                            <a:ea typeface="Cambria Math"/>
                            <a:cs typeface="Cambria Math"/>
                          </a:rPr>
                          <m:t xml:space="preserve"> </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func>
                          <m:funcPr/>
                          <m:fName>
                            <m:limLow>
                              <m:limLowPr/>
                              <m:e>
                                <m:r>
                                  <m:rPr>
                                    <m:sty m:val="p"/>
                                  </m:rPr>
                                  <a:rPr lang="zh-CN" sz="1350" dirty="0">
                                    <a:solidFill>
                                      <a:srgbClr val="1F2937"/>
                                    </a:solidFill>
                                    <a:latin typeface="Cambria Math"/>
                                    <a:ea typeface="Cambria Math"/>
                                    <a:cs typeface="Cambria Math"/>
                                  </a:rPr>
                                  <m:t>max</m:t>
                                </m:r>
                              </m:e>
                              <m:lim>
                                <m:r>
                                  <a:rPr lang="zh-CN" sz="1350" dirty="0">
                                    <a:solidFill>
                                      <a:srgbClr val="1F2937"/>
                                    </a:solidFill>
                                    <a:latin typeface="Cambria Math"/>
                                    <a:ea typeface="Cambria Math"/>
                                    <a:cs typeface="Cambria Math"/>
                                  </a:rPr>
                                  <m:t>α</m:t>
                                </m:r>
                              </m:lim>
                            </m:limLow>
                          </m:fName>
                          <m:e>
                            <m:func>
                              <m:funcPr/>
                              <m:fName>
                                <m:limLow>
                                  <m:limLowPr/>
                                  <m:e>
                                    <m:r>
                                      <m:rPr>
                                        <m:sty m:val="p"/>
                                      </m:rPr>
                                      <a:rPr lang="zh-CN" sz="1350" dirty="0">
                                        <a:solidFill>
                                          <a:srgbClr val="1F2937"/>
                                        </a:solidFill>
                                        <a:latin typeface="Cambria Math"/>
                                        <a:ea typeface="Cambria Math"/>
                                        <a:cs typeface="Cambria Math"/>
                                      </a:rPr>
                                      <m:t>min</m:t>
                                    </m:r>
                                  </m:e>
                                  <m:lim>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lim>
                                </m:limLow>
                              </m:fName>
                              <m:e>
                                <m:r>
                                  <a:rPr lang="zh-CN" sz="1350" dirty="0">
                                    <a:solidFill>
                                      <a:srgbClr val="1F2937"/>
                                    </a:solidFill>
                                    <a:latin typeface="Cambria Math"/>
                                    <a:ea typeface="Cambria Math"/>
                                    <a:cs typeface="Cambria Math"/>
                                  </a:rPr>
                                  <m:t>L</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α</m:t>
                                    </m:r>
                                  </m:e>
                                </m:d>
                              </m:e>
                            </m:func>
                          </m:e>
                        </m:func>
                      </m:oMath>
                    </m:oMathPara>
                  </a14:m>
                </a:p>
              </p:txBody>
            </p:sp>
          </mc:Choice>
        </mc:AlternateContent>
      </p:grpSp>
      <p:grpSp>
        <p:nvGrpSpPr>
          <p:cNvPr id="24" name="c1-card-2"/>
          <p:cNvGrpSpPr/>
          <p:nvPr/>
        </p:nvGrpSpPr>
        <p:grpSpPr>
          <a:xfrm>
            <a:off x="533400" y="4551045"/>
            <a:ext cx="5410200" cy="1649730"/>
            <a:chOff x="533400" y="4551045"/>
            <a:chExt cx="5410200" cy="1649730"/>
          </a:xfrm>
        </p:grpSpPr>
        <p:sp>
          <p:nvSpPr>
            <p:cNvPr id="17" name="Rectangle 17"/>
            <p:cNvSpPr/>
            <p:nvPr/>
          </p:nvSpPr>
          <p:spPr>
            <a:xfrm>
              <a:off x="533400" y="4551045"/>
              <a:ext cx="5410200" cy="1649730"/>
            </a:xfrm>
            <a:prstGeom prst="roundRect">
              <a:avLst>
                <a:gd name="adj" fmla="val 8083"/>
              </a:avLst>
            </a:prstGeom>
            <a:solidFill>
              <a:srgbClr val="FFFFFF"/>
            </a:solidFill>
            <a:ln w="14288">
              <a:solidFill>
                <a:srgbClr val="D9DFEA"/>
              </a:solidFill>
            </a:ln>
          </p:spPr>
        </p:sp>
        <p:sp>
          <p:nvSpPr>
            <p:cNvPr id="18" name="Rectangle 18"/>
            <p:cNvSpPr/>
            <p:nvPr/>
          </p:nvSpPr>
          <p:spPr>
            <a:xfrm>
              <a:off x="542925" y="4684395"/>
              <a:ext cx="47625" cy="1383030"/>
            </a:xfrm>
            <a:prstGeom prst="roundRect">
              <a:avLst>
                <a:gd name="adj" fmla="val 50000"/>
              </a:avLst>
            </a:prstGeom>
            <a:solidFill>
              <a:srgbClr val="F26B3A"/>
            </a:solidFill>
            <a:ln>
              <a:noFill/>
            </a:ln>
          </p:spPr>
        </p:sp>
        <p:sp>
          <p:nvSpPr>
            <p:cNvPr id="19" name="Rectangle 19"/>
            <p:cNvSpPr/>
            <p:nvPr/>
          </p:nvSpPr>
          <p:spPr>
            <a:xfrm>
              <a:off x="752475" y="4732020"/>
              <a:ext cx="458152" cy="238125"/>
            </a:xfrm>
            <a:prstGeom prst="roundRect">
              <a:avLst>
                <a:gd name="adj" fmla="val 50000"/>
              </a:avLst>
            </a:prstGeom>
            <a:solidFill>
              <a:srgbClr val="FDEEE7"/>
            </a:solidFill>
            <a:ln>
              <a:noFill/>
            </a:ln>
          </p:spPr>
        </p:sp>
        <p:sp>
          <p:nvSpPr>
            <p:cNvPr id="20" name="TextBox 20"/>
            <p:cNvSpPr txBox="1"/>
            <p:nvPr/>
          </p:nvSpPr>
          <p:spPr>
            <a:xfrm>
              <a:off x="845147" y="4764881"/>
              <a:ext cx="273761"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引理</a:t>
              </a:r>
            </a:p>
          </p:txBody>
        </p:sp>
        <p:sp>
          <p:nvSpPr>
            <p:cNvPr id="21" name="TextBox 21"/>
            <p:cNvSpPr txBox="1"/>
            <p:nvPr/>
          </p:nvSpPr>
          <p:spPr>
            <a:xfrm>
              <a:off x="1318450" y="4772501"/>
              <a:ext cx="96941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Slater 条件</a:t>
              </a:r>
            </a:p>
          </p:txBody>
        </p:sp>
        <p:sp>
          <p:nvSpPr>
            <p:cNvPr id="22" name="TextBox 22"/>
            <p:cNvSpPr txBox="1"/>
            <p:nvPr/>
          </p:nvSpPr>
          <p:spPr>
            <a:xfrm>
              <a:off x="745998" y="5088731"/>
              <a:ext cx="472719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当主问题为凸优化问题（f 与 gᵢ 为凸函数、hⱼ 为仿射函数），且</a:t>
              </a:r>
              <a:br/>
              <a:r>
                <a:rPr lang="zh-CN" sz="1280" dirty="0">
                  <a:solidFill>
                    <a:srgbClr val="1F2937"/>
                  </a:solidFill>
                  <a:latin typeface="+mn-lt"/>
                  <a:ea typeface="+mn-ea"/>
                  <a:cs typeface="+mn-cs"/>
                </a:rPr>
                <a:t>可行域中至少有一点使不等式约束</a:t>
              </a:r>
              <a:r>
                <a:rPr lang="zh-CN" sz="1280" b="1" dirty="0">
                  <a:solidFill>
                    <a:srgbClr val="C2410C"/>
                  </a:solidFill>
                  <a:latin typeface="+mn-lt"/>
                  <a:ea typeface="+mn-ea"/>
                  <a:cs typeface="+mn-cs"/>
                </a:rPr>
                <a:t>严格</a:t>
              </a:r>
              <a:r>
                <a:rPr lang="zh-CN" sz="1280" dirty="0">
                  <a:solidFill>
                    <a:srgbClr val="1F2937"/>
                  </a:solidFill>
                  <a:latin typeface="+mn-lt"/>
                  <a:ea typeface="+mn-ea"/>
                  <a:cs typeface="+mn-cs"/>
                </a:rPr>
                <a:t>成立时，对偶问题与原问题</a:t>
              </a:r>
              <a:br/>
              <a:r>
                <a:rPr lang="zh-CN" sz="1280" dirty="0">
                  <a:solidFill>
                    <a:srgbClr val="1F2937"/>
                  </a:solidFill>
                  <a:latin typeface="+mn-lt"/>
                  <a:ea typeface="+mn-ea"/>
                  <a:cs typeface="+mn-cs"/>
                </a:rPr>
                <a:t>等价（强对偶性）。</a:t>
              </a:r>
            </a:p>
          </p:txBody>
        </p:sp>
        <p:sp>
          <p:nvSpPr>
            <p:cNvPr id="23" name="TextBox 23"/>
            <p:cNvSpPr txBox="1"/>
            <p:nvPr/>
          </p:nvSpPr>
          <p:spPr>
            <a:xfrm>
              <a:off x="747141" y="5855970"/>
              <a:ext cx="405170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线性可分的 SVM 满足这个条件，所以上面那个等号可以放心用。</a:t>
              </a:r>
            </a:p>
          </p:txBody>
        </p:sp>
      </p:grpSp>
      <p:grpSp>
        <p:nvGrpSpPr>
          <p:cNvPr id="41" name="c2-bullets-1"/>
          <p:cNvGrpSpPr/>
          <p:nvPr/>
        </p:nvGrpSpPr>
        <p:grpSpPr>
          <a:xfrm>
            <a:off x="6241923" y="1545431"/>
            <a:ext cx="4966430" cy="1768888"/>
            <a:chOff x="6241923" y="1545431"/>
            <a:chExt cx="4966430" cy="1768888"/>
          </a:xfrm>
        </p:grpSpPr>
        <p:sp>
          <p:nvSpPr>
            <p:cNvPr id="25" name="TextBox 25"/>
            <p:cNvSpPr txBox="1"/>
            <p:nvPr/>
          </p:nvSpPr>
          <p:spPr>
            <a:xfrm>
              <a:off x="6241923" y="1545431"/>
              <a:ext cx="1736090" cy="249364"/>
            </a:xfrm>
            <a:prstGeom prst="rect">
              <a:avLst/>
            </a:prstGeom>
            <a:noFill/>
            <a:ln>
              <a:noFill/>
            </a:ln>
          </p:spPr>
          <p:txBody>
            <a:bodyPr wrap="none" lIns="0" tIns="0" rIns="0" bIns="0" anchor="t" anchorCtr="0">
              <a:spAutoFit/>
            </a:bodyPr>
            <a:lstStyle/>
            <a:p>
              <a:pPr algn="l"/>
              <a:r>
                <a:rPr lang="zh-CN" sz="1280" b="1" dirty="0">
                  <a:solidFill>
                    <a:srgbClr val="0E7C86"/>
                  </a:solidFill>
                  <a:latin typeface="+mn-lt"/>
                  <a:ea typeface="+mn-ea"/>
                  <a:cs typeface="+mn-cs"/>
                </a:rPr>
                <a:t>解对偶问题的三个理由</a:t>
              </a:r>
            </a:p>
          </p:txBody>
        </p:sp>
        <p:sp>
          <p:nvSpPr>
            <p:cNvPr id="26" name="Ellipse 26"/>
            <p:cNvSpPr/>
            <p:nvPr/>
          </p:nvSpPr>
          <p:spPr>
            <a:xfrm>
              <a:off x="6248400" y="1835468"/>
              <a:ext cx="180975" cy="180975"/>
            </a:xfrm>
            <a:prstGeom prst="ellipse">
              <a:avLst/>
            </a:prstGeom>
            <a:solidFill>
              <a:srgbClr val="0E7C86"/>
            </a:solidFill>
            <a:ln>
              <a:noFill/>
            </a:ln>
          </p:spPr>
        </p:sp>
        <p:sp>
          <p:nvSpPr>
            <p:cNvPr id="27" name="TextBox 27"/>
            <p:cNvSpPr txBox="1"/>
            <p:nvPr/>
          </p:nvSpPr>
          <p:spPr>
            <a:xfrm>
              <a:off x="6300307" y="187013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28" name="TextBox 28"/>
            <p:cNvSpPr txBox="1"/>
            <p:nvPr/>
          </p:nvSpPr>
          <p:spPr>
            <a:xfrm>
              <a:off x="6518148" y="1846421"/>
              <a:ext cx="24253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对偶问题更容易求解、效率更高</a:t>
              </a:r>
            </a:p>
          </p:txBody>
        </p:sp>
        <p:sp>
          <p:nvSpPr>
            <p:cNvPr id="29" name="Rectangle 29"/>
            <p:cNvSpPr/>
            <p:nvPr/>
          </p:nvSpPr>
          <p:spPr>
            <a:xfrm>
              <a:off x="6524625" y="2153602"/>
              <a:ext cx="60008" cy="19050"/>
            </a:xfrm>
            <a:prstGeom prst="rect">
              <a:avLst/>
            </a:prstGeom>
            <a:solidFill>
              <a:srgbClr val="5B6475"/>
            </a:solidFill>
            <a:ln>
              <a:noFill/>
            </a:ln>
          </p:spPr>
        </p:sp>
        <p:sp>
          <p:nvSpPr>
            <p:cNvPr id="30" name="TextBox 30"/>
            <p:cNvSpPr txBox="1"/>
            <p:nvPr/>
          </p:nvSpPr>
          <p:spPr>
            <a:xfrm>
              <a:off x="6709791" y="2095500"/>
              <a:ext cx="380807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变量从 (w, b) 的 n + 1 个变成 N 个 αᵢ，且大部分 αᵢ 会是 0</a:t>
              </a:r>
            </a:p>
          </p:txBody>
        </p:sp>
        <p:sp>
          <p:nvSpPr>
            <p:cNvPr id="31" name="Ellipse 31"/>
            <p:cNvSpPr/>
            <p:nvPr/>
          </p:nvSpPr>
          <p:spPr>
            <a:xfrm>
              <a:off x="6248400" y="2342198"/>
              <a:ext cx="180975" cy="180975"/>
            </a:xfrm>
            <a:prstGeom prst="ellipse">
              <a:avLst/>
            </a:prstGeom>
            <a:solidFill>
              <a:srgbClr val="0E7C86"/>
            </a:solidFill>
            <a:ln>
              <a:noFill/>
            </a:ln>
          </p:spPr>
        </p:sp>
        <p:sp>
          <p:nvSpPr>
            <p:cNvPr id="32" name="TextBox 32"/>
            <p:cNvSpPr txBox="1"/>
            <p:nvPr/>
          </p:nvSpPr>
          <p:spPr>
            <a:xfrm>
              <a:off x="6300307" y="237686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33" name="TextBox 33"/>
            <p:cNvSpPr txBox="1"/>
            <p:nvPr/>
          </p:nvSpPr>
          <p:spPr>
            <a:xfrm>
              <a:off x="6518148" y="2353151"/>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把原始问题里的不等式约束转成了等式约束</a:t>
              </a:r>
            </a:p>
          </p:txBody>
        </p:sp>
        <p:sp>
          <p:nvSpPr>
            <p:cNvPr id="34" name="Rectangle 34"/>
            <p:cNvSpPr/>
            <p:nvPr/>
          </p:nvSpPr>
          <p:spPr>
            <a:xfrm>
              <a:off x="6524625" y="2660332"/>
              <a:ext cx="60008" cy="19050"/>
            </a:xfrm>
            <a:prstGeom prst="rect">
              <a:avLst/>
            </a:prstGeom>
            <a:solidFill>
              <a:srgbClr val="5B6475"/>
            </a:solidFill>
            <a:ln>
              <a:noFill/>
            </a:ln>
          </p:spPr>
        </p:sp>
        <p:sp>
          <p:nvSpPr>
            <p:cNvPr id="35" name="TextBox 35"/>
            <p:cNvSpPr txBox="1"/>
            <p:nvPr/>
          </p:nvSpPr>
          <p:spPr>
            <a:xfrm>
              <a:off x="6709791" y="2602230"/>
              <a:ext cx="295797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只剩 Σ αᵢyᵢ = 0 这一条等式与 αᵢ ≥ 0 的箱约束</a:t>
              </a:r>
            </a:p>
          </p:txBody>
        </p:sp>
        <p:sp>
          <p:nvSpPr>
            <p:cNvPr id="36" name="Ellipse 36"/>
            <p:cNvSpPr/>
            <p:nvPr/>
          </p:nvSpPr>
          <p:spPr>
            <a:xfrm>
              <a:off x="6248400" y="2848928"/>
              <a:ext cx="180975" cy="180975"/>
            </a:xfrm>
            <a:prstGeom prst="ellipse">
              <a:avLst/>
            </a:prstGeom>
            <a:solidFill>
              <a:srgbClr val="0E7C86"/>
            </a:solidFill>
            <a:ln>
              <a:noFill/>
            </a:ln>
          </p:spPr>
        </p:sp>
        <p:sp>
          <p:nvSpPr>
            <p:cNvPr id="37" name="TextBox 37"/>
            <p:cNvSpPr txBox="1"/>
            <p:nvPr/>
          </p:nvSpPr>
          <p:spPr>
            <a:xfrm>
              <a:off x="6300307" y="288455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38" name="TextBox 38"/>
            <p:cNvSpPr txBox="1"/>
            <p:nvPr/>
          </p:nvSpPr>
          <p:spPr>
            <a:xfrm>
              <a:off x="6518148" y="2859881"/>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方便引入核函数</a:t>
              </a:r>
            </a:p>
          </p:txBody>
        </p:sp>
        <p:sp>
          <p:nvSpPr>
            <p:cNvPr id="39" name="Rectangle 39"/>
            <p:cNvSpPr/>
            <p:nvPr/>
          </p:nvSpPr>
          <p:spPr>
            <a:xfrm>
              <a:off x="6524625" y="3167062"/>
              <a:ext cx="60008" cy="19050"/>
            </a:xfrm>
            <a:prstGeom prst="rect">
              <a:avLst/>
            </a:prstGeom>
            <a:solidFill>
              <a:srgbClr val="5B6475"/>
            </a:solidFill>
            <a:ln>
              <a:noFill/>
            </a:ln>
          </p:spPr>
        </p:sp>
        <p:sp>
          <p:nvSpPr>
            <p:cNvPr id="40" name="TextBox 40"/>
            <p:cNvSpPr txBox="1"/>
            <p:nvPr/>
          </p:nvSpPr>
          <p:spPr>
            <a:xfrm>
              <a:off x="6709791" y="3108960"/>
              <a:ext cx="449856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对偶目标里样本只以内积 xᵢ·xⱼ 出现，换成 K(xᵢ, xⱼ) 就推广到非线性</a:t>
              </a:r>
            </a:p>
          </p:txBody>
        </p:sp>
      </p:grpSp>
      <p:grpSp>
        <p:nvGrpSpPr>
          <p:cNvPr id="47" name="c2-callout-2"/>
          <p:cNvGrpSpPr/>
          <p:nvPr/>
        </p:nvGrpSpPr>
        <p:grpSpPr>
          <a:xfrm>
            <a:off x="6248400" y="3437572"/>
            <a:ext cx="5410200" cy="467678"/>
            <a:chOff x="6248400" y="3437572"/>
            <a:chExt cx="5410200" cy="467678"/>
          </a:xfrm>
        </p:grpSpPr>
        <p:sp>
          <p:nvSpPr>
            <p:cNvPr id="42" name="Rectangle 42"/>
            <p:cNvSpPr/>
            <p:nvPr/>
          </p:nvSpPr>
          <p:spPr>
            <a:xfrm>
              <a:off x="6248400" y="3437572"/>
              <a:ext cx="5410200" cy="467678"/>
            </a:xfrm>
            <a:prstGeom prst="roundRect">
              <a:avLst>
                <a:gd name="adj" fmla="val 24440"/>
              </a:avLst>
            </a:prstGeom>
            <a:solidFill>
              <a:srgbClr val="0E7C86"/>
            </a:solidFill>
            <a:ln>
              <a:noFill/>
            </a:ln>
          </p:spPr>
        </p:sp>
        <p:grpSp>
          <p:nvGrpSpPr>
            <p:cNvPr id="45" name="Group 45"/>
            <p:cNvGrpSpPr/>
            <p:nvPr/>
          </p:nvGrpSpPr>
          <p:grpSpPr>
            <a:xfrm>
              <a:off x="6453188" y="3571877"/>
              <a:ext cx="200023" cy="200023"/>
              <a:chOff x="6453188" y="3571877"/>
              <a:chExt cx="200023" cy="200023"/>
            </a:xfrm>
          </p:grpSpPr>
          <p:sp>
            <p:nvSpPr>
              <p:cNvPr id="43" name="Freeform 43"/>
              <p:cNvSpPr/>
              <p:nvPr/>
            </p:nvSpPr>
            <p:spPr>
              <a:xfrm>
                <a:off x="6453188" y="357187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4" name="Freeform 44"/>
              <p:cNvSpPr/>
              <p:nvPr/>
            </p:nvSpPr>
            <p:spPr>
              <a:xfrm>
                <a:off x="6586538" y="363855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6" name="TextBox 46"/>
            <p:cNvSpPr txBox="1"/>
            <p:nvPr/>
          </p:nvSpPr>
          <p:spPr>
            <a:xfrm>
              <a:off x="6756273" y="3582829"/>
              <a:ext cx="4518955"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第 3 条才是决定性的：没有对偶形式，核技巧就无处可插。</a:t>
              </a:r>
            </a:p>
          </p:txBody>
        </p:sp>
      </p:grpSp>
      <p:grpSp>
        <p:nvGrpSpPr>
          <p:cNvPr id="62" name="c2-flow-3"/>
          <p:cNvGrpSpPr/>
          <p:nvPr/>
        </p:nvGrpSpPr>
        <p:grpSpPr>
          <a:xfrm>
            <a:off x="6381750" y="4188142"/>
            <a:ext cx="5143500" cy="764858"/>
            <a:chOff x="6381750" y="4188142"/>
            <a:chExt cx="5143500" cy="764858"/>
          </a:xfrm>
        </p:grpSpPr>
        <p:sp>
          <p:nvSpPr>
            <p:cNvPr id="48" name="Freeform 48"/>
            <p:cNvSpPr/>
            <p:nvPr/>
          </p:nvSpPr>
          <p:spPr>
            <a:xfrm>
              <a:off x="7918132" y="4677728"/>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49" name="Freeform 49"/>
            <p:cNvSpPr/>
            <p:nvPr/>
          </p:nvSpPr>
          <p:spPr>
            <a:xfrm>
              <a:off x="8080058" y="462534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50" name="Freeform 50"/>
            <p:cNvSpPr/>
            <p:nvPr/>
          </p:nvSpPr>
          <p:spPr>
            <a:xfrm>
              <a:off x="9722168" y="4677728"/>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51" name="Freeform 51"/>
            <p:cNvSpPr/>
            <p:nvPr/>
          </p:nvSpPr>
          <p:spPr>
            <a:xfrm>
              <a:off x="9884092" y="462534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52" name="Rectangle 52"/>
            <p:cNvSpPr/>
            <p:nvPr/>
          </p:nvSpPr>
          <p:spPr>
            <a:xfrm>
              <a:off x="6381750" y="4401502"/>
              <a:ext cx="1536382" cy="551498"/>
            </a:xfrm>
            <a:prstGeom prst="roundRect">
              <a:avLst>
                <a:gd name="adj" fmla="val 17271"/>
              </a:avLst>
            </a:prstGeom>
            <a:solidFill>
              <a:srgbClr val="FFFFFF"/>
            </a:solidFill>
            <a:ln w="15240">
              <a:solidFill>
                <a:srgbClr val="0E7C86"/>
              </a:solidFill>
            </a:ln>
          </p:spPr>
        </p:sp>
        <p:sp>
          <p:nvSpPr>
            <p:cNvPr id="53" name="Rectangle 53"/>
            <p:cNvSpPr/>
            <p:nvPr/>
          </p:nvSpPr>
          <p:spPr>
            <a:xfrm>
              <a:off x="8184832" y="4401502"/>
              <a:ext cx="1536382" cy="551498"/>
            </a:xfrm>
            <a:prstGeom prst="roundRect">
              <a:avLst>
                <a:gd name="adj" fmla="val 17271"/>
              </a:avLst>
            </a:prstGeom>
            <a:solidFill>
              <a:srgbClr val="FFFFFF"/>
            </a:solidFill>
            <a:ln w="15240">
              <a:solidFill>
                <a:srgbClr val="0E7C86"/>
              </a:solidFill>
            </a:ln>
          </p:spPr>
        </p:sp>
        <p:sp>
          <p:nvSpPr>
            <p:cNvPr id="54" name="Rectangle 54"/>
            <p:cNvSpPr/>
            <p:nvPr/>
          </p:nvSpPr>
          <p:spPr>
            <a:xfrm>
              <a:off x="9988868" y="4401502"/>
              <a:ext cx="1536382" cy="551498"/>
            </a:xfrm>
            <a:prstGeom prst="roundRect">
              <a:avLst>
                <a:gd name="adj" fmla="val 17271"/>
              </a:avLst>
            </a:prstGeom>
            <a:solidFill>
              <a:srgbClr val="E2F3F4"/>
            </a:solidFill>
            <a:ln w="19050">
              <a:solidFill>
                <a:srgbClr val="0E7C86"/>
              </a:solidFill>
            </a:ln>
          </p:spPr>
        </p:sp>
        <p:sp>
          <p:nvSpPr>
            <p:cNvPr id="55" name="TextBox 55"/>
            <p:cNvSpPr txBox="1"/>
            <p:nvPr/>
          </p:nvSpPr>
          <p:spPr>
            <a:xfrm>
              <a:off x="6815042" y="4513898"/>
              <a:ext cx="670751" cy="385382"/>
            </a:xfrm>
            <a:prstGeom prst="rect">
              <a:avLst/>
            </a:prstGeom>
            <a:noFill/>
            <a:ln>
              <a:noFill/>
            </a:ln>
          </p:spPr>
          <p:txBody>
            <a:bodyPr wrap="none" lIns="0" tIns="0" rIns="0" bIns="0" anchor="t" anchorCtr="0">
              <a:spAutoFit/>
            </a:bodyPr>
            <a:lstStyle/>
            <a:p>
              <a:pPr algn="ctr">
                <a:lnSpc>
                  <a:spcPts val="1418"/>
                </a:lnSpc>
              </a:pPr>
              <a:r>
                <a:rPr lang="zh-CN" sz="1050" dirty="0">
                  <a:solidFill>
                    <a:srgbClr val="1F2937"/>
                  </a:solidFill>
                  <a:latin typeface="+mn-lt"/>
                  <a:ea typeface="+mn-ea"/>
                  <a:cs typeface="+mn-cs"/>
                </a:rPr>
                <a:t>原问题</a:t>
              </a:r>
              <a:br/>
              <a:r>
                <a:rPr lang="en-US" sz="1050" dirty="0">
                  <a:solidFill>
                    <a:srgbClr val="1F2937"/>
                  </a:solidFill>
                  <a:latin typeface="+mn-lt"/>
                  <a:ea typeface="+mn-ea"/>
                  <a:cs typeface="+mn-cs"/>
                </a:rPr>
                <a:t>min ½||w||²</a:t>
              </a:r>
            </a:p>
          </p:txBody>
        </p:sp>
        <p:sp>
          <p:nvSpPr>
            <p:cNvPr id="56" name="TextBox 56"/>
            <p:cNvSpPr txBox="1"/>
            <p:nvPr/>
          </p:nvSpPr>
          <p:spPr>
            <a:xfrm>
              <a:off x="8641461" y="4513898"/>
              <a:ext cx="624078" cy="385382"/>
            </a:xfrm>
            <a:prstGeom prst="rect">
              <a:avLst/>
            </a:prstGeom>
            <a:noFill/>
            <a:ln>
              <a:noFill/>
            </a:ln>
          </p:spPr>
          <p:txBody>
            <a:bodyPr wrap="none" lIns="0" tIns="0" rIns="0" bIns="0" anchor="t" anchorCtr="0">
              <a:spAutoFit/>
            </a:bodyPr>
            <a:lstStyle/>
            <a:p>
              <a:pPr algn="ctr">
                <a:lnSpc>
                  <a:spcPts val="1418"/>
                </a:lnSpc>
              </a:pPr>
              <a:r>
                <a:rPr lang="zh-CN" sz="1050" dirty="0">
                  <a:solidFill>
                    <a:srgbClr val="1F2937"/>
                  </a:solidFill>
                  <a:latin typeface="+mn-lt"/>
                  <a:ea typeface="+mn-ea"/>
                  <a:cs typeface="+mn-cs"/>
                </a:rPr>
                <a:t>拉格朗日</a:t>
              </a:r>
              <a:br/>
              <a:r>
                <a:rPr lang="en-US" sz="1050" dirty="0">
                  <a:solidFill>
                    <a:srgbClr val="1F2937"/>
                  </a:solidFill>
                  <a:latin typeface="+mn-lt"/>
                  <a:ea typeface="+mn-ea"/>
                  <a:cs typeface="+mn-cs"/>
                </a:rPr>
                <a:t>min max L</a:t>
              </a:r>
            </a:p>
          </p:txBody>
        </p:sp>
        <p:sp>
          <p:nvSpPr>
            <p:cNvPr id="57" name="TextBox 57"/>
            <p:cNvSpPr txBox="1"/>
            <p:nvPr/>
          </p:nvSpPr>
          <p:spPr>
            <a:xfrm>
              <a:off x="10444544" y="4513898"/>
              <a:ext cx="624078" cy="385382"/>
            </a:xfrm>
            <a:prstGeom prst="rect">
              <a:avLst/>
            </a:prstGeom>
            <a:noFill/>
            <a:ln>
              <a:noFill/>
            </a:ln>
          </p:spPr>
          <p:txBody>
            <a:bodyPr wrap="none" lIns="0" tIns="0" rIns="0" bIns="0" anchor="t" anchorCtr="0">
              <a:spAutoFit/>
            </a:bodyPr>
            <a:lstStyle/>
            <a:p>
              <a:pPr algn="ctr">
                <a:lnSpc>
                  <a:spcPts val="1418"/>
                </a:lnSpc>
              </a:pPr>
              <a:r>
                <a:rPr lang="zh-CN" sz="1050" dirty="0">
                  <a:solidFill>
                    <a:srgbClr val="1F2937"/>
                  </a:solidFill>
                  <a:latin typeface="+mn-lt"/>
                  <a:ea typeface="+mn-ea"/>
                  <a:cs typeface="+mn-cs"/>
                </a:rPr>
                <a:t>对偶问题</a:t>
              </a:r>
              <a:br/>
              <a:r>
                <a:rPr lang="en-US" sz="1050" dirty="0">
                  <a:solidFill>
                    <a:srgbClr val="1F2937"/>
                  </a:solidFill>
                  <a:latin typeface="+mn-lt"/>
                  <a:ea typeface="+mn-ea"/>
                  <a:cs typeface="+mn-cs"/>
                </a:rPr>
                <a:t>max min L</a:t>
              </a:r>
            </a:p>
          </p:txBody>
        </p:sp>
        <p:sp>
          <p:nvSpPr>
            <p:cNvPr id="58" name="Rectangle 58"/>
            <p:cNvSpPr/>
            <p:nvPr/>
          </p:nvSpPr>
          <p:spPr>
            <a:xfrm>
              <a:off x="7832408" y="4188142"/>
              <a:ext cx="438150" cy="165735"/>
            </a:xfrm>
            <a:prstGeom prst="roundRect">
              <a:avLst>
                <a:gd name="adj" fmla="val 22989"/>
              </a:avLst>
            </a:prstGeom>
            <a:solidFill>
              <a:srgbClr val="FFFFFF"/>
            </a:solidFill>
            <a:ln>
              <a:noFill/>
            </a:ln>
          </p:spPr>
        </p:sp>
        <p:sp>
          <p:nvSpPr>
            <p:cNvPr id="59" name="TextBox 59"/>
            <p:cNvSpPr txBox="1"/>
            <p:nvPr/>
          </p:nvSpPr>
          <p:spPr>
            <a:xfrm>
              <a:off x="7864983" y="4211002"/>
              <a:ext cx="372999"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乘子法</a:t>
              </a:r>
            </a:p>
          </p:txBody>
        </p:sp>
        <p:sp>
          <p:nvSpPr>
            <p:cNvPr id="60" name="Rectangle 60"/>
            <p:cNvSpPr/>
            <p:nvPr/>
          </p:nvSpPr>
          <p:spPr>
            <a:xfrm>
              <a:off x="9636442" y="4188142"/>
              <a:ext cx="438150" cy="165735"/>
            </a:xfrm>
            <a:prstGeom prst="roundRect">
              <a:avLst>
                <a:gd name="adj" fmla="val 22989"/>
              </a:avLst>
            </a:prstGeom>
            <a:solidFill>
              <a:srgbClr val="FFFFFF"/>
            </a:solidFill>
            <a:ln>
              <a:noFill/>
            </a:ln>
          </p:spPr>
        </p:sp>
        <p:sp>
          <p:nvSpPr>
            <p:cNvPr id="61" name="TextBox 61"/>
            <p:cNvSpPr txBox="1"/>
            <p:nvPr/>
          </p:nvSpPr>
          <p:spPr>
            <a:xfrm>
              <a:off x="9669018" y="4211002"/>
              <a:ext cx="372999"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强对偶</a:t>
              </a:r>
            </a:p>
          </p:txBody>
        </p:sp>
      </p:grpSp>
      <p:grpSp>
        <p:nvGrpSpPr>
          <p:cNvPr id="69" name="c2-callout-4"/>
          <p:cNvGrpSpPr/>
          <p:nvPr/>
        </p:nvGrpSpPr>
        <p:grpSpPr>
          <a:xfrm>
            <a:off x="6248400" y="5449252"/>
            <a:ext cx="5410200" cy="751522"/>
            <a:chOff x="6248400" y="5449252"/>
            <a:chExt cx="5410200" cy="751522"/>
          </a:xfrm>
        </p:grpSpPr>
        <p:sp>
          <p:nvSpPr>
            <p:cNvPr id="63" name="Rectangle 63"/>
            <p:cNvSpPr/>
            <p:nvPr/>
          </p:nvSpPr>
          <p:spPr>
            <a:xfrm>
              <a:off x="6248400" y="5449252"/>
              <a:ext cx="5410200" cy="751522"/>
            </a:xfrm>
            <a:prstGeom prst="roundRect">
              <a:avLst>
                <a:gd name="adj" fmla="val 15209"/>
              </a:avLst>
            </a:prstGeom>
            <a:solidFill>
              <a:srgbClr val="F4F6FB"/>
            </a:solidFill>
            <a:ln>
              <a:noFill/>
            </a:ln>
          </p:spPr>
        </p:sp>
        <p:grpSp>
          <p:nvGrpSpPr>
            <p:cNvPr id="67" name="Group 67"/>
            <p:cNvGrpSpPr/>
            <p:nvPr/>
          </p:nvGrpSpPr>
          <p:grpSpPr>
            <a:xfrm>
              <a:off x="6453188" y="5725478"/>
              <a:ext cx="200026" cy="200026"/>
              <a:chOff x="6453188" y="5725478"/>
              <a:chExt cx="200026" cy="200026"/>
            </a:xfrm>
          </p:grpSpPr>
          <p:sp>
            <p:nvSpPr>
              <p:cNvPr id="64" name="Freeform 64"/>
              <p:cNvSpPr/>
              <p:nvPr/>
            </p:nvSpPr>
            <p:spPr>
              <a:xfrm>
                <a:off x="6453188" y="572547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5" name="Freeform 65"/>
              <p:cNvSpPr/>
              <p:nvPr/>
            </p:nvSpPr>
            <p:spPr>
              <a:xfrm>
                <a:off x="6553200" y="579215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6" name="Freeform 66"/>
              <p:cNvSpPr/>
              <p:nvPr/>
            </p:nvSpPr>
            <p:spPr>
              <a:xfrm>
                <a:off x="6542088" y="582549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8" name="TextBox 68"/>
            <p:cNvSpPr txBox="1"/>
            <p:nvPr/>
          </p:nvSpPr>
          <p:spPr>
            <a:xfrm>
              <a:off x="6756273" y="5618321"/>
              <a:ext cx="4449623"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 xml:space="preserve">顺序别记反：min max 的内层是对 </a:t>
              </a:r>
              <a:r>
                <a:rPr lang="zh-CN" sz="1280" b="1" dirty="0">
                  <a:solidFill>
                    <a:srgbClr val="C2410C"/>
                  </a:solidFill>
                  <a:latin typeface="+mn-lt"/>
                  <a:ea typeface="+mn-ea"/>
                  <a:cs typeface="+mn-cs"/>
                </a:rPr>
                <a:t>α 求极大</a:t>
              </a:r>
              <a:r>
                <a:rPr lang="zh-CN" sz="1280" dirty="0">
                  <a:solidFill>
                    <a:srgbClr val="1F2937"/>
                  </a:solidFill>
                  <a:latin typeface="+mn-lt"/>
                  <a:ea typeface="+mn-ea"/>
                  <a:cs typeface="+mn-cs"/>
                </a:rPr>
                <a:t>，max min 的内层</a:t>
              </a:r>
              <a:br/>
              <a:r>
                <a:rPr lang="zh-CN" sz="1280" dirty="0">
                  <a:solidFill>
                    <a:srgbClr val="1F2937"/>
                  </a:solidFill>
                  <a:latin typeface="+mn-lt"/>
                  <a:ea typeface="+mn-ea"/>
                  <a:cs typeface="+mn-cs"/>
                </a:rPr>
                <a:t xml:space="preserve">是对 </a:t>
              </a:r>
              <a:r>
                <a:rPr lang="zh-CN" sz="1280" b="1" dirty="0">
                  <a:solidFill>
                    <a:srgbClr val="C2410C"/>
                  </a:solidFill>
                  <a:latin typeface="+mn-lt"/>
                  <a:ea typeface="+mn-ea"/>
                  <a:cs typeface="+mn-cs"/>
                </a:rPr>
                <a:t>(w, b) 求极小</a:t>
              </a:r>
              <a:r>
                <a:rPr lang="zh-CN" sz="1280" dirty="0">
                  <a:solidFill>
                    <a:srgbClr val="1F2937"/>
                  </a:solidFill>
                  <a:latin typeface="+mn-lt"/>
                  <a:ea typeface="+mn-ea"/>
                  <a:cs typeface="+mn-cs"/>
                </a:rPr>
                <a:t>。</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352771" cy="909257"/>
            <a:chOff x="520446" y="342900"/>
            <a:chExt cx="5352771"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535277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第一步：固定 α，对 w 和 b 求极小</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080229" cy="278702"/>
            <a:chOff x="526161" y="1547336"/>
            <a:chExt cx="5080229" cy="278702"/>
          </a:xfrm>
        </p:grpSpPr>
        <p:sp>
          <p:nvSpPr>
            <p:cNvPr id="7" name="TextBox 7"/>
            <p:cNvSpPr txBox="1"/>
            <p:nvPr/>
          </p:nvSpPr>
          <p:spPr>
            <a:xfrm>
              <a:off x="526161" y="1547336"/>
              <a:ext cx="5080229"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内层是无约束极小化问题，令偏导为零就能把 w 和 b 消掉。</a:t>
              </a:r>
            </a:p>
          </p:txBody>
        </p:sp>
      </p:grpSp>
      <mc:AlternateContent xmlns:mc="http://schemas.openxmlformats.org/markup-compatibility/2006">
        <mc:Choice xmlns:a14="http://schemas.microsoft.com/office/drawing/2010/main" Requires="a14">
          <p:sp>
            <p:nvSpPr>
              <p:cNvPr id="9" name="formula114"/>
              <p:cNvSpPr txBox="1">
                <a:spLocks noGrp="1"/>
              </p:cNvSpPr>
              <p:nvPr/>
            </p:nvSpPr>
            <p:spPr>
              <a:xfrm>
                <a:off x="533400" y="1941195"/>
                <a:ext cx="5410200" cy="59721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m:rPr>
                              <m:sty m:val="p"/>
                            </m:rPr>
                            <a:rPr lang="zh-CN" sz="1420" dirty="0">
                              <a:solidFill>
                                <a:srgbClr val="1F2937"/>
                              </a:solidFill>
                              <a:latin typeface="Cambria Math"/>
                              <a:ea typeface="Cambria Math"/>
                              <a:cs typeface="Cambria Math"/>
                            </a:rPr>
                            <m:t>∇</m:t>
                          </m:r>
                        </m:e>
                        <m:sub>
                          <m:r>
                            <a:rPr lang="zh-CN" sz="1420" dirty="0">
                              <a:solidFill>
                                <a:srgbClr val="1F2937"/>
                              </a:solidFill>
                              <a:latin typeface="Cambria Math"/>
                              <a:ea typeface="Cambria Math"/>
                              <a:cs typeface="Cambria Math"/>
                            </a:rPr>
                            <m:t>w</m:t>
                          </m:r>
                        </m:sub>
                      </m:sSub>
                      <m:r>
                        <a:rPr lang="zh-CN" sz="1420" dirty="0">
                          <a:solidFill>
                            <a:srgbClr val="1F2937"/>
                          </a:solidFill>
                          <a:latin typeface="Cambria Math"/>
                          <a:ea typeface="Cambria Math"/>
                          <a:cs typeface="Cambria Math"/>
                        </a:rPr>
                        <m:t>L</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α</m:t>
                          </m:r>
                        </m:e>
                      </m:d>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nary>
                        <m:naryPr>
                          <m:chr m:val="∑"/>
                          <m:limLoc m:val="undOvr"/>
                          <m:grow m:val="off"/>
                          <m:subHide m:val="off"/>
                          <m:supHide m:val="off"/>
                          <m:ctrlPr>
                            <a:rPr lang="zh-CN" sz="1420" dirty="0">
                              <a:solidFill>
                                <a:srgbClr val="1F2937"/>
                              </a:solidFill>
                              <a:latin typeface="Cambria Math"/>
                              <a:ea typeface="Cambria Math"/>
                              <a:cs typeface="Cambria Math"/>
                            </a:rPr>
                          </m:ctrlPr>
                        </m:naryPr>
                        <m:sub>
                          <m:r>
                            <a:rPr lang="zh-CN" sz="1420" dirty="0">
                              <a:solidFill>
                                <a:srgbClr val="1F2937"/>
                              </a:solidFill>
                              <a:latin typeface="Cambria Math"/>
                              <a:ea typeface="Cambria Math"/>
                              <a:cs typeface="Cambria Math"/>
                            </a:rPr>
                            <m:t>i</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1</m:t>
                          </m:r>
                        </m:sub>
                        <m:sup>
                          <m:r>
                            <a:rPr lang="zh-CN" sz="1420" dirty="0">
                              <a:solidFill>
                                <a:srgbClr val="1F2937"/>
                              </a:solidFill>
                              <a:latin typeface="Cambria Math"/>
                              <a:ea typeface="Cambria Math"/>
                              <a:cs typeface="Cambria Math"/>
                            </a:rPr>
                            <m:t>N</m:t>
                          </m:r>
                        </m:sup>
                        <m:e>
                          <m:sSub>
                            <m:e>
                              <m:r>
                                <a:rPr lang="zh-CN" sz="1420" dirty="0">
                                  <a:solidFill>
                                    <a:srgbClr val="1F2937"/>
                                  </a:solidFill>
                                  <a:latin typeface="Cambria Math"/>
                                  <a:ea typeface="Cambria Math"/>
                                  <a:cs typeface="Cambria Math"/>
                                </a:rPr>
                                <m:t>α</m:t>
                              </m:r>
                            </m:e>
                            <m:sub>
                              <m:r>
                                <a:rPr lang="zh-CN" sz="1420" dirty="0">
                                  <a:solidFill>
                                    <a:srgbClr val="1F2937"/>
                                  </a:solidFill>
                                  <a:latin typeface="Cambria Math"/>
                                  <a:ea typeface="Cambria Math"/>
                                  <a:cs typeface="Cambria Math"/>
                                </a:rPr>
                                <m:t>i</m:t>
                              </m:r>
                            </m:sub>
                          </m:sSub>
                          <m:sSub>
                            <m:e>
                              <m:r>
                                <a:rPr lang="zh-CN" sz="1420" dirty="0">
                                  <a:solidFill>
                                    <a:srgbClr val="1F2937"/>
                                  </a:solidFill>
                                  <a:latin typeface="Cambria Math"/>
                                  <a:ea typeface="Cambria Math"/>
                                  <a:cs typeface="Cambria Math"/>
                                </a:rPr>
                                <m:t>y</m:t>
                              </m:r>
                            </m:e>
                            <m:sub>
                              <m:r>
                                <a:rPr lang="zh-CN" sz="1420" dirty="0">
                                  <a:solidFill>
                                    <a:srgbClr val="1F2937"/>
                                  </a:solidFill>
                                  <a:latin typeface="Cambria Math"/>
                                  <a:ea typeface="Cambria Math"/>
                                  <a:cs typeface="Cambria Math"/>
                                </a:rPr>
                                <m:t>i</m:t>
                              </m:r>
                            </m:sub>
                          </m:sSub>
                          <m:sSub>
                            <m:e>
                              <m:r>
                                <a:rPr lang="zh-CN" sz="1420" dirty="0">
                                  <a:solidFill>
                                    <a:srgbClr val="1F2937"/>
                                  </a:solidFill>
                                  <a:latin typeface="Cambria Math"/>
                                  <a:ea typeface="Cambria Math"/>
                                  <a:cs typeface="Cambria Math"/>
                                </a:rPr>
                                <m:t>x</m:t>
                              </m:r>
                            </m:e>
                            <m:sub>
                              <m:r>
                                <a:rPr lang="zh-CN" sz="1420" dirty="0">
                                  <a:solidFill>
                                    <a:srgbClr val="1F2937"/>
                                  </a:solidFill>
                                  <a:latin typeface="Cambria Math"/>
                                  <a:ea typeface="Cambria Math"/>
                                  <a:cs typeface="Cambria Math"/>
                                </a:rPr>
                                <m:t>i</m:t>
                              </m:r>
                            </m:sub>
                          </m:sSub>
                        </m:e>
                      </m:nary>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0</m:t>
                      </m:r>
                    </m:oMath>
                  </m:oMathPara>
                </a14:m>
              </a:p>
            </p:txBody>
          </p:sp>
        </mc:Choice>
      </mc:AlternateContent>
      <mc:AlternateContent xmlns:mc="http://schemas.openxmlformats.org/markup-compatibility/2006">
        <mc:Choice xmlns:a14="http://schemas.microsoft.com/office/drawing/2010/main" Requires="a14">
          <p:sp>
            <p:nvSpPr>
              <p:cNvPr id="10" name="formula115"/>
              <p:cNvSpPr txBox="1">
                <a:spLocks noGrp="1"/>
              </p:cNvSpPr>
              <p:nvPr/>
            </p:nvSpPr>
            <p:spPr>
              <a:xfrm>
                <a:off x="533400" y="2713672"/>
                <a:ext cx="5410200" cy="59721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m:rPr>
                              <m:sty m:val="p"/>
                            </m:rPr>
                            <a:rPr lang="zh-CN" sz="1420" dirty="0">
                              <a:solidFill>
                                <a:srgbClr val="1F2937"/>
                              </a:solidFill>
                              <a:latin typeface="Cambria Math"/>
                              <a:ea typeface="Cambria Math"/>
                              <a:cs typeface="Cambria Math"/>
                            </a:rPr>
                            <m:t>∇</m:t>
                          </m:r>
                        </m:e>
                        <m:sub>
                          <m:r>
                            <a:rPr lang="zh-CN" sz="1420" dirty="0">
                              <a:solidFill>
                                <a:srgbClr val="1F2937"/>
                              </a:solidFill>
                              <a:latin typeface="Cambria Math"/>
                              <a:ea typeface="Cambria Math"/>
                              <a:cs typeface="Cambria Math"/>
                            </a:rPr>
                            <m:t>b</m:t>
                          </m:r>
                        </m:sub>
                      </m:sSub>
                      <m:r>
                        <a:rPr lang="zh-CN" sz="1420" dirty="0">
                          <a:solidFill>
                            <a:srgbClr val="1F2937"/>
                          </a:solidFill>
                          <a:latin typeface="Cambria Math"/>
                          <a:ea typeface="Cambria Math"/>
                          <a:cs typeface="Cambria Math"/>
                        </a:rPr>
                        <m:t>L</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w</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α</m:t>
                          </m:r>
                        </m:e>
                      </m:d>
                      <m:r>
                        <m:rPr>
                          <m:sty m:val="p"/>
                        </m:rPr>
                        <a:rPr lang="zh-CN" sz="1420" dirty="0">
                          <a:solidFill>
                            <a:srgbClr val="1F2937"/>
                          </a:solidFill>
                          <a:latin typeface="Cambria Math"/>
                          <a:ea typeface="Cambria Math"/>
                          <a:cs typeface="Cambria Math"/>
                        </a:rPr>
                        <m:t>=−</m:t>
                      </m:r>
                      <m:nary>
                        <m:naryPr>
                          <m:chr m:val="∑"/>
                          <m:limLoc m:val="undOvr"/>
                          <m:grow m:val="off"/>
                          <m:subHide m:val="off"/>
                          <m:supHide m:val="off"/>
                          <m:ctrlPr>
                            <a:rPr lang="zh-CN" sz="1420" dirty="0">
                              <a:solidFill>
                                <a:srgbClr val="1F2937"/>
                              </a:solidFill>
                              <a:latin typeface="Cambria Math"/>
                              <a:ea typeface="Cambria Math"/>
                              <a:cs typeface="Cambria Math"/>
                            </a:rPr>
                          </m:ctrlPr>
                        </m:naryPr>
                        <m:sub>
                          <m:r>
                            <a:rPr lang="zh-CN" sz="1420" dirty="0">
                              <a:solidFill>
                                <a:srgbClr val="1F2937"/>
                              </a:solidFill>
                              <a:latin typeface="Cambria Math"/>
                              <a:ea typeface="Cambria Math"/>
                              <a:cs typeface="Cambria Math"/>
                            </a:rPr>
                            <m:t>i</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1</m:t>
                          </m:r>
                        </m:sub>
                        <m:sup>
                          <m:r>
                            <a:rPr lang="zh-CN" sz="1420" dirty="0">
                              <a:solidFill>
                                <a:srgbClr val="1F2937"/>
                              </a:solidFill>
                              <a:latin typeface="Cambria Math"/>
                              <a:ea typeface="Cambria Math"/>
                              <a:cs typeface="Cambria Math"/>
                            </a:rPr>
                            <m:t>N</m:t>
                          </m:r>
                        </m:sup>
                        <m:e>
                          <m:sSub>
                            <m:e>
                              <m:r>
                                <a:rPr lang="zh-CN" sz="1420" dirty="0">
                                  <a:solidFill>
                                    <a:srgbClr val="1F2937"/>
                                  </a:solidFill>
                                  <a:latin typeface="Cambria Math"/>
                                  <a:ea typeface="Cambria Math"/>
                                  <a:cs typeface="Cambria Math"/>
                                </a:rPr>
                                <m:t>α</m:t>
                              </m:r>
                            </m:e>
                            <m:sub>
                              <m:r>
                                <a:rPr lang="zh-CN" sz="1420" dirty="0">
                                  <a:solidFill>
                                    <a:srgbClr val="1F2937"/>
                                  </a:solidFill>
                                  <a:latin typeface="Cambria Math"/>
                                  <a:ea typeface="Cambria Math"/>
                                  <a:cs typeface="Cambria Math"/>
                                </a:rPr>
                                <m:t>i</m:t>
                              </m:r>
                            </m:sub>
                          </m:sSub>
                          <m:sSub>
                            <m:e>
                              <m:r>
                                <a:rPr lang="zh-CN" sz="1420" dirty="0">
                                  <a:solidFill>
                                    <a:srgbClr val="1F2937"/>
                                  </a:solidFill>
                                  <a:latin typeface="Cambria Math"/>
                                  <a:ea typeface="Cambria Math"/>
                                  <a:cs typeface="Cambria Math"/>
                                </a:rPr>
                                <m:t>y</m:t>
                              </m:r>
                            </m:e>
                            <m:sub>
                              <m:r>
                                <a:rPr lang="zh-CN" sz="1420" dirty="0">
                                  <a:solidFill>
                                    <a:srgbClr val="1F2937"/>
                                  </a:solidFill>
                                  <a:latin typeface="Cambria Math"/>
                                  <a:ea typeface="Cambria Math"/>
                                  <a:cs typeface="Cambria Math"/>
                                </a:rPr>
                                <m:t>i</m:t>
                              </m:r>
                            </m:sub>
                          </m:sSub>
                        </m:e>
                      </m:nary>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0</m:t>
                      </m:r>
                    </m:oMath>
                  </m:oMathPara>
                </a14:m>
              </a:p>
            </p:txBody>
          </p:sp>
        </mc:Choice>
      </mc:AlternateContent>
      <p:grpSp>
        <p:nvGrpSpPr>
          <p:cNvPr id="17" name="c1-card-3"/>
          <p:cNvGrpSpPr/>
          <p:nvPr/>
        </p:nvGrpSpPr>
        <p:grpSpPr>
          <a:xfrm>
            <a:off x="533400" y="3486150"/>
            <a:ext cx="5410200" cy="2819400"/>
            <a:chOff x="533400" y="3486150"/>
            <a:chExt cx="5410200" cy="2819400"/>
          </a:xfrm>
        </p:grpSpPr>
        <p:sp>
          <p:nvSpPr>
            <p:cNvPr id="11" name="Rectangle 11"/>
            <p:cNvSpPr/>
            <p:nvPr/>
          </p:nvSpPr>
          <p:spPr>
            <a:xfrm>
              <a:off x="533400" y="3486150"/>
              <a:ext cx="5410200" cy="2819400"/>
            </a:xfrm>
            <a:prstGeom prst="roundRect">
              <a:avLst>
                <a:gd name="adj" fmla="val 4730"/>
              </a:avLst>
            </a:prstGeom>
            <a:solidFill>
              <a:srgbClr val="0E7C86"/>
            </a:solidFill>
            <a:ln>
              <a:noFill/>
            </a:ln>
          </p:spPr>
        </p:sp>
        <p:sp>
          <p:nvSpPr>
            <p:cNvPr id="12" name="Rectangle 12"/>
            <p:cNvSpPr/>
            <p:nvPr/>
          </p:nvSpPr>
          <p:spPr>
            <a:xfrm>
              <a:off x="725805" y="3678555"/>
              <a:ext cx="876300" cy="247650"/>
            </a:xfrm>
            <a:prstGeom prst="roundRect">
              <a:avLst>
                <a:gd name="adj" fmla="val 50000"/>
              </a:avLst>
            </a:prstGeom>
            <a:solidFill>
              <a:srgbClr val="0B5F67"/>
            </a:solidFill>
            <a:ln>
              <a:noFill/>
            </a:ln>
          </p:spPr>
        </p:sp>
        <p:sp>
          <p:nvSpPr>
            <p:cNvPr id="13" name="TextBox 13"/>
            <p:cNvSpPr txBox="1"/>
            <p:nvPr/>
          </p:nvSpPr>
          <p:spPr>
            <a:xfrm>
              <a:off x="805243" y="3712845"/>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两条关系式</a:t>
              </a:r>
            </a:p>
          </p:txBody>
        </p:sp>
        <p:sp>
          <p:nvSpPr>
            <p:cNvPr id="14" name="TextBox 14"/>
            <p:cNvSpPr txBox="1"/>
            <p:nvPr/>
          </p:nvSpPr>
          <p:spPr>
            <a:xfrm>
              <a:off x="1709547" y="3718560"/>
              <a:ext cx="110413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后面反复要用</a:t>
              </a:r>
            </a:p>
          </p:txBody>
        </p:sp>
        <mc:AlternateContent xmlns:mc="http://schemas.openxmlformats.org/markup-compatibility/2006">
          <mc:Choice xmlns:a14="http://schemas.microsoft.com/office/drawing/2010/main" Requires="a14">
            <p:sp>
              <p:nvSpPr>
                <p:cNvPr id="15" name="formula116"/>
                <p:cNvSpPr txBox="1">
                  <a:spLocks noGrp="1"/>
                </p:cNvSpPr>
                <p:nvPr/>
              </p:nvSpPr>
              <p:spPr>
                <a:xfrm>
                  <a:off x="725805" y="4030028"/>
                  <a:ext cx="5025390" cy="6286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500" dirty="0">
                            <a:solidFill>
                              <a:srgbClr val="FFFFFF"/>
                            </a:solidFill>
                            <a:latin typeface="Cambria Math"/>
                            <a:ea typeface="Cambria Math"/>
                            <a:cs typeface="Cambria Math"/>
                          </a:rPr>
                          <m:t>w</m:t>
                        </m:r>
                        <m:r>
                          <m:rPr>
                            <m:sty m:val="p"/>
                          </m:rPr>
                          <a:rPr lang="zh-CN" sz="1500" dirty="0">
                            <a:solidFill>
                              <a:srgbClr val="FFFFFF"/>
                            </a:solidFill>
                            <a:latin typeface="Cambria Math"/>
                            <a:ea typeface="Cambria Math"/>
                            <a:cs typeface="Cambria Math"/>
                          </a:rPr>
                          <m:t>=</m:t>
                        </m:r>
                        <m:nary>
                          <m:naryPr>
                            <m:chr m:val="∑"/>
                            <m:limLoc m:val="undOvr"/>
                            <m:grow m:val="off"/>
                            <m:subHide m:val="off"/>
                            <m:supHide m:val="off"/>
                            <m:ctrlPr>
                              <a:rPr lang="zh-CN" sz="1500" dirty="0">
                                <a:solidFill>
                                  <a:srgbClr val="FFFFFF"/>
                                </a:solidFill>
                                <a:latin typeface="Cambria Math"/>
                                <a:ea typeface="Cambria Math"/>
                                <a:cs typeface="Cambria Math"/>
                              </a:rPr>
                            </m:ctrlPr>
                          </m:naryPr>
                          <m:sub>
                            <m:r>
                              <a:rPr lang="zh-CN" sz="1500" dirty="0">
                                <a:solidFill>
                                  <a:srgbClr val="FFFFFF"/>
                                </a:solidFill>
                                <a:latin typeface="Cambria Math"/>
                                <a:ea typeface="Cambria Math"/>
                                <a:cs typeface="Cambria Math"/>
                              </a:rPr>
                              <m:t>i</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1</m:t>
                            </m:r>
                          </m:sub>
                          <m:sup>
                            <m:r>
                              <a:rPr lang="zh-CN" sz="1500" dirty="0">
                                <a:solidFill>
                                  <a:srgbClr val="FFFFFF"/>
                                </a:solidFill>
                                <a:latin typeface="Cambria Math"/>
                                <a:ea typeface="Cambria Math"/>
                                <a:cs typeface="Cambria Math"/>
                              </a:rPr>
                              <m:t>N</m:t>
                            </m:r>
                          </m:sup>
                          <m:e>
                            <m:sSub>
                              <m:e>
                                <m:r>
                                  <a:rPr lang="zh-CN" sz="1500" dirty="0">
                                    <a:solidFill>
                                      <a:srgbClr val="FFFFFF"/>
                                    </a:solidFill>
                                    <a:latin typeface="Cambria Math"/>
                                    <a:ea typeface="Cambria Math"/>
                                    <a:cs typeface="Cambria Math"/>
                                  </a:rPr>
                                  <m:t>α</m:t>
                                </m:r>
                              </m:e>
                              <m:sub>
                                <m:r>
                                  <a:rPr lang="zh-CN" sz="1500" dirty="0">
                                    <a:solidFill>
                                      <a:srgbClr val="FFFFFF"/>
                                    </a:solidFill>
                                    <a:latin typeface="Cambria Math"/>
                                    <a:ea typeface="Cambria Math"/>
                                    <a:cs typeface="Cambria Math"/>
                                  </a:rPr>
                                  <m:t>i</m:t>
                                </m:r>
                              </m:sub>
                            </m:sSub>
                            <m:sSub>
                              <m:e>
                                <m:r>
                                  <a:rPr lang="zh-CN" sz="1500" dirty="0">
                                    <a:solidFill>
                                      <a:srgbClr val="FFFFFF"/>
                                    </a:solidFill>
                                    <a:latin typeface="Cambria Math"/>
                                    <a:ea typeface="Cambria Math"/>
                                    <a:cs typeface="Cambria Math"/>
                                  </a:rPr>
                                  <m:t>y</m:t>
                                </m:r>
                              </m:e>
                              <m:sub>
                                <m:r>
                                  <a:rPr lang="zh-CN" sz="1500" dirty="0">
                                    <a:solidFill>
                                      <a:srgbClr val="FFFFFF"/>
                                    </a:solidFill>
                                    <a:latin typeface="Cambria Math"/>
                                    <a:ea typeface="Cambria Math"/>
                                    <a:cs typeface="Cambria Math"/>
                                  </a:rPr>
                                  <m:t>i</m:t>
                                </m:r>
                              </m:sub>
                            </m:sSub>
                            <m:sSub>
                              <m:e>
                                <m:r>
                                  <a:rPr lang="zh-CN" sz="1500" dirty="0">
                                    <a:solidFill>
                                      <a:srgbClr val="FFFFFF"/>
                                    </a:solidFill>
                                    <a:latin typeface="Cambria Math"/>
                                    <a:ea typeface="Cambria Math"/>
                                    <a:cs typeface="Cambria Math"/>
                                  </a:rPr>
                                  <m:t>x</m:t>
                                </m:r>
                              </m:e>
                              <m:sub>
                                <m:r>
                                  <a:rPr lang="zh-CN" sz="1500" dirty="0">
                                    <a:solidFill>
                                      <a:srgbClr val="FFFFFF"/>
                                    </a:solidFill>
                                    <a:latin typeface="Cambria Math"/>
                                    <a:ea typeface="Cambria Math"/>
                                    <a:cs typeface="Cambria Math"/>
                                  </a:rPr>
                                  <m:t>i</m:t>
                                </m:r>
                              </m:sub>
                            </m:sSub>
                            <m:r>
                              <a:rPr lang="zh-CN" sz="1500" dirty="0">
                                <a:solidFill>
                                  <a:srgbClr val="FFFFFF"/>
                                </a:solidFill>
                                <a:latin typeface="Cambria Math"/>
                                <a:ea typeface="Cambria Math"/>
                                <a:cs typeface="Cambria Math"/>
                              </a:rPr>
                              <m:t xml:space="preserve">  </m:t>
                            </m:r>
                            <m:r>
                              <m:rPr>
                                <m:sty m:val="p"/>
                              </m:rPr>
                              <a:rPr lang="zh-CN" sz="1500" dirty="0">
                                <a:solidFill>
                                  <a:srgbClr val="FFFFFF"/>
                                </a:solidFill>
                                <a:latin typeface="Cambria Math"/>
                                <a:ea typeface="Cambria Math"/>
                                <a:cs typeface="Cambria Math"/>
                              </a:rPr>
                              <m:t>and</m:t>
                            </m:r>
                            <m:r>
                              <a:rPr lang="zh-CN" sz="1500" dirty="0">
                                <a:solidFill>
                                  <a:srgbClr val="FFFFFF"/>
                                </a:solidFill>
                                <a:latin typeface="Cambria Math"/>
                                <a:ea typeface="Cambria Math"/>
                                <a:cs typeface="Cambria Math"/>
                              </a:rPr>
                              <m:t xml:space="preserve">  </m:t>
                            </m:r>
                            <m:nary>
                              <m:naryPr>
                                <m:chr m:val="∑"/>
                                <m:limLoc m:val="undOvr"/>
                                <m:grow m:val="off"/>
                                <m:subHide m:val="off"/>
                                <m:supHide m:val="off"/>
                                <m:ctrlPr>
                                  <a:rPr lang="zh-CN" sz="1500" dirty="0">
                                    <a:solidFill>
                                      <a:srgbClr val="FFFFFF"/>
                                    </a:solidFill>
                                    <a:latin typeface="Cambria Math"/>
                                    <a:ea typeface="Cambria Math"/>
                                    <a:cs typeface="Cambria Math"/>
                                  </a:rPr>
                                </m:ctrlPr>
                              </m:naryPr>
                              <m:sub>
                                <m:r>
                                  <a:rPr lang="zh-CN" sz="1500" dirty="0">
                                    <a:solidFill>
                                      <a:srgbClr val="FFFFFF"/>
                                    </a:solidFill>
                                    <a:latin typeface="Cambria Math"/>
                                    <a:ea typeface="Cambria Math"/>
                                    <a:cs typeface="Cambria Math"/>
                                  </a:rPr>
                                  <m:t>i</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1</m:t>
                                </m:r>
                              </m:sub>
                              <m:sup>
                                <m:r>
                                  <a:rPr lang="zh-CN" sz="1500" dirty="0">
                                    <a:solidFill>
                                      <a:srgbClr val="FFFFFF"/>
                                    </a:solidFill>
                                    <a:latin typeface="Cambria Math"/>
                                    <a:ea typeface="Cambria Math"/>
                                    <a:cs typeface="Cambria Math"/>
                                  </a:rPr>
                                  <m:t>N</m:t>
                                </m:r>
                              </m:sup>
                              <m:e>
                                <m:sSub>
                                  <m:e>
                                    <m:r>
                                      <a:rPr lang="zh-CN" sz="1500" dirty="0">
                                        <a:solidFill>
                                          <a:srgbClr val="FFFFFF"/>
                                        </a:solidFill>
                                        <a:latin typeface="Cambria Math"/>
                                        <a:ea typeface="Cambria Math"/>
                                        <a:cs typeface="Cambria Math"/>
                                      </a:rPr>
                                      <m:t>α</m:t>
                                    </m:r>
                                  </m:e>
                                  <m:sub>
                                    <m:r>
                                      <a:rPr lang="zh-CN" sz="1500" dirty="0">
                                        <a:solidFill>
                                          <a:srgbClr val="FFFFFF"/>
                                        </a:solidFill>
                                        <a:latin typeface="Cambria Math"/>
                                        <a:ea typeface="Cambria Math"/>
                                        <a:cs typeface="Cambria Math"/>
                                      </a:rPr>
                                      <m:t>i</m:t>
                                    </m:r>
                                  </m:sub>
                                </m:sSub>
                                <m:sSub>
                                  <m:e>
                                    <m:r>
                                      <a:rPr lang="zh-CN" sz="1500" dirty="0">
                                        <a:solidFill>
                                          <a:srgbClr val="FFFFFF"/>
                                        </a:solidFill>
                                        <a:latin typeface="Cambria Math"/>
                                        <a:ea typeface="Cambria Math"/>
                                        <a:cs typeface="Cambria Math"/>
                                      </a:rPr>
                                      <m:t>y</m:t>
                                    </m:r>
                                  </m:e>
                                  <m:sub>
                                    <m:r>
                                      <a:rPr lang="zh-CN" sz="1500" dirty="0">
                                        <a:solidFill>
                                          <a:srgbClr val="FFFFFF"/>
                                        </a:solidFill>
                                        <a:latin typeface="Cambria Math"/>
                                        <a:ea typeface="Cambria Math"/>
                                        <a:cs typeface="Cambria Math"/>
                                      </a:rPr>
                                      <m:t>i</m:t>
                                    </m:r>
                                  </m:sub>
                                </m:sSub>
                              </m:e>
                            </m:nary>
                          </m:e>
                        </m:nary>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0</m:t>
                        </m:r>
                      </m:oMath>
                    </m:oMathPara>
                  </a14:m>
                </a:p>
              </p:txBody>
            </p:sp>
          </mc:Choice>
        </mc:AlternateContent>
        <p:sp>
          <p:nvSpPr>
            <p:cNvPr id="16" name="TextBox 16"/>
            <p:cNvSpPr txBox="1"/>
            <p:nvPr/>
          </p:nvSpPr>
          <p:spPr>
            <a:xfrm>
              <a:off x="720090" y="4763929"/>
              <a:ext cx="477647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FFFFFF"/>
                  </a:solidFill>
                  <a:latin typeface="+mn-lt"/>
                  <a:ea typeface="+mn-ea"/>
                  <a:cs typeface="+mn-cs"/>
                </a:rPr>
                <a:t>第一式说明最优的 w 是样本的线性组合；第二式是对 b 求导得来的，它在对</a:t>
              </a:r>
              <a:br/>
              <a:r>
                <a:rPr lang="zh-CN" sz="1120" dirty="0">
                  <a:solidFill>
                    <a:srgbClr val="FFFFFF"/>
                  </a:solidFill>
                  <a:latin typeface="+mn-lt"/>
                  <a:ea typeface="+mn-ea"/>
                  <a:cs typeface="+mn-cs"/>
                </a:rPr>
                <a:t>偶问题里变成唯一的等式约束。</a:t>
              </a:r>
            </a:p>
          </p:txBody>
        </p:sp>
      </p:grpSp>
      <p:grpSp>
        <p:nvGrpSpPr>
          <p:cNvPr id="24" name="c2-card-1"/>
          <p:cNvGrpSpPr/>
          <p:nvPr/>
        </p:nvGrpSpPr>
        <p:grpSpPr>
          <a:xfrm>
            <a:off x="6248400" y="1941195"/>
            <a:ext cx="5410200" cy="1483995"/>
            <a:chOff x="6248400" y="1941195"/>
            <a:chExt cx="5410200" cy="1483995"/>
          </a:xfrm>
        </p:grpSpPr>
        <p:sp>
          <p:nvSpPr>
            <p:cNvPr id="18" name="Rectangle 18"/>
            <p:cNvSpPr/>
            <p:nvPr/>
          </p:nvSpPr>
          <p:spPr>
            <a:xfrm>
              <a:off x="6248400" y="1941195"/>
              <a:ext cx="5410200" cy="1483995"/>
            </a:xfrm>
            <a:prstGeom prst="roundRect">
              <a:avLst>
                <a:gd name="adj" fmla="val 8986"/>
              </a:avLst>
            </a:prstGeom>
            <a:solidFill>
              <a:srgbClr val="FFFFFF"/>
            </a:solidFill>
            <a:ln w="14288">
              <a:solidFill>
                <a:srgbClr val="D9DFEA"/>
              </a:solidFill>
            </a:ln>
          </p:spPr>
        </p:sp>
        <p:sp>
          <p:nvSpPr>
            <p:cNvPr id="19" name="Rectangle 19"/>
            <p:cNvSpPr/>
            <p:nvPr/>
          </p:nvSpPr>
          <p:spPr>
            <a:xfrm>
              <a:off x="6257925" y="2074545"/>
              <a:ext cx="47625" cy="1217295"/>
            </a:xfrm>
            <a:prstGeom prst="roundRect">
              <a:avLst>
                <a:gd name="adj" fmla="val 50000"/>
              </a:avLst>
            </a:prstGeom>
            <a:solidFill>
              <a:srgbClr val="B42318"/>
            </a:solidFill>
            <a:ln>
              <a:noFill/>
            </a:ln>
          </p:spPr>
        </p:sp>
        <p:sp>
          <p:nvSpPr>
            <p:cNvPr id="20" name="Rectangle 20"/>
            <p:cNvSpPr/>
            <p:nvPr/>
          </p:nvSpPr>
          <p:spPr>
            <a:xfrm>
              <a:off x="6478905" y="2133600"/>
              <a:ext cx="609600" cy="247650"/>
            </a:xfrm>
            <a:prstGeom prst="roundRect">
              <a:avLst>
                <a:gd name="adj" fmla="val 50000"/>
              </a:avLst>
            </a:prstGeom>
            <a:solidFill>
              <a:srgbClr val="FDECEA"/>
            </a:solidFill>
            <a:ln>
              <a:noFill/>
            </a:ln>
          </p:spPr>
        </p:sp>
        <p:sp>
          <p:nvSpPr>
            <p:cNvPr id="21" name="TextBox 21"/>
            <p:cNvSpPr txBox="1"/>
            <p:nvPr/>
          </p:nvSpPr>
          <p:spPr>
            <a:xfrm>
              <a:off x="6566345" y="2167890"/>
              <a:ext cx="434721"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易错点</a:t>
              </a:r>
            </a:p>
          </p:txBody>
        </p:sp>
        <p:sp>
          <p:nvSpPr>
            <p:cNvPr id="22" name="TextBox 22"/>
            <p:cNvSpPr txBox="1"/>
            <p:nvPr/>
          </p:nvSpPr>
          <p:spPr>
            <a:xfrm>
              <a:off x="7195947" y="2173605"/>
              <a:ext cx="223227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这里为什么不用管 b 的取值</a:t>
              </a:r>
            </a:p>
          </p:txBody>
        </p:sp>
        <p:sp>
          <p:nvSpPr>
            <p:cNvPr id="23" name="TextBox 23"/>
            <p:cNvSpPr txBox="1"/>
            <p:nvPr/>
          </p:nvSpPr>
          <p:spPr>
            <a:xfrm>
              <a:off x="6472047" y="2507932"/>
              <a:ext cx="4668584"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对 b 求偏导只给出一条关于 α 的约束，b 本身被消掉了，不出</a:t>
              </a:r>
              <a:br/>
              <a:r>
                <a:rPr lang="zh-CN" sz="1350" dirty="0">
                  <a:solidFill>
                    <a:srgbClr val="1F2937"/>
                  </a:solidFill>
                  <a:latin typeface="+mn-lt"/>
                  <a:ea typeface="+mn-ea"/>
                  <a:cs typeface="+mn-cs"/>
                </a:rPr>
                <a:t>现在对偶目标里。所以解完 α 之后还得单独把 b 求回来（第</a:t>
              </a:r>
              <a:br/>
              <a:r>
                <a:rPr lang="zh-CN" sz="1350" dirty="0">
                  <a:solidFill>
                    <a:srgbClr val="1F2937"/>
                  </a:solidFill>
                  <a:latin typeface="+mn-lt"/>
                  <a:ea typeface="+mn-ea"/>
                  <a:cs typeface="+mn-cs"/>
                </a:rPr>
                <a:t>23 页）。</a:t>
              </a:r>
            </a:p>
          </p:txBody>
        </p:sp>
      </p:grpSp>
      <p:grpSp>
        <p:nvGrpSpPr>
          <p:cNvPr id="33" name="c2-card-2"/>
          <p:cNvGrpSpPr/>
          <p:nvPr/>
        </p:nvGrpSpPr>
        <p:grpSpPr>
          <a:xfrm>
            <a:off x="6248400" y="3600450"/>
            <a:ext cx="5410200" cy="1800225"/>
            <a:chOff x="6248400" y="3600450"/>
            <a:chExt cx="5410200" cy="1800225"/>
          </a:xfrm>
        </p:grpSpPr>
        <p:sp>
          <p:nvSpPr>
            <p:cNvPr id="25" name="Rectangle 25"/>
            <p:cNvSpPr/>
            <p:nvPr/>
          </p:nvSpPr>
          <p:spPr>
            <a:xfrm>
              <a:off x="6248400" y="3600450"/>
              <a:ext cx="5410200" cy="1800225"/>
            </a:xfrm>
            <a:prstGeom prst="roundRect">
              <a:avLst>
                <a:gd name="adj" fmla="val 7407"/>
              </a:avLst>
            </a:prstGeom>
            <a:solidFill>
              <a:srgbClr val="FFFFFF"/>
            </a:solidFill>
            <a:ln w="14288">
              <a:solidFill>
                <a:srgbClr val="D9DFEA"/>
              </a:solidFill>
            </a:ln>
          </p:spPr>
        </p:sp>
        <p:sp>
          <p:nvSpPr>
            <p:cNvPr id="26" name="Rectangle 26"/>
            <p:cNvSpPr/>
            <p:nvPr/>
          </p:nvSpPr>
          <p:spPr>
            <a:xfrm>
              <a:off x="6257925" y="3733800"/>
              <a:ext cx="47625" cy="1533525"/>
            </a:xfrm>
            <a:prstGeom prst="roundRect">
              <a:avLst>
                <a:gd name="adj" fmla="val 50000"/>
              </a:avLst>
            </a:prstGeom>
            <a:solidFill>
              <a:srgbClr val="5B6475"/>
            </a:solidFill>
            <a:ln>
              <a:noFill/>
            </a:ln>
          </p:spPr>
        </p:sp>
        <p:sp>
          <p:nvSpPr>
            <p:cNvPr id="27" name="TextBox 27"/>
            <p:cNvSpPr txBox="1"/>
            <p:nvPr/>
          </p:nvSpPr>
          <p:spPr>
            <a:xfrm>
              <a:off x="6472047" y="3815715"/>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两版课件的记号差别</a:t>
              </a:r>
            </a:p>
          </p:txBody>
        </p:sp>
        <p:sp>
          <p:nvSpPr>
            <p:cNvPr id="28" name="Ellipse 28"/>
            <p:cNvSpPr/>
            <p:nvPr/>
          </p:nvSpPr>
          <p:spPr>
            <a:xfrm>
              <a:off x="6487478" y="4191000"/>
              <a:ext cx="59055" cy="59055"/>
            </a:xfrm>
            <a:prstGeom prst="ellipse">
              <a:avLst/>
            </a:prstGeom>
            <a:solidFill>
              <a:srgbClr val="0E7C86"/>
            </a:solidFill>
            <a:ln>
              <a:noFill/>
            </a:ln>
          </p:spPr>
        </p:sp>
        <p:sp>
          <p:nvSpPr>
            <p:cNvPr id="29" name="TextBox 29"/>
            <p:cNvSpPr txBox="1"/>
            <p:nvPr/>
          </p:nvSpPr>
          <p:spPr>
            <a:xfrm>
              <a:off x="6643497" y="4134802"/>
              <a:ext cx="277543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B 版把乘子写作 αᵢ，求和上限写 N</a:t>
              </a:r>
            </a:p>
          </p:txBody>
        </p:sp>
        <p:sp>
          <p:nvSpPr>
            <p:cNvPr id="30" name="Ellipse 30"/>
            <p:cNvSpPr/>
            <p:nvPr/>
          </p:nvSpPr>
          <p:spPr>
            <a:xfrm>
              <a:off x="6487478" y="4493895"/>
              <a:ext cx="59055" cy="59055"/>
            </a:xfrm>
            <a:prstGeom prst="ellipse">
              <a:avLst/>
            </a:prstGeom>
            <a:solidFill>
              <a:srgbClr val="0E7C86"/>
            </a:solidFill>
            <a:ln>
              <a:noFill/>
            </a:ln>
          </p:spPr>
        </p:sp>
        <p:sp>
          <p:nvSpPr>
            <p:cNvPr id="31" name="TextBox 31"/>
            <p:cNvSpPr txBox="1"/>
            <p:nvPr/>
          </p:nvSpPr>
          <p:spPr>
            <a:xfrm>
              <a:off x="6643497" y="4437698"/>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A 版把乘子写作 λᵢ，求和上限写 l，且第 29 页的求和从 i =</a:t>
              </a:r>
              <a:br/>
              <a:r>
                <a:rPr lang="zh-CN" sz="1350" dirty="0">
                  <a:solidFill>
                    <a:srgbClr val="1F2937"/>
                  </a:solidFill>
                  <a:latin typeface="+mn-lt"/>
                  <a:ea typeface="+mn-ea"/>
                  <a:cs typeface="+mn-cs"/>
                </a:rPr>
                <a:t>0 起写成了 Σᵢ₌₀ⁿ</a:t>
              </a:r>
            </a:p>
          </p:txBody>
        </p:sp>
        <p:sp>
          <p:nvSpPr>
            <p:cNvPr id="32" name="TextBox 32"/>
            <p:cNvSpPr txBox="1"/>
            <p:nvPr/>
          </p:nvSpPr>
          <p:spPr>
            <a:xfrm>
              <a:off x="6472047" y="4997768"/>
              <a:ext cx="25667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本讲义统一写 αᵢ，i 从 1 到 N。</a:t>
              </a:r>
            </a:p>
          </p:txBody>
        </p:sp>
      </p:grpSp>
      <p:grpSp>
        <p:nvGrpSpPr>
          <p:cNvPr id="40" name="c2-callout-3"/>
          <p:cNvGrpSpPr/>
          <p:nvPr/>
        </p:nvGrpSpPr>
        <p:grpSpPr>
          <a:xfrm>
            <a:off x="6248400" y="5575935"/>
            <a:ext cx="5410200" cy="729615"/>
            <a:chOff x="6248400" y="5575935"/>
            <a:chExt cx="5410200" cy="729615"/>
          </a:xfrm>
        </p:grpSpPr>
        <p:sp>
          <p:nvSpPr>
            <p:cNvPr id="34" name="Rectangle 34"/>
            <p:cNvSpPr/>
            <p:nvPr/>
          </p:nvSpPr>
          <p:spPr>
            <a:xfrm>
              <a:off x="6248400" y="5575935"/>
              <a:ext cx="5410200" cy="729615"/>
            </a:xfrm>
            <a:prstGeom prst="roundRect">
              <a:avLst>
                <a:gd name="adj" fmla="val 15666"/>
              </a:avLst>
            </a:prstGeom>
            <a:solidFill>
              <a:srgbClr val="FDEEE7"/>
            </a:solidFill>
            <a:ln>
              <a:noFill/>
            </a:ln>
          </p:spPr>
        </p:sp>
        <p:grpSp>
          <p:nvGrpSpPr>
            <p:cNvPr id="38" name="Group 38"/>
            <p:cNvGrpSpPr/>
            <p:nvPr/>
          </p:nvGrpSpPr>
          <p:grpSpPr>
            <a:xfrm>
              <a:off x="6453188" y="5840730"/>
              <a:ext cx="200026" cy="200025"/>
              <a:chOff x="6453188" y="5840730"/>
              <a:chExt cx="200026" cy="200025"/>
            </a:xfrm>
          </p:grpSpPr>
          <p:sp>
            <p:nvSpPr>
              <p:cNvPr id="35" name="Freeform 35"/>
              <p:cNvSpPr/>
              <p:nvPr/>
            </p:nvSpPr>
            <p:spPr>
              <a:xfrm>
                <a:off x="6453188" y="584073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6" name="Freeform 36"/>
              <p:cNvSpPr/>
              <p:nvPr/>
            </p:nvSpPr>
            <p:spPr>
              <a:xfrm>
                <a:off x="6492926" y="588518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7" name="Freeform 37"/>
              <p:cNvSpPr/>
              <p:nvPr/>
            </p:nvSpPr>
            <p:spPr>
              <a:xfrm>
                <a:off x="6527642" y="599630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9" name="TextBox 39"/>
            <p:cNvSpPr txBox="1"/>
            <p:nvPr/>
          </p:nvSpPr>
          <p:spPr>
            <a:xfrm>
              <a:off x="6755892" y="5721668"/>
              <a:ext cx="391420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若嫌抽象，回到第 15 页的三点例题：w = α₁y₁x₁ +</a:t>
              </a:r>
              <a:br/>
              <a:r>
                <a:rPr lang="zh-CN" sz="1350" dirty="0">
                  <a:solidFill>
                    <a:srgbClr val="C2410C"/>
                  </a:solidFill>
                  <a:latin typeface="+mn-lt"/>
                  <a:ea typeface="+mn-ea"/>
                  <a:cs typeface="+mn-cs"/>
                </a:rPr>
                <a:t>α₂y₂x₂ + α₃y₃x₃，只有三项。</a:t>
              </a:r>
            </a:p>
          </p:txBody>
        </p:sp>
      </p:grpSp>
      <p:grpSp>
        <p:nvGrpSpPr>
          <p:cNvPr id="43" name="footer"/>
          <p:cNvGrpSpPr/>
          <p:nvPr/>
        </p:nvGrpSpPr>
        <p:grpSpPr>
          <a:xfrm>
            <a:off x="528447" y="6581299"/>
            <a:ext cx="11135106" cy="190690"/>
            <a:chOff x="528447" y="6581299"/>
            <a:chExt cx="11135106" cy="190690"/>
          </a:xfrm>
        </p:grpSpPr>
        <p:sp>
          <p:nvSpPr>
            <p:cNvPr id="41" name="TextBox 4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2" name="TextBox 4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56636" cy="909257"/>
            <a:chOff x="520446" y="342900"/>
            <a:chExt cx="6256636"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625663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第二步：代回 L，得到只含 α 的对偶问题</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4028846" cy="278702"/>
            <a:chOff x="526161" y="1547336"/>
            <a:chExt cx="4028846" cy="278702"/>
          </a:xfrm>
        </p:grpSpPr>
        <p:sp>
          <p:nvSpPr>
            <p:cNvPr id="7" name="TextBox 7"/>
            <p:cNvSpPr txBox="1"/>
            <p:nvPr/>
          </p:nvSpPr>
          <p:spPr>
            <a:xfrm>
              <a:off x="526161" y="1547336"/>
              <a:ext cx="4028846"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这一页是整章推导的中枢，把每一步都写出来。</a:t>
              </a:r>
            </a:p>
          </p:txBody>
        </p:sp>
      </p:grpSp>
      <p:grpSp>
        <p:nvGrpSpPr>
          <p:cNvPr id="26" name="c1-steps-1"/>
          <p:cNvGrpSpPr/>
          <p:nvPr/>
        </p:nvGrpSpPr>
        <p:grpSpPr>
          <a:xfrm>
            <a:off x="533400" y="1950720"/>
            <a:ext cx="3131287" cy="2280762"/>
            <a:chOff x="533400" y="1950720"/>
            <a:chExt cx="3131287" cy="2280762"/>
          </a:xfrm>
        </p:grpSpPr>
        <p:sp>
          <p:nvSpPr>
            <p:cNvPr id="9" name="Rectangle 9"/>
            <p:cNvSpPr/>
            <p:nvPr/>
          </p:nvSpPr>
          <p:spPr>
            <a:xfrm>
              <a:off x="666750" y="2093595"/>
              <a:ext cx="19050" cy="1761172"/>
            </a:xfrm>
            <a:prstGeom prst="rect">
              <a:avLst/>
            </a:prstGeom>
            <a:solidFill>
              <a:srgbClr val="D9DFEA"/>
            </a:solidFill>
            <a:ln>
              <a:noFill/>
            </a:ln>
          </p:spPr>
        </p:sp>
        <p:sp>
          <p:nvSpPr>
            <p:cNvPr id="10" name="Ellipse 10"/>
            <p:cNvSpPr/>
            <p:nvPr/>
          </p:nvSpPr>
          <p:spPr>
            <a:xfrm>
              <a:off x="533400" y="1950720"/>
              <a:ext cx="285750" cy="285750"/>
            </a:xfrm>
            <a:prstGeom prst="ellipse">
              <a:avLst/>
            </a:prstGeom>
            <a:solidFill>
              <a:srgbClr val="0E7C86"/>
            </a:solidFill>
            <a:ln>
              <a:noFill/>
            </a:ln>
          </p:spPr>
        </p:sp>
        <p:sp>
          <p:nvSpPr>
            <p:cNvPr id="11" name="TextBox 11"/>
            <p:cNvSpPr txBox="1"/>
            <p:nvPr/>
          </p:nvSpPr>
          <p:spPr>
            <a:xfrm>
              <a:off x="627024" y="202453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538412"/>
              <a:ext cx="285750" cy="285750"/>
            </a:xfrm>
            <a:prstGeom prst="ellipse">
              <a:avLst/>
            </a:prstGeom>
            <a:solidFill>
              <a:srgbClr val="0E7C86"/>
            </a:solidFill>
            <a:ln>
              <a:noFill/>
            </a:ln>
          </p:spPr>
        </p:sp>
        <p:sp>
          <p:nvSpPr>
            <p:cNvPr id="13" name="TextBox 13"/>
            <p:cNvSpPr txBox="1"/>
            <p:nvPr/>
          </p:nvSpPr>
          <p:spPr>
            <a:xfrm>
              <a:off x="627024" y="26122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125152"/>
              <a:ext cx="285750" cy="285750"/>
            </a:xfrm>
            <a:prstGeom prst="ellipse">
              <a:avLst/>
            </a:prstGeom>
            <a:solidFill>
              <a:srgbClr val="0E7C86"/>
            </a:solidFill>
            <a:ln>
              <a:noFill/>
            </a:ln>
          </p:spPr>
        </p:sp>
        <p:sp>
          <p:nvSpPr>
            <p:cNvPr id="15" name="TextBox 15"/>
            <p:cNvSpPr txBox="1"/>
            <p:nvPr/>
          </p:nvSpPr>
          <p:spPr>
            <a:xfrm>
              <a:off x="627024" y="319897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3711892"/>
              <a:ext cx="285750" cy="285750"/>
            </a:xfrm>
            <a:prstGeom prst="ellipse">
              <a:avLst/>
            </a:prstGeom>
            <a:solidFill>
              <a:srgbClr val="0E7C86"/>
            </a:solidFill>
            <a:ln>
              <a:noFill/>
            </a:ln>
          </p:spPr>
        </p:sp>
        <p:sp>
          <p:nvSpPr>
            <p:cNvPr id="17" name="TextBox 17"/>
            <p:cNvSpPr txBox="1"/>
            <p:nvPr/>
          </p:nvSpPr>
          <p:spPr>
            <a:xfrm>
              <a:off x="627024" y="378571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TextBox 18"/>
            <p:cNvSpPr txBox="1"/>
            <p:nvPr/>
          </p:nvSpPr>
          <p:spPr>
            <a:xfrm>
              <a:off x="945642" y="1983105"/>
              <a:ext cx="5485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展开 L</a:t>
              </a:r>
            </a:p>
          </p:txBody>
        </p:sp>
        <p:sp>
          <p:nvSpPr>
            <p:cNvPr id="19" name="TextBox 19"/>
            <p:cNvSpPr txBox="1"/>
            <p:nvPr/>
          </p:nvSpPr>
          <p:spPr>
            <a:xfrm>
              <a:off x="946785" y="2250281"/>
              <a:ext cx="2717902"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½||w||² + Σαᵢ − Σαᵢyᵢ(w·xᵢ) − bΣαᵢyᵢ</a:t>
              </a:r>
            </a:p>
          </p:txBody>
        </p:sp>
        <p:sp>
          <p:nvSpPr>
            <p:cNvPr id="20" name="TextBox 20"/>
            <p:cNvSpPr txBox="1"/>
            <p:nvPr/>
          </p:nvSpPr>
          <p:spPr>
            <a:xfrm>
              <a:off x="945642" y="2569845"/>
              <a:ext cx="57755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代入 w</a:t>
              </a:r>
            </a:p>
          </p:txBody>
        </p:sp>
        <p:sp>
          <p:nvSpPr>
            <p:cNvPr id="21" name="TextBox 21"/>
            <p:cNvSpPr txBox="1"/>
            <p:nvPr/>
          </p:nvSpPr>
          <p:spPr>
            <a:xfrm>
              <a:off x="946785" y="2837021"/>
              <a:ext cx="202426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两个含 w 的项都变成双重求和</a:t>
              </a:r>
            </a:p>
          </p:txBody>
        </p:sp>
        <p:sp>
          <p:nvSpPr>
            <p:cNvPr id="22" name="TextBox 22"/>
            <p:cNvSpPr txBox="1"/>
            <p:nvPr/>
          </p:nvSpPr>
          <p:spPr>
            <a:xfrm>
              <a:off x="945642" y="3156585"/>
              <a:ext cx="111896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用 Σαᵢyᵢ = 0</a:t>
              </a:r>
            </a:p>
          </p:txBody>
        </p:sp>
        <p:sp>
          <p:nvSpPr>
            <p:cNvPr id="23" name="TextBox 23"/>
            <p:cNvSpPr txBox="1"/>
            <p:nvPr/>
          </p:nvSpPr>
          <p:spPr>
            <a:xfrm>
              <a:off x="946785" y="342471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含 b 的那一项整体为 0</a:t>
              </a:r>
            </a:p>
          </p:txBody>
        </p:sp>
        <p:sp>
          <p:nvSpPr>
            <p:cNvPr id="24" name="TextBox 24"/>
            <p:cNvSpPr txBox="1"/>
            <p:nvPr/>
          </p:nvSpPr>
          <p:spPr>
            <a:xfrm>
              <a:off x="945642" y="374332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合并</a:t>
              </a:r>
            </a:p>
          </p:txBody>
        </p:sp>
        <p:sp>
          <p:nvSpPr>
            <p:cNvPr id="25" name="TextBox 25"/>
            <p:cNvSpPr txBox="1"/>
            <p:nvPr/>
          </p:nvSpPr>
          <p:spPr>
            <a:xfrm>
              <a:off x="946785" y="4011454"/>
              <a:ext cx="1768378" cy="220028"/>
            </a:xfrm>
            <a:prstGeom prst="rect">
              <a:avLst/>
            </a:prstGeom>
            <a:noFill/>
            <a:ln>
              <a:noFill/>
            </a:ln>
          </p:spPr>
          <p:txBody>
            <a:bodyPr wrap="none" lIns="0" tIns="0" rIns="0" bIns="0" anchor="t" anchorCtr="0">
              <a:spAutoFit/>
            </a:bodyPr>
            <a:lstStyle/>
            <a:p>
              <a:pPr algn="l"/>
              <a:r>
                <a:rPr lang="el-GR" sz="1120" dirty="0">
                  <a:solidFill>
                    <a:srgbClr val="1F2937"/>
                  </a:solidFill>
                  <a:latin typeface="+mn-lt"/>
                  <a:ea typeface="+mn-ea"/>
                  <a:cs typeface="+mn-cs"/>
                </a:rPr>
                <a:t>½A − A + Σαᵢ = −½A + Σαᵢ</a:t>
              </a:r>
            </a:p>
          </p:txBody>
        </p:sp>
      </p:grpSp>
      <mc:AlternateContent xmlns:mc="http://schemas.openxmlformats.org/markup-compatibility/2006">
        <mc:Choice xmlns:a14="http://schemas.microsoft.com/office/drawing/2010/main" Requires="a14">
          <p:sp>
            <p:nvSpPr>
              <p:cNvPr id="27" name="formula137"/>
              <p:cNvSpPr txBox="1">
                <a:spLocks noGrp="1"/>
              </p:cNvSpPr>
              <p:nvPr/>
            </p:nvSpPr>
            <p:spPr>
              <a:xfrm>
                <a:off x="533400" y="4400550"/>
                <a:ext cx="541020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sSup>
                        <m:e>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w</m:t>
                              </m:r>
                            </m:e>
                          </m:d>
                        </m:e>
                        <m:sup>
                          <m:r>
                            <a:rPr lang="zh-CN" sz="1280" dirty="0">
                              <a:solidFill>
                                <a:srgbClr val="1F2937"/>
                              </a:solidFill>
                              <a:latin typeface="Cambria Math"/>
                              <a:ea typeface="Cambria Math"/>
                              <a:cs typeface="Cambria Math"/>
                            </a:rPr>
                            <m:t>2</m:t>
                          </m:r>
                        </m:sup>
                      </m:sSup>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j</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j</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j</m:t>
                                  </m:r>
                                </m:sub>
                              </m:sSub>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j</m:t>
                                      </m:r>
                                    </m:sub>
                                  </m:sSub>
                                </m:e>
                              </m:d>
                            </m:e>
                          </m:nary>
                        </m:e>
                      </m:nary>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r>
                        <a:rPr lang="zh-CN" sz="1280" dirty="0">
                          <a:solidFill>
                            <a:srgbClr val="1F2937"/>
                          </a:solidFill>
                          <a:latin typeface="Cambria Math"/>
                          <a:ea typeface="Cambria Math"/>
                          <a:cs typeface="Cambria Math"/>
                        </a:rPr>
                        <m:t>A</m:t>
                      </m:r>
                    </m:oMath>
                  </m:oMathPara>
                </a14:m>
              </a:p>
            </p:txBody>
          </p:sp>
        </mc:Choice>
      </mc:AlternateContent>
      <mc:AlternateContent xmlns:mc="http://schemas.openxmlformats.org/markup-compatibility/2006">
        <mc:Choice xmlns:a14="http://schemas.microsoft.com/office/drawing/2010/main" Requires="a14">
          <p:sp>
            <p:nvSpPr>
              <p:cNvPr id="28" name="formula138"/>
              <p:cNvSpPr txBox="1">
                <a:spLocks noGrp="1"/>
              </p:cNvSpPr>
              <p:nvPr/>
            </p:nvSpPr>
            <p:spPr>
              <a:xfrm>
                <a:off x="533400" y="5109210"/>
                <a:ext cx="5410200" cy="56673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i</m:t>
                              </m:r>
                            </m:sub>
                          </m:sSub>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w</m:t>
                              </m:r>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i</m:t>
                                  </m:r>
                                </m:sub>
                              </m:sSub>
                            </m:e>
                          </m:d>
                        </m:e>
                      </m:nary>
                      <m:r>
                        <m:rPr>
                          <m:sty m:val="p"/>
                        </m:rPr>
                        <a:rPr lang="zh-CN" sz="1280" dirty="0">
                          <a:solidFill>
                            <a:srgbClr val="1F2937"/>
                          </a:solidFill>
                          <a:latin typeface="Cambria Math"/>
                          <a:ea typeface="Cambria Math"/>
                          <a:cs typeface="Cambria Math"/>
                        </a:rPr>
                        <m:t>=</m:t>
                      </m:r>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i</m:t>
                              </m:r>
                            </m:sub>
                          </m:sSub>
                          <m:d>
                            <m:dPr>
                              <m:begChr m:val="("/>
                              <m:sepChr m:val=""/>
                              <m:endChr m:val=")"/>
                              <m:grow m:val="on"/>
                              <m:ctrlPr>
                                <a:rPr lang="zh-CN" sz="1280" dirty="0">
                                  <a:solidFill>
                                    <a:srgbClr val="1F2937"/>
                                  </a:solidFill>
                                  <a:latin typeface="Cambria Math"/>
                                  <a:ea typeface="Cambria Math"/>
                                  <a:cs typeface="Cambria Math"/>
                                </a:rPr>
                              </m:ctrlPr>
                            </m:dPr>
                            <m:e>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j</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j</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j</m:t>
                                      </m:r>
                                    </m:sub>
                                  </m:sSub>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j</m:t>
                                      </m:r>
                                    </m:sub>
                                  </m:sSub>
                                </m:e>
                              </m:nary>
                            </m:e>
                          </m:d>
                        </m:e>
                      </m:nary>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A</m:t>
                      </m:r>
                    </m:oMath>
                  </m:oMathPara>
                </a14:m>
              </a:p>
            </p:txBody>
          </p:sp>
        </mc:Choice>
      </mc:AlternateContent>
      <mc:AlternateContent xmlns:mc="http://schemas.openxmlformats.org/markup-compatibility/2006">
        <mc:Choice xmlns:a14="http://schemas.microsoft.com/office/drawing/2010/main" Requires="a14">
          <p:sp>
            <p:nvSpPr>
              <p:cNvPr id="29" name="formula139"/>
              <p:cNvSpPr txBox="1">
                <a:spLocks noGrp="1"/>
              </p:cNvSpPr>
              <p:nvPr/>
            </p:nvSpPr>
            <p:spPr>
              <a:xfrm>
                <a:off x="6248400" y="1941195"/>
                <a:ext cx="541020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280" dirty="0">
                                  <a:solidFill>
                                    <a:srgbClr val="1F2937"/>
                                  </a:solidFill>
                                  <a:latin typeface="Cambria Math"/>
                                  <a:ea typeface="Cambria Math"/>
                                  <a:cs typeface="Cambria Math"/>
                                </a:rPr>
                                <m:t>min</m:t>
                              </m:r>
                            </m:e>
                            <m:lim>
                              <m:r>
                                <a:rPr lang="zh-CN" sz="1280" dirty="0">
                                  <a:solidFill>
                                    <a:srgbClr val="1F2937"/>
                                  </a:solidFill>
                                  <a:latin typeface="Cambria Math"/>
                                  <a:ea typeface="Cambria Math"/>
                                  <a:cs typeface="Cambria Math"/>
                                </a:rPr>
                                <m:t>w</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b</m:t>
                              </m:r>
                            </m:lim>
                          </m:limLow>
                        </m:fName>
                        <m:e>
                          <m:r>
                            <a:rPr lang="zh-CN" sz="1280" dirty="0">
                              <a:solidFill>
                                <a:srgbClr val="1F2937"/>
                              </a:solidFill>
                              <a:latin typeface="Cambria Math"/>
                              <a:ea typeface="Cambria Math"/>
                              <a:cs typeface="Cambria Math"/>
                            </a:rPr>
                            <m:t>L</m:t>
                          </m:r>
                        </m:e>
                      </m:func>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j</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j</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j</m:t>
                                  </m:r>
                                </m:sub>
                              </m:sSub>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j</m:t>
                                      </m:r>
                                    </m:sub>
                                  </m:sSub>
                                </m:e>
                              </m:d>
                            </m:e>
                          </m:nary>
                        </m:e>
                      </m:nary>
                      <m:r>
                        <m:rPr>
                          <m:sty m:val="p"/>
                        </m:rPr>
                        <a:rPr lang="zh-CN" sz="1280" dirty="0">
                          <a:solidFill>
                            <a:srgbClr val="1F2937"/>
                          </a:solidFill>
                          <a:latin typeface="Cambria Math"/>
                          <a:ea typeface="Cambria Math"/>
                          <a:cs typeface="Cambria Math"/>
                        </a:rPr>
                        <m:t>+</m:t>
                      </m:r>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N</m:t>
                          </m:r>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e>
                      </m:nary>
                    </m:oMath>
                  </m:oMathPara>
                </a14:m>
              </a:p>
            </p:txBody>
          </p:sp>
        </mc:Choice>
      </mc:AlternateContent>
      <p:grpSp>
        <p:nvGrpSpPr>
          <p:cNvPr id="37" name="c2-card-2"/>
          <p:cNvGrpSpPr/>
          <p:nvPr/>
        </p:nvGrpSpPr>
        <p:grpSpPr>
          <a:xfrm>
            <a:off x="6248400" y="2650808"/>
            <a:ext cx="5410200" cy="3025140"/>
            <a:chOff x="6248400" y="2650808"/>
            <a:chExt cx="5410200" cy="3025140"/>
          </a:xfrm>
        </p:grpSpPr>
        <p:sp>
          <p:nvSpPr>
            <p:cNvPr id="30" name="Rectangle 30"/>
            <p:cNvSpPr/>
            <p:nvPr/>
          </p:nvSpPr>
          <p:spPr>
            <a:xfrm>
              <a:off x="6248400" y="2650808"/>
              <a:ext cx="5410200" cy="3025140"/>
            </a:xfrm>
            <a:prstGeom prst="roundRect">
              <a:avLst>
                <a:gd name="adj" fmla="val 4408"/>
              </a:avLst>
            </a:prstGeom>
            <a:solidFill>
              <a:srgbClr val="0E7C86"/>
            </a:solidFill>
            <a:ln>
              <a:noFill/>
            </a:ln>
          </p:spPr>
        </p:sp>
        <p:sp>
          <p:nvSpPr>
            <p:cNvPr id="31" name="Rectangle 31"/>
            <p:cNvSpPr/>
            <p:nvPr/>
          </p:nvSpPr>
          <p:spPr>
            <a:xfrm>
              <a:off x="6440805" y="2843212"/>
              <a:ext cx="742950" cy="247650"/>
            </a:xfrm>
            <a:prstGeom prst="roundRect">
              <a:avLst>
                <a:gd name="adj" fmla="val 50000"/>
              </a:avLst>
            </a:prstGeom>
            <a:solidFill>
              <a:srgbClr val="0B5F67"/>
            </a:solidFill>
            <a:ln>
              <a:noFill/>
            </a:ln>
          </p:spPr>
        </p:sp>
        <p:sp>
          <p:nvSpPr>
            <p:cNvPr id="32" name="TextBox 32"/>
            <p:cNvSpPr txBox="1"/>
            <p:nvPr/>
          </p:nvSpPr>
          <p:spPr>
            <a:xfrm>
              <a:off x="6524244" y="28775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对偶问题</a:t>
              </a:r>
            </a:p>
          </p:txBody>
        </p:sp>
        <p:sp>
          <p:nvSpPr>
            <p:cNvPr id="33" name="TextBox 33"/>
            <p:cNvSpPr txBox="1"/>
            <p:nvPr/>
          </p:nvSpPr>
          <p:spPr>
            <a:xfrm>
              <a:off x="7291197" y="2883218"/>
              <a:ext cx="295921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外层对 α 求极大，习惯上翻成求极小</a:t>
              </a:r>
            </a:p>
          </p:txBody>
        </p:sp>
        <mc:AlternateContent xmlns:mc="http://schemas.openxmlformats.org/markup-compatibility/2006">
          <mc:Choice xmlns:a14="http://schemas.microsoft.com/office/drawing/2010/main" Requires="a14">
            <p:sp>
              <p:nvSpPr>
                <p:cNvPr id="34" name="formula140"/>
                <p:cNvSpPr txBox="1">
                  <a:spLocks noGrp="1"/>
                </p:cNvSpPr>
                <p:nvPr/>
              </p:nvSpPr>
              <p:spPr>
                <a:xfrm>
                  <a:off x="6440805" y="3194685"/>
                  <a:ext cx="502539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280" dirty="0">
                                    <a:solidFill>
                                      <a:srgbClr val="FFFFFF"/>
                                    </a:solidFill>
                                    <a:latin typeface="Cambria Math"/>
                                    <a:ea typeface="Cambria Math"/>
                                    <a:cs typeface="Cambria Math"/>
                                  </a:rPr>
                                  <m:t>min</m:t>
                                </m:r>
                              </m:e>
                              <m:lim>
                                <m:r>
                                  <a:rPr lang="zh-CN" sz="1280" dirty="0">
                                    <a:solidFill>
                                      <a:srgbClr val="FFFFFF"/>
                                    </a:solidFill>
                                    <a:latin typeface="Cambria Math"/>
                                    <a:ea typeface="Cambria Math"/>
                                    <a:cs typeface="Cambria Math"/>
                                  </a:rPr>
                                  <m:t>α</m:t>
                                </m:r>
                              </m:lim>
                            </m:limLow>
                          </m:fName>
                          <m:e>
                            <m:r>
                              <a:rPr lang="zh-CN" sz="1280" dirty="0">
                                <a:solidFill>
                                  <a:srgbClr val="FFFFFF"/>
                                </a:solidFill>
                                <a:latin typeface="Cambria Math"/>
                                <a:ea typeface="Cambria Math"/>
                                <a:cs typeface="Cambria Math"/>
                              </a:rPr>
                              <m:t xml:space="preserve"> </m:t>
                            </m:r>
                            <m:f>
                              <m:fPr>
                                <m:type m:val="bar"/>
                                <m:ctrlPr>
                                  <a:rPr lang="zh-CN" sz="1280" dirty="0">
                                    <a:solidFill>
                                      <a:srgbClr val="FFFFFF"/>
                                    </a:solidFill>
                                    <a:latin typeface="Cambria Math"/>
                                    <a:ea typeface="Cambria Math"/>
                                    <a:cs typeface="Cambria Math"/>
                                  </a:rPr>
                                </m:ctrlPr>
                              </m:fPr>
                              <m:num>
                                <m:r>
                                  <a:rPr lang="zh-CN" sz="1280" dirty="0">
                                    <a:solidFill>
                                      <a:srgbClr val="FFFFFF"/>
                                    </a:solidFill>
                                    <a:latin typeface="Cambria Math"/>
                                    <a:ea typeface="Cambria Math"/>
                                    <a:cs typeface="Cambria Math"/>
                                  </a:rPr>
                                  <m:t>1</m:t>
                                </m:r>
                              </m:num>
                              <m:den>
                                <m:r>
                                  <a:rPr lang="zh-CN" sz="1280" dirty="0">
                                    <a:solidFill>
                                      <a:srgbClr val="FFFFFF"/>
                                    </a:solidFill>
                                    <a:latin typeface="Cambria Math"/>
                                    <a:ea typeface="Cambria Math"/>
                                    <a:cs typeface="Cambria Math"/>
                                  </a:rPr>
                                  <m:t>2</m:t>
                                </m:r>
                              </m:den>
                            </m:f>
                          </m:e>
                        </m:func>
                        <m:nary>
                          <m:naryPr>
                            <m:chr m:val="∑"/>
                            <m:limLoc m:val="undOvr"/>
                            <m:grow m:val="off"/>
                            <m:subHide m:val="off"/>
                            <m:supHide m:val="off"/>
                            <m:ctrlPr>
                              <a:rPr lang="zh-CN" sz="1280" dirty="0">
                                <a:solidFill>
                                  <a:srgbClr val="FFFFFF"/>
                                </a:solidFill>
                                <a:latin typeface="Cambria Math"/>
                                <a:ea typeface="Cambria Math"/>
                                <a:cs typeface="Cambria Math"/>
                              </a:rPr>
                            </m:ctrlPr>
                          </m:naryPr>
                          <m:sub>
                            <m:r>
                              <a:rPr lang="zh-CN" sz="1280" dirty="0">
                                <a:solidFill>
                                  <a:srgbClr val="FFFFFF"/>
                                </a:solidFill>
                                <a:latin typeface="Cambria Math"/>
                                <a:ea typeface="Cambria Math"/>
                                <a:cs typeface="Cambria Math"/>
                              </a:rPr>
                              <m:t>i</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1</m:t>
                            </m:r>
                          </m:sub>
                          <m:sup>
                            <m:r>
                              <a:rPr lang="zh-CN" sz="1280" dirty="0">
                                <a:solidFill>
                                  <a:srgbClr val="FFFFFF"/>
                                </a:solidFill>
                                <a:latin typeface="Cambria Math"/>
                                <a:ea typeface="Cambria Math"/>
                                <a:cs typeface="Cambria Math"/>
                              </a:rPr>
                              <m:t>N</m:t>
                            </m:r>
                          </m:sup>
                          <m:e>
                            <m:nary>
                              <m:naryPr>
                                <m:chr m:val="∑"/>
                                <m:limLoc m:val="undOvr"/>
                                <m:grow m:val="off"/>
                                <m:subHide m:val="off"/>
                                <m:supHide m:val="off"/>
                                <m:ctrlPr>
                                  <a:rPr lang="zh-CN" sz="1280" dirty="0">
                                    <a:solidFill>
                                      <a:srgbClr val="FFFFFF"/>
                                    </a:solidFill>
                                    <a:latin typeface="Cambria Math"/>
                                    <a:ea typeface="Cambria Math"/>
                                    <a:cs typeface="Cambria Math"/>
                                  </a:rPr>
                                </m:ctrlPr>
                              </m:naryPr>
                              <m:sub>
                                <m:r>
                                  <a:rPr lang="zh-CN" sz="1280" dirty="0">
                                    <a:solidFill>
                                      <a:srgbClr val="FFFFFF"/>
                                    </a:solidFill>
                                    <a:latin typeface="Cambria Math"/>
                                    <a:ea typeface="Cambria Math"/>
                                    <a:cs typeface="Cambria Math"/>
                                  </a:rPr>
                                  <m:t>j</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1</m:t>
                                </m:r>
                              </m:sub>
                              <m:sup>
                                <m:r>
                                  <a:rPr lang="zh-CN" sz="1280" dirty="0">
                                    <a:solidFill>
                                      <a:srgbClr val="FFFFFF"/>
                                    </a:solidFill>
                                    <a:latin typeface="Cambria Math"/>
                                    <a:ea typeface="Cambria Math"/>
                                    <a:cs typeface="Cambria Math"/>
                                  </a:rPr>
                                  <m:t>N</m:t>
                                </m:r>
                              </m:sup>
                              <m:e>
                                <m:sSub>
                                  <m:e>
                                    <m:r>
                                      <a:rPr lang="zh-CN" sz="1280" dirty="0">
                                        <a:solidFill>
                                          <a:srgbClr val="FFFFFF"/>
                                        </a:solidFill>
                                        <a:latin typeface="Cambria Math"/>
                                        <a:ea typeface="Cambria Math"/>
                                        <a:cs typeface="Cambria Math"/>
                                      </a:rPr>
                                      <m:t>α</m:t>
                                    </m:r>
                                  </m:e>
                                  <m:sub>
                                    <m:r>
                                      <a:rPr lang="zh-CN" sz="1280" dirty="0">
                                        <a:solidFill>
                                          <a:srgbClr val="FFFFFF"/>
                                        </a:solidFill>
                                        <a:latin typeface="Cambria Math"/>
                                        <a:ea typeface="Cambria Math"/>
                                        <a:cs typeface="Cambria Math"/>
                                      </a:rPr>
                                      <m:t>i</m:t>
                                    </m:r>
                                  </m:sub>
                                </m:sSub>
                                <m:sSub>
                                  <m:e>
                                    <m:r>
                                      <a:rPr lang="zh-CN" sz="1280" dirty="0">
                                        <a:solidFill>
                                          <a:srgbClr val="FFFFFF"/>
                                        </a:solidFill>
                                        <a:latin typeface="Cambria Math"/>
                                        <a:ea typeface="Cambria Math"/>
                                        <a:cs typeface="Cambria Math"/>
                                      </a:rPr>
                                      <m:t>α</m:t>
                                    </m:r>
                                  </m:e>
                                  <m:sub>
                                    <m:r>
                                      <a:rPr lang="zh-CN" sz="1280" dirty="0">
                                        <a:solidFill>
                                          <a:srgbClr val="FFFFFF"/>
                                        </a:solidFill>
                                        <a:latin typeface="Cambria Math"/>
                                        <a:ea typeface="Cambria Math"/>
                                        <a:cs typeface="Cambria Math"/>
                                      </a:rPr>
                                      <m:t>j</m:t>
                                    </m:r>
                                  </m:sub>
                                </m:sSub>
                                <m:sSub>
                                  <m:e>
                                    <m:r>
                                      <a:rPr lang="zh-CN" sz="1280" dirty="0">
                                        <a:solidFill>
                                          <a:srgbClr val="FFFFFF"/>
                                        </a:solidFill>
                                        <a:latin typeface="Cambria Math"/>
                                        <a:ea typeface="Cambria Math"/>
                                        <a:cs typeface="Cambria Math"/>
                                      </a:rPr>
                                      <m:t>y</m:t>
                                    </m:r>
                                  </m:e>
                                  <m:sub>
                                    <m:r>
                                      <a:rPr lang="zh-CN" sz="1280" dirty="0">
                                        <a:solidFill>
                                          <a:srgbClr val="FFFFFF"/>
                                        </a:solidFill>
                                        <a:latin typeface="Cambria Math"/>
                                        <a:ea typeface="Cambria Math"/>
                                        <a:cs typeface="Cambria Math"/>
                                      </a:rPr>
                                      <m:t>i</m:t>
                                    </m:r>
                                  </m:sub>
                                </m:sSub>
                                <m:sSub>
                                  <m:e>
                                    <m:r>
                                      <a:rPr lang="zh-CN" sz="1280" dirty="0">
                                        <a:solidFill>
                                          <a:srgbClr val="FFFFFF"/>
                                        </a:solidFill>
                                        <a:latin typeface="Cambria Math"/>
                                        <a:ea typeface="Cambria Math"/>
                                        <a:cs typeface="Cambria Math"/>
                                      </a:rPr>
                                      <m:t>y</m:t>
                                    </m:r>
                                  </m:e>
                                  <m:sub>
                                    <m:r>
                                      <a:rPr lang="zh-CN" sz="1280" dirty="0">
                                        <a:solidFill>
                                          <a:srgbClr val="FFFFFF"/>
                                        </a:solidFill>
                                        <a:latin typeface="Cambria Math"/>
                                        <a:ea typeface="Cambria Math"/>
                                        <a:cs typeface="Cambria Math"/>
                                      </a:rPr>
                                      <m:t>j</m:t>
                                    </m:r>
                                  </m:sub>
                                </m:sSub>
                                <m:d>
                                  <m:dPr>
                                    <m:begChr m:val="("/>
                                    <m:sepChr m:val=""/>
                                    <m:endChr m:val=")"/>
                                    <m:grow m:val="on"/>
                                    <m:ctrlPr>
                                      <a:rPr lang="zh-CN" sz="1280" dirty="0">
                                        <a:solidFill>
                                          <a:srgbClr val="FFFFFF"/>
                                        </a:solidFill>
                                        <a:latin typeface="Cambria Math"/>
                                        <a:ea typeface="Cambria Math"/>
                                        <a:cs typeface="Cambria Math"/>
                                      </a:rPr>
                                    </m:ctrlPr>
                                  </m:dPr>
                                  <m:e>
                                    <m:sSub>
                                      <m:e>
                                        <m:r>
                                          <a:rPr lang="zh-CN" sz="1280" dirty="0">
                                            <a:solidFill>
                                              <a:srgbClr val="FFFFFF"/>
                                            </a:solidFill>
                                            <a:latin typeface="Cambria Math"/>
                                            <a:ea typeface="Cambria Math"/>
                                            <a:cs typeface="Cambria Math"/>
                                          </a:rPr>
                                          <m:t>x</m:t>
                                        </m:r>
                                      </m:e>
                                      <m:sub>
                                        <m:r>
                                          <a:rPr lang="zh-CN" sz="1280" dirty="0">
                                            <a:solidFill>
                                              <a:srgbClr val="FFFFFF"/>
                                            </a:solidFill>
                                            <a:latin typeface="Cambria Math"/>
                                            <a:ea typeface="Cambria Math"/>
                                            <a:cs typeface="Cambria Math"/>
                                          </a:rPr>
                                          <m:t>i</m:t>
                                        </m:r>
                                      </m:sub>
                                    </m:sSub>
                                    <m:r>
                                      <m:rPr>
                                        <m:sty m:val="p"/>
                                      </m:rPr>
                                      <a:rPr lang="zh-CN" sz="1280" dirty="0">
                                        <a:solidFill>
                                          <a:srgbClr val="FFFFFF"/>
                                        </a:solidFill>
                                        <a:latin typeface="Cambria Math"/>
                                        <a:ea typeface="Cambria Math"/>
                                        <a:cs typeface="Cambria Math"/>
                                      </a:rPr>
                                      <m:t>⋅</m:t>
                                    </m:r>
                                    <m:sSub>
                                      <m:e>
                                        <m:r>
                                          <a:rPr lang="zh-CN" sz="1280" dirty="0">
                                            <a:solidFill>
                                              <a:srgbClr val="FFFFFF"/>
                                            </a:solidFill>
                                            <a:latin typeface="Cambria Math"/>
                                            <a:ea typeface="Cambria Math"/>
                                            <a:cs typeface="Cambria Math"/>
                                          </a:rPr>
                                          <m:t>x</m:t>
                                        </m:r>
                                      </m:e>
                                      <m:sub>
                                        <m:r>
                                          <a:rPr lang="zh-CN" sz="1280" dirty="0">
                                            <a:solidFill>
                                              <a:srgbClr val="FFFFFF"/>
                                            </a:solidFill>
                                            <a:latin typeface="Cambria Math"/>
                                            <a:ea typeface="Cambria Math"/>
                                            <a:cs typeface="Cambria Math"/>
                                          </a:rPr>
                                          <m:t>j</m:t>
                                        </m:r>
                                      </m:sub>
                                    </m:sSub>
                                  </m:e>
                                </m:d>
                              </m:e>
                            </m:nary>
                          </m:e>
                        </m:nary>
                        <m:r>
                          <m:rPr>
                            <m:sty m:val="p"/>
                          </m:rPr>
                          <a:rPr lang="zh-CN" sz="1280" dirty="0">
                            <a:solidFill>
                              <a:srgbClr val="FFFFFF"/>
                            </a:solidFill>
                            <a:latin typeface="Cambria Math"/>
                            <a:ea typeface="Cambria Math"/>
                            <a:cs typeface="Cambria Math"/>
                          </a:rPr>
                          <m:t>−</m:t>
                        </m:r>
                        <m:nary>
                          <m:naryPr>
                            <m:chr m:val="∑"/>
                            <m:limLoc m:val="undOvr"/>
                            <m:grow m:val="off"/>
                            <m:subHide m:val="off"/>
                            <m:supHide m:val="off"/>
                            <m:ctrlPr>
                              <a:rPr lang="zh-CN" sz="1280" dirty="0">
                                <a:solidFill>
                                  <a:srgbClr val="FFFFFF"/>
                                </a:solidFill>
                                <a:latin typeface="Cambria Math"/>
                                <a:ea typeface="Cambria Math"/>
                                <a:cs typeface="Cambria Math"/>
                              </a:rPr>
                            </m:ctrlPr>
                          </m:naryPr>
                          <m:sub>
                            <m:r>
                              <a:rPr lang="zh-CN" sz="1280" dirty="0">
                                <a:solidFill>
                                  <a:srgbClr val="FFFFFF"/>
                                </a:solidFill>
                                <a:latin typeface="Cambria Math"/>
                                <a:ea typeface="Cambria Math"/>
                                <a:cs typeface="Cambria Math"/>
                              </a:rPr>
                              <m:t>i</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1</m:t>
                            </m:r>
                          </m:sub>
                          <m:sup>
                            <m:r>
                              <a:rPr lang="zh-CN" sz="1280" dirty="0">
                                <a:solidFill>
                                  <a:srgbClr val="FFFFFF"/>
                                </a:solidFill>
                                <a:latin typeface="Cambria Math"/>
                                <a:ea typeface="Cambria Math"/>
                                <a:cs typeface="Cambria Math"/>
                              </a:rPr>
                              <m:t>N</m:t>
                            </m:r>
                          </m:sup>
                          <m:e>
                            <m:sSub>
                              <m:e>
                                <m:r>
                                  <a:rPr lang="zh-CN" sz="1280" dirty="0">
                                    <a:solidFill>
                                      <a:srgbClr val="FFFFFF"/>
                                    </a:solidFill>
                                    <a:latin typeface="Cambria Math"/>
                                    <a:ea typeface="Cambria Math"/>
                                    <a:cs typeface="Cambria Math"/>
                                  </a:rPr>
                                  <m:t>α</m:t>
                                </m:r>
                              </m:e>
                              <m:sub>
                                <m:r>
                                  <a:rPr lang="zh-CN" sz="1280" dirty="0">
                                    <a:solidFill>
                                      <a:srgbClr val="FFFFFF"/>
                                    </a:solidFill>
                                    <a:latin typeface="Cambria Math"/>
                                    <a:ea typeface="Cambria Math"/>
                                    <a:cs typeface="Cambria Math"/>
                                  </a:rPr>
                                  <m:t>i</m:t>
                                </m:r>
                              </m:sub>
                            </m:sSub>
                          </m:e>
                        </m:nary>
                      </m:oMath>
                    </m:oMathPara>
                  </a14:m>
                </a:p>
              </p:txBody>
            </p:sp>
          </mc:Choice>
        </mc:AlternateContent>
        <mc:AlternateContent xmlns:mc="http://schemas.openxmlformats.org/markup-compatibility/2006">
          <mc:Choice xmlns:a14="http://schemas.microsoft.com/office/drawing/2010/main" Requires="a14">
            <p:sp>
              <p:nvSpPr>
                <p:cNvPr id="35" name="formula141"/>
                <p:cNvSpPr txBox="1">
                  <a:spLocks noGrp="1"/>
                </p:cNvSpPr>
                <p:nvPr/>
              </p:nvSpPr>
              <p:spPr>
                <a:xfrm>
                  <a:off x="6440805" y="3815715"/>
                  <a:ext cx="5025390"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280" dirty="0">
                            <a:solidFill>
                              <a:srgbClr val="FFFFFF"/>
                            </a:solidFill>
                            <a:latin typeface="Cambria Math"/>
                            <a:ea typeface="Cambria Math"/>
                            <a:cs typeface="Cambria Math"/>
                          </a:rPr>
                          <m:t>s.t.</m:t>
                        </m:r>
                        <m:r>
                          <a:rPr lang="zh-CN" sz="1280" dirty="0">
                            <a:solidFill>
                              <a:srgbClr val="FFFFFF"/>
                            </a:solidFill>
                            <a:latin typeface="Cambria Math"/>
                            <a:ea typeface="Cambria Math"/>
                            <a:cs typeface="Cambria Math"/>
                          </a:rPr>
                          <m:t xml:space="preserve">  </m:t>
                        </m:r>
                        <m:nary>
                          <m:naryPr>
                            <m:chr m:val="∑"/>
                            <m:limLoc m:val="undOvr"/>
                            <m:grow m:val="off"/>
                            <m:subHide m:val="off"/>
                            <m:supHide m:val="off"/>
                            <m:ctrlPr>
                              <a:rPr lang="zh-CN" sz="1280" dirty="0">
                                <a:solidFill>
                                  <a:srgbClr val="FFFFFF"/>
                                </a:solidFill>
                                <a:latin typeface="Cambria Math"/>
                                <a:ea typeface="Cambria Math"/>
                                <a:cs typeface="Cambria Math"/>
                              </a:rPr>
                            </m:ctrlPr>
                          </m:naryPr>
                          <m:sub>
                            <m:r>
                              <a:rPr lang="zh-CN" sz="1280" dirty="0">
                                <a:solidFill>
                                  <a:srgbClr val="FFFFFF"/>
                                </a:solidFill>
                                <a:latin typeface="Cambria Math"/>
                                <a:ea typeface="Cambria Math"/>
                                <a:cs typeface="Cambria Math"/>
                              </a:rPr>
                              <m:t>i</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1</m:t>
                            </m:r>
                          </m:sub>
                          <m:sup>
                            <m:r>
                              <a:rPr lang="zh-CN" sz="1280" dirty="0">
                                <a:solidFill>
                                  <a:srgbClr val="FFFFFF"/>
                                </a:solidFill>
                                <a:latin typeface="Cambria Math"/>
                                <a:ea typeface="Cambria Math"/>
                                <a:cs typeface="Cambria Math"/>
                              </a:rPr>
                              <m:t>N</m:t>
                            </m:r>
                          </m:sup>
                          <m:e>
                            <m:sSub>
                              <m:e>
                                <m:r>
                                  <a:rPr lang="zh-CN" sz="1280" dirty="0">
                                    <a:solidFill>
                                      <a:srgbClr val="FFFFFF"/>
                                    </a:solidFill>
                                    <a:latin typeface="Cambria Math"/>
                                    <a:ea typeface="Cambria Math"/>
                                    <a:cs typeface="Cambria Math"/>
                                  </a:rPr>
                                  <m:t>α</m:t>
                                </m:r>
                              </m:e>
                              <m:sub>
                                <m:r>
                                  <a:rPr lang="zh-CN" sz="1280" dirty="0">
                                    <a:solidFill>
                                      <a:srgbClr val="FFFFFF"/>
                                    </a:solidFill>
                                    <a:latin typeface="Cambria Math"/>
                                    <a:ea typeface="Cambria Math"/>
                                    <a:cs typeface="Cambria Math"/>
                                  </a:rPr>
                                  <m:t>i</m:t>
                                </m:r>
                              </m:sub>
                            </m:sSub>
                            <m:sSub>
                              <m:e>
                                <m:r>
                                  <a:rPr lang="zh-CN" sz="1280" dirty="0">
                                    <a:solidFill>
                                      <a:srgbClr val="FFFFFF"/>
                                    </a:solidFill>
                                    <a:latin typeface="Cambria Math"/>
                                    <a:ea typeface="Cambria Math"/>
                                    <a:cs typeface="Cambria Math"/>
                                  </a:rPr>
                                  <m:t>y</m:t>
                                </m:r>
                              </m:e>
                              <m:sub>
                                <m:r>
                                  <a:rPr lang="zh-CN" sz="1280" dirty="0">
                                    <a:solidFill>
                                      <a:srgbClr val="FFFFFF"/>
                                    </a:solidFill>
                                    <a:latin typeface="Cambria Math"/>
                                    <a:ea typeface="Cambria Math"/>
                                    <a:cs typeface="Cambria Math"/>
                                  </a:rPr>
                                  <m:t>i</m:t>
                                </m:r>
                              </m:sub>
                            </m:sSub>
                          </m:e>
                        </m:nary>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0</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 xml:space="preserve">  </m:t>
                        </m:r>
                        <m:sSub>
                          <m:e>
                            <m:r>
                              <a:rPr lang="zh-CN" sz="1280" dirty="0">
                                <a:solidFill>
                                  <a:srgbClr val="FFFFFF"/>
                                </a:solidFill>
                                <a:latin typeface="Cambria Math"/>
                                <a:ea typeface="Cambria Math"/>
                                <a:cs typeface="Cambria Math"/>
                              </a:rPr>
                              <m:t>α</m:t>
                            </m:r>
                          </m:e>
                          <m:sub>
                            <m:r>
                              <a:rPr lang="zh-CN" sz="1280" dirty="0">
                                <a:solidFill>
                                  <a:srgbClr val="FFFFFF"/>
                                </a:solidFill>
                                <a:latin typeface="Cambria Math"/>
                                <a:ea typeface="Cambria Math"/>
                                <a:cs typeface="Cambria Math"/>
                              </a:rPr>
                              <m:t>i</m:t>
                            </m:r>
                          </m:sub>
                        </m:sSub>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0</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 xml:space="preserve"> </m:t>
                        </m:r>
                        <m:r>
                          <a:rPr lang="zh-CN" sz="1280" dirty="0">
                            <a:solidFill>
                              <a:srgbClr val="FFFFFF"/>
                            </a:solidFill>
                            <a:latin typeface="Cambria Math"/>
                            <a:ea typeface="Cambria Math"/>
                            <a:cs typeface="Cambria Math"/>
                          </a:rPr>
                          <m:t>i</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1</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N</m:t>
                        </m:r>
                      </m:oMath>
                    </m:oMathPara>
                  </a14:m>
                </a:p>
              </p:txBody>
            </p:sp>
          </mc:Choice>
        </mc:AlternateContent>
        <p:sp>
          <p:nvSpPr>
            <p:cNvPr id="36" name="TextBox 36"/>
            <p:cNvSpPr txBox="1"/>
            <p:nvPr/>
          </p:nvSpPr>
          <p:spPr>
            <a:xfrm>
              <a:off x="6435090" y="4455319"/>
              <a:ext cx="4883719" cy="220028"/>
            </a:xfrm>
            <a:prstGeom prst="rect">
              <a:avLst/>
            </a:prstGeom>
            <a:noFill/>
            <a:ln>
              <a:noFill/>
            </a:ln>
          </p:spPr>
          <p:txBody>
            <a:bodyPr wrap="none" lIns="0" tIns="0" rIns="0" bIns="0" anchor="t" anchorCtr="0">
              <a:spAutoFit/>
            </a:bodyPr>
            <a:lstStyle/>
            <a:p>
              <a:pPr algn="l"/>
              <a:r>
                <a:rPr lang="zh-CN" sz="1120" dirty="0">
                  <a:solidFill>
                    <a:srgbClr val="FFFFFF"/>
                  </a:solidFill>
                  <a:latin typeface="+mn-lt"/>
                  <a:ea typeface="+mn-ea"/>
                  <a:cs typeface="+mn-cs"/>
                </a:rPr>
                <a:t>变量从 (w, b) 的 n + 1 个换成了 N 个 αᵢ，约束只剩一条等式加箱约束。</a:t>
              </a:r>
            </a:p>
          </p:txBody>
        </p:sp>
      </p:grpSp>
      <p:grpSp>
        <p:nvGrpSpPr>
          <p:cNvPr id="43" name="takeaway"/>
          <p:cNvGrpSpPr/>
          <p:nvPr/>
        </p:nvGrpSpPr>
        <p:grpSpPr>
          <a:xfrm>
            <a:off x="533400" y="5874068"/>
            <a:ext cx="11125200" cy="488632"/>
            <a:chOff x="533400" y="5874068"/>
            <a:chExt cx="11125200" cy="488632"/>
          </a:xfrm>
        </p:grpSpPr>
        <p:sp>
          <p:nvSpPr>
            <p:cNvPr id="38" name="Rectangle 38"/>
            <p:cNvSpPr/>
            <p:nvPr/>
          </p:nvSpPr>
          <p:spPr>
            <a:xfrm>
              <a:off x="533400" y="5874068"/>
              <a:ext cx="11125200" cy="488632"/>
            </a:xfrm>
            <a:prstGeom prst="roundRect">
              <a:avLst>
                <a:gd name="adj" fmla="val 23392"/>
              </a:avLst>
            </a:prstGeom>
            <a:solidFill>
              <a:srgbClr val="0E7C86"/>
            </a:solidFill>
            <a:ln>
              <a:noFill/>
            </a:ln>
          </p:spPr>
        </p:sp>
        <p:grpSp>
          <p:nvGrpSpPr>
            <p:cNvPr id="41" name="Group 41"/>
            <p:cNvGrpSpPr/>
            <p:nvPr/>
          </p:nvGrpSpPr>
          <p:grpSpPr>
            <a:xfrm>
              <a:off x="738188" y="6017897"/>
              <a:ext cx="200023" cy="200023"/>
              <a:chOff x="738188" y="6017897"/>
              <a:chExt cx="200023" cy="200023"/>
            </a:xfrm>
          </p:grpSpPr>
          <p:sp>
            <p:nvSpPr>
              <p:cNvPr id="39" name="Freeform 39"/>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0" name="Freeform 40"/>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2" name="TextBox 42"/>
            <p:cNvSpPr txBox="1"/>
            <p:nvPr/>
          </p:nvSpPr>
          <p:spPr>
            <a:xfrm>
              <a:off x="1040892" y="6023610"/>
              <a:ext cx="905513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样本只以内积 xᵢ·xⱼ 的形式出现，此后换成核函数 K(xᵢ, xⱼ) 就能处理非线性，这是第五部分的全部技术来源。</a:t>
              </a:r>
            </a:p>
          </p:txBody>
        </p:sp>
      </p:grpSp>
      <p:grpSp>
        <p:nvGrpSpPr>
          <p:cNvPr id="46" name="footer"/>
          <p:cNvGrpSpPr/>
          <p:nvPr/>
        </p:nvGrpSpPr>
        <p:grpSpPr>
          <a:xfrm>
            <a:off x="528447" y="6581299"/>
            <a:ext cx="11135106" cy="190690"/>
            <a:chOff x="528447" y="6581299"/>
            <a:chExt cx="11135106" cy="190690"/>
          </a:xfrm>
        </p:grpSpPr>
        <p:sp>
          <p:nvSpPr>
            <p:cNvPr id="44" name="TextBox 4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5" name="TextBox 4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201257" cy="909257"/>
            <a:chOff x="520446" y="342900"/>
            <a:chExt cx="3201257"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320125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由 α* 反解 w* 和 b*</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4" name="c1-steps-1"/>
          <p:cNvGrpSpPr/>
          <p:nvPr/>
        </p:nvGrpSpPr>
        <p:grpSpPr>
          <a:xfrm>
            <a:off x="533400" y="1533525"/>
            <a:ext cx="3820155" cy="2529173"/>
            <a:chOff x="533400" y="1533525"/>
            <a:chExt cx="3820155" cy="2529173"/>
          </a:xfrm>
        </p:grpSpPr>
        <p:sp>
          <p:nvSpPr>
            <p:cNvPr id="7" name="Rectangle 7"/>
            <p:cNvSpPr/>
            <p:nvPr/>
          </p:nvSpPr>
          <p:spPr>
            <a:xfrm>
              <a:off x="666750" y="1676400"/>
              <a:ext cx="19050" cy="1952625"/>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0E7C86"/>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184082"/>
              <a:ext cx="285750" cy="285750"/>
            </a:xfrm>
            <a:prstGeom prst="ellipse">
              <a:avLst/>
            </a:prstGeom>
            <a:solidFill>
              <a:srgbClr val="0E7C86"/>
            </a:solidFill>
            <a:ln>
              <a:noFill/>
            </a:ln>
          </p:spPr>
        </p:sp>
        <p:sp>
          <p:nvSpPr>
            <p:cNvPr id="11" name="TextBox 11"/>
            <p:cNvSpPr txBox="1"/>
            <p:nvPr/>
          </p:nvSpPr>
          <p:spPr>
            <a:xfrm>
              <a:off x="627024" y="225790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2834640"/>
              <a:ext cx="285750" cy="285750"/>
            </a:xfrm>
            <a:prstGeom prst="ellipse">
              <a:avLst/>
            </a:prstGeom>
            <a:solidFill>
              <a:srgbClr val="0E7C86"/>
            </a:solidFill>
            <a:ln>
              <a:noFill/>
            </a:ln>
          </p:spPr>
        </p:sp>
        <p:sp>
          <p:nvSpPr>
            <p:cNvPr id="13" name="TextBox 13"/>
            <p:cNvSpPr txBox="1"/>
            <p:nvPr/>
          </p:nvSpPr>
          <p:spPr>
            <a:xfrm>
              <a:off x="627024" y="290845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Ellipse 14"/>
            <p:cNvSpPr/>
            <p:nvPr/>
          </p:nvSpPr>
          <p:spPr>
            <a:xfrm>
              <a:off x="533400" y="3486150"/>
              <a:ext cx="285750" cy="285750"/>
            </a:xfrm>
            <a:prstGeom prst="ellipse">
              <a:avLst/>
            </a:prstGeom>
            <a:solidFill>
              <a:srgbClr val="0E7C86"/>
            </a:solidFill>
            <a:ln>
              <a:noFill/>
            </a:ln>
          </p:spPr>
        </p:sp>
        <p:sp>
          <p:nvSpPr>
            <p:cNvPr id="15" name="TextBox 15"/>
            <p:cNvSpPr txBox="1"/>
            <p:nvPr/>
          </p:nvSpPr>
          <p:spPr>
            <a:xfrm>
              <a:off x="627024" y="355996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6" name="TextBox 16"/>
            <p:cNvSpPr txBox="1"/>
            <p:nvPr/>
          </p:nvSpPr>
          <p:spPr>
            <a:xfrm>
              <a:off x="944880" y="1567815"/>
              <a:ext cx="556412"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求 w*</a:t>
              </a:r>
            </a:p>
          </p:txBody>
        </p:sp>
        <p:sp>
          <p:nvSpPr>
            <p:cNvPr id="17" name="TextBox 17"/>
            <p:cNvSpPr txBox="1"/>
            <p:nvPr/>
          </p:nvSpPr>
          <p:spPr>
            <a:xfrm>
              <a:off x="946023" y="1861661"/>
              <a:ext cx="298208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w* = Σ αᵢ*yᵢxᵢ，只有支持向量有贡献</a:t>
              </a:r>
            </a:p>
          </p:txBody>
        </p:sp>
        <p:sp>
          <p:nvSpPr>
            <p:cNvPr id="18" name="TextBox 18"/>
            <p:cNvSpPr txBox="1"/>
            <p:nvPr/>
          </p:nvSpPr>
          <p:spPr>
            <a:xfrm>
              <a:off x="944880" y="2218372"/>
              <a:ext cx="142875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挑一个支持向量</a:t>
              </a:r>
            </a:p>
          </p:txBody>
        </p:sp>
        <p:sp>
          <p:nvSpPr>
            <p:cNvPr id="19" name="TextBox 19"/>
            <p:cNvSpPr txBox="1"/>
            <p:nvPr/>
          </p:nvSpPr>
          <p:spPr>
            <a:xfrm>
              <a:off x="946023" y="2512219"/>
              <a:ext cx="340753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αₛ* &gt; 0 的 (xₛ, yₛ) 满足 yₛ(w·xₛ + b) = 1</a:t>
              </a:r>
            </a:p>
          </p:txBody>
        </p:sp>
        <p:sp>
          <p:nvSpPr>
            <p:cNvPr id="20" name="TextBox 20"/>
            <p:cNvSpPr txBox="1"/>
            <p:nvPr/>
          </p:nvSpPr>
          <p:spPr>
            <a:xfrm>
              <a:off x="944880" y="2868930"/>
              <a:ext cx="917867"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两边乘 yₛ</a:t>
              </a:r>
            </a:p>
          </p:txBody>
        </p:sp>
        <p:sp>
          <p:nvSpPr>
            <p:cNvPr id="21" name="TextBox 21"/>
            <p:cNvSpPr txBox="1"/>
            <p:nvPr/>
          </p:nvSpPr>
          <p:spPr>
            <a:xfrm>
              <a:off x="946023" y="3162776"/>
              <a:ext cx="255458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yₛ²(w·xₛ + b) = yₛ，而 yₛ² = 1</a:t>
              </a:r>
            </a:p>
          </p:txBody>
        </p:sp>
        <p:sp>
          <p:nvSpPr>
            <p:cNvPr id="22" name="TextBox 22"/>
            <p:cNvSpPr txBox="1"/>
            <p:nvPr/>
          </p:nvSpPr>
          <p:spPr>
            <a:xfrm>
              <a:off x="944880" y="3520440"/>
              <a:ext cx="715937"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得到 b*</a:t>
              </a:r>
            </a:p>
          </p:txBody>
        </p:sp>
        <p:sp>
          <p:nvSpPr>
            <p:cNvPr id="23" name="TextBox 23"/>
            <p:cNvSpPr txBox="1"/>
            <p:nvPr/>
          </p:nvSpPr>
          <p:spPr>
            <a:xfrm>
              <a:off x="946023" y="3813334"/>
              <a:ext cx="1296690"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b* = yₛ − w*·xₛ</a:t>
              </a:r>
            </a:p>
          </p:txBody>
        </p:sp>
      </p:grpSp>
      <p:grpSp>
        <p:nvGrpSpPr>
          <p:cNvPr id="31" name="c1-card-2"/>
          <p:cNvGrpSpPr/>
          <p:nvPr/>
        </p:nvGrpSpPr>
        <p:grpSpPr>
          <a:xfrm>
            <a:off x="533400" y="4241482"/>
            <a:ext cx="5410200" cy="2091690"/>
            <a:chOff x="533400" y="4241482"/>
            <a:chExt cx="5410200" cy="2091690"/>
          </a:xfrm>
        </p:grpSpPr>
        <p:sp>
          <p:nvSpPr>
            <p:cNvPr id="25" name="Rectangle 25"/>
            <p:cNvSpPr/>
            <p:nvPr/>
          </p:nvSpPr>
          <p:spPr>
            <a:xfrm>
              <a:off x="533400" y="4241482"/>
              <a:ext cx="5410200" cy="2091690"/>
            </a:xfrm>
            <a:prstGeom prst="roundRect">
              <a:avLst>
                <a:gd name="adj" fmla="val 6375"/>
              </a:avLst>
            </a:prstGeom>
            <a:solidFill>
              <a:srgbClr val="0E7C86"/>
            </a:solidFill>
            <a:ln>
              <a:noFill/>
            </a:ln>
          </p:spPr>
        </p:sp>
        <p:sp>
          <p:nvSpPr>
            <p:cNvPr id="26" name="Rectangle 26"/>
            <p:cNvSpPr/>
            <p:nvPr/>
          </p:nvSpPr>
          <p:spPr>
            <a:xfrm>
              <a:off x="742950" y="4451032"/>
              <a:ext cx="921068" cy="257175"/>
            </a:xfrm>
            <a:prstGeom prst="roundRect">
              <a:avLst>
                <a:gd name="adj" fmla="val 50000"/>
              </a:avLst>
            </a:prstGeom>
            <a:solidFill>
              <a:srgbClr val="0B5F67"/>
            </a:solidFill>
            <a:ln>
              <a:noFill/>
            </a:ln>
          </p:spPr>
        </p:sp>
        <p:sp>
          <p:nvSpPr>
            <p:cNvPr id="27" name="TextBox 27"/>
            <p:cNvSpPr txBox="1"/>
            <p:nvPr/>
          </p:nvSpPr>
          <p:spPr>
            <a:xfrm>
              <a:off x="820356" y="4486751"/>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更稳的做法</a:t>
              </a:r>
            </a:p>
          </p:txBody>
        </p:sp>
        <p:sp>
          <p:nvSpPr>
            <p:cNvPr id="28" name="TextBox 28"/>
            <p:cNvSpPr txBox="1"/>
            <p:nvPr/>
          </p:nvSpPr>
          <p:spPr>
            <a:xfrm>
              <a:off x="1770697" y="4486275"/>
              <a:ext cx="203454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对所有支持向量取平均</a:t>
              </a:r>
            </a:p>
          </p:txBody>
        </p:sp>
        <mc:AlternateContent xmlns:mc="http://schemas.openxmlformats.org/markup-compatibility/2006">
          <mc:Choice xmlns:a14="http://schemas.microsoft.com/office/drawing/2010/main" Requires="a14">
            <p:sp>
              <p:nvSpPr>
                <p:cNvPr id="29" name="formula144"/>
                <p:cNvSpPr txBox="1">
                  <a:spLocks noGrp="1"/>
                </p:cNvSpPr>
                <p:nvPr/>
              </p:nvSpPr>
              <p:spPr>
                <a:xfrm>
                  <a:off x="742950" y="4822508"/>
                  <a:ext cx="4991100" cy="70008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580" dirty="0">
                                <a:solidFill>
                                  <a:srgbClr val="FFFFFF"/>
                                </a:solidFill>
                                <a:latin typeface="Cambria Math"/>
                                <a:ea typeface="Cambria Math"/>
                                <a:cs typeface="Cambria Math"/>
                              </a:rPr>
                              <m:t>b</m:t>
                            </m:r>
                          </m:e>
                          <m:sup>
                            <m:r>
                              <m:rPr>
                                <m:sty m:val="p"/>
                              </m:rPr>
                              <a:rPr lang="zh-CN" sz="1580" dirty="0">
                                <a:solidFill>
                                  <a:srgbClr val="FFFFFF"/>
                                </a:solidFill>
                                <a:latin typeface="Cambria Math"/>
                                <a:ea typeface="Cambria Math"/>
                                <a:cs typeface="Cambria Math"/>
                              </a:rPr>
                              <m:t>*</m:t>
                            </m:r>
                          </m:sup>
                        </m:sSup>
                        <m:r>
                          <m:rPr>
                            <m:sty m:val="p"/>
                          </m:rPr>
                          <a:rPr lang="zh-CN" sz="1580" dirty="0">
                            <a:solidFill>
                              <a:srgbClr val="FFFFFF"/>
                            </a:solidFill>
                            <a:latin typeface="Cambria Math"/>
                            <a:ea typeface="Cambria Math"/>
                            <a:cs typeface="Cambria Math"/>
                          </a:rPr>
                          <m:t>=</m:t>
                        </m:r>
                        <m:f>
                          <m:fPr>
                            <m:type m:val="bar"/>
                            <m:ctrlPr>
                              <a:rPr lang="zh-CN" sz="1580" dirty="0">
                                <a:solidFill>
                                  <a:srgbClr val="FFFFFF"/>
                                </a:solidFill>
                                <a:latin typeface="Cambria Math"/>
                                <a:ea typeface="Cambria Math"/>
                                <a:cs typeface="Cambria Math"/>
                              </a:rPr>
                            </m:ctrlPr>
                          </m:fPr>
                          <m:num>
                            <m:r>
                              <a:rPr lang="zh-CN" sz="1580" dirty="0">
                                <a:solidFill>
                                  <a:srgbClr val="FFFFFF"/>
                                </a:solidFill>
                                <a:latin typeface="Cambria Math"/>
                                <a:ea typeface="Cambria Math"/>
                                <a:cs typeface="Cambria Math"/>
                              </a:rPr>
                              <m:t>1</m:t>
                            </m:r>
                          </m:num>
                          <m:den>
                            <m:d>
                              <m:dPr>
                                <m:begChr m:val="|"/>
                                <m:sepChr m:val=""/>
                                <m:endChr m:val="|"/>
                                <m:grow m:val="on"/>
                                <m:ctrlPr>
                                  <a:rPr lang="zh-CN" sz="1580" dirty="0">
                                    <a:solidFill>
                                      <a:srgbClr val="FFFFFF"/>
                                    </a:solidFill>
                                    <a:latin typeface="Cambria Math"/>
                                    <a:ea typeface="Cambria Math"/>
                                    <a:cs typeface="Cambria Math"/>
                                  </a:rPr>
                                </m:ctrlPr>
                              </m:dPr>
                              <m:e>
                                <m:r>
                                  <a:rPr lang="zh-CN" sz="1580" dirty="0">
                                    <a:solidFill>
                                      <a:srgbClr val="FFFFFF"/>
                                    </a:solidFill>
                                    <a:latin typeface="Cambria Math"/>
                                    <a:ea typeface="Cambria Math"/>
                                    <a:cs typeface="Cambria Math"/>
                                  </a:rPr>
                                  <m:t>S</m:t>
                                </m:r>
                              </m:e>
                            </m:d>
                          </m:den>
                        </m:f>
                        <m:nary>
                          <m:naryPr>
                            <m:chr m:val="∑"/>
                            <m:limLoc m:val="undOvr"/>
                            <m:grow m:val="off"/>
                            <m:subHide m:val="off"/>
                            <m:supHide m:val="on"/>
                            <m:ctrlPr>
                              <a:rPr lang="zh-CN" sz="1580" dirty="0">
                                <a:solidFill>
                                  <a:srgbClr val="FFFFFF"/>
                                </a:solidFill>
                                <a:latin typeface="Cambria Math"/>
                                <a:ea typeface="Cambria Math"/>
                                <a:cs typeface="Cambria Math"/>
                              </a:rPr>
                            </m:ctrlPr>
                          </m:naryPr>
                          <m:sub>
                            <m:r>
                              <a:rPr lang="zh-CN" sz="1580" dirty="0">
                                <a:solidFill>
                                  <a:srgbClr val="FFFFFF"/>
                                </a:solidFill>
                                <a:latin typeface="Cambria Math"/>
                                <a:ea typeface="Cambria Math"/>
                                <a:cs typeface="Cambria Math"/>
                              </a:rPr>
                              <m:t>s</m:t>
                            </m:r>
                            <m:r>
                              <m:rPr>
                                <m:sty m:val="p"/>
                              </m:rPr>
                              <a:rPr lang="zh-CN" sz="1580" dirty="0">
                                <a:solidFill>
                                  <a:srgbClr val="FFFFFF"/>
                                </a:solidFill>
                                <a:latin typeface="Cambria Math"/>
                                <a:ea typeface="Cambria Math"/>
                                <a:cs typeface="Cambria Math"/>
                              </a:rPr>
                              <m:t>∈</m:t>
                            </m:r>
                            <m:r>
                              <a:rPr lang="zh-CN" sz="1580" dirty="0">
                                <a:solidFill>
                                  <a:srgbClr val="FFFFFF"/>
                                </a:solidFill>
                                <a:latin typeface="Cambria Math"/>
                                <a:ea typeface="Cambria Math"/>
                                <a:cs typeface="Cambria Math"/>
                              </a:rPr>
                              <m:t>S</m:t>
                            </m:r>
                          </m:sub>
                          <m:sup/>
                          <m:e>
                            <m:d>
                              <m:dPr>
                                <m:begChr m:val="("/>
                                <m:sepChr m:val=""/>
                                <m:endChr m:val=")"/>
                                <m:grow m:val="on"/>
                                <m:ctrlPr>
                                  <a:rPr lang="zh-CN" sz="1580" dirty="0">
                                    <a:solidFill>
                                      <a:srgbClr val="FFFFFF"/>
                                    </a:solidFill>
                                    <a:latin typeface="Cambria Math"/>
                                    <a:ea typeface="Cambria Math"/>
                                    <a:cs typeface="Cambria Math"/>
                                  </a:rPr>
                                </m:ctrlPr>
                              </m:dPr>
                              <m:e>
                                <m:sSub>
                                  <m:e>
                                    <m:r>
                                      <a:rPr lang="zh-CN" sz="1580" dirty="0">
                                        <a:solidFill>
                                          <a:srgbClr val="FFFFFF"/>
                                        </a:solidFill>
                                        <a:latin typeface="Cambria Math"/>
                                        <a:ea typeface="Cambria Math"/>
                                        <a:cs typeface="Cambria Math"/>
                                      </a:rPr>
                                      <m:t>y</m:t>
                                    </m:r>
                                  </m:e>
                                  <m:sub>
                                    <m:r>
                                      <a:rPr lang="zh-CN" sz="1580" dirty="0">
                                        <a:solidFill>
                                          <a:srgbClr val="FFFFFF"/>
                                        </a:solidFill>
                                        <a:latin typeface="Cambria Math"/>
                                        <a:ea typeface="Cambria Math"/>
                                        <a:cs typeface="Cambria Math"/>
                                      </a:rPr>
                                      <m:t>s</m:t>
                                    </m:r>
                                  </m:sub>
                                </m:sSub>
                                <m:r>
                                  <m:rPr>
                                    <m:sty m:val="p"/>
                                  </m:rPr>
                                  <a:rPr lang="zh-CN" sz="1580" dirty="0">
                                    <a:solidFill>
                                      <a:srgbClr val="FFFFFF"/>
                                    </a:solidFill>
                                    <a:latin typeface="Cambria Math"/>
                                    <a:ea typeface="Cambria Math"/>
                                    <a:cs typeface="Cambria Math"/>
                                  </a:rPr>
                                  <m:t>−</m:t>
                                </m:r>
                                <m:sSup>
                                  <m:e>
                                    <m:r>
                                      <a:rPr lang="zh-CN" sz="1580" dirty="0">
                                        <a:solidFill>
                                          <a:srgbClr val="FFFFFF"/>
                                        </a:solidFill>
                                        <a:latin typeface="Cambria Math"/>
                                        <a:ea typeface="Cambria Math"/>
                                        <a:cs typeface="Cambria Math"/>
                                      </a:rPr>
                                      <m:t>w</m:t>
                                    </m:r>
                                  </m:e>
                                  <m:sup>
                                    <m:r>
                                      <m:rPr>
                                        <m:sty m:val="p"/>
                                      </m:rPr>
                                      <a:rPr lang="zh-CN" sz="1580" dirty="0">
                                        <a:solidFill>
                                          <a:srgbClr val="FFFFFF"/>
                                        </a:solidFill>
                                        <a:latin typeface="Cambria Math"/>
                                        <a:ea typeface="Cambria Math"/>
                                        <a:cs typeface="Cambria Math"/>
                                      </a:rPr>
                                      <m:t>*</m:t>
                                    </m:r>
                                  </m:sup>
                                </m:sSup>
                                <m:r>
                                  <m:rPr>
                                    <m:sty m:val="p"/>
                                  </m:rPr>
                                  <a:rPr lang="zh-CN" sz="1580" dirty="0">
                                    <a:solidFill>
                                      <a:srgbClr val="FFFFFF"/>
                                    </a:solidFill>
                                    <a:latin typeface="Cambria Math"/>
                                    <a:ea typeface="Cambria Math"/>
                                    <a:cs typeface="Cambria Math"/>
                                  </a:rPr>
                                  <m:t>⋅</m:t>
                                </m:r>
                                <m:sSub>
                                  <m:e>
                                    <m:r>
                                      <a:rPr lang="zh-CN" sz="1580" dirty="0">
                                        <a:solidFill>
                                          <a:srgbClr val="FFFFFF"/>
                                        </a:solidFill>
                                        <a:latin typeface="Cambria Math"/>
                                        <a:ea typeface="Cambria Math"/>
                                        <a:cs typeface="Cambria Math"/>
                                      </a:rPr>
                                      <m:t>x</m:t>
                                    </m:r>
                                  </m:e>
                                  <m:sub>
                                    <m:r>
                                      <a:rPr lang="zh-CN" sz="1580" dirty="0">
                                        <a:solidFill>
                                          <a:srgbClr val="FFFFFF"/>
                                        </a:solidFill>
                                        <a:latin typeface="Cambria Math"/>
                                        <a:ea typeface="Cambria Math"/>
                                        <a:cs typeface="Cambria Math"/>
                                      </a:rPr>
                                      <m:t>s</m:t>
                                    </m:r>
                                  </m:sub>
                                </m:sSub>
                              </m:e>
                            </m:d>
                          </m:e>
                        </m:nary>
                        <m:r>
                          <m:rPr>
                            <m:sty m:val="p"/>
                          </m:rPr>
                          <a:rPr lang="zh-CN" sz="1580" dirty="0">
                            <a:solidFill>
                              <a:srgbClr val="FFFFFF"/>
                            </a:solidFill>
                            <a:latin typeface="Cambria Math"/>
                            <a:ea typeface="Cambria Math"/>
                            <a:cs typeface="Cambria Math"/>
                          </a:rPr>
                          <m:t>,</m:t>
                        </m:r>
                        <m:r>
                          <a:rPr lang="zh-CN" sz="1580" dirty="0">
                            <a:solidFill>
                              <a:srgbClr val="FFFFFF"/>
                            </a:solidFill>
                            <a:latin typeface="Cambria Math"/>
                            <a:ea typeface="Cambria Math"/>
                            <a:cs typeface="Cambria Math"/>
                          </a:rPr>
                          <m:t xml:space="preserve">  </m:t>
                        </m:r>
                        <m:r>
                          <a:rPr lang="zh-CN" sz="1580" dirty="0">
                            <a:solidFill>
                              <a:srgbClr val="FFFFFF"/>
                            </a:solidFill>
                            <a:latin typeface="Cambria Math"/>
                            <a:ea typeface="Cambria Math"/>
                            <a:cs typeface="Cambria Math"/>
                          </a:rPr>
                          <m:t>S</m:t>
                        </m:r>
                        <m:r>
                          <m:rPr>
                            <m:sty m:val="p"/>
                          </m:rPr>
                          <a:rPr lang="zh-CN" sz="1580" dirty="0">
                            <a:solidFill>
                              <a:srgbClr val="FFFFFF"/>
                            </a:solidFill>
                            <a:latin typeface="Cambria Math"/>
                            <a:ea typeface="Cambria Math"/>
                            <a:cs typeface="Cambria Math"/>
                          </a:rPr>
                          <m:t>=</m:t>
                        </m:r>
                        <m:d>
                          <m:dPr>
                            <m:begChr m:val="{"/>
                            <m:sepChr m:val=""/>
                            <m:endChr m:val="}"/>
                            <m:grow m:val="on"/>
                            <m:ctrlPr>
                              <a:rPr lang="zh-CN" sz="1580" dirty="0">
                                <a:solidFill>
                                  <a:srgbClr val="FFFFFF"/>
                                </a:solidFill>
                                <a:latin typeface="Cambria Math"/>
                                <a:ea typeface="Cambria Math"/>
                                <a:cs typeface="Cambria Math"/>
                              </a:rPr>
                            </m:ctrlPr>
                          </m:dPr>
                          <m:e>
                            <m:r>
                              <a:rPr lang="zh-CN" sz="1580" dirty="0">
                                <a:solidFill>
                                  <a:srgbClr val="FFFFFF"/>
                                </a:solidFill>
                                <a:latin typeface="Cambria Math"/>
                                <a:ea typeface="Cambria Math"/>
                                <a:cs typeface="Cambria Math"/>
                              </a:rPr>
                              <m:t>i</m:t>
                            </m:r>
                            <m:r>
                              <m:rPr>
                                <m:sty m:val="p"/>
                              </m:rPr>
                              <a:rPr lang="zh-CN" sz="1580" dirty="0">
                                <a:solidFill>
                                  <a:srgbClr val="FFFFFF"/>
                                </a:solidFill>
                                <a:latin typeface="Cambria Math"/>
                                <a:ea typeface="Cambria Math"/>
                                <a:cs typeface="Cambria Math"/>
                              </a:rPr>
                              <m:t>:</m:t>
                            </m:r>
                            <m:sSubSup>
                              <m:e>
                                <m:r>
                                  <a:rPr lang="zh-CN" sz="1580" dirty="0">
                                    <a:solidFill>
                                      <a:srgbClr val="FFFFFF"/>
                                    </a:solidFill>
                                    <a:latin typeface="Cambria Math"/>
                                    <a:ea typeface="Cambria Math"/>
                                    <a:cs typeface="Cambria Math"/>
                                  </a:rPr>
                                  <m:t>α</m:t>
                                </m:r>
                              </m:e>
                              <m:sub>
                                <m:r>
                                  <a:rPr lang="zh-CN" sz="1580" dirty="0">
                                    <a:solidFill>
                                      <a:srgbClr val="FFFFFF"/>
                                    </a:solidFill>
                                    <a:latin typeface="Cambria Math"/>
                                    <a:ea typeface="Cambria Math"/>
                                    <a:cs typeface="Cambria Math"/>
                                  </a:rPr>
                                  <m:t>i</m:t>
                                </m:r>
                              </m:sub>
                              <m:sup>
                                <m:r>
                                  <m:rPr>
                                    <m:sty m:val="p"/>
                                  </m:rPr>
                                  <a:rPr lang="zh-CN" sz="1580" dirty="0">
                                    <a:solidFill>
                                      <a:srgbClr val="FFFFFF"/>
                                    </a:solidFill>
                                    <a:latin typeface="Cambria Math"/>
                                    <a:ea typeface="Cambria Math"/>
                                    <a:cs typeface="Cambria Math"/>
                                  </a:rPr>
                                  <m:t>*</m:t>
                                </m:r>
                              </m:sup>
                            </m:sSubSup>
                            <m:r>
                              <m:rPr>
                                <m:sty m:val="p"/>
                              </m:rPr>
                              <a:rPr lang="zh-CN" sz="1580" dirty="0">
                                <a:solidFill>
                                  <a:srgbClr val="FFFFFF"/>
                                </a:solidFill>
                                <a:latin typeface="Cambria Math"/>
                                <a:ea typeface="Cambria Math"/>
                                <a:cs typeface="Cambria Math"/>
                              </a:rPr>
                              <m:t>&gt;</m:t>
                            </m:r>
                            <m:r>
                              <a:rPr lang="zh-CN" sz="1580" dirty="0">
                                <a:solidFill>
                                  <a:srgbClr val="FFFFFF"/>
                                </a:solidFill>
                                <a:latin typeface="Cambria Math"/>
                                <a:ea typeface="Cambria Math"/>
                                <a:cs typeface="Cambria Math"/>
                              </a:rPr>
                              <m:t>0</m:t>
                            </m:r>
                          </m:e>
                        </m:d>
                      </m:oMath>
                    </m:oMathPara>
                  </a14:m>
                </a:p>
              </p:txBody>
            </p:sp>
          </mc:Choice>
        </mc:AlternateContent>
        <p:sp>
          <p:nvSpPr>
            <p:cNvPr id="30" name="TextBox 30"/>
            <p:cNvSpPr txBox="1"/>
            <p:nvPr/>
          </p:nvSpPr>
          <p:spPr>
            <a:xfrm>
              <a:off x="736473" y="5638324"/>
              <a:ext cx="475157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数值求解时各支持向量算出的 b 会有微小差别，取平均可以减小浮</a:t>
              </a:r>
              <a:br/>
              <a:r>
                <a:rPr lang="zh-CN" sz="1280" dirty="0">
                  <a:solidFill>
                    <a:srgbClr val="FFFFFF"/>
                  </a:solidFill>
                  <a:latin typeface="+mn-lt"/>
                  <a:ea typeface="+mn-ea"/>
                  <a:cs typeface="+mn-cs"/>
                </a:rPr>
                <a:t>点误差的影响。</a:t>
              </a:r>
            </a:p>
          </p:txBody>
        </p:sp>
      </p:grpSp>
      <p:grpSp>
        <p:nvGrpSpPr>
          <p:cNvPr id="39" name="c2-card-1"/>
          <p:cNvGrpSpPr/>
          <p:nvPr/>
        </p:nvGrpSpPr>
        <p:grpSpPr>
          <a:xfrm>
            <a:off x="6248400" y="1524000"/>
            <a:ext cx="5410200" cy="1844992"/>
            <a:chOff x="6248400" y="1524000"/>
            <a:chExt cx="5410200" cy="1844992"/>
          </a:xfrm>
        </p:grpSpPr>
        <p:sp>
          <p:nvSpPr>
            <p:cNvPr id="32" name="Rectangle 32"/>
            <p:cNvSpPr/>
            <p:nvPr/>
          </p:nvSpPr>
          <p:spPr>
            <a:xfrm>
              <a:off x="6248400" y="1524000"/>
              <a:ext cx="5410200" cy="1844992"/>
            </a:xfrm>
            <a:prstGeom prst="roundRect">
              <a:avLst>
                <a:gd name="adj" fmla="val 7228"/>
              </a:avLst>
            </a:prstGeom>
            <a:solidFill>
              <a:srgbClr val="FFFFFF"/>
            </a:solidFill>
            <a:ln w="14288">
              <a:solidFill>
                <a:srgbClr val="D9DFEA"/>
              </a:solidFill>
            </a:ln>
          </p:spPr>
        </p:sp>
        <p:sp>
          <p:nvSpPr>
            <p:cNvPr id="33" name="Rectangle 33"/>
            <p:cNvSpPr/>
            <p:nvPr/>
          </p:nvSpPr>
          <p:spPr>
            <a:xfrm>
              <a:off x="6257925" y="1657350"/>
              <a:ext cx="47625" cy="1578292"/>
            </a:xfrm>
            <a:prstGeom prst="roundRect">
              <a:avLst>
                <a:gd name="adj" fmla="val 50000"/>
              </a:avLst>
            </a:prstGeom>
            <a:solidFill>
              <a:srgbClr val="14A38B"/>
            </a:solidFill>
            <a:ln>
              <a:noFill/>
            </a:ln>
          </p:spPr>
        </p:sp>
        <p:sp>
          <p:nvSpPr>
            <p:cNvPr id="34" name="Rectangle 34"/>
            <p:cNvSpPr/>
            <p:nvPr/>
          </p:nvSpPr>
          <p:spPr>
            <a:xfrm>
              <a:off x="6496050" y="1733550"/>
              <a:ext cx="778192" cy="257175"/>
            </a:xfrm>
            <a:prstGeom prst="roundRect">
              <a:avLst>
                <a:gd name="adj" fmla="val 50000"/>
              </a:avLst>
            </a:prstGeom>
            <a:solidFill>
              <a:srgbClr val="E3F5F1"/>
            </a:solidFill>
            <a:ln>
              <a:noFill/>
            </a:ln>
          </p:spPr>
        </p:sp>
        <p:sp>
          <p:nvSpPr>
            <p:cNvPr id="35" name="TextBox 35"/>
            <p:cNvSpPr txBox="1"/>
            <p:nvPr/>
          </p:nvSpPr>
          <p:spPr>
            <a:xfrm>
              <a:off x="6578359" y="1769269"/>
              <a:ext cx="614528"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决策函数</a:t>
              </a:r>
            </a:p>
          </p:txBody>
        </p:sp>
        <p:sp>
          <p:nvSpPr>
            <p:cNvPr id="36" name="TextBox 36"/>
            <p:cNvSpPr txBox="1"/>
            <p:nvPr/>
          </p:nvSpPr>
          <p:spPr>
            <a:xfrm>
              <a:off x="7380923" y="1768792"/>
              <a:ext cx="203454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只用支持向量就能判类</a:t>
              </a:r>
            </a:p>
          </p:txBody>
        </p:sp>
        <mc:AlternateContent xmlns:mc="http://schemas.openxmlformats.org/markup-compatibility/2006">
          <mc:Choice xmlns:a14="http://schemas.microsoft.com/office/drawing/2010/main" Requires="a14">
            <p:sp>
              <p:nvSpPr>
                <p:cNvPr id="37" name="formula145"/>
                <p:cNvSpPr txBox="1">
                  <a:spLocks noGrp="1"/>
                </p:cNvSpPr>
                <p:nvPr/>
              </p:nvSpPr>
              <p:spPr>
                <a:xfrm>
                  <a:off x="6496050" y="2105025"/>
                  <a:ext cx="4953000" cy="70008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580" dirty="0">
                            <a:solidFill>
                              <a:srgbClr val="1F2937"/>
                            </a:solidFill>
                            <a:latin typeface="Cambria Math"/>
                            <a:ea typeface="Cambria Math"/>
                            <a:cs typeface="Cambria Math"/>
                          </a:rPr>
                          <m:t>f</m:t>
                        </m:r>
                        <m:d>
                          <m:dPr>
                            <m:begChr m:val="("/>
                            <m:sepChr m:val=""/>
                            <m:endChr m:val=")"/>
                            <m:grow m:val="on"/>
                            <m:ctrlPr>
                              <a:rPr lang="zh-CN" sz="1580" dirty="0">
                                <a:solidFill>
                                  <a:srgbClr val="1F2937"/>
                                </a:solidFill>
                                <a:latin typeface="Cambria Math"/>
                                <a:ea typeface="Cambria Math"/>
                                <a:cs typeface="Cambria Math"/>
                              </a:rPr>
                            </m:ctrlPr>
                          </m:dPr>
                          <m:e>
                            <m:r>
                              <a:rPr lang="zh-CN" sz="1580" dirty="0">
                                <a:solidFill>
                                  <a:srgbClr val="1F2937"/>
                                </a:solidFill>
                                <a:latin typeface="Cambria Math"/>
                                <a:ea typeface="Cambria Math"/>
                                <a:cs typeface="Cambria Math"/>
                              </a:rPr>
                              <m:t>x</m:t>
                            </m:r>
                          </m:e>
                        </m:d>
                        <m:r>
                          <m:rPr>
                            <m:sty m:val="p"/>
                          </m:rPr>
                          <a:rPr lang="zh-CN" sz="1580" dirty="0">
                            <a:solidFill>
                              <a:srgbClr val="1F2937"/>
                            </a:solidFill>
                            <a:latin typeface="Cambria Math"/>
                            <a:ea typeface="Cambria Math"/>
                            <a:cs typeface="Cambria Math"/>
                          </a:rPr>
                          <m:t>=</m:t>
                        </m:r>
                        <m:r>
                          <m:rPr>
                            <m:sty m:val="p"/>
                          </m:rPr>
                          <a:rPr lang="zh-CN" sz="1580" dirty="0">
                            <a:solidFill>
                              <a:srgbClr val="1F2937"/>
                            </a:solidFill>
                            <a:latin typeface="Cambria Math"/>
                            <a:ea typeface="Cambria Math"/>
                            <a:cs typeface="Cambria Math"/>
                          </a:rPr>
                          <m:t>sign</m:t>
                        </m:r>
                        <m:d>
                          <m:dPr>
                            <m:begChr m:val="("/>
                            <m:sepChr m:val=""/>
                            <m:endChr m:val=")"/>
                            <m:grow m:val="on"/>
                            <m:ctrlPr>
                              <a:rPr lang="zh-CN" sz="1580" dirty="0">
                                <a:solidFill>
                                  <a:srgbClr val="1F2937"/>
                                </a:solidFill>
                                <a:latin typeface="Cambria Math"/>
                                <a:ea typeface="Cambria Math"/>
                                <a:cs typeface="Cambria Math"/>
                              </a:rPr>
                            </m:ctrlPr>
                          </m:dPr>
                          <m:e>
                            <m:nary>
                              <m:naryPr>
                                <m:chr m:val="∑"/>
                                <m:limLoc m:val="undOvr"/>
                                <m:grow m:val="off"/>
                                <m:subHide m:val="off"/>
                                <m:supHide m:val="on"/>
                                <m:ctrlPr>
                                  <a:rPr lang="zh-CN" sz="1580" dirty="0">
                                    <a:solidFill>
                                      <a:srgbClr val="1F2937"/>
                                    </a:solidFill>
                                    <a:latin typeface="Cambria Math"/>
                                    <a:ea typeface="Cambria Math"/>
                                    <a:cs typeface="Cambria Math"/>
                                  </a:rPr>
                                </m:ctrlPr>
                              </m:naryPr>
                              <m:sub>
                                <m:r>
                                  <a:rPr lang="zh-CN" sz="1580" dirty="0">
                                    <a:solidFill>
                                      <a:srgbClr val="1F2937"/>
                                    </a:solidFill>
                                    <a:latin typeface="Cambria Math"/>
                                    <a:ea typeface="Cambria Math"/>
                                    <a:cs typeface="Cambria Math"/>
                                  </a:rPr>
                                  <m:t>i</m:t>
                                </m:r>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S</m:t>
                                </m:r>
                              </m:sub>
                              <m:sup/>
                              <m:e>
                                <m:sSubSup>
                                  <m:e>
                                    <m:r>
                                      <a:rPr lang="zh-CN" sz="1580" dirty="0">
                                        <a:solidFill>
                                          <a:srgbClr val="1F2937"/>
                                        </a:solidFill>
                                        <a:latin typeface="Cambria Math"/>
                                        <a:ea typeface="Cambria Math"/>
                                        <a:cs typeface="Cambria Math"/>
                                      </a:rPr>
                                      <m:t>α</m:t>
                                    </m:r>
                                  </m:e>
                                  <m:sub>
                                    <m:r>
                                      <a:rPr lang="zh-CN" sz="1580" dirty="0">
                                        <a:solidFill>
                                          <a:srgbClr val="1F2937"/>
                                        </a:solidFill>
                                        <a:latin typeface="Cambria Math"/>
                                        <a:ea typeface="Cambria Math"/>
                                        <a:cs typeface="Cambria Math"/>
                                      </a:rPr>
                                      <m:t>i</m:t>
                                    </m:r>
                                  </m:sub>
                                  <m:sup>
                                    <m:r>
                                      <m:rPr>
                                        <m:sty m:val="p"/>
                                      </m:rPr>
                                      <a:rPr lang="zh-CN" sz="1580" dirty="0">
                                        <a:solidFill>
                                          <a:srgbClr val="1F2937"/>
                                        </a:solidFill>
                                        <a:latin typeface="Cambria Math"/>
                                        <a:ea typeface="Cambria Math"/>
                                        <a:cs typeface="Cambria Math"/>
                                      </a:rPr>
                                      <m:t>*</m:t>
                                    </m:r>
                                  </m:sup>
                                </m:sSubSup>
                                <m:sSub>
                                  <m:e>
                                    <m:r>
                                      <a:rPr lang="zh-CN" sz="1580" dirty="0">
                                        <a:solidFill>
                                          <a:srgbClr val="1F2937"/>
                                        </a:solidFill>
                                        <a:latin typeface="Cambria Math"/>
                                        <a:ea typeface="Cambria Math"/>
                                        <a:cs typeface="Cambria Math"/>
                                      </a:rPr>
                                      <m:t>y</m:t>
                                    </m:r>
                                  </m:e>
                                  <m:sub>
                                    <m:r>
                                      <a:rPr lang="zh-CN" sz="1580" dirty="0">
                                        <a:solidFill>
                                          <a:srgbClr val="1F2937"/>
                                        </a:solidFill>
                                        <a:latin typeface="Cambria Math"/>
                                        <a:ea typeface="Cambria Math"/>
                                        <a:cs typeface="Cambria Math"/>
                                      </a:rPr>
                                      <m:t>i</m:t>
                                    </m:r>
                                  </m:sub>
                                </m:sSub>
                                <m:r>
                                  <a:rPr lang="zh-CN" sz="1580" dirty="0">
                                    <a:solidFill>
                                      <a:srgbClr val="1F2937"/>
                                    </a:solidFill>
                                    <a:latin typeface="Cambria Math"/>
                                    <a:ea typeface="Cambria Math"/>
                                    <a:cs typeface="Cambria Math"/>
                                  </a:rPr>
                                  <m:t xml:space="preserve"> </m:t>
                                </m:r>
                                <m:d>
                                  <m:dPr>
                                    <m:begChr m:val="("/>
                                    <m:sepChr m:val=""/>
                                    <m:endChr m:val=")"/>
                                    <m:grow m:val="on"/>
                                    <m:ctrlPr>
                                      <a:rPr lang="zh-CN" sz="1580" dirty="0">
                                        <a:solidFill>
                                          <a:srgbClr val="1F2937"/>
                                        </a:solidFill>
                                        <a:latin typeface="Cambria Math"/>
                                        <a:ea typeface="Cambria Math"/>
                                        <a:cs typeface="Cambria Math"/>
                                      </a:rPr>
                                    </m:ctrlPr>
                                  </m:dPr>
                                  <m:e>
                                    <m:sSub>
                                      <m:e>
                                        <m:r>
                                          <a:rPr lang="zh-CN" sz="1580" dirty="0">
                                            <a:solidFill>
                                              <a:srgbClr val="1F2937"/>
                                            </a:solidFill>
                                            <a:latin typeface="Cambria Math"/>
                                            <a:ea typeface="Cambria Math"/>
                                            <a:cs typeface="Cambria Math"/>
                                          </a:rPr>
                                          <m:t>x</m:t>
                                        </m:r>
                                      </m:e>
                                      <m:sub>
                                        <m:r>
                                          <a:rPr lang="zh-CN" sz="1580" dirty="0">
                                            <a:solidFill>
                                              <a:srgbClr val="1F2937"/>
                                            </a:solidFill>
                                            <a:latin typeface="Cambria Math"/>
                                            <a:ea typeface="Cambria Math"/>
                                            <a:cs typeface="Cambria Math"/>
                                          </a:rPr>
                                          <m:t>i</m:t>
                                        </m:r>
                                      </m:sub>
                                    </m:sSub>
                                    <m:r>
                                      <m:rPr>
                                        <m:sty m:val="p"/>
                                      </m:rPr>
                                      <a:rPr lang="zh-CN" sz="1580" dirty="0">
                                        <a:solidFill>
                                          <a:srgbClr val="1F2937"/>
                                        </a:solidFill>
                                        <a:latin typeface="Cambria Math"/>
                                        <a:ea typeface="Cambria Math"/>
                                        <a:cs typeface="Cambria Math"/>
                                      </a:rPr>
                                      <m:t>⋅</m:t>
                                    </m:r>
                                    <m:r>
                                      <a:rPr lang="zh-CN" sz="1580" dirty="0">
                                        <a:solidFill>
                                          <a:srgbClr val="1F2937"/>
                                        </a:solidFill>
                                        <a:latin typeface="Cambria Math"/>
                                        <a:ea typeface="Cambria Math"/>
                                        <a:cs typeface="Cambria Math"/>
                                      </a:rPr>
                                      <m:t>x</m:t>
                                    </m:r>
                                  </m:e>
                                </m:d>
                              </m:e>
                            </m:nary>
                            <m:r>
                              <m:rPr>
                                <m:sty m:val="p"/>
                              </m:rPr>
                              <a:rPr lang="zh-CN" sz="1580" dirty="0">
                                <a:solidFill>
                                  <a:srgbClr val="1F2937"/>
                                </a:solidFill>
                                <a:latin typeface="Cambria Math"/>
                                <a:ea typeface="Cambria Math"/>
                                <a:cs typeface="Cambria Math"/>
                              </a:rPr>
                              <m:t>+</m:t>
                            </m:r>
                            <m:sSup>
                              <m:e>
                                <m:r>
                                  <a:rPr lang="zh-CN" sz="1580" dirty="0">
                                    <a:solidFill>
                                      <a:srgbClr val="1F2937"/>
                                    </a:solidFill>
                                    <a:latin typeface="Cambria Math"/>
                                    <a:ea typeface="Cambria Math"/>
                                    <a:cs typeface="Cambria Math"/>
                                  </a:rPr>
                                  <m:t>b</m:t>
                                </m:r>
                              </m:e>
                              <m:sup>
                                <m:r>
                                  <m:rPr>
                                    <m:sty m:val="p"/>
                                  </m:rPr>
                                  <a:rPr lang="zh-CN" sz="1580" dirty="0">
                                    <a:solidFill>
                                      <a:srgbClr val="1F2937"/>
                                    </a:solidFill>
                                    <a:latin typeface="Cambria Math"/>
                                    <a:ea typeface="Cambria Math"/>
                                    <a:cs typeface="Cambria Math"/>
                                  </a:rPr>
                                  <m:t>*</m:t>
                                </m:r>
                              </m:sup>
                            </m:sSup>
                          </m:e>
                        </m:d>
                      </m:oMath>
                    </m:oMathPara>
                  </a14:m>
                </a:p>
              </p:txBody>
            </p:sp>
          </mc:Choice>
        </mc:AlternateContent>
        <p:sp>
          <p:nvSpPr>
            <p:cNvPr id="38" name="TextBox 38"/>
            <p:cNvSpPr txBox="1"/>
            <p:nvPr/>
          </p:nvSpPr>
          <p:spPr>
            <a:xfrm>
              <a:off x="6488430" y="2925128"/>
              <a:ext cx="505320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非支持向量对应的 αᵢ* 都是 0，求和实际上只跑 |S| 项。</a:t>
              </a:r>
            </a:p>
          </p:txBody>
        </p:sp>
      </p:grpSp>
      <p:grpSp>
        <p:nvGrpSpPr>
          <p:cNvPr id="56" name="c2-table-2"/>
          <p:cNvGrpSpPr/>
          <p:nvPr/>
        </p:nvGrpSpPr>
        <p:grpSpPr>
          <a:xfrm>
            <a:off x="6248400" y="3559492"/>
            <a:ext cx="5410200" cy="1800225"/>
            <a:chOff x="6248400" y="3559492"/>
            <a:chExt cx="5410200" cy="1800225"/>
          </a:xfrm>
        </p:grpSpPr>
        <p:sp>
          <p:nvSpPr>
            <p:cNvPr id="40" name="Rectangle 40"/>
            <p:cNvSpPr/>
            <p:nvPr/>
          </p:nvSpPr>
          <p:spPr>
            <a:xfrm>
              <a:off x="6248400" y="3559492"/>
              <a:ext cx="5410200" cy="448628"/>
            </a:xfrm>
            <a:prstGeom prst="rect">
              <a:avLst/>
            </a:prstGeom>
            <a:solidFill>
              <a:srgbClr val="0E7C86"/>
            </a:solidFill>
            <a:ln>
              <a:noFill/>
            </a:ln>
          </p:spPr>
        </p:sp>
        <p:sp>
          <p:nvSpPr>
            <p:cNvPr id="41" name="TextBox 41"/>
            <p:cNvSpPr txBox="1"/>
            <p:nvPr/>
          </p:nvSpPr>
          <p:spPr>
            <a:xfrm>
              <a:off x="6618577" y="3695224"/>
              <a:ext cx="882707"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αᵢ* 的取值</a:t>
              </a:r>
            </a:p>
          </p:txBody>
        </p:sp>
        <p:sp>
          <p:nvSpPr>
            <p:cNvPr id="42" name="TextBox 42"/>
            <p:cNvSpPr txBox="1"/>
            <p:nvPr/>
          </p:nvSpPr>
          <p:spPr>
            <a:xfrm>
              <a:off x="8656688" y="3695224"/>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样本位置</a:t>
              </a:r>
            </a:p>
          </p:txBody>
        </p:sp>
        <p:sp>
          <p:nvSpPr>
            <p:cNvPr id="43" name="TextBox 43"/>
            <p:cNvSpPr txBox="1"/>
            <p:nvPr/>
          </p:nvSpPr>
          <p:spPr>
            <a:xfrm>
              <a:off x="10428131" y="3695224"/>
              <a:ext cx="946463"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对 w 的贡献</a:t>
              </a:r>
            </a:p>
          </p:txBody>
        </p:sp>
        <p:sp>
          <p:nvSpPr>
            <p:cNvPr id="44" name="TextBox 44"/>
            <p:cNvSpPr txBox="1"/>
            <p:nvPr/>
          </p:nvSpPr>
          <p:spPr>
            <a:xfrm>
              <a:off x="6356223" y="4257199"/>
              <a:ext cx="619067" cy="249364"/>
            </a:xfrm>
            <a:prstGeom prst="rect">
              <a:avLst/>
            </a:prstGeom>
            <a:noFill/>
            <a:ln>
              <a:noFill/>
            </a:ln>
          </p:spPr>
          <p:txBody>
            <a:bodyPr wrap="none" lIns="0" tIns="0" rIns="0" bIns="0" anchor="t" anchorCtr="0">
              <a:spAutoFit/>
            </a:bodyPr>
            <a:lstStyle/>
            <a:p>
              <a:pPr algn="l"/>
              <a:r>
                <a:rPr lang="el-GR" sz="1280" b="1" dirty="0">
                  <a:solidFill>
                    <a:srgbClr val="1F2937"/>
                  </a:solidFill>
                  <a:latin typeface="+mn-lt"/>
                  <a:ea typeface="+mn-ea"/>
                  <a:cs typeface="+mn-cs"/>
                </a:rPr>
                <a:t>αᵢ* = 0</a:t>
              </a:r>
            </a:p>
          </p:txBody>
        </p:sp>
        <p:sp>
          <p:nvSpPr>
            <p:cNvPr id="45" name="TextBox 45"/>
            <p:cNvSpPr txBox="1"/>
            <p:nvPr/>
          </p:nvSpPr>
          <p:spPr>
            <a:xfrm>
              <a:off x="7979283" y="4143851"/>
              <a:ext cx="186613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yᵢ(w·xᵢ+b) &gt; 1，在间隔</a:t>
              </a:r>
              <a:br/>
              <a:r>
                <a:rPr lang="zh-CN" sz="1280" dirty="0">
                  <a:solidFill>
                    <a:srgbClr val="1F2937"/>
                  </a:solidFill>
                  <a:latin typeface="+mn-lt"/>
                  <a:ea typeface="+mn-ea"/>
                  <a:cs typeface="+mn-cs"/>
                </a:rPr>
                <a:t>外</a:t>
              </a:r>
            </a:p>
          </p:txBody>
        </p:sp>
        <p:sp>
          <p:nvSpPr>
            <p:cNvPr id="46" name="TextBox 46"/>
            <p:cNvSpPr txBox="1"/>
            <p:nvPr/>
          </p:nvSpPr>
          <p:spPr>
            <a:xfrm>
              <a:off x="10251948" y="4257199"/>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无</a:t>
              </a:r>
            </a:p>
          </p:txBody>
        </p:sp>
        <p:sp>
          <p:nvSpPr>
            <p:cNvPr id="47" name="Rectangle 47"/>
            <p:cNvSpPr/>
            <p:nvPr/>
          </p:nvSpPr>
          <p:spPr>
            <a:xfrm>
              <a:off x="6248400" y="4678680"/>
              <a:ext cx="5410200" cy="9525"/>
            </a:xfrm>
            <a:prstGeom prst="rect">
              <a:avLst/>
            </a:prstGeom>
            <a:solidFill>
              <a:srgbClr val="D9DFEA"/>
            </a:solidFill>
            <a:ln>
              <a:noFill/>
            </a:ln>
          </p:spPr>
        </p:sp>
        <p:sp>
          <p:nvSpPr>
            <p:cNvPr id="48" name="Rectangle 48"/>
            <p:cNvSpPr/>
            <p:nvPr/>
          </p:nvSpPr>
          <p:spPr>
            <a:xfrm>
              <a:off x="6248400" y="4683442"/>
              <a:ext cx="5410200" cy="675322"/>
            </a:xfrm>
            <a:prstGeom prst="rect">
              <a:avLst/>
            </a:prstGeom>
            <a:solidFill>
              <a:srgbClr val="F4F6FB"/>
            </a:solidFill>
            <a:ln>
              <a:noFill/>
            </a:ln>
          </p:spPr>
        </p:sp>
        <p:sp>
          <p:nvSpPr>
            <p:cNvPr id="49" name="TextBox 49"/>
            <p:cNvSpPr txBox="1"/>
            <p:nvPr/>
          </p:nvSpPr>
          <p:spPr>
            <a:xfrm>
              <a:off x="6356223" y="4932521"/>
              <a:ext cx="619067" cy="249364"/>
            </a:xfrm>
            <a:prstGeom prst="rect">
              <a:avLst/>
            </a:prstGeom>
            <a:noFill/>
            <a:ln>
              <a:noFill/>
            </a:ln>
          </p:spPr>
          <p:txBody>
            <a:bodyPr wrap="none" lIns="0" tIns="0" rIns="0" bIns="0" anchor="t" anchorCtr="0">
              <a:spAutoFit/>
            </a:bodyPr>
            <a:lstStyle/>
            <a:p>
              <a:pPr algn="l"/>
              <a:r>
                <a:rPr lang="el-GR" sz="1280" b="1" dirty="0">
                  <a:solidFill>
                    <a:srgbClr val="1F2937"/>
                  </a:solidFill>
                  <a:latin typeface="+mn-lt"/>
                  <a:ea typeface="+mn-ea"/>
                  <a:cs typeface="+mn-cs"/>
                </a:rPr>
                <a:t>αᵢ* &gt; 0</a:t>
              </a:r>
            </a:p>
          </p:txBody>
        </p:sp>
        <p:sp>
          <p:nvSpPr>
            <p:cNvPr id="50" name="TextBox 50"/>
            <p:cNvSpPr txBox="1"/>
            <p:nvPr/>
          </p:nvSpPr>
          <p:spPr>
            <a:xfrm>
              <a:off x="7979283" y="4819174"/>
              <a:ext cx="186613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yᵢ(w·xᵢ+b) = 1，在边界</a:t>
              </a:r>
              <a:br/>
              <a:r>
                <a:rPr lang="zh-CN" sz="1280" dirty="0">
                  <a:solidFill>
                    <a:srgbClr val="1F2937"/>
                  </a:solidFill>
                  <a:latin typeface="+mn-lt"/>
                  <a:ea typeface="+mn-ea"/>
                  <a:cs typeface="+mn-cs"/>
                </a:rPr>
                <a:t>上</a:t>
              </a:r>
            </a:p>
          </p:txBody>
        </p:sp>
        <p:sp>
          <p:nvSpPr>
            <p:cNvPr id="51" name="Rectangle 51"/>
            <p:cNvSpPr/>
            <p:nvPr/>
          </p:nvSpPr>
          <p:spPr>
            <a:xfrm>
              <a:off x="10153650" y="4692968"/>
              <a:ext cx="1495425" cy="656272"/>
            </a:xfrm>
            <a:prstGeom prst="rect">
              <a:avLst/>
            </a:prstGeom>
            <a:solidFill>
              <a:srgbClr val="E3F5F1"/>
            </a:solidFill>
            <a:ln>
              <a:noFill/>
            </a:ln>
          </p:spPr>
        </p:sp>
        <p:sp>
          <p:nvSpPr>
            <p:cNvPr id="52" name="TextBox 52"/>
            <p:cNvSpPr txBox="1"/>
            <p:nvPr/>
          </p:nvSpPr>
          <p:spPr>
            <a:xfrm>
              <a:off x="10251948" y="4932521"/>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有</a:t>
              </a:r>
            </a:p>
          </p:txBody>
        </p:sp>
        <p:sp>
          <p:nvSpPr>
            <p:cNvPr id="53" name="Rectangle 53"/>
            <p:cNvSpPr/>
            <p:nvPr/>
          </p:nvSpPr>
          <p:spPr>
            <a:xfrm>
              <a:off x="6248400" y="3559492"/>
              <a:ext cx="5410200" cy="1800225"/>
            </a:xfrm>
            <a:prstGeom prst="rect">
              <a:avLst/>
            </a:prstGeom>
            <a:noFill/>
            <a:ln w="14288">
              <a:solidFill>
                <a:srgbClr val="D9DFEA"/>
              </a:solidFill>
            </a:ln>
          </p:spPr>
        </p:sp>
        <p:sp>
          <p:nvSpPr>
            <p:cNvPr id="54" name="Rectangle 54"/>
            <p:cNvSpPr/>
            <p:nvPr/>
          </p:nvSpPr>
          <p:spPr>
            <a:xfrm>
              <a:off x="7866698" y="3559492"/>
              <a:ext cx="9525" cy="1800225"/>
            </a:xfrm>
            <a:prstGeom prst="rect">
              <a:avLst/>
            </a:prstGeom>
            <a:solidFill>
              <a:srgbClr val="D9DFEA"/>
            </a:solidFill>
            <a:ln>
              <a:noFill/>
            </a:ln>
          </p:spPr>
        </p:sp>
        <p:sp>
          <p:nvSpPr>
            <p:cNvPr id="55" name="Rectangle 55"/>
            <p:cNvSpPr/>
            <p:nvPr/>
          </p:nvSpPr>
          <p:spPr>
            <a:xfrm>
              <a:off x="10139362" y="3559492"/>
              <a:ext cx="9525" cy="1800225"/>
            </a:xfrm>
            <a:prstGeom prst="rect">
              <a:avLst/>
            </a:prstGeom>
            <a:solidFill>
              <a:srgbClr val="D9DFEA"/>
            </a:solidFill>
            <a:ln>
              <a:noFill/>
            </a:ln>
          </p:spPr>
        </p:sp>
      </p:grpSp>
      <p:grpSp>
        <p:nvGrpSpPr>
          <p:cNvPr id="63" name="c2-callout-3"/>
          <p:cNvGrpSpPr/>
          <p:nvPr/>
        </p:nvGrpSpPr>
        <p:grpSpPr>
          <a:xfrm>
            <a:off x="6248400" y="5550218"/>
            <a:ext cx="5410200" cy="782955"/>
            <a:chOff x="6248400" y="5550218"/>
            <a:chExt cx="5410200" cy="782955"/>
          </a:xfrm>
        </p:grpSpPr>
        <p:sp>
          <p:nvSpPr>
            <p:cNvPr id="57" name="Rectangle 57"/>
            <p:cNvSpPr/>
            <p:nvPr/>
          </p:nvSpPr>
          <p:spPr>
            <a:xfrm>
              <a:off x="6248400" y="5550218"/>
              <a:ext cx="5410200" cy="782955"/>
            </a:xfrm>
            <a:prstGeom prst="roundRect">
              <a:avLst>
                <a:gd name="adj" fmla="val 14599"/>
              </a:avLst>
            </a:prstGeom>
            <a:solidFill>
              <a:srgbClr val="FDEEE7"/>
            </a:solidFill>
            <a:ln>
              <a:noFill/>
            </a:ln>
          </p:spPr>
        </p:sp>
        <p:grpSp>
          <p:nvGrpSpPr>
            <p:cNvPr id="61" name="Group 61"/>
            <p:cNvGrpSpPr/>
            <p:nvPr/>
          </p:nvGrpSpPr>
          <p:grpSpPr>
            <a:xfrm>
              <a:off x="6453188" y="5841683"/>
              <a:ext cx="200026" cy="200025"/>
              <a:chOff x="6453188" y="5841683"/>
              <a:chExt cx="200026" cy="200025"/>
            </a:xfrm>
          </p:grpSpPr>
          <p:sp>
            <p:nvSpPr>
              <p:cNvPr id="58" name="Freeform 58"/>
              <p:cNvSpPr/>
              <p:nvPr/>
            </p:nvSpPr>
            <p:spPr>
              <a:xfrm>
                <a:off x="6453188" y="584168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9" name="Freeform 59"/>
              <p:cNvSpPr/>
              <p:nvPr/>
            </p:nvSpPr>
            <p:spPr>
              <a:xfrm>
                <a:off x="6492926" y="588613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0" name="Freeform 60"/>
              <p:cNvSpPr/>
              <p:nvPr/>
            </p:nvSpPr>
            <p:spPr>
              <a:xfrm>
                <a:off x="6527642" y="599725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2" name="TextBox 62"/>
            <p:cNvSpPr txBox="1"/>
            <p:nvPr/>
          </p:nvSpPr>
          <p:spPr>
            <a:xfrm>
              <a:off x="6755130" y="5698808"/>
              <a:ext cx="43491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训练完只需保存支持向量、它们的 αᵢ*yᵢ 和 b*，模</a:t>
              </a:r>
              <a:br/>
              <a:r>
                <a:rPr lang="zh-CN" sz="1500" dirty="0">
                  <a:solidFill>
                    <a:srgbClr val="C2410C"/>
                  </a:solidFill>
                  <a:latin typeface="+mn-lt"/>
                  <a:ea typeface="+mn-ea"/>
                  <a:cs typeface="+mn-cs"/>
                </a:rPr>
                <a:t>型体积与支持向量个数成正比。</a:t>
              </a:r>
            </a:p>
          </p:txBody>
        </p:sp>
      </p:grpSp>
      <p:grpSp>
        <p:nvGrpSpPr>
          <p:cNvPr id="66" name="footer"/>
          <p:cNvGrpSpPr/>
          <p:nvPr/>
        </p:nvGrpSpPr>
        <p:grpSpPr>
          <a:xfrm>
            <a:off x="528447" y="6581299"/>
            <a:ext cx="11135106" cy="190690"/>
            <a:chOff x="528447" y="6581299"/>
            <a:chExt cx="11135106" cy="190690"/>
          </a:xfrm>
        </p:grpSpPr>
        <p:sp>
          <p:nvSpPr>
            <p:cNvPr id="64" name="TextBox 6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5" name="TextBox 6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17723" cy="909257"/>
            <a:chOff x="520446" y="342900"/>
            <a:chExt cx="6817723"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拉格朗日函数与对偶问题</a:t>
              </a:r>
            </a:p>
          </p:txBody>
        </p:sp>
        <p:sp>
          <p:nvSpPr>
            <p:cNvPr id="4" name="TextBox 4"/>
            <p:cNvSpPr txBox="1"/>
            <p:nvPr/>
          </p:nvSpPr>
          <p:spPr>
            <a:xfrm>
              <a:off x="520446" y="753428"/>
              <a:ext cx="68177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例题：三点问题的对偶解法（对上第 15 页）</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647563" cy="264033"/>
            <a:chOff x="526542" y="1545907"/>
            <a:chExt cx="5647563" cy="264033"/>
          </a:xfrm>
        </p:grpSpPr>
        <p:sp>
          <p:nvSpPr>
            <p:cNvPr id="7" name="TextBox 7"/>
            <p:cNvSpPr txBox="1"/>
            <p:nvPr/>
          </p:nvSpPr>
          <p:spPr>
            <a:xfrm>
              <a:off x="526542" y="1545907"/>
              <a:ext cx="564756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同一组数据换成对偶问题再算一遍，两条路线必须给出同一个超平面。</a:t>
              </a:r>
            </a:p>
          </p:txBody>
        </p:sp>
      </p:grpSp>
      <p:grpSp>
        <p:nvGrpSpPr>
          <p:cNvPr id="38" name="c1-table-1"/>
          <p:cNvGrpSpPr/>
          <p:nvPr/>
        </p:nvGrpSpPr>
        <p:grpSpPr>
          <a:xfrm>
            <a:off x="528447" y="1928812"/>
            <a:ext cx="5415153" cy="1789462"/>
            <a:chOff x="528447" y="1928812"/>
            <a:chExt cx="5415153" cy="1789462"/>
          </a:xfrm>
        </p:grpSpPr>
        <p:sp>
          <p:nvSpPr>
            <p:cNvPr id="9" name="Rectangle 9"/>
            <p:cNvSpPr/>
            <p:nvPr/>
          </p:nvSpPr>
          <p:spPr>
            <a:xfrm>
              <a:off x="533400" y="1928812"/>
              <a:ext cx="5410200" cy="381000"/>
            </a:xfrm>
            <a:prstGeom prst="rect">
              <a:avLst/>
            </a:prstGeom>
            <a:solidFill>
              <a:srgbClr val="0E7C86"/>
            </a:solidFill>
            <a:ln>
              <a:noFill/>
            </a:ln>
          </p:spPr>
        </p:sp>
        <p:sp>
          <p:nvSpPr>
            <p:cNvPr id="10" name="TextBox 10"/>
            <p:cNvSpPr txBox="1"/>
            <p:nvPr/>
          </p:nvSpPr>
          <p:spPr>
            <a:xfrm>
              <a:off x="919303" y="2045970"/>
              <a:ext cx="41881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xᵢ·xⱼ</a:t>
              </a:r>
            </a:p>
          </p:txBody>
        </p:sp>
        <p:sp>
          <p:nvSpPr>
            <p:cNvPr id="11" name="TextBox 11"/>
            <p:cNvSpPr txBox="1"/>
            <p:nvPr/>
          </p:nvSpPr>
          <p:spPr>
            <a:xfrm>
              <a:off x="2340006" y="2045970"/>
              <a:ext cx="17392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x₁</a:t>
              </a:r>
            </a:p>
          </p:txBody>
        </p:sp>
        <p:sp>
          <p:nvSpPr>
            <p:cNvPr id="12" name="TextBox 12"/>
            <p:cNvSpPr txBox="1"/>
            <p:nvPr/>
          </p:nvSpPr>
          <p:spPr>
            <a:xfrm>
              <a:off x="3746848" y="2045970"/>
              <a:ext cx="17392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x₂</a:t>
              </a:r>
            </a:p>
          </p:txBody>
        </p:sp>
        <p:sp>
          <p:nvSpPr>
            <p:cNvPr id="13" name="TextBox 13"/>
            <p:cNvSpPr txBox="1"/>
            <p:nvPr/>
          </p:nvSpPr>
          <p:spPr>
            <a:xfrm>
              <a:off x="5153691" y="2045970"/>
              <a:ext cx="17392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x₃</a:t>
              </a:r>
            </a:p>
          </p:txBody>
        </p:sp>
        <p:sp>
          <p:nvSpPr>
            <p:cNvPr id="14" name="TextBox 14"/>
            <p:cNvSpPr txBox="1"/>
            <p:nvPr/>
          </p:nvSpPr>
          <p:spPr>
            <a:xfrm>
              <a:off x="628078" y="2426970"/>
              <a:ext cx="173928"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x₁</a:t>
              </a:r>
            </a:p>
          </p:txBody>
        </p:sp>
        <p:sp>
          <p:nvSpPr>
            <p:cNvPr id="15" name="Rectangle 15"/>
            <p:cNvSpPr/>
            <p:nvPr/>
          </p:nvSpPr>
          <p:spPr>
            <a:xfrm>
              <a:off x="1733550" y="2319338"/>
              <a:ext cx="1387792" cy="361950"/>
            </a:xfrm>
            <a:prstGeom prst="rect">
              <a:avLst/>
            </a:prstGeom>
            <a:solidFill>
              <a:srgbClr val="FDEEE7"/>
            </a:solidFill>
            <a:ln>
              <a:noFill/>
            </a:ln>
          </p:spPr>
        </p:sp>
        <p:sp>
          <p:nvSpPr>
            <p:cNvPr id="16" name="TextBox 16"/>
            <p:cNvSpPr txBox="1"/>
            <p:nvPr/>
          </p:nvSpPr>
          <p:spPr>
            <a:xfrm>
              <a:off x="1818704" y="2426970"/>
              <a:ext cx="16615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18</a:t>
              </a:r>
            </a:p>
          </p:txBody>
        </p:sp>
        <p:sp>
          <p:nvSpPr>
            <p:cNvPr id="17" name="TextBox 17"/>
            <p:cNvSpPr txBox="1"/>
            <p:nvPr/>
          </p:nvSpPr>
          <p:spPr>
            <a:xfrm>
              <a:off x="3224594" y="2426970"/>
              <a:ext cx="16615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21</a:t>
              </a:r>
            </a:p>
          </p:txBody>
        </p:sp>
        <p:sp>
          <p:nvSpPr>
            <p:cNvPr id="18" name="Rectangle 18"/>
            <p:cNvSpPr/>
            <p:nvPr/>
          </p:nvSpPr>
          <p:spPr>
            <a:xfrm>
              <a:off x="4546282" y="2319338"/>
              <a:ext cx="1387792" cy="361950"/>
            </a:xfrm>
            <a:prstGeom prst="rect">
              <a:avLst/>
            </a:prstGeom>
            <a:solidFill>
              <a:srgbClr val="FDEEE7"/>
            </a:solidFill>
            <a:ln>
              <a:noFill/>
            </a:ln>
          </p:spPr>
        </p:sp>
        <p:sp>
          <p:nvSpPr>
            <p:cNvPr id="19" name="TextBox 19"/>
            <p:cNvSpPr txBox="1"/>
            <p:nvPr/>
          </p:nvSpPr>
          <p:spPr>
            <a:xfrm>
              <a:off x="4631436" y="2426970"/>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6</a:t>
              </a:r>
            </a:p>
          </p:txBody>
        </p:sp>
        <p:sp>
          <p:nvSpPr>
            <p:cNvPr id="20" name="Rectangle 20"/>
            <p:cNvSpPr/>
            <p:nvPr/>
          </p:nvSpPr>
          <p:spPr>
            <a:xfrm>
              <a:off x="533400" y="2687002"/>
              <a:ext cx="5410200" cy="9525"/>
            </a:xfrm>
            <a:prstGeom prst="rect">
              <a:avLst/>
            </a:prstGeom>
            <a:solidFill>
              <a:srgbClr val="D9DFEA"/>
            </a:solidFill>
            <a:ln>
              <a:noFill/>
            </a:ln>
          </p:spPr>
        </p:sp>
        <p:sp>
          <p:nvSpPr>
            <p:cNvPr id="21" name="Rectangle 21"/>
            <p:cNvSpPr/>
            <p:nvPr/>
          </p:nvSpPr>
          <p:spPr>
            <a:xfrm>
              <a:off x="533400" y="2691765"/>
              <a:ext cx="5410200" cy="381000"/>
            </a:xfrm>
            <a:prstGeom prst="rect">
              <a:avLst/>
            </a:prstGeom>
            <a:solidFill>
              <a:srgbClr val="F4F6FB"/>
            </a:solidFill>
            <a:ln>
              <a:noFill/>
            </a:ln>
          </p:spPr>
        </p:sp>
        <p:sp>
          <p:nvSpPr>
            <p:cNvPr id="22" name="TextBox 22"/>
            <p:cNvSpPr txBox="1"/>
            <p:nvPr/>
          </p:nvSpPr>
          <p:spPr>
            <a:xfrm>
              <a:off x="628078" y="2808923"/>
              <a:ext cx="173928"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x₂</a:t>
              </a:r>
            </a:p>
          </p:txBody>
        </p:sp>
        <p:sp>
          <p:nvSpPr>
            <p:cNvPr id="23" name="TextBox 23"/>
            <p:cNvSpPr txBox="1"/>
            <p:nvPr/>
          </p:nvSpPr>
          <p:spPr>
            <a:xfrm>
              <a:off x="1818704" y="2808923"/>
              <a:ext cx="16615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21</a:t>
              </a:r>
            </a:p>
          </p:txBody>
        </p:sp>
        <p:sp>
          <p:nvSpPr>
            <p:cNvPr id="24" name="TextBox 24"/>
            <p:cNvSpPr txBox="1"/>
            <p:nvPr/>
          </p:nvSpPr>
          <p:spPr>
            <a:xfrm>
              <a:off x="3224594" y="2808923"/>
              <a:ext cx="16615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25</a:t>
              </a:r>
            </a:p>
          </p:txBody>
        </p:sp>
        <p:sp>
          <p:nvSpPr>
            <p:cNvPr id="25" name="TextBox 25"/>
            <p:cNvSpPr txBox="1"/>
            <p:nvPr/>
          </p:nvSpPr>
          <p:spPr>
            <a:xfrm>
              <a:off x="4631436" y="2808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7</a:t>
              </a:r>
            </a:p>
          </p:txBody>
        </p:sp>
        <p:sp>
          <p:nvSpPr>
            <p:cNvPr id="26" name="Rectangle 26"/>
            <p:cNvSpPr/>
            <p:nvPr/>
          </p:nvSpPr>
          <p:spPr>
            <a:xfrm>
              <a:off x="533400" y="3068002"/>
              <a:ext cx="5410200" cy="9525"/>
            </a:xfrm>
            <a:prstGeom prst="rect">
              <a:avLst/>
            </a:prstGeom>
            <a:solidFill>
              <a:srgbClr val="D9DFEA"/>
            </a:solidFill>
            <a:ln>
              <a:noFill/>
            </a:ln>
          </p:spPr>
        </p:sp>
        <p:sp>
          <p:nvSpPr>
            <p:cNvPr id="27" name="TextBox 27"/>
            <p:cNvSpPr txBox="1"/>
            <p:nvPr/>
          </p:nvSpPr>
          <p:spPr>
            <a:xfrm>
              <a:off x="628078" y="3189923"/>
              <a:ext cx="173928"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x₃</a:t>
              </a:r>
            </a:p>
          </p:txBody>
        </p:sp>
        <p:sp>
          <p:nvSpPr>
            <p:cNvPr id="28" name="Rectangle 28"/>
            <p:cNvSpPr/>
            <p:nvPr/>
          </p:nvSpPr>
          <p:spPr>
            <a:xfrm>
              <a:off x="1733550" y="3082290"/>
              <a:ext cx="1387792" cy="361950"/>
            </a:xfrm>
            <a:prstGeom prst="rect">
              <a:avLst/>
            </a:prstGeom>
            <a:solidFill>
              <a:srgbClr val="FDEEE7"/>
            </a:solidFill>
            <a:ln>
              <a:noFill/>
            </a:ln>
          </p:spPr>
        </p:sp>
        <p:sp>
          <p:nvSpPr>
            <p:cNvPr id="29" name="TextBox 29"/>
            <p:cNvSpPr txBox="1"/>
            <p:nvPr/>
          </p:nvSpPr>
          <p:spPr>
            <a:xfrm>
              <a:off x="1818704" y="3189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6</a:t>
              </a:r>
            </a:p>
          </p:txBody>
        </p:sp>
        <p:sp>
          <p:nvSpPr>
            <p:cNvPr id="30" name="TextBox 30"/>
            <p:cNvSpPr txBox="1"/>
            <p:nvPr/>
          </p:nvSpPr>
          <p:spPr>
            <a:xfrm>
              <a:off x="3224594" y="3189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7</a:t>
              </a:r>
            </a:p>
          </p:txBody>
        </p:sp>
        <p:sp>
          <p:nvSpPr>
            <p:cNvPr id="31" name="Rectangle 31"/>
            <p:cNvSpPr/>
            <p:nvPr/>
          </p:nvSpPr>
          <p:spPr>
            <a:xfrm>
              <a:off x="4546282" y="3082290"/>
              <a:ext cx="1387792" cy="361950"/>
            </a:xfrm>
            <a:prstGeom prst="rect">
              <a:avLst/>
            </a:prstGeom>
            <a:solidFill>
              <a:srgbClr val="FDEEE7"/>
            </a:solidFill>
            <a:ln>
              <a:noFill/>
            </a:ln>
          </p:spPr>
        </p:sp>
        <p:sp>
          <p:nvSpPr>
            <p:cNvPr id="32" name="TextBox 32"/>
            <p:cNvSpPr txBox="1"/>
            <p:nvPr/>
          </p:nvSpPr>
          <p:spPr>
            <a:xfrm>
              <a:off x="4631436" y="3189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a:t>
              </a:r>
            </a:p>
          </p:txBody>
        </p:sp>
        <p:sp>
          <p:nvSpPr>
            <p:cNvPr id="33" name="Rectangle 33"/>
            <p:cNvSpPr/>
            <p:nvPr/>
          </p:nvSpPr>
          <p:spPr>
            <a:xfrm>
              <a:off x="533400" y="1928812"/>
              <a:ext cx="5410200" cy="1525905"/>
            </a:xfrm>
            <a:prstGeom prst="rect">
              <a:avLst/>
            </a:prstGeom>
            <a:noFill/>
            <a:ln w="14288">
              <a:solidFill>
                <a:srgbClr val="D9DFEA"/>
              </a:solidFill>
            </a:ln>
          </p:spPr>
        </p:sp>
        <p:sp>
          <p:nvSpPr>
            <p:cNvPr id="34" name="Rectangle 34"/>
            <p:cNvSpPr/>
            <p:nvPr/>
          </p:nvSpPr>
          <p:spPr>
            <a:xfrm>
              <a:off x="1719262" y="1928812"/>
              <a:ext cx="9525" cy="1525905"/>
            </a:xfrm>
            <a:prstGeom prst="rect">
              <a:avLst/>
            </a:prstGeom>
            <a:solidFill>
              <a:srgbClr val="D9DFEA"/>
            </a:solidFill>
            <a:ln>
              <a:noFill/>
            </a:ln>
          </p:spPr>
        </p:sp>
        <p:sp>
          <p:nvSpPr>
            <p:cNvPr id="35" name="Rectangle 35"/>
            <p:cNvSpPr/>
            <p:nvPr/>
          </p:nvSpPr>
          <p:spPr>
            <a:xfrm>
              <a:off x="3125152" y="1928812"/>
              <a:ext cx="9525" cy="1525905"/>
            </a:xfrm>
            <a:prstGeom prst="rect">
              <a:avLst/>
            </a:prstGeom>
            <a:solidFill>
              <a:srgbClr val="D9DFEA"/>
            </a:solidFill>
            <a:ln>
              <a:noFill/>
            </a:ln>
          </p:spPr>
        </p:sp>
        <p:sp>
          <p:nvSpPr>
            <p:cNvPr id="36" name="Rectangle 36"/>
            <p:cNvSpPr/>
            <p:nvPr/>
          </p:nvSpPr>
          <p:spPr>
            <a:xfrm>
              <a:off x="4531995" y="1928812"/>
              <a:ext cx="9525" cy="1525905"/>
            </a:xfrm>
            <a:prstGeom prst="rect">
              <a:avLst/>
            </a:prstGeom>
            <a:solidFill>
              <a:srgbClr val="D9DFEA"/>
            </a:solidFill>
            <a:ln>
              <a:noFill/>
            </a:ln>
          </p:spPr>
        </p:sp>
        <p:sp>
          <p:nvSpPr>
            <p:cNvPr id="37" name="TextBox 37"/>
            <p:cNvSpPr txBox="1"/>
            <p:nvPr/>
          </p:nvSpPr>
          <p:spPr>
            <a:xfrm>
              <a:off x="528447" y="3527584"/>
              <a:ext cx="208621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Gram 矩阵，对偶目标里只用得到它</a:t>
              </a:r>
            </a:p>
          </p:txBody>
        </p:sp>
      </p:grpSp>
      <p:grpSp>
        <p:nvGrpSpPr>
          <p:cNvPr id="52" name="c1-steps-2"/>
          <p:cNvGrpSpPr/>
          <p:nvPr/>
        </p:nvGrpSpPr>
        <p:grpSpPr>
          <a:xfrm>
            <a:off x="533400" y="3853815"/>
            <a:ext cx="3709778" cy="1596962"/>
            <a:chOff x="533400" y="3853815"/>
            <a:chExt cx="3709778" cy="1596962"/>
          </a:xfrm>
        </p:grpSpPr>
        <p:sp>
          <p:nvSpPr>
            <p:cNvPr id="39" name="Rectangle 39"/>
            <p:cNvSpPr/>
            <p:nvPr/>
          </p:nvSpPr>
          <p:spPr>
            <a:xfrm>
              <a:off x="666750" y="3996690"/>
              <a:ext cx="19050" cy="1105852"/>
            </a:xfrm>
            <a:prstGeom prst="rect">
              <a:avLst/>
            </a:prstGeom>
            <a:solidFill>
              <a:srgbClr val="D9DFEA"/>
            </a:solidFill>
            <a:ln>
              <a:noFill/>
            </a:ln>
          </p:spPr>
        </p:sp>
        <p:sp>
          <p:nvSpPr>
            <p:cNvPr id="40" name="Ellipse 40"/>
            <p:cNvSpPr/>
            <p:nvPr/>
          </p:nvSpPr>
          <p:spPr>
            <a:xfrm>
              <a:off x="533400" y="3853815"/>
              <a:ext cx="285750" cy="285750"/>
            </a:xfrm>
            <a:prstGeom prst="ellipse">
              <a:avLst/>
            </a:prstGeom>
            <a:solidFill>
              <a:srgbClr val="0E7C86"/>
            </a:solidFill>
            <a:ln>
              <a:noFill/>
            </a:ln>
          </p:spPr>
        </p:sp>
        <p:sp>
          <p:nvSpPr>
            <p:cNvPr id="41" name="TextBox 41"/>
            <p:cNvSpPr txBox="1"/>
            <p:nvPr/>
          </p:nvSpPr>
          <p:spPr>
            <a:xfrm>
              <a:off x="627024" y="392763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42" name="Ellipse 42"/>
            <p:cNvSpPr/>
            <p:nvPr/>
          </p:nvSpPr>
          <p:spPr>
            <a:xfrm>
              <a:off x="533400" y="4407218"/>
              <a:ext cx="285750" cy="285750"/>
            </a:xfrm>
            <a:prstGeom prst="ellipse">
              <a:avLst/>
            </a:prstGeom>
            <a:solidFill>
              <a:srgbClr val="0E7C86"/>
            </a:solidFill>
            <a:ln>
              <a:noFill/>
            </a:ln>
          </p:spPr>
        </p:sp>
        <p:sp>
          <p:nvSpPr>
            <p:cNvPr id="43" name="TextBox 43"/>
            <p:cNvSpPr txBox="1"/>
            <p:nvPr/>
          </p:nvSpPr>
          <p:spPr>
            <a:xfrm>
              <a:off x="627024" y="448103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44" name="Ellipse 44"/>
            <p:cNvSpPr/>
            <p:nvPr/>
          </p:nvSpPr>
          <p:spPr>
            <a:xfrm>
              <a:off x="533400" y="4959668"/>
              <a:ext cx="285750" cy="285750"/>
            </a:xfrm>
            <a:prstGeom prst="ellipse">
              <a:avLst/>
            </a:prstGeom>
            <a:solidFill>
              <a:srgbClr val="0E7C86"/>
            </a:solidFill>
            <a:ln>
              <a:noFill/>
            </a:ln>
          </p:spPr>
        </p:sp>
        <p:sp>
          <p:nvSpPr>
            <p:cNvPr id="45" name="TextBox 45"/>
            <p:cNvSpPr txBox="1"/>
            <p:nvPr/>
          </p:nvSpPr>
          <p:spPr>
            <a:xfrm>
              <a:off x="627024" y="503348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46" name="TextBox 46"/>
            <p:cNvSpPr txBox="1"/>
            <p:nvPr/>
          </p:nvSpPr>
          <p:spPr>
            <a:xfrm>
              <a:off x="946023" y="3884771"/>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写约束</a:t>
              </a:r>
            </a:p>
          </p:txBody>
        </p:sp>
        <p:sp>
          <p:nvSpPr>
            <p:cNvPr id="47" name="TextBox 47"/>
            <p:cNvSpPr txBox="1"/>
            <p:nvPr/>
          </p:nvSpPr>
          <p:spPr>
            <a:xfrm>
              <a:off x="947166" y="4139565"/>
              <a:ext cx="157966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α₁ + α₂ − α₃ = 0，αᵢ ≥ 0</a:t>
              </a:r>
            </a:p>
          </p:txBody>
        </p:sp>
        <p:sp>
          <p:nvSpPr>
            <p:cNvPr id="48" name="TextBox 48"/>
            <p:cNvSpPr txBox="1"/>
            <p:nvPr/>
          </p:nvSpPr>
          <p:spPr>
            <a:xfrm>
              <a:off x="946023" y="4437221"/>
              <a:ext cx="148968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试 α₂ = 0 代入目标</a:t>
              </a:r>
            </a:p>
          </p:txBody>
        </p:sp>
        <p:sp>
          <p:nvSpPr>
            <p:cNvPr id="49" name="TextBox 49"/>
            <p:cNvSpPr txBox="1"/>
            <p:nvPr/>
          </p:nvSpPr>
          <p:spPr>
            <a:xfrm>
              <a:off x="947166" y="4692015"/>
              <a:ext cx="329601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α₃ = α₁ ≡ α，W = ½(18 + 2 − 12)α² − 2α = 4α² − 2α</a:t>
              </a:r>
            </a:p>
          </p:txBody>
        </p:sp>
        <p:sp>
          <p:nvSpPr>
            <p:cNvPr id="50" name="TextBox 50"/>
            <p:cNvSpPr txBox="1"/>
            <p:nvPr/>
          </p:nvSpPr>
          <p:spPr>
            <a:xfrm>
              <a:off x="946023" y="499062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求极小</a:t>
              </a:r>
            </a:p>
          </p:txBody>
        </p:sp>
        <p:sp>
          <p:nvSpPr>
            <p:cNvPr id="51" name="TextBox 51"/>
            <p:cNvSpPr txBox="1"/>
            <p:nvPr/>
          </p:nvSpPr>
          <p:spPr>
            <a:xfrm>
              <a:off x="947166" y="5245418"/>
              <a:ext cx="209066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W′ = 8α − 2 = 0 ⟹ α = ¼，W = −¼</a:t>
              </a:r>
            </a:p>
          </p:txBody>
        </p:sp>
      </p:grpSp>
      <p:grpSp>
        <p:nvGrpSpPr>
          <p:cNvPr id="66" name="c2-card-1"/>
          <p:cNvGrpSpPr/>
          <p:nvPr/>
        </p:nvGrpSpPr>
        <p:grpSpPr>
          <a:xfrm>
            <a:off x="6248400" y="1928812"/>
            <a:ext cx="5410200" cy="2300288"/>
            <a:chOff x="6248400" y="1928812"/>
            <a:chExt cx="5410200" cy="2300288"/>
          </a:xfrm>
        </p:grpSpPr>
        <p:sp>
          <p:nvSpPr>
            <p:cNvPr id="53" name="Rectangle 53"/>
            <p:cNvSpPr/>
            <p:nvPr/>
          </p:nvSpPr>
          <p:spPr>
            <a:xfrm>
              <a:off x="6248400" y="1928812"/>
              <a:ext cx="5410200" cy="2300288"/>
            </a:xfrm>
            <a:prstGeom prst="roundRect">
              <a:avLst>
                <a:gd name="adj" fmla="val 5797"/>
              </a:avLst>
            </a:prstGeom>
            <a:solidFill>
              <a:srgbClr val="FFFFFF"/>
            </a:solidFill>
            <a:ln w="14288">
              <a:solidFill>
                <a:srgbClr val="D9DFEA"/>
              </a:solidFill>
            </a:ln>
          </p:spPr>
        </p:sp>
        <p:sp>
          <p:nvSpPr>
            <p:cNvPr id="54" name="Rectangle 54"/>
            <p:cNvSpPr/>
            <p:nvPr/>
          </p:nvSpPr>
          <p:spPr>
            <a:xfrm>
              <a:off x="6257925" y="2062162"/>
              <a:ext cx="47625" cy="2033588"/>
            </a:xfrm>
            <a:prstGeom prst="roundRect">
              <a:avLst>
                <a:gd name="adj" fmla="val 50000"/>
              </a:avLst>
            </a:prstGeom>
            <a:solidFill>
              <a:srgbClr val="14A38B"/>
            </a:solidFill>
            <a:ln>
              <a:noFill/>
            </a:ln>
          </p:spPr>
        </p:sp>
        <p:sp>
          <p:nvSpPr>
            <p:cNvPr id="55" name="Rectangle 55"/>
            <p:cNvSpPr/>
            <p:nvPr/>
          </p:nvSpPr>
          <p:spPr>
            <a:xfrm>
              <a:off x="6467475" y="2109788"/>
              <a:ext cx="458152" cy="238125"/>
            </a:xfrm>
            <a:prstGeom prst="roundRect">
              <a:avLst>
                <a:gd name="adj" fmla="val 50000"/>
              </a:avLst>
            </a:prstGeom>
            <a:solidFill>
              <a:srgbClr val="E3F5F1"/>
            </a:solidFill>
            <a:ln>
              <a:noFill/>
            </a:ln>
          </p:spPr>
        </p:sp>
        <p:sp>
          <p:nvSpPr>
            <p:cNvPr id="56" name="TextBox 56"/>
            <p:cNvSpPr txBox="1"/>
            <p:nvPr/>
          </p:nvSpPr>
          <p:spPr>
            <a:xfrm>
              <a:off x="6560147" y="2142649"/>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反解</a:t>
              </a:r>
            </a:p>
          </p:txBody>
        </p:sp>
        <p:sp>
          <p:nvSpPr>
            <p:cNvPr id="57" name="TextBox 57"/>
            <p:cNvSpPr txBox="1"/>
            <p:nvPr/>
          </p:nvSpPr>
          <p:spPr>
            <a:xfrm>
              <a:off x="7033451" y="2149316"/>
              <a:ext cx="187135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代回第 23 页的两条式子</a:t>
              </a:r>
            </a:p>
          </p:txBody>
        </p:sp>
        <p:sp>
          <p:nvSpPr>
            <p:cNvPr id="58" name="TextBox 58"/>
            <p:cNvSpPr txBox="1"/>
            <p:nvPr/>
          </p:nvSpPr>
          <p:spPr>
            <a:xfrm>
              <a:off x="6460998" y="2465546"/>
              <a:ext cx="3666433"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 xml:space="preserve">w* = ¼·1·(3,3) + 0 + ¼·(−1)·(1,1) = </a:t>
              </a:r>
              <a:r>
                <a:rPr lang="zh-CN" sz="1280" b="1" dirty="0">
                  <a:solidFill>
                    <a:srgbClr val="C2410C"/>
                  </a:solidFill>
                  <a:latin typeface="+mn-lt"/>
                  <a:ea typeface="+mn-ea"/>
                  <a:cs typeface="+mn-cs"/>
                </a:rPr>
                <a:t>(½, ½)</a:t>
              </a:r>
            </a:p>
          </p:txBody>
        </p:sp>
        <p:sp>
          <p:nvSpPr>
            <p:cNvPr id="59" name="TextBox 59"/>
            <p:cNvSpPr txBox="1"/>
            <p:nvPr/>
          </p:nvSpPr>
          <p:spPr>
            <a:xfrm>
              <a:off x="6460998" y="2751296"/>
              <a:ext cx="4606087" cy="492252"/>
            </a:xfrm>
            <a:prstGeom prst="rect">
              <a:avLst/>
            </a:prstGeom>
            <a:noFill/>
            <a:ln>
              <a:noFill/>
            </a:ln>
          </p:spPr>
          <p:txBody>
            <a:bodyPr wrap="none" lIns="0" tIns="0" rIns="0" bIns="0" anchor="t" anchorCtr="0">
              <a:spAutoFit/>
            </a:bodyPr>
            <a:lstStyle/>
            <a:p>
              <a:pPr algn="l">
                <a:lnSpc>
                  <a:spcPts val="1912"/>
                </a:lnSpc>
              </a:pPr>
              <a:r>
                <a:rPr lang="en-US" sz="1280" dirty="0">
                  <a:solidFill>
                    <a:srgbClr val="1F2937"/>
                  </a:solidFill>
                  <a:latin typeface="+mn-lt"/>
                  <a:ea typeface="+mn-ea"/>
                  <a:cs typeface="+mn-cs"/>
                </a:rPr>
                <a:t xml:space="preserve">b* = y₁ − w*·x₁ = 1 − 3 = </a:t>
              </a:r>
              <a:r>
                <a:rPr lang="zh-CN" sz="1280" b="1" dirty="0">
                  <a:solidFill>
                    <a:srgbClr val="C2410C"/>
                  </a:solidFill>
                  <a:latin typeface="+mn-lt"/>
                  <a:ea typeface="+mn-ea"/>
                  <a:cs typeface="+mn-cs"/>
                </a:rPr>
                <a:t>−2</a:t>
              </a:r>
              <a:r>
                <a:rPr lang="zh-CN" sz="1280" dirty="0">
                  <a:solidFill>
                    <a:srgbClr val="1F2937"/>
                  </a:solidFill>
                  <a:latin typeface="+mn-lt"/>
                  <a:ea typeface="+mn-ea"/>
                  <a:cs typeface="+mn-cs"/>
                </a:rPr>
                <a:t>，与第 15 页几何解一致，间隔 2√</a:t>
              </a:r>
              <a:br/>
              <a:r>
                <a:rPr lang="zh-CN" sz="1280" dirty="0">
                  <a:solidFill>
                    <a:srgbClr val="1F2937"/>
                  </a:solidFill>
                  <a:latin typeface="+mn-lt"/>
                  <a:ea typeface="+mn-ea"/>
                  <a:cs typeface="+mn-cs"/>
                </a:rPr>
                <a:t>2。</a:t>
              </a:r>
            </a:p>
          </p:txBody>
        </p:sp>
        <p:sp>
          <p:nvSpPr>
            <p:cNvPr id="60" name="Ellipse 60"/>
            <p:cNvSpPr/>
            <p:nvPr/>
          </p:nvSpPr>
          <p:spPr>
            <a:xfrm>
              <a:off x="6477000" y="3330892"/>
              <a:ext cx="57150" cy="57150"/>
            </a:xfrm>
            <a:prstGeom prst="ellipse">
              <a:avLst/>
            </a:prstGeom>
            <a:solidFill>
              <a:srgbClr val="0E7C86"/>
            </a:solidFill>
            <a:ln>
              <a:noFill/>
            </a:ln>
          </p:spPr>
        </p:sp>
        <p:sp>
          <p:nvSpPr>
            <p:cNvPr id="61" name="TextBox 61"/>
            <p:cNvSpPr txBox="1"/>
            <p:nvPr/>
          </p:nvSpPr>
          <p:spPr>
            <a:xfrm>
              <a:off x="6632448" y="3278981"/>
              <a:ext cx="291643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α₁ = α₃ = ¼ &gt; 0：x₁ 与 x₃ 是支持向量</a:t>
              </a:r>
            </a:p>
          </p:txBody>
        </p:sp>
        <p:sp>
          <p:nvSpPr>
            <p:cNvPr id="62" name="Ellipse 62"/>
            <p:cNvSpPr/>
            <p:nvPr/>
          </p:nvSpPr>
          <p:spPr>
            <a:xfrm>
              <a:off x="6477000" y="3616642"/>
              <a:ext cx="57150" cy="57150"/>
            </a:xfrm>
            <a:prstGeom prst="ellipse">
              <a:avLst/>
            </a:prstGeom>
            <a:solidFill>
              <a:srgbClr val="0E7C86"/>
            </a:solidFill>
            <a:ln>
              <a:noFill/>
            </a:ln>
          </p:spPr>
        </p:sp>
        <p:sp>
          <p:nvSpPr>
            <p:cNvPr id="63" name="TextBox 63"/>
            <p:cNvSpPr txBox="1"/>
            <p:nvPr/>
          </p:nvSpPr>
          <p:spPr>
            <a:xfrm>
              <a:off x="6632448" y="3563779"/>
              <a:ext cx="297674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α₂ = 0：x₂ 在间隔外，对模型毫无影响</a:t>
              </a:r>
            </a:p>
          </p:txBody>
        </p:sp>
        <p:sp>
          <p:nvSpPr>
            <p:cNvPr id="64" name="Ellipse 64"/>
            <p:cNvSpPr/>
            <p:nvPr/>
          </p:nvSpPr>
          <p:spPr>
            <a:xfrm>
              <a:off x="6477000" y="3901440"/>
              <a:ext cx="57150" cy="57150"/>
            </a:xfrm>
            <a:prstGeom prst="ellipse">
              <a:avLst/>
            </a:prstGeom>
            <a:solidFill>
              <a:srgbClr val="0E7C86"/>
            </a:solidFill>
            <a:ln>
              <a:noFill/>
            </a:ln>
          </p:spPr>
        </p:sp>
        <p:sp>
          <p:nvSpPr>
            <p:cNvPr id="65" name="TextBox 65"/>
            <p:cNvSpPr txBox="1"/>
            <p:nvPr/>
          </p:nvSpPr>
          <p:spPr>
            <a:xfrm>
              <a:off x="6632448" y="3848576"/>
              <a:ext cx="289579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Σαᵢyᵢ = ¼ + 0 − ¼ = 0，等式约束满足</a:t>
              </a:r>
            </a:p>
          </p:txBody>
        </p:sp>
      </p:grpSp>
      <p:grpSp>
        <p:nvGrpSpPr>
          <p:cNvPr id="70" name="c2-code-2"/>
          <p:cNvGrpSpPr/>
          <p:nvPr/>
        </p:nvGrpSpPr>
        <p:grpSpPr>
          <a:xfrm>
            <a:off x="6248400" y="4393882"/>
            <a:ext cx="5410200" cy="1257300"/>
            <a:chOff x="6248400" y="4393882"/>
            <a:chExt cx="5410200" cy="1257300"/>
          </a:xfrm>
        </p:grpSpPr>
        <p:sp>
          <p:nvSpPr>
            <p:cNvPr id="67" name="Rectangle 67"/>
            <p:cNvSpPr/>
            <p:nvPr/>
          </p:nvSpPr>
          <p:spPr>
            <a:xfrm>
              <a:off x="6248400" y="4393882"/>
              <a:ext cx="5410200" cy="1257300"/>
            </a:xfrm>
            <a:prstGeom prst="roundRect">
              <a:avLst>
                <a:gd name="adj" fmla="val 7576"/>
              </a:avLst>
            </a:prstGeom>
            <a:solidFill>
              <a:srgbClr val="F6F8FA"/>
            </a:solidFill>
            <a:ln w="11430">
              <a:solidFill>
                <a:srgbClr val="D9DFEA"/>
              </a:solidFill>
            </a:ln>
          </p:spPr>
        </p:sp>
        <p:sp>
          <p:nvSpPr>
            <p:cNvPr id="68" name="TextBox 68"/>
            <p:cNvSpPr txBox="1"/>
            <p:nvPr/>
          </p:nvSpPr>
          <p:spPr>
            <a:xfrm>
              <a:off x="6376797" y="4545806"/>
              <a:ext cx="53761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复核代码</a:t>
              </a:r>
            </a:p>
          </p:txBody>
        </p:sp>
        <p:sp>
          <p:nvSpPr>
            <p:cNvPr id="69" name="TextBox 69"/>
            <p:cNvSpPr txBox="1"/>
            <p:nvPr/>
          </p:nvSpPr>
          <p:spPr>
            <a:xfrm>
              <a:off x="6376988" y="4804886"/>
              <a:ext cx="3274314" cy="760095"/>
            </a:xfrm>
            <a:prstGeom prst="rect">
              <a:avLst/>
            </a:prstGeom>
            <a:noFill/>
            <a:ln>
              <a:noFill/>
            </a:ln>
          </p:spPr>
          <p:txBody>
            <a:bodyPr wrap="none" lIns="0" tIns="0" rIns="0" bIns="0" anchor="t" anchorCtr="0">
              <a:spAutoFit/>
            </a:bodyPr>
            <a:lstStyle/>
            <a:p>
              <a:pPr algn="l">
                <a:lnSpc>
                  <a:spcPts val="1178"/>
                </a:lnSpc>
              </a:pPr>
              <a:r>
                <a:rPr lang="en-US" sz="820" dirty="0">
                  <a:solidFill>
                    <a:srgbClr val="1F2937"/>
                  </a:solidFill>
                  <a:latin typeface="Consolas"/>
                  <a:ea typeface="Consolas"/>
                  <a:cs typeface="Consolas"/>
                </a:rPr>
                <a:t>X = np.array([[3,3],[4,3],[1,1]]); y = np.array([1,1,-1])</a:t>
              </a:r>
              <a:br/>
              <a:r>
                <a:rPr lang="en-US" sz="820" dirty="0">
                  <a:solidFill>
                    <a:srgbClr val="1F2937"/>
                  </a:solidFill>
                  <a:latin typeface="Consolas"/>
                  <a:ea typeface="Consolas"/>
                  <a:cs typeface="Consolas"/>
                </a:rPr>
                <a:t xml:space="preserve">a = np.array([0.25, 0.0, 0.25])   </a:t>
              </a:r>
              <a:r>
                <a:rPr lang="zh-CN" sz="820" dirty="0">
                  <a:solidFill>
                    <a:srgbClr val="0F7A68"/>
                  </a:solidFill>
                  <a:latin typeface="Consolas"/>
                  <a:ea typeface="Microsoft YaHei"/>
                  <a:cs typeface="Consolas"/>
                </a:rPr>
                <a:t># 对偶解</a:t>
              </a:r>
              <a:br/>
              <a:r>
                <a:rPr lang="en-US" sz="820" dirty="0">
                  <a:solidFill>
                    <a:srgbClr val="1F2937"/>
                  </a:solidFill>
                  <a:latin typeface="Consolas"/>
                  <a:ea typeface="Consolas"/>
                  <a:cs typeface="Consolas"/>
                </a:rPr>
                <a:t xml:space="preserve">w = (a*y) @ X                     </a:t>
              </a:r>
              <a:r>
                <a:rPr lang="el-GR" sz="820" dirty="0">
                  <a:solidFill>
                    <a:srgbClr val="0F7A68"/>
                  </a:solidFill>
                  <a:latin typeface="Consolas"/>
                  <a:ea typeface="Consolas"/>
                  <a:cs typeface="Consolas"/>
                </a:rPr>
                <a:t># w = Σ αᵢyᵢxᵢ</a:t>
              </a:r>
              <a:br/>
              <a:r>
                <a:rPr lang="en-US" sz="820" dirty="0">
                  <a:solidFill>
                    <a:srgbClr val="1F2937"/>
                  </a:solidFill>
                  <a:latin typeface="Consolas"/>
                  <a:ea typeface="Consolas"/>
                  <a:cs typeface="Consolas"/>
                </a:rPr>
                <a:t xml:space="preserve">b = y[0] - w @ X[0]               </a:t>
              </a:r>
              <a:r>
                <a:rPr lang="zh-CN" sz="820" dirty="0">
                  <a:solidFill>
                    <a:srgbClr val="0F7A68"/>
                  </a:solidFill>
                  <a:latin typeface="Consolas"/>
                  <a:ea typeface="Microsoft YaHei"/>
                  <a:cs typeface="Consolas"/>
                </a:rPr>
                <a:t># 用支持向量 x₁ 定 b</a:t>
              </a:r>
              <a:br/>
              <a:r>
                <a:rPr lang="en-US" sz="820" dirty="0">
                  <a:solidFill>
                    <a:srgbClr val="0F7A68"/>
                  </a:solidFill>
                  <a:latin typeface="Consolas"/>
                  <a:ea typeface="Consolas"/>
                  <a:cs typeface="Consolas"/>
                </a:rPr>
                <a:t># -&gt; w = [0.5 0.5]  b = -2.0</a:t>
              </a:r>
            </a:p>
          </p:txBody>
        </p:sp>
      </p:grpSp>
      <p:grpSp>
        <p:nvGrpSpPr>
          <p:cNvPr id="76" name="takeaway"/>
          <p:cNvGrpSpPr/>
          <p:nvPr/>
        </p:nvGrpSpPr>
        <p:grpSpPr>
          <a:xfrm>
            <a:off x="533400" y="5895022"/>
            <a:ext cx="11125200" cy="467678"/>
            <a:chOff x="533400" y="5895022"/>
            <a:chExt cx="11125200" cy="467678"/>
          </a:xfrm>
        </p:grpSpPr>
        <p:sp>
          <p:nvSpPr>
            <p:cNvPr id="71" name="Rectangle 71"/>
            <p:cNvSpPr/>
            <p:nvPr/>
          </p:nvSpPr>
          <p:spPr>
            <a:xfrm>
              <a:off x="533400" y="5895022"/>
              <a:ext cx="11125200" cy="467678"/>
            </a:xfrm>
            <a:prstGeom prst="roundRect">
              <a:avLst>
                <a:gd name="adj" fmla="val 24440"/>
              </a:avLst>
            </a:prstGeom>
            <a:solidFill>
              <a:srgbClr val="E3F5F1"/>
            </a:solidFill>
            <a:ln>
              <a:noFill/>
            </a:ln>
          </p:spPr>
        </p:sp>
        <p:grpSp>
          <p:nvGrpSpPr>
            <p:cNvPr id="74" name="Group 74"/>
            <p:cNvGrpSpPr/>
            <p:nvPr/>
          </p:nvGrpSpPr>
          <p:grpSpPr>
            <a:xfrm>
              <a:off x="738188" y="6028373"/>
              <a:ext cx="200026" cy="200026"/>
              <a:chOff x="738188" y="6028373"/>
              <a:chExt cx="200026" cy="200026"/>
            </a:xfrm>
          </p:grpSpPr>
          <p:sp>
            <p:nvSpPr>
              <p:cNvPr id="72" name="Freeform 72"/>
              <p:cNvSpPr/>
              <p:nvPr/>
            </p:nvSpPr>
            <p:spPr>
              <a:xfrm>
                <a:off x="738188" y="60283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73" name="Freeform 73"/>
              <p:cNvSpPr/>
              <p:nvPr/>
            </p:nvSpPr>
            <p:spPr>
              <a:xfrm>
                <a:off x="804863" y="6106160"/>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75" name="TextBox 75"/>
            <p:cNvSpPr txBox="1"/>
            <p:nvPr/>
          </p:nvSpPr>
          <p:spPr>
            <a:xfrm>
              <a:off x="1041273" y="6039326"/>
              <a:ext cx="8525246" cy="249364"/>
            </a:xfrm>
            <a:prstGeom prst="rect">
              <a:avLst/>
            </a:prstGeom>
            <a:noFill/>
            <a:ln>
              <a:noFill/>
            </a:ln>
          </p:spPr>
          <p:txBody>
            <a:bodyPr wrap="none" lIns="0" tIns="0" rIns="0" bIns="0" anchor="t" anchorCtr="0">
              <a:spAutoFit/>
            </a:bodyPr>
            <a:lstStyle/>
            <a:p>
              <a:pPr algn="l"/>
              <a:r>
                <a:rPr lang="zh-CN" sz="1280" dirty="0">
                  <a:solidFill>
                    <a:srgbClr val="0F7A68"/>
                  </a:solidFill>
                  <a:latin typeface="+mn-lt"/>
                  <a:ea typeface="+mn-ea"/>
                  <a:cs typeface="+mn-cs"/>
                </a:rPr>
                <a:t>在 α₁、α₂ ≥ 0 的整个可行域上做网格搜索，最小值同样是 −0.25，取在 α = (¼, 0, ¼)，确认 α₂ = 0 是最优的。</a:t>
              </a:r>
            </a:p>
          </p:txBody>
        </p:sp>
      </p:grpSp>
      <p:grpSp>
        <p:nvGrpSpPr>
          <p:cNvPr id="79" name="footer"/>
          <p:cNvGrpSpPr/>
          <p:nvPr/>
        </p:nvGrpSpPr>
        <p:grpSpPr>
          <a:xfrm>
            <a:off x="528447" y="6581299"/>
            <a:ext cx="11135106" cy="190690"/>
            <a:chOff x="528447" y="6581299"/>
            <a:chExt cx="11135106" cy="190690"/>
          </a:xfrm>
        </p:grpSpPr>
        <p:sp>
          <p:nvSpPr>
            <p:cNvPr id="77" name="TextBox 77"/>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78" name="TextBox 7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18" name="section-title"/>
          <p:cNvGrpSpPr/>
          <p:nvPr/>
        </p:nvGrpSpPr>
        <p:grpSpPr>
          <a:xfrm>
            <a:off x="667512" y="1835468"/>
            <a:ext cx="6821424" cy="3351847"/>
            <a:chOff x="667512" y="1835468"/>
            <a:chExt cx="682142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682142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线性支持向量机：软间隔最大化</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237101"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数据不是严格线性可分时，允许少数点越界</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一个噪声点就能把间隔压得很窄</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24618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松弛变量 ξ 与惩罚参数 C</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061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等价的 Hinge 损失写法</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软间隔对偶只比硬间隔多一个上界</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线性支持向量机：软间隔最大化</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一个偏得厉害的点，就能把间隔压掉一半</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366969" cy="278702"/>
            <a:chOff x="526161" y="1547336"/>
            <a:chExt cx="5366969" cy="278702"/>
          </a:xfrm>
        </p:grpSpPr>
        <p:sp>
          <p:nvSpPr>
            <p:cNvPr id="7" name="TextBox 7"/>
            <p:cNvSpPr txBox="1"/>
            <p:nvPr/>
          </p:nvSpPr>
          <p:spPr>
            <a:xfrm>
              <a:off x="526161" y="1547336"/>
              <a:ext cx="5366969"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硬间隔对每个样本都是硬性要求，所以最坏的那个样本说了算。</a:t>
              </a:r>
            </a:p>
          </p:txBody>
        </p:sp>
      </p:grpSp>
      <p:grpSp>
        <p:nvGrpSpPr>
          <p:cNvPr id="23" name="c1-graph-1"/>
          <p:cNvGrpSpPr/>
          <p:nvPr/>
        </p:nvGrpSpPr>
        <p:grpSpPr>
          <a:xfrm>
            <a:off x="744855" y="2250281"/>
            <a:ext cx="4470083" cy="3920490"/>
            <a:chOff x="744855" y="2250281"/>
            <a:chExt cx="4470083" cy="3920490"/>
          </a:xfrm>
        </p:grpSpPr>
        <p:sp>
          <p:nvSpPr>
            <p:cNvPr id="9" name="Freeform 9"/>
            <p:cNvSpPr/>
            <p:nvPr/>
          </p:nvSpPr>
          <p:spPr>
            <a:xfrm>
              <a:off x="1047750" y="2729865"/>
              <a:ext cx="3581400" cy="2990850"/>
            </a:xfrm>
            <a:custGeom>
              <a:avLst/>
              <a:gdLst/>
              <a:ahLst/>
              <a:cxnLst/>
              <a:rect l="l" t="t" r="r" b="b"/>
              <a:pathLst>
                <a:path w="3581400" h="2990850">
                  <a:moveTo>
                    <a:pt x="0" y="0"/>
                  </a:moveTo>
                  <a:lnTo>
                    <a:pt x="3581400" y="2990850"/>
                  </a:lnTo>
                </a:path>
              </a:pathLst>
            </a:custGeom>
            <a:noFill/>
            <a:ln w="17145">
              <a:solidFill>
                <a:srgbClr val="5B6475"/>
              </a:solidFill>
            </a:ln>
          </p:spPr>
        </p:sp>
        <p:sp>
          <p:nvSpPr>
            <p:cNvPr id="10" name="Freeform 10"/>
            <p:cNvSpPr/>
            <p:nvPr/>
          </p:nvSpPr>
          <p:spPr>
            <a:xfrm>
              <a:off x="1047750" y="3533775"/>
              <a:ext cx="2617470" cy="2186940"/>
            </a:xfrm>
            <a:custGeom>
              <a:avLst/>
              <a:gdLst/>
              <a:ahLst/>
              <a:cxnLst/>
              <a:rect l="l" t="t" r="r" b="b"/>
              <a:pathLst>
                <a:path w="2617470" h="2186940">
                  <a:moveTo>
                    <a:pt x="0" y="0"/>
                  </a:moveTo>
                  <a:lnTo>
                    <a:pt x="2617470" y="2186940"/>
                  </a:lnTo>
                </a:path>
              </a:pathLst>
            </a:custGeom>
            <a:noFill/>
            <a:ln w="17145">
              <a:solidFill>
                <a:srgbClr val="B42318"/>
              </a:solidFill>
            </a:ln>
          </p:spPr>
        </p:sp>
        <p:sp>
          <p:nvSpPr>
            <p:cNvPr id="11" name="Ellipse 11"/>
            <p:cNvSpPr/>
            <p:nvPr/>
          </p:nvSpPr>
          <p:spPr>
            <a:xfrm>
              <a:off x="3734752" y="3355658"/>
              <a:ext cx="133350" cy="133350"/>
            </a:xfrm>
            <a:prstGeom prst="ellipse">
              <a:avLst/>
            </a:prstGeom>
            <a:solidFill>
              <a:srgbClr val="0E7C86"/>
            </a:solidFill>
            <a:ln>
              <a:noFill/>
            </a:ln>
          </p:spPr>
        </p:sp>
        <p:sp>
          <p:nvSpPr>
            <p:cNvPr id="12" name="Ellipse 12"/>
            <p:cNvSpPr/>
            <p:nvPr/>
          </p:nvSpPr>
          <p:spPr>
            <a:xfrm>
              <a:off x="4697730" y="3355658"/>
              <a:ext cx="133350" cy="133350"/>
            </a:xfrm>
            <a:prstGeom prst="ellipse">
              <a:avLst/>
            </a:prstGeom>
            <a:solidFill>
              <a:srgbClr val="0E7C86"/>
            </a:solidFill>
            <a:ln>
              <a:noFill/>
            </a:ln>
          </p:spPr>
        </p:sp>
        <p:sp>
          <p:nvSpPr>
            <p:cNvPr id="13" name="Ellipse 13"/>
            <p:cNvSpPr/>
            <p:nvPr/>
          </p:nvSpPr>
          <p:spPr>
            <a:xfrm>
              <a:off x="4312920" y="2630805"/>
              <a:ext cx="133350" cy="133350"/>
            </a:xfrm>
            <a:prstGeom prst="ellipse">
              <a:avLst/>
            </a:prstGeom>
            <a:solidFill>
              <a:srgbClr val="0E7C86"/>
            </a:solidFill>
            <a:ln>
              <a:noFill/>
            </a:ln>
          </p:spPr>
        </p:sp>
        <p:sp>
          <p:nvSpPr>
            <p:cNvPr id="14" name="Ellipse 14"/>
            <p:cNvSpPr/>
            <p:nvPr/>
          </p:nvSpPr>
          <p:spPr>
            <a:xfrm>
              <a:off x="5081588" y="3837622"/>
              <a:ext cx="133350" cy="133350"/>
            </a:xfrm>
            <a:prstGeom prst="ellipse">
              <a:avLst/>
            </a:prstGeom>
            <a:solidFill>
              <a:srgbClr val="0E7C86"/>
            </a:solidFill>
            <a:ln>
              <a:noFill/>
            </a:ln>
          </p:spPr>
        </p:sp>
        <p:sp>
          <p:nvSpPr>
            <p:cNvPr id="15" name="Ellipse 15"/>
            <p:cNvSpPr/>
            <p:nvPr/>
          </p:nvSpPr>
          <p:spPr>
            <a:xfrm>
              <a:off x="1808798" y="4960620"/>
              <a:ext cx="133350" cy="133350"/>
            </a:xfrm>
            <a:prstGeom prst="ellipse">
              <a:avLst/>
            </a:prstGeom>
            <a:solidFill>
              <a:srgbClr val="B42318"/>
            </a:solidFill>
            <a:ln>
              <a:noFill/>
            </a:ln>
          </p:spPr>
        </p:sp>
        <p:sp>
          <p:nvSpPr>
            <p:cNvPr id="16" name="Ellipse 16"/>
            <p:cNvSpPr/>
            <p:nvPr/>
          </p:nvSpPr>
          <p:spPr>
            <a:xfrm>
              <a:off x="1522095" y="4240530"/>
              <a:ext cx="133350" cy="133350"/>
            </a:xfrm>
            <a:prstGeom prst="ellipse">
              <a:avLst/>
            </a:prstGeom>
            <a:solidFill>
              <a:srgbClr val="B42318"/>
            </a:solidFill>
            <a:ln>
              <a:noFill/>
            </a:ln>
          </p:spPr>
        </p:sp>
        <p:sp>
          <p:nvSpPr>
            <p:cNvPr id="17" name="Ellipse 17"/>
            <p:cNvSpPr/>
            <p:nvPr/>
          </p:nvSpPr>
          <p:spPr>
            <a:xfrm>
              <a:off x="2485072" y="5283518"/>
              <a:ext cx="133350" cy="133350"/>
            </a:xfrm>
            <a:prstGeom prst="ellipse">
              <a:avLst/>
            </a:prstGeom>
            <a:solidFill>
              <a:srgbClr val="B42318"/>
            </a:solidFill>
            <a:ln>
              <a:noFill/>
            </a:ln>
          </p:spPr>
        </p:sp>
        <p:sp>
          <p:nvSpPr>
            <p:cNvPr id="18" name="Ellipse 18"/>
            <p:cNvSpPr/>
            <p:nvPr/>
          </p:nvSpPr>
          <p:spPr>
            <a:xfrm>
              <a:off x="1326832" y="5124450"/>
              <a:ext cx="133350" cy="133350"/>
            </a:xfrm>
            <a:prstGeom prst="ellipse">
              <a:avLst/>
            </a:prstGeom>
            <a:solidFill>
              <a:srgbClr val="B42318"/>
            </a:solidFill>
            <a:ln>
              <a:noFill/>
            </a:ln>
          </p:spPr>
        </p:sp>
        <p:sp>
          <p:nvSpPr>
            <p:cNvPr id="19" name="Ellipse 19"/>
            <p:cNvSpPr/>
            <p:nvPr/>
          </p:nvSpPr>
          <p:spPr>
            <a:xfrm>
              <a:off x="2733675" y="4117658"/>
              <a:ext cx="209550" cy="209550"/>
            </a:xfrm>
            <a:prstGeom prst="ellipse">
              <a:avLst/>
            </a:prstGeom>
            <a:solidFill>
              <a:srgbClr val="0E7C86"/>
            </a:solidFill>
            <a:ln w="17145">
              <a:solidFill>
                <a:srgbClr val="0E7C86"/>
              </a:solidFill>
            </a:ln>
          </p:spPr>
        </p:sp>
        <p:sp>
          <p:nvSpPr>
            <p:cNvPr id="20" name="TextBox 20"/>
            <p:cNvSpPr txBox="1"/>
            <p:nvPr/>
          </p:nvSpPr>
          <p:spPr>
            <a:xfrm>
              <a:off x="744855" y="2250281"/>
              <a:ext cx="986254" cy="161925"/>
            </a:xfrm>
            <a:prstGeom prst="rect">
              <a:avLst/>
            </a:prstGeom>
            <a:noFill/>
            <a:ln>
              <a:noFill/>
            </a:ln>
          </p:spPr>
          <p:txBody>
            <a:bodyPr wrap="none" lIns="0" tIns="0" rIns="0" bIns="0" anchor="t" anchorCtr="0">
              <a:spAutoFit/>
            </a:bodyPr>
            <a:lstStyle/>
            <a:p>
              <a:pPr algn="l"/>
              <a:r>
                <a:rPr lang="zh-CN" sz="820" dirty="0">
                  <a:solidFill>
                    <a:srgbClr val="5B6475"/>
                  </a:solidFill>
                  <a:latin typeface="+mn-lt"/>
                  <a:ea typeface="+mn-ea"/>
                  <a:cs typeface="+mn-cs"/>
                </a:rPr>
                <a:t>原来的 H：间隔 2√2</a:t>
              </a:r>
            </a:p>
          </p:txBody>
        </p:sp>
        <p:sp>
          <p:nvSpPr>
            <p:cNvPr id="21" name="TextBox 21"/>
            <p:cNvSpPr txBox="1"/>
            <p:nvPr/>
          </p:nvSpPr>
          <p:spPr>
            <a:xfrm>
              <a:off x="2043112" y="6008846"/>
              <a:ext cx="1157564" cy="161925"/>
            </a:xfrm>
            <a:prstGeom prst="rect">
              <a:avLst/>
            </a:prstGeom>
            <a:noFill/>
            <a:ln>
              <a:noFill/>
            </a:ln>
          </p:spPr>
          <p:txBody>
            <a:bodyPr wrap="none" lIns="0" tIns="0" rIns="0" bIns="0" anchor="t" anchorCtr="0">
              <a:spAutoFit/>
            </a:bodyPr>
            <a:lstStyle/>
            <a:p>
              <a:pPr algn="l"/>
              <a:r>
                <a:rPr lang="zh-CN" sz="820" dirty="0">
                  <a:solidFill>
                    <a:srgbClr val="B42318"/>
                  </a:solidFill>
                  <a:latin typeface="+mn-lt"/>
                  <a:ea typeface="+mn-ea"/>
                  <a:cs typeface="+mn-cs"/>
                </a:rPr>
                <a:t>被迫挪到这里：间隔 √2</a:t>
              </a:r>
            </a:p>
          </p:txBody>
        </p:sp>
        <p:sp>
          <p:nvSpPr>
            <p:cNvPr id="22" name="TextBox 22"/>
            <p:cNvSpPr txBox="1"/>
            <p:nvPr/>
          </p:nvSpPr>
          <p:spPr>
            <a:xfrm>
              <a:off x="2520718" y="3753326"/>
              <a:ext cx="677375"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噪声点 (2,2)</a:t>
              </a:r>
            </a:p>
          </p:txBody>
        </p:sp>
      </p:grpSp>
      <p:grpSp>
        <p:nvGrpSpPr>
          <p:cNvPr id="32" name="c2-card-1"/>
          <p:cNvGrpSpPr/>
          <p:nvPr/>
        </p:nvGrpSpPr>
        <p:grpSpPr>
          <a:xfrm>
            <a:off x="6248400" y="1941195"/>
            <a:ext cx="5410200" cy="2049780"/>
            <a:chOff x="6248400" y="1941195"/>
            <a:chExt cx="5410200" cy="2049780"/>
          </a:xfrm>
        </p:grpSpPr>
        <p:sp>
          <p:nvSpPr>
            <p:cNvPr id="24" name="Rectangle 24"/>
            <p:cNvSpPr/>
            <p:nvPr/>
          </p:nvSpPr>
          <p:spPr>
            <a:xfrm>
              <a:off x="6248400" y="1941195"/>
              <a:ext cx="5410200" cy="2049780"/>
            </a:xfrm>
            <a:prstGeom prst="roundRect">
              <a:avLst>
                <a:gd name="adj" fmla="val 6506"/>
              </a:avLst>
            </a:prstGeom>
            <a:solidFill>
              <a:srgbClr val="FFFFFF"/>
            </a:solidFill>
            <a:ln w="14288">
              <a:solidFill>
                <a:srgbClr val="D9DFEA"/>
              </a:solidFill>
            </a:ln>
          </p:spPr>
        </p:sp>
        <p:sp>
          <p:nvSpPr>
            <p:cNvPr id="25" name="Rectangle 25"/>
            <p:cNvSpPr/>
            <p:nvPr/>
          </p:nvSpPr>
          <p:spPr>
            <a:xfrm>
              <a:off x="6257925" y="2074545"/>
              <a:ext cx="47625" cy="1783080"/>
            </a:xfrm>
            <a:prstGeom prst="roundRect">
              <a:avLst>
                <a:gd name="adj" fmla="val 50000"/>
              </a:avLst>
            </a:prstGeom>
            <a:solidFill>
              <a:srgbClr val="14A38B"/>
            </a:solidFill>
            <a:ln>
              <a:noFill/>
            </a:ln>
          </p:spPr>
        </p:sp>
        <p:sp>
          <p:nvSpPr>
            <p:cNvPr id="26" name="Rectangle 26"/>
            <p:cNvSpPr/>
            <p:nvPr/>
          </p:nvSpPr>
          <p:spPr>
            <a:xfrm>
              <a:off x="6478905" y="2133600"/>
              <a:ext cx="609600" cy="247650"/>
            </a:xfrm>
            <a:prstGeom prst="roundRect">
              <a:avLst>
                <a:gd name="adj" fmla="val 50000"/>
              </a:avLst>
            </a:prstGeom>
            <a:solidFill>
              <a:srgbClr val="E3F5F1"/>
            </a:solidFill>
            <a:ln>
              <a:noFill/>
            </a:ln>
          </p:spPr>
        </p:sp>
        <p:sp>
          <p:nvSpPr>
            <p:cNvPr id="27" name="TextBox 27"/>
            <p:cNvSpPr txBox="1"/>
            <p:nvPr/>
          </p:nvSpPr>
          <p:spPr>
            <a:xfrm>
              <a:off x="6566345" y="2167890"/>
              <a:ext cx="434721"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算一算</a:t>
              </a:r>
            </a:p>
          </p:txBody>
        </p:sp>
        <p:sp>
          <p:nvSpPr>
            <p:cNvPr id="28" name="TextBox 28"/>
            <p:cNvSpPr txBox="1"/>
            <p:nvPr/>
          </p:nvSpPr>
          <p:spPr>
            <a:xfrm>
              <a:off x="7195947" y="2173605"/>
              <a:ext cx="348262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在第 15 页的三点上再加一个 (2, 2) 标 +1</a:t>
              </a:r>
            </a:p>
          </p:txBody>
        </p:sp>
        <p:sp>
          <p:nvSpPr>
            <p:cNvPr id="29" name="TextBox 29"/>
            <p:cNvSpPr txBox="1"/>
            <p:nvPr/>
          </p:nvSpPr>
          <p:spPr>
            <a:xfrm>
              <a:off x="6472047" y="2507932"/>
              <a:ext cx="46428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这个点混在两类中间。硬间隔仍然可解：约束里最紧的一对变</a:t>
              </a:r>
              <a:br/>
              <a:r>
                <a:rPr lang="zh-CN" sz="1350" dirty="0">
                  <a:solidFill>
                    <a:srgbClr val="1F2937"/>
                  </a:solidFill>
                  <a:latin typeface="+mn-lt"/>
                  <a:ea typeface="+mn-ea"/>
                  <a:cs typeface="+mn-cs"/>
                </a:rPr>
                <a:t>成 (2,2) 与 (1,1)，最优超平面是它们的垂直平分线。</a:t>
              </a:r>
            </a:p>
          </p:txBody>
        </p:sp>
        <p:sp>
          <p:nvSpPr>
            <p:cNvPr id="30" name="TextBox 30"/>
            <p:cNvSpPr txBox="1"/>
            <p:nvPr/>
          </p:nvSpPr>
          <p:spPr>
            <a:xfrm>
              <a:off x="6472047" y="3068002"/>
              <a:ext cx="455714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w = (1, 1)，b = −3，间隔 2/||w|| = </a:t>
              </a:r>
              <a:r>
                <a:rPr lang="zh-CN" sz="1350" b="1" dirty="0">
                  <a:solidFill>
                    <a:srgbClr val="C2410C"/>
                  </a:solidFill>
                  <a:latin typeface="+mn-lt"/>
                  <a:ea typeface="+mn-ea"/>
                  <a:cs typeface="+mn-cs"/>
                </a:rPr>
                <a:t>√2 ≈ 1.414</a:t>
              </a:r>
              <a:r>
                <a:rPr lang="zh-CN" sz="1350" dirty="0">
                  <a:solidFill>
                    <a:srgbClr val="1F2937"/>
                  </a:solidFill>
                  <a:latin typeface="+mn-lt"/>
                  <a:ea typeface="+mn-ea"/>
                  <a:cs typeface="+mn-cs"/>
                </a:rPr>
                <a:t>，只有原来</a:t>
              </a:r>
              <a:br/>
              <a:r>
                <a:rPr lang="zh-CN" sz="1350" dirty="0">
                  <a:solidFill>
                    <a:srgbClr val="1F2937"/>
                  </a:solidFill>
                  <a:latin typeface="+mn-lt"/>
                  <a:ea typeface="+mn-ea"/>
                  <a:cs typeface="+mn-cs"/>
                </a:rPr>
                <a:t>2√2 的一半。</a:t>
              </a:r>
            </a:p>
          </p:txBody>
        </p:sp>
        <p:sp>
          <p:nvSpPr>
            <p:cNvPr id="31" name="TextBox 31"/>
            <p:cNvSpPr txBox="1"/>
            <p:nvPr/>
          </p:nvSpPr>
          <p:spPr>
            <a:xfrm>
              <a:off x="6473190" y="3623786"/>
              <a:ext cx="4534662"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若这个点再往左下挪一点，落到负类点中间，硬间隔就彻底无解了。</a:t>
              </a:r>
            </a:p>
          </p:txBody>
        </p:sp>
      </p:grpSp>
      <p:grpSp>
        <p:nvGrpSpPr>
          <p:cNvPr id="44" name="c2-card-2"/>
          <p:cNvGrpSpPr/>
          <p:nvPr/>
        </p:nvGrpSpPr>
        <p:grpSpPr>
          <a:xfrm>
            <a:off x="6248400" y="4167188"/>
            <a:ext cx="5410200" cy="1272540"/>
            <a:chOff x="6248400" y="4167188"/>
            <a:chExt cx="5410200" cy="1272540"/>
          </a:xfrm>
        </p:grpSpPr>
        <p:sp>
          <p:nvSpPr>
            <p:cNvPr id="33" name="Rectangle 33"/>
            <p:cNvSpPr/>
            <p:nvPr/>
          </p:nvSpPr>
          <p:spPr>
            <a:xfrm>
              <a:off x="6248400" y="4167188"/>
              <a:ext cx="5410200" cy="1272540"/>
            </a:xfrm>
            <a:prstGeom prst="roundRect">
              <a:avLst>
                <a:gd name="adj" fmla="val 10479"/>
              </a:avLst>
            </a:prstGeom>
            <a:solidFill>
              <a:srgbClr val="FFFFFF"/>
            </a:solidFill>
            <a:ln w="14288">
              <a:solidFill>
                <a:srgbClr val="D9DFEA"/>
              </a:solidFill>
            </a:ln>
          </p:spPr>
        </p:sp>
        <p:sp>
          <p:nvSpPr>
            <p:cNvPr id="34" name="Rectangle 34"/>
            <p:cNvSpPr/>
            <p:nvPr/>
          </p:nvSpPr>
          <p:spPr>
            <a:xfrm>
              <a:off x="6257925" y="4300538"/>
              <a:ext cx="47625" cy="1005840"/>
            </a:xfrm>
            <a:prstGeom prst="roundRect">
              <a:avLst>
                <a:gd name="adj" fmla="val 50000"/>
              </a:avLst>
            </a:prstGeom>
            <a:solidFill>
              <a:srgbClr val="B42318"/>
            </a:solidFill>
            <a:ln>
              <a:noFill/>
            </a:ln>
          </p:spPr>
        </p:sp>
        <p:sp>
          <p:nvSpPr>
            <p:cNvPr id="35" name="Rectangle 35"/>
            <p:cNvSpPr/>
            <p:nvPr/>
          </p:nvSpPr>
          <p:spPr>
            <a:xfrm>
              <a:off x="6478905" y="4359592"/>
              <a:ext cx="742950" cy="247650"/>
            </a:xfrm>
            <a:prstGeom prst="roundRect">
              <a:avLst>
                <a:gd name="adj" fmla="val 50000"/>
              </a:avLst>
            </a:prstGeom>
            <a:solidFill>
              <a:srgbClr val="FDECEA"/>
            </a:solidFill>
            <a:ln>
              <a:noFill/>
            </a:ln>
          </p:spPr>
        </p:sp>
        <p:sp>
          <p:nvSpPr>
            <p:cNvPr id="36" name="TextBox 36"/>
            <p:cNvSpPr txBox="1"/>
            <p:nvPr/>
          </p:nvSpPr>
          <p:spPr>
            <a:xfrm>
              <a:off x="6562344" y="4393882"/>
              <a:ext cx="576072"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两个毛病</a:t>
              </a:r>
            </a:p>
          </p:txBody>
        </p:sp>
        <p:sp>
          <p:nvSpPr>
            <p:cNvPr id="37" name="TextBox 37"/>
            <p:cNvSpPr txBox="1"/>
            <p:nvPr/>
          </p:nvSpPr>
          <p:spPr>
            <a:xfrm>
              <a:off x="7329297" y="4398645"/>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硬间隔为什么不够用</a:t>
              </a:r>
            </a:p>
          </p:txBody>
        </p:sp>
        <p:sp>
          <p:nvSpPr>
            <p:cNvPr id="38" name="Ellipse 38"/>
            <p:cNvSpPr/>
            <p:nvPr/>
          </p:nvSpPr>
          <p:spPr>
            <a:xfrm>
              <a:off x="6478905" y="4720590"/>
              <a:ext cx="192405" cy="192405"/>
            </a:xfrm>
            <a:prstGeom prst="ellipse">
              <a:avLst/>
            </a:prstGeom>
            <a:solidFill>
              <a:srgbClr val="0E7C86"/>
            </a:solidFill>
            <a:ln>
              <a:noFill/>
            </a:ln>
          </p:spPr>
        </p:sp>
        <p:sp>
          <p:nvSpPr>
            <p:cNvPr id="39" name="TextBox 39"/>
            <p:cNvSpPr txBox="1"/>
            <p:nvPr/>
          </p:nvSpPr>
          <p:spPr>
            <a:xfrm>
              <a:off x="6534583" y="475992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40" name="TextBox 40"/>
            <p:cNvSpPr txBox="1"/>
            <p:nvPr/>
          </p:nvSpPr>
          <p:spPr>
            <a:xfrm>
              <a:off x="6759702" y="4732972"/>
              <a:ext cx="419366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一个标错或测量偏了的样本，会把整个超平面拽过去</a:t>
              </a:r>
            </a:p>
          </p:txBody>
        </p:sp>
        <p:sp>
          <p:nvSpPr>
            <p:cNvPr id="41" name="Ellipse 41"/>
            <p:cNvSpPr/>
            <p:nvPr/>
          </p:nvSpPr>
          <p:spPr>
            <a:xfrm>
              <a:off x="6478905" y="5023485"/>
              <a:ext cx="192405" cy="192405"/>
            </a:xfrm>
            <a:prstGeom prst="ellipse">
              <a:avLst/>
            </a:prstGeom>
            <a:solidFill>
              <a:srgbClr val="0E7C86"/>
            </a:solidFill>
            <a:ln>
              <a:noFill/>
            </a:ln>
          </p:spPr>
        </p:sp>
        <p:sp>
          <p:nvSpPr>
            <p:cNvPr id="42" name="TextBox 42"/>
            <p:cNvSpPr txBox="1"/>
            <p:nvPr/>
          </p:nvSpPr>
          <p:spPr>
            <a:xfrm>
              <a:off x="6534583" y="506187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43" name="TextBox 43"/>
            <p:cNvSpPr txBox="1"/>
            <p:nvPr/>
          </p:nvSpPr>
          <p:spPr>
            <a:xfrm>
              <a:off x="6759702" y="5035868"/>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数据只要有一点重叠，可行域就是空集，问题无解</a:t>
              </a:r>
            </a:p>
          </p:txBody>
        </p:sp>
      </p:grpSp>
      <p:grpSp>
        <p:nvGrpSpPr>
          <p:cNvPr id="50" name="c2-callout-3"/>
          <p:cNvGrpSpPr/>
          <p:nvPr/>
        </p:nvGrpSpPr>
        <p:grpSpPr>
          <a:xfrm>
            <a:off x="6248400" y="5614035"/>
            <a:ext cx="5410200" cy="729615"/>
            <a:chOff x="6248400" y="5614035"/>
            <a:chExt cx="5410200" cy="729615"/>
          </a:xfrm>
        </p:grpSpPr>
        <p:sp>
          <p:nvSpPr>
            <p:cNvPr id="45" name="Rectangle 45"/>
            <p:cNvSpPr/>
            <p:nvPr/>
          </p:nvSpPr>
          <p:spPr>
            <a:xfrm>
              <a:off x="6248400" y="5614035"/>
              <a:ext cx="5410200" cy="729615"/>
            </a:xfrm>
            <a:prstGeom prst="roundRect">
              <a:avLst>
                <a:gd name="adj" fmla="val 15666"/>
              </a:avLst>
            </a:prstGeom>
            <a:solidFill>
              <a:srgbClr val="0E7C86"/>
            </a:solidFill>
            <a:ln>
              <a:noFill/>
            </a:ln>
          </p:spPr>
        </p:sp>
        <p:grpSp>
          <p:nvGrpSpPr>
            <p:cNvPr id="48" name="Group 48"/>
            <p:cNvGrpSpPr/>
            <p:nvPr/>
          </p:nvGrpSpPr>
          <p:grpSpPr>
            <a:xfrm>
              <a:off x="6453188" y="5878832"/>
              <a:ext cx="200023" cy="200023"/>
              <a:chOff x="6453188" y="5878832"/>
              <a:chExt cx="200023" cy="200023"/>
            </a:xfrm>
          </p:grpSpPr>
          <p:sp>
            <p:nvSpPr>
              <p:cNvPr id="46" name="Freeform 46"/>
              <p:cNvSpPr/>
              <p:nvPr/>
            </p:nvSpPr>
            <p:spPr>
              <a:xfrm>
                <a:off x="6453188" y="587883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7" name="Freeform 47"/>
              <p:cNvSpPr/>
              <p:nvPr/>
            </p:nvSpPr>
            <p:spPr>
              <a:xfrm>
                <a:off x="6586538" y="594550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9" name="TextBox 49"/>
            <p:cNvSpPr txBox="1"/>
            <p:nvPr/>
          </p:nvSpPr>
          <p:spPr>
            <a:xfrm>
              <a:off x="6755892" y="5759768"/>
              <a:ext cx="448856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解决办法：允许少数样本不满足约束，但要为“不满足”付出</a:t>
              </a:r>
              <a:br/>
              <a:r>
                <a:rPr lang="zh-CN" sz="1350" dirty="0">
                  <a:solidFill>
                    <a:srgbClr val="FFFFFF"/>
                  </a:solidFill>
                  <a:latin typeface="+mn-lt"/>
                  <a:ea typeface="+mn-ea"/>
                  <a:cs typeface="+mn-cs"/>
                </a:rPr>
                <a:t>代价。</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2" name="TextBox 5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24782" cy="909257"/>
            <a:chOff x="520446" y="342900"/>
            <a:chExt cx="5824782"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线性支持向量机：软间隔最大化</a:t>
              </a:r>
            </a:p>
          </p:txBody>
        </p:sp>
        <p:sp>
          <p:nvSpPr>
            <p:cNvPr id="4" name="TextBox 4"/>
            <p:cNvSpPr txBox="1"/>
            <p:nvPr/>
          </p:nvSpPr>
          <p:spPr>
            <a:xfrm>
              <a:off x="520446" y="753428"/>
              <a:ext cx="582478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松弛变量 ξ：量一量每个点越界了多少</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626418" cy="1958340"/>
            <a:chOff x="533400" y="1524000"/>
            <a:chExt cx="5626418" cy="1958340"/>
          </a:xfrm>
        </p:grpSpPr>
        <p:sp>
          <p:nvSpPr>
            <p:cNvPr id="7" name="Rectangle 7"/>
            <p:cNvSpPr/>
            <p:nvPr/>
          </p:nvSpPr>
          <p:spPr>
            <a:xfrm>
              <a:off x="533400" y="1524000"/>
              <a:ext cx="5626418" cy="1958340"/>
            </a:xfrm>
            <a:prstGeom prst="roundRect">
              <a:avLst>
                <a:gd name="adj" fmla="val 6809"/>
              </a:avLst>
            </a:prstGeom>
            <a:solidFill>
              <a:srgbClr val="FFFFFF"/>
            </a:solidFill>
            <a:ln w="14288">
              <a:solidFill>
                <a:srgbClr val="D9DFEA"/>
              </a:solidFill>
            </a:ln>
          </p:spPr>
        </p:sp>
        <p:sp>
          <p:nvSpPr>
            <p:cNvPr id="8" name="Rectangle 8"/>
            <p:cNvSpPr/>
            <p:nvPr/>
          </p:nvSpPr>
          <p:spPr>
            <a:xfrm>
              <a:off x="542925" y="1657350"/>
              <a:ext cx="47625" cy="1691640"/>
            </a:xfrm>
            <a:prstGeom prst="roundRect">
              <a:avLst>
                <a:gd name="adj" fmla="val 50000"/>
              </a:avLst>
            </a:prstGeom>
            <a:solidFill>
              <a:srgbClr val="0E7C86"/>
            </a:solidFill>
            <a:ln>
              <a:noFill/>
            </a:ln>
          </p:spPr>
        </p:sp>
        <p:sp>
          <p:nvSpPr>
            <p:cNvPr id="9" name="Rectangle 9"/>
            <p:cNvSpPr/>
            <p:nvPr/>
          </p:nvSpPr>
          <p:spPr>
            <a:xfrm>
              <a:off x="763905" y="1716405"/>
              <a:ext cx="476250" cy="247650"/>
            </a:xfrm>
            <a:prstGeom prst="roundRect">
              <a:avLst>
                <a:gd name="adj" fmla="val 50000"/>
              </a:avLst>
            </a:prstGeom>
            <a:solidFill>
              <a:srgbClr val="E2F3F4"/>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定义</a:t>
              </a:r>
            </a:p>
          </p:txBody>
        </p:sp>
        <p:sp>
          <p:nvSpPr>
            <p:cNvPr id="11" name="TextBox 11"/>
            <p:cNvSpPr txBox="1"/>
            <p:nvPr/>
          </p:nvSpPr>
          <p:spPr>
            <a:xfrm>
              <a:off x="1347597" y="1756410"/>
              <a:ext cx="207643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松弛变量 slack variable</a:t>
              </a:r>
            </a:p>
          </p:txBody>
        </p:sp>
        <p:sp>
          <p:nvSpPr>
            <p:cNvPr id="12" name="TextBox 12"/>
            <p:cNvSpPr txBox="1"/>
            <p:nvPr/>
          </p:nvSpPr>
          <p:spPr>
            <a:xfrm>
              <a:off x="757047" y="2090738"/>
              <a:ext cx="483146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硬间隔要求 1 − yᵢ(w·xᵢ + b) ≤ 0。为每个样本引入 ξᵢ ≥ 0，把</a:t>
              </a:r>
              <a:br/>
              <a:r>
                <a:rPr lang="zh-CN" sz="1350" dirty="0">
                  <a:solidFill>
                    <a:srgbClr val="1F2937"/>
                  </a:solidFill>
                  <a:latin typeface="+mn-lt"/>
                  <a:ea typeface="+mn-ea"/>
                  <a:cs typeface="+mn-cs"/>
                </a:rPr>
                <a:t>约束放松成：</a:t>
              </a:r>
            </a:p>
          </p:txBody>
        </p:sp>
        <mc:AlternateContent xmlns:mc="http://schemas.openxmlformats.org/markup-compatibility/2006">
          <mc:Choice xmlns:a14="http://schemas.microsoft.com/office/drawing/2010/main" Requires="a14">
            <p:sp>
              <p:nvSpPr>
                <p:cNvPr id="13" name="formula150"/>
                <p:cNvSpPr txBox="1">
                  <a:spLocks noGrp="1"/>
                </p:cNvSpPr>
                <p:nvPr/>
              </p:nvSpPr>
              <p:spPr>
                <a:xfrm>
                  <a:off x="763905" y="2627948"/>
                  <a:ext cx="5203508" cy="3810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500" dirty="0">
                            <a:solidFill>
                              <a:srgbClr val="1F2937"/>
                            </a:solidFill>
                            <a:latin typeface="Cambria Math"/>
                            <a:ea typeface="Cambria Math"/>
                            <a:cs typeface="Cambria Math"/>
                          </a:rPr>
                          <m:t>1</m:t>
                        </m:r>
                        <m:r>
                          <m:rPr>
                            <m:sty m:val="p"/>
                          </m:rPr>
                          <a:rPr lang="zh-CN" sz="1500" dirty="0">
                            <a:solidFill>
                              <a:srgbClr val="1F2937"/>
                            </a:solidFill>
                            <a:latin typeface="Cambria Math"/>
                            <a:ea typeface="Cambria Math"/>
                            <a:cs typeface="Cambria Math"/>
                          </a:rPr>
                          <m:t>−</m:t>
                        </m:r>
                        <m:sSub>
                          <m:e>
                            <m:r>
                              <a:rPr lang="zh-CN" sz="1500" dirty="0">
                                <a:solidFill>
                                  <a:srgbClr val="1F2937"/>
                                </a:solidFill>
                                <a:latin typeface="Cambria Math"/>
                                <a:ea typeface="Cambria Math"/>
                                <a:cs typeface="Cambria Math"/>
                              </a:rPr>
                              <m:t>y</m:t>
                            </m:r>
                          </m:e>
                          <m:sub>
                            <m:r>
                              <a:rPr lang="zh-CN" sz="1500" dirty="0">
                                <a:solidFill>
                                  <a:srgbClr val="1F2937"/>
                                </a:solidFill>
                                <a:latin typeface="Cambria Math"/>
                                <a:ea typeface="Cambria Math"/>
                                <a:cs typeface="Cambria Math"/>
                              </a:rPr>
                              <m:t>i</m:t>
                            </m:r>
                          </m:sub>
                        </m:sSub>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w</m:t>
                            </m:r>
                            <m:r>
                              <m:rPr>
                                <m:sty m:val="p"/>
                              </m:rPr>
                              <a:rPr lang="zh-CN" sz="1500" dirty="0">
                                <a:solidFill>
                                  <a:srgbClr val="1F2937"/>
                                </a:solidFill>
                                <a:latin typeface="Cambria Math"/>
                                <a:ea typeface="Cambria Math"/>
                                <a:cs typeface="Cambria Math"/>
                              </a:rPr>
                              <m:t>⋅</m:t>
                            </m:r>
                            <m:sSub>
                              <m:e>
                                <m:r>
                                  <a:rPr lang="zh-CN" sz="1500" dirty="0">
                                    <a:solidFill>
                                      <a:srgbClr val="1F2937"/>
                                    </a:solidFill>
                                    <a:latin typeface="Cambria Math"/>
                                    <a:ea typeface="Cambria Math"/>
                                    <a:cs typeface="Cambria Math"/>
                                  </a:rPr>
                                  <m:t>x</m:t>
                                </m:r>
                              </m:e>
                              <m:sub>
                                <m:r>
                                  <a:rPr lang="zh-CN" sz="1500" dirty="0">
                                    <a:solidFill>
                                      <a:srgbClr val="1F2937"/>
                                    </a:solidFill>
                                    <a:latin typeface="Cambria Math"/>
                                    <a:ea typeface="Cambria Math"/>
                                    <a:cs typeface="Cambria Math"/>
                                  </a:rPr>
                                  <m:t>i</m:t>
                                </m:r>
                              </m:sub>
                            </m:sSub>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b</m:t>
                            </m:r>
                          </m:e>
                        </m:d>
                        <m:r>
                          <m:rPr>
                            <m:sty m:val="p"/>
                          </m:rPr>
                          <a:rPr lang="zh-CN" sz="1500" dirty="0">
                            <a:solidFill>
                              <a:srgbClr val="1F2937"/>
                            </a:solidFill>
                            <a:latin typeface="Cambria Math"/>
                            <a:ea typeface="Cambria Math"/>
                            <a:cs typeface="Cambria Math"/>
                          </a:rPr>
                          <m:t>−</m:t>
                        </m:r>
                        <m:sSub>
                          <m:e>
                            <m:r>
                              <a:rPr lang="zh-CN" sz="1500" dirty="0">
                                <a:solidFill>
                                  <a:srgbClr val="1F2937"/>
                                </a:solidFill>
                                <a:latin typeface="Cambria Math"/>
                                <a:ea typeface="Cambria Math"/>
                                <a:cs typeface="Cambria Math"/>
                              </a:rPr>
                              <m:t>ξ</m:t>
                            </m:r>
                          </m:e>
                          <m:sub>
                            <m:r>
                              <a:rPr lang="zh-CN" sz="1500" dirty="0">
                                <a:solidFill>
                                  <a:srgbClr val="1F2937"/>
                                </a:solidFill>
                                <a:latin typeface="Cambria Math"/>
                                <a:ea typeface="Cambria Math"/>
                                <a:cs typeface="Cambria Math"/>
                              </a:rPr>
                              <m:t>i</m:t>
                            </m:r>
                          </m:sub>
                        </m:sSub>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0</m:t>
                        </m:r>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 xml:space="preserve">  </m:t>
                        </m:r>
                        <m:sSub>
                          <m:e>
                            <m:r>
                              <a:rPr lang="zh-CN" sz="1500" dirty="0">
                                <a:solidFill>
                                  <a:srgbClr val="1F2937"/>
                                </a:solidFill>
                                <a:latin typeface="Cambria Math"/>
                                <a:ea typeface="Cambria Math"/>
                                <a:cs typeface="Cambria Math"/>
                              </a:rPr>
                              <m:t>ξ</m:t>
                            </m:r>
                          </m:e>
                          <m:sub>
                            <m:r>
                              <a:rPr lang="zh-CN" sz="1500" dirty="0">
                                <a:solidFill>
                                  <a:srgbClr val="1F2937"/>
                                </a:solidFill>
                                <a:latin typeface="Cambria Math"/>
                                <a:ea typeface="Cambria Math"/>
                                <a:cs typeface="Cambria Math"/>
                              </a:rPr>
                              <m:t>i</m:t>
                            </m:r>
                          </m:sub>
                        </m:sSub>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0</m:t>
                        </m:r>
                      </m:oMath>
                    </m:oMathPara>
                  </a14:m>
                </a:p>
              </p:txBody>
            </p:sp>
          </mc:Choice>
        </mc:AlternateContent>
        <p:sp>
          <p:nvSpPr>
            <p:cNvPr id="14" name="TextBox 14"/>
            <p:cNvSpPr txBox="1"/>
            <p:nvPr/>
          </p:nvSpPr>
          <p:spPr>
            <a:xfrm>
              <a:off x="758190" y="3114199"/>
              <a:ext cx="4549739"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ξᵢ 正好等于“离达标还差多少”：ξᵢ = max(0, 1 − yᵢ(w·xᵢ + b))。</a:t>
              </a:r>
            </a:p>
          </p:txBody>
        </p:sp>
      </p:grpSp>
      <p:grpSp>
        <p:nvGrpSpPr>
          <p:cNvPr id="42" name="c1-table-2"/>
          <p:cNvGrpSpPr/>
          <p:nvPr/>
        </p:nvGrpSpPr>
        <p:grpSpPr>
          <a:xfrm>
            <a:off x="533400" y="3657600"/>
            <a:ext cx="5626418" cy="2028825"/>
            <a:chOff x="533400" y="3657600"/>
            <a:chExt cx="5626418" cy="2028825"/>
          </a:xfrm>
        </p:grpSpPr>
        <p:sp>
          <p:nvSpPr>
            <p:cNvPr id="16" name="Rectangle 16"/>
            <p:cNvSpPr/>
            <p:nvPr/>
          </p:nvSpPr>
          <p:spPr>
            <a:xfrm>
              <a:off x="533400" y="3657600"/>
              <a:ext cx="5626418" cy="405765"/>
            </a:xfrm>
            <a:prstGeom prst="rect">
              <a:avLst/>
            </a:prstGeom>
            <a:solidFill>
              <a:srgbClr val="0E7C86"/>
            </a:solidFill>
            <a:ln>
              <a:noFill/>
            </a:ln>
          </p:spPr>
        </p:sp>
        <p:sp>
          <p:nvSpPr>
            <p:cNvPr id="17" name="TextBox 17"/>
            <p:cNvSpPr txBox="1"/>
            <p:nvPr/>
          </p:nvSpPr>
          <p:spPr>
            <a:xfrm>
              <a:off x="941414" y="3781901"/>
              <a:ext cx="534617"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ξᵢ 的值</a:t>
              </a:r>
            </a:p>
          </p:txBody>
        </p:sp>
        <p:sp>
          <p:nvSpPr>
            <p:cNvPr id="18" name="TextBox 18"/>
            <p:cNvSpPr txBox="1"/>
            <p:nvPr/>
          </p:nvSpPr>
          <p:spPr>
            <a:xfrm>
              <a:off x="2719502" y="3781901"/>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样本落在哪里</a:t>
              </a:r>
            </a:p>
          </p:txBody>
        </p:sp>
        <p:sp>
          <p:nvSpPr>
            <p:cNvPr id="19" name="TextBox 19"/>
            <p:cNvSpPr txBox="1"/>
            <p:nvPr/>
          </p:nvSpPr>
          <p:spPr>
            <a:xfrm>
              <a:off x="5008639" y="3781901"/>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分对了吗</a:t>
              </a:r>
            </a:p>
          </p:txBody>
        </p:sp>
        <p:sp>
          <p:nvSpPr>
            <p:cNvPr id="20" name="TextBox 20"/>
            <p:cNvSpPr txBox="1"/>
            <p:nvPr/>
          </p:nvSpPr>
          <p:spPr>
            <a:xfrm>
              <a:off x="633412" y="4187666"/>
              <a:ext cx="454707"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ξᵢ = 0</a:t>
              </a:r>
            </a:p>
          </p:txBody>
        </p:sp>
        <p:sp>
          <p:nvSpPr>
            <p:cNvPr id="21" name="TextBox 21"/>
            <p:cNvSpPr txBox="1"/>
            <p:nvPr/>
          </p:nvSpPr>
          <p:spPr>
            <a:xfrm>
              <a:off x="1984058" y="4187666"/>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间隔边界上或边界外侧</a:t>
              </a:r>
            </a:p>
          </p:txBody>
        </p:sp>
        <p:sp>
          <p:nvSpPr>
            <p:cNvPr id="22" name="Rectangle 22"/>
            <p:cNvSpPr/>
            <p:nvPr/>
          </p:nvSpPr>
          <p:spPr>
            <a:xfrm>
              <a:off x="4481512" y="4072890"/>
              <a:ext cx="1668780" cy="386715"/>
            </a:xfrm>
            <a:prstGeom prst="rect">
              <a:avLst/>
            </a:prstGeom>
            <a:solidFill>
              <a:srgbClr val="E3F5F1"/>
            </a:solidFill>
            <a:ln>
              <a:noFill/>
            </a:ln>
          </p:spPr>
        </p:sp>
        <p:sp>
          <p:nvSpPr>
            <p:cNvPr id="23" name="TextBox 23"/>
            <p:cNvSpPr txBox="1"/>
            <p:nvPr/>
          </p:nvSpPr>
          <p:spPr>
            <a:xfrm>
              <a:off x="4572000" y="4187666"/>
              <a:ext cx="162204" cy="220028"/>
            </a:xfrm>
            <a:prstGeom prst="rect">
              <a:avLst/>
            </a:prstGeom>
            <a:noFill/>
            <a:ln>
              <a:noFill/>
            </a:ln>
          </p:spPr>
          <p:txBody>
            <a:bodyPr wrap="none" lIns="0" tIns="0" rIns="0" bIns="0" anchor="t" anchorCtr="0">
              <a:spAutoFit/>
            </a:bodyPr>
            <a:lstStyle/>
            <a:p>
              <a:pPr algn="l"/>
              <a:r>
                <a:rPr lang="zh-CN" sz="1120" dirty="0">
                  <a:solidFill>
                    <a:srgbClr val="0F7A68"/>
                  </a:solidFill>
                  <a:latin typeface="+mn-lt"/>
                  <a:ea typeface="+mn-ea"/>
                  <a:cs typeface="+mn-cs"/>
                </a:rPr>
                <a:t>是</a:t>
              </a:r>
            </a:p>
          </p:txBody>
        </p:sp>
        <p:sp>
          <p:nvSpPr>
            <p:cNvPr id="24" name="Rectangle 24"/>
            <p:cNvSpPr/>
            <p:nvPr/>
          </p:nvSpPr>
          <p:spPr>
            <a:xfrm>
              <a:off x="533400" y="4464368"/>
              <a:ext cx="5626418" cy="9525"/>
            </a:xfrm>
            <a:prstGeom prst="rect">
              <a:avLst/>
            </a:prstGeom>
            <a:solidFill>
              <a:srgbClr val="D9DFEA"/>
            </a:solidFill>
            <a:ln>
              <a:noFill/>
            </a:ln>
          </p:spPr>
        </p:sp>
        <p:sp>
          <p:nvSpPr>
            <p:cNvPr id="25" name="Rectangle 25"/>
            <p:cNvSpPr/>
            <p:nvPr/>
          </p:nvSpPr>
          <p:spPr>
            <a:xfrm>
              <a:off x="533400" y="4469130"/>
              <a:ext cx="5626418" cy="405765"/>
            </a:xfrm>
            <a:prstGeom prst="rect">
              <a:avLst/>
            </a:prstGeom>
            <a:solidFill>
              <a:srgbClr val="F4F6FB"/>
            </a:solidFill>
            <a:ln>
              <a:noFill/>
            </a:ln>
          </p:spPr>
        </p:sp>
        <p:sp>
          <p:nvSpPr>
            <p:cNvPr id="26" name="TextBox 26"/>
            <p:cNvSpPr txBox="1"/>
            <p:nvPr/>
          </p:nvSpPr>
          <p:spPr>
            <a:xfrm>
              <a:off x="633412" y="4593431"/>
              <a:ext cx="723839"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0 &lt; ξᵢ &lt; 1</a:t>
              </a:r>
            </a:p>
          </p:txBody>
        </p:sp>
        <p:sp>
          <p:nvSpPr>
            <p:cNvPr id="27" name="TextBox 27"/>
            <p:cNvSpPr txBox="1"/>
            <p:nvPr/>
          </p:nvSpPr>
          <p:spPr>
            <a:xfrm>
              <a:off x="1984058" y="4593431"/>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间隔带内部但仍在正确一侧</a:t>
              </a:r>
            </a:p>
          </p:txBody>
        </p:sp>
        <p:sp>
          <p:nvSpPr>
            <p:cNvPr id="28" name="TextBox 28"/>
            <p:cNvSpPr txBox="1"/>
            <p:nvPr/>
          </p:nvSpPr>
          <p:spPr>
            <a:xfrm>
              <a:off x="4572000" y="4593431"/>
              <a:ext cx="162204" cy="220028"/>
            </a:xfrm>
            <a:prstGeom prst="rect">
              <a:avLst/>
            </a:prstGeom>
            <a:noFill/>
            <a:ln>
              <a:noFill/>
            </a:ln>
          </p:spPr>
          <p:txBody>
            <a:bodyPr wrap="none" lIns="0" tIns="0" rIns="0" bIns="0" anchor="t" anchorCtr="0">
              <a:spAutoFit/>
            </a:bodyPr>
            <a:lstStyle/>
            <a:p>
              <a:pPr algn="l"/>
              <a:r>
                <a:rPr lang="zh-CN" sz="1120" dirty="0">
                  <a:solidFill>
                    <a:srgbClr val="0F7A68"/>
                  </a:solidFill>
                  <a:latin typeface="+mn-lt"/>
                  <a:ea typeface="+mn-ea"/>
                  <a:cs typeface="+mn-cs"/>
                </a:rPr>
                <a:t>是</a:t>
              </a:r>
            </a:p>
          </p:txBody>
        </p:sp>
        <p:sp>
          <p:nvSpPr>
            <p:cNvPr id="29" name="Rectangle 29"/>
            <p:cNvSpPr/>
            <p:nvPr/>
          </p:nvSpPr>
          <p:spPr>
            <a:xfrm>
              <a:off x="533400" y="4870132"/>
              <a:ext cx="5626418" cy="9525"/>
            </a:xfrm>
            <a:prstGeom prst="rect">
              <a:avLst/>
            </a:prstGeom>
            <a:solidFill>
              <a:srgbClr val="D9DFEA"/>
            </a:solidFill>
            <a:ln>
              <a:noFill/>
            </a:ln>
          </p:spPr>
        </p:sp>
        <p:sp>
          <p:nvSpPr>
            <p:cNvPr id="30" name="TextBox 30"/>
            <p:cNvSpPr txBox="1"/>
            <p:nvPr/>
          </p:nvSpPr>
          <p:spPr>
            <a:xfrm>
              <a:off x="633412" y="4999196"/>
              <a:ext cx="454707"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ξᵢ = 1</a:t>
              </a:r>
            </a:p>
          </p:txBody>
        </p:sp>
        <p:sp>
          <p:nvSpPr>
            <p:cNvPr id="31" name="TextBox 31"/>
            <p:cNvSpPr txBox="1"/>
            <p:nvPr/>
          </p:nvSpPr>
          <p:spPr>
            <a:xfrm>
              <a:off x="1984058" y="4999196"/>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正好落在分离超平面上</a:t>
              </a:r>
            </a:p>
          </p:txBody>
        </p:sp>
        <p:sp>
          <p:nvSpPr>
            <p:cNvPr id="32" name="TextBox 32"/>
            <p:cNvSpPr txBox="1"/>
            <p:nvPr/>
          </p:nvSpPr>
          <p:spPr>
            <a:xfrm>
              <a:off x="4572000" y="499919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拒识</a:t>
              </a:r>
            </a:p>
          </p:txBody>
        </p:sp>
        <p:sp>
          <p:nvSpPr>
            <p:cNvPr id="33" name="Rectangle 33"/>
            <p:cNvSpPr/>
            <p:nvPr/>
          </p:nvSpPr>
          <p:spPr>
            <a:xfrm>
              <a:off x="533400" y="5275898"/>
              <a:ext cx="5626418" cy="9525"/>
            </a:xfrm>
            <a:prstGeom prst="rect">
              <a:avLst/>
            </a:prstGeom>
            <a:solidFill>
              <a:srgbClr val="D9DFEA"/>
            </a:solidFill>
            <a:ln>
              <a:noFill/>
            </a:ln>
          </p:spPr>
        </p:sp>
        <p:sp>
          <p:nvSpPr>
            <p:cNvPr id="34" name="Rectangle 34"/>
            <p:cNvSpPr/>
            <p:nvPr/>
          </p:nvSpPr>
          <p:spPr>
            <a:xfrm>
              <a:off x="533400" y="5280660"/>
              <a:ext cx="5626418" cy="405765"/>
            </a:xfrm>
            <a:prstGeom prst="rect">
              <a:avLst/>
            </a:prstGeom>
            <a:solidFill>
              <a:srgbClr val="F4F6FB"/>
            </a:solidFill>
            <a:ln>
              <a:noFill/>
            </a:ln>
          </p:spPr>
        </p:sp>
        <p:sp>
          <p:nvSpPr>
            <p:cNvPr id="35" name="TextBox 35"/>
            <p:cNvSpPr txBox="1"/>
            <p:nvPr/>
          </p:nvSpPr>
          <p:spPr>
            <a:xfrm>
              <a:off x="633412" y="5404961"/>
              <a:ext cx="454707"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ξᵢ &gt; 1</a:t>
              </a:r>
            </a:p>
          </p:txBody>
        </p:sp>
        <p:sp>
          <p:nvSpPr>
            <p:cNvPr id="36" name="TextBox 36"/>
            <p:cNvSpPr txBox="1"/>
            <p:nvPr/>
          </p:nvSpPr>
          <p:spPr>
            <a:xfrm>
              <a:off x="1984058" y="5404961"/>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越过超平面到了错误一侧</a:t>
              </a:r>
            </a:p>
          </p:txBody>
        </p:sp>
        <p:sp>
          <p:nvSpPr>
            <p:cNvPr id="37" name="Rectangle 37"/>
            <p:cNvSpPr/>
            <p:nvPr/>
          </p:nvSpPr>
          <p:spPr>
            <a:xfrm>
              <a:off x="4481512" y="5290185"/>
              <a:ext cx="1668780" cy="386715"/>
            </a:xfrm>
            <a:prstGeom prst="rect">
              <a:avLst/>
            </a:prstGeom>
            <a:solidFill>
              <a:srgbClr val="FDECEA"/>
            </a:solidFill>
            <a:ln>
              <a:noFill/>
            </a:ln>
          </p:spPr>
        </p:sp>
        <p:sp>
          <p:nvSpPr>
            <p:cNvPr id="38" name="TextBox 38"/>
            <p:cNvSpPr txBox="1"/>
            <p:nvPr/>
          </p:nvSpPr>
          <p:spPr>
            <a:xfrm>
              <a:off x="4572000" y="5404961"/>
              <a:ext cx="162204" cy="220028"/>
            </a:xfrm>
            <a:prstGeom prst="rect">
              <a:avLst/>
            </a:prstGeom>
            <a:noFill/>
            <a:ln>
              <a:noFill/>
            </a:ln>
          </p:spPr>
          <p:txBody>
            <a:bodyPr wrap="none" lIns="0" tIns="0" rIns="0" bIns="0" anchor="t" anchorCtr="0">
              <a:spAutoFit/>
            </a:bodyPr>
            <a:lstStyle/>
            <a:p>
              <a:pPr algn="l"/>
              <a:r>
                <a:rPr lang="zh-CN" sz="1120" dirty="0">
                  <a:solidFill>
                    <a:srgbClr val="B42318"/>
                  </a:solidFill>
                  <a:latin typeface="+mn-lt"/>
                  <a:ea typeface="+mn-ea"/>
                  <a:cs typeface="+mn-cs"/>
                </a:rPr>
                <a:t>否</a:t>
              </a:r>
            </a:p>
          </p:txBody>
        </p:sp>
        <p:sp>
          <p:nvSpPr>
            <p:cNvPr id="39" name="Rectangle 39"/>
            <p:cNvSpPr/>
            <p:nvPr/>
          </p:nvSpPr>
          <p:spPr>
            <a:xfrm>
              <a:off x="533400" y="3657600"/>
              <a:ext cx="5626418" cy="2028825"/>
            </a:xfrm>
            <a:prstGeom prst="rect">
              <a:avLst/>
            </a:prstGeom>
            <a:noFill/>
            <a:ln w="14288">
              <a:solidFill>
                <a:srgbClr val="D9DFEA"/>
              </a:solidFill>
            </a:ln>
          </p:spPr>
        </p:sp>
        <p:sp>
          <p:nvSpPr>
            <p:cNvPr id="40" name="Rectangle 40"/>
            <p:cNvSpPr/>
            <p:nvPr/>
          </p:nvSpPr>
          <p:spPr>
            <a:xfrm>
              <a:off x="1879282" y="3657600"/>
              <a:ext cx="9525" cy="2028825"/>
            </a:xfrm>
            <a:prstGeom prst="rect">
              <a:avLst/>
            </a:prstGeom>
            <a:solidFill>
              <a:srgbClr val="D9DFEA"/>
            </a:solidFill>
            <a:ln>
              <a:noFill/>
            </a:ln>
          </p:spPr>
        </p:sp>
        <p:sp>
          <p:nvSpPr>
            <p:cNvPr id="41" name="Rectangle 41"/>
            <p:cNvSpPr/>
            <p:nvPr/>
          </p:nvSpPr>
          <p:spPr>
            <a:xfrm>
              <a:off x="4467225" y="3657600"/>
              <a:ext cx="9525" cy="2028825"/>
            </a:xfrm>
            <a:prstGeom prst="rect">
              <a:avLst/>
            </a:prstGeom>
            <a:solidFill>
              <a:srgbClr val="D9DFEA"/>
            </a:solidFill>
            <a:ln>
              <a:noFill/>
            </a:ln>
          </p:spPr>
        </p:sp>
      </p:grpSp>
      <p:grpSp>
        <p:nvGrpSpPr>
          <p:cNvPr id="84" name="c2-graph-1"/>
          <p:cNvGrpSpPr/>
          <p:nvPr/>
        </p:nvGrpSpPr>
        <p:grpSpPr>
          <a:xfrm>
            <a:off x="6558915" y="1640205"/>
            <a:ext cx="5005387" cy="3946207"/>
            <a:chOff x="6558915" y="1640205"/>
            <a:chExt cx="5005387" cy="3946207"/>
          </a:xfrm>
        </p:grpSpPr>
        <p:sp>
          <p:nvSpPr>
            <p:cNvPr id="43" name="Freeform 43"/>
            <p:cNvSpPr/>
            <p:nvPr/>
          </p:nvSpPr>
          <p:spPr>
            <a:xfrm>
              <a:off x="6583680" y="1940242"/>
              <a:ext cx="4955858" cy="3567113"/>
            </a:xfrm>
            <a:custGeom>
              <a:avLst/>
              <a:gdLst/>
              <a:ahLst/>
              <a:cxnLst/>
              <a:rect l="l" t="t" r="r" b="b"/>
              <a:pathLst>
                <a:path w="4955858" h="3567113">
                  <a:moveTo>
                    <a:pt x="0" y="0"/>
                  </a:moveTo>
                  <a:lnTo>
                    <a:pt x="4955858" y="3567113"/>
                  </a:lnTo>
                </a:path>
              </a:pathLst>
            </a:custGeom>
            <a:noFill/>
            <a:ln w="17145">
              <a:solidFill>
                <a:srgbClr val="0E7C86"/>
              </a:solidFill>
            </a:ln>
          </p:spPr>
        </p:sp>
        <p:sp>
          <p:nvSpPr>
            <p:cNvPr id="44" name="Freeform 44"/>
            <p:cNvSpPr/>
            <p:nvPr/>
          </p:nvSpPr>
          <p:spPr>
            <a:xfrm>
              <a:off x="7368540" y="1660208"/>
              <a:ext cx="4170998" cy="3003232"/>
            </a:xfrm>
            <a:custGeom>
              <a:avLst/>
              <a:gdLst/>
              <a:ahLst/>
              <a:cxnLst/>
              <a:rect l="l" t="t" r="r" b="b"/>
              <a:pathLst>
                <a:path w="4170998" h="3003232">
                  <a:moveTo>
                    <a:pt x="0" y="0"/>
                  </a:moveTo>
                  <a:lnTo>
                    <a:pt x="4170998" y="3003232"/>
                  </a:lnTo>
                </a:path>
              </a:pathLst>
            </a:custGeom>
            <a:noFill/>
            <a:ln w="17145">
              <a:solidFill>
                <a:srgbClr val="F26B3A"/>
              </a:solidFill>
              <a:custDash>
                <a:ds d="333333" sp="222222"/>
              </a:custDash>
            </a:ln>
          </p:spPr>
        </p:sp>
        <p:sp>
          <p:nvSpPr>
            <p:cNvPr id="45" name="Freeform 45"/>
            <p:cNvSpPr/>
            <p:nvPr/>
          </p:nvSpPr>
          <p:spPr>
            <a:xfrm>
              <a:off x="6583680" y="2788920"/>
              <a:ext cx="3859530" cy="2777490"/>
            </a:xfrm>
            <a:custGeom>
              <a:avLst/>
              <a:gdLst/>
              <a:ahLst/>
              <a:cxnLst/>
              <a:rect l="l" t="t" r="r" b="b"/>
              <a:pathLst>
                <a:path w="3859530" h="2777490">
                  <a:moveTo>
                    <a:pt x="0" y="0"/>
                  </a:moveTo>
                  <a:lnTo>
                    <a:pt x="3859530" y="2777490"/>
                  </a:lnTo>
                </a:path>
              </a:pathLst>
            </a:custGeom>
            <a:noFill/>
            <a:ln w="17145">
              <a:solidFill>
                <a:srgbClr val="F26B3A"/>
              </a:solidFill>
              <a:custDash>
                <a:ds d="333333" sp="222222"/>
              </a:custDash>
            </a:ln>
          </p:spPr>
        </p:sp>
        <p:sp>
          <p:nvSpPr>
            <p:cNvPr id="46" name="Freeform 46"/>
            <p:cNvSpPr/>
            <p:nvPr/>
          </p:nvSpPr>
          <p:spPr>
            <a:xfrm>
              <a:off x="10251758" y="3825240"/>
              <a:ext cx="86678" cy="120967"/>
            </a:xfrm>
            <a:custGeom>
              <a:avLst/>
              <a:gdLst/>
              <a:ahLst/>
              <a:cxnLst/>
              <a:rect l="l" t="t" r="r" b="b"/>
              <a:pathLst>
                <a:path w="86678" h="120967">
                  <a:moveTo>
                    <a:pt x="86678" y="0"/>
                  </a:moveTo>
                  <a:lnTo>
                    <a:pt x="0" y="120967"/>
                  </a:lnTo>
                </a:path>
              </a:pathLst>
            </a:custGeom>
            <a:noFill/>
            <a:ln w="17145">
              <a:solidFill>
                <a:srgbClr val="B42318"/>
              </a:solidFill>
            </a:ln>
          </p:spPr>
        </p:sp>
        <p:sp>
          <p:nvSpPr>
            <p:cNvPr id="47" name="Freeform 47"/>
            <p:cNvSpPr/>
            <p:nvPr/>
          </p:nvSpPr>
          <p:spPr>
            <a:xfrm>
              <a:off x="10196512" y="3918585"/>
              <a:ext cx="94298" cy="104775"/>
            </a:xfrm>
            <a:custGeom>
              <a:avLst/>
              <a:gdLst/>
              <a:ahLst/>
              <a:cxnLst/>
              <a:rect l="l" t="t" r="r" b="b"/>
              <a:pathLst>
                <a:path w="94298" h="104775">
                  <a:moveTo>
                    <a:pt x="0" y="104775"/>
                  </a:moveTo>
                  <a:lnTo>
                    <a:pt x="17145" y="0"/>
                  </a:lnTo>
                  <a:lnTo>
                    <a:pt x="94298" y="55245"/>
                  </a:lnTo>
                  <a:close/>
                </a:path>
              </a:pathLst>
            </a:custGeom>
            <a:solidFill>
              <a:srgbClr val="B42318"/>
            </a:solidFill>
            <a:ln>
              <a:noFill/>
            </a:ln>
          </p:spPr>
        </p:sp>
        <p:sp>
          <p:nvSpPr>
            <p:cNvPr id="48" name="Freeform 48"/>
            <p:cNvSpPr/>
            <p:nvPr/>
          </p:nvSpPr>
          <p:spPr>
            <a:xfrm>
              <a:off x="7353300" y="2582228"/>
              <a:ext cx="532447" cy="735330"/>
            </a:xfrm>
            <a:custGeom>
              <a:avLst/>
              <a:gdLst/>
              <a:ahLst/>
              <a:cxnLst/>
              <a:rect l="l" t="t" r="r" b="b"/>
              <a:pathLst>
                <a:path w="532447" h="735330">
                  <a:moveTo>
                    <a:pt x="0" y="735330"/>
                  </a:moveTo>
                  <a:lnTo>
                    <a:pt x="532447" y="0"/>
                  </a:lnTo>
                </a:path>
              </a:pathLst>
            </a:custGeom>
            <a:noFill/>
            <a:ln w="17145">
              <a:solidFill>
                <a:srgbClr val="B42318"/>
              </a:solidFill>
            </a:ln>
          </p:spPr>
        </p:sp>
        <p:sp>
          <p:nvSpPr>
            <p:cNvPr id="49" name="Freeform 49"/>
            <p:cNvSpPr/>
            <p:nvPr/>
          </p:nvSpPr>
          <p:spPr>
            <a:xfrm>
              <a:off x="7847648" y="2505075"/>
              <a:ext cx="94297" cy="104775"/>
            </a:xfrm>
            <a:custGeom>
              <a:avLst/>
              <a:gdLst/>
              <a:ahLst/>
              <a:cxnLst/>
              <a:rect l="l" t="t" r="r" b="b"/>
              <a:pathLst>
                <a:path w="94297" h="104775">
                  <a:moveTo>
                    <a:pt x="94297" y="0"/>
                  </a:moveTo>
                  <a:lnTo>
                    <a:pt x="77153" y="104775"/>
                  </a:lnTo>
                  <a:lnTo>
                    <a:pt x="0" y="49530"/>
                  </a:lnTo>
                  <a:close/>
                </a:path>
              </a:pathLst>
            </a:custGeom>
            <a:solidFill>
              <a:srgbClr val="B42318"/>
            </a:solidFill>
            <a:ln>
              <a:noFill/>
            </a:ln>
          </p:spPr>
        </p:sp>
        <p:sp>
          <p:nvSpPr>
            <p:cNvPr id="50" name="Freeform 50"/>
            <p:cNvSpPr/>
            <p:nvPr/>
          </p:nvSpPr>
          <p:spPr>
            <a:xfrm>
              <a:off x="9345930" y="4261485"/>
              <a:ext cx="267652" cy="374333"/>
            </a:xfrm>
            <a:custGeom>
              <a:avLst/>
              <a:gdLst/>
              <a:ahLst/>
              <a:cxnLst/>
              <a:rect l="l" t="t" r="r" b="b"/>
              <a:pathLst>
                <a:path w="267652" h="374333">
                  <a:moveTo>
                    <a:pt x="0" y="374333"/>
                  </a:moveTo>
                  <a:lnTo>
                    <a:pt x="267652" y="0"/>
                  </a:lnTo>
                </a:path>
              </a:pathLst>
            </a:custGeom>
            <a:noFill/>
            <a:ln w="17145">
              <a:solidFill>
                <a:srgbClr val="14A38B"/>
              </a:solidFill>
            </a:ln>
          </p:spPr>
        </p:sp>
        <p:sp>
          <p:nvSpPr>
            <p:cNvPr id="51" name="Freeform 51"/>
            <p:cNvSpPr/>
            <p:nvPr/>
          </p:nvSpPr>
          <p:spPr>
            <a:xfrm>
              <a:off x="9574530" y="4184332"/>
              <a:ext cx="94297" cy="105727"/>
            </a:xfrm>
            <a:custGeom>
              <a:avLst/>
              <a:gdLst/>
              <a:ahLst/>
              <a:cxnLst/>
              <a:rect l="l" t="t" r="r" b="b"/>
              <a:pathLst>
                <a:path w="94297" h="105727">
                  <a:moveTo>
                    <a:pt x="94297" y="0"/>
                  </a:moveTo>
                  <a:lnTo>
                    <a:pt x="77152" y="105727"/>
                  </a:lnTo>
                  <a:lnTo>
                    <a:pt x="0" y="49530"/>
                  </a:lnTo>
                  <a:close/>
                </a:path>
              </a:pathLst>
            </a:custGeom>
            <a:solidFill>
              <a:srgbClr val="14A38B"/>
            </a:solidFill>
            <a:ln>
              <a:noFill/>
            </a:ln>
          </p:spPr>
        </p:sp>
        <p:sp>
          <p:nvSpPr>
            <p:cNvPr id="52" name="Freeform 52"/>
            <p:cNvSpPr/>
            <p:nvPr/>
          </p:nvSpPr>
          <p:spPr>
            <a:xfrm>
              <a:off x="9290685" y="4608195"/>
              <a:ext cx="94297" cy="104775"/>
            </a:xfrm>
            <a:custGeom>
              <a:avLst/>
              <a:gdLst/>
              <a:ahLst/>
              <a:cxnLst/>
              <a:rect l="l" t="t" r="r" b="b"/>
              <a:pathLst>
                <a:path w="94297" h="104775">
                  <a:moveTo>
                    <a:pt x="0" y="104775"/>
                  </a:moveTo>
                  <a:lnTo>
                    <a:pt x="17145" y="0"/>
                  </a:lnTo>
                  <a:lnTo>
                    <a:pt x="94297" y="55245"/>
                  </a:lnTo>
                  <a:close/>
                </a:path>
              </a:pathLst>
            </a:custGeom>
            <a:solidFill>
              <a:srgbClr val="14A38B"/>
            </a:solidFill>
            <a:ln>
              <a:noFill/>
            </a:ln>
          </p:spPr>
        </p:sp>
        <p:sp>
          <p:nvSpPr>
            <p:cNvPr id="53" name="Ellipse 53"/>
            <p:cNvSpPr/>
            <p:nvPr/>
          </p:nvSpPr>
          <p:spPr>
            <a:xfrm>
              <a:off x="9353550" y="2506028"/>
              <a:ext cx="133350" cy="133350"/>
            </a:xfrm>
            <a:prstGeom prst="ellipse">
              <a:avLst/>
            </a:prstGeom>
            <a:solidFill>
              <a:srgbClr val="0E7C86"/>
            </a:solidFill>
            <a:ln>
              <a:noFill/>
            </a:ln>
          </p:spPr>
        </p:sp>
        <p:sp>
          <p:nvSpPr>
            <p:cNvPr id="54" name="Ellipse 54"/>
            <p:cNvSpPr/>
            <p:nvPr/>
          </p:nvSpPr>
          <p:spPr>
            <a:xfrm>
              <a:off x="10189845" y="2815590"/>
              <a:ext cx="133350" cy="133350"/>
            </a:xfrm>
            <a:prstGeom prst="ellipse">
              <a:avLst/>
            </a:prstGeom>
            <a:solidFill>
              <a:srgbClr val="0E7C86"/>
            </a:solidFill>
            <a:ln>
              <a:noFill/>
            </a:ln>
          </p:spPr>
        </p:sp>
        <p:sp>
          <p:nvSpPr>
            <p:cNvPr id="55" name="Ellipse 55"/>
            <p:cNvSpPr/>
            <p:nvPr/>
          </p:nvSpPr>
          <p:spPr>
            <a:xfrm>
              <a:off x="10355580" y="2171700"/>
              <a:ext cx="133350" cy="133350"/>
            </a:xfrm>
            <a:prstGeom prst="ellipse">
              <a:avLst/>
            </a:prstGeom>
            <a:solidFill>
              <a:srgbClr val="0E7C86"/>
            </a:solidFill>
            <a:ln>
              <a:noFill/>
            </a:ln>
          </p:spPr>
        </p:sp>
        <p:sp>
          <p:nvSpPr>
            <p:cNvPr id="56" name="Ellipse 56"/>
            <p:cNvSpPr/>
            <p:nvPr/>
          </p:nvSpPr>
          <p:spPr>
            <a:xfrm>
              <a:off x="10818495" y="2915602"/>
              <a:ext cx="133350" cy="133350"/>
            </a:xfrm>
            <a:prstGeom prst="ellipse">
              <a:avLst/>
            </a:prstGeom>
            <a:solidFill>
              <a:srgbClr val="0E7C86"/>
            </a:solidFill>
            <a:ln>
              <a:noFill/>
            </a:ln>
          </p:spPr>
        </p:sp>
        <p:sp>
          <p:nvSpPr>
            <p:cNvPr id="57" name="Ellipse 57"/>
            <p:cNvSpPr/>
            <p:nvPr/>
          </p:nvSpPr>
          <p:spPr>
            <a:xfrm>
              <a:off x="9645968" y="3276600"/>
              <a:ext cx="171450" cy="171450"/>
            </a:xfrm>
            <a:prstGeom prst="ellipse">
              <a:avLst/>
            </a:prstGeom>
            <a:solidFill>
              <a:srgbClr val="FFFFFF"/>
            </a:solidFill>
            <a:ln w="17145">
              <a:solidFill>
                <a:srgbClr val="0E7C86"/>
              </a:solidFill>
            </a:ln>
          </p:spPr>
        </p:sp>
        <p:sp>
          <p:nvSpPr>
            <p:cNvPr id="58" name="Ellipse 58"/>
            <p:cNvSpPr/>
            <p:nvPr/>
          </p:nvSpPr>
          <p:spPr>
            <a:xfrm>
              <a:off x="8324850" y="4587240"/>
              <a:ext cx="133350" cy="133350"/>
            </a:xfrm>
            <a:prstGeom prst="ellipse">
              <a:avLst/>
            </a:prstGeom>
            <a:solidFill>
              <a:srgbClr val="B42318"/>
            </a:solidFill>
            <a:ln>
              <a:noFill/>
            </a:ln>
          </p:spPr>
        </p:sp>
        <p:sp>
          <p:nvSpPr>
            <p:cNvPr id="59" name="Ellipse 59"/>
            <p:cNvSpPr/>
            <p:nvPr/>
          </p:nvSpPr>
          <p:spPr>
            <a:xfrm>
              <a:off x="8267700" y="5072062"/>
              <a:ext cx="133350" cy="133350"/>
            </a:xfrm>
            <a:prstGeom prst="ellipse">
              <a:avLst/>
            </a:prstGeom>
            <a:solidFill>
              <a:srgbClr val="B42318"/>
            </a:solidFill>
            <a:ln>
              <a:noFill/>
            </a:ln>
          </p:spPr>
        </p:sp>
        <p:sp>
          <p:nvSpPr>
            <p:cNvPr id="60" name="Ellipse 60"/>
            <p:cNvSpPr/>
            <p:nvPr/>
          </p:nvSpPr>
          <p:spPr>
            <a:xfrm>
              <a:off x="6933248" y="4403408"/>
              <a:ext cx="133350" cy="133350"/>
            </a:xfrm>
            <a:prstGeom prst="ellipse">
              <a:avLst/>
            </a:prstGeom>
            <a:solidFill>
              <a:srgbClr val="B42318"/>
            </a:solidFill>
            <a:ln>
              <a:noFill/>
            </a:ln>
          </p:spPr>
        </p:sp>
        <p:sp>
          <p:nvSpPr>
            <p:cNvPr id="61" name="Ellipse 61"/>
            <p:cNvSpPr/>
            <p:nvPr/>
          </p:nvSpPr>
          <p:spPr>
            <a:xfrm>
              <a:off x="7400925" y="4566285"/>
              <a:ext cx="133350" cy="133350"/>
            </a:xfrm>
            <a:prstGeom prst="ellipse">
              <a:avLst/>
            </a:prstGeom>
            <a:solidFill>
              <a:srgbClr val="B42318"/>
            </a:solidFill>
            <a:ln>
              <a:noFill/>
            </a:ln>
          </p:spPr>
        </p:sp>
        <p:sp>
          <p:nvSpPr>
            <p:cNvPr id="62" name="Ellipse 62"/>
            <p:cNvSpPr/>
            <p:nvPr/>
          </p:nvSpPr>
          <p:spPr>
            <a:xfrm>
              <a:off x="8379142" y="4058602"/>
              <a:ext cx="171450" cy="171450"/>
            </a:xfrm>
            <a:prstGeom prst="ellipse">
              <a:avLst/>
            </a:prstGeom>
            <a:solidFill>
              <a:srgbClr val="FDECEA"/>
            </a:solidFill>
            <a:ln w="17145">
              <a:solidFill>
                <a:srgbClr val="B42318"/>
              </a:solidFill>
            </a:ln>
          </p:spPr>
        </p:sp>
        <p:sp>
          <p:nvSpPr>
            <p:cNvPr id="63" name="Ellipse 63"/>
            <p:cNvSpPr/>
            <p:nvPr/>
          </p:nvSpPr>
          <p:spPr>
            <a:xfrm>
              <a:off x="10086022" y="4018598"/>
              <a:ext cx="133350" cy="133350"/>
            </a:xfrm>
            <a:prstGeom prst="ellipse">
              <a:avLst/>
            </a:prstGeom>
            <a:solidFill>
              <a:srgbClr val="0E7C86"/>
            </a:solidFill>
            <a:ln>
              <a:noFill/>
            </a:ln>
          </p:spPr>
        </p:sp>
        <p:sp>
          <p:nvSpPr>
            <p:cNvPr id="64" name="Ellipse 64"/>
            <p:cNvSpPr/>
            <p:nvPr/>
          </p:nvSpPr>
          <p:spPr>
            <a:xfrm>
              <a:off x="7920038" y="2376488"/>
              <a:ext cx="133350" cy="133350"/>
            </a:xfrm>
            <a:prstGeom prst="ellipse">
              <a:avLst/>
            </a:prstGeom>
            <a:solidFill>
              <a:srgbClr val="B42318"/>
            </a:solidFill>
            <a:ln>
              <a:noFill/>
            </a:ln>
          </p:spPr>
        </p:sp>
        <p:sp>
          <p:nvSpPr>
            <p:cNvPr id="65" name="Ellipse 65"/>
            <p:cNvSpPr/>
            <p:nvPr/>
          </p:nvSpPr>
          <p:spPr>
            <a:xfrm>
              <a:off x="6558915" y="1920240"/>
              <a:ext cx="19050" cy="19050"/>
            </a:xfrm>
            <a:prstGeom prst="ellipse">
              <a:avLst/>
            </a:prstGeom>
            <a:solidFill>
              <a:srgbClr val="D9DFEA"/>
            </a:solidFill>
            <a:ln>
              <a:noFill/>
            </a:ln>
          </p:spPr>
        </p:sp>
        <p:sp>
          <p:nvSpPr>
            <p:cNvPr id="66" name="Ellipse 66"/>
            <p:cNvSpPr/>
            <p:nvPr/>
          </p:nvSpPr>
          <p:spPr>
            <a:xfrm>
              <a:off x="11545252" y="5509260"/>
              <a:ext cx="19050" cy="19050"/>
            </a:xfrm>
            <a:prstGeom prst="ellipse">
              <a:avLst/>
            </a:prstGeom>
            <a:solidFill>
              <a:srgbClr val="D9DFEA"/>
            </a:solidFill>
            <a:ln>
              <a:noFill/>
            </a:ln>
          </p:spPr>
        </p:sp>
        <p:sp>
          <p:nvSpPr>
            <p:cNvPr id="67" name="Ellipse 67"/>
            <p:cNvSpPr/>
            <p:nvPr/>
          </p:nvSpPr>
          <p:spPr>
            <a:xfrm>
              <a:off x="7343775" y="1640205"/>
              <a:ext cx="19050" cy="19050"/>
            </a:xfrm>
            <a:prstGeom prst="ellipse">
              <a:avLst/>
            </a:prstGeom>
            <a:solidFill>
              <a:srgbClr val="D9DFEA"/>
            </a:solidFill>
            <a:ln>
              <a:noFill/>
            </a:ln>
          </p:spPr>
        </p:sp>
        <p:sp>
          <p:nvSpPr>
            <p:cNvPr id="68" name="Ellipse 68"/>
            <p:cNvSpPr/>
            <p:nvPr/>
          </p:nvSpPr>
          <p:spPr>
            <a:xfrm>
              <a:off x="11545252" y="4665345"/>
              <a:ext cx="19050" cy="19050"/>
            </a:xfrm>
            <a:prstGeom prst="ellipse">
              <a:avLst/>
            </a:prstGeom>
            <a:solidFill>
              <a:srgbClr val="D9DFEA"/>
            </a:solidFill>
            <a:ln>
              <a:noFill/>
            </a:ln>
          </p:spPr>
        </p:sp>
        <p:sp>
          <p:nvSpPr>
            <p:cNvPr id="69" name="Ellipse 69"/>
            <p:cNvSpPr/>
            <p:nvPr/>
          </p:nvSpPr>
          <p:spPr>
            <a:xfrm>
              <a:off x="6558915" y="2767965"/>
              <a:ext cx="19050" cy="19050"/>
            </a:xfrm>
            <a:prstGeom prst="ellipse">
              <a:avLst/>
            </a:prstGeom>
            <a:solidFill>
              <a:srgbClr val="D9DFEA"/>
            </a:solidFill>
            <a:ln>
              <a:noFill/>
            </a:ln>
          </p:spPr>
        </p:sp>
        <p:sp>
          <p:nvSpPr>
            <p:cNvPr id="70" name="Ellipse 70"/>
            <p:cNvSpPr/>
            <p:nvPr/>
          </p:nvSpPr>
          <p:spPr>
            <a:xfrm>
              <a:off x="10448925" y="5567362"/>
              <a:ext cx="19050" cy="19050"/>
            </a:xfrm>
            <a:prstGeom prst="ellipse">
              <a:avLst/>
            </a:prstGeom>
            <a:solidFill>
              <a:srgbClr val="D9DFEA"/>
            </a:solidFill>
            <a:ln>
              <a:noFill/>
            </a:ln>
          </p:spPr>
        </p:sp>
        <p:sp>
          <p:nvSpPr>
            <p:cNvPr id="71" name="Ellipse 71"/>
            <p:cNvSpPr/>
            <p:nvPr/>
          </p:nvSpPr>
          <p:spPr>
            <a:xfrm>
              <a:off x="10340340" y="3800475"/>
              <a:ext cx="19050" cy="19050"/>
            </a:xfrm>
            <a:prstGeom prst="ellipse">
              <a:avLst/>
            </a:prstGeom>
            <a:solidFill>
              <a:srgbClr val="D9DFEA"/>
            </a:solidFill>
            <a:ln>
              <a:noFill/>
            </a:ln>
          </p:spPr>
        </p:sp>
        <p:sp>
          <p:nvSpPr>
            <p:cNvPr id="72" name="Ellipse 72"/>
            <p:cNvSpPr/>
            <p:nvPr/>
          </p:nvSpPr>
          <p:spPr>
            <a:xfrm>
              <a:off x="7333298" y="3323272"/>
              <a:ext cx="19050" cy="19050"/>
            </a:xfrm>
            <a:prstGeom prst="ellipse">
              <a:avLst/>
            </a:prstGeom>
            <a:solidFill>
              <a:srgbClr val="D9DFEA"/>
            </a:solidFill>
            <a:ln>
              <a:noFill/>
            </a:ln>
          </p:spPr>
        </p:sp>
        <p:sp>
          <p:nvSpPr>
            <p:cNvPr id="73" name="Ellipse 73"/>
            <p:cNvSpPr/>
            <p:nvPr/>
          </p:nvSpPr>
          <p:spPr>
            <a:xfrm>
              <a:off x="9270682" y="4719638"/>
              <a:ext cx="19050" cy="19050"/>
            </a:xfrm>
            <a:prstGeom prst="ellipse">
              <a:avLst/>
            </a:prstGeom>
            <a:solidFill>
              <a:srgbClr val="D9DFEA"/>
            </a:solidFill>
            <a:ln>
              <a:noFill/>
            </a:ln>
          </p:spPr>
        </p:sp>
        <p:sp>
          <p:nvSpPr>
            <p:cNvPr id="74" name="Ellipse 74"/>
            <p:cNvSpPr/>
            <p:nvPr/>
          </p:nvSpPr>
          <p:spPr>
            <a:xfrm>
              <a:off x="9669780" y="4159568"/>
              <a:ext cx="19050" cy="19050"/>
            </a:xfrm>
            <a:prstGeom prst="ellipse">
              <a:avLst/>
            </a:prstGeom>
            <a:solidFill>
              <a:srgbClr val="D9DFEA"/>
            </a:solidFill>
            <a:ln>
              <a:noFill/>
            </a:ln>
          </p:spPr>
        </p:sp>
        <p:sp>
          <p:nvSpPr>
            <p:cNvPr id="75" name="TextBox 75"/>
            <p:cNvSpPr txBox="1"/>
            <p:nvPr/>
          </p:nvSpPr>
          <p:spPr>
            <a:xfrm>
              <a:off x="9142501" y="3311366"/>
              <a:ext cx="451079" cy="161925"/>
            </a:xfrm>
            <a:prstGeom prst="rect">
              <a:avLst/>
            </a:prstGeom>
            <a:noFill/>
            <a:ln>
              <a:noFill/>
            </a:ln>
          </p:spPr>
          <p:txBody>
            <a:bodyPr wrap="none" lIns="0" tIns="0" rIns="0" bIns="0" anchor="t" anchorCtr="0">
              <a:spAutoFit/>
            </a:bodyPr>
            <a:lstStyle/>
            <a:p>
              <a:pPr algn="r"/>
              <a:r>
                <a:rPr lang="zh-CN" sz="820" dirty="0">
                  <a:solidFill>
                    <a:srgbClr val="5B6475"/>
                  </a:solidFill>
                  <a:latin typeface="+mn-lt"/>
                  <a:ea typeface="+mn-ea"/>
                  <a:cs typeface="+mn-cs"/>
                </a:rPr>
                <a:t>支持向量</a:t>
              </a:r>
            </a:p>
          </p:txBody>
        </p:sp>
        <p:sp>
          <p:nvSpPr>
            <p:cNvPr id="76" name="TextBox 76"/>
            <p:cNvSpPr txBox="1"/>
            <p:nvPr/>
          </p:nvSpPr>
          <p:spPr>
            <a:xfrm>
              <a:off x="7875676" y="4092416"/>
              <a:ext cx="451079" cy="161925"/>
            </a:xfrm>
            <a:prstGeom prst="rect">
              <a:avLst/>
            </a:prstGeom>
            <a:noFill/>
            <a:ln>
              <a:noFill/>
            </a:ln>
          </p:spPr>
          <p:txBody>
            <a:bodyPr wrap="none" lIns="0" tIns="0" rIns="0" bIns="0" anchor="t" anchorCtr="0">
              <a:spAutoFit/>
            </a:bodyPr>
            <a:lstStyle/>
            <a:p>
              <a:pPr algn="r"/>
              <a:r>
                <a:rPr lang="zh-CN" sz="820" dirty="0">
                  <a:solidFill>
                    <a:srgbClr val="5B6475"/>
                  </a:solidFill>
                  <a:latin typeface="+mn-lt"/>
                  <a:ea typeface="+mn-ea"/>
                  <a:cs typeface="+mn-cs"/>
                </a:rPr>
                <a:t>支持向量</a:t>
              </a:r>
            </a:p>
          </p:txBody>
        </p:sp>
        <p:sp>
          <p:nvSpPr>
            <p:cNvPr id="77" name="TextBox 77"/>
            <p:cNvSpPr txBox="1"/>
            <p:nvPr/>
          </p:nvSpPr>
          <p:spPr>
            <a:xfrm>
              <a:off x="10664195" y="1643539"/>
              <a:ext cx="842957" cy="161925"/>
            </a:xfrm>
            <a:prstGeom prst="rect">
              <a:avLst/>
            </a:prstGeom>
            <a:noFill/>
            <a:ln>
              <a:noFill/>
            </a:ln>
          </p:spPr>
          <p:txBody>
            <a:bodyPr wrap="none" lIns="0" tIns="0" rIns="0" bIns="0" anchor="t" anchorCtr="0">
              <a:spAutoFit/>
            </a:bodyPr>
            <a:lstStyle/>
            <a:p>
              <a:pPr algn="r"/>
              <a:r>
                <a:rPr lang="zh-CN" sz="820" dirty="0">
                  <a:solidFill>
                    <a:srgbClr val="0E7C86"/>
                  </a:solidFill>
                  <a:latin typeface="+mn-lt"/>
                  <a:ea typeface="+mn-ea"/>
                  <a:cs typeface="+mn-cs"/>
                </a:rPr>
                <a:t>实线 w·x + b = 0</a:t>
              </a:r>
            </a:p>
          </p:txBody>
        </p:sp>
        <p:sp>
          <p:nvSpPr>
            <p:cNvPr id="78" name="TextBox 78"/>
            <p:cNvSpPr txBox="1"/>
            <p:nvPr/>
          </p:nvSpPr>
          <p:spPr>
            <a:xfrm>
              <a:off x="10603481" y="1894999"/>
              <a:ext cx="903671" cy="161925"/>
            </a:xfrm>
            <a:prstGeom prst="rect">
              <a:avLst/>
            </a:prstGeom>
            <a:noFill/>
            <a:ln>
              <a:noFill/>
            </a:ln>
          </p:spPr>
          <p:txBody>
            <a:bodyPr wrap="none" lIns="0" tIns="0" rIns="0" bIns="0" anchor="t" anchorCtr="0">
              <a:spAutoFit/>
            </a:bodyPr>
            <a:lstStyle/>
            <a:p>
              <a:pPr algn="r"/>
              <a:r>
                <a:rPr lang="zh-CN" sz="820" dirty="0">
                  <a:solidFill>
                    <a:srgbClr val="F26B3A"/>
                  </a:solidFill>
                  <a:latin typeface="+mn-lt"/>
                  <a:ea typeface="+mn-ea"/>
                  <a:cs typeface="+mn-cs"/>
                </a:rPr>
                <a:t>虚线 w·x + b = ±1</a:t>
              </a:r>
            </a:p>
          </p:txBody>
        </p:sp>
        <p:sp>
          <p:nvSpPr>
            <p:cNvPr id="79" name="TextBox 79"/>
            <p:cNvSpPr txBox="1"/>
            <p:nvPr/>
          </p:nvSpPr>
          <p:spPr>
            <a:xfrm>
              <a:off x="11305375" y="3515678"/>
              <a:ext cx="150343" cy="176212"/>
            </a:xfrm>
            <a:prstGeom prst="rect">
              <a:avLst/>
            </a:prstGeom>
            <a:noFill/>
            <a:ln>
              <a:noFill/>
            </a:ln>
          </p:spPr>
          <p:txBody>
            <a:bodyPr wrap="none" lIns="0" tIns="0" rIns="0" bIns="0" anchor="t" anchorCtr="0">
              <a:spAutoFit/>
            </a:bodyPr>
            <a:lstStyle/>
            <a:p>
              <a:pPr algn="r"/>
              <a:r>
                <a:rPr lang="en-US" sz="900" dirty="0">
                  <a:solidFill>
                    <a:srgbClr val="0E7C86"/>
                  </a:solidFill>
                  <a:latin typeface="+mn-lt"/>
                  <a:ea typeface="+mn-ea"/>
                  <a:cs typeface="+mn-cs"/>
                </a:rPr>
                <a:t>C₊</a:t>
              </a:r>
            </a:p>
          </p:txBody>
        </p:sp>
        <p:sp>
          <p:nvSpPr>
            <p:cNvPr id="80" name="TextBox 80"/>
            <p:cNvSpPr txBox="1"/>
            <p:nvPr/>
          </p:nvSpPr>
          <p:spPr>
            <a:xfrm>
              <a:off x="6667500" y="5395912"/>
              <a:ext cx="150343" cy="176212"/>
            </a:xfrm>
            <a:prstGeom prst="rect">
              <a:avLst/>
            </a:prstGeom>
            <a:noFill/>
            <a:ln>
              <a:noFill/>
            </a:ln>
          </p:spPr>
          <p:txBody>
            <a:bodyPr wrap="none" lIns="0" tIns="0" rIns="0" bIns="0" anchor="t" anchorCtr="0">
              <a:spAutoFit/>
            </a:bodyPr>
            <a:lstStyle/>
            <a:p>
              <a:pPr algn="l"/>
              <a:r>
                <a:rPr lang="en-US" sz="900" dirty="0">
                  <a:solidFill>
                    <a:srgbClr val="B42318"/>
                  </a:solidFill>
                  <a:latin typeface="+mn-lt"/>
                  <a:ea typeface="+mn-ea"/>
                  <a:cs typeface="+mn-cs"/>
                </a:rPr>
                <a:t>C₋</a:t>
              </a:r>
            </a:p>
          </p:txBody>
        </p:sp>
        <p:sp>
          <p:nvSpPr>
            <p:cNvPr id="81" name="TextBox 81"/>
            <p:cNvSpPr txBox="1"/>
            <p:nvPr/>
          </p:nvSpPr>
          <p:spPr>
            <a:xfrm>
              <a:off x="9639315" y="3816191"/>
              <a:ext cx="440040" cy="161925"/>
            </a:xfrm>
            <a:prstGeom prst="rect">
              <a:avLst/>
            </a:prstGeom>
            <a:noFill/>
            <a:ln>
              <a:noFill/>
            </a:ln>
          </p:spPr>
          <p:txBody>
            <a:bodyPr wrap="none" lIns="0" tIns="0" rIns="0" bIns="0" anchor="t" anchorCtr="0">
              <a:spAutoFit/>
            </a:bodyPr>
            <a:lstStyle/>
            <a:p>
              <a:pPr algn="r"/>
              <a:r>
                <a:rPr lang="el-GR" sz="820" dirty="0">
                  <a:solidFill>
                    <a:srgbClr val="B42318"/>
                  </a:solidFill>
                  <a:latin typeface="+mn-lt"/>
                  <a:ea typeface="+mn-ea"/>
                  <a:cs typeface="+mn-cs"/>
                </a:rPr>
                <a:t>ξᵢ = 0.5</a:t>
              </a:r>
            </a:p>
          </p:txBody>
        </p:sp>
        <p:sp>
          <p:nvSpPr>
            <p:cNvPr id="82" name="TextBox 82"/>
            <p:cNvSpPr txBox="1"/>
            <p:nvPr/>
          </p:nvSpPr>
          <p:spPr>
            <a:xfrm>
              <a:off x="7119953" y="2688431"/>
              <a:ext cx="440040" cy="161925"/>
            </a:xfrm>
            <a:prstGeom prst="rect">
              <a:avLst/>
            </a:prstGeom>
            <a:noFill/>
            <a:ln>
              <a:noFill/>
            </a:ln>
          </p:spPr>
          <p:txBody>
            <a:bodyPr wrap="none" lIns="0" tIns="0" rIns="0" bIns="0" anchor="t" anchorCtr="0">
              <a:spAutoFit/>
            </a:bodyPr>
            <a:lstStyle/>
            <a:p>
              <a:pPr algn="r"/>
              <a:r>
                <a:rPr lang="el-GR" sz="820" dirty="0">
                  <a:solidFill>
                    <a:srgbClr val="B42318"/>
                  </a:solidFill>
                  <a:latin typeface="+mn-lt"/>
                  <a:ea typeface="+mn-ea"/>
                  <a:cs typeface="+mn-cs"/>
                </a:rPr>
                <a:t>ξⱼ = 1.6</a:t>
              </a:r>
            </a:p>
          </p:txBody>
        </p:sp>
        <p:sp>
          <p:nvSpPr>
            <p:cNvPr id="83" name="TextBox 83"/>
            <p:cNvSpPr txBox="1"/>
            <p:nvPr/>
          </p:nvSpPr>
          <p:spPr>
            <a:xfrm>
              <a:off x="9731692" y="4526756"/>
              <a:ext cx="335171" cy="161925"/>
            </a:xfrm>
            <a:prstGeom prst="rect">
              <a:avLst/>
            </a:prstGeom>
            <a:noFill/>
            <a:ln>
              <a:noFill/>
            </a:ln>
          </p:spPr>
          <p:txBody>
            <a:bodyPr wrap="none" lIns="0" tIns="0" rIns="0" bIns="0" anchor="t" anchorCtr="0">
              <a:spAutoFit/>
            </a:bodyPr>
            <a:lstStyle/>
            <a:p>
              <a:pPr algn="l"/>
              <a:r>
                <a:rPr lang="en-US" sz="820" dirty="0">
                  <a:solidFill>
                    <a:srgbClr val="14A38B"/>
                  </a:solidFill>
                  <a:latin typeface="+mn-lt"/>
                  <a:ea typeface="+mn-ea"/>
                  <a:cs typeface="+mn-cs"/>
                </a:rPr>
                <a:t>1/‖w‖</a:t>
              </a:r>
            </a:p>
          </p:txBody>
        </p:sp>
      </p:grpSp>
      <p:grpSp>
        <p:nvGrpSpPr>
          <p:cNvPr id="90" name="takeaway"/>
          <p:cNvGrpSpPr/>
          <p:nvPr/>
        </p:nvGrpSpPr>
        <p:grpSpPr>
          <a:xfrm>
            <a:off x="533400" y="5874068"/>
            <a:ext cx="11125200" cy="488632"/>
            <a:chOff x="533400" y="5874068"/>
            <a:chExt cx="11125200" cy="488632"/>
          </a:xfrm>
        </p:grpSpPr>
        <p:sp>
          <p:nvSpPr>
            <p:cNvPr id="85" name="Rectangle 85"/>
            <p:cNvSpPr/>
            <p:nvPr/>
          </p:nvSpPr>
          <p:spPr>
            <a:xfrm>
              <a:off x="533400" y="5874068"/>
              <a:ext cx="11125200" cy="488632"/>
            </a:xfrm>
            <a:prstGeom prst="roundRect">
              <a:avLst>
                <a:gd name="adj" fmla="val 23392"/>
              </a:avLst>
            </a:prstGeom>
            <a:solidFill>
              <a:srgbClr val="0E7C86"/>
            </a:solidFill>
            <a:ln>
              <a:noFill/>
            </a:ln>
          </p:spPr>
        </p:sp>
        <p:grpSp>
          <p:nvGrpSpPr>
            <p:cNvPr id="88" name="Group 88"/>
            <p:cNvGrpSpPr/>
            <p:nvPr/>
          </p:nvGrpSpPr>
          <p:grpSpPr>
            <a:xfrm>
              <a:off x="738188" y="6017897"/>
              <a:ext cx="200023" cy="200023"/>
              <a:chOff x="738188" y="6017897"/>
              <a:chExt cx="200023" cy="200023"/>
            </a:xfrm>
          </p:grpSpPr>
          <p:sp>
            <p:nvSpPr>
              <p:cNvPr id="86" name="Freeform 86"/>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7" name="Freeform 87"/>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9" name="TextBox 89"/>
            <p:cNvSpPr txBox="1"/>
            <p:nvPr/>
          </p:nvSpPr>
          <p:spPr>
            <a:xfrm>
              <a:off x="1040892" y="6023610"/>
              <a:ext cx="72286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ξᵢ 不是自由参数，它由 (w, b) 唯一确定；写进优化问题只是为了把 max 写成线性约束。</a:t>
              </a:r>
            </a:p>
          </p:txBody>
        </p:sp>
      </p:grpSp>
      <p:grpSp>
        <p:nvGrpSpPr>
          <p:cNvPr id="93" name="footer"/>
          <p:cNvGrpSpPr/>
          <p:nvPr/>
        </p:nvGrpSpPr>
        <p:grpSpPr>
          <a:xfrm>
            <a:off x="528447" y="6581299"/>
            <a:ext cx="11135106" cy="190690"/>
            <a:chOff x="528447" y="6581299"/>
            <a:chExt cx="11135106" cy="190690"/>
          </a:xfrm>
        </p:grpSpPr>
        <p:sp>
          <p:nvSpPr>
            <p:cNvPr id="91" name="TextBox 9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92" name="TextBox 9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线性支持向量机：软间隔最大化</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软间隔的原问题：间隔要宽，越界要少</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410200" cy="2352675"/>
            <a:chOff x="533400" y="1524000"/>
            <a:chExt cx="5410200" cy="2352675"/>
          </a:xfrm>
        </p:grpSpPr>
        <p:sp>
          <p:nvSpPr>
            <p:cNvPr id="7" name="Rectangle 7"/>
            <p:cNvSpPr/>
            <p:nvPr/>
          </p:nvSpPr>
          <p:spPr>
            <a:xfrm>
              <a:off x="533400" y="1524000"/>
              <a:ext cx="5410200" cy="2352675"/>
            </a:xfrm>
            <a:prstGeom prst="roundRect">
              <a:avLst>
                <a:gd name="adj" fmla="val 5668"/>
              </a:avLst>
            </a:prstGeom>
            <a:solidFill>
              <a:srgbClr val="0E7C86"/>
            </a:solidFill>
            <a:ln>
              <a:noFill/>
            </a:ln>
          </p:spPr>
        </p:sp>
        <p:sp>
          <p:nvSpPr>
            <p:cNvPr id="8" name="Rectangle 8"/>
            <p:cNvSpPr/>
            <p:nvPr/>
          </p:nvSpPr>
          <p:spPr>
            <a:xfrm>
              <a:off x="725805" y="1716405"/>
              <a:ext cx="609600" cy="247650"/>
            </a:xfrm>
            <a:prstGeom prst="roundRect">
              <a:avLst>
                <a:gd name="adj" fmla="val 50000"/>
              </a:avLst>
            </a:prstGeom>
            <a:solidFill>
              <a:srgbClr val="0B5F67"/>
            </a:solidFill>
            <a:ln>
              <a:noFill/>
            </a:ln>
          </p:spPr>
        </p:sp>
        <p:sp>
          <p:nvSpPr>
            <p:cNvPr id="9" name="TextBox 9"/>
            <p:cNvSpPr txBox="1"/>
            <p:nvPr/>
          </p:nvSpPr>
          <p:spPr>
            <a:xfrm>
              <a:off x="813244" y="1750695"/>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原问题</a:t>
              </a:r>
            </a:p>
          </p:txBody>
        </p:sp>
        <p:sp>
          <p:nvSpPr>
            <p:cNvPr id="10" name="TextBox 10"/>
            <p:cNvSpPr txBox="1"/>
            <p:nvPr/>
          </p:nvSpPr>
          <p:spPr>
            <a:xfrm>
              <a:off x="1442847" y="1756410"/>
              <a:ext cx="164934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目标里多了一项惩罚</a:t>
              </a:r>
            </a:p>
          </p:txBody>
        </p:sp>
        <mc:AlternateContent xmlns:mc="http://schemas.openxmlformats.org/markup-compatibility/2006">
          <mc:Choice xmlns:a14="http://schemas.microsoft.com/office/drawing/2010/main" Requires="a14">
            <p:sp>
              <p:nvSpPr>
                <p:cNvPr id="11" name="formula159"/>
                <p:cNvSpPr txBox="1">
                  <a:spLocks noGrp="1"/>
                </p:cNvSpPr>
                <p:nvPr/>
              </p:nvSpPr>
              <p:spPr>
                <a:xfrm>
                  <a:off x="725805" y="2067878"/>
                  <a:ext cx="5025390" cy="6286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500" dirty="0">
                                    <a:solidFill>
                                      <a:srgbClr val="FFFFFF"/>
                                    </a:solidFill>
                                    <a:latin typeface="Cambria Math"/>
                                    <a:ea typeface="Cambria Math"/>
                                    <a:cs typeface="Cambria Math"/>
                                  </a:rPr>
                                  <m:t>min</m:t>
                                </m:r>
                              </m:e>
                              <m:lim>
                                <m:r>
                                  <a:rPr lang="zh-CN" sz="1500" dirty="0">
                                    <a:solidFill>
                                      <a:srgbClr val="FFFFFF"/>
                                    </a:solidFill>
                                    <a:latin typeface="Cambria Math"/>
                                    <a:ea typeface="Cambria Math"/>
                                    <a:cs typeface="Cambria Math"/>
                                  </a:rPr>
                                  <m:t>w</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b</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ξ</m:t>
                                </m:r>
                              </m:lim>
                            </m:limLow>
                          </m:fName>
                          <m:e>
                            <m:r>
                              <a:rPr lang="zh-CN" sz="1500" dirty="0">
                                <a:solidFill>
                                  <a:srgbClr val="FFFFFF"/>
                                </a:solidFill>
                                <a:latin typeface="Cambria Math"/>
                                <a:ea typeface="Cambria Math"/>
                                <a:cs typeface="Cambria Math"/>
                              </a:rPr>
                              <m:t xml:space="preserve"> </m:t>
                            </m:r>
                            <m:f>
                              <m:fPr>
                                <m:type m:val="bar"/>
                                <m:ctrlPr>
                                  <a:rPr lang="zh-CN" sz="1500" dirty="0">
                                    <a:solidFill>
                                      <a:srgbClr val="FFFFFF"/>
                                    </a:solidFill>
                                    <a:latin typeface="Cambria Math"/>
                                    <a:ea typeface="Cambria Math"/>
                                    <a:cs typeface="Cambria Math"/>
                                  </a:rPr>
                                </m:ctrlPr>
                              </m:fPr>
                              <m:num>
                                <m:r>
                                  <a:rPr lang="zh-CN" sz="1500" dirty="0">
                                    <a:solidFill>
                                      <a:srgbClr val="FFFFFF"/>
                                    </a:solidFill>
                                    <a:latin typeface="Cambria Math"/>
                                    <a:ea typeface="Cambria Math"/>
                                    <a:cs typeface="Cambria Math"/>
                                  </a:rPr>
                                  <m:t>1</m:t>
                                </m:r>
                              </m:num>
                              <m:den>
                                <m:r>
                                  <a:rPr lang="zh-CN" sz="1500" dirty="0">
                                    <a:solidFill>
                                      <a:srgbClr val="FFFFFF"/>
                                    </a:solidFill>
                                    <a:latin typeface="Cambria Math"/>
                                    <a:ea typeface="Cambria Math"/>
                                    <a:cs typeface="Cambria Math"/>
                                  </a:rPr>
                                  <m:t>2</m:t>
                                </m:r>
                              </m:den>
                            </m:f>
                            <m:sSup>
                              <m:e>
                                <m:d>
                                  <m:dPr>
                                    <m:begChr m:val="‖"/>
                                    <m:sepChr m:val=""/>
                                    <m:endChr m:val="‖"/>
                                    <m:grow m:val="on"/>
                                    <m:ctrlPr>
                                      <a:rPr lang="zh-CN" sz="1500" dirty="0">
                                        <a:solidFill>
                                          <a:srgbClr val="FFFFFF"/>
                                        </a:solidFill>
                                        <a:latin typeface="Cambria Math"/>
                                        <a:ea typeface="Cambria Math"/>
                                        <a:cs typeface="Cambria Math"/>
                                      </a:rPr>
                                    </m:ctrlPr>
                                  </m:dPr>
                                  <m:e>
                                    <m:r>
                                      <a:rPr lang="zh-CN" sz="1500" dirty="0">
                                        <a:solidFill>
                                          <a:srgbClr val="FFFFFF"/>
                                        </a:solidFill>
                                        <a:latin typeface="Cambria Math"/>
                                        <a:ea typeface="Cambria Math"/>
                                        <a:cs typeface="Cambria Math"/>
                                      </a:rPr>
                                      <m:t>w</m:t>
                                    </m:r>
                                  </m:e>
                                </m:d>
                              </m:e>
                              <m:sup>
                                <m:r>
                                  <a:rPr lang="zh-CN" sz="1500" dirty="0">
                                    <a:solidFill>
                                      <a:srgbClr val="FFFFFF"/>
                                    </a:solidFill>
                                    <a:latin typeface="Cambria Math"/>
                                    <a:ea typeface="Cambria Math"/>
                                    <a:cs typeface="Cambria Math"/>
                                  </a:rPr>
                                  <m:t>2</m:t>
                                </m:r>
                              </m:sup>
                            </m:sSup>
                          </m:e>
                        </m:func>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C</m:t>
                        </m:r>
                        <m:nary>
                          <m:naryPr>
                            <m:chr m:val="∑"/>
                            <m:limLoc m:val="undOvr"/>
                            <m:grow m:val="off"/>
                            <m:subHide m:val="off"/>
                            <m:supHide m:val="off"/>
                            <m:ctrlPr>
                              <a:rPr lang="zh-CN" sz="1500" dirty="0">
                                <a:solidFill>
                                  <a:srgbClr val="FFFFFF"/>
                                </a:solidFill>
                                <a:latin typeface="Cambria Math"/>
                                <a:ea typeface="Cambria Math"/>
                                <a:cs typeface="Cambria Math"/>
                              </a:rPr>
                            </m:ctrlPr>
                          </m:naryPr>
                          <m:sub>
                            <m:r>
                              <a:rPr lang="zh-CN" sz="1500" dirty="0">
                                <a:solidFill>
                                  <a:srgbClr val="FFFFFF"/>
                                </a:solidFill>
                                <a:latin typeface="Cambria Math"/>
                                <a:ea typeface="Cambria Math"/>
                                <a:cs typeface="Cambria Math"/>
                              </a:rPr>
                              <m:t>i</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1</m:t>
                            </m:r>
                          </m:sub>
                          <m:sup>
                            <m:r>
                              <a:rPr lang="zh-CN" sz="1500" dirty="0">
                                <a:solidFill>
                                  <a:srgbClr val="FFFFFF"/>
                                </a:solidFill>
                                <a:latin typeface="Cambria Math"/>
                                <a:ea typeface="Cambria Math"/>
                                <a:cs typeface="Cambria Math"/>
                              </a:rPr>
                              <m:t>N</m:t>
                            </m:r>
                          </m:sup>
                          <m:e>
                            <m:sSub>
                              <m:e>
                                <m:r>
                                  <a:rPr lang="zh-CN" sz="1500" dirty="0">
                                    <a:solidFill>
                                      <a:srgbClr val="FFFFFF"/>
                                    </a:solidFill>
                                    <a:latin typeface="Cambria Math"/>
                                    <a:ea typeface="Cambria Math"/>
                                    <a:cs typeface="Cambria Math"/>
                                  </a:rPr>
                                  <m:t>ξ</m:t>
                                </m:r>
                              </m:e>
                              <m:sub>
                                <m:r>
                                  <a:rPr lang="zh-CN" sz="1500" dirty="0">
                                    <a:solidFill>
                                      <a:srgbClr val="FFFFFF"/>
                                    </a:solidFill>
                                    <a:latin typeface="Cambria Math"/>
                                    <a:ea typeface="Cambria Math"/>
                                    <a:cs typeface="Cambria Math"/>
                                  </a:rPr>
                                  <m:t>i</m:t>
                                </m:r>
                              </m:sub>
                            </m:sSub>
                          </m:e>
                        </m:nary>
                      </m:oMath>
                    </m:oMathPara>
                  </a14:m>
                </a:p>
              </p:txBody>
            </p:sp>
          </mc:Choice>
        </mc:AlternateContent>
        <mc:AlternateContent xmlns:mc="http://schemas.openxmlformats.org/markup-compatibility/2006">
          <mc:Choice xmlns:a14="http://schemas.microsoft.com/office/drawing/2010/main" Requires="a14">
            <p:sp>
              <p:nvSpPr>
                <p:cNvPr id="12" name="formula160"/>
                <p:cNvSpPr txBox="1">
                  <a:spLocks noGrp="1"/>
                </p:cNvSpPr>
                <p:nvPr/>
              </p:nvSpPr>
              <p:spPr>
                <a:xfrm>
                  <a:off x="725805" y="2783205"/>
                  <a:ext cx="502539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280" dirty="0">
                            <a:solidFill>
                              <a:srgbClr val="FFFFFF"/>
                            </a:solidFill>
                            <a:latin typeface="Cambria Math"/>
                            <a:ea typeface="Cambria Math"/>
                            <a:cs typeface="Cambria Math"/>
                          </a:rPr>
                          <m:t>s.t.</m:t>
                        </m:r>
                        <m:r>
                          <a:rPr lang="zh-CN" sz="1280" dirty="0">
                            <a:solidFill>
                              <a:srgbClr val="FFFFFF"/>
                            </a:solidFill>
                            <a:latin typeface="Cambria Math"/>
                            <a:ea typeface="Cambria Math"/>
                            <a:cs typeface="Cambria Math"/>
                          </a:rPr>
                          <m:t xml:space="preserve"> </m:t>
                        </m:r>
                        <m:r>
                          <a:rPr lang="zh-CN" sz="1280" dirty="0">
                            <a:solidFill>
                              <a:srgbClr val="FFFFFF"/>
                            </a:solidFill>
                            <a:latin typeface="Cambria Math"/>
                            <a:ea typeface="Cambria Math"/>
                            <a:cs typeface="Cambria Math"/>
                          </a:rPr>
                          <m:t>1</m:t>
                        </m:r>
                        <m:r>
                          <m:rPr>
                            <m:sty m:val="p"/>
                          </m:rPr>
                          <a:rPr lang="zh-CN" sz="1280" dirty="0">
                            <a:solidFill>
                              <a:srgbClr val="FFFFFF"/>
                            </a:solidFill>
                            <a:latin typeface="Cambria Math"/>
                            <a:ea typeface="Cambria Math"/>
                            <a:cs typeface="Cambria Math"/>
                          </a:rPr>
                          <m:t>−</m:t>
                        </m:r>
                        <m:sSub>
                          <m:e>
                            <m:r>
                              <a:rPr lang="zh-CN" sz="1280" dirty="0">
                                <a:solidFill>
                                  <a:srgbClr val="FFFFFF"/>
                                </a:solidFill>
                                <a:latin typeface="Cambria Math"/>
                                <a:ea typeface="Cambria Math"/>
                                <a:cs typeface="Cambria Math"/>
                              </a:rPr>
                              <m:t>y</m:t>
                            </m:r>
                          </m:e>
                          <m:sub>
                            <m:r>
                              <a:rPr lang="zh-CN" sz="1280" dirty="0">
                                <a:solidFill>
                                  <a:srgbClr val="FFFFFF"/>
                                </a:solidFill>
                                <a:latin typeface="Cambria Math"/>
                                <a:ea typeface="Cambria Math"/>
                                <a:cs typeface="Cambria Math"/>
                              </a:rPr>
                              <m:t>i</m:t>
                            </m:r>
                          </m:sub>
                        </m:sSub>
                        <m:d>
                          <m:dPr>
                            <m:begChr m:val="("/>
                            <m:sepChr m:val=""/>
                            <m:endChr m:val=")"/>
                            <m:grow m:val="on"/>
                            <m:ctrlPr>
                              <a:rPr lang="zh-CN" sz="1280" dirty="0">
                                <a:solidFill>
                                  <a:srgbClr val="FFFFFF"/>
                                </a:solidFill>
                                <a:latin typeface="Cambria Math"/>
                                <a:ea typeface="Cambria Math"/>
                                <a:cs typeface="Cambria Math"/>
                              </a:rPr>
                            </m:ctrlPr>
                          </m:dPr>
                          <m:e>
                            <m:r>
                              <a:rPr lang="zh-CN" sz="1280" dirty="0">
                                <a:solidFill>
                                  <a:srgbClr val="FFFFFF"/>
                                </a:solidFill>
                                <a:latin typeface="Cambria Math"/>
                                <a:ea typeface="Cambria Math"/>
                                <a:cs typeface="Cambria Math"/>
                              </a:rPr>
                              <m:t>w</m:t>
                            </m:r>
                            <m:r>
                              <m:rPr>
                                <m:sty m:val="p"/>
                              </m:rPr>
                              <a:rPr lang="zh-CN" sz="1280" dirty="0">
                                <a:solidFill>
                                  <a:srgbClr val="FFFFFF"/>
                                </a:solidFill>
                                <a:latin typeface="Cambria Math"/>
                                <a:ea typeface="Cambria Math"/>
                                <a:cs typeface="Cambria Math"/>
                              </a:rPr>
                              <m:t>⋅</m:t>
                            </m:r>
                            <m:sSub>
                              <m:e>
                                <m:r>
                                  <a:rPr lang="zh-CN" sz="1280" dirty="0">
                                    <a:solidFill>
                                      <a:srgbClr val="FFFFFF"/>
                                    </a:solidFill>
                                    <a:latin typeface="Cambria Math"/>
                                    <a:ea typeface="Cambria Math"/>
                                    <a:cs typeface="Cambria Math"/>
                                  </a:rPr>
                                  <m:t>x</m:t>
                                </m:r>
                              </m:e>
                              <m:sub>
                                <m:r>
                                  <a:rPr lang="zh-CN" sz="1280" dirty="0">
                                    <a:solidFill>
                                      <a:srgbClr val="FFFFFF"/>
                                    </a:solidFill>
                                    <a:latin typeface="Cambria Math"/>
                                    <a:ea typeface="Cambria Math"/>
                                    <a:cs typeface="Cambria Math"/>
                                  </a:rPr>
                                  <m:t>i</m:t>
                                </m:r>
                              </m:sub>
                            </m:sSub>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b</m:t>
                            </m:r>
                          </m:e>
                        </m:d>
                        <m:r>
                          <m:rPr>
                            <m:sty m:val="p"/>
                          </m:rPr>
                          <a:rPr lang="zh-CN" sz="1280" dirty="0">
                            <a:solidFill>
                              <a:srgbClr val="FFFFFF"/>
                            </a:solidFill>
                            <a:latin typeface="Cambria Math"/>
                            <a:ea typeface="Cambria Math"/>
                            <a:cs typeface="Cambria Math"/>
                          </a:rPr>
                          <m:t>−</m:t>
                        </m:r>
                        <m:sSub>
                          <m:e>
                            <m:r>
                              <a:rPr lang="zh-CN" sz="1280" dirty="0">
                                <a:solidFill>
                                  <a:srgbClr val="FFFFFF"/>
                                </a:solidFill>
                                <a:latin typeface="Cambria Math"/>
                                <a:ea typeface="Cambria Math"/>
                                <a:cs typeface="Cambria Math"/>
                              </a:rPr>
                              <m:t>ξ</m:t>
                            </m:r>
                          </m:e>
                          <m:sub>
                            <m:r>
                              <a:rPr lang="zh-CN" sz="1280" dirty="0">
                                <a:solidFill>
                                  <a:srgbClr val="FFFFFF"/>
                                </a:solidFill>
                                <a:latin typeface="Cambria Math"/>
                                <a:ea typeface="Cambria Math"/>
                                <a:cs typeface="Cambria Math"/>
                              </a:rPr>
                              <m:t>i</m:t>
                            </m:r>
                          </m:sub>
                        </m:sSub>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0</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 xml:space="preserve">  </m:t>
                        </m:r>
                        <m:sSub>
                          <m:e>
                            <m:r>
                              <a:rPr lang="zh-CN" sz="1280" dirty="0">
                                <a:solidFill>
                                  <a:srgbClr val="FFFFFF"/>
                                </a:solidFill>
                                <a:latin typeface="Cambria Math"/>
                                <a:ea typeface="Cambria Math"/>
                                <a:cs typeface="Cambria Math"/>
                              </a:rPr>
                              <m:t>ξ</m:t>
                            </m:r>
                          </m:e>
                          <m:sub>
                            <m:r>
                              <a:rPr lang="zh-CN" sz="1280" dirty="0">
                                <a:solidFill>
                                  <a:srgbClr val="FFFFFF"/>
                                </a:solidFill>
                                <a:latin typeface="Cambria Math"/>
                                <a:ea typeface="Cambria Math"/>
                                <a:cs typeface="Cambria Math"/>
                              </a:rPr>
                              <m:t>i</m:t>
                            </m:r>
                          </m:sub>
                        </m:sSub>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0</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 xml:space="preserve">  </m:t>
                        </m:r>
                        <m:r>
                          <a:rPr lang="zh-CN" sz="1280" dirty="0">
                            <a:solidFill>
                              <a:srgbClr val="FFFFFF"/>
                            </a:solidFill>
                            <a:latin typeface="Cambria Math"/>
                            <a:ea typeface="Cambria Math"/>
                            <a:cs typeface="Cambria Math"/>
                          </a:rPr>
                          <m:t>i</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1</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2</m:t>
                        </m:r>
                        <m:r>
                          <m:rPr>
                            <m:sty m:val="p"/>
                          </m:rPr>
                          <a:rPr lang="zh-CN" sz="1280" dirty="0">
                            <a:solidFill>
                              <a:srgbClr val="FFFFFF"/>
                            </a:solidFill>
                            <a:latin typeface="Cambria Math"/>
                            <a:ea typeface="Cambria Math"/>
                            <a:cs typeface="Cambria Math"/>
                          </a:rPr>
                          <m:t>,⋯,</m:t>
                        </m:r>
                        <m:r>
                          <a:rPr lang="zh-CN" sz="1280" dirty="0">
                            <a:solidFill>
                              <a:srgbClr val="FFFFFF"/>
                            </a:solidFill>
                            <a:latin typeface="Cambria Math"/>
                            <a:ea typeface="Cambria Math"/>
                            <a:cs typeface="Cambria Math"/>
                          </a:rPr>
                          <m:t>N</m:t>
                        </m:r>
                      </m:oMath>
                    </m:oMathPara>
                  </a14:m>
                </a:p>
              </p:txBody>
            </p:sp>
          </mc:Choice>
        </mc:AlternateContent>
        <p:sp>
          <p:nvSpPr>
            <p:cNvPr id="13" name="TextBox 13"/>
            <p:cNvSpPr txBox="1"/>
            <p:nvPr/>
          </p:nvSpPr>
          <p:spPr>
            <a:xfrm>
              <a:off x="718947" y="3216592"/>
              <a:ext cx="462572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C &gt; 0 称为</a:t>
              </a:r>
              <a:r>
                <a:rPr lang="zh-CN" sz="1350" b="1" dirty="0">
                  <a:solidFill>
                    <a:srgbClr val="FFD58A"/>
                  </a:solidFill>
                  <a:latin typeface="+mn-lt"/>
                  <a:ea typeface="+mn-ea"/>
                  <a:cs typeface="+mn-cs"/>
                </a:rPr>
                <a:t>惩罚参数</a:t>
              </a:r>
              <a:r>
                <a:rPr lang="zh-CN" sz="1350" dirty="0">
                  <a:solidFill>
                    <a:srgbClr val="FFFFFF"/>
                  </a:solidFill>
                  <a:latin typeface="+mn-lt"/>
                  <a:ea typeface="+mn-ea"/>
                  <a:cs typeface="+mn-cs"/>
                </a:rPr>
                <a:t>，由实际问题决定。½||w||² 小意味着间隔</a:t>
              </a:r>
              <a:br/>
              <a:r>
                <a:rPr lang="zh-CN" sz="1350" dirty="0">
                  <a:solidFill>
                    <a:srgbClr val="FFFFFF"/>
                  </a:solidFill>
                  <a:latin typeface="+mn-lt"/>
                  <a:ea typeface="+mn-ea"/>
                  <a:cs typeface="+mn-cs"/>
                </a:rPr>
                <a:t>大，CΣξᵢ 小意味着越界的点少、越界的程度轻。</a:t>
              </a:r>
            </a:p>
          </p:txBody>
        </p:sp>
      </p:grpSp>
      <p:grpSp>
        <p:nvGrpSpPr>
          <p:cNvPr id="35" name="c1-compare-2"/>
          <p:cNvGrpSpPr/>
          <p:nvPr/>
        </p:nvGrpSpPr>
        <p:grpSpPr>
          <a:xfrm>
            <a:off x="533400" y="4051935"/>
            <a:ext cx="5410200" cy="1543050"/>
            <a:chOff x="533400" y="4051935"/>
            <a:chExt cx="5410200" cy="1543050"/>
          </a:xfrm>
        </p:grpSpPr>
        <p:sp>
          <p:nvSpPr>
            <p:cNvPr id="15" name="Rectangle 15"/>
            <p:cNvSpPr/>
            <p:nvPr/>
          </p:nvSpPr>
          <p:spPr>
            <a:xfrm>
              <a:off x="533400" y="4051935"/>
              <a:ext cx="2495550" cy="1543050"/>
            </a:xfrm>
            <a:prstGeom prst="roundRect">
              <a:avLst>
                <a:gd name="adj" fmla="val 8642"/>
              </a:avLst>
            </a:prstGeom>
            <a:solidFill>
              <a:srgbClr val="FFFFFF"/>
            </a:solidFill>
            <a:ln w="14288">
              <a:solidFill>
                <a:srgbClr val="D9DFEA"/>
              </a:solidFill>
            </a:ln>
          </p:spPr>
        </p:sp>
        <p:sp>
          <p:nvSpPr>
            <p:cNvPr id="16" name="Rectangle 16"/>
            <p:cNvSpPr/>
            <p:nvPr/>
          </p:nvSpPr>
          <p:spPr>
            <a:xfrm>
              <a:off x="542925" y="4185285"/>
              <a:ext cx="47625" cy="1276350"/>
            </a:xfrm>
            <a:prstGeom prst="roundRect">
              <a:avLst>
                <a:gd name="adj" fmla="val 50000"/>
              </a:avLst>
            </a:prstGeom>
            <a:solidFill>
              <a:srgbClr val="B42318"/>
            </a:solidFill>
            <a:ln>
              <a:noFill/>
            </a:ln>
          </p:spPr>
        </p:sp>
        <p:sp>
          <p:nvSpPr>
            <p:cNvPr id="17" name="TextBox 17"/>
            <p:cNvSpPr txBox="1"/>
            <p:nvPr/>
          </p:nvSpPr>
          <p:spPr>
            <a:xfrm>
              <a:off x="757047" y="4266248"/>
              <a:ext cx="5485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C 很大</a:t>
              </a:r>
            </a:p>
          </p:txBody>
        </p:sp>
        <p:sp>
          <p:nvSpPr>
            <p:cNvPr id="18" name="Ellipse 18"/>
            <p:cNvSpPr/>
            <p:nvPr/>
          </p:nvSpPr>
          <p:spPr>
            <a:xfrm>
              <a:off x="772478" y="4642485"/>
              <a:ext cx="59055" cy="59055"/>
            </a:xfrm>
            <a:prstGeom prst="ellipse">
              <a:avLst/>
            </a:prstGeom>
            <a:solidFill>
              <a:srgbClr val="0E7C86"/>
            </a:solidFill>
            <a:ln>
              <a:noFill/>
            </a:ln>
          </p:spPr>
        </p:sp>
        <p:sp>
          <p:nvSpPr>
            <p:cNvPr id="19" name="TextBox 19"/>
            <p:cNvSpPr txBox="1"/>
            <p:nvPr/>
          </p:nvSpPr>
          <p:spPr>
            <a:xfrm>
              <a:off x="928497" y="4586288"/>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几乎不许越界</a:t>
              </a:r>
            </a:p>
          </p:txBody>
        </p:sp>
        <p:sp>
          <p:nvSpPr>
            <p:cNvPr id="20" name="Ellipse 20"/>
            <p:cNvSpPr/>
            <p:nvPr/>
          </p:nvSpPr>
          <p:spPr>
            <a:xfrm>
              <a:off x="772478" y="4945380"/>
              <a:ext cx="59055" cy="59055"/>
            </a:xfrm>
            <a:prstGeom prst="ellipse">
              <a:avLst/>
            </a:prstGeom>
            <a:solidFill>
              <a:srgbClr val="0E7C86"/>
            </a:solidFill>
            <a:ln>
              <a:noFill/>
            </a:ln>
          </p:spPr>
        </p:sp>
        <p:sp>
          <p:nvSpPr>
            <p:cNvPr id="21" name="TextBox 21"/>
            <p:cNvSpPr txBox="1"/>
            <p:nvPr/>
          </p:nvSpPr>
          <p:spPr>
            <a:xfrm>
              <a:off x="928497" y="4889183"/>
              <a:ext cx="55892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间隔窄</a:t>
              </a:r>
            </a:p>
          </p:txBody>
        </p:sp>
        <p:sp>
          <p:nvSpPr>
            <p:cNvPr id="22" name="Ellipse 22"/>
            <p:cNvSpPr/>
            <p:nvPr/>
          </p:nvSpPr>
          <p:spPr>
            <a:xfrm>
              <a:off x="772478" y="5247322"/>
              <a:ext cx="59055" cy="59055"/>
            </a:xfrm>
            <a:prstGeom prst="ellipse">
              <a:avLst/>
            </a:prstGeom>
            <a:solidFill>
              <a:srgbClr val="0E7C86"/>
            </a:solidFill>
            <a:ln>
              <a:noFill/>
            </a:ln>
          </p:spPr>
        </p:sp>
        <p:sp>
          <p:nvSpPr>
            <p:cNvPr id="23" name="TextBox 23"/>
            <p:cNvSpPr txBox="1"/>
            <p:nvPr/>
          </p:nvSpPr>
          <p:spPr>
            <a:xfrm>
              <a:off x="928497" y="5191125"/>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容易过学习</a:t>
              </a:r>
            </a:p>
          </p:txBody>
        </p:sp>
        <p:sp>
          <p:nvSpPr>
            <p:cNvPr id="24" name="Rectangle 24"/>
            <p:cNvSpPr/>
            <p:nvPr/>
          </p:nvSpPr>
          <p:spPr>
            <a:xfrm>
              <a:off x="3448050" y="4051935"/>
              <a:ext cx="2495550" cy="1543050"/>
            </a:xfrm>
            <a:prstGeom prst="roundRect">
              <a:avLst>
                <a:gd name="adj" fmla="val 8642"/>
              </a:avLst>
            </a:prstGeom>
            <a:solidFill>
              <a:srgbClr val="FFFFFF"/>
            </a:solidFill>
            <a:ln w="14288">
              <a:solidFill>
                <a:srgbClr val="D9DFEA"/>
              </a:solidFill>
            </a:ln>
          </p:spPr>
        </p:sp>
        <p:sp>
          <p:nvSpPr>
            <p:cNvPr id="25" name="Rectangle 25"/>
            <p:cNvSpPr/>
            <p:nvPr/>
          </p:nvSpPr>
          <p:spPr>
            <a:xfrm>
              <a:off x="3457575" y="4185285"/>
              <a:ext cx="47625" cy="1276350"/>
            </a:xfrm>
            <a:prstGeom prst="roundRect">
              <a:avLst>
                <a:gd name="adj" fmla="val 50000"/>
              </a:avLst>
            </a:prstGeom>
            <a:solidFill>
              <a:srgbClr val="B42318"/>
            </a:solidFill>
            <a:ln>
              <a:noFill/>
            </a:ln>
          </p:spPr>
        </p:sp>
        <p:sp>
          <p:nvSpPr>
            <p:cNvPr id="26" name="TextBox 26"/>
            <p:cNvSpPr txBox="1"/>
            <p:nvPr/>
          </p:nvSpPr>
          <p:spPr>
            <a:xfrm>
              <a:off x="3671697" y="4266248"/>
              <a:ext cx="5485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C 很小</a:t>
              </a:r>
            </a:p>
          </p:txBody>
        </p:sp>
        <p:sp>
          <p:nvSpPr>
            <p:cNvPr id="27" name="Ellipse 27"/>
            <p:cNvSpPr/>
            <p:nvPr/>
          </p:nvSpPr>
          <p:spPr>
            <a:xfrm>
              <a:off x="3687127" y="4642485"/>
              <a:ext cx="59055" cy="59055"/>
            </a:xfrm>
            <a:prstGeom prst="ellipse">
              <a:avLst/>
            </a:prstGeom>
            <a:solidFill>
              <a:srgbClr val="0E7C86"/>
            </a:solidFill>
            <a:ln>
              <a:noFill/>
            </a:ln>
          </p:spPr>
        </p:sp>
        <p:sp>
          <p:nvSpPr>
            <p:cNvPr id="28" name="TextBox 28"/>
            <p:cNvSpPr txBox="1"/>
            <p:nvPr/>
          </p:nvSpPr>
          <p:spPr>
            <a:xfrm>
              <a:off x="3843147" y="4586288"/>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容忍大量越界</a:t>
              </a:r>
            </a:p>
          </p:txBody>
        </p:sp>
        <p:sp>
          <p:nvSpPr>
            <p:cNvPr id="29" name="Ellipse 29"/>
            <p:cNvSpPr/>
            <p:nvPr/>
          </p:nvSpPr>
          <p:spPr>
            <a:xfrm>
              <a:off x="3687127" y="4945380"/>
              <a:ext cx="59055" cy="59055"/>
            </a:xfrm>
            <a:prstGeom prst="ellipse">
              <a:avLst/>
            </a:prstGeom>
            <a:solidFill>
              <a:srgbClr val="0E7C86"/>
            </a:solidFill>
            <a:ln>
              <a:noFill/>
            </a:ln>
          </p:spPr>
        </p:sp>
        <p:sp>
          <p:nvSpPr>
            <p:cNvPr id="30" name="TextBox 30"/>
            <p:cNvSpPr txBox="1"/>
            <p:nvPr/>
          </p:nvSpPr>
          <p:spPr>
            <a:xfrm>
              <a:off x="3843147" y="4889183"/>
              <a:ext cx="55892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间隔宽</a:t>
              </a:r>
            </a:p>
          </p:txBody>
        </p:sp>
        <p:sp>
          <p:nvSpPr>
            <p:cNvPr id="31" name="Ellipse 31"/>
            <p:cNvSpPr/>
            <p:nvPr/>
          </p:nvSpPr>
          <p:spPr>
            <a:xfrm>
              <a:off x="3687127" y="5247322"/>
              <a:ext cx="59055" cy="59055"/>
            </a:xfrm>
            <a:prstGeom prst="ellipse">
              <a:avLst/>
            </a:prstGeom>
            <a:solidFill>
              <a:srgbClr val="0E7C86"/>
            </a:solidFill>
            <a:ln>
              <a:noFill/>
            </a:ln>
          </p:spPr>
        </p:sp>
        <p:sp>
          <p:nvSpPr>
            <p:cNvPr id="32" name="TextBox 32"/>
            <p:cNvSpPr txBox="1"/>
            <p:nvPr/>
          </p:nvSpPr>
          <p:spPr>
            <a:xfrm>
              <a:off x="3843147" y="5191125"/>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容易欠学习</a:t>
              </a:r>
            </a:p>
          </p:txBody>
        </p:sp>
        <p:sp>
          <p:nvSpPr>
            <p:cNvPr id="33" name="Ellipse 33"/>
            <p:cNvSpPr/>
            <p:nvPr/>
          </p:nvSpPr>
          <p:spPr>
            <a:xfrm>
              <a:off x="3076575" y="4661535"/>
              <a:ext cx="323850" cy="323850"/>
            </a:xfrm>
            <a:prstGeom prst="ellipse">
              <a:avLst/>
            </a:prstGeom>
            <a:solidFill>
              <a:srgbClr val="F26B3A"/>
            </a:solidFill>
            <a:ln>
              <a:noFill/>
            </a:ln>
          </p:spPr>
        </p:sp>
        <p:sp>
          <p:nvSpPr>
            <p:cNvPr id="34" name="TextBox 34"/>
            <p:cNvSpPr txBox="1"/>
            <p:nvPr/>
          </p:nvSpPr>
          <p:spPr>
            <a:xfrm>
              <a:off x="3153046" y="4762976"/>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45" name="c2-card-1"/>
          <p:cNvGrpSpPr/>
          <p:nvPr/>
        </p:nvGrpSpPr>
        <p:grpSpPr>
          <a:xfrm>
            <a:off x="6248400" y="1524000"/>
            <a:ext cx="5410200" cy="3073718"/>
            <a:chOff x="6248400" y="1524000"/>
            <a:chExt cx="5410200" cy="3073718"/>
          </a:xfrm>
        </p:grpSpPr>
        <p:sp>
          <p:nvSpPr>
            <p:cNvPr id="36" name="Rectangle 36"/>
            <p:cNvSpPr/>
            <p:nvPr/>
          </p:nvSpPr>
          <p:spPr>
            <a:xfrm>
              <a:off x="6248400" y="1524000"/>
              <a:ext cx="5410200" cy="3073718"/>
            </a:xfrm>
            <a:prstGeom prst="roundRect">
              <a:avLst>
                <a:gd name="adj" fmla="val 4338"/>
              </a:avLst>
            </a:prstGeom>
            <a:solidFill>
              <a:srgbClr val="FFFFFF"/>
            </a:solidFill>
            <a:ln w="14288">
              <a:solidFill>
                <a:srgbClr val="D9DFEA"/>
              </a:solidFill>
            </a:ln>
          </p:spPr>
        </p:sp>
        <p:sp>
          <p:nvSpPr>
            <p:cNvPr id="37" name="Rectangle 37"/>
            <p:cNvSpPr/>
            <p:nvPr/>
          </p:nvSpPr>
          <p:spPr>
            <a:xfrm>
              <a:off x="6257925" y="1657350"/>
              <a:ext cx="47625" cy="2807018"/>
            </a:xfrm>
            <a:prstGeom prst="roundRect">
              <a:avLst>
                <a:gd name="adj" fmla="val 50000"/>
              </a:avLst>
            </a:prstGeom>
            <a:solidFill>
              <a:srgbClr val="14A38B"/>
            </a:solidFill>
            <a:ln>
              <a:noFill/>
            </a:ln>
          </p:spPr>
        </p:sp>
        <p:sp>
          <p:nvSpPr>
            <p:cNvPr id="38" name="Rectangle 38"/>
            <p:cNvSpPr/>
            <p:nvPr/>
          </p:nvSpPr>
          <p:spPr>
            <a:xfrm>
              <a:off x="6478905" y="1716405"/>
              <a:ext cx="476250" cy="247650"/>
            </a:xfrm>
            <a:prstGeom prst="roundRect">
              <a:avLst>
                <a:gd name="adj" fmla="val 50000"/>
              </a:avLst>
            </a:prstGeom>
            <a:solidFill>
              <a:srgbClr val="E3F5F1"/>
            </a:solidFill>
            <a:ln>
              <a:noFill/>
            </a:ln>
          </p:spPr>
        </p:sp>
        <p:sp>
          <p:nvSpPr>
            <p:cNvPr id="39" name="TextBox 39"/>
            <p:cNvSpPr txBox="1"/>
            <p:nvPr/>
          </p:nvSpPr>
          <p:spPr>
            <a:xfrm>
              <a:off x="6570345" y="1750695"/>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例题</a:t>
              </a:r>
            </a:p>
          </p:txBody>
        </p:sp>
        <p:sp>
          <p:nvSpPr>
            <p:cNvPr id="40" name="TextBox 40"/>
            <p:cNvSpPr txBox="1"/>
            <p:nvPr/>
          </p:nvSpPr>
          <p:spPr>
            <a:xfrm>
              <a:off x="7062597" y="1756410"/>
              <a:ext cx="396250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第 26 页的四个点：C 取多少才肯放弃那个噪声点</a:t>
              </a:r>
            </a:p>
          </p:txBody>
        </p:sp>
        <p:sp>
          <p:nvSpPr>
            <p:cNvPr id="41" name="TextBox 41"/>
            <p:cNvSpPr txBox="1"/>
            <p:nvPr/>
          </p:nvSpPr>
          <p:spPr>
            <a:xfrm>
              <a:off x="6472047" y="2090738"/>
              <a:ext cx="4720447"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方案甲</a:t>
              </a:r>
              <a:r>
                <a:rPr lang="zh-CN" sz="1350" dirty="0">
                  <a:solidFill>
                    <a:srgbClr val="1F2937"/>
                  </a:solidFill>
                  <a:latin typeface="+mn-lt"/>
                  <a:ea typeface="+mn-ea"/>
                  <a:cs typeface="+mn-cs"/>
                </a:rPr>
                <a:t>：沿用原来的 w = (½, ½)、b = −2。噪声点 (2,2) 的函</a:t>
              </a:r>
              <a:br/>
              <a:r>
                <a:rPr lang="zh-CN" sz="1350" dirty="0">
                  <a:solidFill>
                    <a:srgbClr val="1F2937"/>
                  </a:solidFill>
                  <a:latin typeface="+mn-lt"/>
                  <a:ea typeface="+mn-ea"/>
                  <a:cs typeface="+mn-cs"/>
                </a:rPr>
                <a:t xml:space="preserve">数间隔是 0，ξ₄ = 1，其余为 0。目标值 = ½·½ + C·1 = </a:t>
              </a:r>
              <a:r>
                <a:rPr lang="zh-CN" sz="1350" b="1" dirty="0">
                  <a:solidFill>
                    <a:srgbClr val="C2410C"/>
                  </a:solidFill>
                  <a:latin typeface="+mn-lt"/>
                  <a:ea typeface="+mn-ea"/>
                  <a:cs typeface="+mn-cs"/>
                </a:rPr>
                <a:t>0.25 +</a:t>
              </a:r>
              <a:br/>
              <a:r>
                <a:rPr lang="en-US" sz="1350" b="1" dirty="0">
                  <a:solidFill>
                    <a:srgbClr val="C2410C"/>
                  </a:solidFill>
                  <a:latin typeface="+mn-lt"/>
                  <a:ea typeface="+mn-ea"/>
                  <a:cs typeface="+mn-cs"/>
                </a:rPr>
                <a:t>C</a:t>
              </a:r>
              <a:r>
                <a:rPr lang="zh-CN" sz="1350" dirty="0">
                  <a:solidFill>
                    <a:srgbClr val="1F2937"/>
                  </a:solidFill>
                  <a:latin typeface="+mn-lt"/>
                  <a:ea typeface="+mn-ea"/>
                  <a:cs typeface="+mn-cs"/>
                </a:rPr>
                <a:t>。</a:t>
              </a:r>
            </a:p>
          </p:txBody>
        </p:sp>
        <p:sp>
          <p:nvSpPr>
            <p:cNvPr id="42" name="TextBox 42"/>
            <p:cNvSpPr txBox="1"/>
            <p:nvPr/>
          </p:nvSpPr>
          <p:spPr>
            <a:xfrm>
              <a:off x="6472047" y="2907030"/>
              <a:ext cx="4720018"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方案乙</a:t>
              </a:r>
              <a:r>
                <a:rPr lang="zh-CN" sz="1350" dirty="0">
                  <a:solidFill>
                    <a:srgbClr val="1F2937"/>
                  </a:solidFill>
                  <a:latin typeface="+mn-lt"/>
                  <a:ea typeface="+mn-ea"/>
                  <a:cs typeface="+mn-cs"/>
                </a:rPr>
                <a:t>：硬间隔解 w = (1, 1)、b = −3，全部 ξ = 0。目标值 =</a:t>
              </a:r>
              <a:br/>
              <a:r>
                <a:rPr lang="zh-CN" sz="1350" dirty="0">
                  <a:solidFill>
                    <a:srgbClr val="1F2937"/>
                  </a:solidFill>
                  <a:latin typeface="+mn-lt"/>
                  <a:ea typeface="+mn-ea"/>
                  <a:cs typeface="+mn-cs"/>
                </a:rPr>
                <a:t xml:space="preserve">½·2 + 0 = </a:t>
              </a:r>
              <a:r>
                <a:rPr lang="zh-CN" sz="1350" b="1" dirty="0">
                  <a:solidFill>
                    <a:srgbClr val="C2410C"/>
                  </a:solidFill>
                  <a:latin typeface="+mn-lt"/>
                  <a:ea typeface="+mn-ea"/>
                  <a:cs typeface="+mn-cs"/>
                </a:rPr>
                <a:t>1</a:t>
              </a:r>
              <a:r>
                <a:rPr lang="zh-CN" sz="1350" dirty="0">
                  <a:solidFill>
                    <a:srgbClr val="1F2937"/>
                  </a:solidFill>
                  <a:latin typeface="+mn-lt"/>
                  <a:ea typeface="+mn-ea"/>
                  <a:cs typeface="+mn-cs"/>
                </a:rPr>
                <a:t>。</a:t>
              </a:r>
            </a:p>
          </p:txBody>
        </p:sp>
        <p:sp>
          <p:nvSpPr>
            <p:cNvPr id="43" name="TextBox 43"/>
            <p:cNvSpPr txBox="1"/>
            <p:nvPr/>
          </p:nvSpPr>
          <p:spPr>
            <a:xfrm>
              <a:off x="6472047" y="3467100"/>
              <a:ext cx="4744879"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两者比较：0.25 + C &lt; 1 即 </a:t>
              </a:r>
              <a:r>
                <a:rPr lang="en-US" sz="1350" b="1" dirty="0">
                  <a:solidFill>
                    <a:srgbClr val="C2410C"/>
                  </a:solidFill>
                  <a:latin typeface="+mn-lt"/>
                  <a:ea typeface="+mn-ea"/>
                  <a:cs typeface="+mn-cs"/>
                </a:rPr>
                <a:t>C &lt; 0.75</a:t>
              </a:r>
              <a:r>
                <a:rPr lang="zh-CN" sz="1350" dirty="0">
                  <a:solidFill>
                    <a:srgbClr val="1F2937"/>
                  </a:solidFill>
                  <a:latin typeface="+mn-lt"/>
                  <a:ea typeface="+mn-ea"/>
                  <a:cs typeface="+mn-cs"/>
                </a:rPr>
                <a:t xml:space="preserve"> 时，宁可放过那个噪声点</a:t>
              </a:r>
              <a:br/>
              <a:r>
                <a:rPr lang="zh-CN" sz="1350" dirty="0">
                  <a:solidFill>
                    <a:srgbClr val="1F2937"/>
                  </a:solidFill>
                  <a:latin typeface="+mn-lt"/>
                  <a:ea typeface="+mn-ea"/>
                  <a:cs typeface="+mn-cs"/>
                </a:rPr>
                <a:t>也要保住宽间隔。</a:t>
              </a:r>
            </a:p>
          </p:txBody>
        </p:sp>
        <p:sp>
          <p:nvSpPr>
            <p:cNvPr id="44" name="TextBox 44"/>
            <p:cNvSpPr txBox="1"/>
            <p:nvPr/>
          </p:nvSpPr>
          <p:spPr>
            <a:xfrm>
              <a:off x="6473190" y="4022884"/>
              <a:ext cx="471246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枚举 (w, b) 网格复核：C = 0.5 的最优解正是方案甲，C = 2 的最优解正是</a:t>
              </a:r>
              <a:br/>
              <a:r>
                <a:rPr lang="zh-CN" sz="1120" dirty="0">
                  <a:solidFill>
                    <a:srgbClr val="5B6475"/>
                  </a:solidFill>
                  <a:latin typeface="+mn-lt"/>
                  <a:ea typeface="+mn-ea"/>
                  <a:cs typeface="+mn-cs"/>
                </a:rPr>
                <a:t>方案乙。</a:t>
              </a:r>
            </a:p>
          </p:txBody>
        </p:sp>
      </p:grpSp>
      <p:grpSp>
        <p:nvGrpSpPr>
          <p:cNvPr id="52" name="c2-callout-2"/>
          <p:cNvGrpSpPr/>
          <p:nvPr/>
        </p:nvGrpSpPr>
        <p:grpSpPr>
          <a:xfrm>
            <a:off x="6248400" y="4772978"/>
            <a:ext cx="5410200" cy="821055"/>
            <a:chOff x="6248400" y="4772978"/>
            <a:chExt cx="5410200" cy="821055"/>
          </a:xfrm>
        </p:grpSpPr>
        <p:sp>
          <p:nvSpPr>
            <p:cNvPr id="46" name="Rectangle 46"/>
            <p:cNvSpPr/>
            <p:nvPr/>
          </p:nvSpPr>
          <p:spPr>
            <a:xfrm>
              <a:off x="6248400" y="4772978"/>
              <a:ext cx="5410200" cy="821055"/>
            </a:xfrm>
            <a:prstGeom prst="roundRect">
              <a:avLst>
                <a:gd name="adj" fmla="val 13921"/>
              </a:avLst>
            </a:prstGeom>
            <a:solidFill>
              <a:srgbClr val="FDEEE7"/>
            </a:solidFill>
            <a:ln>
              <a:noFill/>
            </a:ln>
          </p:spPr>
        </p:sp>
        <p:grpSp>
          <p:nvGrpSpPr>
            <p:cNvPr id="50" name="Group 50"/>
            <p:cNvGrpSpPr/>
            <p:nvPr/>
          </p:nvGrpSpPr>
          <p:grpSpPr>
            <a:xfrm>
              <a:off x="6453188" y="5083493"/>
              <a:ext cx="200026" cy="200025"/>
              <a:chOff x="6453188" y="5083493"/>
              <a:chExt cx="200026" cy="200025"/>
            </a:xfrm>
          </p:grpSpPr>
          <p:sp>
            <p:nvSpPr>
              <p:cNvPr id="47" name="Freeform 47"/>
              <p:cNvSpPr/>
              <p:nvPr/>
            </p:nvSpPr>
            <p:spPr>
              <a:xfrm>
                <a:off x="6453188" y="508349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8" name="Freeform 48"/>
              <p:cNvSpPr/>
              <p:nvPr/>
            </p:nvSpPr>
            <p:spPr>
              <a:xfrm>
                <a:off x="6492926" y="512794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9" name="Freeform 49"/>
              <p:cNvSpPr/>
              <p:nvPr/>
            </p:nvSpPr>
            <p:spPr>
              <a:xfrm>
                <a:off x="6527642" y="523906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1" name="TextBox 51"/>
            <p:cNvSpPr txBox="1"/>
            <p:nvPr/>
          </p:nvSpPr>
          <p:spPr>
            <a:xfrm>
              <a:off x="6755892" y="4965383"/>
              <a:ext cx="431711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C 没有默认的好值，靠交叉验证在对数网格（0.01, 0.1,</a:t>
              </a:r>
              <a:br/>
              <a:r>
                <a:rPr lang="zh-CN" sz="1350" dirty="0">
                  <a:solidFill>
                    <a:srgbClr val="C2410C"/>
                  </a:solidFill>
                  <a:latin typeface="+mn-lt"/>
                  <a:ea typeface="+mn-ea"/>
                  <a:cs typeface="+mn-cs"/>
                </a:rPr>
                <a:t>1, 10, 100）上挑。</a:t>
              </a:r>
            </a:p>
          </p:txBody>
        </p:sp>
      </p:grpSp>
      <p:grpSp>
        <p:nvGrpSpPr>
          <p:cNvPr id="59" name="takeaway"/>
          <p:cNvGrpSpPr/>
          <p:nvPr/>
        </p:nvGrpSpPr>
        <p:grpSpPr>
          <a:xfrm>
            <a:off x="533400" y="5874068"/>
            <a:ext cx="11125200" cy="488632"/>
            <a:chOff x="533400" y="5874068"/>
            <a:chExt cx="11125200" cy="488632"/>
          </a:xfrm>
        </p:grpSpPr>
        <p:sp>
          <p:nvSpPr>
            <p:cNvPr id="53" name="Rectangle 53"/>
            <p:cNvSpPr/>
            <p:nvPr/>
          </p:nvSpPr>
          <p:spPr>
            <a:xfrm>
              <a:off x="533400" y="5874068"/>
              <a:ext cx="11125200" cy="488632"/>
            </a:xfrm>
            <a:prstGeom prst="roundRect">
              <a:avLst>
                <a:gd name="adj" fmla="val 23392"/>
              </a:avLst>
            </a:prstGeom>
            <a:solidFill>
              <a:srgbClr val="F4F6FB"/>
            </a:solidFill>
            <a:ln>
              <a:noFill/>
            </a:ln>
          </p:spPr>
        </p:sp>
        <p:grpSp>
          <p:nvGrpSpPr>
            <p:cNvPr id="57" name="Group 57"/>
            <p:cNvGrpSpPr/>
            <p:nvPr/>
          </p:nvGrpSpPr>
          <p:grpSpPr>
            <a:xfrm>
              <a:off x="738188" y="6017895"/>
              <a:ext cx="200026" cy="200026"/>
              <a:chOff x="738188" y="6017895"/>
              <a:chExt cx="200026" cy="200026"/>
            </a:xfrm>
          </p:grpSpPr>
          <p:sp>
            <p:nvSpPr>
              <p:cNvPr id="54" name="Freeform 54"/>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5" name="Freeform 55"/>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6" name="Freeform 56"/>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8" name="TextBox 58"/>
            <p:cNvSpPr txBox="1"/>
            <p:nvPr/>
          </p:nvSpPr>
          <p:spPr>
            <a:xfrm>
              <a:off x="1040892" y="6023610"/>
              <a:ext cx="88430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线性不可分时的学习问题，除了约束里多一项 ξᵢ、目标里多一项 CΣξᵢ，整套解法与线性可分 SVM 完全相同。</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614999" cy="909257"/>
            <a:chOff x="520446" y="342900"/>
            <a:chExt cx="6614999"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线性支持向量机：软间隔最大化</a:t>
              </a:r>
            </a:p>
          </p:txBody>
        </p:sp>
        <p:sp>
          <p:nvSpPr>
            <p:cNvPr id="4" name="TextBox 4"/>
            <p:cNvSpPr txBox="1"/>
            <p:nvPr/>
          </p:nvSpPr>
          <p:spPr>
            <a:xfrm>
              <a:off x="520446" y="753428"/>
              <a:ext cx="6614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换个写法：软间隔就是正则化 + Hinge 损失</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3775672" cy="264033"/>
            <a:chOff x="526542" y="1545907"/>
            <a:chExt cx="3775672" cy="264033"/>
          </a:xfrm>
        </p:grpSpPr>
        <p:sp>
          <p:nvSpPr>
            <p:cNvPr id="7" name="TextBox 7"/>
            <p:cNvSpPr txBox="1"/>
            <p:nvPr/>
          </p:nvSpPr>
          <p:spPr>
            <a:xfrm>
              <a:off x="526542" y="1545907"/>
              <a:ext cx="3775672"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把 ξᵢ 的最优值代回目标函数，约束就消失了。</a:t>
              </a:r>
            </a:p>
          </p:txBody>
        </p:sp>
      </p:grpSp>
      <p:grpSp>
        <p:nvGrpSpPr>
          <p:cNvPr id="18" name="c1-steps-1"/>
          <p:cNvGrpSpPr/>
          <p:nvPr/>
        </p:nvGrpSpPr>
        <p:grpSpPr>
          <a:xfrm>
            <a:off x="533400" y="1938338"/>
            <a:ext cx="3300927" cy="1043559"/>
            <a:chOff x="533400" y="1938338"/>
            <a:chExt cx="3300927" cy="1043559"/>
          </a:xfrm>
        </p:grpSpPr>
        <p:sp>
          <p:nvSpPr>
            <p:cNvPr id="9" name="Rectangle 9"/>
            <p:cNvSpPr/>
            <p:nvPr/>
          </p:nvSpPr>
          <p:spPr>
            <a:xfrm>
              <a:off x="666750" y="2081212"/>
              <a:ext cx="19050" cy="553402"/>
            </a:xfrm>
            <a:prstGeom prst="rect">
              <a:avLst/>
            </a:prstGeom>
            <a:solidFill>
              <a:srgbClr val="D9DFEA"/>
            </a:solidFill>
            <a:ln>
              <a:noFill/>
            </a:ln>
          </p:spPr>
        </p:sp>
        <p:sp>
          <p:nvSpPr>
            <p:cNvPr id="10" name="Ellipse 10"/>
            <p:cNvSpPr/>
            <p:nvPr/>
          </p:nvSpPr>
          <p:spPr>
            <a:xfrm>
              <a:off x="533400" y="1938338"/>
              <a:ext cx="285750" cy="285750"/>
            </a:xfrm>
            <a:prstGeom prst="ellipse">
              <a:avLst/>
            </a:prstGeom>
            <a:solidFill>
              <a:srgbClr val="0E7C86"/>
            </a:solidFill>
            <a:ln>
              <a:noFill/>
            </a:ln>
          </p:spPr>
        </p:sp>
        <p:sp>
          <p:nvSpPr>
            <p:cNvPr id="11" name="TextBox 11"/>
            <p:cNvSpPr txBox="1"/>
            <p:nvPr/>
          </p:nvSpPr>
          <p:spPr>
            <a:xfrm>
              <a:off x="627024" y="20121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490788"/>
              <a:ext cx="285750" cy="285750"/>
            </a:xfrm>
            <a:prstGeom prst="ellipse">
              <a:avLst/>
            </a:prstGeom>
            <a:solidFill>
              <a:srgbClr val="0E7C86"/>
            </a:solidFill>
            <a:ln>
              <a:noFill/>
            </a:ln>
          </p:spPr>
        </p:sp>
        <p:sp>
          <p:nvSpPr>
            <p:cNvPr id="13" name="TextBox 13"/>
            <p:cNvSpPr txBox="1"/>
            <p:nvPr/>
          </p:nvSpPr>
          <p:spPr>
            <a:xfrm>
              <a:off x="627024" y="256460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TextBox 14"/>
            <p:cNvSpPr txBox="1"/>
            <p:nvPr/>
          </p:nvSpPr>
          <p:spPr>
            <a:xfrm>
              <a:off x="946023" y="1968341"/>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看约束</a:t>
              </a:r>
            </a:p>
          </p:txBody>
        </p:sp>
        <p:sp>
          <p:nvSpPr>
            <p:cNvPr id="15" name="TextBox 15"/>
            <p:cNvSpPr txBox="1"/>
            <p:nvPr/>
          </p:nvSpPr>
          <p:spPr>
            <a:xfrm>
              <a:off x="947166" y="2223135"/>
              <a:ext cx="208146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ξᵢ ≥ 1 − yᵢ(w·xᵢ + b) 且 ξᵢ ≥ 0</a:t>
              </a:r>
            </a:p>
          </p:txBody>
        </p:sp>
        <p:sp>
          <p:nvSpPr>
            <p:cNvPr id="16" name="TextBox 16"/>
            <p:cNvSpPr txBox="1"/>
            <p:nvPr/>
          </p:nvSpPr>
          <p:spPr>
            <a:xfrm>
              <a:off x="946023" y="2521744"/>
              <a:ext cx="102831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ξ 的系数为正</a:t>
              </a:r>
            </a:p>
          </p:txBody>
        </p:sp>
        <p:sp>
          <p:nvSpPr>
            <p:cNvPr id="17" name="TextBox 17"/>
            <p:cNvSpPr txBox="1"/>
            <p:nvPr/>
          </p:nvSpPr>
          <p:spPr>
            <a:xfrm>
              <a:off x="947166" y="2776538"/>
              <a:ext cx="288716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最优时 ξᵢ 取下界 max(0, 1 − yᵢ(w·xᵢ + b))</a:t>
              </a:r>
            </a:p>
          </p:txBody>
        </p:sp>
      </p:grpSp>
      <mc:AlternateContent xmlns:mc="http://schemas.openxmlformats.org/markup-compatibility/2006">
        <mc:Choice xmlns:a14="http://schemas.microsoft.com/office/drawing/2010/main" Requires="a14">
          <p:sp>
            <p:nvSpPr>
              <p:cNvPr id="19" name="formula167"/>
              <p:cNvSpPr txBox="1">
                <a:spLocks noGrp="1"/>
              </p:cNvSpPr>
              <p:nvPr/>
            </p:nvSpPr>
            <p:spPr>
              <a:xfrm>
                <a:off x="533400" y="3143250"/>
                <a:ext cx="5410200" cy="60007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350" dirty="0">
                                  <a:solidFill>
                                    <a:srgbClr val="1F2937"/>
                                  </a:solidFill>
                                  <a:latin typeface="Cambria Math"/>
                                  <a:ea typeface="Cambria Math"/>
                                  <a:cs typeface="Cambria Math"/>
                                </a:rPr>
                                <m:t>min</m:t>
                              </m:r>
                            </m:e>
                            <m:lim>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lim>
                          </m:limLow>
                        </m:fName>
                        <m:e>
                          <m:r>
                            <a:rPr lang="zh-CN" sz="1350" dirty="0">
                              <a:solidFill>
                                <a:srgbClr val="1F2937"/>
                              </a:solidFill>
                              <a:latin typeface="Cambria Math"/>
                              <a:ea typeface="Cambria Math"/>
                              <a:cs typeface="Cambria Math"/>
                            </a:rPr>
                            <m:t xml:space="preserve"> </m:t>
                          </m:r>
                          <m:f>
                            <m:fPr>
                              <m:type m:val="bar"/>
                              <m:ctrlPr>
                                <a:rPr lang="zh-CN" sz="1350" dirty="0">
                                  <a:solidFill>
                                    <a:srgbClr val="1F2937"/>
                                  </a:solidFill>
                                  <a:latin typeface="Cambria Math"/>
                                  <a:ea typeface="Cambria Math"/>
                                  <a:cs typeface="Cambria Math"/>
                                </a:rPr>
                              </m:ctrlPr>
                            </m:fPr>
                            <m:num>
                              <m:r>
                                <a:rPr lang="zh-CN" sz="1350" dirty="0">
                                  <a:solidFill>
                                    <a:srgbClr val="1F2937"/>
                                  </a:solidFill>
                                  <a:latin typeface="Cambria Math"/>
                                  <a:ea typeface="Cambria Math"/>
                                  <a:cs typeface="Cambria Math"/>
                                </a:rPr>
                                <m:t>1</m:t>
                              </m:r>
                            </m:num>
                            <m:den>
                              <m:r>
                                <a:rPr lang="zh-CN" sz="1350" dirty="0">
                                  <a:solidFill>
                                    <a:srgbClr val="1F2937"/>
                                  </a:solidFill>
                                  <a:latin typeface="Cambria Math"/>
                                  <a:ea typeface="Cambria Math"/>
                                  <a:cs typeface="Cambria Math"/>
                                </a:rPr>
                                <m:t>2</m:t>
                              </m:r>
                            </m:den>
                          </m:f>
                          <m:sSup>
                            <m:e>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e>
                              </m:d>
                            </m:e>
                            <m:sup>
                              <m:r>
                                <a:rPr lang="zh-CN" sz="1350" dirty="0">
                                  <a:solidFill>
                                    <a:srgbClr val="1F2937"/>
                                  </a:solidFill>
                                  <a:latin typeface="Cambria Math"/>
                                  <a:ea typeface="Cambria Math"/>
                                  <a:cs typeface="Cambria Math"/>
                                </a:rPr>
                                <m:t>2</m:t>
                              </m:r>
                            </m:sup>
                          </m:sSup>
                        </m:e>
                      </m:func>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C</m:t>
                      </m:r>
                      <m:nary>
                        <m:naryPr>
                          <m:chr m:val="∑"/>
                          <m:limLoc m:val="undOvr"/>
                          <m:grow m:val="off"/>
                          <m:subHide m:val="off"/>
                          <m:supHide m:val="off"/>
                          <m:ctrlPr>
                            <a:rPr lang="zh-CN" sz="1350" dirty="0">
                              <a:solidFill>
                                <a:srgbClr val="1F2937"/>
                              </a:solidFill>
                              <a:latin typeface="Cambria Math"/>
                              <a:ea typeface="Cambria Math"/>
                              <a:cs typeface="Cambria Math"/>
                            </a:rPr>
                          </m:ctrlPr>
                        </m:naryPr>
                        <m:sub>
                          <m:r>
                            <a:rPr lang="zh-CN" sz="1350" dirty="0">
                              <a:solidFill>
                                <a:srgbClr val="1F2937"/>
                              </a:solidFill>
                              <a:latin typeface="Cambria Math"/>
                              <a:ea typeface="Cambria Math"/>
                              <a:cs typeface="Cambria Math"/>
                            </a:rPr>
                            <m:t>i</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N</m:t>
                          </m:r>
                        </m:sup>
                        <m:e>
                          <m:func>
                            <m:funcPr/>
                            <m:fName>
                              <m:r>
                                <m:rPr>
                                  <m:sty m:val="p"/>
                                </m:rPr>
                                <a:rPr lang="zh-CN" sz="1350" dirty="0">
                                  <a:solidFill>
                                    <a:srgbClr val="1F2937"/>
                                  </a:solidFill>
                                  <a:latin typeface="Cambria Math"/>
                                  <a:ea typeface="Cambria Math"/>
                                  <a:cs typeface="Cambria Math"/>
                                </a:rPr>
                                <m:t>max</m:t>
                              </m:r>
                            </m:fName>
                            <m:e>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0</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 xml:space="preserve"> </m:t>
                                  </m:r>
                                  <m:r>
                                    <a:rPr lang="zh-CN" sz="1350" dirty="0">
                                      <a:solidFill>
                                        <a:srgbClr val="1F2937"/>
                                      </a:solidFill>
                                      <a:latin typeface="Cambria Math"/>
                                      <a:ea typeface="Cambria Math"/>
                                      <a:cs typeface="Cambria Math"/>
                                    </a:rPr>
                                    <m:t>1</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w</m:t>
                                      </m:r>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b</m:t>
                                      </m:r>
                                    </m:e>
                                  </m:d>
                                </m:e>
                              </m:d>
                            </m:e>
                          </m:func>
                        </m:e>
                      </m:nary>
                    </m:oMath>
                  </m:oMathPara>
                </a14:m>
              </a:p>
            </p:txBody>
          </p:sp>
        </mc:Choice>
      </mc:AlternateContent>
      <p:grpSp>
        <p:nvGrpSpPr>
          <p:cNvPr id="32" name="c1-card-3"/>
          <p:cNvGrpSpPr/>
          <p:nvPr/>
        </p:nvGrpSpPr>
        <p:grpSpPr>
          <a:xfrm>
            <a:off x="533400" y="3908108"/>
            <a:ext cx="5410200" cy="1772602"/>
            <a:chOff x="533400" y="3908108"/>
            <a:chExt cx="5410200" cy="1772602"/>
          </a:xfrm>
        </p:grpSpPr>
        <p:sp>
          <p:nvSpPr>
            <p:cNvPr id="20" name="Rectangle 20"/>
            <p:cNvSpPr/>
            <p:nvPr/>
          </p:nvSpPr>
          <p:spPr>
            <a:xfrm>
              <a:off x="533400" y="3908108"/>
              <a:ext cx="5410200" cy="1772602"/>
            </a:xfrm>
            <a:prstGeom prst="roundRect">
              <a:avLst>
                <a:gd name="adj" fmla="val 7523"/>
              </a:avLst>
            </a:prstGeom>
            <a:solidFill>
              <a:srgbClr val="FFFFFF"/>
            </a:solidFill>
            <a:ln w="14288">
              <a:solidFill>
                <a:srgbClr val="D9DFEA"/>
              </a:solidFill>
            </a:ln>
          </p:spPr>
        </p:sp>
        <p:sp>
          <p:nvSpPr>
            <p:cNvPr id="21" name="Rectangle 21"/>
            <p:cNvSpPr/>
            <p:nvPr/>
          </p:nvSpPr>
          <p:spPr>
            <a:xfrm>
              <a:off x="542925" y="4041458"/>
              <a:ext cx="47625" cy="1505902"/>
            </a:xfrm>
            <a:prstGeom prst="roundRect">
              <a:avLst>
                <a:gd name="adj" fmla="val 50000"/>
              </a:avLst>
            </a:prstGeom>
            <a:solidFill>
              <a:srgbClr val="0E7C86"/>
            </a:solidFill>
            <a:ln>
              <a:noFill/>
            </a:ln>
          </p:spPr>
        </p:sp>
        <p:sp>
          <p:nvSpPr>
            <p:cNvPr id="22" name="Rectangle 22"/>
            <p:cNvSpPr/>
            <p:nvPr/>
          </p:nvSpPr>
          <p:spPr>
            <a:xfrm>
              <a:off x="752475" y="4089082"/>
              <a:ext cx="458152" cy="238125"/>
            </a:xfrm>
            <a:prstGeom prst="roundRect">
              <a:avLst>
                <a:gd name="adj" fmla="val 50000"/>
              </a:avLst>
            </a:prstGeom>
            <a:solidFill>
              <a:srgbClr val="E2F3F4"/>
            </a:solidFill>
            <a:ln>
              <a:noFill/>
            </a:ln>
          </p:spPr>
        </p:sp>
        <p:sp>
          <p:nvSpPr>
            <p:cNvPr id="23" name="TextBox 23"/>
            <p:cNvSpPr txBox="1"/>
            <p:nvPr/>
          </p:nvSpPr>
          <p:spPr>
            <a:xfrm>
              <a:off x="845147" y="4121944"/>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24" name="TextBox 24"/>
            <p:cNvSpPr txBox="1"/>
            <p:nvPr/>
          </p:nvSpPr>
          <p:spPr>
            <a:xfrm>
              <a:off x="1318450" y="4128611"/>
              <a:ext cx="190380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Hinge 损失（合页损失）</a:t>
              </a:r>
            </a:p>
          </p:txBody>
        </p:sp>
        <p:sp>
          <p:nvSpPr>
            <p:cNvPr id="25" name="TextBox 25"/>
            <p:cNvSpPr txBox="1"/>
            <p:nvPr/>
          </p:nvSpPr>
          <p:spPr>
            <a:xfrm>
              <a:off x="745998" y="4445794"/>
              <a:ext cx="40881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max(0, 1 − z)，其中 z = y·(w·x + b) 是函数间隔。</a:t>
              </a:r>
            </a:p>
          </p:txBody>
        </p:sp>
        <p:sp>
          <p:nvSpPr>
            <p:cNvPr id="26" name="Ellipse 26"/>
            <p:cNvSpPr/>
            <p:nvPr/>
          </p:nvSpPr>
          <p:spPr>
            <a:xfrm>
              <a:off x="762000" y="4782502"/>
              <a:ext cx="57150" cy="57150"/>
            </a:xfrm>
            <a:prstGeom prst="ellipse">
              <a:avLst/>
            </a:prstGeom>
            <a:solidFill>
              <a:srgbClr val="0E7C86"/>
            </a:solidFill>
            <a:ln>
              <a:noFill/>
            </a:ln>
          </p:spPr>
        </p:sp>
        <p:sp>
          <p:nvSpPr>
            <p:cNvPr id="27" name="TextBox 27"/>
            <p:cNvSpPr txBox="1"/>
            <p:nvPr/>
          </p:nvSpPr>
          <p:spPr>
            <a:xfrm>
              <a:off x="917448" y="4730591"/>
              <a:ext cx="29595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z ≥ 1：损失为 0，该样本不再影响模型</a:t>
              </a:r>
            </a:p>
          </p:txBody>
        </p:sp>
        <p:sp>
          <p:nvSpPr>
            <p:cNvPr id="28" name="Ellipse 28"/>
            <p:cNvSpPr/>
            <p:nvPr/>
          </p:nvSpPr>
          <p:spPr>
            <a:xfrm>
              <a:off x="762000" y="5067300"/>
              <a:ext cx="57150" cy="57150"/>
            </a:xfrm>
            <a:prstGeom prst="ellipse">
              <a:avLst/>
            </a:prstGeom>
            <a:solidFill>
              <a:srgbClr val="0E7C86"/>
            </a:solidFill>
            <a:ln>
              <a:noFill/>
            </a:ln>
          </p:spPr>
        </p:sp>
        <p:sp>
          <p:nvSpPr>
            <p:cNvPr id="29" name="TextBox 29"/>
            <p:cNvSpPr txBox="1"/>
            <p:nvPr/>
          </p:nvSpPr>
          <p:spPr>
            <a:xfrm>
              <a:off x="917448" y="5015389"/>
              <a:ext cx="293367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0 &lt; z &lt; 1：分对了但不够开，仍有损失</a:t>
              </a:r>
            </a:p>
          </p:txBody>
        </p:sp>
        <p:sp>
          <p:nvSpPr>
            <p:cNvPr id="30" name="Ellipse 30"/>
            <p:cNvSpPr/>
            <p:nvPr/>
          </p:nvSpPr>
          <p:spPr>
            <a:xfrm>
              <a:off x="762000" y="5353050"/>
              <a:ext cx="57150" cy="57150"/>
            </a:xfrm>
            <a:prstGeom prst="ellipse">
              <a:avLst/>
            </a:prstGeom>
            <a:solidFill>
              <a:srgbClr val="0E7C86"/>
            </a:solidFill>
            <a:ln>
              <a:noFill/>
            </a:ln>
          </p:spPr>
        </p:sp>
        <p:sp>
          <p:nvSpPr>
            <p:cNvPr id="31" name="TextBox 31"/>
            <p:cNvSpPr txBox="1"/>
            <p:nvPr/>
          </p:nvSpPr>
          <p:spPr>
            <a:xfrm>
              <a:off x="917448" y="5300186"/>
              <a:ext cx="301121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z ≤ 0：分错，损失至少为 1 并线性增长</a:t>
              </a:r>
            </a:p>
          </p:txBody>
        </p:sp>
      </p:grpSp>
      <p:grpSp>
        <p:nvGrpSpPr>
          <p:cNvPr id="46" name="c2-graph-1"/>
          <p:cNvGrpSpPr/>
          <p:nvPr/>
        </p:nvGrpSpPr>
        <p:grpSpPr>
          <a:xfrm>
            <a:off x="6751320" y="2025491"/>
            <a:ext cx="4566286" cy="1688783"/>
            <a:chOff x="6751320" y="2025491"/>
            <a:chExt cx="4566286" cy="1688783"/>
          </a:xfrm>
        </p:grpSpPr>
        <p:sp>
          <p:nvSpPr>
            <p:cNvPr id="33" name="Freeform 33"/>
            <p:cNvSpPr/>
            <p:nvPr/>
          </p:nvSpPr>
          <p:spPr>
            <a:xfrm>
              <a:off x="6751320" y="3465195"/>
              <a:ext cx="4471035" cy="9525"/>
            </a:xfrm>
            <a:custGeom>
              <a:avLst/>
              <a:gdLst/>
              <a:ahLst/>
              <a:cxnLst/>
              <a:rect l="l" t="t" r="r" b="b"/>
              <a:pathLst>
                <a:path w="4471035" h="9525">
                  <a:moveTo>
                    <a:pt x="0" y="0"/>
                  </a:moveTo>
                  <a:lnTo>
                    <a:pt x="4471035" y="0"/>
                  </a:lnTo>
                </a:path>
              </a:pathLst>
            </a:custGeom>
            <a:noFill/>
            <a:ln w="17145">
              <a:solidFill>
                <a:srgbClr val="5B6475"/>
              </a:solidFill>
            </a:ln>
          </p:spPr>
        </p:sp>
        <p:sp>
          <p:nvSpPr>
            <p:cNvPr id="34" name="Freeform 34"/>
            <p:cNvSpPr/>
            <p:nvPr/>
          </p:nvSpPr>
          <p:spPr>
            <a:xfrm>
              <a:off x="11222355" y="3417570"/>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35" name="Freeform 35"/>
            <p:cNvSpPr/>
            <p:nvPr/>
          </p:nvSpPr>
          <p:spPr>
            <a:xfrm>
              <a:off x="8590598" y="2305050"/>
              <a:ext cx="9525" cy="1150620"/>
            </a:xfrm>
            <a:custGeom>
              <a:avLst/>
              <a:gdLst/>
              <a:ahLst/>
              <a:cxnLst/>
              <a:rect l="l" t="t" r="r" b="b"/>
              <a:pathLst>
                <a:path w="9525" h="1150620">
                  <a:moveTo>
                    <a:pt x="0" y="1150620"/>
                  </a:moveTo>
                  <a:lnTo>
                    <a:pt x="0" y="0"/>
                  </a:lnTo>
                </a:path>
              </a:pathLst>
            </a:custGeom>
            <a:noFill/>
            <a:ln w="17145">
              <a:solidFill>
                <a:srgbClr val="5B6475"/>
              </a:solidFill>
            </a:ln>
          </p:spPr>
        </p:sp>
        <p:sp>
          <p:nvSpPr>
            <p:cNvPr id="36" name="Freeform 36"/>
            <p:cNvSpPr/>
            <p:nvPr/>
          </p:nvSpPr>
          <p:spPr>
            <a:xfrm>
              <a:off x="8542972" y="2209800"/>
              <a:ext cx="95250" cy="95250"/>
            </a:xfrm>
            <a:custGeom>
              <a:avLst/>
              <a:gdLst/>
              <a:ahLst/>
              <a:cxnLst/>
              <a:rect l="l" t="t" r="r" b="b"/>
              <a:pathLst>
                <a:path w="95250" h="95250">
                  <a:moveTo>
                    <a:pt x="47625" y="0"/>
                  </a:moveTo>
                  <a:lnTo>
                    <a:pt x="95250" y="95250"/>
                  </a:lnTo>
                  <a:lnTo>
                    <a:pt x="0" y="95250"/>
                  </a:lnTo>
                  <a:close/>
                </a:path>
              </a:pathLst>
            </a:custGeom>
            <a:solidFill>
              <a:srgbClr val="5B6475"/>
            </a:solidFill>
            <a:ln>
              <a:noFill/>
            </a:ln>
          </p:spPr>
        </p:sp>
        <p:sp>
          <p:nvSpPr>
            <p:cNvPr id="37" name="Freeform 37"/>
            <p:cNvSpPr/>
            <p:nvPr/>
          </p:nvSpPr>
          <p:spPr>
            <a:xfrm>
              <a:off x="6751320" y="2218372"/>
              <a:ext cx="4566285" cy="1246822"/>
            </a:xfrm>
            <a:custGeom>
              <a:avLst/>
              <a:gdLst/>
              <a:ahLst/>
              <a:cxnLst/>
              <a:rect l="l" t="t" r="r" b="b"/>
              <a:pathLst>
                <a:path w="4566285" h="1246822">
                  <a:moveTo>
                    <a:pt x="0" y="0"/>
                  </a:moveTo>
                  <a:lnTo>
                    <a:pt x="2727008" y="1246822"/>
                  </a:lnTo>
                  <a:lnTo>
                    <a:pt x="4566285" y="1246822"/>
                  </a:lnTo>
                </a:path>
              </a:pathLst>
            </a:custGeom>
            <a:noFill/>
            <a:ln w="17145">
              <a:solidFill>
                <a:srgbClr val="0E7C86"/>
              </a:solidFill>
            </a:ln>
          </p:spPr>
        </p:sp>
        <p:sp>
          <p:nvSpPr>
            <p:cNvPr id="38" name="Freeform 38"/>
            <p:cNvSpPr/>
            <p:nvPr/>
          </p:nvSpPr>
          <p:spPr>
            <a:xfrm>
              <a:off x="6751320" y="3057525"/>
              <a:ext cx="1801178" cy="9525"/>
            </a:xfrm>
            <a:custGeom>
              <a:avLst/>
              <a:gdLst/>
              <a:ahLst/>
              <a:cxnLst/>
              <a:rect l="l" t="t" r="r" b="b"/>
              <a:pathLst>
                <a:path w="1801178" h="9525">
                  <a:moveTo>
                    <a:pt x="0" y="0"/>
                  </a:moveTo>
                  <a:lnTo>
                    <a:pt x="1801178" y="0"/>
                  </a:lnTo>
                </a:path>
              </a:pathLst>
            </a:custGeom>
            <a:noFill/>
            <a:ln w="17145">
              <a:solidFill>
                <a:srgbClr val="B42318"/>
              </a:solidFill>
              <a:custDash>
                <a:ds d="333333" sp="222222"/>
              </a:custDash>
            </a:ln>
          </p:spPr>
        </p:sp>
        <p:sp>
          <p:nvSpPr>
            <p:cNvPr id="39" name="Freeform 39"/>
            <p:cNvSpPr/>
            <p:nvPr/>
          </p:nvSpPr>
          <p:spPr>
            <a:xfrm>
              <a:off x="8628698" y="3465195"/>
              <a:ext cx="2688908" cy="9525"/>
            </a:xfrm>
            <a:custGeom>
              <a:avLst/>
              <a:gdLst/>
              <a:ahLst/>
              <a:cxnLst/>
              <a:rect l="l" t="t" r="r" b="b"/>
              <a:pathLst>
                <a:path w="2688908" h="9525">
                  <a:moveTo>
                    <a:pt x="0" y="0"/>
                  </a:moveTo>
                  <a:lnTo>
                    <a:pt x="2688908" y="0"/>
                  </a:lnTo>
                </a:path>
              </a:pathLst>
            </a:custGeom>
            <a:noFill/>
            <a:ln w="17145">
              <a:solidFill>
                <a:srgbClr val="B42318"/>
              </a:solidFill>
              <a:custDash>
                <a:ds d="333333" sp="222222"/>
              </a:custDash>
            </a:ln>
          </p:spPr>
        </p:sp>
        <p:sp>
          <p:nvSpPr>
            <p:cNvPr id="40" name="Freeform 40"/>
            <p:cNvSpPr/>
            <p:nvPr/>
          </p:nvSpPr>
          <p:spPr>
            <a:xfrm>
              <a:off x="9478328" y="2281238"/>
              <a:ext cx="9525" cy="1153478"/>
            </a:xfrm>
            <a:custGeom>
              <a:avLst/>
              <a:gdLst/>
              <a:ahLst/>
              <a:cxnLst/>
              <a:rect l="l" t="t" r="r" b="b"/>
              <a:pathLst>
                <a:path w="9525" h="1153478">
                  <a:moveTo>
                    <a:pt x="0" y="1153478"/>
                  </a:moveTo>
                  <a:lnTo>
                    <a:pt x="0" y="0"/>
                  </a:lnTo>
                </a:path>
              </a:pathLst>
            </a:custGeom>
            <a:noFill/>
            <a:ln w="17145">
              <a:solidFill>
                <a:srgbClr val="5B6475"/>
              </a:solidFill>
              <a:custDash>
                <a:ds d="333333" sp="222222"/>
              </a:custDash>
            </a:ln>
          </p:spPr>
        </p:sp>
        <p:sp>
          <p:nvSpPr>
            <p:cNvPr id="41" name="TextBox 41"/>
            <p:cNvSpPr txBox="1"/>
            <p:nvPr/>
          </p:nvSpPr>
          <p:spPr>
            <a:xfrm>
              <a:off x="6842778" y="2025491"/>
              <a:ext cx="542888" cy="161925"/>
            </a:xfrm>
            <a:prstGeom prst="rect">
              <a:avLst/>
            </a:prstGeom>
            <a:noFill/>
            <a:ln>
              <a:noFill/>
            </a:ln>
          </p:spPr>
          <p:txBody>
            <a:bodyPr wrap="none" lIns="0" tIns="0" rIns="0" bIns="0" anchor="t" anchorCtr="0">
              <a:spAutoFit/>
            </a:bodyPr>
            <a:lstStyle/>
            <a:p>
              <a:pPr algn="ctr"/>
              <a:r>
                <a:rPr lang="zh-CN" sz="820" dirty="0">
                  <a:solidFill>
                    <a:srgbClr val="0E7C86"/>
                  </a:solidFill>
                  <a:latin typeface="+mn-lt"/>
                  <a:ea typeface="+mn-ea"/>
                  <a:cs typeface="+mn-cs"/>
                </a:rPr>
                <a:t>Hinge 损失</a:t>
              </a:r>
            </a:p>
          </p:txBody>
        </p:sp>
        <p:sp>
          <p:nvSpPr>
            <p:cNvPr id="42" name="TextBox 42"/>
            <p:cNvSpPr txBox="1"/>
            <p:nvPr/>
          </p:nvSpPr>
          <p:spPr>
            <a:xfrm>
              <a:off x="6782858" y="2863691"/>
              <a:ext cx="445559" cy="161925"/>
            </a:xfrm>
            <a:prstGeom prst="rect">
              <a:avLst/>
            </a:prstGeom>
            <a:noFill/>
            <a:ln>
              <a:noFill/>
            </a:ln>
          </p:spPr>
          <p:txBody>
            <a:bodyPr wrap="none" lIns="0" tIns="0" rIns="0" bIns="0" anchor="t" anchorCtr="0">
              <a:spAutoFit/>
            </a:bodyPr>
            <a:lstStyle/>
            <a:p>
              <a:pPr algn="ctr"/>
              <a:r>
                <a:rPr lang="zh-CN" sz="820" dirty="0">
                  <a:solidFill>
                    <a:srgbClr val="B42318"/>
                  </a:solidFill>
                  <a:latin typeface="+mn-lt"/>
                  <a:ea typeface="+mn-ea"/>
                  <a:cs typeface="+mn-cs"/>
                </a:rPr>
                <a:t>0/1 损失</a:t>
              </a:r>
            </a:p>
          </p:txBody>
        </p:sp>
        <p:sp>
          <p:nvSpPr>
            <p:cNvPr id="43" name="TextBox 43"/>
            <p:cNvSpPr txBox="1"/>
            <p:nvPr/>
          </p:nvSpPr>
          <p:spPr>
            <a:xfrm>
              <a:off x="10513063" y="3552349"/>
              <a:ext cx="771205" cy="161925"/>
            </a:xfrm>
            <a:prstGeom prst="rect">
              <a:avLst/>
            </a:prstGeom>
            <a:noFill/>
            <a:ln>
              <a:noFill/>
            </a:ln>
          </p:spPr>
          <p:txBody>
            <a:bodyPr wrap="none" lIns="0" tIns="0" rIns="0" bIns="0" anchor="t" anchorCtr="0">
              <a:spAutoFit/>
            </a:bodyPr>
            <a:lstStyle/>
            <a:p>
              <a:pPr algn="r"/>
              <a:r>
                <a:rPr lang="en-US" sz="820" dirty="0">
                  <a:solidFill>
                    <a:srgbClr val="5B6475"/>
                  </a:solidFill>
                  <a:latin typeface="+mn-lt"/>
                  <a:ea typeface="+mn-ea"/>
                  <a:cs typeface="+mn-cs"/>
                </a:rPr>
                <a:t>z = y(w·x + b)</a:t>
              </a:r>
            </a:p>
          </p:txBody>
        </p:sp>
        <p:sp>
          <p:nvSpPr>
            <p:cNvPr id="44" name="TextBox 44"/>
            <p:cNvSpPr txBox="1"/>
            <p:nvPr/>
          </p:nvSpPr>
          <p:spPr>
            <a:xfrm>
              <a:off x="9459401" y="3552349"/>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1</a:t>
              </a:r>
            </a:p>
          </p:txBody>
        </p:sp>
        <p:sp>
          <p:nvSpPr>
            <p:cNvPr id="45" name="TextBox 45"/>
            <p:cNvSpPr txBox="1"/>
            <p:nvPr/>
          </p:nvSpPr>
          <p:spPr>
            <a:xfrm>
              <a:off x="8377361" y="3552349"/>
              <a:ext cx="7023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0</a:t>
              </a:r>
            </a:p>
          </p:txBody>
        </p:sp>
      </p:grpSp>
      <p:grpSp>
        <p:nvGrpSpPr>
          <p:cNvPr id="53" name="c2-card-2"/>
          <p:cNvGrpSpPr/>
          <p:nvPr/>
        </p:nvGrpSpPr>
        <p:grpSpPr>
          <a:xfrm>
            <a:off x="6248400" y="3955732"/>
            <a:ext cx="5410200" cy="1724978"/>
            <a:chOff x="6248400" y="3955732"/>
            <a:chExt cx="5410200" cy="1724978"/>
          </a:xfrm>
        </p:grpSpPr>
        <p:sp>
          <p:nvSpPr>
            <p:cNvPr id="47" name="Rectangle 47"/>
            <p:cNvSpPr/>
            <p:nvPr/>
          </p:nvSpPr>
          <p:spPr>
            <a:xfrm>
              <a:off x="6248400" y="3955732"/>
              <a:ext cx="5410200" cy="1724978"/>
            </a:xfrm>
            <a:prstGeom prst="roundRect">
              <a:avLst>
                <a:gd name="adj" fmla="val 7731"/>
              </a:avLst>
            </a:prstGeom>
            <a:solidFill>
              <a:srgbClr val="0E7C86"/>
            </a:solidFill>
            <a:ln>
              <a:noFill/>
            </a:ln>
          </p:spPr>
        </p:sp>
        <p:sp>
          <p:nvSpPr>
            <p:cNvPr id="48" name="TextBox 48"/>
            <p:cNvSpPr txBox="1"/>
            <p:nvPr/>
          </p:nvSpPr>
          <p:spPr>
            <a:xfrm>
              <a:off x="6422898" y="4157186"/>
              <a:ext cx="1908404"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这个写法回答了两个问题</a:t>
              </a:r>
            </a:p>
          </p:txBody>
        </p:sp>
        <p:sp>
          <p:nvSpPr>
            <p:cNvPr id="49" name="Ellipse 49"/>
            <p:cNvSpPr/>
            <p:nvPr/>
          </p:nvSpPr>
          <p:spPr>
            <a:xfrm>
              <a:off x="6438900" y="4511040"/>
              <a:ext cx="57150" cy="57150"/>
            </a:xfrm>
            <a:prstGeom prst="ellipse">
              <a:avLst/>
            </a:prstGeom>
            <a:solidFill>
              <a:srgbClr val="FFFFFF"/>
            </a:solidFill>
            <a:ln>
              <a:noFill/>
            </a:ln>
          </p:spPr>
        </p:sp>
        <p:sp>
          <p:nvSpPr>
            <p:cNvPr id="50" name="TextBox 50"/>
            <p:cNvSpPr txBox="1"/>
            <p:nvPr/>
          </p:nvSpPr>
          <p:spPr>
            <a:xfrm>
              <a:off x="6594348" y="4459129"/>
              <a:ext cx="4673143"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FFD58A"/>
                  </a:solidFill>
                  <a:latin typeface="+mn-lt"/>
                  <a:ea typeface="+mn-ea"/>
                  <a:cs typeface="+mn-cs"/>
                </a:rPr>
                <a:t>½||w||² 就是正则化项</a:t>
              </a:r>
              <a:r>
                <a:rPr lang="zh-CN" sz="1280" dirty="0">
                  <a:solidFill>
                    <a:srgbClr val="FFFFFF"/>
                  </a:solidFill>
                  <a:latin typeface="+mn-lt"/>
                  <a:ea typeface="+mn-ea"/>
                  <a:cs typeface="+mn-cs"/>
                </a:rPr>
                <a:t>：压制模型复杂度，对应第 8 页的复杂度风</a:t>
              </a:r>
              <a:br/>
              <a:r>
                <a:rPr lang="zh-CN" sz="1280" dirty="0">
                  <a:solidFill>
                    <a:srgbClr val="FFFFFF"/>
                  </a:solidFill>
                  <a:latin typeface="+mn-lt"/>
                  <a:ea typeface="+mn-ea"/>
                  <a:cs typeface="+mn-cs"/>
                </a:rPr>
                <a:t>险</a:t>
              </a:r>
            </a:p>
          </p:txBody>
        </p:sp>
        <p:sp>
          <p:nvSpPr>
            <p:cNvPr id="51" name="Ellipse 51"/>
            <p:cNvSpPr/>
            <p:nvPr/>
          </p:nvSpPr>
          <p:spPr>
            <a:xfrm>
              <a:off x="6438900" y="5038725"/>
              <a:ext cx="57150" cy="57150"/>
            </a:xfrm>
            <a:prstGeom prst="ellipse">
              <a:avLst/>
            </a:prstGeom>
            <a:solidFill>
              <a:srgbClr val="FFFFFF"/>
            </a:solidFill>
            <a:ln>
              <a:noFill/>
            </a:ln>
          </p:spPr>
        </p:sp>
        <p:sp>
          <p:nvSpPr>
            <p:cNvPr id="52" name="TextBox 52"/>
            <p:cNvSpPr txBox="1"/>
            <p:nvPr/>
          </p:nvSpPr>
          <p:spPr>
            <a:xfrm>
              <a:off x="6594348" y="4986814"/>
              <a:ext cx="4207616" cy="249364"/>
            </a:xfrm>
            <a:prstGeom prst="rect">
              <a:avLst/>
            </a:prstGeom>
            <a:noFill/>
            <a:ln>
              <a:noFill/>
            </a:ln>
          </p:spPr>
          <p:txBody>
            <a:bodyPr wrap="none" lIns="0" tIns="0" rIns="0" bIns="0" anchor="t" anchorCtr="0">
              <a:spAutoFit/>
            </a:bodyPr>
            <a:lstStyle/>
            <a:p>
              <a:pPr algn="l"/>
              <a:r>
                <a:rPr lang="zh-CN" sz="1280" b="1" dirty="0">
                  <a:solidFill>
                    <a:srgbClr val="FFD58A"/>
                  </a:solidFill>
                  <a:latin typeface="+mn-lt"/>
                  <a:ea typeface="+mn-ea"/>
                  <a:cs typeface="+mn-cs"/>
                </a:rPr>
                <a:t>CΣmax(·) 就是经验风险</a:t>
              </a:r>
              <a:r>
                <a:rPr lang="zh-CN" sz="1280" dirty="0">
                  <a:solidFill>
                    <a:srgbClr val="FFFFFF"/>
                  </a:solidFill>
                  <a:latin typeface="+mn-lt"/>
                  <a:ea typeface="+mn-ea"/>
                  <a:cs typeface="+mn-cs"/>
                </a:rPr>
                <a:t>：Hinge 是 0/1 损失的凸上界</a:t>
              </a:r>
            </a:p>
          </p:txBody>
        </p:sp>
      </p:grpSp>
      <p:grpSp>
        <p:nvGrpSpPr>
          <p:cNvPr id="60" name="takeaway"/>
          <p:cNvGrpSpPr/>
          <p:nvPr/>
        </p:nvGrpSpPr>
        <p:grpSpPr>
          <a:xfrm>
            <a:off x="533400" y="5895022"/>
            <a:ext cx="11125200" cy="467678"/>
            <a:chOff x="533400" y="5895022"/>
            <a:chExt cx="11125200" cy="467678"/>
          </a:xfrm>
        </p:grpSpPr>
        <p:sp>
          <p:nvSpPr>
            <p:cNvPr id="54" name="Rectangle 54"/>
            <p:cNvSpPr/>
            <p:nvPr/>
          </p:nvSpPr>
          <p:spPr>
            <a:xfrm>
              <a:off x="533400" y="5895022"/>
              <a:ext cx="11125200" cy="467678"/>
            </a:xfrm>
            <a:prstGeom prst="roundRect">
              <a:avLst>
                <a:gd name="adj" fmla="val 24440"/>
              </a:avLst>
            </a:prstGeom>
            <a:solidFill>
              <a:srgbClr val="FDEEE7"/>
            </a:solidFill>
            <a:ln>
              <a:noFill/>
            </a:ln>
          </p:spPr>
        </p:sp>
        <p:grpSp>
          <p:nvGrpSpPr>
            <p:cNvPr id="58" name="Group 58"/>
            <p:cNvGrpSpPr/>
            <p:nvPr/>
          </p:nvGrpSpPr>
          <p:grpSpPr>
            <a:xfrm>
              <a:off x="738188" y="6028373"/>
              <a:ext cx="200026" cy="200025"/>
              <a:chOff x="738188" y="6028373"/>
              <a:chExt cx="200026" cy="200025"/>
            </a:xfrm>
          </p:grpSpPr>
          <p:sp>
            <p:nvSpPr>
              <p:cNvPr id="55" name="Freeform 55"/>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6" name="Freeform 56"/>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7" name="Freeform 57"/>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9" name="TextBox 59"/>
            <p:cNvSpPr txBox="1"/>
            <p:nvPr/>
          </p:nvSpPr>
          <p:spPr>
            <a:xfrm>
              <a:off x="1041273" y="6039326"/>
              <a:ext cx="8490491"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B 版课件第 4 页提过“等价于正则化的 Hinge 损失最小化”，这一页把它算了出来；具体式子来自 A 版第 37 页。</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345468" cy="909257"/>
            <a:chOff x="520446" y="342900"/>
            <a:chExt cx="5345468"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线性支持向量机：软间隔最大化</a:t>
              </a:r>
            </a:p>
          </p:txBody>
        </p:sp>
        <p:sp>
          <p:nvSpPr>
            <p:cNvPr id="4" name="TextBox 4"/>
            <p:cNvSpPr txBox="1"/>
            <p:nvPr/>
          </p:nvSpPr>
          <p:spPr>
            <a:xfrm>
              <a:off x="520446" y="753428"/>
              <a:ext cx="534546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软间隔的拉格朗日函数与 KKT 条件</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626418" cy="2129790"/>
            <a:chOff x="533400" y="1524000"/>
            <a:chExt cx="5626418" cy="2129790"/>
          </a:xfrm>
        </p:grpSpPr>
        <p:sp>
          <p:nvSpPr>
            <p:cNvPr id="7" name="Rectangle 7"/>
            <p:cNvSpPr/>
            <p:nvPr/>
          </p:nvSpPr>
          <p:spPr>
            <a:xfrm>
              <a:off x="533400" y="1524000"/>
              <a:ext cx="5626418" cy="2129790"/>
            </a:xfrm>
            <a:prstGeom prst="roundRect">
              <a:avLst>
                <a:gd name="adj" fmla="val 6261"/>
              </a:avLst>
            </a:prstGeom>
            <a:solidFill>
              <a:srgbClr val="FFFFFF"/>
            </a:solidFill>
            <a:ln w="14288">
              <a:solidFill>
                <a:srgbClr val="D9DFEA"/>
              </a:solidFill>
            </a:ln>
          </p:spPr>
        </p:sp>
        <p:sp>
          <p:nvSpPr>
            <p:cNvPr id="8" name="Rectangle 8"/>
            <p:cNvSpPr/>
            <p:nvPr/>
          </p:nvSpPr>
          <p:spPr>
            <a:xfrm>
              <a:off x="542925" y="1657350"/>
              <a:ext cx="47625" cy="1863090"/>
            </a:xfrm>
            <a:prstGeom prst="roundRect">
              <a:avLst>
                <a:gd name="adj" fmla="val 50000"/>
              </a:avLst>
            </a:prstGeom>
            <a:solidFill>
              <a:srgbClr val="0E7C86"/>
            </a:solidFill>
            <a:ln>
              <a:noFill/>
            </a:ln>
          </p:spPr>
        </p:sp>
        <p:sp>
          <p:nvSpPr>
            <p:cNvPr id="9" name="Rectangle 9"/>
            <p:cNvSpPr/>
            <p:nvPr/>
          </p:nvSpPr>
          <p:spPr>
            <a:xfrm>
              <a:off x="769620" y="1722120"/>
              <a:ext cx="742950" cy="247650"/>
            </a:xfrm>
            <a:prstGeom prst="roundRect">
              <a:avLst>
                <a:gd name="adj" fmla="val 50000"/>
              </a:avLst>
            </a:prstGeom>
            <a:solidFill>
              <a:srgbClr val="E2F3F4"/>
            </a:solidFill>
            <a:ln>
              <a:noFill/>
            </a:ln>
          </p:spPr>
        </p:sp>
        <p:sp>
          <p:nvSpPr>
            <p:cNvPr id="10" name="TextBox 10"/>
            <p:cNvSpPr txBox="1"/>
            <p:nvPr/>
          </p:nvSpPr>
          <p:spPr>
            <a:xfrm>
              <a:off x="853059" y="1756410"/>
              <a:ext cx="576072"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两组乘子</a:t>
              </a:r>
            </a:p>
          </p:txBody>
        </p:sp>
        <p:sp>
          <p:nvSpPr>
            <p:cNvPr id="11" name="TextBox 11"/>
            <p:cNvSpPr txBox="1"/>
            <p:nvPr/>
          </p:nvSpPr>
          <p:spPr>
            <a:xfrm>
              <a:off x="1619631" y="1756886"/>
              <a:ext cx="288188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不等式约束有两条，乘子也有两套</a:t>
              </a:r>
            </a:p>
          </p:txBody>
        </p:sp>
        <mc:AlternateContent xmlns:mc="http://schemas.openxmlformats.org/markup-compatibility/2006">
          <mc:Choice xmlns:a14="http://schemas.microsoft.com/office/drawing/2010/main" Requires="a14">
            <p:sp>
              <p:nvSpPr>
                <p:cNvPr id="12" name="formula174"/>
                <p:cNvSpPr txBox="1">
                  <a:spLocks noGrp="1"/>
                </p:cNvSpPr>
                <p:nvPr/>
              </p:nvSpPr>
              <p:spPr>
                <a:xfrm>
                  <a:off x="769620" y="2077402"/>
                  <a:ext cx="5192078" cy="50006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120" dirty="0">
                            <a:solidFill>
                              <a:srgbClr val="1F2937"/>
                            </a:solidFill>
                            <a:latin typeface="Cambria Math"/>
                            <a:ea typeface="Cambria Math"/>
                            <a:cs typeface="Cambria Math"/>
                          </a:rPr>
                          <m:t>L</m:t>
                        </m:r>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w</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b</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ξ</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α</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β</m:t>
                            </m:r>
                          </m:e>
                        </m:d>
                        <m:r>
                          <m:rPr>
                            <m:sty m:val="p"/>
                          </m:rPr>
                          <a:rPr lang="zh-CN" sz="1120" dirty="0">
                            <a:solidFill>
                              <a:srgbClr val="1F2937"/>
                            </a:solidFill>
                            <a:latin typeface="Cambria Math"/>
                            <a:ea typeface="Cambria Math"/>
                            <a:cs typeface="Cambria Math"/>
                          </a:rPr>
                          <m:t>=</m:t>
                        </m:r>
                        <m:f>
                          <m:fPr>
                            <m:type m:val="bar"/>
                            <m:ctrlPr>
                              <a:rPr lang="zh-CN" sz="1120" dirty="0">
                                <a:solidFill>
                                  <a:srgbClr val="1F2937"/>
                                </a:solidFill>
                                <a:latin typeface="Cambria Math"/>
                                <a:ea typeface="Cambria Math"/>
                                <a:cs typeface="Cambria Math"/>
                              </a:rPr>
                            </m:ctrlPr>
                          </m:fPr>
                          <m:num>
                            <m:r>
                              <a:rPr lang="zh-CN" sz="1120" dirty="0">
                                <a:solidFill>
                                  <a:srgbClr val="1F2937"/>
                                </a:solidFill>
                                <a:latin typeface="Cambria Math"/>
                                <a:ea typeface="Cambria Math"/>
                                <a:cs typeface="Cambria Math"/>
                              </a:rPr>
                              <m:t>1</m:t>
                            </m:r>
                          </m:num>
                          <m:den>
                            <m:r>
                              <a:rPr lang="zh-CN" sz="1120" dirty="0">
                                <a:solidFill>
                                  <a:srgbClr val="1F2937"/>
                                </a:solidFill>
                                <a:latin typeface="Cambria Math"/>
                                <a:ea typeface="Cambria Math"/>
                                <a:cs typeface="Cambria Math"/>
                              </a:rPr>
                              <m:t>2</m:t>
                            </m:r>
                          </m:den>
                        </m:f>
                        <m:sSup>
                          <m:e>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w</m:t>
                                </m:r>
                              </m:e>
                            </m:d>
                          </m:e>
                          <m:sup>
                            <m:r>
                              <a:rPr lang="zh-CN" sz="1120" dirty="0">
                                <a:solidFill>
                                  <a:srgbClr val="1F2937"/>
                                </a:solidFill>
                                <a:latin typeface="Cambria Math"/>
                                <a:ea typeface="Cambria Math"/>
                                <a:cs typeface="Cambria Math"/>
                              </a:rPr>
                              <m:t>2</m:t>
                            </m:r>
                          </m:sup>
                        </m:sSup>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C</m:t>
                        </m:r>
                        <m:nary>
                          <m:naryPr>
                            <m:chr m:val="∑"/>
                            <m:limLoc m:val="undOvr"/>
                            <m:grow m:val="off"/>
                            <m:subHide m:val="off"/>
                            <m:supHide m:val="off"/>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i</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sub>
                          <m:sup>
                            <m:r>
                              <a:rPr lang="zh-CN" sz="1120" dirty="0">
                                <a:solidFill>
                                  <a:srgbClr val="1F2937"/>
                                </a:solidFill>
                                <a:latin typeface="Cambria Math"/>
                                <a:ea typeface="Cambria Math"/>
                                <a:cs typeface="Cambria Math"/>
                              </a:rPr>
                              <m:t>N</m:t>
                            </m:r>
                          </m:sup>
                          <m:e>
                            <m:sSub>
                              <m:e>
                                <m:r>
                                  <a:rPr lang="zh-CN" sz="1120" dirty="0">
                                    <a:solidFill>
                                      <a:srgbClr val="1F2937"/>
                                    </a:solidFill>
                                    <a:latin typeface="Cambria Math"/>
                                    <a:ea typeface="Cambria Math"/>
                                    <a:cs typeface="Cambria Math"/>
                                  </a:rPr>
                                  <m:t>ξ</m:t>
                                </m:r>
                              </m:e>
                              <m:sub>
                                <m:r>
                                  <a:rPr lang="zh-CN" sz="1120" dirty="0">
                                    <a:solidFill>
                                      <a:srgbClr val="1F2937"/>
                                    </a:solidFill>
                                    <a:latin typeface="Cambria Math"/>
                                    <a:ea typeface="Cambria Math"/>
                                    <a:cs typeface="Cambria Math"/>
                                  </a:rPr>
                                  <m:t>i</m:t>
                                </m:r>
                              </m:sub>
                            </m:sSub>
                          </m:e>
                        </m:nary>
                        <m:r>
                          <m:rPr>
                            <m:sty m:val="p"/>
                          </m:rPr>
                          <a:rPr lang="zh-CN" sz="1120" dirty="0">
                            <a:solidFill>
                              <a:srgbClr val="1F2937"/>
                            </a:solidFill>
                            <a:latin typeface="Cambria Math"/>
                            <a:ea typeface="Cambria Math"/>
                            <a:cs typeface="Cambria Math"/>
                          </a:rPr>
                          <m:t>+</m:t>
                        </m:r>
                        <m:nary>
                          <m:naryPr>
                            <m:chr m:val="∑"/>
                            <m:limLoc m:val="undOvr"/>
                            <m:grow m:val="off"/>
                            <m:subHide m:val="off"/>
                            <m:supHide m:val="off"/>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i</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sub>
                          <m:sup>
                            <m:r>
                              <a:rPr lang="zh-CN" sz="1120" dirty="0">
                                <a:solidFill>
                                  <a:srgbClr val="1F2937"/>
                                </a:solidFill>
                                <a:latin typeface="Cambria Math"/>
                                <a:ea typeface="Cambria Math"/>
                                <a:cs typeface="Cambria Math"/>
                              </a:rPr>
                              <m:t>N</m:t>
                            </m:r>
                          </m:sup>
                          <m:e>
                            <m:sSub>
                              <m:e>
                                <m:r>
                                  <a:rPr lang="zh-CN" sz="1120" dirty="0">
                                    <a:solidFill>
                                      <a:srgbClr val="1F2937"/>
                                    </a:solidFill>
                                    <a:latin typeface="Cambria Math"/>
                                    <a:ea typeface="Cambria Math"/>
                                    <a:cs typeface="Cambria Math"/>
                                  </a:rPr>
                                  <m:t>α</m:t>
                                </m:r>
                              </m:e>
                              <m:sub>
                                <m:r>
                                  <a:rPr lang="zh-CN" sz="1120" dirty="0">
                                    <a:solidFill>
                                      <a:srgbClr val="1F2937"/>
                                    </a:solidFill>
                                    <a:latin typeface="Cambria Math"/>
                                    <a:ea typeface="Cambria Math"/>
                                    <a:cs typeface="Cambria Math"/>
                                  </a:rPr>
                                  <m:t>i</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1</m:t>
                                </m:r>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ξ</m:t>
                                    </m:r>
                                  </m:e>
                                  <m:sub>
                                    <m:r>
                                      <a:rPr lang="zh-CN" sz="1120" dirty="0">
                                        <a:solidFill>
                                          <a:srgbClr val="1F2937"/>
                                        </a:solidFill>
                                        <a:latin typeface="Cambria Math"/>
                                        <a:ea typeface="Cambria Math"/>
                                        <a:cs typeface="Cambria Math"/>
                                      </a:rPr>
                                      <m:t>i</m:t>
                                    </m:r>
                                  </m:sub>
                                </m:sSub>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y</m:t>
                                    </m:r>
                                  </m:e>
                                  <m:sub>
                                    <m:r>
                                      <a:rPr lang="zh-CN" sz="1120" dirty="0">
                                        <a:solidFill>
                                          <a:srgbClr val="1F2937"/>
                                        </a:solidFill>
                                        <a:latin typeface="Cambria Math"/>
                                        <a:ea typeface="Cambria Math"/>
                                        <a:cs typeface="Cambria Math"/>
                                      </a:rPr>
                                      <m:t>i</m:t>
                                    </m:r>
                                  </m:sub>
                                </m:sSub>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w</m:t>
                                    </m:r>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x</m:t>
                                        </m:r>
                                      </m:e>
                                      <m:sub>
                                        <m:r>
                                          <a:rPr lang="zh-CN" sz="1120" dirty="0">
                                            <a:solidFill>
                                              <a:srgbClr val="1F2937"/>
                                            </a:solidFill>
                                            <a:latin typeface="Cambria Math"/>
                                            <a:ea typeface="Cambria Math"/>
                                            <a:cs typeface="Cambria Math"/>
                                          </a:rPr>
                                          <m:t>i</m:t>
                                        </m:r>
                                      </m:sub>
                                    </m:sSub>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b</m:t>
                                    </m:r>
                                  </m:e>
                                </m:d>
                              </m:e>
                            </m:d>
                          </m:e>
                        </m:nary>
                        <m:r>
                          <m:rPr>
                            <m:sty m:val="p"/>
                          </m:rPr>
                          <a:rPr lang="zh-CN" sz="1120" dirty="0">
                            <a:solidFill>
                              <a:srgbClr val="1F2937"/>
                            </a:solidFill>
                            <a:latin typeface="Cambria Math"/>
                            <a:ea typeface="Cambria Math"/>
                            <a:cs typeface="Cambria Math"/>
                          </a:rPr>
                          <m:t>−</m:t>
                        </m:r>
                        <m:nary>
                          <m:naryPr>
                            <m:chr m:val="∑"/>
                            <m:limLoc m:val="undOvr"/>
                            <m:grow m:val="off"/>
                            <m:subHide m:val="off"/>
                            <m:supHide m:val="off"/>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i</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sub>
                          <m:sup>
                            <m:r>
                              <a:rPr lang="zh-CN" sz="1120" dirty="0">
                                <a:solidFill>
                                  <a:srgbClr val="1F2937"/>
                                </a:solidFill>
                                <a:latin typeface="Cambria Math"/>
                                <a:ea typeface="Cambria Math"/>
                                <a:cs typeface="Cambria Math"/>
                              </a:rPr>
                              <m:t>N</m:t>
                            </m:r>
                          </m:sup>
                          <m:e>
                            <m:sSub>
                              <m:e>
                                <m:r>
                                  <a:rPr lang="zh-CN" sz="1120" dirty="0">
                                    <a:solidFill>
                                      <a:srgbClr val="1F2937"/>
                                    </a:solidFill>
                                    <a:latin typeface="Cambria Math"/>
                                    <a:ea typeface="Cambria Math"/>
                                    <a:cs typeface="Cambria Math"/>
                                  </a:rPr>
                                  <m:t>β</m:t>
                                </m:r>
                              </m:e>
                              <m:sub>
                                <m:r>
                                  <a:rPr lang="zh-CN" sz="1120" dirty="0">
                                    <a:solidFill>
                                      <a:srgbClr val="1F2937"/>
                                    </a:solidFill>
                                    <a:latin typeface="Cambria Math"/>
                                    <a:ea typeface="Cambria Math"/>
                                    <a:cs typeface="Cambria Math"/>
                                  </a:rPr>
                                  <m:t>i</m:t>
                                </m:r>
                              </m:sub>
                            </m:sSub>
                            <m:sSub>
                              <m:e>
                                <m:r>
                                  <a:rPr lang="zh-CN" sz="1120" dirty="0">
                                    <a:solidFill>
                                      <a:srgbClr val="1F2937"/>
                                    </a:solidFill>
                                    <a:latin typeface="Cambria Math"/>
                                    <a:ea typeface="Cambria Math"/>
                                    <a:cs typeface="Cambria Math"/>
                                  </a:rPr>
                                  <m:t>ξ</m:t>
                                </m:r>
                              </m:e>
                              <m:sub>
                                <m:r>
                                  <a:rPr lang="zh-CN" sz="1120" dirty="0">
                                    <a:solidFill>
                                      <a:srgbClr val="1F2937"/>
                                    </a:solidFill>
                                    <a:latin typeface="Cambria Math"/>
                                    <a:ea typeface="Cambria Math"/>
                                    <a:cs typeface="Cambria Math"/>
                                  </a:rPr>
                                  <m:t>i</m:t>
                                </m:r>
                              </m:sub>
                            </m:sSub>
                          </m:e>
                        </m:nary>
                      </m:oMath>
                    </m:oMathPara>
                  </a14:m>
                </a:p>
              </p:txBody>
            </p:sp>
          </mc:Choice>
        </mc:AlternateContent>
        <p:sp>
          <p:nvSpPr>
            <p:cNvPr id="13" name="TextBox 13"/>
            <p:cNvSpPr txBox="1"/>
            <p:nvPr/>
          </p:nvSpPr>
          <p:spPr>
            <a:xfrm>
              <a:off x="762381" y="2690336"/>
              <a:ext cx="4891322"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αᵢ ≥ 0 对应间隔约束，βᵢ ≥ 0 对应 ξᵢ ≥ 0；w、b、ξᵢ 是主</a:t>
              </a:r>
              <a:br/>
              <a:r>
                <a:rPr lang="zh-CN" sz="1420" dirty="0">
                  <a:solidFill>
                    <a:srgbClr val="1F2937"/>
                  </a:solidFill>
                  <a:latin typeface="+mn-lt"/>
                  <a:ea typeface="+mn-ea"/>
                  <a:cs typeface="+mn-cs"/>
                </a:rPr>
                <a:t>问题参数。根据强对偶性，</a:t>
              </a:r>
              <a:r>
                <a:rPr lang="zh-CN" sz="1420" b="1" dirty="0">
                  <a:solidFill>
                    <a:srgbClr val="C2410C"/>
                  </a:solidFill>
                  <a:latin typeface="+mn-lt"/>
                  <a:ea typeface="+mn-ea"/>
                  <a:cs typeface="+mn-cs"/>
                </a:rPr>
                <a:t>先对 w、b、ξ 求极小，再对 α、β</a:t>
              </a:r>
              <a:br/>
              <a:r>
                <a:rPr lang="zh-CN" sz="1420" b="1" dirty="0">
                  <a:solidFill>
                    <a:srgbClr val="C2410C"/>
                  </a:solidFill>
                  <a:latin typeface="+mn-lt"/>
                  <a:ea typeface="+mn-ea"/>
                  <a:cs typeface="+mn-cs"/>
                </a:rPr>
                <a:t>求极大</a:t>
              </a:r>
              <a:r>
                <a:rPr lang="zh-CN" sz="1420" dirty="0">
                  <a:solidFill>
                    <a:srgbClr val="1F2937"/>
                  </a:solidFill>
                  <a:latin typeface="+mn-lt"/>
                  <a:ea typeface="+mn-ea"/>
                  <a:cs typeface="+mn-cs"/>
                </a:rPr>
                <a:t>。</a:t>
              </a:r>
            </a:p>
          </p:txBody>
        </p:sp>
      </p:grpSp>
      <p:grpSp>
        <p:nvGrpSpPr>
          <p:cNvPr id="21" name="c1-card-2"/>
          <p:cNvGrpSpPr/>
          <p:nvPr/>
        </p:nvGrpSpPr>
        <p:grpSpPr>
          <a:xfrm>
            <a:off x="533400" y="3833812"/>
            <a:ext cx="5626418" cy="2468880"/>
            <a:chOff x="533400" y="3833812"/>
            <a:chExt cx="5626418" cy="2468880"/>
          </a:xfrm>
        </p:grpSpPr>
        <p:sp>
          <p:nvSpPr>
            <p:cNvPr id="15" name="Rectangle 15"/>
            <p:cNvSpPr/>
            <p:nvPr/>
          </p:nvSpPr>
          <p:spPr>
            <a:xfrm>
              <a:off x="533400" y="3833812"/>
              <a:ext cx="5626418" cy="2468880"/>
            </a:xfrm>
            <a:prstGeom prst="roundRect">
              <a:avLst>
                <a:gd name="adj" fmla="val 5401"/>
              </a:avLst>
            </a:prstGeom>
            <a:solidFill>
              <a:srgbClr val="0E7C86"/>
            </a:solidFill>
            <a:ln>
              <a:noFill/>
            </a:ln>
          </p:spPr>
        </p:sp>
        <p:sp>
          <p:nvSpPr>
            <p:cNvPr id="16" name="Rectangle 16"/>
            <p:cNvSpPr/>
            <p:nvPr/>
          </p:nvSpPr>
          <p:spPr>
            <a:xfrm>
              <a:off x="731520" y="4031932"/>
              <a:ext cx="609600" cy="247650"/>
            </a:xfrm>
            <a:prstGeom prst="roundRect">
              <a:avLst>
                <a:gd name="adj" fmla="val 50000"/>
              </a:avLst>
            </a:prstGeom>
            <a:solidFill>
              <a:srgbClr val="0B5F67"/>
            </a:solidFill>
            <a:ln>
              <a:noFill/>
            </a:ln>
          </p:spPr>
        </p:sp>
        <p:sp>
          <p:nvSpPr>
            <p:cNvPr id="17" name="TextBox 17"/>
            <p:cNvSpPr txBox="1"/>
            <p:nvPr/>
          </p:nvSpPr>
          <p:spPr>
            <a:xfrm>
              <a:off x="818959" y="4066223"/>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平稳性</a:t>
              </a:r>
            </a:p>
          </p:txBody>
        </p:sp>
        <p:sp>
          <p:nvSpPr>
            <p:cNvPr id="18" name="TextBox 18"/>
            <p:cNvSpPr txBox="1"/>
            <p:nvPr/>
          </p:nvSpPr>
          <p:spPr>
            <a:xfrm>
              <a:off x="1448181" y="4067651"/>
              <a:ext cx="2499563"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对三个主问题参数分别求偏导</a:t>
              </a:r>
            </a:p>
          </p:txBody>
        </p:sp>
        <mc:AlternateContent xmlns:mc="http://schemas.openxmlformats.org/markup-compatibility/2006">
          <mc:Choice xmlns:a14="http://schemas.microsoft.com/office/drawing/2010/main" Requires="a14">
            <p:sp>
              <p:nvSpPr>
                <p:cNvPr id="19" name="formula175"/>
                <p:cNvSpPr txBox="1">
                  <a:spLocks noGrp="1"/>
                </p:cNvSpPr>
                <p:nvPr/>
              </p:nvSpPr>
              <p:spPr>
                <a:xfrm>
                  <a:off x="731520" y="4387215"/>
                  <a:ext cx="5230178" cy="6286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500" dirty="0">
                            <a:solidFill>
                              <a:srgbClr val="FFFFFF"/>
                            </a:solidFill>
                            <a:latin typeface="Cambria Math"/>
                            <a:ea typeface="Cambria Math"/>
                            <a:cs typeface="Cambria Math"/>
                          </a:rPr>
                          <m:t>w</m:t>
                        </m:r>
                        <m:r>
                          <m:rPr>
                            <m:sty m:val="p"/>
                          </m:rPr>
                          <a:rPr lang="zh-CN" sz="1500" dirty="0">
                            <a:solidFill>
                              <a:srgbClr val="FFFFFF"/>
                            </a:solidFill>
                            <a:latin typeface="Cambria Math"/>
                            <a:ea typeface="Cambria Math"/>
                            <a:cs typeface="Cambria Math"/>
                          </a:rPr>
                          <m:t>=</m:t>
                        </m:r>
                        <m:nary>
                          <m:naryPr>
                            <m:chr m:val="∑"/>
                            <m:limLoc m:val="undOvr"/>
                            <m:grow m:val="off"/>
                            <m:subHide m:val="off"/>
                            <m:supHide m:val="off"/>
                            <m:ctrlPr>
                              <a:rPr lang="zh-CN" sz="1500" dirty="0">
                                <a:solidFill>
                                  <a:srgbClr val="FFFFFF"/>
                                </a:solidFill>
                                <a:latin typeface="Cambria Math"/>
                                <a:ea typeface="Cambria Math"/>
                                <a:cs typeface="Cambria Math"/>
                              </a:rPr>
                            </m:ctrlPr>
                          </m:naryPr>
                          <m:sub>
                            <m:r>
                              <a:rPr lang="zh-CN" sz="1500" dirty="0">
                                <a:solidFill>
                                  <a:srgbClr val="FFFFFF"/>
                                </a:solidFill>
                                <a:latin typeface="Cambria Math"/>
                                <a:ea typeface="Cambria Math"/>
                                <a:cs typeface="Cambria Math"/>
                              </a:rPr>
                              <m:t>i</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1</m:t>
                            </m:r>
                          </m:sub>
                          <m:sup>
                            <m:r>
                              <a:rPr lang="zh-CN" sz="1500" dirty="0">
                                <a:solidFill>
                                  <a:srgbClr val="FFFFFF"/>
                                </a:solidFill>
                                <a:latin typeface="Cambria Math"/>
                                <a:ea typeface="Cambria Math"/>
                                <a:cs typeface="Cambria Math"/>
                              </a:rPr>
                              <m:t>N</m:t>
                            </m:r>
                          </m:sup>
                          <m:e>
                            <m:sSub>
                              <m:e>
                                <m:r>
                                  <a:rPr lang="zh-CN" sz="1500" dirty="0">
                                    <a:solidFill>
                                      <a:srgbClr val="FFFFFF"/>
                                    </a:solidFill>
                                    <a:latin typeface="Cambria Math"/>
                                    <a:ea typeface="Cambria Math"/>
                                    <a:cs typeface="Cambria Math"/>
                                  </a:rPr>
                                  <m:t>α</m:t>
                                </m:r>
                              </m:e>
                              <m:sub>
                                <m:r>
                                  <a:rPr lang="zh-CN" sz="1500" dirty="0">
                                    <a:solidFill>
                                      <a:srgbClr val="FFFFFF"/>
                                    </a:solidFill>
                                    <a:latin typeface="Cambria Math"/>
                                    <a:ea typeface="Cambria Math"/>
                                    <a:cs typeface="Cambria Math"/>
                                  </a:rPr>
                                  <m:t>i</m:t>
                                </m:r>
                              </m:sub>
                            </m:sSub>
                            <m:sSub>
                              <m:e>
                                <m:r>
                                  <a:rPr lang="zh-CN" sz="1500" dirty="0">
                                    <a:solidFill>
                                      <a:srgbClr val="FFFFFF"/>
                                    </a:solidFill>
                                    <a:latin typeface="Cambria Math"/>
                                    <a:ea typeface="Cambria Math"/>
                                    <a:cs typeface="Cambria Math"/>
                                  </a:rPr>
                                  <m:t>y</m:t>
                                </m:r>
                              </m:e>
                              <m:sub>
                                <m:r>
                                  <a:rPr lang="zh-CN" sz="1500" dirty="0">
                                    <a:solidFill>
                                      <a:srgbClr val="FFFFFF"/>
                                    </a:solidFill>
                                    <a:latin typeface="Cambria Math"/>
                                    <a:ea typeface="Cambria Math"/>
                                    <a:cs typeface="Cambria Math"/>
                                  </a:rPr>
                                  <m:t>i</m:t>
                                </m:r>
                              </m:sub>
                            </m:sSub>
                            <m:sSub>
                              <m:e>
                                <m:r>
                                  <a:rPr lang="zh-CN" sz="1500" dirty="0">
                                    <a:solidFill>
                                      <a:srgbClr val="FFFFFF"/>
                                    </a:solidFill>
                                    <a:latin typeface="Cambria Math"/>
                                    <a:ea typeface="Cambria Math"/>
                                    <a:cs typeface="Cambria Math"/>
                                  </a:rPr>
                                  <m:t>x</m:t>
                                </m:r>
                              </m:e>
                              <m:sub>
                                <m:r>
                                  <a:rPr lang="zh-CN" sz="1500" dirty="0">
                                    <a:solidFill>
                                      <a:srgbClr val="FFFFFF"/>
                                    </a:solidFill>
                                    <a:latin typeface="Cambria Math"/>
                                    <a:ea typeface="Cambria Math"/>
                                    <a:cs typeface="Cambria Math"/>
                                  </a:rPr>
                                  <m:t>i</m:t>
                                </m:r>
                              </m:sub>
                            </m:sSub>
                          </m:e>
                        </m:nary>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 xml:space="preserve">  </m:t>
                        </m:r>
                        <m:nary>
                          <m:naryPr>
                            <m:chr m:val="∑"/>
                            <m:limLoc m:val="undOvr"/>
                            <m:grow m:val="off"/>
                            <m:subHide m:val="off"/>
                            <m:supHide m:val="off"/>
                            <m:ctrlPr>
                              <a:rPr lang="zh-CN" sz="1500" dirty="0">
                                <a:solidFill>
                                  <a:srgbClr val="FFFFFF"/>
                                </a:solidFill>
                                <a:latin typeface="Cambria Math"/>
                                <a:ea typeface="Cambria Math"/>
                                <a:cs typeface="Cambria Math"/>
                              </a:rPr>
                            </m:ctrlPr>
                          </m:naryPr>
                          <m:sub>
                            <m:r>
                              <a:rPr lang="zh-CN" sz="1500" dirty="0">
                                <a:solidFill>
                                  <a:srgbClr val="FFFFFF"/>
                                </a:solidFill>
                                <a:latin typeface="Cambria Math"/>
                                <a:ea typeface="Cambria Math"/>
                                <a:cs typeface="Cambria Math"/>
                              </a:rPr>
                              <m:t>i</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1</m:t>
                            </m:r>
                          </m:sub>
                          <m:sup>
                            <m:r>
                              <a:rPr lang="zh-CN" sz="1500" dirty="0">
                                <a:solidFill>
                                  <a:srgbClr val="FFFFFF"/>
                                </a:solidFill>
                                <a:latin typeface="Cambria Math"/>
                                <a:ea typeface="Cambria Math"/>
                                <a:cs typeface="Cambria Math"/>
                              </a:rPr>
                              <m:t>N</m:t>
                            </m:r>
                          </m:sup>
                          <m:e>
                            <m:sSub>
                              <m:e>
                                <m:r>
                                  <a:rPr lang="zh-CN" sz="1500" dirty="0">
                                    <a:solidFill>
                                      <a:srgbClr val="FFFFFF"/>
                                    </a:solidFill>
                                    <a:latin typeface="Cambria Math"/>
                                    <a:ea typeface="Cambria Math"/>
                                    <a:cs typeface="Cambria Math"/>
                                  </a:rPr>
                                  <m:t>α</m:t>
                                </m:r>
                              </m:e>
                              <m:sub>
                                <m:r>
                                  <a:rPr lang="zh-CN" sz="1500" dirty="0">
                                    <a:solidFill>
                                      <a:srgbClr val="FFFFFF"/>
                                    </a:solidFill>
                                    <a:latin typeface="Cambria Math"/>
                                    <a:ea typeface="Cambria Math"/>
                                    <a:cs typeface="Cambria Math"/>
                                  </a:rPr>
                                  <m:t>i</m:t>
                                </m:r>
                              </m:sub>
                            </m:sSub>
                            <m:sSub>
                              <m:e>
                                <m:r>
                                  <a:rPr lang="zh-CN" sz="1500" dirty="0">
                                    <a:solidFill>
                                      <a:srgbClr val="FFFFFF"/>
                                    </a:solidFill>
                                    <a:latin typeface="Cambria Math"/>
                                    <a:ea typeface="Cambria Math"/>
                                    <a:cs typeface="Cambria Math"/>
                                  </a:rPr>
                                  <m:t>y</m:t>
                                </m:r>
                              </m:e>
                              <m:sub>
                                <m:r>
                                  <a:rPr lang="zh-CN" sz="1500" dirty="0">
                                    <a:solidFill>
                                      <a:srgbClr val="FFFFFF"/>
                                    </a:solidFill>
                                    <a:latin typeface="Cambria Math"/>
                                    <a:ea typeface="Cambria Math"/>
                                    <a:cs typeface="Cambria Math"/>
                                  </a:rPr>
                                  <m:t>i</m:t>
                                </m:r>
                              </m:sub>
                            </m:sSub>
                          </m:e>
                        </m:nary>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0</m:t>
                        </m:r>
                        <m:r>
                          <m:rPr>
                            <m:sty m:val="p"/>
                          </m:rPr>
                          <a:rPr lang="zh-CN" sz="1500" dirty="0">
                            <a:solidFill>
                              <a:srgbClr val="FFFFFF"/>
                            </a:solidFill>
                            <a:latin typeface="Cambria Math"/>
                            <a:ea typeface="Cambria Math"/>
                            <a:cs typeface="Cambria Math"/>
                          </a:rPr>
                          <m:t>,</m:t>
                        </m:r>
                        <m:r>
                          <a:rPr lang="zh-CN" sz="1500" dirty="0">
                            <a:solidFill>
                              <a:srgbClr val="FFFFFF"/>
                            </a:solidFill>
                            <a:latin typeface="Cambria Math"/>
                            <a:ea typeface="Cambria Math"/>
                            <a:cs typeface="Cambria Math"/>
                          </a:rPr>
                          <m:t xml:space="preserve">  </m:t>
                        </m:r>
                        <m:r>
                          <a:rPr lang="zh-CN" sz="1500" dirty="0">
                            <a:solidFill>
                              <a:srgbClr val="FFFFFF"/>
                            </a:solidFill>
                            <a:latin typeface="Cambria Math"/>
                            <a:ea typeface="Cambria Math"/>
                            <a:cs typeface="Cambria Math"/>
                          </a:rPr>
                          <m:t>C</m:t>
                        </m:r>
                        <m:r>
                          <m:rPr>
                            <m:sty m:val="p"/>
                          </m:rPr>
                          <a:rPr lang="zh-CN" sz="1500" dirty="0">
                            <a:solidFill>
                              <a:srgbClr val="FFFFFF"/>
                            </a:solidFill>
                            <a:latin typeface="Cambria Math"/>
                            <a:ea typeface="Cambria Math"/>
                            <a:cs typeface="Cambria Math"/>
                          </a:rPr>
                          <m:t>=</m:t>
                        </m:r>
                        <m:sSub>
                          <m:e>
                            <m:r>
                              <a:rPr lang="zh-CN" sz="1500" dirty="0">
                                <a:solidFill>
                                  <a:srgbClr val="FFFFFF"/>
                                </a:solidFill>
                                <a:latin typeface="Cambria Math"/>
                                <a:ea typeface="Cambria Math"/>
                                <a:cs typeface="Cambria Math"/>
                              </a:rPr>
                              <m:t>α</m:t>
                            </m:r>
                          </m:e>
                          <m:sub>
                            <m:r>
                              <a:rPr lang="zh-CN" sz="1500" dirty="0">
                                <a:solidFill>
                                  <a:srgbClr val="FFFFFF"/>
                                </a:solidFill>
                                <a:latin typeface="Cambria Math"/>
                                <a:ea typeface="Cambria Math"/>
                                <a:cs typeface="Cambria Math"/>
                              </a:rPr>
                              <m:t>i</m:t>
                            </m:r>
                          </m:sub>
                        </m:sSub>
                        <m:r>
                          <m:rPr>
                            <m:sty m:val="p"/>
                          </m:rPr>
                          <a:rPr lang="zh-CN" sz="1500" dirty="0">
                            <a:solidFill>
                              <a:srgbClr val="FFFFFF"/>
                            </a:solidFill>
                            <a:latin typeface="Cambria Math"/>
                            <a:ea typeface="Cambria Math"/>
                            <a:cs typeface="Cambria Math"/>
                          </a:rPr>
                          <m:t>+</m:t>
                        </m:r>
                        <m:sSub>
                          <m:e>
                            <m:r>
                              <a:rPr lang="zh-CN" sz="1500" dirty="0">
                                <a:solidFill>
                                  <a:srgbClr val="FFFFFF"/>
                                </a:solidFill>
                                <a:latin typeface="Cambria Math"/>
                                <a:ea typeface="Cambria Math"/>
                                <a:cs typeface="Cambria Math"/>
                              </a:rPr>
                              <m:t>β</m:t>
                            </m:r>
                          </m:e>
                          <m:sub>
                            <m:r>
                              <a:rPr lang="zh-CN" sz="1500" dirty="0">
                                <a:solidFill>
                                  <a:srgbClr val="FFFFFF"/>
                                </a:solidFill>
                                <a:latin typeface="Cambria Math"/>
                                <a:ea typeface="Cambria Math"/>
                                <a:cs typeface="Cambria Math"/>
                              </a:rPr>
                              <m:t>i</m:t>
                            </m:r>
                          </m:sub>
                        </m:sSub>
                      </m:oMath>
                    </m:oMathPara>
                  </a14:m>
                </a:p>
              </p:txBody>
            </p:sp>
          </mc:Choice>
        </mc:AlternateContent>
        <p:sp>
          <p:nvSpPr>
            <p:cNvPr id="20" name="TextBox 20"/>
            <p:cNvSpPr txBox="1"/>
            <p:nvPr/>
          </p:nvSpPr>
          <p:spPr>
            <a:xfrm>
              <a:off x="725424" y="5125402"/>
              <a:ext cx="4650067"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 xml:space="preserve">第三条最关键：βᵢ ≥ 0 加上 αᵢ + βᵢ = C，立刻得到 </a:t>
              </a:r>
              <a:r>
                <a:rPr lang="el-GR" sz="1200" b="1" dirty="0">
                  <a:solidFill>
                    <a:srgbClr val="FFD58A"/>
                  </a:solidFill>
                  <a:latin typeface="+mn-lt"/>
                  <a:ea typeface="+mn-ea"/>
                  <a:cs typeface="+mn-cs"/>
                </a:rPr>
                <a:t>0 ≤ αᵢ ≤ C</a:t>
              </a:r>
              <a:r>
                <a:rPr lang="zh-CN" sz="1200" dirty="0">
                  <a:solidFill>
                    <a:srgbClr val="FFFFFF"/>
                  </a:solidFill>
                  <a:latin typeface="+mn-lt"/>
                  <a:ea typeface="+mn-ea"/>
                  <a:cs typeface="+mn-cs"/>
                </a:rPr>
                <a:t>。</a:t>
              </a:r>
            </a:p>
          </p:txBody>
        </p:sp>
      </p:grpSp>
      <p:grpSp>
        <p:nvGrpSpPr>
          <p:cNvPr id="40" name="c2-table-1"/>
          <p:cNvGrpSpPr/>
          <p:nvPr/>
        </p:nvGrpSpPr>
        <p:grpSpPr>
          <a:xfrm>
            <a:off x="6464618" y="1524000"/>
            <a:ext cx="5193982" cy="2122170"/>
            <a:chOff x="6464618" y="1524000"/>
            <a:chExt cx="5193982" cy="2122170"/>
          </a:xfrm>
        </p:grpSpPr>
        <p:sp>
          <p:nvSpPr>
            <p:cNvPr id="22" name="Rectangle 22"/>
            <p:cNvSpPr/>
            <p:nvPr/>
          </p:nvSpPr>
          <p:spPr>
            <a:xfrm>
              <a:off x="6464618" y="1524000"/>
              <a:ext cx="5193982" cy="424815"/>
            </a:xfrm>
            <a:prstGeom prst="rect">
              <a:avLst/>
            </a:prstGeom>
            <a:solidFill>
              <a:srgbClr val="0E7C86"/>
            </a:solidFill>
            <a:ln>
              <a:noFill/>
            </a:ln>
          </p:spPr>
        </p:sp>
        <p:sp>
          <p:nvSpPr>
            <p:cNvPr id="23" name="TextBox 23"/>
            <p:cNvSpPr txBox="1"/>
            <p:nvPr/>
          </p:nvSpPr>
          <p:spPr>
            <a:xfrm>
              <a:off x="6953768" y="1652588"/>
              <a:ext cx="68476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KKT 分组</a:t>
              </a:r>
            </a:p>
          </p:txBody>
        </p:sp>
        <p:sp>
          <p:nvSpPr>
            <p:cNvPr id="24" name="TextBox 24"/>
            <p:cNvSpPr txBox="1"/>
            <p:nvPr/>
          </p:nvSpPr>
          <p:spPr>
            <a:xfrm>
              <a:off x="9182390" y="1652588"/>
              <a:ext cx="1420551"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软间隔 SVM 的式子</a:t>
              </a:r>
            </a:p>
          </p:txBody>
        </p:sp>
        <p:sp>
          <p:nvSpPr>
            <p:cNvPr id="25" name="TextBox 25"/>
            <p:cNvSpPr txBox="1"/>
            <p:nvPr/>
          </p:nvSpPr>
          <p:spPr>
            <a:xfrm>
              <a:off x="6567106" y="2076450"/>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平稳性</a:t>
              </a:r>
            </a:p>
          </p:txBody>
        </p:sp>
        <p:sp>
          <p:nvSpPr>
            <p:cNvPr id="26" name="TextBox 26"/>
            <p:cNvSpPr txBox="1"/>
            <p:nvPr/>
          </p:nvSpPr>
          <p:spPr>
            <a:xfrm>
              <a:off x="8229219" y="2076450"/>
              <a:ext cx="283829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w = Σαᵢyᵢxᵢ；Σαᵢyᵢ = 0；C = αᵢ + βᵢ</a:t>
              </a:r>
            </a:p>
          </p:txBody>
        </p:sp>
        <p:sp>
          <p:nvSpPr>
            <p:cNvPr id="27" name="Rectangle 27"/>
            <p:cNvSpPr/>
            <p:nvPr/>
          </p:nvSpPr>
          <p:spPr>
            <a:xfrm>
              <a:off x="6464618" y="2367915"/>
              <a:ext cx="5193982" cy="9525"/>
            </a:xfrm>
            <a:prstGeom prst="rect">
              <a:avLst/>
            </a:prstGeom>
            <a:solidFill>
              <a:srgbClr val="D9DFEA"/>
            </a:solidFill>
            <a:ln>
              <a:noFill/>
            </a:ln>
          </p:spPr>
        </p:sp>
        <p:sp>
          <p:nvSpPr>
            <p:cNvPr id="28" name="Rectangle 28"/>
            <p:cNvSpPr/>
            <p:nvPr/>
          </p:nvSpPr>
          <p:spPr>
            <a:xfrm>
              <a:off x="6464618" y="2372678"/>
              <a:ext cx="5193982" cy="424815"/>
            </a:xfrm>
            <a:prstGeom prst="rect">
              <a:avLst/>
            </a:prstGeom>
            <a:solidFill>
              <a:srgbClr val="F4F6FB"/>
            </a:solidFill>
            <a:ln>
              <a:noFill/>
            </a:ln>
          </p:spPr>
        </p:sp>
        <p:sp>
          <p:nvSpPr>
            <p:cNvPr id="29" name="TextBox 29"/>
            <p:cNvSpPr txBox="1"/>
            <p:nvPr/>
          </p:nvSpPr>
          <p:spPr>
            <a:xfrm>
              <a:off x="6567106" y="2501265"/>
              <a:ext cx="114300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原始问题可行性</a:t>
              </a:r>
            </a:p>
          </p:txBody>
        </p:sp>
        <p:sp>
          <p:nvSpPr>
            <p:cNvPr id="30" name="TextBox 30"/>
            <p:cNvSpPr txBox="1"/>
            <p:nvPr/>
          </p:nvSpPr>
          <p:spPr>
            <a:xfrm>
              <a:off x="8229219" y="2501265"/>
              <a:ext cx="255651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1 − ξᵢ − yᵢ(w·xᵢ + b) ≤ 0；ξᵢ ≥ 0</a:t>
              </a:r>
            </a:p>
          </p:txBody>
        </p:sp>
        <p:sp>
          <p:nvSpPr>
            <p:cNvPr id="31" name="Rectangle 31"/>
            <p:cNvSpPr/>
            <p:nvPr/>
          </p:nvSpPr>
          <p:spPr>
            <a:xfrm>
              <a:off x="6464618" y="2792730"/>
              <a:ext cx="5193982" cy="9525"/>
            </a:xfrm>
            <a:prstGeom prst="rect">
              <a:avLst/>
            </a:prstGeom>
            <a:solidFill>
              <a:srgbClr val="D9DFEA"/>
            </a:solidFill>
            <a:ln>
              <a:noFill/>
            </a:ln>
          </p:spPr>
        </p:sp>
        <p:sp>
          <p:nvSpPr>
            <p:cNvPr id="32" name="TextBox 32"/>
            <p:cNvSpPr txBox="1"/>
            <p:nvPr/>
          </p:nvSpPr>
          <p:spPr>
            <a:xfrm>
              <a:off x="6567106" y="2926080"/>
              <a:ext cx="114300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对偶问题可行性</a:t>
              </a:r>
            </a:p>
          </p:txBody>
        </p:sp>
        <p:sp>
          <p:nvSpPr>
            <p:cNvPr id="33" name="TextBox 33"/>
            <p:cNvSpPr txBox="1"/>
            <p:nvPr/>
          </p:nvSpPr>
          <p:spPr>
            <a:xfrm>
              <a:off x="8229219" y="2926080"/>
              <a:ext cx="107838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αᵢ ≥ 0；βᵢ ≥ 0</a:t>
              </a:r>
            </a:p>
          </p:txBody>
        </p:sp>
        <p:sp>
          <p:nvSpPr>
            <p:cNvPr id="34" name="Rectangle 34"/>
            <p:cNvSpPr/>
            <p:nvPr/>
          </p:nvSpPr>
          <p:spPr>
            <a:xfrm>
              <a:off x="6464618" y="3216592"/>
              <a:ext cx="5193982" cy="9525"/>
            </a:xfrm>
            <a:prstGeom prst="rect">
              <a:avLst/>
            </a:prstGeom>
            <a:solidFill>
              <a:srgbClr val="D9DFEA"/>
            </a:solidFill>
            <a:ln>
              <a:noFill/>
            </a:ln>
          </p:spPr>
        </p:sp>
        <p:sp>
          <p:nvSpPr>
            <p:cNvPr id="35" name="Rectangle 35"/>
            <p:cNvSpPr/>
            <p:nvPr/>
          </p:nvSpPr>
          <p:spPr>
            <a:xfrm>
              <a:off x="6464618" y="3221355"/>
              <a:ext cx="5193982" cy="424815"/>
            </a:xfrm>
            <a:prstGeom prst="rect">
              <a:avLst/>
            </a:prstGeom>
            <a:solidFill>
              <a:srgbClr val="F4F6FB"/>
            </a:solidFill>
            <a:ln>
              <a:noFill/>
            </a:ln>
          </p:spPr>
        </p:sp>
        <p:sp>
          <p:nvSpPr>
            <p:cNvPr id="36" name="TextBox 36"/>
            <p:cNvSpPr txBox="1"/>
            <p:nvPr/>
          </p:nvSpPr>
          <p:spPr>
            <a:xfrm>
              <a:off x="6567106" y="3349942"/>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互补松弛</a:t>
              </a:r>
            </a:p>
          </p:txBody>
        </p:sp>
        <p:sp>
          <p:nvSpPr>
            <p:cNvPr id="37" name="TextBox 37"/>
            <p:cNvSpPr txBox="1"/>
            <p:nvPr/>
          </p:nvSpPr>
          <p:spPr>
            <a:xfrm>
              <a:off x="8229219" y="3349942"/>
              <a:ext cx="3089605"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αᵢ[1 − ξᵢ − yᵢ(w·xᵢ + b)] = 0；βᵢξᵢ = 0</a:t>
              </a:r>
            </a:p>
          </p:txBody>
        </p:sp>
        <p:sp>
          <p:nvSpPr>
            <p:cNvPr id="38" name="Rectangle 38"/>
            <p:cNvSpPr/>
            <p:nvPr/>
          </p:nvSpPr>
          <p:spPr>
            <a:xfrm>
              <a:off x="6464618" y="1524000"/>
              <a:ext cx="5193982" cy="2122170"/>
            </a:xfrm>
            <a:prstGeom prst="rect">
              <a:avLst/>
            </a:prstGeom>
            <a:noFill/>
            <a:ln w="14288">
              <a:solidFill>
                <a:srgbClr val="D9DFEA"/>
              </a:solidFill>
            </a:ln>
          </p:spPr>
        </p:sp>
        <p:sp>
          <p:nvSpPr>
            <p:cNvPr id="39" name="Rectangle 39"/>
            <p:cNvSpPr/>
            <p:nvPr/>
          </p:nvSpPr>
          <p:spPr>
            <a:xfrm>
              <a:off x="8121968" y="1524000"/>
              <a:ext cx="9525" cy="2122170"/>
            </a:xfrm>
            <a:prstGeom prst="rect">
              <a:avLst/>
            </a:prstGeom>
            <a:solidFill>
              <a:srgbClr val="D9DFEA"/>
            </a:solidFill>
            <a:ln>
              <a:noFill/>
            </a:ln>
          </p:spPr>
        </p:sp>
      </p:grpSp>
      <p:grpSp>
        <p:nvGrpSpPr>
          <p:cNvPr id="47" name="c2-card-2"/>
          <p:cNvGrpSpPr/>
          <p:nvPr/>
        </p:nvGrpSpPr>
        <p:grpSpPr>
          <a:xfrm>
            <a:off x="6464618" y="3826192"/>
            <a:ext cx="5193982" cy="1540192"/>
            <a:chOff x="6464618" y="3826192"/>
            <a:chExt cx="5193982" cy="1540192"/>
          </a:xfrm>
        </p:grpSpPr>
        <p:sp>
          <p:nvSpPr>
            <p:cNvPr id="41" name="Rectangle 41"/>
            <p:cNvSpPr/>
            <p:nvPr/>
          </p:nvSpPr>
          <p:spPr>
            <a:xfrm>
              <a:off x="6464618" y="3826192"/>
              <a:ext cx="5193982" cy="1540192"/>
            </a:xfrm>
            <a:prstGeom prst="roundRect">
              <a:avLst>
                <a:gd name="adj" fmla="val 8658"/>
              </a:avLst>
            </a:prstGeom>
            <a:solidFill>
              <a:srgbClr val="FFFFFF"/>
            </a:solidFill>
            <a:ln w="14288">
              <a:solidFill>
                <a:srgbClr val="D9DFEA"/>
              </a:solidFill>
            </a:ln>
          </p:spPr>
        </p:sp>
        <p:sp>
          <p:nvSpPr>
            <p:cNvPr id="42" name="Rectangle 42"/>
            <p:cNvSpPr/>
            <p:nvPr/>
          </p:nvSpPr>
          <p:spPr>
            <a:xfrm>
              <a:off x="6474142" y="3959542"/>
              <a:ext cx="47625" cy="1273492"/>
            </a:xfrm>
            <a:prstGeom prst="roundRect">
              <a:avLst>
                <a:gd name="adj" fmla="val 50000"/>
              </a:avLst>
            </a:prstGeom>
            <a:solidFill>
              <a:srgbClr val="5B6475"/>
            </a:solidFill>
            <a:ln>
              <a:noFill/>
            </a:ln>
          </p:spPr>
        </p:sp>
        <p:sp>
          <p:nvSpPr>
            <p:cNvPr id="43" name="Rectangle 43"/>
            <p:cNvSpPr/>
            <p:nvPr/>
          </p:nvSpPr>
          <p:spPr>
            <a:xfrm>
              <a:off x="6700838" y="4024312"/>
              <a:ext cx="476250" cy="247650"/>
            </a:xfrm>
            <a:prstGeom prst="roundRect">
              <a:avLst>
                <a:gd name="adj" fmla="val 50000"/>
              </a:avLst>
            </a:prstGeom>
            <a:solidFill>
              <a:srgbClr val="F4F6FB"/>
            </a:solidFill>
            <a:ln>
              <a:noFill/>
            </a:ln>
          </p:spPr>
        </p:sp>
        <p:sp>
          <p:nvSpPr>
            <p:cNvPr id="44" name="TextBox 44"/>
            <p:cNvSpPr txBox="1"/>
            <p:nvPr/>
          </p:nvSpPr>
          <p:spPr>
            <a:xfrm>
              <a:off x="6792278" y="4058602"/>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45" name="TextBox 45"/>
            <p:cNvSpPr txBox="1"/>
            <p:nvPr/>
          </p:nvSpPr>
          <p:spPr>
            <a:xfrm>
              <a:off x="7284148" y="4060031"/>
              <a:ext cx="155539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对照 B 版第 59 页</a:t>
              </a:r>
            </a:p>
          </p:txBody>
        </p:sp>
        <p:sp>
          <p:nvSpPr>
            <p:cNvPr id="46" name="TextBox 46"/>
            <p:cNvSpPr txBox="1"/>
            <p:nvPr/>
          </p:nvSpPr>
          <p:spPr>
            <a:xfrm>
              <a:off x="6693598" y="4402931"/>
              <a:ext cx="452297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原课件把 ∂L/∂ξ = C − α − β = 0 归在“原始问题可行性”</a:t>
              </a:r>
              <a:br/>
              <a:r>
                <a:rPr lang="zh-CN" sz="1420" dirty="0">
                  <a:solidFill>
                    <a:srgbClr val="1F2937"/>
                  </a:solidFill>
                  <a:latin typeface="+mn-lt"/>
                  <a:ea typeface="+mn-ea"/>
                  <a:cs typeface="+mn-cs"/>
                </a:rPr>
                <a:t>下，这一行属于</a:t>
              </a:r>
              <a:r>
                <a:rPr lang="zh-CN" sz="1420" b="1" dirty="0">
                  <a:solidFill>
                    <a:srgbClr val="C2410C"/>
                  </a:solidFill>
                  <a:latin typeface="+mn-lt"/>
                  <a:ea typeface="+mn-ea"/>
                  <a:cs typeface="+mn-cs"/>
                </a:rPr>
                <a:t>平稳性</a:t>
              </a:r>
              <a:r>
                <a:rPr lang="zh-CN" sz="1420" dirty="0">
                  <a:solidFill>
                    <a:srgbClr val="1F2937"/>
                  </a:solidFill>
                  <a:latin typeface="+mn-lt"/>
                  <a:ea typeface="+mn-ea"/>
                  <a:cs typeface="+mn-cs"/>
                </a:rPr>
                <a:t>；原始问题可行性是上表第二行那</a:t>
              </a:r>
              <a:br/>
              <a:r>
                <a:rPr lang="zh-CN" sz="1420" dirty="0">
                  <a:solidFill>
                    <a:srgbClr val="1F2937"/>
                  </a:solidFill>
                  <a:latin typeface="+mn-lt"/>
                  <a:ea typeface="+mn-ea"/>
                  <a:cs typeface="+mn-cs"/>
                </a:rPr>
                <a:t>两条约束。</a:t>
              </a:r>
            </a:p>
          </p:txBody>
        </p:sp>
      </p:grpSp>
      <p:grpSp>
        <p:nvGrpSpPr>
          <p:cNvPr id="53" name="c2-callout-3"/>
          <p:cNvGrpSpPr/>
          <p:nvPr/>
        </p:nvGrpSpPr>
        <p:grpSpPr>
          <a:xfrm>
            <a:off x="6464618" y="5547360"/>
            <a:ext cx="5193982" cy="756285"/>
            <a:chOff x="6464618" y="5547360"/>
            <a:chExt cx="5193982" cy="756285"/>
          </a:xfrm>
        </p:grpSpPr>
        <p:sp>
          <p:nvSpPr>
            <p:cNvPr id="48" name="Rectangle 48"/>
            <p:cNvSpPr/>
            <p:nvPr/>
          </p:nvSpPr>
          <p:spPr>
            <a:xfrm>
              <a:off x="6464618" y="5547360"/>
              <a:ext cx="5193982" cy="756285"/>
            </a:xfrm>
            <a:prstGeom prst="roundRect">
              <a:avLst>
                <a:gd name="adj" fmla="val 15113"/>
              </a:avLst>
            </a:prstGeom>
            <a:solidFill>
              <a:srgbClr val="0E7C86"/>
            </a:solidFill>
            <a:ln>
              <a:noFill/>
            </a:ln>
          </p:spPr>
        </p:sp>
        <p:grpSp>
          <p:nvGrpSpPr>
            <p:cNvPr id="51" name="Group 51"/>
            <p:cNvGrpSpPr/>
            <p:nvPr/>
          </p:nvGrpSpPr>
          <p:grpSpPr>
            <a:xfrm>
              <a:off x="6669405" y="5825492"/>
              <a:ext cx="200023" cy="200023"/>
              <a:chOff x="6669405" y="5825492"/>
              <a:chExt cx="200023" cy="200023"/>
            </a:xfrm>
          </p:grpSpPr>
          <p:sp>
            <p:nvSpPr>
              <p:cNvPr id="49" name="Freeform 49"/>
              <p:cNvSpPr/>
              <p:nvPr/>
            </p:nvSpPr>
            <p:spPr>
              <a:xfrm>
                <a:off x="6669405" y="582549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0" name="Freeform 50"/>
              <p:cNvSpPr/>
              <p:nvPr/>
            </p:nvSpPr>
            <p:spPr>
              <a:xfrm>
                <a:off x="6802755" y="589216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2" name="TextBox 52"/>
            <p:cNvSpPr txBox="1"/>
            <p:nvPr/>
          </p:nvSpPr>
          <p:spPr>
            <a:xfrm>
              <a:off x="6971729" y="5694521"/>
              <a:ext cx="4189349"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互补松弛的两条式子，是下一页读懂 α 取值含义的唯</a:t>
              </a:r>
              <a:br/>
              <a:r>
                <a:rPr lang="zh-CN" sz="1420" dirty="0">
                  <a:solidFill>
                    <a:srgbClr val="FFFFFF"/>
                  </a:solidFill>
                  <a:latin typeface="+mn-lt"/>
                  <a:ea typeface="+mn-ea"/>
                  <a:cs typeface="+mn-cs"/>
                </a:rPr>
                <a:t>一依据。</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线性支持向量机：软间隔最大化</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软间隔对偶：和硬间隔一模一样，只多了个上界</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5576068" cy="264033"/>
            <a:chOff x="526542" y="1545907"/>
            <a:chExt cx="5576068" cy="264033"/>
          </a:xfrm>
        </p:grpSpPr>
        <p:sp>
          <p:nvSpPr>
            <p:cNvPr id="7" name="TextBox 7"/>
            <p:cNvSpPr txBox="1"/>
            <p:nvPr/>
          </p:nvSpPr>
          <p:spPr>
            <a:xfrm>
              <a:off x="526542" y="1545907"/>
              <a:ext cx="5576068"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推导路线与第 22 页完全相同，含 ξ 的项因为 C = αᵢ + βᵢ 整体消失。</a:t>
              </a:r>
            </a:p>
          </p:txBody>
        </p:sp>
      </p:grpSp>
      <mc:AlternateContent xmlns:mc="http://schemas.openxmlformats.org/markup-compatibility/2006">
        <mc:Choice xmlns:a14="http://schemas.microsoft.com/office/drawing/2010/main" Requires="a14">
          <p:sp>
            <p:nvSpPr>
              <p:cNvPr id="9" name="formula194"/>
              <p:cNvSpPr txBox="1">
                <a:spLocks noGrp="1"/>
              </p:cNvSpPr>
              <p:nvPr/>
            </p:nvSpPr>
            <p:spPr>
              <a:xfrm>
                <a:off x="533400" y="1928812"/>
                <a:ext cx="5626418" cy="50006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nary>
                        <m:naryPr>
                          <m:chr m:val="∑"/>
                          <m:limLoc m:val="undOvr"/>
                          <m:grow m:val="off"/>
                          <m:subHide m:val="off"/>
                          <m:supHide m:val="off"/>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i</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sub>
                        <m:sup>
                          <m:r>
                            <a:rPr lang="zh-CN" sz="1120" dirty="0">
                              <a:solidFill>
                                <a:srgbClr val="1F2937"/>
                              </a:solidFill>
                              <a:latin typeface="Cambria Math"/>
                              <a:ea typeface="Cambria Math"/>
                              <a:cs typeface="Cambria Math"/>
                            </a:rPr>
                            <m:t>N</m:t>
                          </m:r>
                        </m:sup>
                        <m:e>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C</m:t>
                              </m:r>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α</m:t>
                                  </m:r>
                                </m:e>
                                <m:sub>
                                  <m:r>
                                    <a:rPr lang="zh-CN" sz="1120" dirty="0">
                                      <a:solidFill>
                                        <a:srgbClr val="1F2937"/>
                                      </a:solidFill>
                                      <a:latin typeface="Cambria Math"/>
                                      <a:ea typeface="Cambria Math"/>
                                      <a:cs typeface="Cambria Math"/>
                                    </a:rPr>
                                    <m:t>i</m:t>
                                  </m:r>
                                </m:sub>
                              </m:sSub>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β</m:t>
                                  </m:r>
                                </m:e>
                                <m:sub>
                                  <m:r>
                                    <a:rPr lang="zh-CN" sz="1120" dirty="0">
                                      <a:solidFill>
                                        <a:srgbClr val="1F2937"/>
                                      </a:solidFill>
                                      <a:latin typeface="Cambria Math"/>
                                      <a:ea typeface="Cambria Math"/>
                                      <a:cs typeface="Cambria Math"/>
                                    </a:rPr>
                                    <m:t>i</m:t>
                                  </m:r>
                                </m:sub>
                              </m:sSub>
                            </m:e>
                          </m:d>
                          <m:sSub>
                            <m:e>
                              <m:r>
                                <a:rPr lang="zh-CN" sz="1120" dirty="0">
                                  <a:solidFill>
                                    <a:srgbClr val="1F2937"/>
                                  </a:solidFill>
                                  <a:latin typeface="Cambria Math"/>
                                  <a:ea typeface="Cambria Math"/>
                                  <a:cs typeface="Cambria Math"/>
                                </a:rPr>
                                <m:t>ξ</m:t>
                              </m:r>
                            </m:e>
                            <m:sub>
                              <m:r>
                                <a:rPr lang="zh-CN" sz="1120" dirty="0">
                                  <a:solidFill>
                                    <a:srgbClr val="1F2937"/>
                                  </a:solidFill>
                                  <a:latin typeface="Cambria Math"/>
                                  <a:ea typeface="Cambria Math"/>
                                  <a:cs typeface="Cambria Math"/>
                                </a:rPr>
                                <m:t>i</m:t>
                              </m:r>
                            </m:sub>
                          </m:sSub>
                        </m:e>
                      </m:nary>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0</m:t>
                      </m:r>
                    </m:oMath>
                  </m:oMathPara>
                </a14:m>
              </a:p>
            </p:txBody>
          </p:sp>
        </mc:Choice>
      </mc:AlternateContent>
      <p:grpSp>
        <p:nvGrpSpPr>
          <p:cNvPr id="16" name="c1-card-2"/>
          <p:cNvGrpSpPr/>
          <p:nvPr/>
        </p:nvGrpSpPr>
        <p:grpSpPr>
          <a:xfrm>
            <a:off x="533400" y="2593658"/>
            <a:ext cx="5626418" cy="1737360"/>
            <a:chOff x="533400" y="2593658"/>
            <a:chExt cx="5626418" cy="1737360"/>
          </a:xfrm>
        </p:grpSpPr>
        <p:sp>
          <p:nvSpPr>
            <p:cNvPr id="10" name="Rectangle 10"/>
            <p:cNvSpPr/>
            <p:nvPr/>
          </p:nvSpPr>
          <p:spPr>
            <a:xfrm>
              <a:off x="533400" y="2593658"/>
              <a:ext cx="5626418" cy="1737360"/>
            </a:xfrm>
            <a:prstGeom prst="roundRect">
              <a:avLst>
                <a:gd name="adj" fmla="val 7675"/>
              </a:avLst>
            </a:prstGeom>
            <a:solidFill>
              <a:srgbClr val="0E7C86"/>
            </a:solidFill>
            <a:ln>
              <a:noFill/>
            </a:ln>
          </p:spPr>
        </p:sp>
        <p:sp>
          <p:nvSpPr>
            <p:cNvPr id="11" name="Rectangle 11"/>
            <p:cNvSpPr/>
            <p:nvPr/>
          </p:nvSpPr>
          <p:spPr>
            <a:xfrm>
              <a:off x="714375" y="2774632"/>
              <a:ext cx="707708" cy="238125"/>
            </a:xfrm>
            <a:prstGeom prst="roundRect">
              <a:avLst>
                <a:gd name="adj" fmla="val 50000"/>
              </a:avLst>
            </a:prstGeom>
            <a:solidFill>
              <a:srgbClr val="0B5F67"/>
            </a:solidFill>
            <a:ln>
              <a:noFill/>
            </a:ln>
          </p:spPr>
        </p:sp>
        <p:sp>
          <p:nvSpPr>
            <p:cNvPr id="12" name="TextBox 12"/>
            <p:cNvSpPr txBox="1"/>
            <p:nvPr/>
          </p:nvSpPr>
          <p:spPr>
            <a:xfrm>
              <a:off x="798944" y="2807494"/>
              <a:ext cx="537616"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对偶问题</a:t>
              </a:r>
            </a:p>
          </p:txBody>
        </p:sp>
        <p:sp>
          <p:nvSpPr>
            <p:cNvPr id="13" name="TextBox 13"/>
            <p:cNvSpPr txBox="1"/>
            <p:nvPr/>
          </p:nvSpPr>
          <p:spPr>
            <a:xfrm>
              <a:off x="1529906" y="2814161"/>
              <a:ext cx="1824734"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用 αᵢ + βᵢ = C 消去 βᵢ</a:t>
              </a:r>
            </a:p>
          </p:txBody>
        </p:sp>
        <mc:AlternateContent xmlns:mc="http://schemas.openxmlformats.org/markup-compatibility/2006">
          <mc:Choice xmlns:a14="http://schemas.microsoft.com/office/drawing/2010/main" Requires="a14">
            <p:sp>
              <p:nvSpPr>
                <p:cNvPr id="14" name="formula195"/>
                <p:cNvSpPr txBox="1">
                  <a:spLocks noGrp="1"/>
                </p:cNvSpPr>
                <p:nvPr/>
              </p:nvSpPr>
              <p:spPr>
                <a:xfrm>
                  <a:off x="714375" y="3109912"/>
                  <a:ext cx="5264468" cy="47148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120" dirty="0">
                                    <a:solidFill>
                                      <a:srgbClr val="FFFFFF"/>
                                    </a:solidFill>
                                    <a:latin typeface="Cambria Math"/>
                                    <a:ea typeface="Cambria Math"/>
                                    <a:cs typeface="Cambria Math"/>
                                  </a:rPr>
                                  <m:t>max</m:t>
                                </m:r>
                              </m:e>
                              <m:lim>
                                <m:r>
                                  <a:rPr lang="zh-CN" sz="1120" dirty="0">
                                    <a:solidFill>
                                      <a:srgbClr val="FFFFFF"/>
                                    </a:solidFill>
                                    <a:latin typeface="Cambria Math"/>
                                    <a:ea typeface="Cambria Math"/>
                                    <a:cs typeface="Cambria Math"/>
                                  </a:rPr>
                                  <m:t>α</m:t>
                                </m:r>
                              </m:lim>
                            </m:limLow>
                          </m:fName>
                          <m:e>
                            <m:r>
                              <a:rPr lang="zh-CN" sz="1120" dirty="0">
                                <a:solidFill>
                                  <a:srgbClr val="FFFFFF"/>
                                </a:solidFill>
                                <a:latin typeface="Cambria Math"/>
                                <a:ea typeface="Cambria Math"/>
                                <a:cs typeface="Cambria Math"/>
                              </a:rPr>
                              <m:t xml:space="preserve"> </m:t>
                            </m:r>
                            <m:nary>
                              <m:naryPr>
                                <m:chr m:val="∑"/>
                                <m:limLoc m:val="undOvr"/>
                                <m:grow m:val="off"/>
                                <m:subHide m:val="off"/>
                                <m:supHide m:val="off"/>
                                <m:ctrlPr>
                                  <a:rPr lang="zh-CN" sz="1120" dirty="0">
                                    <a:solidFill>
                                      <a:srgbClr val="FFFFFF"/>
                                    </a:solidFill>
                                    <a:latin typeface="Cambria Math"/>
                                    <a:ea typeface="Cambria Math"/>
                                    <a:cs typeface="Cambria Math"/>
                                  </a:rPr>
                                </m:ctrlPr>
                              </m:naryPr>
                              <m:sub>
                                <m:r>
                                  <a:rPr lang="zh-CN" sz="1120" dirty="0">
                                    <a:solidFill>
                                      <a:srgbClr val="FFFFFF"/>
                                    </a:solidFill>
                                    <a:latin typeface="Cambria Math"/>
                                    <a:ea typeface="Cambria Math"/>
                                    <a:cs typeface="Cambria Math"/>
                                  </a:rPr>
                                  <m:t>i</m:t>
                                </m:r>
                                <m:r>
                                  <m:rPr>
                                    <m:sty m:val="p"/>
                                  </m:rPr>
                                  <a:rPr lang="zh-CN" sz="1120" dirty="0">
                                    <a:solidFill>
                                      <a:srgbClr val="FFFFFF"/>
                                    </a:solidFill>
                                    <a:latin typeface="Cambria Math"/>
                                    <a:ea typeface="Cambria Math"/>
                                    <a:cs typeface="Cambria Math"/>
                                  </a:rPr>
                                  <m:t>=</m:t>
                                </m:r>
                                <m:r>
                                  <a:rPr lang="zh-CN" sz="1120" dirty="0">
                                    <a:solidFill>
                                      <a:srgbClr val="FFFFFF"/>
                                    </a:solidFill>
                                    <a:latin typeface="Cambria Math"/>
                                    <a:ea typeface="Cambria Math"/>
                                    <a:cs typeface="Cambria Math"/>
                                  </a:rPr>
                                  <m:t>1</m:t>
                                </m:r>
                              </m:sub>
                              <m:sup>
                                <m:r>
                                  <a:rPr lang="zh-CN" sz="1120" dirty="0">
                                    <a:solidFill>
                                      <a:srgbClr val="FFFFFF"/>
                                    </a:solidFill>
                                    <a:latin typeface="Cambria Math"/>
                                    <a:ea typeface="Cambria Math"/>
                                    <a:cs typeface="Cambria Math"/>
                                  </a:rPr>
                                  <m:t>N</m:t>
                                </m:r>
                              </m:sup>
                              <m:e>
                                <m:sSub>
                                  <m:e>
                                    <m:r>
                                      <a:rPr lang="zh-CN" sz="1120" dirty="0">
                                        <a:solidFill>
                                          <a:srgbClr val="FFFFFF"/>
                                        </a:solidFill>
                                        <a:latin typeface="Cambria Math"/>
                                        <a:ea typeface="Cambria Math"/>
                                        <a:cs typeface="Cambria Math"/>
                                      </a:rPr>
                                      <m:t>α</m:t>
                                    </m:r>
                                  </m:e>
                                  <m:sub>
                                    <m:r>
                                      <a:rPr lang="zh-CN" sz="1120" dirty="0">
                                        <a:solidFill>
                                          <a:srgbClr val="FFFFFF"/>
                                        </a:solidFill>
                                        <a:latin typeface="Cambria Math"/>
                                        <a:ea typeface="Cambria Math"/>
                                        <a:cs typeface="Cambria Math"/>
                                      </a:rPr>
                                      <m:t>i</m:t>
                                    </m:r>
                                  </m:sub>
                                </m:sSub>
                              </m:e>
                            </m:nary>
                          </m:e>
                        </m:func>
                        <m:r>
                          <m:rPr>
                            <m:sty m:val="p"/>
                          </m:rPr>
                          <a:rPr lang="zh-CN" sz="1120" dirty="0">
                            <a:solidFill>
                              <a:srgbClr val="FFFFFF"/>
                            </a:solidFill>
                            <a:latin typeface="Cambria Math"/>
                            <a:ea typeface="Cambria Math"/>
                            <a:cs typeface="Cambria Math"/>
                          </a:rPr>
                          <m:t>−</m:t>
                        </m:r>
                        <m:f>
                          <m:fPr>
                            <m:type m:val="bar"/>
                            <m:ctrlPr>
                              <a:rPr lang="zh-CN" sz="1120" dirty="0">
                                <a:solidFill>
                                  <a:srgbClr val="FFFFFF"/>
                                </a:solidFill>
                                <a:latin typeface="Cambria Math"/>
                                <a:ea typeface="Cambria Math"/>
                                <a:cs typeface="Cambria Math"/>
                              </a:rPr>
                            </m:ctrlPr>
                          </m:fPr>
                          <m:num>
                            <m:r>
                              <a:rPr lang="zh-CN" sz="1120" dirty="0">
                                <a:solidFill>
                                  <a:srgbClr val="FFFFFF"/>
                                </a:solidFill>
                                <a:latin typeface="Cambria Math"/>
                                <a:ea typeface="Cambria Math"/>
                                <a:cs typeface="Cambria Math"/>
                              </a:rPr>
                              <m:t>1</m:t>
                            </m:r>
                          </m:num>
                          <m:den>
                            <m:r>
                              <a:rPr lang="zh-CN" sz="1120" dirty="0">
                                <a:solidFill>
                                  <a:srgbClr val="FFFFFF"/>
                                </a:solidFill>
                                <a:latin typeface="Cambria Math"/>
                                <a:ea typeface="Cambria Math"/>
                                <a:cs typeface="Cambria Math"/>
                              </a:rPr>
                              <m:t>2</m:t>
                            </m:r>
                          </m:den>
                        </m:f>
                        <m:nary>
                          <m:naryPr>
                            <m:chr m:val="∑"/>
                            <m:limLoc m:val="undOvr"/>
                            <m:grow m:val="off"/>
                            <m:subHide m:val="off"/>
                            <m:supHide m:val="off"/>
                            <m:ctrlPr>
                              <a:rPr lang="zh-CN" sz="1120" dirty="0">
                                <a:solidFill>
                                  <a:srgbClr val="FFFFFF"/>
                                </a:solidFill>
                                <a:latin typeface="Cambria Math"/>
                                <a:ea typeface="Cambria Math"/>
                                <a:cs typeface="Cambria Math"/>
                              </a:rPr>
                            </m:ctrlPr>
                          </m:naryPr>
                          <m:sub>
                            <m:r>
                              <a:rPr lang="zh-CN" sz="1120" dirty="0">
                                <a:solidFill>
                                  <a:srgbClr val="FFFFFF"/>
                                </a:solidFill>
                                <a:latin typeface="Cambria Math"/>
                                <a:ea typeface="Cambria Math"/>
                                <a:cs typeface="Cambria Math"/>
                              </a:rPr>
                              <m:t>i</m:t>
                            </m:r>
                            <m:r>
                              <m:rPr>
                                <m:sty m:val="p"/>
                              </m:rPr>
                              <a:rPr lang="zh-CN" sz="1120" dirty="0">
                                <a:solidFill>
                                  <a:srgbClr val="FFFFFF"/>
                                </a:solidFill>
                                <a:latin typeface="Cambria Math"/>
                                <a:ea typeface="Cambria Math"/>
                                <a:cs typeface="Cambria Math"/>
                              </a:rPr>
                              <m:t>=</m:t>
                            </m:r>
                            <m:r>
                              <a:rPr lang="zh-CN" sz="1120" dirty="0">
                                <a:solidFill>
                                  <a:srgbClr val="FFFFFF"/>
                                </a:solidFill>
                                <a:latin typeface="Cambria Math"/>
                                <a:ea typeface="Cambria Math"/>
                                <a:cs typeface="Cambria Math"/>
                              </a:rPr>
                              <m:t>1</m:t>
                            </m:r>
                          </m:sub>
                          <m:sup>
                            <m:r>
                              <a:rPr lang="zh-CN" sz="1120" dirty="0">
                                <a:solidFill>
                                  <a:srgbClr val="FFFFFF"/>
                                </a:solidFill>
                                <a:latin typeface="Cambria Math"/>
                                <a:ea typeface="Cambria Math"/>
                                <a:cs typeface="Cambria Math"/>
                              </a:rPr>
                              <m:t>N</m:t>
                            </m:r>
                          </m:sup>
                          <m:e>
                            <m:nary>
                              <m:naryPr>
                                <m:chr m:val="∑"/>
                                <m:limLoc m:val="undOvr"/>
                                <m:grow m:val="off"/>
                                <m:subHide m:val="off"/>
                                <m:supHide m:val="off"/>
                                <m:ctrlPr>
                                  <a:rPr lang="zh-CN" sz="1120" dirty="0">
                                    <a:solidFill>
                                      <a:srgbClr val="FFFFFF"/>
                                    </a:solidFill>
                                    <a:latin typeface="Cambria Math"/>
                                    <a:ea typeface="Cambria Math"/>
                                    <a:cs typeface="Cambria Math"/>
                                  </a:rPr>
                                </m:ctrlPr>
                              </m:naryPr>
                              <m:sub>
                                <m:r>
                                  <a:rPr lang="zh-CN" sz="1120" dirty="0">
                                    <a:solidFill>
                                      <a:srgbClr val="FFFFFF"/>
                                    </a:solidFill>
                                    <a:latin typeface="Cambria Math"/>
                                    <a:ea typeface="Cambria Math"/>
                                    <a:cs typeface="Cambria Math"/>
                                  </a:rPr>
                                  <m:t>j</m:t>
                                </m:r>
                                <m:r>
                                  <m:rPr>
                                    <m:sty m:val="p"/>
                                  </m:rPr>
                                  <a:rPr lang="zh-CN" sz="1120" dirty="0">
                                    <a:solidFill>
                                      <a:srgbClr val="FFFFFF"/>
                                    </a:solidFill>
                                    <a:latin typeface="Cambria Math"/>
                                    <a:ea typeface="Cambria Math"/>
                                    <a:cs typeface="Cambria Math"/>
                                  </a:rPr>
                                  <m:t>=</m:t>
                                </m:r>
                                <m:r>
                                  <a:rPr lang="zh-CN" sz="1120" dirty="0">
                                    <a:solidFill>
                                      <a:srgbClr val="FFFFFF"/>
                                    </a:solidFill>
                                    <a:latin typeface="Cambria Math"/>
                                    <a:ea typeface="Cambria Math"/>
                                    <a:cs typeface="Cambria Math"/>
                                  </a:rPr>
                                  <m:t>1</m:t>
                                </m:r>
                              </m:sub>
                              <m:sup>
                                <m:r>
                                  <a:rPr lang="zh-CN" sz="1120" dirty="0">
                                    <a:solidFill>
                                      <a:srgbClr val="FFFFFF"/>
                                    </a:solidFill>
                                    <a:latin typeface="Cambria Math"/>
                                    <a:ea typeface="Cambria Math"/>
                                    <a:cs typeface="Cambria Math"/>
                                  </a:rPr>
                                  <m:t>N</m:t>
                                </m:r>
                              </m:sup>
                              <m:e>
                                <m:sSub>
                                  <m:e>
                                    <m:r>
                                      <a:rPr lang="zh-CN" sz="1120" dirty="0">
                                        <a:solidFill>
                                          <a:srgbClr val="FFFFFF"/>
                                        </a:solidFill>
                                        <a:latin typeface="Cambria Math"/>
                                        <a:ea typeface="Cambria Math"/>
                                        <a:cs typeface="Cambria Math"/>
                                      </a:rPr>
                                      <m:t>α</m:t>
                                    </m:r>
                                  </m:e>
                                  <m:sub>
                                    <m:r>
                                      <a:rPr lang="zh-CN" sz="1120" dirty="0">
                                        <a:solidFill>
                                          <a:srgbClr val="FFFFFF"/>
                                        </a:solidFill>
                                        <a:latin typeface="Cambria Math"/>
                                        <a:ea typeface="Cambria Math"/>
                                        <a:cs typeface="Cambria Math"/>
                                      </a:rPr>
                                      <m:t>i</m:t>
                                    </m:r>
                                  </m:sub>
                                </m:sSub>
                                <m:sSub>
                                  <m:e>
                                    <m:r>
                                      <a:rPr lang="zh-CN" sz="1120" dirty="0">
                                        <a:solidFill>
                                          <a:srgbClr val="FFFFFF"/>
                                        </a:solidFill>
                                        <a:latin typeface="Cambria Math"/>
                                        <a:ea typeface="Cambria Math"/>
                                        <a:cs typeface="Cambria Math"/>
                                      </a:rPr>
                                      <m:t>α</m:t>
                                    </m:r>
                                  </m:e>
                                  <m:sub>
                                    <m:r>
                                      <a:rPr lang="zh-CN" sz="1120" dirty="0">
                                        <a:solidFill>
                                          <a:srgbClr val="FFFFFF"/>
                                        </a:solidFill>
                                        <a:latin typeface="Cambria Math"/>
                                        <a:ea typeface="Cambria Math"/>
                                        <a:cs typeface="Cambria Math"/>
                                      </a:rPr>
                                      <m:t>j</m:t>
                                    </m:r>
                                  </m:sub>
                                </m:sSub>
                                <m:sSub>
                                  <m:e>
                                    <m:r>
                                      <a:rPr lang="zh-CN" sz="1120" dirty="0">
                                        <a:solidFill>
                                          <a:srgbClr val="FFFFFF"/>
                                        </a:solidFill>
                                        <a:latin typeface="Cambria Math"/>
                                        <a:ea typeface="Cambria Math"/>
                                        <a:cs typeface="Cambria Math"/>
                                      </a:rPr>
                                      <m:t>y</m:t>
                                    </m:r>
                                  </m:e>
                                  <m:sub>
                                    <m:r>
                                      <a:rPr lang="zh-CN" sz="1120" dirty="0">
                                        <a:solidFill>
                                          <a:srgbClr val="FFFFFF"/>
                                        </a:solidFill>
                                        <a:latin typeface="Cambria Math"/>
                                        <a:ea typeface="Cambria Math"/>
                                        <a:cs typeface="Cambria Math"/>
                                      </a:rPr>
                                      <m:t>i</m:t>
                                    </m:r>
                                  </m:sub>
                                </m:sSub>
                                <m:sSub>
                                  <m:e>
                                    <m:r>
                                      <a:rPr lang="zh-CN" sz="1120" dirty="0">
                                        <a:solidFill>
                                          <a:srgbClr val="FFFFFF"/>
                                        </a:solidFill>
                                        <a:latin typeface="Cambria Math"/>
                                        <a:ea typeface="Cambria Math"/>
                                        <a:cs typeface="Cambria Math"/>
                                      </a:rPr>
                                      <m:t>y</m:t>
                                    </m:r>
                                  </m:e>
                                  <m:sub>
                                    <m:r>
                                      <a:rPr lang="zh-CN" sz="1120" dirty="0">
                                        <a:solidFill>
                                          <a:srgbClr val="FFFFFF"/>
                                        </a:solidFill>
                                        <a:latin typeface="Cambria Math"/>
                                        <a:ea typeface="Cambria Math"/>
                                        <a:cs typeface="Cambria Math"/>
                                      </a:rPr>
                                      <m:t>j</m:t>
                                    </m:r>
                                  </m:sub>
                                </m:sSub>
                                <m:d>
                                  <m:dPr>
                                    <m:begChr m:val="("/>
                                    <m:sepChr m:val=""/>
                                    <m:endChr m:val=")"/>
                                    <m:grow m:val="on"/>
                                    <m:ctrlPr>
                                      <a:rPr lang="zh-CN" sz="1120" dirty="0">
                                        <a:solidFill>
                                          <a:srgbClr val="FFFFFF"/>
                                        </a:solidFill>
                                        <a:latin typeface="Cambria Math"/>
                                        <a:ea typeface="Cambria Math"/>
                                        <a:cs typeface="Cambria Math"/>
                                      </a:rPr>
                                    </m:ctrlPr>
                                  </m:dPr>
                                  <m:e>
                                    <m:sSub>
                                      <m:e>
                                        <m:r>
                                          <a:rPr lang="zh-CN" sz="1120" dirty="0">
                                            <a:solidFill>
                                              <a:srgbClr val="FFFFFF"/>
                                            </a:solidFill>
                                            <a:latin typeface="Cambria Math"/>
                                            <a:ea typeface="Cambria Math"/>
                                            <a:cs typeface="Cambria Math"/>
                                          </a:rPr>
                                          <m:t>x</m:t>
                                        </m:r>
                                      </m:e>
                                      <m:sub>
                                        <m:r>
                                          <a:rPr lang="zh-CN" sz="1120" dirty="0">
                                            <a:solidFill>
                                              <a:srgbClr val="FFFFFF"/>
                                            </a:solidFill>
                                            <a:latin typeface="Cambria Math"/>
                                            <a:ea typeface="Cambria Math"/>
                                            <a:cs typeface="Cambria Math"/>
                                          </a:rPr>
                                          <m:t>i</m:t>
                                        </m:r>
                                      </m:sub>
                                    </m:sSub>
                                    <m:r>
                                      <m:rPr>
                                        <m:sty m:val="p"/>
                                      </m:rPr>
                                      <a:rPr lang="zh-CN" sz="1120" dirty="0">
                                        <a:solidFill>
                                          <a:srgbClr val="FFFFFF"/>
                                        </a:solidFill>
                                        <a:latin typeface="Cambria Math"/>
                                        <a:ea typeface="Cambria Math"/>
                                        <a:cs typeface="Cambria Math"/>
                                      </a:rPr>
                                      <m:t>⋅</m:t>
                                    </m:r>
                                    <m:sSub>
                                      <m:e>
                                        <m:r>
                                          <a:rPr lang="zh-CN" sz="1120" dirty="0">
                                            <a:solidFill>
                                              <a:srgbClr val="FFFFFF"/>
                                            </a:solidFill>
                                            <a:latin typeface="Cambria Math"/>
                                            <a:ea typeface="Cambria Math"/>
                                            <a:cs typeface="Cambria Math"/>
                                          </a:rPr>
                                          <m:t>x</m:t>
                                        </m:r>
                                      </m:e>
                                      <m:sub>
                                        <m:r>
                                          <a:rPr lang="zh-CN" sz="1120" dirty="0">
                                            <a:solidFill>
                                              <a:srgbClr val="FFFFFF"/>
                                            </a:solidFill>
                                            <a:latin typeface="Cambria Math"/>
                                            <a:ea typeface="Cambria Math"/>
                                            <a:cs typeface="Cambria Math"/>
                                          </a:rPr>
                                          <m:t>j</m:t>
                                        </m:r>
                                      </m:sub>
                                    </m:sSub>
                                  </m:e>
                                </m:d>
                              </m:e>
                            </m:nary>
                          </m:e>
                        </m:nary>
                      </m:oMath>
                    </m:oMathPara>
                  </a14:m>
                </a:p>
              </p:txBody>
            </p:sp>
          </mc:Choice>
        </mc:AlternateContent>
        <mc:AlternateContent xmlns:mc="http://schemas.openxmlformats.org/markup-compatibility/2006">
          <mc:Choice xmlns:a14="http://schemas.microsoft.com/office/drawing/2010/main" Requires="a14">
            <p:sp>
              <p:nvSpPr>
                <p:cNvPr id="15" name="formula196"/>
                <p:cNvSpPr txBox="1">
                  <a:spLocks noGrp="1"/>
                </p:cNvSpPr>
                <p:nvPr/>
              </p:nvSpPr>
              <p:spPr>
                <a:xfrm>
                  <a:off x="714375" y="3662362"/>
                  <a:ext cx="5264468" cy="47148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120" dirty="0">
                            <a:solidFill>
                              <a:srgbClr val="FFFFFF"/>
                            </a:solidFill>
                            <a:latin typeface="Cambria Math"/>
                            <a:ea typeface="Cambria Math"/>
                            <a:cs typeface="Cambria Math"/>
                          </a:rPr>
                          <m:t>s.t.</m:t>
                        </m:r>
                        <m:r>
                          <a:rPr lang="zh-CN" sz="1120" dirty="0">
                            <a:solidFill>
                              <a:srgbClr val="FFFFFF"/>
                            </a:solidFill>
                            <a:latin typeface="Cambria Math"/>
                            <a:ea typeface="Cambria Math"/>
                            <a:cs typeface="Cambria Math"/>
                          </a:rPr>
                          <m:t xml:space="preserve">  </m:t>
                        </m:r>
                        <m:nary>
                          <m:naryPr>
                            <m:chr m:val="∑"/>
                            <m:limLoc m:val="undOvr"/>
                            <m:grow m:val="off"/>
                            <m:subHide m:val="off"/>
                            <m:supHide m:val="off"/>
                            <m:ctrlPr>
                              <a:rPr lang="zh-CN" sz="1120" dirty="0">
                                <a:solidFill>
                                  <a:srgbClr val="FFFFFF"/>
                                </a:solidFill>
                                <a:latin typeface="Cambria Math"/>
                                <a:ea typeface="Cambria Math"/>
                                <a:cs typeface="Cambria Math"/>
                              </a:rPr>
                            </m:ctrlPr>
                          </m:naryPr>
                          <m:sub>
                            <m:r>
                              <a:rPr lang="zh-CN" sz="1120" dirty="0">
                                <a:solidFill>
                                  <a:srgbClr val="FFFFFF"/>
                                </a:solidFill>
                                <a:latin typeface="Cambria Math"/>
                                <a:ea typeface="Cambria Math"/>
                                <a:cs typeface="Cambria Math"/>
                              </a:rPr>
                              <m:t>i</m:t>
                            </m:r>
                            <m:r>
                              <m:rPr>
                                <m:sty m:val="p"/>
                              </m:rPr>
                              <a:rPr lang="zh-CN" sz="1120" dirty="0">
                                <a:solidFill>
                                  <a:srgbClr val="FFFFFF"/>
                                </a:solidFill>
                                <a:latin typeface="Cambria Math"/>
                                <a:ea typeface="Cambria Math"/>
                                <a:cs typeface="Cambria Math"/>
                              </a:rPr>
                              <m:t>=</m:t>
                            </m:r>
                            <m:r>
                              <a:rPr lang="zh-CN" sz="1120" dirty="0">
                                <a:solidFill>
                                  <a:srgbClr val="FFFFFF"/>
                                </a:solidFill>
                                <a:latin typeface="Cambria Math"/>
                                <a:ea typeface="Cambria Math"/>
                                <a:cs typeface="Cambria Math"/>
                              </a:rPr>
                              <m:t>1</m:t>
                            </m:r>
                          </m:sub>
                          <m:sup>
                            <m:r>
                              <a:rPr lang="zh-CN" sz="1120" dirty="0">
                                <a:solidFill>
                                  <a:srgbClr val="FFFFFF"/>
                                </a:solidFill>
                                <a:latin typeface="Cambria Math"/>
                                <a:ea typeface="Cambria Math"/>
                                <a:cs typeface="Cambria Math"/>
                              </a:rPr>
                              <m:t>N</m:t>
                            </m:r>
                          </m:sup>
                          <m:e>
                            <m:sSub>
                              <m:e>
                                <m:r>
                                  <a:rPr lang="zh-CN" sz="1120" dirty="0">
                                    <a:solidFill>
                                      <a:srgbClr val="FFFFFF"/>
                                    </a:solidFill>
                                    <a:latin typeface="Cambria Math"/>
                                    <a:ea typeface="Cambria Math"/>
                                    <a:cs typeface="Cambria Math"/>
                                  </a:rPr>
                                  <m:t>α</m:t>
                                </m:r>
                              </m:e>
                              <m:sub>
                                <m:r>
                                  <a:rPr lang="zh-CN" sz="1120" dirty="0">
                                    <a:solidFill>
                                      <a:srgbClr val="FFFFFF"/>
                                    </a:solidFill>
                                    <a:latin typeface="Cambria Math"/>
                                    <a:ea typeface="Cambria Math"/>
                                    <a:cs typeface="Cambria Math"/>
                                  </a:rPr>
                                  <m:t>i</m:t>
                                </m:r>
                              </m:sub>
                            </m:sSub>
                            <m:sSub>
                              <m:e>
                                <m:r>
                                  <a:rPr lang="zh-CN" sz="1120" dirty="0">
                                    <a:solidFill>
                                      <a:srgbClr val="FFFFFF"/>
                                    </a:solidFill>
                                    <a:latin typeface="Cambria Math"/>
                                    <a:ea typeface="Cambria Math"/>
                                    <a:cs typeface="Cambria Math"/>
                                  </a:rPr>
                                  <m:t>y</m:t>
                                </m:r>
                              </m:e>
                              <m:sub>
                                <m:r>
                                  <a:rPr lang="zh-CN" sz="1120" dirty="0">
                                    <a:solidFill>
                                      <a:srgbClr val="FFFFFF"/>
                                    </a:solidFill>
                                    <a:latin typeface="Cambria Math"/>
                                    <a:ea typeface="Cambria Math"/>
                                    <a:cs typeface="Cambria Math"/>
                                  </a:rPr>
                                  <m:t>i</m:t>
                                </m:r>
                              </m:sub>
                            </m:sSub>
                          </m:e>
                        </m:nary>
                        <m:r>
                          <m:rPr>
                            <m:sty m:val="p"/>
                          </m:rPr>
                          <a:rPr lang="zh-CN" sz="1120" dirty="0">
                            <a:solidFill>
                              <a:srgbClr val="FFFFFF"/>
                            </a:solidFill>
                            <a:latin typeface="Cambria Math"/>
                            <a:ea typeface="Cambria Math"/>
                            <a:cs typeface="Cambria Math"/>
                          </a:rPr>
                          <m:t>=</m:t>
                        </m:r>
                        <m:r>
                          <a:rPr lang="zh-CN" sz="1120" dirty="0">
                            <a:solidFill>
                              <a:srgbClr val="FFFFFF"/>
                            </a:solidFill>
                            <a:latin typeface="Cambria Math"/>
                            <a:ea typeface="Cambria Math"/>
                            <a:cs typeface="Cambria Math"/>
                          </a:rPr>
                          <m:t>0</m:t>
                        </m:r>
                        <m:r>
                          <m:rPr>
                            <m:sty m:val="p"/>
                          </m:rPr>
                          <a:rPr lang="zh-CN" sz="1120" dirty="0">
                            <a:solidFill>
                              <a:srgbClr val="FFFFFF"/>
                            </a:solidFill>
                            <a:latin typeface="Cambria Math"/>
                            <a:ea typeface="Cambria Math"/>
                            <a:cs typeface="Cambria Math"/>
                          </a:rPr>
                          <m:t>,</m:t>
                        </m:r>
                        <m:r>
                          <a:rPr lang="zh-CN" sz="1120" dirty="0">
                            <a:solidFill>
                              <a:srgbClr val="FFFFFF"/>
                            </a:solidFill>
                            <a:latin typeface="Cambria Math"/>
                            <a:ea typeface="Cambria Math"/>
                            <a:cs typeface="Cambria Math"/>
                          </a:rPr>
                          <m:t xml:space="preserve">  </m:t>
                        </m:r>
                        <m:r>
                          <a:rPr lang="zh-CN" sz="1120" dirty="0">
                            <a:solidFill>
                              <a:srgbClr val="FFFFFF"/>
                            </a:solidFill>
                            <a:latin typeface="Cambria Math"/>
                            <a:ea typeface="Cambria Math"/>
                            <a:cs typeface="Cambria Math"/>
                          </a:rPr>
                          <m:t>0</m:t>
                        </m:r>
                        <m:r>
                          <m:rPr>
                            <m:sty m:val="p"/>
                          </m:rPr>
                          <a:rPr lang="zh-CN" sz="1120" dirty="0">
                            <a:solidFill>
                              <a:srgbClr val="FFFFFF"/>
                            </a:solidFill>
                            <a:latin typeface="Cambria Math"/>
                            <a:ea typeface="Cambria Math"/>
                            <a:cs typeface="Cambria Math"/>
                          </a:rPr>
                          <m:t>≤</m:t>
                        </m:r>
                        <m:sSub>
                          <m:e>
                            <m:r>
                              <a:rPr lang="zh-CN" sz="1120" dirty="0">
                                <a:solidFill>
                                  <a:srgbClr val="FFFFFF"/>
                                </a:solidFill>
                                <a:latin typeface="Cambria Math"/>
                                <a:ea typeface="Cambria Math"/>
                                <a:cs typeface="Cambria Math"/>
                              </a:rPr>
                              <m:t>α</m:t>
                            </m:r>
                          </m:e>
                          <m:sub>
                            <m:r>
                              <a:rPr lang="zh-CN" sz="1120" dirty="0">
                                <a:solidFill>
                                  <a:srgbClr val="FFFFFF"/>
                                </a:solidFill>
                                <a:latin typeface="Cambria Math"/>
                                <a:ea typeface="Cambria Math"/>
                                <a:cs typeface="Cambria Math"/>
                              </a:rPr>
                              <m:t>i</m:t>
                            </m:r>
                          </m:sub>
                        </m:sSub>
                        <m:r>
                          <m:rPr>
                            <m:sty m:val="p"/>
                          </m:rPr>
                          <a:rPr lang="zh-CN" sz="1120" dirty="0">
                            <a:solidFill>
                              <a:srgbClr val="FFFFFF"/>
                            </a:solidFill>
                            <a:latin typeface="Cambria Math"/>
                            <a:ea typeface="Cambria Math"/>
                            <a:cs typeface="Cambria Math"/>
                          </a:rPr>
                          <m:t>≤</m:t>
                        </m:r>
                        <m:r>
                          <a:rPr lang="zh-CN" sz="1120" dirty="0">
                            <a:solidFill>
                              <a:srgbClr val="FFFFFF"/>
                            </a:solidFill>
                            <a:latin typeface="Cambria Math"/>
                            <a:ea typeface="Cambria Math"/>
                            <a:cs typeface="Cambria Math"/>
                          </a:rPr>
                          <m:t>C</m:t>
                        </m:r>
                      </m:oMath>
                    </m:oMathPara>
                  </a14:m>
                </a:p>
              </p:txBody>
            </p:sp>
          </mc:Choice>
        </mc:AlternateContent>
      </p:grpSp>
      <p:grpSp>
        <p:nvGrpSpPr>
          <p:cNvPr id="23" name="c1-card-3"/>
          <p:cNvGrpSpPr/>
          <p:nvPr/>
        </p:nvGrpSpPr>
        <p:grpSpPr>
          <a:xfrm>
            <a:off x="533400" y="4495800"/>
            <a:ext cx="5626418" cy="1160145"/>
            <a:chOff x="533400" y="4495800"/>
            <a:chExt cx="5626418" cy="1160145"/>
          </a:xfrm>
        </p:grpSpPr>
        <p:sp>
          <p:nvSpPr>
            <p:cNvPr id="17" name="Rectangle 17"/>
            <p:cNvSpPr/>
            <p:nvPr/>
          </p:nvSpPr>
          <p:spPr>
            <a:xfrm>
              <a:off x="533400" y="4495800"/>
              <a:ext cx="5626418" cy="1160145"/>
            </a:xfrm>
            <a:prstGeom prst="roundRect">
              <a:avLst>
                <a:gd name="adj" fmla="val 11494"/>
              </a:avLst>
            </a:prstGeom>
            <a:solidFill>
              <a:srgbClr val="FFFFFF"/>
            </a:solidFill>
            <a:ln w="14288">
              <a:solidFill>
                <a:srgbClr val="D9DFEA"/>
              </a:solidFill>
            </a:ln>
          </p:spPr>
        </p:sp>
        <p:sp>
          <p:nvSpPr>
            <p:cNvPr id="18" name="Rectangle 18"/>
            <p:cNvSpPr/>
            <p:nvPr/>
          </p:nvSpPr>
          <p:spPr>
            <a:xfrm>
              <a:off x="542925" y="4629150"/>
              <a:ext cx="47625" cy="893445"/>
            </a:xfrm>
            <a:prstGeom prst="roundRect">
              <a:avLst>
                <a:gd name="adj" fmla="val 50000"/>
              </a:avLst>
            </a:prstGeom>
            <a:solidFill>
              <a:srgbClr val="5B6475"/>
            </a:solidFill>
            <a:ln>
              <a:noFill/>
            </a:ln>
          </p:spPr>
        </p:sp>
        <p:sp>
          <p:nvSpPr>
            <p:cNvPr id="19" name="Rectangle 19"/>
            <p:cNvSpPr/>
            <p:nvPr/>
          </p:nvSpPr>
          <p:spPr>
            <a:xfrm>
              <a:off x="752475" y="4676775"/>
              <a:ext cx="458152" cy="238125"/>
            </a:xfrm>
            <a:prstGeom prst="roundRect">
              <a:avLst>
                <a:gd name="adj" fmla="val 50000"/>
              </a:avLst>
            </a:prstGeom>
            <a:solidFill>
              <a:srgbClr val="F4F6FB"/>
            </a:solidFill>
            <a:ln>
              <a:noFill/>
            </a:ln>
          </p:spPr>
        </p:sp>
        <p:sp>
          <p:nvSpPr>
            <p:cNvPr id="20" name="TextBox 20"/>
            <p:cNvSpPr txBox="1"/>
            <p:nvPr/>
          </p:nvSpPr>
          <p:spPr>
            <a:xfrm>
              <a:off x="845147" y="4709636"/>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21" name="TextBox 21"/>
            <p:cNvSpPr txBox="1"/>
            <p:nvPr/>
          </p:nvSpPr>
          <p:spPr>
            <a:xfrm>
              <a:off x="1318450" y="4716304"/>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原课件的求和下标对不上</a:t>
              </a:r>
            </a:p>
          </p:txBody>
        </p:sp>
        <p:sp>
          <p:nvSpPr>
            <p:cNvPr id="22" name="TextBox 22"/>
            <p:cNvSpPr txBox="1"/>
            <p:nvPr/>
          </p:nvSpPr>
          <p:spPr>
            <a:xfrm>
              <a:off x="745998" y="5032534"/>
              <a:ext cx="496290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B 版第 44 页写 min L = Σⱼ₌₁ᴺ αᵢ − ½ΣΣ…，求和变量 j 与被加项下标 i</a:t>
              </a:r>
              <a:br/>
              <a:r>
                <a:rPr lang="zh-CN" sz="1280" dirty="0">
                  <a:solidFill>
                    <a:srgbClr val="1F2937"/>
                  </a:solidFill>
                  <a:latin typeface="+mn-lt"/>
                  <a:ea typeface="+mn-ea"/>
                  <a:cs typeface="+mn-cs"/>
                </a:rPr>
                <a:t xml:space="preserve">对不上，统一写 </a:t>
              </a:r>
              <a:r>
                <a:rPr lang="el-GR" sz="1280" b="1" dirty="0">
                  <a:solidFill>
                    <a:srgbClr val="C2410C"/>
                  </a:solidFill>
                  <a:latin typeface="+mn-lt"/>
                  <a:ea typeface="+mn-ea"/>
                  <a:cs typeface="+mn-cs"/>
                </a:rPr>
                <a:t>Σᵢ₌₁ᴺ αᵢ</a:t>
              </a:r>
              <a:r>
                <a:rPr lang="zh-CN" sz="1280" dirty="0">
                  <a:solidFill>
                    <a:srgbClr val="1F2937"/>
                  </a:solidFill>
                  <a:latin typeface="+mn-lt"/>
                  <a:ea typeface="+mn-ea"/>
                  <a:cs typeface="+mn-cs"/>
                </a:rPr>
                <a:t>。</a:t>
              </a:r>
            </a:p>
          </p:txBody>
        </p:sp>
      </p:grpSp>
      <p:grpSp>
        <p:nvGrpSpPr>
          <p:cNvPr id="49" name="c2-table-1"/>
          <p:cNvGrpSpPr/>
          <p:nvPr/>
        </p:nvGrpSpPr>
        <p:grpSpPr>
          <a:xfrm>
            <a:off x="6464618" y="1928812"/>
            <a:ext cx="5193982" cy="2093595"/>
            <a:chOff x="6464618" y="1928812"/>
            <a:chExt cx="5193982" cy="2093595"/>
          </a:xfrm>
        </p:grpSpPr>
        <p:sp>
          <p:nvSpPr>
            <p:cNvPr id="24" name="Rectangle 24"/>
            <p:cNvSpPr/>
            <p:nvPr/>
          </p:nvSpPr>
          <p:spPr>
            <a:xfrm>
              <a:off x="6464618" y="1928812"/>
              <a:ext cx="5193982" cy="381000"/>
            </a:xfrm>
            <a:prstGeom prst="rect">
              <a:avLst/>
            </a:prstGeom>
            <a:solidFill>
              <a:srgbClr val="0E7C86"/>
            </a:solidFill>
            <a:ln>
              <a:noFill/>
            </a:ln>
          </p:spPr>
        </p:sp>
        <p:sp>
          <p:nvSpPr>
            <p:cNvPr id="25" name="TextBox 25"/>
            <p:cNvSpPr txBox="1"/>
            <p:nvPr/>
          </p:nvSpPr>
          <p:spPr>
            <a:xfrm>
              <a:off x="7045642" y="204597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项目</a:t>
              </a:r>
            </a:p>
          </p:txBody>
        </p:sp>
        <p:sp>
          <p:nvSpPr>
            <p:cNvPr id="26" name="TextBox 26"/>
            <p:cNvSpPr txBox="1"/>
            <p:nvPr/>
          </p:nvSpPr>
          <p:spPr>
            <a:xfrm>
              <a:off x="8547164"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硬间隔对偶</a:t>
              </a:r>
            </a:p>
          </p:txBody>
        </p:sp>
        <p:sp>
          <p:nvSpPr>
            <p:cNvPr id="27" name="TextBox 27"/>
            <p:cNvSpPr txBox="1"/>
            <p:nvPr/>
          </p:nvSpPr>
          <p:spPr>
            <a:xfrm>
              <a:off x="10416921"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软间隔对偶</a:t>
              </a:r>
            </a:p>
          </p:txBody>
        </p:sp>
        <p:sp>
          <p:nvSpPr>
            <p:cNvPr id="28" name="TextBox 28"/>
            <p:cNvSpPr txBox="1"/>
            <p:nvPr/>
          </p:nvSpPr>
          <p:spPr>
            <a:xfrm>
              <a:off x="6559296" y="2520315"/>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目标函数</a:t>
              </a:r>
            </a:p>
          </p:txBody>
        </p:sp>
        <p:sp>
          <p:nvSpPr>
            <p:cNvPr id="29" name="TextBox 29"/>
            <p:cNvSpPr txBox="1"/>
            <p:nvPr/>
          </p:nvSpPr>
          <p:spPr>
            <a:xfrm>
              <a:off x="8013764" y="2426970"/>
              <a:ext cx="1484186" cy="392049"/>
            </a:xfrm>
            <a:prstGeom prst="rect">
              <a:avLst/>
            </a:prstGeom>
            <a:noFill/>
            <a:ln>
              <a:noFill/>
            </a:ln>
          </p:spPr>
          <p:txBody>
            <a:bodyPr wrap="none" lIns="0" tIns="0" rIns="0" bIns="0" anchor="t" anchorCtr="0">
              <a:spAutoFit/>
            </a:bodyPr>
            <a:lstStyle/>
            <a:p>
              <a:pPr algn="l">
                <a:lnSpc>
                  <a:spcPts val="1470"/>
                </a:lnSpc>
              </a:pPr>
              <a:r>
                <a:rPr lang="el-GR" sz="1050" dirty="0">
                  <a:solidFill>
                    <a:srgbClr val="1F2937"/>
                  </a:solidFill>
                  <a:latin typeface="+mn-lt"/>
                  <a:ea typeface="+mn-ea"/>
                  <a:cs typeface="+mn-cs"/>
                </a:rPr>
                <a:t>Σαᵢ − ½ΣΣαᵢαⱼyᵢyⱼ(xᵢ·</a:t>
              </a:r>
              <a:br/>
              <a:r>
                <a:rPr lang="en-US" sz="1050" dirty="0">
                  <a:solidFill>
                    <a:srgbClr val="1F2937"/>
                  </a:solidFill>
                  <a:latin typeface="+mn-lt"/>
                  <a:ea typeface="+mn-ea"/>
                  <a:cs typeface="+mn-cs"/>
                </a:rPr>
                <a:t>xⱼ)</a:t>
              </a:r>
            </a:p>
          </p:txBody>
        </p:sp>
        <p:sp>
          <p:nvSpPr>
            <p:cNvPr id="30" name="TextBox 30"/>
            <p:cNvSpPr txBox="1"/>
            <p:nvPr/>
          </p:nvSpPr>
          <p:spPr>
            <a:xfrm>
              <a:off x="9987344" y="2520315"/>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完全相同</a:t>
              </a:r>
            </a:p>
          </p:txBody>
        </p:sp>
        <p:sp>
          <p:nvSpPr>
            <p:cNvPr id="31" name="Rectangle 31"/>
            <p:cNvSpPr/>
            <p:nvPr/>
          </p:nvSpPr>
          <p:spPr>
            <a:xfrm>
              <a:off x="6464618" y="2873692"/>
              <a:ext cx="5193982" cy="9525"/>
            </a:xfrm>
            <a:prstGeom prst="rect">
              <a:avLst/>
            </a:prstGeom>
            <a:solidFill>
              <a:srgbClr val="D9DFEA"/>
            </a:solidFill>
            <a:ln>
              <a:noFill/>
            </a:ln>
          </p:spPr>
        </p:sp>
        <p:sp>
          <p:nvSpPr>
            <p:cNvPr id="32" name="Rectangle 32"/>
            <p:cNvSpPr/>
            <p:nvPr/>
          </p:nvSpPr>
          <p:spPr>
            <a:xfrm>
              <a:off x="6464618" y="2878455"/>
              <a:ext cx="5193982" cy="381000"/>
            </a:xfrm>
            <a:prstGeom prst="rect">
              <a:avLst/>
            </a:prstGeom>
            <a:solidFill>
              <a:srgbClr val="F4F6FB"/>
            </a:solidFill>
            <a:ln>
              <a:noFill/>
            </a:ln>
          </p:spPr>
        </p:sp>
        <p:sp>
          <p:nvSpPr>
            <p:cNvPr id="33" name="TextBox 33"/>
            <p:cNvSpPr txBox="1"/>
            <p:nvPr/>
          </p:nvSpPr>
          <p:spPr>
            <a:xfrm>
              <a:off x="6559296" y="2995612"/>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等式约束</a:t>
              </a:r>
            </a:p>
          </p:txBody>
        </p:sp>
        <p:sp>
          <p:nvSpPr>
            <p:cNvPr id="34" name="TextBox 34"/>
            <p:cNvSpPr txBox="1"/>
            <p:nvPr/>
          </p:nvSpPr>
          <p:spPr>
            <a:xfrm>
              <a:off x="8013764" y="2995612"/>
              <a:ext cx="651548"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Σαᵢyᵢ = 0</a:t>
              </a:r>
            </a:p>
          </p:txBody>
        </p:sp>
        <p:sp>
          <p:nvSpPr>
            <p:cNvPr id="35" name="TextBox 35"/>
            <p:cNvSpPr txBox="1"/>
            <p:nvPr/>
          </p:nvSpPr>
          <p:spPr>
            <a:xfrm>
              <a:off x="9987344" y="2995612"/>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完全相同</a:t>
              </a:r>
            </a:p>
          </p:txBody>
        </p:sp>
        <p:sp>
          <p:nvSpPr>
            <p:cNvPr id="36" name="Rectangle 36"/>
            <p:cNvSpPr/>
            <p:nvPr/>
          </p:nvSpPr>
          <p:spPr>
            <a:xfrm>
              <a:off x="6464618" y="3254692"/>
              <a:ext cx="5193982" cy="9525"/>
            </a:xfrm>
            <a:prstGeom prst="rect">
              <a:avLst/>
            </a:prstGeom>
            <a:solidFill>
              <a:srgbClr val="D9DFEA"/>
            </a:solidFill>
            <a:ln>
              <a:noFill/>
            </a:ln>
          </p:spPr>
        </p:sp>
        <p:sp>
          <p:nvSpPr>
            <p:cNvPr id="37" name="TextBox 37"/>
            <p:cNvSpPr txBox="1"/>
            <p:nvPr/>
          </p:nvSpPr>
          <p:spPr>
            <a:xfrm>
              <a:off x="6559296" y="3376612"/>
              <a:ext cx="434721"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箱约束</a:t>
              </a:r>
            </a:p>
          </p:txBody>
        </p:sp>
        <p:sp>
          <p:nvSpPr>
            <p:cNvPr id="38" name="TextBox 38"/>
            <p:cNvSpPr txBox="1"/>
            <p:nvPr/>
          </p:nvSpPr>
          <p:spPr>
            <a:xfrm>
              <a:off x="8013764" y="3376612"/>
              <a:ext cx="406451"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αᵢ ≥ 0</a:t>
              </a:r>
            </a:p>
          </p:txBody>
        </p:sp>
        <p:sp>
          <p:nvSpPr>
            <p:cNvPr id="39" name="Rectangle 39"/>
            <p:cNvSpPr/>
            <p:nvPr/>
          </p:nvSpPr>
          <p:spPr>
            <a:xfrm>
              <a:off x="9902190" y="3268980"/>
              <a:ext cx="1746885" cy="361950"/>
            </a:xfrm>
            <a:prstGeom prst="rect">
              <a:avLst/>
            </a:prstGeom>
            <a:solidFill>
              <a:srgbClr val="FDEEE7"/>
            </a:solidFill>
            <a:ln>
              <a:noFill/>
            </a:ln>
          </p:spPr>
        </p:sp>
        <p:sp>
          <p:nvSpPr>
            <p:cNvPr id="40" name="TextBox 40"/>
            <p:cNvSpPr txBox="1"/>
            <p:nvPr/>
          </p:nvSpPr>
          <p:spPr>
            <a:xfrm>
              <a:off x="9987344" y="3376612"/>
              <a:ext cx="664750"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0 ≤ αᵢ ≤ C</a:t>
              </a:r>
            </a:p>
          </p:txBody>
        </p:sp>
        <p:sp>
          <p:nvSpPr>
            <p:cNvPr id="41" name="Rectangle 41"/>
            <p:cNvSpPr/>
            <p:nvPr/>
          </p:nvSpPr>
          <p:spPr>
            <a:xfrm>
              <a:off x="6464618" y="3635692"/>
              <a:ext cx="5193982" cy="9525"/>
            </a:xfrm>
            <a:prstGeom prst="rect">
              <a:avLst/>
            </a:prstGeom>
            <a:solidFill>
              <a:srgbClr val="D9DFEA"/>
            </a:solidFill>
            <a:ln>
              <a:noFill/>
            </a:ln>
          </p:spPr>
        </p:sp>
        <p:sp>
          <p:nvSpPr>
            <p:cNvPr id="42" name="Rectangle 42"/>
            <p:cNvSpPr/>
            <p:nvPr/>
          </p:nvSpPr>
          <p:spPr>
            <a:xfrm>
              <a:off x="6464618" y="3640455"/>
              <a:ext cx="5193982" cy="381000"/>
            </a:xfrm>
            <a:prstGeom prst="rect">
              <a:avLst/>
            </a:prstGeom>
            <a:solidFill>
              <a:srgbClr val="F4F6FB"/>
            </a:solidFill>
            <a:ln>
              <a:noFill/>
            </a:ln>
          </p:spPr>
        </p:sp>
        <p:sp>
          <p:nvSpPr>
            <p:cNvPr id="43" name="TextBox 43"/>
            <p:cNvSpPr txBox="1"/>
            <p:nvPr/>
          </p:nvSpPr>
          <p:spPr>
            <a:xfrm>
              <a:off x="6559296" y="3758565"/>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求解算法</a:t>
              </a:r>
            </a:p>
          </p:txBody>
        </p:sp>
        <p:sp>
          <p:nvSpPr>
            <p:cNvPr id="44" name="TextBox 44"/>
            <p:cNvSpPr txBox="1"/>
            <p:nvPr/>
          </p:nvSpPr>
          <p:spPr>
            <a:xfrm>
              <a:off x="8013764" y="3758565"/>
              <a:ext cx="316840"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SMO</a:t>
              </a:r>
            </a:p>
          </p:txBody>
        </p:sp>
        <p:sp>
          <p:nvSpPr>
            <p:cNvPr id="45" name="TextBox 45"/>
            <p:cNvSpPr txBox="1"/>
            <p:nvPr/>
          </p:nvSpPr>
          <p:spPr>
            <a:xfrm>
              <a:off x="9987344" y="3758565"/>
              <a:ext cx="78569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SMO 加裁剪</a:t>
              </a:r>
            </a:p>
          </p:txBody>
        </p:sp>
        <p:sp>
          <p:nvSpPr>
            <p:cNvPr id="46" name="Rectangle 46"/>
            <p:cNvSpPr/>
            <p:nvPr/>
          </p:nvSpPr>
          <p:spPr>
            <a:xfrm>
              <a:off x="6464618" y="1928812"/>
              <a:ext cx="5193982" cy="2093595"/>
            </a:xfrm>
            <a:prstGeom prst="rect">
              <a:avLst/>
            </a:prstGeom>
            <a:noFill/>
            <a:ln w="14288">
              <a:solidFill>
                <a:srgbClr val="D9DFEA"/>
              </a:solidFill>
            </a:ln>
          </p:spPr>
        </p:sp>
        <p:sp>
          <p:nvSpPr>
            <p:cNvPr id="47" name="Rectangle 47"/>
            <p:cNvSpPr/>
            <p:nvPr/>
          </p:nvSpPr>
          <p:spPr>
            <a:xfrm>
              <a:off x="7914322" y="1928812"/>
              <a:ext cx="9525" cy="2093595"/>
            </a:xfrm>
            <a:prstGeom prst="rect">
              <a:avLst/>
            </a:prstGeom>
            <a:solidFill>
              <a:srgbClr val="D9DFEA"/>
            </a:solidFill>
            <a:ln>
              <a:noFill/>
            </a:ln>
          </p:spPr>
        </p:sp>
        <p:sp>
          <p:nvSpPr>
            <p:cNvPr id="48" name="Rectangle 48"/>
            <p:cNvSpPr/>
            <p:nvPr/>
          </p:nvSpPr>
          <p:spPr>
            <a:xfrm>
              <a:off x="9887902" y="1928812"/>
              <a:ext cx="9525" cy="2093595"/>
            </a:xfrm>
            <a:prstGeom prst="rect">
              <a:avLst/>
            </a:prstGeom>
            <a:solidFill>
              <a:srgbClr val="D9DFEA"/>
            </a:solidFill>
            <a:ln>
              <a:noFill/>
            </a:ln>
          </p:spPr>
        </p:sp>
      </p:grpSp>
      <p:grpSp>
        <p:nvGrpSpPr>
          <p:cNvPr id="56" name="c2-callout-2"/>
          <p:cNvGrpSpPr/>
          <p:nvPr/>
        </p:nvGrpSpPr>
        <p:grpSpPr>
          <a:xfrm>
            <a:off x="6464618" y="4187190"/>
            <a:ext cx="5193982" cy="1468755"/>
            <a:chOff x="6464618" y="4187190"/>
            <a:chExt cx="5193982" cy="1468755"/>
          </a:xfrm>
        </p:grpSpPr>
        <p:sp>
          <p:nvSpPr>
            <p:cNvPr id="50" name="Rectangle 50"/>
            <p:cNvSpPr/>
            <p:nvPr/>
          </p:nvSpPr>
          <p:spPr>
            <a:xfrm>
              <a:off x="6464618" y="4187190"/>
              <a:ext cx="5193982" cy="1468755"/>
            </a:xfrm>
            <a:prstGeom prst="roundRect">
              <a:avLst>
                <a:gd name="adj" fmla="val 7782"/>
              </a:avLst>
            </a:prstGeom>
            <a:solidFill>
              <a:srgbClr val="FDEEE7"/>
            </a:solidFill>
            <a:ln>
              <a:noFill/>
            </a:ln>
          </p:spPr>
        </p:sp>
        <p:grpSp>
          <p:nvGrpSpPr>
            <p:cNvPr id="54" name="Group 54"/>
            <p:cNvGrpSpPr/>
            <p:nvPr/>
          </p:nvGrpSpPr>
          <p:grpSpPr>
            <a:xfrm>
              <a:off x="6669405" y="4821555"/>
              <a:ext cx="200026" cy="200025"/>
              <a:chOff x="6669405" y="4821555"/>
              <a:chExt cx="200026" cy="200025"/>
            </a:xfrm>
          </p:grpSpPr>
          <p:sp>
            <p:nvSpPr>
              <p:cNvPr id="51" name="Freeform 51"/>
              <p:cNvSpPr/>
              <p:nvPr/>
            </p:nvSpPr>
            <p:spPr>
              <a:xfrm>
                <a:off x="6669405" y="482155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2" name="Freeform 52"/>
              <p:cNvSpPr/>
              <p:nvPr/>
            </p:nvSpPr>
            <p:spPr>
              <a:xfrm>
                <a:off x="6709144" y="486600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3" name="Freeform 53"/>
              <p:cNvSpPr/>
              <p:nvPr/>
            </p:nvSpPr>
            <p:spPr>
              <a:xfrm>
                <a:off x="6743859" y="497713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5" name="TextBox 55"/>
            <p:cNvSpPr txBox="1"/>
            <p:nvPr/>
          </p:nvSpPr>
          <p:spPr>
            <a:xfrm>
              <a:off x="6972491" y="4715351"/>
              <a:ext cx="416636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C 是唯一新增的东西。它给每个 αᵢ 加了天花板，等于限制</a:t>
              </a:r>
              <a:br/>
              <a:r>
                <a:rPr lang="zh-CN" sz="1280" dirty="0">
                  <a:solidFill>
                    <a:srgbClr val="C2410C"/>
                  </a:solidFill>
                  <a:latin typeface="+mn-lt"/>
                  <a:ea typeface="+mn-ea"/>
                  <a:cs typeface="+mn-cs"/>
                </a:rPr>
                <a:t>单个样本对 w 的最大影响力。</a:t>
              </a:r>
            </a:p>
          </p:txBody>
        </p:sp>
      </p:grpSp>
      <p:grpSp>
        <p:nvGrpSpPr>
          <p:cNvPr id="62" name="takeaway"/>
          <p:cNvGrpSpPr/>
          <p:nvPr/>
        </p:nvGrpSpPr>
        <p:grpSpPr>
          <a:xfrm>
            <a:off x="533400" y="5895022"/>
            <a:ext cx="11125200" cy="467678"/>
            <a:chOff x="533400" y="5895022"/>
            <a:chExt cx="11125200" cy="467678"/>
          </a:xfrm>
        </p:grpSpPr>
        <p:sp>
          <p:nvSpPr>
            <p:cNvPr id="57" name="Rectangle 57"/>
            <p:cNvSpPr/>
            <p:nvPr/>
          </p:nvSpPr>
          <p:spPr>
            <a:xfrm>
              <a:off x="533400" y="5895022"/>
              <a:ext cx="11125200" cy="467678"/>
            </a:xfrm>
            <a:prstGeom prst="roundRect">
              <a:avLst>
                <a:gd name="adj" fmla="val 24440"/>
              </a:avLst>
            </a:prstGeom>
            <a:solidFill>
              <a:srgbClr val="0E7C86"/>
            </a:solidFill>
            <a:ln>
              <a:noFill/>
            </a:ln>
          </p:spPr>
        </p:sp>
        <p:grpSp>
          <p:nvGrpSpPr>
            <p:cNvPr id="60" name="Group 60"/>
            <p:cNvGrpSpPr/>
            <p:nvPr/>
          </p:nvGrpSpPr>
          <p:grpSpPr>
            <a:xfrm>
              <a:off x="738188" y="6028375"/>
              <a:ext cx="200023" cy="200023"/>
              <a:chOff x="738188" y="6028375"/>
              <a:chExt cx="200023" cy="200023"/>
            </a:xfrm>
          </p:grpSpPr>
          <p:sp>
            <p:nvSpPr>
              <p:cNvPr id="58" name="Freeform 58"/>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9" name="Freeform 59"/>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1" name="TextBox 61"/>
            <p:cNvSpPr txBox="1"/>
            <p:nvPr/>
          </p:nvSpPr>
          <p:spPr>
            <a:xfrm>
              <a:off x="1041273" y="6039326"/>
              <a:ext cx="688696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记住这一句就够了：软间隔 = 硬间隔的对偶 + 一个上界 C。C → ∞ 时软间隔退化成硬间隔。</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246354" cy="909257"/>
            <a:chOff x="520446" y="342900"/>
            <a:chExt cx="5246354" cy="909257"/>
          </a:xfrm>
        </p:grpSpPr>
        <p:sp>
          <p:nvSpPr>
            <p:cNvPr id="2" name="Rectangle 2"/>
            <p:cNvSpPr/>
            <p:nvPr/>
          </p:nvSpPr>
          <p:spPr>
            <a:xfrm>
              <a:off x="533400" y="342900"/>
              <a:ext cx="3552825" cy="266700"/>
            </a:xfrm>
            <a:prstGeom prst="roundRect">
              <a:avLst>
                <a:gd name="adj" fmla="val 50000"/>
              </a:avLst>
            </a:prstGeom>
            <a:solidFill>
              <a:srgbClr val="E2F3F4"/>
            </a:solidFill>
            <a:ln>
              <a:noFill/>
            </a:ln>
          </p:spPr>
        </p:sp>
        <p:sp>
          <p:nvSpPr>
            <p:cNvPr id="3" name="TextBox 3"/>
            <p:cNvSpPr txBox="1"/>
            <p:nvPr/>
          </p:nvSpPr>
          <p:spPr>
            <a:xfrm>
              <a:off x="562653" y="407194"/>
              <a:ext cx="349431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线性支持向量机：软间隔最大化</a:t>
              </a:r>
            </a:p>
          </p:txBody>
        </p:sp>
        <p:sp>
          <p:nvSpPr>
            <p:cNvPr id="4" name="TextBox 4"/>
            <p:cNvSpPr txBox="1"/>
            <p:nvPr/>
          </p:nvSpPr>
          <p:spPr>
            <a:xfrm>
              <a:off x="520446" y="753428"/>
              <a:ext cx="524635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看 α 的取值，就知道样本落在哪里</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4876381" cy="264033"/>
            <a:chOff x="526542" y="1545907"/>
            <a:chExt cx="4876381" cy="264033"/>
          </a:xfrm>
        </p:grpSpPr>
        <p:sp>
          <p:nvSpPr>
            <p:cNvPr id="7" name="TextBox 7"/>
            <p:cNvSpPr txBox="1"/>
            <p:nvPr/>
          </p:nvSpPr>
          <p:spPr>
            <a:xfrm>
              <a:off x="526542" y="1545907"/>
              <a:ext cx="4876381"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由 αᵢ + βᵢ = C 与两条互补松弛条件，可以把样本分成三类。</a:t>
              </a:r>
            </a:p>
          </p:txBody>
        </p:sp>
      </p:grpSp>
      <p:grpSp>
        <p:nvGrpSpPr>
          <p:cNvPr id="47" name="c1-table-1"/>
          <p:cNvGrpSpPr/>
          <p:nvPr/>
        </p:nvGrpSpPr>
        <p:grpSpPr>
          <a:xfrm>
            <a:off x="533400" y="1928812"/>
            <a:ext cx="5842635" cy="1906905"/>
            <a:chOff x="533400" y="1928812"/>
            <a:chExt cx="5842635" cy="1906905"/>
          </a:xfrm>
        </p:grpSpPr>
        <p:sp>
          <p:nvSpPr>
            <p:cNvPr id="9" name="Rectangle 9"/>
            <p:cNvSpPr/>
            <p:nvPr/>
          </p:nvSpPr>
          <p:spPr>
            <a:xfrm>
              <a:off x="533400" y="1928812"/>
              <a:ext cx="5842635" cy="381000"/>
            </a:xfrm>
            <a:prstGeom prst="rect">
              <a:avLst/>
            </a:prstGeom>
            <a:solidFill>
              <a:srgbClr val="0E7C86"/>
            </a:solidFill>
            <a:ln>
              <a:noFill/>
            </a:ln>
          </p:spPr>
        </p:sp>
        <p:sp>
          <p:nvSpPr>
            <p:cNvPr id="10" name="TextBox 10"/>
            <p:cNvSpPr txBox="1"/>
            <p:nvPr/>
          </p:nvSpPr>
          <p:spPr>
            <a:xfrm>
              <a:off x="796029" y="2045970"/>
              <a:ext cx="64250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αᵢ 的取值</a:t>
              </a:r>
            </a:p>
          </p:txBody>
        </p:sp>
        <p:sp>
          <p:nvSpPr>
            <p:cNvPr id="11" name="TextBox 11"/>
            <p:cNvSpPr txBox="1"/>
            <p:nvPr/>
          </p:nvSpPr>
          <p:spPr>
            <a:xfrm>
              <a:off x="1965673" y="2045970"/>
              <a:ext cx="173928" cy="205359"/>
            </a:xfrm>
            <a:prstGeom prst="rect">
              <a:avLst/>
            </a:prstGeom>
            <a:noFill/>
            <a:ln>
              <a:noFill/>
            </a:ln>
          </p:spPr>
          <p:txBody>
            <a:bodyPr wrap="none" lIns="0" tIns="0" rIns="0" bIns="0" anchor="t" anchorCtr="0">
              <a:spAutoFit/>
            </a:bodyPr>
            <a:lstStyle/>
            <a:p>
              <a:pPr algn="ctr"/>
              <a:r>
                <a:rPr lang="el-GR" sz="1050" b="1" dirty="0">
                  <a:solidFill>
                    <a:srgbClr val="FFFFFF"/>
                  </a:solidFill>
                  <a:latin typeface="+mn-lt"/>
                  <a:ea typeface="+mn-ea"/>
                  <a:cs typeface="+mn-cs"/>
                </a:rPr>
                <a:t>βᵢ</a:t>
              </a:r>
            </a:p>
          </p:txBody>
        </p:sp>
        <p:sp>
          <p:nvSpPr>
            <p:cNvPr id="12" name="TextBox 12"/>
            <p:cNvSpPr txBox="1"/>
            <p:nvPr/>
          </p:nvSpPr>
          <p:spPr>
            <a:xfrm>
              <a:off x="2783871" y="2045970"/>
              <a:ext cx="173928" cy="205359"/>
            </a:xfrm>
            <a:prstGeom prst="rect">
              <a:avLst/>
            </a:prstGeom>
            <a:noFill/>
            <a:ln>
              <a:noFill/>
            </a:ln>
          </p:spPr>
          <p:txBody>
            <a:bodyPr wrap="none" lIns="0" tIns="0" rIns="0" bIns="0" anchor="t" anchorCtr="0">
              <a:spAutoFit/>
            </a:bodyPr>
            <a:lstStyle/>
            <a:p>
              <a:pPr algn="ctr"/>
              <a:r>
                <a:rPr lang="el-GR" sz="1050" b="1" dirty="0">
                  <a:solidFill>
                    <a:srgbClr val="FFFFFF"/>
                  </a:solidFill>
                  <a:latin typeface="+mn-lt"/>
                  <a:ea typeface="+mn-ea"/>
                  <a:cs typeface="+mn-cs"/>
                </a:rPr>
                <a:t>ξᵢ</a:t>
              </a:r>
            </a:p>
          </p:txBody>
        </p:sp>
        <p:sp>
          <p:nvSpPr>
            <p:cNvPr id="13" name="TextBox 13"/>
            <p:cNvSpPr txBox="1"/>
            <p:nvPr/>
          </p:nvSpPr>
          <p:spPr>
            <a:xfrm>
              <a:off x="4042982" y="20459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样本位置</a:t>
              </a:r>
            </a:p>
          </p:txBody>
        </p:sp>
        <p:sp>
          <p:nvSpPr>
            <p:cNvPr id="14" name="TextBox 14"/>
            <p:cNvSpPr txBox="1"/>
            <p:nvPr/>
          </p:nvSpPr>
          <p:spPr>
            <a:xfrm>
              <a:off x="5420868" y="2045970"/>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是支持向量吗</a:t>
              </a:r>
            </a:p>
          </p:txBody>
        </p:sp>
        <p:sp>
          <p:nvSpPr>
            <p:cNvPr id="15" name="TextBox 15"/>
            <p:cNvSpPr txBox="1"/>
            <p:nvPr/>
          </p:nvSpPr>
          <p:spPr>
            <a:xfrm>
              <a:off x="628078" y="2426970"/>
              <a:ext cx="426240" cy="205359"/>
            </a:xfrm>
            <a:prstGeom prst="rect">
              <a:avLst/>
            </a:prstGeom>
            <a:noFill/>
            <a:ln>
              <a:noFill/>
            </a:ln>
          </p:spPr>
          <p:txBody>
            <a:bodyPr wrap="none" lIns="0" tIns="0" rIns="0" bIns="0" anchor="t" anchorCtr="0">
              <a:spAutoFit/>
            </a:bodyPr>
            <a:lstStyle/>
            <a:p>
              <a:pPr algn="l"/>
              <a:r>
                <a:rPr lang="el-GR" sz="1050" b="1" dirty="0">
                  <a:solidFill>
                    <a:srgbClr val="1F2937"/>
                  </a:solidFill>
                  <a:latin typeface="+mn-lt"/>
                  <a:ea typeface="+mn-ea"/>
                  <a:cs typeface="+mn-cs"/>
                </a:rPr>
                <a:t>αᵢ = 0</a:t>
              </a:r>
            </a:p>
          </p:txBody>
        </p:sp>
        <p:sp>
          <p:nvSpPr>
            <p:cNvPr id="16" name="TextBox 16"/>
            <p:cNvSpPr txBox="1"/>
            <p:nvPr/>
          </p:nvSpPr>
          <p:spPr>
            <a:xfrm>
              <a:off x="1796796" y="2426970"/>
              <a:ext cx="92812"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C</a:t>
              </a:r>
            </a:p>
          </p:txBody>
        </p:sp>
        <p:sp>
          <p:nvSpPr>
            <p:cNvPr id="17" name="TextBox 17"/>
            <p:cNvSpPr txBox="1"/>
            <p:nvPr/>
          </p:nvSpPr>
          <p:spPr>
            <a:xfrm>
              <a:off x="2497836" y="2426970"/>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18" name="TextBox 18"/>
            <p:cNvSpPr txBox="1"/>
            <p:nvPr/>
          </p:nvSpPr>
          <p:spPr>
            <a:xfrm>
              <a:off x="3433191" y="2426970"/>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间隔边界外侧，分对且够开</a:t>
              </a:r>
            </a:p>
          </p:txBody>
        </p:sp>
        <p:sp>
          <p:nvSpPr>
            <p:cNvPr id="19" name="TextBox 19"/>
            <p:cNvSpPr txBox="1"/>
            <p:nvPr/>
          </p:nvSpPr>
          <p:spPr>
            <a:xfrm>
              <a:off x="5419154" y="2426970"/>
              <a:ext cx="152019" cy="205359"/>
            </a:xfrm>
            <a:prstGeom prst="rect">
              <a:avLst/>
            </a:prstGeom>
            <a:noFill/>
            <a:ln>
              <a:noFill/>
            </a:ln>
          </p:spPr>
          <p:txBody>
            <a:bodyPr wrap="none" lIns="0" tIns="0" rIns="0" bIns="0" anchor="t" anchorCtr="0">
              <a:spAutoFit/>
            </a:bodyPr>
            <a:lstStyle/>
            <a:p>
              <a:pPr algn="l"/>
              <a:r>
                <a:rPr lang="zh-CN" sz="1050" dirty="0">
                  <a:solidFill>
                    <a:srgbClr val="B42318"/>
                  </a:solidFill>
                  <a:latin typeface="+mn-lt"/>
                  <a:ea typeface="+mn-ea"/>
                  <a:cs typeface="+mn-cs"/>
                </a:rPr>
                <a:t>否</a:t>
              </a:r>
            </a:p>
          </p:txBody>
        </p:sp>
        <p:sp>
          <p:nvSpPr>
            <p:cNvPr id="20" name="Rectangle 20"/>
            <p:cNvSpPr/>
            <p:nvPr/>
          </p:nvSpPr>
          <p:spPr>
            <a:xfrm>
              <a:off x="533400" y="2687002"/>
              <a:ext cx="5842635" cy="9525"/>
            </a:xfrm>
            <a:prstGeom prst="rect">
              <a:avLst/>
            </a:prstGeom>
            <a:solidFill>
              <a:srgbClr val="D9DFEA"/>
            </a:solidFill>
            <a:ln>
              <a:noFill/>
            </a:ln>
          </p:spPr>
        </p:sp>
        <p:sp>
          <p:nvSpPr>
            <p:cNvPr id="21" name="Rectangle 21"/>
            <p:cNvSpPr/>
            <p:nvPr/>
          </p:nvSpPr>
          <p:spPr>
            <a:xfrm>
              <a:off x="533400" y="2691765"/>
              <a:ext cx="5842635" cy="381000"/>
            </a:xfrm>
            <a:prstGeom prst="rect">
              <a:avLst/>
            </a:prstGeom>
            <a:solidFill>
              <a:srgbClr val="F4F6FB"/>
            </a:solidFill>
            <a:ln>
              <a:noFill/>
            </a:ln>
          </p:spPr>
        </p:sp>
        <p:sp>
          <p:nvSpPr>
            <p:cNvPr id="22" name="TextBox 22"/>
            <p:cNvSpPr txBox="1"/>
            <p:nvPr/>
          </p:nvSpPr>
          <p:spPr>
            <a:xfrm>
              <a:off x="628078" y="2808923"/>
              <a:ext cx="697454" cy="205359"/>
            </a:xfrm>
            <a:prstGeom prst="rect">
              <a:avLst/>
            </a:prstGeom>
            <a:noFill/>
            <a:ln>
              <a:noFill/>
            </a:ln>
          </p:spPr>
          <p:txBody>
            <a:bodyPr wrap="none" lIns="0" tIns="0" rIns="0" bIns="0" anchor="t" anchorCtr="0">
              <a:spAutoFit/>
            </a:bodyPr>
            <a:lstStyle/>
            <a:p>
              <a:pPr algn="l"/>
              <a:r>
                <a:rPr lang="el-GR" sz="1050" b="1" dirty="0">
                  <a:solidFill>
                    <a:srgbClr val="1F2937"/>
                  </a:solidFill>
                  <a:latin typeface="+mn-lt"/>
                  <a:ea typeface="+mn-ea"/>
                  <a:cs typeface="+mn-cs"/>
                </a:rPr>
                <a:t>0 &lt; αᵢ &lt; C</a:t>
              </a:r>
            </a:p>
          </p:txBody>
        </p:sp>
        <p:sp>
          <p:nvSpPr>
            <p:cNvPr id="23" name="TextBox 23"/>
            <p:cNvSpPr txBox="1"/>
            <p:nvPr/>
          </p:nvSpPr>
          <p:spPr>
            <a:xfrm>
              <a:off x="1796796" y="2808923"/>
              <a:ext cx="20855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&gt; 0</a:t>
              </a:r>
            </a:p>
          </p:txBody>
        </p:sp>
        <p:sp>
          <p:nvSpPr>
            <p:cNvPr id="24" name="TextBox 24"/>
            <p:cNvSpPr txBox="1"/>
            <p:nvPr/>
          </p:nvSpPr>
          <p:spPr>
            <a:xfrm>
              <a:off x="2497836" y="2808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25" name="TextBox 25"/>
            <p:cNvSpPr txBox="1"/>
            <p:nvPr/>
          </p:nvSpPr>
          <p:spPr>
            <a:xfrm>
              <a:off x="3433191" y="2808923"/>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恰好落在间隔边界上</a:t>
              </a:r>
            </a:p>
          </p:txBody>
        </p:sp>
        <p:sp>
          <p:nvSpPr>
            <p:cNvPr id="26" name="Rectangle 26"/>
            <p:cNvSpPr/>
            <p:nvPr/>
          </p:nvSpPr>
          <p:spPr>
            <a:xfrm>
              <a:off x="5334000" y="2701290"/>
              <a:ext cx="1032510" cy="361950"/>
            </a:xfrm>
            <a:prstGeom prst="rect">
              <a:avLst/>
            </a:prstGeom>
            <a:solidFill>
              <a:srgbClr val="E3F5F1"/>
            </a:solidFill>
            <a:ln>
              <a:noFill/>
            </a:ln>
          </p:spPr>
        </p:sp>
        <p:sp>
          <p:nvSpPr>
            <p:cNvPr id="27" name="TextBox 27"/>
            <p:cNvSpPr txBox="1"/>
            <p:nvPr/>
          </p:nvSpPr>
          <p:spPr>
            <a:xfrm>
              <a:off x="5419154" y="2808923"/>
              <a:ext cx="152019" cy="205359"/>
            </a:xfrm>
            <a:prstGeom prst="rect">
              <a:avLst/>
            </a:prstGeom>
            <a:noFill/>
            <a:ln>
              <a:noFill/>
            </a:ln>
          </p:spPr>
          <p:txBody>
            <a:bodyPr wrap="none" lIns="0" tIns="0" rIns="0" bIns="0" anchor="t" anchorCtr="0">
              <a:spAutoFit/>
            </a:bodyPr>
            <a:lstStyle/>
            <a:p>
              <a:pPr algn="l"/>
              <a:r>
                <a:rPr lang="zh-CN" sz="1050" dirty="0">
                  <a:solidFill>
                    <a:srgbClr val="0F7A68"/>
                  </a:solidFill>
                  <a:latin typeface="+mn-lt"/>
                  <a:ea typeface="+mn-ea"/>
                  <a:cs typeface="+mn-cs"/>
                </a:rPr>
                <a:t>是</a:t>
              </a:r>
            </a:p>
          </p:txBody>
        </p:sp>
        <p:sp>
          <p:nvSpPr>
            <p:cNvPr id="28" name="Rectangle 28"/>
            <p:cNvSpPr/>
            <p:nvPr/>
          </p:nvSpPr>
          <p:spPr>
            <a:xfrm>
              <a:off x="533400" y="3068002"/>
              <a:ext cx="5842635" cy="9525"/>
            </a:xfrm>
            <a:prstGeom prst="rect">
              <a:avLst/>
            </a:prstGeom>
            <a:solidFill>
              <a:srgbClr val="D9DFEA"/>
            </a:solidFill>
            <a:ln>
              <a:noFill/>
            </a:ln>
          </p:spPr>
        </p:sp>
        <p:sp>
          <p:nvSpPr>
            <p:cNvPr id="29" name="TextBox 29"/>
            <p:cNvSpPr txBox="1"/>
            <p:nvPr/>
          </p:nvSpPr>
          <p:spPr>
            <a:xfrm>
              <a:off x="628078" y="3189923"/>
              <a:ext cx="438001" cy="205359"/>
            </a:xfrm>
            <a:prstGeom prst="rect">
              <a:avLst/>
            </a:prstGeom>
            <a:noFill/>
            <a:ln>
              <a:noFill/>
            </a:ln>
          </p:spPr>
          <p:txBody>
            <a:bodyPr wrap="none" lIns="0" tIns="0" rIns="0" bIns="0" anchor="t" anchorCtr="0">
              <a:spAutoFit/>
            </a:bodyPr>
            <a:lstStyle/>
            <a:p>
              <a:pPr algn="l"/>
              <a:r>
                <a:rPr lang="el-GR" sz="1050" b="1" dirty="0">
                  <a:solidFill>
                    <a:srgbClr val="1F2937"/>
                  </a:solidFill>
                  <a:latin typeface="+mn-lt"/>
                  <a:ea typeface="+mn-ea"/>
                  <a:cs typeface="+mn-cs"/>
                </a:rPr>
                <a:t>αᵢ = C</a:t>
              </a:r>
            </a:p>
          </p:txBody>
        </p:sp>
        <p:sp>
          <p:nvSpPr>
            <p:cNvPr id="30" name="TextBox 30"/>
            <p:cNvSpPr txBox="1"/>
            <p:nvPr/>
          </p:nvSpPr>
          <p:spPr>
            <a:xfrm>
              <a:off x="1796796" y="3189923"/>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31" name="TextBox 31"/>
            <p:cNvSpPr txBox="1"/>
            <p:nvPr/>
          </p:nvSpPr>
          <p:spPr>
            <a:xfrm>
              <a:off x="2497836" y="3189923"/>
              <a:ext cx="646748"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0 &lt; ξᵢ ≤ 1</a:t>
              </a:r>
            </a:p>
          </p:txBody>
        </p:sp>
        <p:sp>
          <p:nvSpPr>
            <p:cNvPr id="32" name="TextBox 32"/>
            <p:cNvSpPr txBox="1"/>
            <p:nvPr/>
          </p:nvSpPr>
          <p:spPr>
            <a:xfrm>
              <a:off x="3433191" y="3189923"/>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间隔带内部，仍分对</a:t>
              </a:r>
            </a:p>
          </p:txBody>
        </p:sp>
        <p:sp>
          <p:nvSpPr>
            <p:cNvPr id="33" name="TextBox 33"/>
            <p:cNvSpPr txBox="1"/>
            <p:nvPr/>
          </p:nvSpPr>
          <p:spPr>
            <a:xfrm>
              <a:off x="5419154" y="3189923"/>
              <a:ext cx="152019" cy="205359"/>
            </a:xfrm>
            <a:prstGeom prst="rect">
              <a:avLst/>
            </a:prstGeom>
            <a:noFill/>
            <a:ln>
              <a:noFill/>
            </a:ln>
          </p:spPr>
          <p:txBody>
            <a:bodyPr wrap="none" lIns="0" tIns="0" rIns="0" bIns="0" anchor="t" anchorCtr="0">
              <a:spAutoFit/>
            </a:bodyPr>
            <a:lstStyle/>
            <a:p>
              <a:pPr algn="l"/>
              <a:r>
                <a:rPr lang="zh-CN" sz="1050" dirty="0">
                  <a:solidFill>
                    <a:srgbClr val="0F7A68"/>
                  </a:solidFill>
                  <a:latin typeface="+mn-lt"/>
                  <a:ea typeface="+mn-ea"/>
                  <a:cs typeface="+mn-cs"/>
                </a:rPr>
                <a:t>是</a:t>
              </a:r>
            </a:p>
          </p:txBody>
        </p:sp>
        <p:sp>
          <p:nvSpPr>
            <p:cNvPr id="34" name="Rectangle 34"/>
            <p:cNvSpPr/>
            <p:nvPr/>
          </p:nvSpPr>
          <p:spPr>
            <a:xfrm>
              <a:off x="533400" y="3449002"/>
              <a:ext cx="5842635" cy="9525"/>
            </a:xfrm>
            <a:prstGeom prst="rect">
              <a:avLst/>
            </a:prstGeom>
            <a:solidFill>
              <a:srgbClr val="D9DFEA"/>
            </a:solidFill>
            <a:ln>
              <a:noFill/>
            </a:ln>
          </p:spPr>
        </p:sp>
        <p:sp>
          <p:nvSpPr>
            <p:cNvPr id="35" name="Rectangle 35"/>
            <p:cNvSpPr/>
            <p:nvPr/>
          </p:nvSpPr>
          <p:spPr>
            <a:xfrm>
              <a:off x="533400" y="3453765"/>
              <a:ext cx="5842635" cy="381000"/>
            </a:xfrm>
            <a:prstGeom prst="rect">
              <a:avLst/>
            </a:prstGeom>
            <a:solidFill>
              <a:srgbClr val="F4F6FB"/>
            </a:solidFill>
            <a:ln>
              <a:noFill/>
            </a:ln>
          </p:spPr>
        </p:sp>
        <p:sp>
          <p:nvSpPr>
            <p:cNvPr id="36" name="TextBox 36"/>
            <p:cNvSpPr txBox="1"/>
            <p:nvPr/>
          </p:nvSpPr>
          <p:spPr>
            <a:xfrm>
              <a:off x="628078" y="3571875"/>
              <a:ext cx="438001" cy="205359"/>
            </a:xfrm>
            <a:prstGeom prst="rect">
              <a:avLst/>
            </a:prstGeom>
            <a:noFill/>
            <a:ln>
              <a:noFill/>
            </a:ln>
          </p:spPr>
          <p:txBody>
            <a:bodyPr wrap="none" lIns="0" tIns="0" rIns="0" bIns="0" anchor="t" anchorCtr="0">
              <a:spAutoFit/>
            </a:bodyPr>
            <a:lstStyle/>
            <a:p>
              <a:pPr algn="l"/>
              <a:r>
                <a:rPr lang="el-GR" sz="1050" b="1" dirty="0">
                  <a:solidFill>
                    <a:srgbClr val="1F2937"/>
                  </a:solidFill>
                  <a:latin typeface="+mn-lt"/>
                  <a:ea typeface="+mn-ea"/>
                  <a:cs typeface="+mn-cs"/>
                </a:rPr>
                <a:t>αᵢ = C</a:t>
              </a:r>
            </a:p>
          </p:txBody>
        </p:sp>
        <p:sp>
          <p:nvSpPr>
            <p:cNvPr id="37" name="TextBox 37"/>
            <p:cNvSpPr txBox="1"/>
            <p:nvPr/>
          </p:nvSpPr>
          <p:spPr>
            <a:xfrm>
              <a:off x="1796796" y="3571875"/>
              <a:ext cx="8841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0</a:t>
              </a:r>
            </a:p>
          </p:txBody>
        </p:sp>
        <p:sp>
          <p:nvSpPr>
            <p:cNvPr id="38" name="TextBox 38"/>
            <p:cNvSpPr txBox="1"/>
            <p:nvPr/>
          </p:nvSpPr>
          <p:spPr>
            <a:xfrm>
              <a:off x="2497836" y="3571875"/>
              <a:ext cx="406451"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ξᵢ &gt; 1</a:t>
              </a:r>
            </a:p>
          </p:txBody>
        </p:sp>
        <p:sp>
          <p:nvSpPr>
            <p:cNvPr id="39" name="Rectangle 39"/>
            <p:cNvSpPr/>
            <p:nvPr/>
          </p:nvSpPr>
          <p:spPr>
            <a:xfrm>
              <a:off x="3348038" y="3463290"/>
              <a:ext cx="1967865" cy="361950"/>
            </a:xfrm>
            <a:prstGeom prst="rect">
              <a:avLst/>
            </a:prstGeom>
            <a:solidFill>
              <a:srgbClr val="FDECEA"/>
            </a:solidFill>
            <a:ln>
              <a:noFill/>
            </a:ln>
          </p:spPr>
        </p:sp>
        <p:sp>
          <p:nvSpPr>
            <p:cNvPr id="40" name="TextBox 40"/>
            <p:cNvSpPr txBox="1"/>
            <p:nvPr/>
          </p:nvSpPr>
          <p:spPr>
            <a:xfrm>
              <a:off x="3433191" y="357187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越过超平面，被分错</a:t>
              </a:r>
            </a:p>
          </p:txBody>
        </p:sp>
        <p:sp>
          <p:nvSpPr>
            <p:cNvPr id="41" name="TextBox 41"/>
            <p:cNvSpPr txBox="1"/>
            <p:nvPr/>
          </p:nvSpPr>
          <p:spPr>
            <a:xfrm>
              <a:off x="5419154" y="3571875"/>
              <a:ext cx="152019" cy="205359"/>
            </a:xfrm>
            <a:prstGeom prst="rect">
              <a:avLst/>
            </a:prstGeom>
            <a:noFill/>
            <a:ln>
              <a:noFill/>
            </a:ln>
          </p:spPr>
          <p:txBody>
            <a:bodyPr wrap="none" lIns="0" tIns="0" rIns="0" bIns="0" anchor="t" anchorCtr="0">
              <a:spAutoFit/>
            </a:bodyPr>
            <a:lstStyle/>
            <a:p>
              <a:pPr algn="l"/>
              <a:r>
                <a:rPr lang="zh-CN" sz="1050" dirty="0">
                  <a:solidFill>
                    <a:srgbClr val="0F7A68"/>
                  </a:solidFill>
                  <a:latin typeface="+mn-lt"/>
                  <a:ea typeface="+mn-ea"/>
                  <a:cs typeface="+mn-cs"/>
                </a:rPr>
                <a:t>是</a:t>
              </a:r>
            </a:p>
          </p:txBody>
        </p:sp>
        <p:sp>
          <p:nvSpPr>
            <p:cNvPr id="42" name="Rectangle 42"/>
            <p:cNvSpPr/>
            <p:nvPr/>
          </p:nvSpPr>
          <p:spPr>
            <a:xfrm>
              <a:off x="533400" y="1928812"/>
              <a:ext cx="5842635" cy="1906905"/>
            </a:xfrm>
            <a:prstGeom prst="rect">
              <a:avLst/>
            </a:prstGeom>
            <a:noFill/>
            <a:ln w="14288">
              <a:solidFill>
                <a:srgbClr val="D9DFEA"/>
              </a:solidFill>
            </a:ln>
          </p:spPr>
        </p:sp>
        <p:sp>
          <p:nvSpPr>
            <p:cNvPr id="43" name="Rectangle 43"/>
            <p:cNvSpPr/>
            <p:nvPr/>
          </p:nvSpPr>
          <p:spPr>
            <a:xfrm>
              <a:off x="1697355" y="1928812"/>
              <a:ext cx="9525" cy="1906905"/>
            </a:xfrm>
            <a:prstGeom prst="rect">
              <a:avLst/>
            </a:prstGeom>
            <a:solidFill>
              <a:srgbClr val="D9DFEA"/>
            </a:solidFill>
            <a:ln>
              <a:noFill/>
            </a:ln>
          </p:spPr>
        </p:sp>
        <p:sp>
          <p:nvSpPr>
            <p:cNvPr id="44" name="Rectangle 44"/>
            <p:cNvSpPr/>
            <p:nvPr/>
          </p:nvSpPr>
          <p:spPr>
            <a:xfrm>
              <a:off x="2398395" y="1928812"/>
              <a:ext cx="9525" cy="1906905"/>
            </a:xfrm>
            <a:prstGeom prst="rect">
              <a:avLst/>
            </a:prstGeom>
            <a:solidFill>
              <a:srgbClr val="D9DFEA"/>
            </a:solidFill>
            <a:ln>
              <a:noFill/>
            </a:ln>
          </p:spPr>
        </p:sp>
        <p:sp>
          <p:nvSpPr>
            <p:cNvPr id="45" name="Rectangle 45"/>
            <p:cNvSpPr/>
            <p:nvPr/>
          </p:nvSpPr>
          <p:spPr>
            <a:xfrm>
              <a:off x="3333750" y="1928812"/>
              <a:ext cx="9525" cy="1906905"/>
            </a:xfrm>
            <a:prstGeom prst="rect">
              <a:avLst/>
            </a:prstGeom>
            <a:solidFill>
              <a:srgbClr val="D9DFEA"/>
            </a:solidFill>
            <a:ln>
              <a:noFill/>
            </a:ln>
          </p:spPr>
        </p:sp>
        <p:sp>
          <p:nvSpPr>
            <p:cNvPr id="46" name="Rectangle 46"/>
            <p:cNvSpPr/>
            <p:nvPr/>
          </p:nvSpPr>
          <p:spPr>
            <a:xfrm>
              <a:off x="5319712" y="1928812"/>
              <a:ext cx="9525" cy="1906905"/>
            </a:xfrm>
            <a:prstGeom prst="rect">
              <a:avLst/>
            </a:prstGeom>
            <a:solidFill>
              <a:srgbClr val="D9DFEA"/>
            </a:solidFill>
            <a:ln>
              <a:noFill/>
            </a:ln>
          </p:spPr>
        </p:sp>
      </p:grpSp>
      <p:grpSp>
        <p:nvGrpSpPr>
          <p:cNvPr id="65" name="c1-steps-2"/>
          <p:cNvGrpSpPr/>
          <p:nvPr/>
        </p:nvGrpSpPr>
        <p:grpSpPr>
          <a:xfrm>
            <a:off x="533400" y="4010025"/>
            <a:ext cx="2486425" cy="2149412"/>
            <a:chOff x="533400" y="4010025"/>
            <a:chExt cx="2486425" cy="2149412"/>
          </a:xfrm>
        </p:grpSpPr>
        <p:sp>
          <p:nvSpPr>
            <p:cNvPr id="48" name="Rectangle 48"/>
            <p:cNvSpPr/>
            <p:nvPr/>
          </p:nvSpPr>
          <p:spPr>
            <a:xfrm>
              <a:off x="666750" y="4152900"/>
              <a:ext cx="19050" cy="1659255"/>
            </a:xfrm>
            <a:prstGeom prst="rect">
              <a:avLst/>
            </a:prstGeom>
            <a:solidFill>
              <a:srgbClr val="D9DFEA"/>
            </a:solidFill>
            <a:ln>
              <a:noFill/>
            </a:ln>
          </p:spPr>
        </p:sp>
        <p:sp>
          <p:nvSpPr>
            <p:cNvPr id="49" name="Ellipse 49"/>
            <p:cNvSpPr/>
            <p:nvPr/>
          </p:nvSpPr>
          <p:spPr>
            <a:xfrm>
              <a:off x="533400" y="4010025"/>
              <a:ext cx="285750" cy="285750"/>
            </a:xfrm>
            <a:prstGeom prst="ellipse">
              <a:avLst/>
            </a:prstGeom>
            <a:solidFill>
              <a:srgbClr val="0E7C86"/>
            </a:solidFill>
            <a:ln>
              <a:noFill/>
            </a:ln>
          </p:spPr>
        </p:sp>
        <p:sp>
          <p:nvSpPr>
            <p:cNvPr id="50" name="TextBox 50"/>
            <p:cNvSpPr txBox="1"/>
            <p:nvPr/>
          </p:nvSpPr>
          <p:spPr>
            <a:xfrm>
              <a:off x="627024" y="40838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51" name="Ellipse 51"/>
            <p:cNvSpPr/>
            <p:nvPr/>
          </p:nvSpPr>
          <p:spPr>
            <a:xfrm>
              <a:off x="533400" y="4562475"/>
              <a:ext cx="285750" cy="285750"/>
            </a:xfrm>
            <a:prstGeom prst="ellipse">
              <a:avLst/>
            </a:prstGeom>
            <a:solidFill>
              <a:srgbClr val="0E7C86"/>
            </a:solidFill>
            <a:ln>
              <a:noFill/>
            </a:ln>
          </p:spPr>
        </p:sp>
        <p:sp>
          <p:nvSpPr>
            <p:cNvPr id="52" name="TextBox 52"/>
            <p:cNvSpPr txBox="1"/>
            <p:nvPr/>
          </p:nvSpPr>
          <p:spPr>
            <a:xfrm>
              <a:off x="627024" y="463629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53" name="Ellipse 53"/>
            <p:cNvSpPr/>
            <p:nvPr/>
          </p:nvSpPr>
          <p:spPr>
            <a:xfrm>
              <a:off x="533400" y="5115878"/>
              <a:ext cx="285750" cy="285750"/>
            </a:xfrm>
            <a:prstGeom prst="ellipse">
              <a:avLst/>
            </a:prstGeom>
            <a:solidFill>
              <a:srgbClr val="0E7C86"/>
            </a:solidFill>
            <a:ln>
              <a:noFill/>
            </a:ln>
          </p:spPr>
        </p:sp>
        <p:sp>
          <p:nvSpPr>
            <p:cNvPr id="54" name="TextBox 54"/>
            <p:cNvSpPr txBox="1"/>
            <p:nvPr/>
          </p:nvSpPr>
          <p:spPr>
            <a:xfrm>
              <a:off x="627024" y="518969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55" name="Ellipse 55"/>
            <p:cNvSpPr/>
            <p:nvPr/>
          </p:nvSpPr>
          <p:spPr>
            <a:xfrm>
              <a:off x="533400" y="5669280"/>
              <a:ext cx="285750" cy="285750"/>
            </a:xfrm>
            <a:prstGeom prst="ellipse">
              <a:avLst/>
            </a:prstGeom>
            <a:solidFill>
              <a:srgbClr val="0E7C86"/>
            </a:solidFill>
            <a:ln>
              <a:noFill/>
            </a:ln>
          </p:spPr>
        </p:sp>
        <p:sp>
          <p:nvSpPr>
            <p:cNvPr id="56" name="TextBox 56"/>
            <p:cNvSpPr txBox="1"/>
            <p:nvPr/>
          </p:nvSpPr>
          <p:spPr>
            <a:xfrm>
              <a:off x="627024" y="574309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57" name="TextBox 57"/>
            <p:cNvSpPr txBox="1"/>
            <p:nvPr/>
          </p:nvSpPr>
          <p:spPr>
            <a:xfrm>
              <a:off x="946023" y="4040029"/>
              <a:ext cx="94517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由 βᵢξᵢ = 0</a:t>
              </a:r>
            </a:p>
          </p:txBody>
        </p:sp>
        <p:sp>
          <p:nvSpPr>
            <p:cNvPr id="58" name="TextBox 58"/>
            <p:cNvSpPr txBox="1"/>
            <p:nvPr/>
          </p:nvSpPr>
          <p:spPr>
            <a:xfrm>
              <a:off x="947166" y="4294822"/>
              <a:ext cx="131109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βᵢ &gt; 0 时必有 ξᵢ = 0</a:t>
              </a:r>
            </a:p>
          </p:txBody>
        </p:sp>
        <p:sp>
          <p:nvSpPr>
            <p:cNvPr id="59" name="TextBox 59"/>
            <p:cNvSpPr txBox="1"/>
            <p:nvPr/>
          </p:nvSpPr>
          <p:spPr>
            <a:xfrm>
              <a:off x="946023" y="4593431"/>
              <a:ext cx="117150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由 αᵢ + βᵢ = C</a:t>
              </a:r>
            </a:p>
          </p:txBody>
        </p:sp>
        <p:sp>
          <p:nvSpPr>
            <p:cNvPr id="60" name="TextBox 60"/>
            <p:cNvSpPr txBox="1"/>
            <p:nvPr/>
          </p:nvSpPr>
          <p:spPr>
            <a:xfrm>
              <a:off x="947166" y="4848225"/>
              <a:ext cx="190303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αᵢ &lt; C 时 βᵢ &gt; 0，所以 ξᵢ = 0</a:t>
              </a:r>
            </a:p>
          </p:txBody>
        </p:sp>
        <p:sp>
          <p:nvSpPr>
            <p:cNvPr id="61" name="TextBox 61"/>
            <p:cNvSpPr txBox="1"/>
            <p:nvPr/>
          </p:nvSpPr>
          <p:spPr>
            <a:xfrm>
              <a:off x="946023" y="5146834"/>
              <a:ext cx="104468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由 αᵢ[…] = 0</a:t>
              </a:r>
            </a:p>
          </p:txBody>
        </p:sp>
        <p:sp>
          <p:nvSpPr>
            <p:cNvPr id="62" name="TextBox 62"/>
            <p:cNvSpPr txBox="1"/>
            <p:nvPr/>
          </p:nvSpPr>
          <p:spPr>
            <a:xfrm>
              <a:off x="947166" y="5400675"/>
              <a:ext cx="187650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αᵢ &gt; 0 时函数间隔恰为 1 − ξᵢ</a:t>
              </a:r>
            </a:p>
          </p:txBody>
        </p:sp>
        <p:sp>
          <p:nvSpPr>
            <p:cNvPr id="63" name="TextBox 63"/>
            <p:cNvSpPr txBox="1"/>
            <p:nvPr/>
          </p:nvSpPr>
          <p:spPr>
            <a:xfrm>
              <a:off x="946023" y="569928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合起来</a:t>
              </a:r>
            </a:p>
          </p:txBody>
        </p:sp>
        <p:sp>
          <p:nvSpPr>
            <p:cNvPr id="64" name="TextBox 64"/>
            <p:cNvSpPr txBox="1"/>
            <p:nvPr/>
          </p:nvSpPr>
          <p:spPr>
            <a:xfrm>
              <a:off x="947166" y="5954078"/>
              <a:ext cx="207265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αᵢ = C 是唯一允许 ξᵢ &gt; 0 的情形</a:t>
              </a:r>
            </a:p>
          </p:txBody>
        </p:sp>
      </p:grpSp>
      <p:grpSp>
        <p:nvGrpSpPr>
          <p:cNvPr id="72" name="c2-card-1"/>
          <p:cNvGrpSpPr/>
          <p:nvPr/>
        </p:nvGrpSpPr>
        <p:grpSpPr>
          <a:xfrm>
            <a:off x="6680835" y="1928812"/>
            <a:ext cx="4977765" cy="1406842"/>
            <a:chOff x="6680835" y="1928812"/>
            <a:chExt cx="4977765" cy="1406842"/>
          </a:xfrm>
        </p:grpSpPr>
        <p:sp>
          <p:nvSpPr>
            <p:cNvPr id="66" name="Rectangle 66"/>
            <p:cNvSpPr/>
            <p:nvPr/>
          </p:nvSpPr>
          <p:spPr>
            <a:xfrm>
              <a:off x="6680835" y="1928812"/>
              <a:ext cx="4977765" cy="1406842"/>
            </a:xfrm>
            <a:prstGeom prst="roundRect">
              <a:avLst>
                <a:gd name="adj" fmla="val 9479"/>
              </a:avLst>
            </a:prstGeom>
            <a:solidFill>
              <a:srgbClr val="0E7C86"/>
            </a:solidFill>
            <a:ln>
              <a:noFill/>
            </a:ln>
          </p:spPr>
        </p:sp>
        <p:sp>
          <p:nvSpPr>
            <p:cNvPr id="67" name="Rectangle 67"/>
            <p:cNvSpPr/>
            <p:nvPr/>
          </p:nvSpPr>
          <p:spPr>
            <a:xfrm>
              <a:off x="6861810" y="2109788"/>
              <a:ext cx="458152" cy="238125"/>
            </a:xfrm>
            <a:prstGeom prst="roundRect">
              <a:avLst>
                <a:gd name="adj" fmla="val 50000"/>
              </a:avLst>
            </a:prstGeom>
            <a:solidFill>
              <a:srgbClr val="0B5F67"/>
            </a:solidFill>
            <a:ln>
              <a:noFill/>
            </a:ln>
          </p:spPr>
        </p:sp>
        <p:sp>
          <p:nvSpPr>
            <p:cNvPr id="68" name="TextBox 68"/>
            <p:cNvSpPr txBox="1"/>
            <p:nvPr/>
          </p:nvSpPr>
          <p:spPr>
            <a:xfrm>
              <a:off x="6954482" y="2142649"/>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结论</a:t>
              </a:r>
            </a:p>
          </p:txBody>
        </p:sp>
        <p:sp>
          <p:nvSpPr>
            <p:cNvPr id="69" name="TextBox 69"/>
            <p:cNvSpPr txBox="1"/>
            <p:nvPr/>
          </p:nvSpPr>
          <p:spPr>
            <a:xfrm>
              <a:off x="7428738" y="2149316"/>
              <a:ext cx="1736090"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软间隔仍然保持稀疏性</a:t>
              </a:r>
            </a:p>
          </p:txBody>
        </p:sp>
        <p:sp>
          <p:nvSpPr>
            <p:cNvPr id="70" name="TextBox 70"/>
            <p:cNvSpPr txBox="1"/>
            <p:nvPr/>
          </p:nvSpPr>
          <p:spPr>
            <a:xfrm>
              <a:off x="6855333" y="2465546"/>
              <a:ext cx="4426458"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αᵢ = 0 的样本完全不参与 w = Σαᵢyᵢxᵢ，最终模型仍然只与支</a:t>
              </a:r>
              <a:br/>
              <a:r>
                <a:rPr lang="zh-CN" sz="1280" dirty="0">
                  <a:solidFill>
                    <a:srgbClr val="FFFFFF"/>
                  </a:solidFill>
                  <a:latin typeface="+mn-lt"/>
                  <a:ea typeface="+mn-ea"/>
                  <a:cs typeface="+mn-cs"/>
                </a:rPr>
                <a:t>持向量有关。</a:t>
              </a:r>
            </a:p>
          </p:txBody>
        </p:sp>
        <p:sp>
          <p:nvSpPr>
            <p:cNvPr id="71" name="TextBox 71"/>
            <p:cNvSpPr txBox="1"/>
            <p:nvPr/>
          </p:nvSpPr>
          <p:spPr>
            <a:xfrm>
              <a:off x="6856476" y="2989898"/>
              <a:ext cx="4689386"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所谓“支持向量”在软间隔里包含三种：边界上的、间隔带内的、被分错的。</a:t>
              </a:r>
            </a:p>
          </p:txBody>
        </p:sp>
      </p:grpSp>
      <p:grpSp>
        <p:nvGrpSpPr>
          <p:cNvPr id="79" name="c2-card-2"/>
          <p:cNvGrpSpPr/>
          <p:nvPr/>
        </p:nvGrpSpPr>
        <p:grpSpPr>
          <a:xfrm>
            <a:off x="6680835" y="3499485"/>
            <a:ext cx="4977765" cy="1403032"/>
            <a:chOff x="6680835" y="3499485"/>
            <a:chExt cx="4977765" cy="1403032"/>
          </a:xfrm>
        </p:grpSpPr>
        <p:sp>
          <p:nvSpPr>
            <p:cNvPr id="73" name="Rectangle 73"/>
            <p:cNvSpPr/>
            <p:nvPr/>
          </p:nvSpPr>
          <p:spPr>
            <a:xfrm>
              <a:off x="6680835" y="3499485"/>
              <a:ext cx="4977765" cy="1403032"/>
            </a:xfrm>
            <a:prstGeom prst="roundRect">
              <a:avLst>
                <a:gd name="adj" fmla="val 9504"/>
              </a:avLst>
            </a:prstGeom>
            <a:solidFill>
              <a:srgbClr val="FFFFFF"/>
            </a:solidFill>
            <a:ln w="14288">
              <a:solidFill>
                <a:srgbClr val="D9DFEA"/>
              </a:solidFill>
            </a:ln>
          </p:spPr>
        </p:sp>
        <p:sp>
          <p:nvSpPr>
            <p:cNvPr id="74" name="Rectangle 74"/>
            <p:cNvSpPr/>
            <p:nvPr/>
          </p:nvSpPr>
          <p:spPr>
            <a:xfrm>
              <a:off x="6690360" y="3632835"/>
              <a:ext cx="47625" cy="1136332"/>
            </a:xfrm>
            <a:prstGeom prst="roundRect">
              <a:avLst>
                <a:gd name="adj" fmla="val 50000"/>
              </a:avLst>
            </a:prstGeom>
            <a:solidFill>
              <a:srgbClr val="B42318"/>
            </a:solidFill>
            <a:ln>
              <a:noFill/>
            </a:ln>
          </p:spPr>
        </p:sp>
        <p:sp>
          <p:nvSpPr>
            <p:cNvPr id="75" name="Rectangle 75"/>
            <p:cNvSpPr/>
            <p:nvPr/>
          </p:nvSpPr>
          <p:spPr>
            <a:xfrm>
              <a:off x="6899910" y="3680460"/>
              <a:ext cx="582930" cy="238125"/>
            </a:xfrm>
            <a:prstGeom prst="roundRect">
              <a:avLst>
                <a:gd name="adj" fmla="val 50000"/>
              </a:avLst>
            </a:prstGeom>
            <a:solidFill>
              <a:srgbClr val="FDECEA"/>
            </a:solidFill>
            <a:ln>
              <a:noFill/>
            </a:ln>
          </p:spPr>
        </p:sp>
        <p:sp>
          <p:nvSpPr>
            <p:cNvPr id="76" name="TextBox 76"/>
            <p:cNvSpPr txBox="1"/>
            <p:nvPr/>
          </p:nvSpPr>
          <p:spPr>
            <a:xfrm>
              <a:off x="6988531" y="3713321"/>
              <a:ext cx="405689"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易错点</a:t>
              </a:r>
            </a:p>
          </p:txBody>
        </p:sp>
        <p:sp>
          <p:nvSpPr>
            <p:cNvPr id="77" name="TextBox 77"/>
            <p:cNvSpPr txBox="1"/>
            <p:nvPr/>
          </p:nvSpPr>
          <p:spPr>
            <a:xfrm>
              <a:off x="7590663" y="3720941"/>
              <a:ext cx="154525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b 只能用哪些点来算</a:t>
              </a:r>
            </a:p>
          </p:txBody>
        </p:sp>
        <p:sp>
          <p:nvSpPr>
            <p:cNvPr id="78" name="TextBox 78"/>
            <p:cNvSpPr txBox="1"/>
            <p:nvPr/>
          </p:nvSpPr>
          <p:spPr>
            <a:xfrm>
              <a:off x="6893433" y="4037171"/>
              <a:ext cx="4324858"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b* 必须用 </a:t>
              </a:r>
              <a:r>
                <a:rPr lang="el-GR" sz="1280" b="1" dirty="0">
                  <a:solidFill>
                    <a:srgbClr val="C2410C"/>
                  </a:solidFill>
                  <a:latin typeface="+mn-lt"/>
                  <a:ea typeface="+mn-ea"/>
                  <a:cs typeface="+mn-cs"/>
                </a:rPr>
                <a:t>0 &lt; αᵢ &lt; C</a:t>
              </a:r>
              <a:r>
                <a:rPr lang="zh-CN" sz="1280" dirty="0">
                  <a:solidFill>
                    <a:srgbClr val="1F2937"/>
                  </a:solidFill>
                  <a:latin typeface="+mn-lt"/>
                  <a:ea typeface="+mn-ea"/>
                  <a:cs typeface="+mn-cs"/>
                </a:rPr>
                <a:t xml:space="preserve"> 的样本（落在边界上、ξᵢ = 0）来算：</a:t>
              </a:r>
              <a:br/>
              <a:r>
                <a:rPr lang="zh-CN" sz="1280" dirty="0">
                  <a:solidFill>
                    <a:srgbClr val="1F2937"/>
                  </a:solidFill>
                  <a:latin typeface="+mn-lt"/>
                  <a:ea typeface="+mn-ea"/>
                  <a:cs typeface="+mn-cs"/>
                </a:rPr>
                <a:t>b = yᵢ − w·xᵢ。αᵢ = C 的样本 ξᵢ 未知，代进去会算错；αᵢ</a:t>
              </a:r>
              <a:br/>
              <a:r>
                <a:rPr lang="zh-CN" sz="1280" dirty="0">
                  <a:solidFill>
                    <a:srgbClr val="1F2937"/>
                  </a:solidFill>
                  <a:latin typeface="+mn-lt"/>
                  <a:ea typeface="+mn-ea"/>
                  <a:cs typeface="+mn-cs"/>
                </a:rPr>
                <a:t>= 0 的样本不在边界上。</a:t>
              </a:r>
            </a:p>
          </p:txBody>
        </p:sp>
      </p:grpSp>
      <p:grpSp>
        <p:nvGrpSpPr>
          <p:cNvPr id="84" name="c2-card-3"/>
          <p:cNvGrpSpPr/>
          <p:nvPr/>
        </p:nvGrpSpPr>
        <p:grpSpPr>
          <a:xfrm>
            <a:off x="6680835" y="5068252"/>
            <a:ext cx="4977765" cy="1125855"/>
            <a:chOff x="6680835" y="5068252"/>
            <a:chExt cx="4977765" cy="1125855"/>
          </a:xfrm>
        </p:grpSpPr>
        <p:sp>
          <p:nvSpPr>
            <p:cNvPr id="80" name="Rectangle 80"/>
            <p:cNvSpPr/>
            <p:nvPr/>
          </p:nvSpPr>
          <p:spPr>
            <a:xfrm>
              <a:off x="6680835" y="5068252"/>
              <a:ext cx="4977765" cy="1125855"/>
            </a:xfrm>
            <a:prstGeom prst="roundRect">
              <a:avLst>
                <a:gd name="adj" fmla="val 11844"/>
              </a:avLst>
            </a:prstGeom>
            <a:solidFill>
              <a:srgbClr val="FFFFFF"/>
            </a:solidFill>
            <a:ln w="14288">
              <a:solidFill>
                <a:srgbClr val="D9DFEA"/>
              </a:solidFill>
            </a:ln>
          </p:spPr>
        </p:sp>
        <p:sp>
          <p:nvSpPr>
            <p:cNvPr id="81" name="Rectangle 81"/>
            <p:cNvSpPr/>
            <p:nvPr/>
          </p:nvSpPr>
          <p:spPr>
            <a:xfrm>
              <a:off x="6690360" y="5201602"/>
              <a:ext cx="47625" cy="859155"/>
            </a:xfrm>
            <a:prstGeom prst="roundRect">
              <a:avLst>
                <a:gd name="adj" fmla="val 50000"/>
              </a:avLst>
            </a:prstGeom>
            <a:solidFill>
              <a:srgbClr val="5B6475"/>
            </a:solidFill>
            <a:ln>
              <a:noFill/>
            </a:ln>
          </p:spPr>
        </p:sp>
        <p:sp>
          <p:nvSpPr>
            <p:cNvPr id="82" name="TextBox 82"/>
            <p:cNvSpPr txBox="1"/>
            <p:nvPr/>
          </p:nvSpPr>
          <p:spPr>
            <a:xfrm>
              <a:off x="6893433" y="5269706"/>
              <a:ext cx="208071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原课件这一段被排版吃掉了</a:t>
              </a:r>
            </a:p>
          </p:txBody>
        </p:sp>
        <p:sp>
          <p:nvSpPr>
            <p:cNvPr id="83" name="TextBox 83"/>
            <p:cNvSpPr txBox="1"/>
            <p:nvPr/>
          </p:nvSpPr>
          <p:spPr>
            <a:xfrm>
              <a:off x="6893433" y="5570696"/>
              <a:ext cx="42882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A 版第 40 页只写了“ξᵢ ≤ 1 则落在最大间隔内部”，漏掉“若</a:t>
              </a:r>
              <a:br/>
              <a:r>
                <a:rPr lang="zh-CN" sz="1280" dirty="0">
                  <a:solidFill>
                    <a:srgbClr val="1F2937"/>
                  </a:solidFill>
                  <a:latin typeface="+mn-lt"/>
                  <a:ea typeface="+mn-ea"/>
                  <a:cs typeface="+mn-cs"/>
                </a:rPr>
                <a:t>ξᵢ &gt; 1 则被错误分类”这个条件。上表第 3、4 行补全。</a:t>
              </a:r>
            </a:p>
          </p:txBody>
        </p:sp>
      </p:grpSp>
      <p:grpSp>
        <p:nvGrpSpPr>
          <p:cNvPr id="87" name="footer"/>
          <p:cNvGrpSpPr/>
          <p:nvPr/>
        </p:nvGrpSpPr>
        <p:grpSpPr>
          <a:xfrm>
            <a:off x="528447" y="6581299"/>
            <a:ext cx="11135106" cy="190690"/>
            <a:chOff x="528447" y="6581299"/>
            <a:chExt cx="11135106" cy="190690"/>
          </a:xfrm>
        </p:grpSpPr>
        <p:sp>
          <p:nvSpPr>
            <p:cNvPr id="85" name="TextBox 85"/>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86" name="TextBox 8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18" name="section-title"/>
          <p:cNvGrpSpPr/>
          <p:nvPr/>
        </p:nvGrpSpPr>
        <p:grpSpPr>
          <a:xfrm>
            <a:off x="667512" y="1835468"/>
            <a:ext cx="5852160" cy="3351847"/>
            <a:chOff x="667512" y="1835468"/>
            <a:chExt cx="5852160"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585216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非线性支持向量机：核方法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792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原空间分不开，就换一个分得开的空间</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升维能把非线性问题变成线性问题</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维数灾难与映射难找这两个困难</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306438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核函数把“先映射再内积”压成一步</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32461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核形式的对偶问题与最优分类超曲面</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非线性支持向量机：核方法</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线性分类器的局限：一条直线管不了三段</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8" name="c1-card-1"/>
          <p:cNvGrpSpPr/>
          <p:nvPr/>
        </p:nvGrpSpPr>
        <p:grpSpPr>
          <a:xfrm>
            <a:off x="533400" y="1524000"/>
            <a:ext cx="5193982" cy="2391728"/>
            <a:chOff x="533400" y="1524000"/>
            <a:chExt cx="5193982" cy="2391728"/>
          </a:xfrm>
        </p:grpSpPr>
        <p:sp>
          <p:nvSpPr>
            <p:cNvPr id="7" name="Rectangle 7"/>
            <p:cNvSpPr/>
            <p:nvPr/>
          </p:nvSpPr>
          <p:spPr>
            <a:xfrm>
              <a:off x="533400" y="1524000"/>
              <a:ext cx="5193982" cy="2391728"/>
            </a:xfrm>
            <a:prstGeom prst="roundRect">
              <a:avLst>
                <a:gd name="adj" fmla="val 5575"/>
              </a:avLst>
            </a:prstGeom>
            <a:solidFill>
              <a:srgbClr val="FFFFFF"/>
            </a:solidFill>
            <a:ln w="14288">
              <a:solidFill>
                <a:srgbClr val="D9DFEA"/>
              </a:solidFill>
            </a:ln>
          </p:spPr>
        </p:sp>
        <p:sp>
          <p:nvSpPr>
            <p:cNvPr id="8" name="Rectangle 8"/>
            <p:cNvSpPr/>
            <p:nvPr/>
          </p:nvSpPr>
          <p:spPr>
            <a:xfrm>
              <a:off x="542925" y="1657350"/>
              <a:ext cx="47625" cy="2125028"/>
            </a:xfrm>
            <a:prstGeom prst="roundRect">
              <a:avLst>
                <a:gd name="adj" fmla="val 50000"/>
              </a:avLst>
            </a:prstGeom>
            <a:solidFill>
              <a:srgbClr val="14A38B"/>
            </a:solidFill>
            <a:ln>
              <a:noFill/>
            </a:ln>
          </p:spPr>
        </p:sp>
        <p:sp>
          <p:nvSpPr>
            <p:cNvPr id="9" name="Rectangle 9"/>
            <p:cNvSpPr/>
            <p:nvPr/>
          </p:nvSpPr>
          <p:spPr>
            <a:xfrm>
              <a:off x="763905" y="1716405"/>
              <a:ext cx="476250" cy="247650"/>
            </a:xfrm>
            <a:prstGeom prst="roundRect">
              <a:avLst>
                <a:gd name="adj" fmla="val 50000"/>
              </a:avLst>
            </a:prstGeom>
            <a:solidFill>
              <a:srgbClr val="E3F5F1"/>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例子</a:t>
              </a:r>
            </a:p>
          </p:txBody>
        </p:sp>
        <p:sp>
          <p:nvSpPr>
            <p:cNvPr id="11" name="TextBox 11"/>
            <p:cNvSpPr txBox="1"/>
            <p:nvPr/>
          </p:nvSpPr>
          <p:spPr>
            <a:xfrm>
              <a:off x="1347597" y="1756410"/>
              <a:ext cx="15874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一维上的 C₁ C₂ C₁</a:t>
              </a:r>
            </a:p>
          </p:txBody>
        </p:sp>
        <p:sp>
          <p:nvSpPr>
            <p:cNvPr id="12" name="TextBox 12"/>
            <p:cNvSpPr txBox="1"/>
            <p:nvPr/>
          </p:nvSpPr>
          <p:spPr>
            <a:xfrm>
              <a:off x="757047" y="2090738"/>
              <a:ext cx="4582858"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在</a:t>
              </a:r>
              <a:r>
                <a:rPr lang="zh-CN" sz="1350" b="1" dirty="0">
                  <a:solidFill>
                    <a:srgbClr val="C2410C"/>
                  </a:solidFill>
                  <a:latin typeface="+mn-lt"/>
                  <a:ea typeface="+mn-ea"/>
                  <a:cs typeface="+mn-cs"/>
                </a:rPr>
                <a:t>一维</a:t>
              </a:r>
              <a:r>
                <a:rPr lang="zh-CN" sz="1350" dirty="0">
                  <a:solidFill>
                    <a:srgbClr val="1F2937"/>
                  </a:solidFill>
                  <a:latin typeface="+mn-lt"/>
                  <a:ea typeface="+mn-ea"/>
                  <a:cs typeface="+mn-cs"/>
                </a:rPr>
                <a:t>空间里，一类数据落在区间 (a, b) 内部、另一类落在</a:t>
              </a:r>
              <a:br/>
              <a:r>
                <a:rPr lang="zh-CN" sz="1350" dirty="0">
                  <a:solidFill>
                    <a:srgbClr val="1F2937"/>
                  </a:solidFill>
                  <a:latin typeface="+mn-lt"/>
                  <a:ea typeface="+mn-ea"/>
                  <a:cs typeface="+mn-cs"/>
                </a:rPr>
                <a:t>它两侧时，没有任何线性函数 g(x) = wx + w₀ 能把它们分</a:t>
              </a:r>
              <a:br/>
              <a:r>
                <a:rPr lang="zh-CN" sz="1350" dirty="0">
                  <a:solidFill>
                    <a:srgbClr val="1F2937"/>
                  </a:solidFill>
                  <a:latin typeface="+mn-lt"/>
                  <a:ea typeface="+mn-ea"/>
                  <a:cs typeface="+mn-cs"/>
                </a:rPr>
                <a:t>开：线性函数只有一个零点，最多切成两段。</a:t>
              </a:r>
            </a:p>
          </p:txBody>
        </p:sp>
        <p:sp>
          <p:nvSpPr>
            <p:cNvPr id="13" name="TextBox 13"/>
            <p:cNvSpPr txBox="1"/>
            <p:nvPr/>
          </p:nvSpPr>
          <p:spPr>
            <a:xfrm>
              <a:off x="757047" y="2907030"/>
              <a:ext cx="376658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但二次判别函数 g(x) = (x − a)(x − b) 可以：</a:t>
              </a:r>
            </a:p>
          </p:txBody>
        </p:sp>
        <p:sp>
          <p:nvSpPr>
            <p:cNvPr id="14" name="Ellipse 14"/>
            <p:cNvSpPr/>
            <p:nvPr/>
          </p:nvSpPr>
          <p:spPr>
            <a:xfrm>
              <a:off x="772478" y="3266122"/>
              <a:ext cx="59055" cy="59055"/>
            </a:xfrm>
            <a:prstGeom prst="ellipse">
              <a:avLst/>
            </a:prstGeom>
            <a:solidFill>
              <a:srgbClr val="0E7C86"/>
            </a:solidFill>
            <a:ln>
              <a:noFill/>
            </a:ln>
          </p:spPr>
        </p:sp>
        <p:sp>
          <p:nvSpPr>
            <p:cNvPr id="15" name="TextBox 15"/>
            <p:cNvSpPr txBox="1"/>
            <p:nvPr/>
          </p:nvSpPr>
          <p:spPr>
            <a:xfrm>
              <a:off x="928497" y="3209925"/>
              <a:ext cx="282686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g(x) &gt; 0（x &lt; a 或 x &gt; b）判为 C₁</a:t>
              </a:r>
            </a:p>
          </p:txBody>
        </p:sp>
        <p:sp>
          <p:nvSpPr>
            <p:cNvPr id="16" name="Ellipse 16"/>
            <p:cNvSpPr/>
            <p:nvPr/>
          </p:nvSpPr>
          <p:spPr>
            <a:xfrm>
              <a:off x="772478" y="3568065"/>
              <a:ext cx="59055" cy="59055"/>
            </a:xfrm>
            <a:prstGeom prst="ellipse">
              <a:avLst/>
            </a:prstGeom>
            <a:solidFill>
              <a:srgbClr val="0E7C86"/>
            </a:solidFill>
            <a:ln>
              <a:noFill/>
            </a:ln>
          </p:spPr>
        </p:sp>
        <p:sp>
          <p:nvSpPr>
            <p:cNvPr id="17" name="TextBox 17"/>
            <p:cNvSpPr txBox="1"/>
            <p:nvPr/>
          </p:nvSpPr>
          <p:spPr>
            <a:xfrm>
              <a:off x="928497" y="3511868"/>
              <a:ext cx="243613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g(x) &lt; 0（a &lt; x &lt; b）判为 C₂</a:t>
              </a:r>
            </a:p>
          </p:txBody>
        </p:sp>
      </p:grpSp>
      <p:grpSp>
        <p:nvGrpSpPr>
          <p:cNvPr id="25" name="c1-card-2"/>
          <p:cNvGrpSpPr/>
          <p:nvPr/>
        </p:nvGrpSpPr>
        <p:grpSpPr>
          <a:xfrm>
            <a:off x="533400" y="4090988"/>
            <a:ext cx="5193982" cy="1483995"/>
            <a:chOff x="533400" y="4090988"/>
            <a:chExt cx="5193982" cy="1483995"/>
          </a:xfrm>
        </p:grpSpPr>
        <p:sp>
          <p:nvSpPr>
            <p:cNvPr id="19" name="Rectangle 19"/>
            <p:cNvSpPr/>
            <p:nvPr/>
          </p:nvSpPr>
          <p:spPr>
            <a:xfrm>
              <a:off x="533400" y="4090988"/>
              <a:ext cx="5193982" cy="1483995"/>
            </a:xfrm>
            <a:prstGeom prst="roundRect">
              <a:avLst>
                <a:gd name="adj" fmla="val 8986"/>
              </a:avLst>
            </a:prstGeom>
            <a:solidFill>
              <a:srgbClr val="FFFFFF"/>
            </a:solidFill>
            <a:ln w="14288">
              <a:solidFill>
                <a:srgbClr val="D9DFEA"/>
              </a:solidFill>
            </a:ln>
          </p:spPr>
        </p:sp>
        <p:sp>
          <p:nvSpPr>
            <p:cNvPr id="20" name="Rectangle 20"/>
            <p:cNvSpPr/>
            <p:nvPr/>
          </p:nvSpPr>
          <p:spPr>
            <a:xfrm>
              <a:off x="542925" y="4224338"/>
              <a:ext cx="47625" cy="1217295"/>
            </a:xfrm>
            <a:prstGeom prst="roundRect">
              <a:avLst>
                <a:gd name="adj" fmla="val 50000"/>
              </a:avLst>
            </a:prstGeom>
            <a:solidFill>
              <a:srgbClr val="5B6475"/>
            </a:solidFill>
            <a:ln>
              <a:noFill/>
            </a:ln>
          </p:spPr>
        </p:sp>
        <p:sp>
          <p:nvSpPr>
            <p:cNvPr id="21" name="Rectangle 21"/>
            <p:cNvSpPr/>
            <p:nvPr/>
          </p:nvSpPr>
          <p:spPr>
            <a:xfrm>
              <a:off x="763905" y="4283392"/>
              <a:ext cx="476250" cy="247650"/>
            </a:xfrm>
            <a:prstGeom prst="roundRect">
              <a:avLst>
                <a:gd name="adj" fmla="val 50000"/>
              </a:avLst>
            </a:prstGeom>
            <a:solidFill>
              <a:srgbClr val="F4F6FB"/>
            </a:solidFill>
            <a:ln>
              <a:noFill/>
            </a:ln>
          </p:spPr>
        </p:sp>
        <p:sp>
          <p:nvSpPr>
            <p:cNvPr id="22" name="TextBox 22"/>
            <p:cNvSpPr txBox="1"/>
            <p:nvPr/>
          </p:nvSpPr>
          <p:spPr>
            <a:xfrm>
              <a:off x="855345" y="4317682"/>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23" name="TextBox 23"/>
            <p:cNvSpPr txBox="1"/>
            <p:nvPr/>
          </p:nvSpPr>
          <p:spPr>
            <a:xfrm>
              <a:off x="1347597" y="4322445"/>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原课件说成了二维</a:t>
              </a:r>
            </a:p>
          </p:txBody>
        </p:sp>
        <p:sp>
          <p:nvSpPr>
            <p:cNvPr id="24" name="TextBox 24"/>
            <p:cNvSpPr txBox="1"/>
            <p:nvPr/>
          </p:nvSpPr>
          <p:spPr>
            <a:xfrm>
              <a:off x="757047" y="4656772"/>
              <a:ext cx="453999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B 版第 48 页写“在</a:t>
              </a:r>
              <a:r>
                <a:rPr lang="zh-CN" sz="1350" b="1" dirty="0">
                  <a:solidFill>
                    <a:srgbClr val="C2410C"/>
                  </a:solidFill>
                  <a:latin typeface="+mn-lt"/>
                  <a:ea typeface="+mn-ea"/>
                  <a:cs typeface="+mn-cs"/>
                </a:rPr>
                <a:t>二维</a:t>
              </a:r>
              <a:r>
                <a:rPr lang="zh-CN" sz="1350" dirty="0">
                  <a:solidFill>
                    <a:srgbClr val="1F2937"/>
                  </a:solidFill>
                  <a:latin typeface="+mn-lt"/>
                  <a:ea typeface="+mn-ea"/>
                  <a:cs typeface="+mn-cs"/>
                </a:rPr>
                <a:t>空间中”，但配图与例子 g(x) = (x −</a:t>
              </a:r>
              <a:br/>
              <a:r>
                <a:rPr lang="zh-CN" sz="1350" dirty="0">
                  <a:solidFill>
                    <a:srgbClr val="1F2937"/>
                  </a:solidFill>
                  <a:latin typeface="+mn-lt"/>
                  <a:ea typeface="+mn-ea"/>
                  <a:cs typeface="+mn-cs"/>
                </a:rPr>
                <a:t>a)(x − b) 都是</a:t>
              </a:r>
              <a:r>
                <a:rPr lang="zh-CN" sz="1350" b="1" dirty="0">
                  <a:solidFill>
                    <a:srgbClr val="C2410C"/>
                  </a:solidFill>
                  <a:latin typeface="+mn-lt"/>
                  <a:ea typeface="+mn-ea"/>
                  <a:cs typeface="+mn-cs"/>
                </a:rPr>
                <a:t>一维</a:t>
              </a:r>
              <a:r>
                <a:rPr lang="zh-CN" sz="1350" dirty="0">
                  <a:solidFill>
                    <a:srgbClr val="1F2937"/>
                  </a:solidFill>
                  <a:latin typeface="+mn-lt"/>
                  <a:ea typeface="+mn-ea"/>
                  <a:cs typeface="+mn-cs"/>
                </a:rPr>
                <a:t>的。A 版第 14 页写“在一维空间中”，正</a:t>
              </a:r>
              <a:br/>
              <a:r>
                <a:rPr lang="zh-CN" sz="1350" dirty="0">
                  <a:solidFill>
                    <a:srgbClr val="1F2937"/>
                  </a:solidFill>
                  <a:latin typeface="+mn-lt"/>
                  <a:ea typeface="+mn-ea"/>
                  <a:cs typeface="+mn-cs"/>
                </a:rPr>
                <a:t>确。</a:t>
              </a:r>
            </a:p>
          </p:txBody>
        </p:sp>
      </p:grpSp>
      <p:grpSp>
        <p:nvGrpSpPr>
          <p:cNvPr id="46" name="c2-graph-1"/>
          <p:cNvGrpSpPr/>
          <p:nvPr/>
        </p:nvGrpSpPr>
        <p:grpSpPr>
          <a:xfrm>
            <a:off x="6554152" y="1866900"/>
            <a:ext cx="4751070" cy="2959894"/>
            <a:chOff x="6554152" y="1866900"/>
            <a:chExt cx="4751070" cy="2959894"/>
          </a:xfrm>
        </p:grpSpPr>
        <p:sp>
          <p:nvSpPr>
            <p:cNvPr id="26" name="Freeform 26"/>
            <p:cNvSpPr/>
            <p:nvPr/>
          </p:nvSpPr>
          <p:spPr>
            <a:xfrm>
              <a:off x="6554152" y="3560445"/>
              <a:ext cx="4655820" cy="9525"/>
            </a:xfrm>
            <a:custGeom>
              <a:avLst/>
              <a:gdLst/>
              <a:ahLst/>
              <a:cxnLst/>
              <a:rect l="l" t="t" r="r" b="b"/>
              <a:pathLst>
                <a:path w="4655820" h="9525">
                  <a:moveTo>
                    <a:pt x="0" y="0"/>
                  </a:moveTo>
                  <a:lnTo>
                    <a:pt x="4655820" y="0"/>
                  </a:lnTo>
                </a:path>
              </a:pathLst>
            </a:custGeom>
            <a:noFill/>
            <a:ln w="17145">
              <a:solidFill>
                <a:srgbClr val="5B6475"/>
              </a:solidFill>
            </a:ln>
          </p:spPr>
        </p:sp>
        <p:sp>
          <p:nvSpPr>
            <p:cNvPr id="27" name="Freeform 27"/>
            <p:cNvSpPr/>
            <p:nvPr/>
          </p:nvSpPr>
          <p:spPr>
            <a:xfrm>
              <a:off x="11209972" y="3512820"/>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28" name="Freeform 28"/>
            <p:cNvSpPr/>
            <p:nvPr/>
          </p:nvSpPr>
          <p:spPr>
            <a:xfrm>
              <a:off x="6554152" y="1866900"/>
              <a:ext cx="4751070" cy="2483168"/>
            </a:xfrm>
            <a:custGeom>
              <a:avLst/>
              <a:gdLst/>
              <a:ahLst/>
              <a:cxnLst/>
              <a:rect l="l" t="t" r="r" b="b"/>
              <a:pathLst>
                <a:path w="4751070" h="2483168">
                  <a:moveTo>
                    <a:pt x="0" y="0"/>
                  </a:moveTo>
                  <a:lnTo>
                    <a:pt x="231457" y="461010"/>
                  </a:lnTo>
                  <a:lnTo>
                    <a:pt x="496253" y="935355"/>
                  </a:lnTo>
                  <a:lnTo>
                    <a:pt x="766762" y="1345882"/>
                  </a:lnTo>
                  <a:lnTo>
                    <a:pt x="1036320" y="1693545"/>
                  </a:lnTo>
                  <a:lnTo>
                    <a:pt x="1301115" y="1977390"/>
                  </a:lnTo>
                  <a:lnTo>
                    <a:pt x="1570672" y="2198370"/>
                  </a:lnTo>
                  <a:lnTo>
                    <a:pt x="1841182" y="2356485"/>
                  </a:lnTo>
                  <a:lnTo>
                    <a:pt x="2105025" y="2451735"/>
                  </a:lnTo>
                  <a:lnTo>
                    <a:pt x="2375535" y="2483168"/>
                  </a:lnTo>
                  <a:lnTo>
                    <a:pt x="2646045" y="2451735"/>
                  </a:lnTo>
                  <a:lnTo>
                    <a:pt x="2909888" y="2356485"/>
                  </a:lnTo>
                  <a:lnTo>
                    <a:pt x="3180398" y="2198370"/>
                  </a:lnTo>
                  <a:lnTo>
                    <a:pt x="3449955" y="1977390"/>
                  </a:lnTo>
                  <a:lnTo>
                    <a:pt x="3714750" y="1693545"/>
                  </a:lnTo>
                  <a:lnTo>
                    <a:pt x="3984308" y="1345882"/>
                  </a:lnTo>
                  <a:lnTo>
                    <a:pt x="4254817" y="935355"/>
                  </a:lnTo>
                  <a:lnTo>
                    <a:pt x="4519612" y="461010"/>
                  </a:lnTo>
                  <a:lnTo>
                    <a:pt x="4751070" y="0"/>
                  </a:lnTo>
                </a:path>
              </a:pathLst>
            </a:custGeom>
            <a:noFill/>
            <a:ln w="17145">
              <a:solidFill>
                <a:srgbClr val="F26B3A"/>
              </a:solidFill>
            </a:ln>
          </p:spPr>
        </p:sp>
        <p:sp>
          <p:nvSpPr>
            <p:cNvPr id="29" name="Ellipse 29"/>
            <p:cNvSpPr/>
            <p:nvPr/>
          </p:nvSpPr>
          <p:spPr>
            <a:xfrm>
              <a:off x="7542848" y="3512820"/>
              <a:ext cx="95250" cy="95250"/>
            </a:xfrm>
            <a:prstGeom prst="ellipse">
              <a:avLst/>
            </a:prstGeom>
            <a:solidFill>
              <a:srgbClr val="D9DFEA"/>
            </a:solidFill>
            <a:ln>
              <a:noFill/>
            </a:ln>
          </p:spPr>
        </p:sp>
        <p:sp>
          <p:nvSpPr>
            <p:cNvPr id="30" name="Ellipse 30"/>
            <p:cNvSpPr/>
            <p:nvPr/>
          </p:nvSpPr>
          <p:spPr>
            <a:xfrm>
              <a:off x="10221278" y="3512820"/>
              <a:ext cx="95250" cy="95250"/>
            </a:xfrm>
            <a:prstGeom prst="ellipse">
              <a:avLst/>
            </a:prstGeom>
            <a:solidFill>
              <a:srgbClr val="D9DFEA"/>
            </a:solidFill>
            <a:ln>
              <a:noFill/>
            </a:ln>
          </p:spPr>
        </p:sp>
        <p:sp>
          <p:nvSpPr>
            <p:cNvPr id="31" name="Ellipse 31"/>
            <p:cNvSpPr/>
            <p:nvPr/>
          </p:nvSpPr>
          <p:spPr>
            <a:xfrm>
              <a:off x="6893242" y="3493770"/>
              <a:ext cx="133350" cy="133350"/>
            </a:xfrm>
            <a:prstGeom prst="ellipse">
              <a:avLst/>
            </a:prstGeom>
            <a:solidFill>
              <a:srgbClr val="0E7C86"/>
            </a:solidFill>
            <a:ln>
              <a:noFill/>
            </a:ln>
          </p:spPr>
        </p:sp>
        <p:sp>
          <p:nvSpPr>
            <p:cNvPr id="32" name="Ellipse 32"/>
            <p:cNvSpPr/>
            <p:nvPr/>
          </p:nvSpPr>
          <p:spPr>
            <a:xfrm>
              <a:off x="7208520" y="3493770"/>
              <a:ext cx="133350" cy="133350"/>
            </a:xfrm>
            <a:prstGeom prst="ellipse">
              <a:avLst/>
            </a:prstGeom>
            <a:solidFill>
              <a:srgbClr val="0E7C86"/>
            </a:solidFill>
            <a:ln>
              <a:noFill/>
            </a:ln>
          </p:spPr>
        </p:sp>
        <p:sp>
          <p:nvSpPr>
            <p:cNvPr id="33" name="Ellipse 33"/>
            <p:cNvSpPr/>
            <p:nvPr/>
          </p:nvSpPr>
          <p:spPr>
            <a:xfrm>
              <a:off x="10562272" y="3493770"/>
              <a:ext cx="133350" cy="133350"/>
            </a:xfrm>
            <a:prstGeom prst="ellipse">
              <a:avLst/>
            </a:prstGeom>
            <a:solidFill>
              <a:srgbClr val="0E7C86"/>
            </a:solidFill>
            <a:ln>
              <a:noFill/>
            </a:ln>
          </p:spPr>
        </p:sp>
        <p:sp>
          <p:nvSpPr>
            <p:cNvPr id="34" name="Ellipse 34"/>
            <p:cNvSpPr/>
            <p:nvPr/>
          </p:nvSpPr>
          <p:spPr>
            <a:xfrm>
              <a:off x="10922318" y="3493770"/>
              <a:ext cx="133350" cy="133350"/>
            </a:xfrm>
            <a:prstGeom prst="ellipse">
              <a:avLst/>
            </a:prstGeom>
            <a:solidFill>
              <a:srgbClr val="0E7C86"/>
            </a:solidFill>
            <a:ln>
              <a:noFill/>
            </a:ln>
          </p:spPr>
        </p:sp>
        <p:sp>
          <p:nvSpPr>
            <p:cNvPr id="35" name="Ellipse 35"/>
            <p:cNvSpPr/>
            <p:nvPr/>
          </p:nvSpPr>
          <p:spPr>
            <a:xfrm>
              <a:off x="8058150" y="3493770"/>
              <a:ext cx="133350" cy="133350"/>
            </a:xfrm>
            <a:prstGeom prst="ellipse">
              <a:avLst/>
            </a:prstGeom>
            <a:solidFill>
              <a:srgbClr val="B42318"/>
            </a:solidFill>
            <a:ln>
              <a:noFill/>
            </a:ln>
          </p:spPr>
        </p:sp>
        <p:sp>
          <p:nvSpPr>
            <p:cNvPr id="36" name="Ellipse 36"/>
            <p:cNvSpPr/>
            <p:nvPr/>
          </p:nvSpPr>
          <p:spPr>
            <a:xfrm>
              <a:off x="8592502" y="3493770"/>
              <a:ext cx="133350" cy="133350"/>
            </a:xfrm>
            <a:prstGeom prst="ellipse">
              <a:avLst/>
            </a:prstGeom>
            <a:solidFill>
              <a:srgbClr val="B42318"/>
            </a:solidFill>
            <a:ln>
              <a:noFill/>
            </a:ln>
          </p:spPr>
        </p:sp>
        <p:sp>
          <p:nvSpPr>
            <p:cNvPr id="37" name="Ellipse 37"/>
            <p:cNvSpPr/>
            <p:nvPr/>
          </p:nvSpPr>
          <p:spPr>
            <a:xfrm>
              <a:off x="9133522" y="3493770"/>
              <a:ext cx="133350" cy="133350"/>
            </a:xfrm>
            <a:prstGeom prst="ellipse">
              <a:avLst/>
            </a:prstGeom>
            <a:solidFill>
              <a:srgbClr val="B42318"/>
            </a:solidFill>
            <a:ln>
              <a:noFill/>
            </a:ln>
          </p:spPr>
        </p:sp>
        <p:sp>
          <p:nvSpPr>
            <p:cNvPr id="38" name="Ellipse 38"/>
            <p:cNvSpPr/>
            <p:nvPr/>
          </p:nvSpPr>
          <p:spPr>
            <a:xfrm>
              <a:off x="9667875" y="3493770"/>
              <a:ext cx="133350" cy="133350"/>
            </a:xfrm>
            <a:prstGeom prst="ellipse">
              <a:avLst/>
            </a:prstGeom>
            <a:solidFill>
              <a:srgbClr val="B42318"/>
            </a:solidFill>
            <a:ln>
              <a:noFill/>
            </a:ln>
          </p:spPr>
        </p:sp>
        <p:sp>
          <p:nvSpPr>
            <p:cNvPr id="39" name="TextBox 39"/>
            <p:cNvSpPr txBox="1"/>
            <p:nvPr/>
          </p:nvSpPr>
          <p:spPr>
            <a:xfrm>
              <a:off x="8285451" y="4664869"/>
              <a:ext cx="1118928" cy="161925"/>
            </a:xfrm>
            <a:prstGeom prst="rect">
              <a:avLst/>
            </a:prstGeom>
            <a:noFill/>
            <a:ln>
              <a:noFill/>
            </a:ln>
          </p:spPr>
          <p:txBody>
            <a:bodyPr wrap="none" lIns="0" tIns="0" rIns="0" bIns="0" anchor="t" anchorCtr="0">
              <a:spAutoFit/>
            </a:bodyPr>
            <a:lstStyle/>
            <a:p>
              <a:pPr algn="ctr"/>
              <a:r>
                <a:rPr lang="en-US" sz="820" dirty="0">
                  <a:solidFill>
                    <a:srgbClr val="F26B3A"/>
                  </a:solidFill>
                  <a:latin typeface="+mn-lt"/>
                  <a:ea typeface="+mn-ea"/>
                  <a:cs typeface="+mn-cs"/>
                </a:rPr>
                <a:t>g(x) = (x − a)(x − b)</a:t>
              </a:r>
            </a:p>
          </p:txBody>
        </p:sp>
        <p:sp>
          <p:nvSpPr>
            <p:cNvPr id="40" name="TextBox 40"/>
            <p:cNvSpPr txBox="1"/>
            <p:nvPr/>
          </p:nvSpPr>
          <p:spPr>
            <a:xfrm>
              <a:off x="7555353" y="3190399"/>
              <a:ext cx="7023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a</a:t>
              </a:r>
            </a:p>
          </p:txBody>
        </p:sp>
        <p:sp>
          <p:nvSpPr>
            <p:cNvPr id="41" name="TextBox 41"/>
            <p:cNvSpPr txBox="1"/>
            <p:nvPr/>
          </p:nvSpPr>
          <p:spPr>
            <a:xfrm>
              <a:off x="10233783" y="3190399"/>
              <a:ext cx="7023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b</a:t>
              </a:r>
            </a:p>
          </p:txBody>
        </p:sp>
        <p:sp>
          <p:nvSpPr>
            <p:cNvPr id="42" name="TextBox 42"/>
            <p:cNvSpPr txBox="1"/>
            <p:nvPr/>
          </p:nvSpPr>
          <p:spPr>
            <a:xfrm>
              <a:off x="6969519" y="3743325"/>
              <a:ext cx="150343" cy="176212"/>
            </a:xfrm>
            <a:prstGeom prst="rect">
              <a:avLst/>
            </a:prstGeom>
            <a:noFill/>
            <a:ln>
              <a:noFill/>
            </a:ln>
          </p:spPr>
          <p:txBody>
            <a:bodyPr wrap="none" lIns="0" tIns="0" rIns="0" bIns="0" anchor="t" anchorCtr="0">
              <a:spAutoFit/>
            </a:bodyPr>
            <a:lstStyle/>
            <a:p>
              <a:pPr algn="ctr"/>
              <a:r>
                <a:rPr lang="en-US" sz="900" dirty="0">
                  <a:solidFill>
                    <a:srgbClr val="0E7C86"/>
                  </a:solidFill>
                  <a:latin typeface="+mn-lt"/>
                  <a:ea typeface="+mn-ea"/>
                  <a:cs typeface="+mn-cs"/>
                </a:rPr>
                <a:t>C₁</a:t>
              </a:r>
            </a:p>
          </p:txBody>
        </p:sp>
        <p:sp>
          <p:nvSpPr>
            <p:cNvPr id="43" name="TextBox 43"/>
            <p:cNvSpPr txBox="1"/>
            <p:nvPr/>
          </p:nvSpPr>
          <p:spPr>
            <a:xfrm>
              <a:off x="8825941" y="3743325"/>
              <a:ext cx="150343" cy="176212"/>
            </a:xfrm>
            <a:prstGeom prst="rect">
              <a:avLst/>
            </a:prstGeom>
            <a:noFill/>
            <a:ln>
              <a:noFill/>
            </a:ln>
          </p:spPr>
          <p:txBody>
            <a:bodyPr wrap="none" lIns="0" tIns="0" rIns="0" bIns="0" anchor="t" anchorCtr="0">
              <a:spAutoFit/>
            </a:bodyPr>
            <a:lstStyle/>
            <a:p>
              <a:pPr algn="ctr"/>
              <a:r>
                <a:rPr lang="en-US" sz="900" dirty="0">
                  <a:solidFill>
                    <a:srgbClr val="B42318"/>
                  </a:solidFill>
                  <a:latin typeface="+mn-lt"/>
                  <a:ea typeface="+mn-ea"/>
                  <a:cs typeface="+mn-cs"/>
                </a:rPr>
                <a:t>C₂</a:t>
              </a:r>
            </a:p>
          </p:txBody>
        </p:sp>
        <p:sp>
          <p:nvSpPr>
            <p:cNvPr id="44" name="TextBox 44"/>
            <p:cNvSpPr txBox="1"/>
            <p:nvPr/>
          </p:nvSpPr>
          <p:spPr>
            <a:xfrm>
              <a:off x="10739514" y="3743325"/>
              <a:ext cx="150343" cy="176212"/>
            </a:xfrm>
            <a:prstGeom prst="rect">
              <a:avLst/>
            </a:prstGeom>
            <a:noFill/>
            <a:ln>
              <a:noFill/>
            </a:ln>
          </p:spPr>
          <p:txBody>
            <a:bodyPr wrap="none" lIns="0" tIns="0" rIns="0" bIns="0" anchor="t" anchorCtr="0">
              <a:spAutoFit/>
            </a:bodyPr>
            <a:lstStyle/>
            <a:p>
              <a:pPr algn="ctr"/>
              <a:r>
                <a:rPr lang="en-US" sz="900" dirty="0">
                  <a:solidFill>
                    <a:srgbClr val="0E7C86"/>
                  </a:solidFill>
                  <a:latin typeface="+mn-lt"/>
                  <a:ea typeface="+mn-ea"/>
                  <a:cs typeface="+mn-cs"/>
                </a:rPr>
                <a:t>C₁</a:t>
              </a:r>
            </a:p>
          </p:txBody>
        </p:sp>
        <p:sp>
          <p:nvSpPr>
            <p:cNvPr id="45" name="TextBox 45"/>
            <p:cNvSpPr txBox="1"/>
            <p:nvPr/>
          </p:nvSpPr>
          <p:spPr>
            <a:xfrm>
              <a:off x="11198789" y="3717131"/>
              <a:ext cx="70239" cy="161925"/>
            </a:xfrm>
            <a:prstGeom prst="rect">
              <a:avLst/>
            </a:prstGeom>
            <a:noFill/>
            <a:ln>
              <a:noFill/>
            </a:ln>
          </p:spPr>
          <p:txBody>
            <a:bodyPr wrap="none" lIns="0" tIns="0" rIns="0" bIns="0" anchor="t" anchorCtr="0">
              <a:spAutoFit/>
            </a:bodyPr>
            <a:lstStyle/>
            <a:p>
              <a:pPr algn="r"/>
              <a:r>
                <a:rPr lang="en-US" sz="820" dirty="0">
                  <a:solidFill>
                    <a:srgbClr val="5B6475"/>
                  </a:solidFill>
                  <a:latin typeface="+mn-lt"/>
                  <a:ea typeface="+mn-ea"/>
                  <a:cs typeface="+mn-cs"/>
                </a:rPr>
                <a:t>x</a:t>
              </a:r>
            </a:p>
          </p:txBody>
        </p:sp>
      </p:grpSp>
      <p:grpSp>
        <p:nvGrpSpPr>
          <p:cNvPr id="53" name="takeaway"/>
          <p:cNvGrpSpPr/>
          <p:nvPr/>
        </p:nvGrpSpPr>
        <p:grpSpPr>
          <a:xfrm>
            <a:off x="533400" y="5874068"/>
            <a:ext cx="11125200" cy="488632"/>
            <a:chOff x="533400" y="5874068"/>
            <a:chExt cx="11125200" cy="488632"/>
          </a:xfrm>
        </p:grpSpPr>
        <p:sp>
          <p:nvSpPr>
            <p:cNvPr id="47" name="Rectangle 47"/>
            <p:cNvSpPr/>
            <p:nvPr/>
          </p:nvSpPr>
          <p:spPr>
            <a:xfrm>
              <a:off x="533400" y="5874068"/>
              <a:ext cx="11125200" cy="488632"/>
            </a:xfrm>
            <a:prstGeom prst="roundRect">
              <a:avLst>
                <a:gd name="adj" fmla="val 23392"/>
              </a:avLst>
            </a:prstGeom>
            <a:solidFill>
              <a:srgbClr val="FDEEE7"/>
            </a:solidFill>
            <a:ln>
              <a:noFill/>
            </a:ln>
          </p:spPr>
        </p:sp>
        <p:grpSp>
          <p:nvGrpSpPr>
            <p:cNvPr id="51" name="Group 51"/>
            <p:cNvGrpSpPr/>
            <p:nvPr/>
          </p:nvGrpSpPr>
          <p:grpSpPr>
            <a:xfrm>
              <a:off x="738188" y="6017895"/>
              <a:ext cx="200026" cy="200025"/>
              <a:chOff x="738188" y="6017895"/>
              <a:chExt cx="200026" cy="200025"/>
            </a:xfrm>
          </p:grpSpPr>
          <p:sp>
            <p:nvSpPr>
              <p:cNvPr id="48" name="Freeform 48"/>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9" name="Freeform 49"/>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0" name="Freeform 50"/>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2" name="TextBox 52"/>
            <p:cNvSpPr txBox="1"/>
            <p:nvPr/>
          </p:nvSpPr>
          <p:spPr>
            <a:xfrm>
              <a:off x="1040892" y="6023610"/>
              <a:ext cx="9845688"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决策规则完全没变，变的只是判别函数的形式。下一页说明：二次判别函数其实还是“线性”的，只是线性在另一个空间里。</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非线性支持向量机：核方法</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升维：二次判别函数其实是三维空间里的平面</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0" name="c1-steps-1"/>
          <p:cNvGrpSpPr/>
          <p:nvPr/>
        </p:nvGrpSpPr>
        <p:grpSpPr>
          <a:xfrm>
            <a:off x="533400" y="1533525"/>
            <a:ext cx="3603346" cy="1596962"/>
            <a:chOff x="533400" y="1533525"/>
            <a:chExt cx="3603346" cy="1596962"/>
          </a:xfrm>
        </p:grpSpPr>
        <p:sp>
          <p:nvSpPr>
            <p:cNvPr id="7" name="Rectangle 7"/>
            <p:cNvSpPr/>
            <p:nvPr/>
          </p:nvSpPr>
          <p:spPr>
            <a:xfrm>
              <a:off x="666750" y="1676400"/>
              <a:ext cx="19050" cy="1105852"/>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0E7C86"/>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086928"/>
              <a:ext cx="285750" cy="285750"/>
            </a:xfrm>
            <a:prstGeom prst="ellipse">
              <a:avLst/>
            </a:prstGeom>
            <a:solidFill>
              <a:srgbClr val="0E7C86"/>
            </a:solidFill>
            <a:ln>
              <a:noFill/>
            </a:ln>
          </p:spPr>
        </p:sp>
        <p:sp>
          <p:nvSpPr>
            <p:cNvPr id="11" name="TextBox 11"/>
            <p:cNvSpPr txBox="1"/>
            <p:nvPr/>
          </p:nvSpPr>
          <p:spPr>
            <a:xfrm>
              <a:off x="627024" y="216074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2639378"/>
              <a:ext cx="285750" cy="285750"/>
            </a:xfrm>
            <a:prstGeom prst="ellipse">
              <a:avLst/>
            </a:prstGeom>
            <a:solidFill>
              <a:srgbClr val="0E7C86"/>
            </a:solidFill>
            <a:ln>
              <a:noFill/>
            </a:ln>
          </p:spPr>
        </p:sp>
        <p:sp>
          <p:nvSpPr>
            <p:cNvPr id="13" name="TextBox 13"/>
            <p:cNvSpPr txBox="1"/>
            <p:nvPr/>
          </p:nvSpPr>
          <p:spPr>
            <a:xfrm>
              <a:off x="627024" y="271319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TextBox 14"/>
            <p:cNvSpPr txBox="1"/>
            <p:nvPr/>
          </p:nvSpPr>
          <p:spPr>
            <a:xfrm>
              <a:off x="946023" y="1564481"/>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展开二次函数</a:t>
              </a:r>
            </a:p>
          </p:txBody>
        </p:sp>
        <p:sp>
          <p:nvSpPr>
            <p:cNvPr id="15" name="TextBox 15"/>
            <p:cNvSpPr txBox="1"/>
            <p:nvPr/>
          </p:nvSpPr>
          <p:spPr>
            <a:xfrm>
              <a:off x="947166" y="1818322"/>
              <a:ext cx="2448973"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g(x) = (x−a)(x−b) = c₀ + c₁x + c₂x²</a:t>
              </a:r>
            </a:p>
          </p:txBody>
        </p:sp>
        <p:sp>
          <p:nvSpPr>
            <p:cNvPr id="16" name="TextBox 16"/>
            <p:cNvSpPr txBox="1"/>
            <p:nvPr/>
          </p:nvSpPr>
          <p:spPr>
            <a:xfrm>
              <a:off x="946023" y="2116931"/>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造一个映射</a:t>
              </a:r>
            </a:p>
          </p:txBody>
        </p:sp>
        <p:sp>
          <p:nvSpPr>
            <p:cNvPr id="17" name="TextBox 17"/>
            <p:cNvSpPr txBox="1"/>
            <p:nvPr/>
          </p:nvSpPr>
          <p:spPr>
            <a:xfrm>
              <a:off x="947166" y="2371725"/>
              <a:ext cx="1844164"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z = φ(x) = (1, x, x²)ᵀ ∈ R³</a:t>
              </a:r>
            </a:p>
          </p:txBody>
        </p:sp>
        <p:sp>
          <p:nvSpPr>
            <p:cNvPr id="18" name="TextBox 18"/>
            <p:cNvSpPr txBox="1"/>
            <p:nvPr/>
          </p:nvSpPr>
          <p:spPr>
            <a:xfrm>
              <a:off x="946023" y="267033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看形式</a:t>
              </a:r>
            </a:p>
          </p:txBody>
        </p:sp>
        <p:sp>
          <p:nvSpPr>
            <p:cNvPr id="19" name="TextBox 19"/>
            <p:cNvSpPr txBox="1"/>
            <p:nvPr/>
          </p:nvSpPr>
          <p:spPr>
            <a:xfrm>
              <a:off x="947166" y="2925128"/>
              <a:ext cx="31895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g(x) = aᵀz = Σ aᵢzᵢ，在 Z 空间是过原点的超平面</a:t>
              </a:r>
            </a:p>
          </p:txBody>
        </p:sp>
      </p:grpSp>
      <mc:AlternateContent xmlns:mc="http://schemas.openxmlformats.org/markup-compatibility/2006">
        <mc:Choice xmlns:a14="http://schemas.microsoft.com/office/drawing/2010/main" Requires="a14">
          <p:sp>
            <p:nvSpPr>
              <p:cNvPr id="21" name="formula203"/>
              <p:cNvSpPr txBox="1">
                <a:spLocks noGrp="1"/>
              </p:cNvSpPr>
              <p:nvPr/>
            </p:nvSpPr>
            <p:spPr>
              <a:xfrm>
                <a:off x="533400" y="3291840"/>
                <a:ext cx="5410200" cy="59150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280" dirty="0">
                          <a:solidFill>
                            <a:srgbClr val="1F2937"/>
                          </a:solidFill>
                          <a:latin typeface="Cambria Math"/>
                          <a:ea typeface="Cambria Math"/>
                          <a:cs typeface="Cambria Math"/>
                        </a:rPr>
                        <m:t>z</m:t>
                      </m:r>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m>
                            <m:mPr>
                              <m:baseJc m:val="center"/>
                              <m:plcHide m:val="on"/>
                              <m:mcs>
                                <m:mc>
                                  <m:mcPr>
                                    <m:count m:val="1"/>
                                  </m:mcPr>
                                </m:mc>
                              </m:mcs>
                            </m:mPr>
                            <m:mr>
                              <m:e>
                                <m:sSub>
                                  <m:e>
                                    <m:r>
                                      <a:rPr lang="zh-CN" sz="1280" dirty="0">
                                        <a:solidFill>
                                          <a:srgbClr val="1F2937"/>
                                        </a:solidFill>
                                        <a:latin typeface="Cambria Math"/>
                                        <a:ea typeface="Cambria Math"/>
                                        <a:cs typeface="Cambria Math"/>
                                      </a:rPr>
                                      <m:t>z</m:t>
                                    </m:r>
                                  </m:e>
                                  <m:sub>
                                    <m:r>
                                      <a:rPr lang="zh-CN" sz="1280" dirty="0">
                                        <a:solidFill>
                                          <a:srgbClr val="1F2937"/>
                                        </a:solidFill>
                                        <a:latin typeface="Cambria Math"/>
                                        <a:ea typeface="Cambria Math"/>
                                        <a:cs typeface="Cambria Math"/>
                                      </a:rPr>
                                      <m:t>1</m:t>
                                    </m:r>
                                  </m:sub>
                                </m:sSub>
                              </m:e>
                            </m:mr>
                            <m:mr>
                              <m:e>
                                <m:sSub>
                                  <m:e>
                                    <m:r>
                                      <a:rPr lang="zh-CN" sz="1280" dirty="0">
                                        <a:solidFill>
                                          <a:srgbClr val="1F2937"/>
                                        </a:solidFill>
                                        <a:latin typeface="Cambria Math"/>
                                        <a:ea typeface="Cambria Math"/>
                                        <a:cs typeface="Cambria Math"/>
                                      </a:rPr>
                                      <m:t>z</m:t>
                                    </m:r>
                                  </m:e>
                                  <m:sub>
                                    <m:r>
                                      <a:rPr lang="zh-CN" sz="1280" dirty="0">
                                        <a:solidFill>
                                          <a:srgbClr val="1F2937"/>
                                        </a:solidFill>
                                        <a:latin typeface="Cambria Math"/>
                                        <a:ea typeface="Cambria Math"/>
                                        <a:cs typeface="Cambria Math"/>
                                      </a:rPr>
                                      <m:t>2</m:t>
                                    </m:r>
                                  </m:sub>
                                </m:sSub>
                              </m:e>
                            </m:mr>
                            <m:mr>
                              <m:e>
                                <m:sSub>
                                  <m:e>
                                    <m:r>
                                      <a:rPr lang="zh-CN" sz="1280" dirty="0">
                                        <a:solidFill>
                                          <a:srgbClr val="1F2937"/>
                                        </a:solidFill>
                                        <a:latin typeface="Cambria Math"/>
                                        <a:ea typeface="Cambria Math"/>
                                        <a:cs typeface="Cambria Math"/>
                                      </a:rPr>
                                      <m:t>z</m:t>
                                    </m:r>
                                  </m:e>
                                  <m:sub>
                                    <m:r>
                                      <a:rPr lang="zh-CN" sz="1280" dirty="0">
                                        <a:solidFill>
                                          <a:srgbClr val="1F2937"/>
                                        </a:solidFill>
                                        <a:latin typeface="Cambria Math"/>
                                        <a:ea typeface="Cambria Math"/>
                                        <a:cs typeface="Cambria Math"/>
                                      </a:rPr>
                                      <m:t>3</m:t>
                                    </m:r>
                                  </m:sub>
                                </m:sSub>
                              </m:e>
                            </m:mr>
                          </m:m>
                        </m:e>
                      </m:d>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m>
                            <m:mPr>
                              <m:baseJc m:val="center"/>
                              <m:plcHide m:val="on"/>
                              <m:mcs>
                                <m:mc>
                                  <m:mcPr>
                                    <m:count m:val="1"/>
                                  </m:mcPr>
                                </m:mc>
                              </m:mcs>
                            </m:mPr>
                            <m:mr>
                              <m:e>
                                <m:r>
                                  <a:rPr lang="zh-CN" sz="1280" dirty="0">
                                    <a:solidFill>
                                      <a:srgbClr val="1F2937"/>
                                    </a:solidFill>
                                    <a:latin typeface="Cambria Math"/>
                                    <a:ea typeface="Cambria Math"/>
                                    <a:cs typeface="Cambria Math"/>
                                  </a:rPr>
                                  <m:t>1</m:t>
                                </m:r>
                              </m:e>
                            </m:mr>
                            <m:mr>
                              <m:e>
                                <m:r>
                                  <a:rPr lang="zh-CN" sz="1280" dirty="0">
                                    <a:solidFill>
                                      <a:srgbClr val="1F2937"/>
                                    </a:solidFill>
                                    <a:latin typeface="Cambria Math"/>
                                    <a:ea typeface="Cambria Math"/>
                                    <a:cs typeface="Cambria Math"/>
                                  </a:rPr>
                                  <m:t>x</m:t>
                                </m:r>
                              </m:e>
                            </m:mr>
                            <m:mr>
                              <m:e>
                                <m:sSup>
                                  <m:e>
                                    <m:r>
                                      <a:rPr lang="zh-CN" sz="1280" dirty="0">
                                        <a:solidFill>
                                          <a:srgbClr val="1F2937"/>
                                        </a:solidFill>
                                        <a:latin typeface="Cambria Math"/>
                                        <a:ea typeface="Cambria Math"/>
                                        <a:cs typeface="Cambria Math"/>
                                      </a:rPr>
                                      <m:t>x</m:t>
                                    </m:r>
                                  </m:e>
                                  <m:sup>
                                    <m:r>
                                      <a:rPr lang="zh-CN" sz="1280" dirty="0">
                                        <a:solidFill>
                                          <a:srgbClr val="1F2937"/>
                                        </a:solidFill>
                                        <a:latin typeface="Cambria Math"/>
                                        <a:ea typeface="Cambria Math"/>
                                        <a:cs typeface="Cambria Math"/>
                                      </a:rPr>
                                      <m:t>2</m:t>
                                    </m:r>
                                  </m:sup>
                                </m:sSup>
                              </m:e>
                            </m:mr>
                          </m:m>
                        </m:e>
                      </m:d>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 xml:space="preserve">  </m:t>
                      </m:r>
                      <m:r>
                        <a:rPr lang="zh-CN" sz="1280" dirty="0">
                          <a:solidFill>
                            <a:srgbClr val="1F2937"/>
                          </a:solidFill>
                          <a:latin typeface="Cambria Math"/>
                          <a:ea typeface="Cambria Math"/>
                          <a:cs typeface="Cambria Math"/>
                        </a:rPr>
                        <m:t>a</m:t>
                      </m:r>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m>
                            <m:mPr>
                              <m:baseJc m:val="center"/>
                              <m:plcHide m:val="on"/>
                              <m:mcs>
                                <m:mc>
                                  <m:mcPr>
                                    <m:count m:val="1"/>
                                  </m:mcPr>
                                </m:mc>
                              </m:mcs>
                            </m:mPr>
                            <m:mr>
                              <m:e>
                                <m:sSub>
                                  <m:e>
                                    <m:r>
                                      <a:rPr lang="zh-CN" sz="1280" dirty="0">
                                        <a:solidFill>
                                          <a:srgbClr val="1F2937"/>
                                        </a:solidFill>
                                        <a:latin typeface="Cambria Math"/>
                                        <a:ea typeface="Cambria Math"/>
                                        <a:cs typeface="Cambria Math"/>
                                      </a:rPr>
                                      <m:t>a</m:t>
                                    </m:r>
                                  </m:e>
                                  <m:sub>
                                    <m:r>
                                      <a:rPr lang="zh-CN" sz="1280" dirty="0">
                                        <a:solidFill>
                                          <a:srgbClr val="1F2937"/>
                                        </a:solidFill>
                                        <a:latin typeface="Cambria Math"/>
                                        <a:ea typeface="Cambria Math"/>
                                        <a:cs typeface="Cambria Math"/>
                                      </a:rPr>
                                      <m:t>1</m:t>
                                    </m:r>
                                  </m:sub>
                                </m:sSub>
                              </m:e>
                            </m:mr>
                            <m:mr>
                              <m:e>
                                <m:sSub>
                                  <m:e>
                                    <m:r>
                                      <a:rPr lang="zh-CN" sz="1280" dirty="0">
                                        <a:solidFill>
                                          <a:srgbClr val="1F2937"/>
                                        </a:solidFill>
                                        <a:latin typeface="Cambria Math"/>
                                        <a:ea typeface="Cambria Math"/>
                                        <a:cs typeface="Cambria Math"/>
                                      </a:rPr>
                                      <m:t>a</m:t>
                                    </m:r>
                                  </m:e>
                                  <m:sub>
                                    <m:r>
                                      <a:rPr lang="zh-CN" sz="1280" dirty="0">
                                        <a:solidFill>
                                          <a:srgbClr val="1F2937"/>
                                        </a:solidFill>
                                        <a:latin typeface="Cambria Math"/>
                                        <a:ea typeface="Cambria Math"/>
                                        <a:cs typeface="Cambria Math"/>
                                      </a:rPr>
                                      <m:t>2</m:t>
                                    </m:r>
                                  </m:sub>
                                </m:sSub>
                              </m:e>
                            </m:mr>
                            <m:mr>
                              <m:e>
                                <m:sSub>
                                  <m:e>
                                    <m:r>
                                      <a:rPr lang="zh-CN" sz="1280" dirty="0">
                                        <a:solidFill>
                                          <a:srgbClr val="1F2937"/>
                                        </a:solidFill>
                                        <a:latin typeface="Cambria Math"/>
                                        <a:ea typeface="Cambria Math"/>
                                        <a:cs typeface="Cambria Math"/>
                                      </a:rPr>
                                      <m:t>a</m:t>
                                    </m:r>
                                  </m:e>
                                  <m:sub>
                                    <m:r>
                                      <a:rPr lang="zh-CN" sz="1280" dirty="0">
                                        <a:solidFill>
                                          <a:srgbClr val="1F2937"/>
                                        </a:solidFill>
                                        <a:latin typeface="Cambria Math"/>
                                        <a:ea typeface="Cambria Math"/>
                                        <a:cs typeface="Cambria Math"/>
                                      </a:rPr>
                                      <m:t>3</m:t>
                                    </m:r>
                                  </m:sub>
                                </m:sSub>
                              </m:e>
                            </m:mr>
                          </m:m>
                        </m:e>
                      </m:d>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m>
                            <m:mPr>
                              <m:baseJc m:val="center"/>
                              <m:plcHide m:val="on"/>
                              <m:mcs>
                                <m:mc>
                                  <m:mcPr>
                                    <m:count m:val="1"/>
                                  </m:mcPr>
                                </m:mc>
                              </m:mcs>
                            </m:mPr>
                            <m:mr>
                              <m:e>
                                <m:sSub>
                                  <m:e>
                                    <m:r>
                                      <a:rPr lang="zh-CN" sz="1280" dirty="0">
                                        <a:solidFill>
                                          <a:srgbClr val="1F2937"/>
                                        </a:solidFill>
                                        <a:latin typeface="Cambria Math"/>
                                        <a:ea typeface="Cambria Math"/>
                                        <a:cs typeface="Cambria Math"/>
                                      </a:rPr>
                                      <m:t>c</m:t>
                                    </m:r>
                                  </m:e>
                                  <m:sub>
                                    <m:r>
                                      <a:rPr lang="zh-CN" sz="1280" dirty="0">
                                        <a:solidFill>
                                          <a:srgbClr val="1F2937"/>
                                        </a:solidFill>
                                        <a:latin typeface="Cambria Math"/>
                                        <a:ea typeface="Cambria Math"/>
                                        <a:cs typeface="Cambria Math"/>
                                      </a:rPr>
                                      <m:t>0</m:t>
                                    </m:r>
                                  </m:sub>
                                </m:sSub>
                              </m:e>
                            </m:mr>
                            <m:mr>
                              <m:e>
                                <m:sSub>
                                  <m:e>
                                    <m:r>
                                      <a:rPr lang="zh-CN" sz="1280" dirty="0">
                                        <a:solidFill>
                                          <a:srgbClr val="1F2937"/>
                                        </a:solidFill>
                                        <a:latin typeface="Cambria Math"/>
                                        <a:ea typeface="Cambria Math"/>
                                        <a:cs typeface="Cambria Math"/>
                                      </a:rPr>
                                      <m:t>c</m:t>
                                    </m:r>
                                  </m:e>
                                  <m:sub>
                                    <m:r>
                                      <a:rPr lang="zh-CN" sz="1280" dirty="0">
                                        <a:solidFill>
                                          <a:srgbClr val="1F2937"/>
                                        </a:solidFill>
                                        <a:latin typeface="Cambria Math"/>
                                        <a:ea typeface="Cambria Math"/>
                                        <a:cs typeface="Cambria Math"/>
                                      </a:rPr>
                                      <m:t>1</m:t>
                                    </m:r>
                                  </m:sub>
                                </m:sSub>
                              </m:e>
                            </m:mr>
                            <m:mr>
                              <m:e>
                                <m:sSub>
                                  <m:e>
                                    <m:r>
                                      <a:rPr lang="zh-CN" sz="1280" dirty="0">
                                        <a:solidFill>
                                          <a:srgbClr val="1F2937"/>
                                        </a:solidFill>
                                        <a:latin typeface="Cambria Math"/>
                                        <a:ea typeface="Cambria Math"/>
                                        <a:cs typeface="Cambria Math"/>
                                      </a:rPr>
                                      <m:t>c</m:t>
                                    </m:r>
                                  </m:e>
                                  <m:sub>
                                    <m:r>
                                      <a:rPr lang="zh-CN" sz="1280" dirty="0">
                                        <a:solidFill>
                                          <a:srgbClr val="1F2937"/>
                                        </a:solidFill>
                                        <a:latin typeface="Cambria Math"/>
                                        <a:ea typeface="Cambria Math"/>
                                        <a:cs typeface="Cambria Math"/>
                                      </a:rPr>
                                      <m:t>2</m:t>
                                    </m:r>
                                  </m:sub>
                                </m:sSub>
                              </m:e>
                            </m:mr>
                          </m:m>
                        </m:e>
                      </m:d>
                    </m:oMath>
                  </m:oMathPara>
                </a14:m>
              </a:p>
            </p:txBody>
          </p:sp>
        </mc:Choice>
      </mc:AlternateContent>
      <p:grpSp>
        <p:nvGrpSpPr>
          <p:cNvPr id="28" name="c1-card-3"/>
          <p:cNvGrpSpPr/>
          <p:nvPr/>
        </p:nvGrpSpPr>
        <p:grpSpPr>
          <a:xfrm>
            <a:off x="533400" y="4047172"/>
            <a:ext cx="5410200" cy="1456372"/>
            <a:chOff x="533400" y="4047172"/>
            <a:chExt cx="5410200" cy="1456372"/>
          </a:xfrm>
        </p:grpSpPr>
        <p:sp>
          <p:nvSpPr>
            <p:cNvPr id="22" name="Rectangle 22"/>
            <p:cNvSpPr/>
            <p:nvPr/>
          </p:nvSpPr>
          <p:spPr>
            <a:xfrm>
              <a:off x="533400" y="4047172"/>
              <a:ext cx="5410200" cy="1456372"/>
            </a:xfrm>
            <a:prstGeom prst="roundRect">
              <a:avLst>
                <a:gd name="adj" fmla="val 9156"/>
              </a:avLst>
            </a:prstGeom>
            <a:solidFill>
              <a:srgbClr val="FFFFFF"/>
            </a:solidFill>
            <a:ln w="14288">
              <a:solidFill>
                <a:srgbClr val="D9DFEA"/>
              </a:solidFill>
            </a:ln>
          </p:spPr>
        </p:sp>
        <p:sp>
          <p:nvSpPr>
            <p:cNvPr id="23" name="Rectangle 23"/>
            <p:cNvSpPr/>
            <p:nvPr/>
          </p:nvSpPr>
          <p:spPr>
            <a:xfrm>
              <a:off x="542925" y="4180522"/>
              <a:ext cx="47625" cy="1189672"/>
            </a:xfrm>
            <a:prstGeom prst="roundRect">
              <a:avLst>
                <a:gd name="adj" fmla="val 50000"/>
              </a:avLst>
            </a:prstGeom>
            <a:solidFill>
              <a:srgbClr val="5B6475"/>
            </a:solidFill>
            <a:ln>
              <a:noFill/>
            </a:ln>
          </p:spPr>
        </p:sp>
        <p:sp>
          <p:nvSpPr>
            <p:cNvPr id="24" name="Rectangle 24"/>
            <p:cNvSpPr/>
            <p:nvPr/>
          </p:nvSpPr>
          <p:spPr>
            <a:xfrm>
              <a:off x="752475" y="4228148"/>
              <a:ext cx="458152" cy="238125"/>
            </a:xfrm>
            <a:prstGeom prst="roundRect">
              <a:avLst>
                <a:gd name="adj" fmla="val 50000"/>
              </a:avLst>
            </a:prstGeom>
            <a:solidFill>
              <a:srgbClr val="F4F6FB"/>
            </a:solidFill>
            <a:ln>
              <a:noFill/>
            </a:ln>
          </p:spPr>
        </p:sp>
        <p:sp>
          <p:nvSpPr>
            <p:cNvPr id="25" name="TextBox 25"/>
            <p:cNvSpPr txBox="1"/>
            <p:nvPr/>
          </p:nvSpPr>
          <p:spPr>
            <a:xfrm>
              <a:off x="845147" y="4261009"/>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26" name="TextBox 26"/>
            <p:cNvSpPr txBox="1"/>
            <p:nvPr/>
          </p:nvSpPr>
          <p:spPr>
            <a:xfrm>
              <a:off x="1318450" y="4267676"/>
              <a:ext cx="240682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原课件把映射后的向量叫成了 y</a:t>
              </a:r>
            </a:p>
          </p:txBody>
        </p:sp>
        <p:sp>
          <p:nvSpPr>
            <p:cNvPr id="27" name="TextBox 27"/>
            <p:cNvSpPr txBox="1"/>
            <p:nvPr/>
          </p:nvSpPr>
          <p:spPr>
            <a:xfrm>
              <a:off x="745998" y="4584859"/>
              <a:ext cx="473166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B 版第 50 页先写 z = φ(x)，接着又说“化成关于 </a:t>
              </a:r>
              <a:r>
                <a:rPr lang="en-US" sz="1280" b="1" dirty="0">
                  <a:solidFill>
                    <a:srgbClr val="C2410C"/>
                  </a:solidFill>
                  <a:latin typeface="+mn-lt"/>
                  <a:ea typeface="+mn-ea"/>
                  <a:cs typeface="+mn-cs"/>
                </a:rPr>
                <a:t>y</a:t>
              </a:r>
              <a:r>
                <a:rPr lang="zh-CN" sz="1280" dirty="0">
                  <a:solidFill>
                    <a:srgbClr val="1F2937"/>
                  </a:solidFill>
                  <a:latin typeface="+mn-lt"/>
                  <a:ea typeface="+mn-ea"/>
                  <a:cs typeface="+mn-cs"/>
                </a:rPr>
                <a:t xml:space="preserve"> 的线性函数”并</a:t>
              </a:r>
              <a:br/>
              <a:r>
                <a:rPr lang="zh-CN" sz="1280" dirty="0">
                  <a:solidFill>
                    <a:srgbClr val="1F2937"/>
                  </a:solidFill>
                  <a:latin typeface="+mn-lt"/>
                  <a:ea typeface="+mn-ea"/>
                  <a:cs typeface="+mn-cs"/>
                </a:rPr>
                <a:t>令 y = (z₁, z₂, z₃)ᵀ；A 版第 16 页全篇用 y。y 已是类别标签，</a:t>
              </a:r>
              <a:br/>
              <a:r>
                <a:rPr lang="zh-CN" sz="1280" dirty="0">
                  <a:solidFill>
                    <a:srgbClr val="1F2937"/>
                  </a:solidFill>
                  <a:latin typeface="+mn-lt"/>
                  <a:ea typeface="+mn-ea"/>
                  <a:cs typeface="+mn-cs"/>
                </a:rPr>
                <a:t xml:space="preserve">撞名。本讲义统一写 </a:t>
              </a:r>
              <a:r>
                <a:rPr lang="en-US" sz="1280" b="1" dirty="0">
                  <a:solidFill>
                    <a:srgbClr val="C2410C"/>
                  </a:solidFill>
                  <a:latin typeface="+mn-lt"/>
                  <a:ea typeface="+mn-ea"/>
                  <a:cs typeface="+mn-cs"/>
                </a:rPr>
                <a:t>z</a:t>
              </a:r>
              <a:r>
                <a:rPr lang="zh-CN" sz="1280" dirty="0">
                  <a:solidFill>
                    <a:srgbClr val="1F2937"/>
                  </a:solidFill>
                  <a:latin typeface="+mn-lt"/>
                  <a:ea typeface="+mn-ea"/>
                  <a:cs typeface="+mn-cs"/>
                </a:rPr>
                <a:t>。</a:t>
              </a:r>
            </a:p>
          </p:txBody>
        </p:sp>
      </p:grpSp>
      <p:grpSp>
        <p:nvGrpSpPr>
          <p:cNvPr id="58" name="c2-graph-1"/>
          <p:cNvGrpSpPr/>
          <p:nvPr/>
        </p:nvGrpSpPr>
        <p:grpSpPr>
          <a:xfrm>
            <a:off x="6660832" y="1545431"/>
            <a:ext cx="4845368" cy="2019300"/>
            <a:chOff x="6660832" y="1545431"/>
            <a:chExt cx="4845368" cy="2019300"/>
          </a:xfrm>
        </p:grpSpPr>
        <p:sp>
          <p:nvSpPr>
            <p:cNvPr id="29" name="Freeform 29"/>
            <p:cNvSpPr/>
            <p:nvPr/>
          </p:nvSpPr>
          <p:spPr>
            <a:xfrm>
              <a:off x="6689408" y="3334702"/>
              <a:ext cx="4692968" cy="9525"/>
            </a:xfrm>
            <a:custGeom>
              <a:avLst/>
              <a:gdLst/>
              <a:ahLst/>
              <a:cxnLst/>
              <a:rect l="l" t="t" r="r" b="b"/>
              <a:pathLst>
                <a:path w="4692968" h="9525">
                  <a:moveTo>
                    <a:pt x="0" y="0"/>
                  </a:moveTo>
                  <a:lnTo>
                    <a:pt x="4692968" y="0"/>
                  </a:lnTo>
                </a:path>
              </a:pathLst>
            </a:custGeom>
            <a:noFill/>
            <a:ln w="17145">
              <a:solidFill>
                <a:srgbClr val="5B6475"/>
              </a:solidFill>
            </a:ln>
          </p:spPr>
        </p:sp>
        <p:sp>
          <p:nvSpPr>
            <p:cNvPr id="30" name="Freeform 30"/>
            <p:cNvSpPr/>
            <p:nvPr/>
          </p:nvSpPr>
          <p:spPr>
            <a:xfrm>
              <a:off x="11382375" y="3287078"/>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31" name="Freeform 31"/>
            <p:cNvSpPr/>
            <p:nvPr/>
          </p:nvSpPr>
          <p:spPr>
            <a:xfrm>
              <a:off x="6957060" y="1703070"/>
              <a:ext cx="9525" cy="1692592"/>
            </a:xfrm>
            <a:custGeom>
              <a:avLst/>
              <a:gdLst/>
              <a:ahLst/>
              <a:cxnLst/>
              <a:rect l="l" t="t" r="r" b="b"/>
              <a:pathLst>
                <a:path w="9525" h="1692592">
                  <a:moveTo>
                    <a:pt x="0" y="1692592"/>
                  </a:moveTo>
                  <a:lnTo>
                    <a:pt x="0" y="0"/>
                  </a:lnTo>
                </a:path>
              </a:pathLst>
            </a:custGeom>
            <a:noFill/>
            <a:ln w="17145">
              <a:solidFill>
                <a:srgbClr val="5B6475"/>
              </a:solidFill>
            </a:ln>
          </p:spPr>
        </p:sp>
        <p:sp>
          <p:nvSpPr>
            <p:cNvPr id="32" name="Freeform 32"/>
            <p:cNvSpPr/>
            <p:nvPr/>
          </p:nvSpPr>
          <p:spPr>
            <a:xfrm>
              <a:off x="6909435" y="1607820"/>
              <a:ext cx="95250" cy="95250"/>
            </a:xfrm>
            <a:custGeom>
              <a:avLst/>
              <a:gdLst/>
              <a:ahLst/>
              <a:cxnLst/>
              <a:rect l="l" t="t" r="r" b="b"/>
              <a:pathLst>
                <a:path w="95250" h="95250">
                  <a:moveTo>
                    <a:pt x="47625" y="0"/>
                  </a:moveTo>
                  <a:lnTo>
                    <a:pt x="95250" y="95250"/>
                  </a:lnTo>
                  <a:lnTo>
                    <a:pt x="0" y="95250"/>
                  </a:lnTo>
                  <a:close/>
                </a:path>
              </a:pathLst>
            </a:custGeom>
            <a:solidFill>
              <a:srgbClr val="5B6475"/>
            </a:solidFill>
            <a:ln>
              <a:noFill/>
            </a:ln>
          </p:spPr>
        </p:sp>
        <p:sp>
          <p:nvSpPr>
            <p:cNvPr id="33" name="Freeform 33"/>
            <p:cNvSpPr/>
            <p:nvPr/>
          </p:nvSpPr>
          <p:spPr>
            <a:xfrm>
              <a:off x="6727508" y="1611630"/>
              <a:ext cx="4618673" cy="1723073"/>
            </a:xfrm>
            <a:custGeom>
              <a:avLst/>
              <a:gdLst/>
              <a:ahLst/>
              <a:cxnLst/>
              <a:rect l="l" t="t" r="r" b="b"/>
              <a:pathLst>
                <a:path w="4618673" h="1723073">
                  <a:moveTo>
                    <a:pt x="0" y="1718310"/>
                  </a:moveTo>
                  <a:lnTo>
                    <a:pt x="240030" y="1723073"/>
                  </a:lnTo>
                  <a:lnTo>
                    <a:pt x="500062" y="1716405"/>
                  </a:lnTo>
                  <a:lnTo>
                    <a:pt x="760095" y="1699260"/>
                  </a:lnTo>
                  <a:lnTo>
                    <a:pt x="1014412" y="1668780"/>
                  </a:lnTo>
                  <a:lnTo>
                    <a:pt x="1273493" y="1624965"/>
                  </a:lnTo>
                  <a:lnTo>
                    <a:pt x="1533525" y="1571625"/>
                  </a:lnTo>
                  <a:lnTo>
                    <a:pt x="1793558" y="1503998"/>
                  </a:lnTo>
                  <a:lnTo>
                    <a:pt x="2047875" y="1426845"/>
                  </a:lnTo>
                  <a:lnTo>
                    <a:pt x="2306955" y="1337310"/>
                  </a:lnTo>
                  <a:lnTo>
                    <a:pt x="2566988" y="1233488"/>
                  </a:lnTo>
                  <a:lnTo>
                    <a:pt x="2821305" y="1121092"/>
                  </a:lnTo>
                  <a:lnTo>
                    <a:pt x="3080385" y="993458"/>
                  </a:lnTo>
                  <a:lnTo>
                    <a:pt x="3340418" y="857250"/>
                  </a:lnTo>
                  <a:lnTo>
                    <a:pt x="3600450" y="705803"/>
                  </a:lnTo>
                  <a:lnTo>
                    <a:pt x="3854768" y="543878"/>
                  </a:lnTo>
                  <a:lnTo>
                    <a:pt x="4113848" y="370523"/>
                  </a:lnTo>
                  <a:lnTo>
                    <a:pt x="4373880" y="184785"/>
                  </a:lnTo>
                  <a:lnTo>
                    <a:pt x="4618673" y="0"/>
                  </a:lnTo>
                </a:path>
              </a:pathLst>
            </a:custGeom>
            <a:noFill/>
            <a:ln w="17145">
              <a:solidFill>
                <a:srgbClr val="5B6475"/>
              </a:solidFill>
            </a:ln>
          </p:spPr>
        </p:sp>
        <p:sp>
          <p:nvSpPr>
            <p:cNvPr id="34" name="Freeform 34"/>
            <p:cNvSpPr/>
            <p:nvPr/>
          </p:nvSpPr>
          <p:spPr>
            <a:xfrm>
              <a:off x="7391400" y="1950720"/>
              <a:ext cx="3951923" cy="1469708"/>
            </a:xfrm>
            <a:custGeom>
              <a:avLst/>
              <a:gdLst/>
              <a:ahLst/>
              <a:cxnLst/>
              <a:rect l="l" t="t" r="r" b="b"/>
              <a:pathLst>
                <a:path w="3951923" h="1469708">
                  <a:moveTo>
                    <a:pt x="0" y="1469708"/>
                  </a:moveTo>
                  <a:lnTo>
                    <a:pt x="3951923" y="0"/>
                  </a:lnTo>
                </a:path>
              </a:pathLst>
            </a:custGeom>
            <a:noFill/>
            <a:ln w="17145">
              <a:solidFill>
                <a:srgbClr val="F26B3A"/>
              </a:solidFill>
            </a:ln>
          </p:spPr>
        </p:sp>
        <p:sp>
          <p:nvSpPr>
            <p:cNvPr id="35" name="Ellipse 35"/>
            <p:cNvSpPr/>
            <p:nvPr/>
          </p:nvSpPr>
          <p:spPr>
            <a:xfrm>
              <a:off x="6660832" y="3325178"/>
              <a:ext cx="19050" cy="19050"/>
            </a:xfrm>
            <a:prstGeom prst="ellipse">
              <a:avLst/>
            </a:prstGeom>
            <a:solidFill>
              <a:srgbClr val="D9DFEA"/>
            </a:solidFill>
            <a:ln>
              <a:noFill/>
            </a:ln>
          </p:spPr>
        </p:sp>
        <p:sp>
          <p:nvSpPr>
            <p:cNvPr id="36" name="Ellipse 36"/>
            <p:cNvSpPr/>
            <p:nvPr/>
          </p:nvSpPr>
          <p:spPr>
            <a:xfrm>
              <a:off x="11487150" y="3325178"/>
              <a:ext cx="19050" cy="19050"/>
            </a:xfrm>
            <a:prstGeom prst="ellipse">
              <a:avLst/>
            </a:prstGeom>
            <a:solidFill>
              <a:srgbClr val="D9DFEA"/>
            </a:solidFill>
            <a:ln>
              <a:noFill/>
            </a:ln>
          </p:spPr>
        </p:sp>
        <p:sp>
          <p:nvSpPr>
            <p:cNvPr id="37" name="Ellipse 37"/>
            <p:cNvSpPr/>
            <p:nvPr/>
          </p:nvSpPr>
          <p:spPr>
            <a:xfrm>
              <a:off x="6947535" y="3405188"/>
              <a:ext cx="19050" cy="19050"/>
            </a:xfrm>
            <a:prstGeom prst="ellipse">
              <a:avLst/>
            </a:prstGeom>
            <a:solidFill>
              <a:srgbClr val="D9DFEA"/>
            </a:solidFill>
            <a:ln>
              <a:noFill/>
            </a:ln>
          </p:spPr>
        </p:sp>
        <p:sp>
          <p:nvSpPr>
            <p:cNvPr id="38" name="Ellipse 38"/>
            <p:cNvSpPr/>
            <p:nvPr/>
          </p:nvSpPr>
          <p:spPr>
            <a:xfrm>
              <a:off x="6947535" y="1579245"/>
              <a:ext cx="19050" cy="19050"/>
            </a:xfrm>
            <a:prstGeom prst="ellipse">
              <a:avLst/>
            </a:prstGeom>
            <a:solidFill>
              <a:srgbClr val="D9DFEA"/>
            </a:solidFill>
            <a:ln>
              <a:noFill/>
            </a:ln>
          </p:spPr>
        </p:sp>
        <p:sp>
          <p:nvSpPr>
            <p:cNvPr id="39" name="Ellipse 39"/>
            <p:cNvSpPr/>
            <p:nvPr/>
          </p:nvSpPr>
          <p:spPr>
            <a:xfrm>
              <a:off x="6698932" y="3320415"/>
              <a:ext cx="19050" cy="19050"/>
            </a:xfrm>
            <a:prstGeom prst="ellipse">
              <a:avLst/>
            </a:prstGeom>
            <a:solidFill>
              <a:srgbClr val="D9DFEA"/>
            </a:solidFill>
            <a:ln>
              <a:noFill/>
            </a:ln>
          </p:spPr>
        </p:sp>
        <p:sp>
          <p:nvSpPr>
            <p:cNvPr id="40" name="Ellipse 40"/>
            <p:cNvSpPr/>
            <p:nvPr/>
          </p:nvSpPr>
          <p:spPr>
            <a:xfrm>
              <a:off x="11351895" y="1589722"/>
              <a:ext cx="19050" cy="19050"/>
            </a:xfrm>
            <a:prstGeom prst="ellipse">
              <a:avLst/>
            </a:prstGeom>
            <a:solidFill>
              <a:srgbClr val="D9DFEA"/>
            </a:solidFill>
            <a:ln>
              <a:noFill/>
            </a:ln>
          </p:spPr>
        </p:sp>
        <p:sp>
          <p:nvSpPr>
            <p:cNvPr id="41" name="Ellipse 41"/>
            <p:cNvSpPr/>
            <p:nvPr/>
          </p:nvSpPr>
          <p:spPr>
            <a:xfrm>
              <a:off x="7363778" y="3417570"/>
              <a:ext cx="19050" cy="19050"/>
            </a:xfrm>
            <a:prstGeom prst="ellipse">
              <a:avLst/>
            </a:prstGeom>
            <a:solidFill>
              <a:srgbClr val="F26B3A"/>
            </a:solidFill>
            <a:ln>
              <a:noFill/>
            </a:ln>
          </p:spPr>
        </p:sp>
        <p:sp>
          <p:nvSpPr>
            <p:cNvPr id="42" name="Ellipse 42"/>
            <p:cNvSpPr/>
            <p:nvPr/>
          </p:nvSpPr>
          <p:spPr>
            <a:xfrm>
              <a:off x="11351895" y="1934528"/>
              <a:ext cx="19050" cy="19050"/>
            </a:xfrm>
            <a:prstGeom prst="ellipse">
              <a:avLst/>
            </a:prstGeom>
            <a:solidFill>
              <a:srgbClr val="F26B3A"/>
            </a:solidFill>
            <a:ln>
              <a:noFill/>
            </a:ln>
          </p:spPr>
        </p:sp>
        <p:sp>
          <p:nvSpPr>
            <p:cNvPr id="43" name="Ellipse 43"/>
            <p:cNvSpPr/>
            <p:nvPr/>
          </p:nvSpPr>
          <p:spPr>
            <a:xfrm>
              <a:off x="7138988" y="3263265"/>
              <a:ext cx="133350" cy="133350"/>
            </a:xfrm>
            <a:prstGeom prst="ellipse">
              <a:avLst/>
            </a:prstGeom>
            <a:solidFill>
              <a:srgbClr val="0E7C86"/>
            </a:solidFill>
            <a:ln>
              <a:noFill/>
            </a:ln>
          </p:spPr>
        </p:sp>
        <p:sp>
          <p:nvSpPr>
            <p:cNvPr id="44" name="Ellipse 44"/>
            <p:cNvSpPr/>
            <p:nvPr/>
          </p:nvSpPr>
          <p:spPr>
            <a:xfrm>
              <a:off x="7431405" y="3241358"/>
              <a:ext cx="133350" cy="133350"/>
            </a:xfrm>
            <a:prstGeom prst="ellipse">
              <a:avLst/>
            </a:prstGeom>
            <a:solidFill>
              <a:srgbClr val="0E7C86"/>
            </a:solidFill>
            <a:ln>
              <a:noFill/>
            </a:ln>
          </p:spPr>
        </p:sp>
        <p:sp>
          <p:nvSpPr>
            <p:cNvPr id="45" name="Ellipse 45"/>
            <p:cNvSpPr/>
            <p:nvPr/>
          </p:nvSpPr>
          <p:spPr>
            <a:xfrm>
              <a:off x="10547985" y="2071688"/>
              <a:ext cx="133350" cy="133350"/>
            </a:xfrm>
            <a:prstGeom prst="ellipse">
              <a:avLst/>
            </a:prstGeom>
            <a:solidFill>
              <a:srgbClr val="0E7C86"/>
            </a:solidFill>
            <a:ln>
              <a:noFill/>
            </a:ln>
          </p:spPr>
        </p:sp>
        <p:sp>
          <p:nvSpPr>
            <p:cNvPr id="46" name="Ellipse 46"/>
            <p:cNvSpPr/>
            <p:nvPr/>
          </p:nvSpPr>
          <p:spPr>
            <a:xfrm>
              <a:off x="10877550" y="1844040"/>
              <a:ext cx="133350" cy="133350"/>
            </a:xfrm>
            <a:prstGeom prst="ellipse">
              <a:avLst/>
            </a:prstGeom>
            <a:solidFill>
              <a:srgbClr val="0E7C86"/>
            </a:solidFill>
            <a:ln>
              <a:noFill/>
            </a:ln>
          </p:spPr>
        </p:sp>
        <p:sp>
          <p:nvSpPr>
            <p:cNvPr id="47" name="Ellipse 47"/>
            <p:cNvSpPr/>
            <p:nvPr/>
          </p:nvSpPr>
          <p:spPr>
            <a:xfrm>
              <a:off x="8221028" y="3109912"/>
              <a:ext cx="133350" cy="133350"/>
            </a:xfrm>
            <a:prstGeom prst="ellipse">
              <a:avLst/>
            </a:prstGeom>
            <a:solidFill>
              <a:srgbClr val="B42318"/>
            </a:solidFill>
            <a:ln>
              <a:noFill/>
            </a:ln>
          </p:spPr>
        </p:sp>
        <p:sp>
          <p:nvSpPr>
            <p:cNvPr id="48" name="Ellipse 48"/>
            <p:cNvSpPr/>
            <p:nvPr/>
          </p:nvSpPr>
          <p:spPr>
            <a:xfrm>
              <a:off x="8719185" y="2968942"/>
              <a:ext cx="133350" cy="133350"/>
            </a:xfrm>
            <a:prstGeom prst="ellipse">
              <a:avLst/>
            </a:prstGeom>
            <a:solidFill>
              <a:srgbClr val="B42318"/>
            </a:solidFill>
            <a:ln>
              <a:noFill/>
            </a:ln>
          </p:spPr>
        </p:sp>
        <p:sp>
          <p:nvSpPr>
            <p:cNvPr id="49" name="Ellipse 49"/>
            <p:cNvSpPr/>
            <p:nvPr/>
          </p:nvSpPr>
          <p:spPr>
            <a:xfrm>
              <a:off x="9216390" y="2783205"/>
              <a:ext cx="133350" cy="133350"/>
            </a:xfrm>
            <a:prstGeom prst="ellipse">
              <a:avLst/>
            </a:prstGeom>
            <a:solidFill>
              <a:srgbClr val="B42318"/>
            </a:solidFill>
            <a:ln>
              <a:noFill/>
            </a:ln>
          </p:spPr>
        </p:sp>
        <p:sp>
          <p:nvSpPr>
            <p:cNvPr id="50" name="Ellipse 50"/>
            <p:cNvSpPr/>
            <p:nvPr/>
          </p:nvSpPr>
          <p:spPr>
            <a:xfrm>
              <a:off x="9714548" y="2553652"/>
              <a:ext cx="133350" cy="133350"/>
            </a:xfrm>
            <a:prstGeom prst="ellipse">
              <a:avLst/>
            </a:prstGeom>
            <a:solidFill>
              <a:srgbClr val="B42318"/>
            </a:solidFill>
            <a:ln>
              <a:noFill/>
            </a:ln>
          </p:spPr>
        </p:sp>
        <p:sp>
          <p:nvSpPr>
            <p:cNvPr id="51" name="TextBox 51"/>
            <p:cNvSpPr txBox="1"/>
            <p:nvPr/>
          </p:nvSpPr>
          <p:spPr>
            <a:xfrm>
              <a:off x="7081838" y="1545431"/>
              <a:ext cx="379326" cy="161925"/>
            </a:xfrm>
            <a:prstGeom prst="rect">
              <a:avLst/>
            </a:prstGeom>
            <a:noFill/>
            <a:ln>
              <a:noFill/>
            </a:ln>
          </p:spPr>
          <p:txBody>
            <a:bodyPr wrap="none" lIns="0" tIns="0" rIns="0" bIns="0" anchor="t" anchorCtr="0">
              <a:spAutoFit/>
            </a:bodyPr>
            <a:lstStyle/>
            <a:p>
              <a:pPr algn="l"/>
              <a:r>
                <a:rPr lang="en-US" sz="820" dirty="0">
                  <a:solidFill>
                    <a:srgbClr val="5B6475"/>
                  </a:solidFill>
                  <a:latin typeface="+mn-lt"/>
                  <a:ea typeface="+mn-ea"/>
                  <a:cs typeface="+mn-cs"/>
                </a:rPr>
                <a:t>z₃ = x²</a:t>
              </a:r>
            </a:p>
          </p:txBody>
        </p:sp>
        <p:sp>
          <p:nvSpPr>
            <p:cNvPr id="52" name="TextBox 52"/>
            <p:cNvSpPr txBox="1"/>
            <p:nvPr/>
          </p:nvSpPr>
          <p:spPr>
            <a:xfrm>
              <a:off x="11182825" y="3402806"/>
              <a:ext cx="318613" cy="161925"/>
            </a:xfrm>
            <a:prstGeom prst="rect">
              <a:avLst/>
            </a:prstGeom>
            <a:noFill/>
            <a:ln>
              <a:noFill/>
            </a:ln>
          </p:spPr>
          <p:txBody>
            <a:bodyPr wrap="none" lIns="0" tIns="0" rIns="0" bIns="0" anchor="t" anchorCtr="0">
              <a:spAutoFit/>
            </a:bodyPr>
            <a:lstStyle/>
            <a:p>
              <a:pPr algn="r"/>
              <a:r>
                <a:rPr lang="en-US" sz="820" dirty="0">
                  <a:solidFill>
                    <a:srgbClr val="5B6475"/>
                  </a:solidFill>
                  <a:latin typeface="+mn-lt"/>
                  <a:ea typeface="+mn-ea"/>
                  <a:cs typeface="+mn-cs"/>
                </a:rPr>
                <a:t>z₂ = x</a:t>
              </a:r>
            </a:p>
          </p:txBody>
        </p:sp>
        <p:sp>
          <p:nvSpPr>
            <p:cNvPr id="53" name="TextBox 53"/>
            <p:cNvSpPr txBox="1"/>
            <p:nvPr/>
          </p:nvSpPr>
          <p:spPr>
            <a:xfrm>
              <a:off x="8433745" y="2451259"/>
              <a:ext cx="1174123" cy="161925"/>
            </a:xfrm>
            <a:prstGeom prst="rect">
              <a:avLst/>
            </a:prstGeom>
            <a:noFill/>
            <a:ln>
              <a:noFill/>
            </a:ln>
          </p:spPr>
          <p:txBody>
            <a:bodyPr wrap="none" lIns="0" tIns="0" rIns="0" bIns="0" anchor="t" anchorCtr="0">
              <a:spAutoFit/>
            </a:bodyPr>
            <a:lstStyle/>
            <a:p>
              <a:pPr algn="r"/>
              <a:r>
                <a:rPr lang="zh-CN" sz="820" dirty="0">
                  <a:solidFill>
                    <a:srgbClr val="F26B3A"/>
                  </a:solidFill>
                  <a:latin typeface="+mn-lt"/>
                  <a:ea typeface="+mn-ea"/>
                  <a:cs typeface="+mn-cs"/>
                </a:rPr>
                <a:t>aᵀz = 0 即 z₃ = 5z₂ − 4</a:t>
              </a:r>
            </a:p>
          </p:txBody>
        </p:sp>
        <p:sp>
          <p:nvSpPr>
            <p:cNvPr id="54" name="TextBox 54"/>
            <p:cNvSpPr txBox="1"/>
            <p:nvPr/>
          </p:nvSpPr>
          <p:spPr>
            <a:xfrm>
              <a:off x="10001669" y="3078956"/>
              <a:ext cx="1499768" cy="161925"/>
            </a:xfrm>
            <a:prstGeom prst="rect">
              <a:avLst/>
            </a:prstGeom>
            <a:noFill/>
            <a:ln>
              <a:noFill/>
            </a:ln>
          </p:spPr>
          <p:txBody>
            <a:bodyPr wrap="none" lIns="0" tIns="0" rIns="0" bIns="0" anchor="t" anchorCtr="0">
              <a:spAutoFit/>
            </a:bodyPr>
            <a:lstStyle/>
            <a:p>
              <a:pPr algn="r"/>
              <a:r>
                <a:rPr lang="zh-CN" sz="820" dirty="0">
                  <a:solidFill>
                    <a:srgbClr val="5B6475"/>
                  </a:solidFill>
                  <a:latin typeface="+mn-lt"/>
                  <a:ea typeface="+mn-ea"/>
                  <a:cs typeface="+mn-cs"/>
                </a:rPr>
                <a:t>样本都落在抛物线 z₃ = z₂² 上</a:t>
              </a:r>
            </a:p>
          </p:txBody>
        </p:sp>
        <p:sp>
          <p:nvSpPr>
            <p:cNvPr id="55" name="TextBox 55"/>
            <p:cNvSpPr txBox="1"/>
            <p:nvPr/>
          </p:nvSpPr>
          <p:spPr>
            <a:xfrm>
              <a:off x="10227280" y="1824514"/>
              <a:ext cx="137825" cy="161925"/>
            </a:xfrm>
            <a:prstGeom prst="rect">
              <a:avLst/>
            </a:prstGeom>
            <a:noFill/>
            <a:ln>
              <a:noFill/>
            </a:ln>
          </p:spPr>
          <p:txBody>
            <a:bodyPr wrap="none" lIns="0" tIns="0" rIns="0" bIns="0" anchor="t" anchorCtr="0">
              <a:spAutoFit/>
            </a:bodyPr>
            <a:lstStyle/>
            <a:p>
              <a:pPr algn="r"/>
              <a:r>
                <a:rPr lang="en-US" sz="820" dirty="0">
                  <a:solidFill>
                    <a:srgbClr val="0E7C86"/>
                  </a:solidFill>
                  <a:latin typeface="+mn-lt"/>
                  <a:ea typeface="+mn-ea"/>
                  <a:cs typeface="+mn-cs"/>
                </a:rPr>
                <a:t>C₁</a:t>
              </a:r>
            </a:p>
          </p:txBody>
        </p:sp>
        <p:sp>
          <p:nvSpPr>
            <p:cNvPr id="56" name="TextBox 56"/>
            <p:cNvSpPr txBox="1"/>
            <p:nvPr/>
          </p:nvSpPr>
          <p:spPr>
            <a:xfrm>
              <a:off x="7261527" y="3057049"/>
              <a:ext cx="137825" cy="161925"/>
            </a:xfrm>
            <a:prstGeom prst="rect">
              <a:avLst/>
            </a:prstGeom>
            <a:noFill/>
            <a:ln>
              <a:noFill/>
            </a:ln>
          </p:spPr>
          <p:txBody>
            <a:bodyPr wrap="none" lIns="0" tIns="0" rIns="0" bIns="0" anchor="t" anchorCtr="0">
              <a:spAutoFit/>
            </a:bodyPr>
            <a:lstStyle/>
            <a:p>
              <a:pPr algn="ctr"/>
              <a:r>
                <a:rPr lang="en-US" sz="820" dirty="0">
                  <a:solidFill>
                    <a:srgbClr val="0E7C86"/>
                  </a:solidFill>
                  <a:latin typeface="+mn-lt"/>
                  <a:ea typeface="+mn-ea"/>
                  <a:cs typeface="+mn-cs"/>
                </a:rPr>
                <a:t>C₁</a:t>
              </a:r>
            </a:p>
          </p:txBody>
        </p:sp>
        <p:sp>
          <p:nvSpPr>
            <p:cNvPr id="57" name="TextBox 57"/>
            <p:cNvSpPr txBox="1"/>
            <p:nvPr/>
          </p:nvSpPr>
          <p:spPr>
            <a:xfrm>
              <a:off x="9155097" y="2970371"/>
              <a:ext cx="137825" cy="161925"/>
            </a:xfrm>
            <a:prstGeom prst="rect">
              <a:avLst/>
            </a:prstGeom>
            <a:noFill/>
            <a:ln>
              <a:noFill/>
            </a:ln>
          </p:spPr>
          <p:txBody>
            <a:bodyPr wrap="none" lIns="0" tIns="0" rIns="0" bIns="0" anchor="t" anchorCtr="0">
              <a:spAutoFit/>
            </a:bodyPr>
            <a:lstStyle/>
            <a:p>
              <a:pPr algn="ctr"/>
              <a:r>
                <a:rPr lang="en-US" sz="820" dirty="0">
                  <a:solidFill>
                    <a:srgbClr val="B42318"/>
                  </a:solidFill>
                  <a:latin typeface="+mn-lt"/>
                  <a:ea typeface="+mn-ea"/>
                  <a:cs typeface="+mn-cs"/>
                </a:rPr>
                <a:t>C₂</a:t>
              </a:r>
            </a:p>
          </p:txBody>
        </p:sp>
      </p:grpSp>
      <p:grpSp>
        <p:nvGrpSpPr>
          <p:cNvPr id="60" name="c2-text-2"/>
          <p:cNvGrpSpPr/>
          <p:nvPr/>
        </p:nvGrpSpPr>
        <p:grpSpPr>
          <a:xfrm>
            <a:off x="6243066" y="3869055"/>
            <a:ext cx="4957953" cy="205359"/>
            <a:chOff x="6243066" y="3869055"/>
            <a:chExt cx="4957953" cy="205359"/>
          </a:xfrm>
        </p:grpSpPr>
        <p:sp>
          <p:nvSpPr>
            <p:cNvPr id="59" name="TextBox 59"/>
            <p:cNvSpPr txBox="1"/>
            <p:nvPr/>
          </p:nvSpPr>
          <p:spPr>
            <a:xfrm>
              <a:off x="6243066" y="3869055"/>
              <a:ext cx="495795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取 a = 1、b = 4（第 34 页那组点），a = (4, −5, 1)ᵀ。逐点代入 aᵀz 看符号：</a:t>
              </a:r>
            </a:p>
          </p:txBody>
        </p:sp>
      </p:grpSp>
      <p:grpSp>
        <p:nvGrpSpPr>
          <p:cNvPr id="85" name="c2-table-3"/>
          <p:cNvGrpSpPr/>
          <p:nvPr/>
        </p:nvGrpSpPr>
        <p:grpSpPr>
          <a:xfrm>
            <a:off x="6248400" y="4197668"/>
            <a:ext cx="5410200" cy="1525905"/>
            <a:chOff x="6248400" y="4197668"/>
            <a:chExt cx="5410200" cy="1525905"/>
          </a:xfrm>
        </p:grpSpPr>
        <p:sp>
          <p:nvSpPr>
            <p:cNvPr id="61" name="Rectangle 61"/>
            <p:cNvSpPr/>
            <p:nvPr/>
          </p:nvSpPr>
          <p:spPr>
            <a:xfrm>
              <a:off x="6248400" y="4197668"/>
              <a:ext cx="5410200" cy="381000"/>
            </a:xfrm>
            <a:prstGeom prst="rect">
              <a:avLst/>
            </a:prstGeom>
            <a:solidFill>
              <a:srgbClr val="0E7C86"/>
            </a:solidFill>
            <a:ln>
              <a:noFill/>
            </a:ln>
          </p:spPr>
        </p:sp>
        <p:sp>
          <p:nvSpPr>
            <p:cNvPr id="62" name="TextBox 62"/>
            <p:cNvSpPr txBox="1"/>
            <p:nvPr/>
          </p:nvSpPr>
          <p:spPr>
            <a:xfrm>
              <a:off x="6581346" y="4314825"/>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x</a:t>
              </a:r>
            </a:p>
          </p:txBody>
        </p:sp>
        <p:sp>
          <p:nvSpPr>
            <p:cNvPr id="63" name="TextBox 63"/>
            <p:cNvSpPr txBox="1"/>
            <p:nvPr/>
          </p:nvSpPr>
          <p:spPr>
            <a:xfrm>
              <a:off x="7382401" y="4314825"/>
              <a:ext cx="1086702"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z = (1, x, x²)ᵀ</a:t>
              </a:r>
            </a:p>
          </p:txBody>
        </p:sp>
        <p:sp>
          <p:nvSpPr>
            <p:cNvPr id="64" name="TextBox 64"/>
            <p:cNvSpPr txBox="1"/>
            <p:nvPr/>
          </p:nvSpPr>
          <p:spPr>
            <a:xfrm>
              <a:off x="9177153" y="4314825"/>
              <a:ext cx="1175754"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aᵀz = 4 − 5x + x²</a:t>
              </a:r>
            </a:p>
          </p:txBody>
        </p:sp>
        <p:sp>
          <p:nvSpPr>
            <p:cNvPr id="65" name="TextBox 65"/>
            <p:cNvSpPr txBox="1"/>
            <p:nvPr/>
          </p:nvSpPr>
          <p:spPr>
            <a:xfrm>
              <a:off x="11025188" y="4314825"/>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判为</a:t>
              </a:r>
            </a:p>
          </p:txBody>
        </p:sp>
        <p:sp>
          <p:nvSpPr>
            <p:cNvPr id="66" name="TextBox 66"/>
            <p:cNvSpPr txBox="1"/>
            <p:nvPr/>
          </p:nvSpPr>
          <p:spPr>
            <a:xfrm>
              <a:off x="6499716" y="4696778"/>
              <a:ext cx="255559"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0.3</a:t>
              </a:r>
            </a:p>
          </p:txBody>
        </p:sp>
        <p:sp>
          <p:nvSpPr>
            <p:cNvPr id="67" name="TextBox 67"/>
            <p:cNvSpPr txBox="1"/>
            <p:nvPr/>
          </p:nvSpPr>
          <p:spPr>
            <a:xfrm>
              <a:off x="7411555" y="4696778"/>
              <a:ext cx="1028395"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(1, 0.3, 0.09)</a:t>
              </a:r>
            </a:p>
          </p:txBody>
        </p:sp>
        <p:sp>
          <p:nvSpPr>
            <p:cNvPr id="68" name="TextBox 68"/>
            <p:cNvSpPr txBox="1"/>
            <p:nvPr/>
          </p:nvSpPr>
          <p:spPr>
            <a:xfrm>
              <a:off x="9565338" y="4696778"/>
              <a:ext cx="399383"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+2.59</a:t>
              </a:r>
            </a:p>
          </p:txBody>
        </p:sp>
        <p:sp>
          <p:nvSpPr>
            <p:cNvPr id="69" name="TextBox 69"/>
            <p:cNvSpPr txBox="1"/>
            <p:nvPr/>
          </p:nvSpPr>
          <p:spPr>
            <a:xfrm>
              <a:off x="11084395" y="4696778"/>
              <a:ext cx="174955"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C₁</a:t>
              </a:r>
            </a:p>
          </p:txBody>
        </p:sp>
        <p:sp>
          <p:nvSpPr>
            <p:cNvPr id="70" name="Rectangle 70"/>
            <p:cNvSpPr/>
            <p:nvPr/>
          </p:nvSpPr>
          <p:spPr>
            <a:xfrm>
              <a:off x="6248400" y="4955858"/>
              <a:ext cx="5410200" cy="9525"/>
            </a:xfrm>
            <a:prstGeom prst="rect">
              <a:avLst/>
            </a:prstGeom>
            <a:solidFill>
              <a:srgbClr val="D9DFEA"/>
            </a:solidFill>
            <a:ln>
              <a:noFill/>
            </a:ln>
          </p:spPr>
        </p:sp>
        <p:sp>
          <p:nvSpPr>
            <p:cNvPr id="71" name="Rectangle 71"/>
            <p:cNvSpPr/>
            <p:nvPr/>
          </p:nvSpPr>
          <p:spPr>
            <a:xfrm>
              <a:off x="6248400" y="4960620"/>
              <a:ext cx="5410200" cy="381000"/>
            </a:xfrm>
            <a:prstGeom prst="rect">
              <a:avLst/>
            </a:prstGeom>
            <a:solidFill>
              <a:srgbClr val="F4F6FB"/>
            </a:solidFill>
            <a:ln>
              <a:noFill/>
            </a:ln>
          </p:spPr>
        </p:sp>
        <p:sp>
          <p:nvSpPr>
            <p:cNvPr id="72" name="TextBox 72"/>
            <p:cNvSpPr txBox="1"/>
            <p:nvPr/>
          </p:nvSpPr>
          <p:spPr>
            <a:xfrm>
              <a:off x="6499716" y="5077778"/>
              <a:ext cx="255559"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2.2</a:t>
              </a:r>
            </a:p>
          </p:txBody>
        </p:sp>
        <p:sp>
          <p:nvSpPr>
            <p:cNvPr id="73" name="TextBox 73"/>
            <p:cNvSpPr txBox="1"/>
            <p:nvPr/>
          </p:nvSpPr>
          <p:spPr>
            <a:xfrm>
              <a:off x="7411555" y="5077778"/>
              <a:ext cx="1028395"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(1, 2.2, 4.84)</a:t>
              </a:r>
            </a:p>
          </p:txBody>
        </p:sp>
        <p:sp>
          <p:nvSpPr>
            <p:cNvPr id="74" name="TextBox 74"/>
            <p:cNvSpPr txBox="1"/>
            <p:nvPr/>
          </p:nvSpPr>
          <p:spPr>
            <a:xfrm>
              <a:off x="9565338" y="5077778"/>
              <a:ext cx="399383"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−2.16</a:t>
              </a:r>
            </a:p>
          </p:txBody>
        </p:sp>
        <p:sp>
          <p:nvSpPr>
            <p:cNvPr id="75" name="TextBox 75"/>
            <p:cNvSpPr txBox="1"/>
            <p:nvPr/>
          </p:nvSpPr>
          <p:spPr>
            <a:xfrm>
              <a:off x="11084395" y="5077778"/>
              <a:ext cx="174955"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C₂</a:t>
              </a:r>
            </a:p>
          </p:txBody>
        </p:sp>
        <p:sp>
          <p:nvSpPr>
            <p:cNvPr id="76" name="Rectangle 76"/>
            <p:cNvSpPr/>
            <p:nvPr/>
          </p:nvSpPr>
          <p:spPr>
            <a:xfrm>
              <a:off x="6248400" y="5336858"/>
              <a:ext cx="5410200" cy="9525"/>
            </a:xfrm>
            <a:prstGeom prst="rect">
              <a:avLst/>
            </a:prstGeom>
            <a:solidFill>
              <a:srgbClr val="D9DFEA"/>
            </a:solidFill>
            <a:ln>
              <a:noFill/>
            </a:ln>
          </p:spPr>
        </p:sp>
        <p:sp>
          <p:nvSpPr>
            <p:cNvPr id="77" name="TextBox 77"/>
            <p:cNvSpPr txBox="1"/>
            <p:nvPr/>
          </p:nvSpPr>
          <p:spPr>
            <a:xfrm>
              <a:off x="6499716" y="5459730"/>
              <a:ext cx="255559"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4.4</a:t>
              </a:r>
            </a:p>
          </p:txBody>
        </p:sp>
        <p:sp>
          <p:nvSpPr>
            <p:cNvPr id="78" name="TextBox 78"/>
            <p:cNvSpPr txBox="1"/>
            <p:nvPr/>
          </p:nvSpPr>
          <p:spPr>
            <a:xfrm>
              <a:off x="7372683" y="5459730"/>
              <a:ext cx="1106138"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(1, 4.4, 19.36)</a:t>
              </a:r>
            </a:p>
          </p:txBody>
        </p:sp>
        <p:sp>
          <p:nvSpPr>
            <p:cNvPr id="79" name="TextBox 79"/>
            <p:cNvSpPr txBox="1"/>
            <p:nvPr/>
          </p:nvSpPr>
          <p:spPr>
            <a:xfrm>
              <a:off x="9565338" y="5459730"/>
              <a:ext cx="399383"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+1.36</a:t>
              </a:r>
            </a:p>
          </p:txBody>
        </p:sp>
        <p:sp>
          <p:nvSpPr>
            <p:cNvPr id="80" name="TextBox 80"/>
            <p:cNvSpPr txBox="1"/>
            <p:nvPr/>
          </p:nvSpPr>
          <p:spPr>
            <a:xfrm>
              <a:off x="11084395" y="5459730"/>
              <a:ext cx="174955"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C₁</a:t>
              </a:r>
            </a:p>
          </p:txBody>
        </p:sp>
        <p:sp>
          <p:nvSpPr>
            <p:cNvPr id="81" name="Rectangle 81"/>
            <p:cNvSpPr/>
            <p:nvPr/>
          </p:nvSpPr>
          <p:spPr>
            <a:xfrm>
              <a:off x="6248400" y="4197668"/>
              <a:ext cx="5410200" cy="1525905"/>
            </a:xfrm>
            <a:prstGeom prst="rect">
              <a:avLst/>
            </a:prstGeom>
            <a:noFill/>
            <a:ln w="14288">
              <a:solidFill>
                <a:srgbClr val="D9DFEA"/>
              </a:solidFill>
            </a:ln>
          </p:spPr>
        </p:sp>
        <p:sp>
          <p:nvSpPr>
            <p:cNvPr id="82" name="Rectangle 82"/>
            <p:cNvSpPr/>
            <p:nvPr/>
          </p:nvSpPr>
          <p:spPr>
            <a:xfrm>
              <a:off x="7000875" y="4197668"/>
              <a:ext cx="9525" cy="1525905"/>
            </a:xfrm>
            <a:prstGeom prst="rect">
              <a:avLst/>
            </a:prstGeom>
            <a:solidFill>
              <a:srgbClr val="D9DFEA"/>
            </a:solidFill>
            <a:ln>
              <a:noFill/>
            </a:ln>
          </p:spPr>
        </p:sp>
        <p:sp>
          <p:nvSpPr>
            <p:cNvPr id="83" name="Rectangle 83"/>
            <p:cNvSpPr/>
            <p:nvPr/>
          </p:nvSpPr>
          <p:spPr>
            <a:xfrm>
              <a:off x="8840152" y="4197668"/>
              <a:ext cx="9525" cy="1525905"/>
            </a:xfrm>
            <a:prstGeom prst="rect">
              <a:avLst/>
            </a:prstGeom>
            <a:solidFill>
              <a:srgbClr val="D9DFEA"/>
            </a:solidFill>
            <a:ln>
              <a:noFill/>
            </a:ln>
          </p:spPr>
        </p:sp>
        <p:sp>
          <p:nvSpPr>
            <p:cNvPr id="84" name="Rectangle 84"/>
            <p:cNvSpPr/>
            <p:nvPr/>
          </p:nvSpPr>
          <p:spPr>
            <a:xfrm>
              <a:off x="10680382" y="4197668"/>
              <a:ext cx="9525" cy="1525905"/>
            </a:xfrm>
            <a:prstGeom prst="rect">
              <a:avLst/>
            </a:prstGeom>
            <a:solidFill>
              <a:srgbClr val="D9DFEA"/>
            </a:solidFill>
            <a:ln>
              <a:noFill/>
            </a:ln>
          </p:spPr>
        </p:sp>
      </p:grpSp>
      <p:grpSp>
        <p:nvGrpSpPr>
          <p:cNvPr id="91" name="takeaway"/>
          <p:cNvGrpSpPr/>
          <p:nvPr/>
        </p:nvGrpSpPr>
        <p:grpSpPr>
          <a:xfrm>
            <a:off x="533400" y="5895022"/>
            <a:ext cx="11125200" cy="467678"/>
            <a:chOff x="533400" y="5895022"/>
            <a:chExt cx="11125200" cy="467678"/>
          </a:xfrm>
        </p:grpSpPr>
        <p:sp>
          <p:nvSpPr>
            <p:cNvPr id="86" name="Rectangle 86"/>
            <p:cNvSpPr/>
            <p:nvPr/>
          </p:nvSpPr>
          <p:spPr>
            <a:xfrm>
              <a:off x="533400" y="5895022"/>
              <a:ext cx="11125200" cy="467678"/>
            </a:xfrm>
            <a:prstGeom prst="roundRect">
              <a:avLst>
                <a:gd name="adj" fmla="val 24440"/>
              </a:avLst>
            </a:prstGeom>
            <a:solidFill>
              <a:srgbClr val="0E7C86"/>
            </a:solidFill>
            <a:ln>
              <a:noFill/>
            </a:ln>
          </p:spPr>
        </p:sp>
        <p:grpSp>
          <p:nvGrpSpPr>
            <p:cNvPr id="89" name="Group 89"/>
            <p:cNvGrpSpPr/>
            <p:nvPr/>
          </p:nvGrpSpPr>
          <p:grpSpPr>
            <a:xfrm>
              <a:off x="738188" y="6028375"/>
              <a:ext cx="200023" cy="200023"/>
              <a:chOff x="738188" y="6028375"/>
              <a:chExt cx="200023" cy="200023"/>
            </a:xfrm>
          </p:grpSpPr>
          <p:sp>
            <p:nvSpPr>
              <p:cNvPr id="87" name="Freeform 87"/>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8" name="Freeform 88"/>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90" name="TextBox 90"/>
            <p:cNvSpPr txBox="1"/>
            <p:nvPr/>
          </p:nvSpPr>
          <p:spPr>
            <a:xfrm>
              <a:off x="1041273" y="6039326"/>
              <a:ext cx="1017945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一般地，任意高次的非线性判别函数都能通过适当的变换化成广义线性判别函数。理论上，线性分类器足以解决任意复杂的分类问题。</a:t>
              </a:r>
            </a:p>
          </p:txBody>
        </p:sp>
      </p:grpSp>
      <p:grpSp>
        <p:nvGrpSpPr>
          <p:cNvPr id="94" name="footer"/>
          <p:cNvGrpSpPr/>
          <p:nvPr/>
        </p:nvGrpSpPr>
        <p:grpSpPr>
          <a:xfrm>
            <a:off x="528447" y="6581299"/>
            <a:ext cx="11135106" cy="190690"/>
            <a:chOff x="528447" y="6581299"/>
            <a:chExt cx="11135106" cy="190690"/>
          </a:xfrm>
        </p:grpSpPr>
        <p:sp>
          <p:nvSpPr>
            <p:cNvPr id="92" name="TextBox 92"/>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93" name="TextBox 9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非线性支持向量机：核方法</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升维有两个坎，核函数一次迈过去</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8" name="c1-card-1"/>
          <p:cNvGrpSpPr/>
          <p:nvPr/>
        </p:nvGrpSpPr>
        <p:grpSpPr>
          <a:xfrm>
            <a:off x="533400" y="1524000"/>
            <a:ext cx="5410200" cy="1687830"/>
            <a:chOff x="533400" y="1524000"/>
            <a:chExt cx="5410200" cy="1687830"/>
          </a:xfrm>
        </p:grpSpPr>
        <p:sp>
          <p:nvSpPr>
            <p:cNvPr id="7" name="Rectangle 7"/>
            <p:cNvSpPr/>
            <p:nvPr/>
          </p:nvSpPr>
          <p:spPr>
            <a:xfrm>
              <a:off x="533400" y="1524000"/>
              <a:ext cx="5410200" cy="1687830"/>
            </a:xfrm>
            <a:prstGeom prst="roundRect">
              <a:avLst>
                <a:gd name="adj" fmla="val 7901"/>
              </a:avLst>
            </a:prstGeom>
            <a:solidFill>
              <a:srgbClr val="FFFFFF"/>
            </a:solidFill>
            <a:ln w="14288">
              <a:solidFill>
                <a:srgbClr val="D9DFEA"/>
              </a:solidFill>
            </a:ln>
          </p:spPr>
        </p:sp>
        <p:sp>
          <p:nvSpPr>
            <p:cNvPr id="8" name="Rectangle 8"/>
            <p:cNvSpPr/>
            <p:nvPr/>
          </p:nvSpPr>
          <p:spPr>
            <a:xfrm>
              <a:off x="542925" y="1657350"/>
              <a:ext cx="47625" cy="1421130"/>
            </a:xfrm>
            <a:prstGeom prst="roundRect">
              <a:avLst>
                <a:gd name="adj" fmla="val 50000"/>
              </a:avLst>
            </a:prstGeom>
            <a:solidFill>
              <a:srgbClr val="B42318"/>
            </a:solidFill>
            <a:ln>
              <a:noFill/>
            </a:ln>
          </p:spPr>
        </p:sp>
        <p:sp>
          <p:nvSpPr>
            <p:cNvPr id="9" name="Rectangle 9"/>
            <p:cNvSpPr/>
            <p:nvPr/>
          </p:nvSpPr>
          <p:spPr>
            <a:xfrm>
              <a:off x="752475" y="1704975"/>
              <a:ext cx="458152" cy="238125"/>
            </a:xfrm>
            <a:prstGeom prst="roundRect">
              <a:avLst>
                <a:gd name="adj" fmla="val 50000"/>
              </a:avLst>
            </a:prstGeom>
            <a:solidFill>
              <a:srgbClr val="FDECEA"/>
            </a:solidFill>
            <a:ln>
              <a:noFill/>
            </a:ln>
          </p:spPr>
        </p:sp>
        <p:sp>
          <p:nvSpPr>
            <p:cNvPr id="10" name="TextBox 10"/>
            <p:cNvSpPr txBox="1"/>
            <p:nvPr/>
          </p:nvSpPr>
          <p:spPr>
            <a:xfrm>
              <a:off x="845147" y="1737836"/>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困难</a:t>
              </a:r>
            </a:p>
          </p:txBody>
        </p:sp>
        <p:sp>
          <p:nvSpPr>
            <p:cNvPr id="11" name="TextBox 11"/>
            <p:cNvSpPr txBox="1"/>
            <p:nvPr/>
          </p:nvSpPr>
          <p:spPr>
            <a:xfrm>
              <a:off x="1318450" y="1744504"/>
              <a:ext cx="208071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广义线性分类器不好直接用</a:t>
              </a:r>
            </a:p>
          </p:txBody>
        </p:sp>
        <p:sp>
          <p:nvSpPr>
            <p:cNvPr id="12" name="Ellipse 12"/>
            <p:cNvSpPr/>
            <p:nvPr/>
          </p:nvSpPr>
          <p:spPr>
            <a:xfrm>
              <a:off x="752475" y="2049780"/>
              <a:ext cx="180975" cy="180975"/>
            </a:xfrm>
            <a:prstGeom prst="ellipse">
              <a:avLst/>
            </a:prstGeom>
            <a:solidFill>
              <a:srgbClr val="0E7C86"/>
            </a:solidFill>
            <a:ln>
              <a:noFill/>
            </a:ln>
          </p:spPr>
        </p:sp>
        <p:sp>
          <p:nvSpPr>
            <p:cNvPr id="13" name="TextBox 13"/>
            <p:cNvSpPr txBox="1"/>
            <p:nvPr/>
          </p:nvSpPr>
          <p:spPr>
            <a:xfrm>
              <a:off x="804382" y="208540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14" name="TextBox 14"/>
            <p:cNvSpPr txBox="1"/>
            <p:nvPr/>
          </p:nvSpPr>
          <p:spPr>
            <a:xfrm>
              <a:off x="1022223" y="2061686"/>
              <a:ext cx="4411421"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C2410C"/>
                  </a:solidFill>
                  <a:latin typeface="+mn-lt"/>
                  <a:ea typeface="+mn-ea"/>
                  <a:cs typeface="+mn-cs"/>
                </a:rPr>
                <a:t>映射函数 φ 难找</a:t>
              </a:r>
              <a:r>
                <a:rPr lang="zh-CN" sz="1280" dirty="0">
                  <a:solidFill>
                    <a:srgbClr val="1F2937"/>
                  </a:solidFill>
                  <a:latin typeface="+mn-lt"/>
                  <a:ea typeface="+mn-ea"/>
                  <a:cs typeface="+mn-cs"/>
                </a:rPr>
                <a:t>：不同数据要配不同的 φ，往往不知道该用哪</a:t>
              </a:r>
              <a:br/>
              <a:r>
                <a:rPr lang="zh-CN" sz="1280" dirty="0">
                  <a:solidFill>
                    <a:srgbClr val="1F2937"/>
                  </a:solidFill>
                  <a:latin typeface="+mn-lt"/>
                  <a:ea typeface="+mn-ea"/>
                  <a:cs typeface="+mn-cs"/>
                </a:rPr>
                <a:t>个</a:t>
              </a:r>
            </a:p>
          </p:txBody>
        </p:sp>
        <p:sp>
          <p:nvSpPr>
            <p:cNvPr id="15" name="Ellipse 15"/>
            <p:cNvSpPr/>
            <p:nvPr/>
          </p:nvSpPr>
          <p:spPr>
            <a:xfrm>
              <a:off x="752475" y="2578418"/>
              <a:ext cx="180975" cy="180975"/>
            </a:xfrm>
            <a:prstGeom prst="ellipse">
              <a:avLst/>
            </a:prstGeom>
            <a:solidFill>
              <a:srgbClr val="0E7C86"/>
            </a:solidFill>
            <a:ln>
              <a:noFill/>
            </a:ln>
          </p:spPr>
        </p:sp>
        <p:sp>
          <p:nvSpPr>
            <p:cNvPr id="16" name="TextBox 16"/>
            <p:cNvSpPr txBox="1"/>
            <p:nvPr/>
          </p:nvSpPr>
          <p:spPr>
            <a:xfrm>
              <a:off x="804382" y="261308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17" name="TextBox 17"/>
            <p:cNvSpPr txBox="1"/>
            <p:nvPr/>
          </p:nvSpPr>
          <p:spPr>
            <a:xfrm>
              <a:off x="1022223" y="2589371"/>
              <a:ext cx="4410202"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C2410C"/>
                  </a:solidFill>
                  <a:latin typeface="+mn-lt"/>
                  <a:ea typeface="+mn-ea"/>
                  <a:cs typeface="+mn-cs"/>
                </a:rPr>
                <a:t>维数灾难</a:t>
              </a:r>
              <a:r>
                <a:rPr lang="zh-CN" sz="1280" dirty="0">
                  <a:solidFill>
                    <a:srgbClr val="1F2937"/>
                  </a:solidFill>
                  <a:latin typeface="+mn-lt"/>
                  <a:ea typeface="+mn-ea"/>
                  <a:cs typeface="+mn-cs"/>
                </a:rPr>
                <a:t>：n = 100 时二次映射维数 5050，三次 171 700，高</a:t>
              </a:r>
              <a:br/>
              <a:r>
                <a:rPr lang="zh-CN" sz="1280" dirty="0">
                  <a:solidFill>
                    <a:srgbClr val="1F2937"/>
                  </a:solidFill>
                  <a:latin typeface="+mn-lt"/>
                  <a:ea typeface="+mn-ea"/>
                  <a:cs typeface="+mn-cs"/>
                </a:rPr>
                <a:t>斯映射更是无穷维</a:t>
              </a:r>
            </a:p>
          </p:txBody>
        </p:sp>
      </p:grpSp>
      <p:grpSp>
        <p:nvGrpSpPr>
          <p:cNvPr id="25" name="c1-card-2"/>
          <p:cNvGrpSpPr/>
          <p:nvPr/>
        </p:nvGrpSpPr>
        <p:grpSpPr>
          <a:xfrm>
            <a:off x="533400" y="3376612"/>
            <a:ext cx="5410200" cy="2274570"/>
            <a:chOff x="533400" y="3376612"/>
            <a:chExt cx="5410200" cy="2274570"/>
          </a:xfrm>
        </p:grpSpPr>
        <p:sp>
          <p:nvSpPr>
            <p:cNvPr id="19" name="Rectangle 19"/>
            <p:cNvSpPr/>
            <p:nvPr/>
          </p:nvSpPr>
          <p:spPr>
            <a:xfrm>
              <a:off x="533400" y="3376612"/>
              <a:ext cx="5410200" cy="2274570"/>
            </a:xfrm>
            <a:prstGeom prst="roundRect">
              <a:avLst>
                <a:gd name="adj" fmla="val 5863"/>
              </a:avLst>
            </a:prstGeom>
            <a:solidFill>
              <a:srgbClr val="0E7C86"/>
            </a:solidFill>
            <a:ln>
              <a:noFill/>
            </a:ln>
          </p:spPr>
        </p:sp>
        <p:sp>
          <p:nvSpPr>
            <p:cNvPr id="20" name="Rectangle 20"/>
            <p:cNvSpPr/>
            <p:nvPr/>
          </p:nvSpPr>
          <p:spPr>
            <a:xfrm>
              <a:off x="714375" y="3557588"/>
              <a:ext cx="831532" cy="238125"/>
            </a:xfrm>
            <a:prstGeom prst="roundRect">
              <a:avLst>
                <a:gd name="adj" fmla="val 50000"/>
              </a:avLst>
            </a:prstGeom>
            <a:solidFill>
              <a:srgbClr val="0B5F67"/>
            </a:solidFill>
            <a:ln>
              <a:noFill/>
            </a:ln>
          </p:spPr>
        </p:sp>
        <p:sp>
          <p:nvSpPr>
            <p:cNvPr id="21" name="TextBox 21"/>
            <p:cNvSpPr txBox="1"/>
            <p:nvPr/>
          </p:nvSpPr>
          <p:spPr>
            <a:xfrm>
              <a:off x="795846" y="3590449"/>
              <a:ext cx="66954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观察与对策</a:t>
              </a:r>
            </a:p>
          </p:txBody>
        </p:sp>
        <p:sp>
          <p:nvSpPr>
            <p:cNvPr id="22" name="TextBox 22"/>
            <p:cNvSpPr txBox="1"/>
            <p:nvPr/>
          </p:nvSpPr>
          <p:spPr>
            <a:xfrm>
              <a:off x="1653730" y="3598069"/>
              <a:ext cx="1545253"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φ 只以成对内积出现</a:t>
              </a:r>
            </a:p>
          </p:txBody>
        </p:sp>
        <p:sp>
          <p:nvSpPr>
            <p:cNvPr id="23" name="TextBox 23"/>
            <p:cNvSpPr txBox="1"/>
            <p:nvPr/>
          </p:nvSpPr>
          <p:spPr>
            <a:xfrm>
              <a:off x="707898" y="3914299"/>
              <a:ext cx="4304538"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第 22 页的对偶目标换到特征空间后是 ΣΣ αᵢαⱼyᵢyⱼ φ(xᵢ)·</a:t>
              </a:r>
              <a:br/>
              <a:r>
                <a:rPr lang="zh-CN" sz="1280" dirty="0">
                  <a:solidFill>
                    <a:srgbClr val="FFFFFF"/>
                  </a:solidFill>
                  <a:latin typeface="+mn-lt"/>
                  <a:ea typeface="+mn-ea"/>
                  <a:cs typeface="+mn-cs"/>
                </a:rPr>
                <a:t>φ(xⱼ)，φ(xᵢ) 从不单独出现。</a:t>
              </a:r>
            </a:p>
          </p:txBody>
        </p:sp>
        <p:sp>
          <p:nvSpPr>
            <p:cNvPr id="24" name="TextBox 24"/>
            <p:cNvSpPr txBox="1"/>
            <p:nvPr/>
          </p:nvSpPr>
          <p:spPr>
            <a:xfrm>
              <a:off x="707898" y="4441984"/>
              <a:ext cx="4272026"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FFD58A"/>
                  </a:solidFill>
                  <a:latin typeface="+mn-lt"/>
                  <a:ea typeface="+mn-ea"/>
                  <a:cs typeface="+mn-cs"/>
                </a:rPr>
                <a:t>核技巧</a:t>
              </a:r>
              <a:r>
                <a:rPr lang="zh-CN" sz="1280" dirty="0">
                  <a:solidFill>
                    <a:srgbClr val="FFFFFF"/>
                  </a:solidFill>
                  <a:latin typeface="+mn-lt"/>
                  <a:ea typeface="+mn-ea"/>
                  <a:cs typeface="+mn-cs"/>
                </a:rPr>
                <a:t>：构造 K(xᵢ, xⱼ) = φ(xᵢ)·φ(xⱼ)，计算复杂度只有</a:t>
              </a:r>
              <a:br/>
              <a:r>
                <a:rPr lang="zh-CN" sz="1280" dirty="0">
                  <a:solidFill>
                    <a:srgbClr val="FFFFFF"/>
                  </a:solidFill>
                  <a:latin typeface="+mn-lt"/>
                  <a:ea typeface="+mn-ea"/>
                  <a:cs typeface="+mn-cs"/>
                </a:rPr>
                <a:t>O(n)，与特征空间维数 m 无关。</a:t>
              </a:r>
            </a:p>
          </p:txBody>
        </p:sp>
      </p:grpSp>
      <p:grpSp>
        <p:nvGrpSpPr>
          <p:cNvPr id="28" name="c2-image-1"/>
          <p:cNvGrpSpPr/>
          <p:nvPr/>
        </p:nvGrpSpPr>
        <p:grpSpPr>
          <a:xfrm>
            <a:off x="6969633" y="1524000"/>
            <a:ext cx="3967734" cy="1869471"/>
            <a:chOff x="6969633" y="1524000"/>
            <a:chExt cx="3967734" cy="1869471"/>
          </a:xfrm>
        </p:grpSpPr>
        <p:pic>
          <p:nvPicPr>
            <p:cNvPr id="26" name="Image 26"/>
            <p:cNvPicPr>
              <a:picLocks noChangeAspect="1"/>
            </p:cNvPicPr>
            <p:nvPr/>
          </p:nvPicPr>
          <p:blipFill>
            <a:blip r:embed="rId2"/>
            <a:srcRect l="8" t="0" r="7" b="0"/>
            <a:stretch>
              <a:fillRect/>
            </a:stretch>
          </p:blipFill>
          <p:spPr>
            <a:xfrm>
              <a:off x="7895272" y="1524000"/>
              <a:ext cx="2115502" cy="1586865"/>
            </a:xfrm>
            <a:prstGeom prst="roundRect">
              <a:avLst>
                <a:gd name="adj" fmla="val 8403"/>
              </a:avLst>
            </a:prstGeom>
          </p:spPr>
        </p:pic>
        <p:sp>
          <p:nvSpPr>
            <p:cNvPr id="27" name="TextBox 27"/>
            <p:cNvSpPr txBox="1"/>
            <p:nvPr/>
          </p:nvSpPr>
          <p:spPr>
            <a:xfrm>
              <a:off x="6969633" y="3202781"/>
              <a:ext cx="396773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平面上套住红珠的绿环分不开；把红珠顶起来，一块平板就能插进去</a:t>
              </a:r>
            </a:p>
          </p:txBody>
        </p:sp>
      </p:grpSp>
      <p:grpSp>
        <p:nvGrpSpPr>
          <p:cNvPr id="37" name="c2-card-2"/>
          <p:cNvGrpSpPr/>
          <p:nvPr/>
        </p:nvGrpSpPr>
        <p:grpSpPr>
          <a:xfrm>
            <a:off x="6248400" y="3539490"/>
            <a:ext cx="5410200" cy="2111692"/>
            <a:chOff x="6248400" y="3539490"/>
            <a:chExt cx="5410200" cy="2111692"/>
          </a:xfrm>
        </p:grpSpPr>
        <p:sp>
          <p:nvSpPr>
            <p:cNvPr id="29" name="Rectangle 29"/>
            <p:cNvSpPr/>
            <p:nvPr/>
          </p:nvSpPr>
          <p:spPr>
            <a:xfrm>
              <a:off x="6248400" y="3539490"/>
              <a:ext cx="5410200" cy="2111692"/>
            </a:xfrm>
            <a:prstGeom prst="roundRect">
              <a:avLst>
                <a:gd name="adj" fmla="val 6315"/>
              </a:avLst>
            </a:prstGeom>
            <a:solidFill>
              <a:srgbClr val="FFFFFF"/>
            </a:solidFill>
            <a:ln w="14288">
              <a:solidFill>
                <a:srgbClr val="D9DFEA"/>
              </a:solidFill>
            </a:ln>
          </p:spPr>
        </p:sp>
        <p:sp>
          <p:nvSpPr>
            <p:cNvPr id="30" name="Rectangle 30"/>
            <p:cNvSpPr/>
            <p:nvPr/>
          </p:nvSpPr>
          <p:spPr>
            <a:xfrm>
              <a:off x="6257925" y="3672840"/>
              <a:ext cx="47625" cy="1844992"/>
            </a:xfrm>
            <a:prstGeom prst="roundRect">
              <a:avLst>
                <a:gd name="adj" fmla="val 50000"/>
              </a:avLst>
            </a:prstGeom>
            <a:solidFill>
              <a:srgbClr val="0E7C86"/>
            </a:solidFill>
            <a:ln>
              <a:noFill/>
            </a:ln>
          </p:spPr>
        </p:sp>
        <p:sp>
          <p:nvSpPr>
            <p:cNvPr id="31" name="Rectangle 31"/>
            <p:cNvSpPr/>
            <p:nvPr/>
          </p:nvSpPr>
          <p:spPr>
            <a:xfrm>
              <a:off x="6467475" y="3720465"/>
              <a:ext cx="458152" cy="238125"/>
            </a:xfrm>
            <a:prstGeom prst="roundRect">
              <a:avLst>
                <a:gd name="adj" fmla="val 50000"/>
              </a:avLst>
            </a:prstGeom>
            <a:solidFill>
              <a:srgbClr val="E2F3F4"/>
            </a:solidFill>
            <a:ln>
              <a:noFill/>
            </a:ln>
          </p:spPr>
        </p:sp>
        <p:sp>
          <p:nvSpPr>
            <p:cNvPr id="32" name="TextBox 32"/>
            <p:cNvSpPr txBox="1"/>
            <p:nvPr/>
          </p:nvSpPr>
          <p:spPr>
            <a:xfrm>
              <a:off x="6560147" y="3753326"/>
              <a:ext cx="273761"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定义</a:t>
              </a:r>
            </a:p>
          </p:txBody>
        </p:sp>
        <p:sp>
          <p:nvSpPr>
            <p:cNvPr id="33" name="TextBox 33"/>
            <p:cNvSpPr txBox="1"/>
            <p:nvPr/>
          </p:nvSpPr>
          <p:spPr>
            <a:xfrm>
              <a:off x="7033451" y="3759994"/>
              <a:ext cx="194114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核函数 kernel function</a:t>
              </a:r>
            </a:p>
          </p:txBody>
        </p:sp>
        <p:sp>
          <p:nvSpPr>
            <p:cNvPr id="34" name="TextBox 34"/>
            <p:cNvSpPr txBox="1"/>
            <p:nvPr/>
          </p:nvSpPr>
          <p:spPr>
            <a:xfrm>
              <a:off x="6460998" y="4076224"/>
              <a:ext cx="4702810"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设 X 是输入空间（欧氏空间 Rⁿ 的子集或离散集合），H 为特征空</a:t>
              </a:r>
              <a:br/>
              <a:r>
                <a:rPr lang="zh-CN" sz="1280" dirty="0">
                  <a:solidFill>
                    <a:srgbClr val="1F2937"/>
                  </a:solidFill>
                  <a:latin typeface="+mn-lt"/>
                  <a:ea typeface="+mn-ea"/>
                  <a:cs typeface="+mn-cs"/>
                </a:rPr>
                <a:t>间（希尔伯特空间）。若存在映射 φ(x): X → H，使得对所有 x, z</a:t>
              </a:r>
              <a:br/>
              <a:r>
                <a:rPr lang="zh-CN" sz="1280" dirty="0">
                  <a:solidFill>
                    <a:srgbClr val="1F2937"/>
                  </a:solidFill>
                  <a:latin typeface="+mn-lt"/>
                  <a:ea typeface="+mn-ea"/>
                  <a:cs typeface="+mn-cs"/>
                </a:rPr>
                <a:t>∈ X 都有</a:t>
              </a:r>
            </a:p>
          </p:txBody>
        </p:sp>
        <mc:AlternateContent xmlns:mc="http://schemas.openxmlformats.org/markup-compatibility/2006">
          <mc:Choice xmlns:a14="http://schemas.microsoft.com/office/drawing/2010/main" Requires="a14">
            <p:sp>
              <p:nvSpPr>
                <p:cNvPr id="35" name="formula217"/>
                <p:cNvSpPr txBox="1">
                  <a:spLocks noGrp="1"/>
                </p:cNvSpPr>
                <p:nvPr/>
              </p:nvSpPr>
              <p:spPr>
                <a:xfrm>
                  <a:off x="6467475" y="4826318"/>
                  <a:ext cx="5010150"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K</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x</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z</m:t>
                            </m:r>
                          </m:e>
                        </m: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ϕ</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x</m:t>
                            </m:r>
                          </m:e>
                        </m: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ϕ</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z</m:t>
                            </m:r>
                          </m:e>
                        </m:d>
                      </m:oMath>
                    </m:oMathPara>
                  </a14:m>
                </a:p>
              </p:txBody>
            </p:sp>
          </mc:Choice>
        </mc:AlternateContent>
        <p:sp>
          <p:nvSpPr>
            <p:cNvPr id="36" name="TextBox 36"/>
            <p:cNvSpPr txBox="1"/>
            <p:nvPr/>
          </p:nvSpPr>
          <p:spPr>
            <a:xfrm>
              <a:off x="6460998" y="5271611"/>
              <a:ext cx="342118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则称 K(x, z) 为核函数，φ(x) 为映射函数。</a:t>
              </a:r>
            </a:p>
          </p:txBody>
        </p:sp>
      </p:grpSp>
      <p:grpSp>
        <p:nvGrpSpPr>
          <p:cNvPr id="44" name="takeaway"/>
          <p:cNvGrpSpPr/>
          <p:nvPr/>
        </p:nvGrpSpPr>
        <p:grpSpPr>
          <a:xfrm>
            <a:off x="533400" y="5895022"/>
            <a:ext cx="11125200" cy="467678"/>
            <a:chOff x="533400" y="5895022"/>
            <a:chExt cx="11125200" cy="467678"/>
          </a:xfrm>
        </p:grpSpPr>
        <p:sp>
          <p:nvSpPr>
            <p:cNvPr id="38" name="Rectangle 38"/>
            <p:cNvSpPr/>
            <p:nvPr/>
          </p:nvSpPr>
          <p:spPr>
            <a:xfrm>
              <a:off x="533400" y="5895022"/>
              <a:ext cx="11125200" cy="467678"/>
            </a:xfrm>
            <a:prstGeom prst="roundRect">
              <a:avLst>
                <a:gd name="adj" fmla="val 24440"/>
              </a:avLst>
            </a:prstGeom>
            <a:solidFill>
              <a:srgbClr val="FDEEE7"/>
            </a:solidFill>
            <a:ln>
              <a:noFill/>
            </a:ln>
          </p:spPr>
        </p:sp>
        <p:grpSp>
          <p:nvGrpSpPr>
            <p:cNvPr id="42" name="Group 42"/>
            <p:cNvGrpSpPr/>
            <p:nvPr/>
          </p:nvGrpSpPr>
          <p:grpSpPr>
            <a:xfrm>
              <a:off x="738188" y="6028373"/>
              <a:ext cx="200026" cy="200025"/>
              <a:chOff x="738188" y="6028373"/>
              <a:chExt cx="200026" cy="200025"/>
            </a:xfrm>
          </p:grpSpPr>
          <p:sp>
            <p:nvSpPr>
              <p:cNvPr id="39" name="Freeform 39"/>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0" name="Freeform 40"/>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1" name="Freeform 41"/>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3" name="TextBox 43"/>
            <p:cNvSpPr txBox="1"/>
            <p:nvPr/>
          </p:nvSpPr>
          <p:spPr>
            <a:xfrm>
              <a:off x="1041273" y="6039326"/>
              <a:ext cx="6563797"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复杂度从 O(m) 降到 O(n)，m 是特征空间维数、n 是原空间维数，m 可以是无穷大。</a:t>
              </a:r>
            </a:p>
          </p:txBody>
        </p:sp>
      </p:grpSp>
      <p:grpSp>
        <p:nvGrpSpPr>
          <p:cNvPr id="47" name="footer"/>
          <p:cNvGrpSpPr/>
          <p:nvPr/>
        </p:nvGrpSpPr>
        <p:grpSpPr>
          <a:xfrm>
            <a:off x="528447" y="6581299"/>
            <a:ext cx="11135106" cy="190690"/>
            <a:chOff x="528447" y="6581299"/>
            <a:chExt cx="11135106" cy="190690"/>
          </a:xfrm>
        </p:grpSpPr>
        <p:sp>
          <p:nvSpPr>
            <p:cNvPr id="45" name="TextBox 45"/>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6" name="TextBox 4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非线性支持向量机：核方法</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例题：二次多项式核确实等于某个映射的内积</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558130" cy="278702"/>
            <a:chOff x="526161" y="1547336"/>
            <a:chExt cx="5558130" cy="278702"/>
          </a:xfrm>
        </p:grpSpPr>
        <p:sp>
          <p:nvSpPr>
            <p:cNvPr id="7" name="TextBox 7"/>
            <p:cNvSpPr txBox="1"/>
            <p:nvPr/>
          </p:nvSpPr>
          <p:spPr>
            <a:xfrm>
              <a:off x="526161" y="1547336"/>
              <a:ext cx="5558130"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抽象定义看不出好处，用一个能手算的例子把等式两边都算出来。</a:t>
              </a:r>
            </a:p>
          </p:txBody>
        </p:sp>
      </p:grpSp>
      <p:grpSp>
        <p:nvGrpSpPr>
          <p:cNvPr id="19" name="c1-card-1"/>
          <p:cNvGrpSpPr/>
          <p:nvPr/>
        </p:nvGrpSpPr>
        <p:grpSpPr>
          <a:xfrm>
            <a:off x="533400" y="1941195"/>
            <a:ext cx="5626418" cy="2398395"/>
            <a:chOff x="533400" y="1941195"/>
            <a:chExt cx="5626418" cy="2398395"/>
          </a:xfrm>
        </p:grpSpPr>
        <p:sp>
          <p:nvSpPr>
            <p:cNvPr id="9" name="Rectangle 9"/>
            <p:cNvSpPr/>
            <p:nvPr/>
          </p:nvSpPr>
          <p:spPr>
            <a:xfrm>
              <a:off x="533400" y="1941195"/>
              <a:ext cx="5626418" cy="2398395"/>
            </a:xfrm>
            <a:prstGeom prst="roundRect">
              <a:avLst>
                <a:gd name="adj" fmla="val 5560"/>
              </a:avLst>
            </a:prstGeom>
            <a:solidFill>
              <a:srgbClr val="FFFFFF"/>
            </a:solidFill>
            <a:ln w="14288">
              <a:solidFill>
                <a:srgbClr val="D9DFEA"/>
              </a:solidFill>
            </a:ln>
          </p:spPr>
        </p:sp>
        <p:sp>
          <p:nvSpPr>
            <p:cNvPr id="10" name="Rectangle 10"/>
            <p:cNvSpPr/>
            <p:nvPr/>
          </p:nvSpPr>
          <p:spPr>
            <a:xfrm>
              <a:off x="542925" y="2074545"/>
              <a:ext cx="47625" cy="2131695"/>
            </a:xfrm>
            <a:prstGeom prst="roundRect">
              <a:avLst>
                <a:gd name="adj" fmla="val 50000"/>
              </a:avLst>
            </a:prstGeom>
            <a:solidFill>
              <a:srgbClr val="14A38B"/>
            </a:solidFill>
            <a:ln>
              <a:noFill/>
            </a:ln>
          </p:spPr>
        </p:sp>
        <p:sp>
          <p:nvSpPr>
            <p:cNvPr id="11" name="Rectangle 11"/>
            <p:cNvSpPr/>
            <p:nvPr/>
          </p:nvSpPr>
          <p:spPr>
            <a:xfrm>
              <a:off x="763905" y="2133600"/>
              <a:ext cx="476250" cy="247650"/>
            </a:xfrm>
            <a:prstGeom prst="roundRect">
              <a:avLst>
                <a:gd name="adj" fmla="val 50000"/>
              </a:avLst>
            </a:prstGeom>
            <a:solidFill>
              <a:srgbClr val="E3F5F1"/>
            </a:solidFill>
            <a:ln>
              <a:noFill/>
            </a:ln>
          </p:spPr>
        </p:sp>
        <p:sp>
          <p:nvSpPr>
            <p:cNvPr id="12" name="TextBox 12"/>
            <p:cNvSpPr txBox="1"/>
            <p:nvPr/>
          </p:nvSpPr>
          <p:spPr>
            <a:xfrm>
              <a:off x="855345" y="2167890"/>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例题</a:t>
              </a:r>
            </a:p>
          </p:txBody>
        </p:sp>
        <p:sp>
          <p:nvSpPr>
            <p:cNvPr id="13" name="TextBox 13"/>
            <p:cNvSpPr txBox="1"/>
            <p:nvPr/>
          </p:nvSpPr>
          <p:spPr>
            <a:xfrm>
              <a:off x="1347597" y="2173605"/>
              <a:ext cx="241731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取 n = 2，K(x, z) = (x·z)²</a:t>
              </a:r>
            </a:p>
          </p:txBody>
        </p:sp>
        <p:sp>
          <p:nvSpPr>
            <p:cNvPr id="14" name="TextBox 14"/>
            <p:cNvSpPr txBox="1"/>
            <p:nvPr/>
          </p:nvSpPr>
          <p:spPr>
            <a:xfrm>
              <a:off x="757047" y="2507932"/>
              <a:ext cx="474573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左边（核函数）</a:t>
              </a:r>
              <a:r>
                <a:rPr lang="zh-CN" sz="1350" dirty="0">
                  <a:solidFill>
                    <a:srgbClr val="1F2937"/>
                  </a:solidFill>
                  <a:latin typeface="+mn-lt"/>
                  <a:ea typeface="+mn-ea"/>
                  <a:cs typeface="+mn-cs"/>
                </a:rPr>
                <a:t>：x = (1, 2)，z = (3, 1)。x·z = 1×3 + 2×1 =</a:t>
              </a:r>
              <a:br/>
              <a:r>
                <a:rPr lang="zh-CN" sz="1350" dirty="0">
                  <a:solidFill>
                    <a:srgbClr val="1F2937"/>
                  </a:solidFill>
                  <a:latin typeface="+mn-lt"/>
                  <a:ea typeface="+mn-ea"/>
                  <a:cs typeface="+mn-cs"/>
                </a:rPr>
                <a:t xml:space="preserve">5，K = 5² = </a:t>
              </a:r>
              <a:r>
                <a:rPr lang="zh-CN" sz="1350" b="1" dirty="0">
                  <a:solidFill>
                    <a:srgbClr val="C2410C"/>
                  </a:solidFill>
                  <a:latin typeface="+mn-lt"/>
                  <a:ea typeface="+mn-ea"/>
                  <a:cs typeface="+mn-cs"/>
                </a:rPr>
                <a:t>25</a:t>
              </a:r>
              <a:r>
                <a:rPr lang="zh-CN" sz="1350" dirty="0">
                  <a:solidFill>
                    <a:srgbClr val="1F2937"/>
                  </a:solidFill>
                  <a:latin typeface="+mn-lt"/>
                  <a:ea typeface="+mn-ea"/>
                  <a:cs typeface="+mn-cs"/>
                </a:rPr>
                <a:t>。只做了 2 次乘法、1 次加法、1 次平方。</a:t>
              </a:r>
            </a:p>
          </p:txBody>
        </p:sp>
        <p:sp>
          <p:nvSpPr>
            <p:cNvPr id="15" name="TextBox 15"/>
            <p:cNvSpPr txBox="1"/>
            <p:nvPr/>
          </p:nvSpPr>
          <p:spPr>
            <a:xfrm>
              <a:off x="757047" y="3068002"/>
              <a:ext cx="501741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右边（显式映射）</a:t>
              </a:r>
              <a:r>
                <a:rPr lang="zh-CN" sz="1350" dirty="0">
                  <a:solidFill>
                    <a:srgbClr val="1F2937"/>
                  </a:solidFill>
                  <a:latin typeface="+mn-lt"/>
                  <a:ea typeface="+mn-ea"/>
                  <a:cs typeface="+mn-cs"/>
                </a:rPr>
                <a:t>：取 φ(x) = (x₁², √2·x₁x₂, x₂²)ᵀ ∈ R³。</a:t>
              </a:r>
            </a:p>
          </p:txBody>
        </p:sp>
        <p:sp>
          <p:nvSpPr>
            <p:cNvPr id="16" name="TextBox 16"/>
            <p:cNvSpPr txBox="1"/>
            <p:nvPr/>
          </p:nvSpPr>
          <p:spPr>
            <a:xfrm>
              <a:off x="757047" y="3369945"/>
              <a:ext cx="361210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φ(x) = (1, 2√2, 4)，φ(z) = (9, 3√2, 1)。</a:t>
              </a:r>
            </a:p>
          </p:txBody>
        </p:sp>
        <p:sp>
          <p:nvSpPr>
            <p:cNvPr id="17" name="TextBox 17"/>
            <p:cNvSpPr txBox="1"/>
            <p:nvPr/>
          </p:nvSpPr>
          <p:spPr>
            <a:xfrm>
              <a:off x="757047" y="3672840"/>
              <a:ext cx="4467181" cy="264033"/>
            </a:xfrm>
            <a:prstGeom prst="rect">
              <a:avLst/>
            </a:prstGeom>
            <a:noFill/>
            <a:ln>
              <a:noFill/>
            </a:ln>
          </p:spPr>
          <p:txBody>
            <a:bodyPr wrap="none" lIns="0" tIns="0" rIns="0" bIns="0" anchor="t" anchorCtr="0">
              <a:spAutoFit/>
            </a:bodyPr>
            <a:lstStyle/>
            <a:p>
              <a:pPr algn="l"/>
              <a:r>
                <a:rPr lang="el-GR" sz="1350" dirty="0">
                  <a:solidFill>
                    <a:srgbClr val="1F2937"/>
                  </a:solidFill>
                  <a:latin typeface="+mn-lt"/>
                  <a:ea typeface="+mn-ea"/>
                  <a:cs typeface="+mn-cs"/>
                </a:rPr>
                <a:t xml:space="preserve">φ(x)·φ(z) = 1×9 + 2√2×3√2 + 4×1 = 9 + 12 + 4 = </a:t>
              </a:r>
              <a:r>
                <a:rPr lang="zh-CN" sz="1350" b="1" dirty="0">
                  <a:solidFill>
                    <a:srgbClr val="C2410C"/>
                  </a:solidFill>
                  <a:latin typeface="+mn-lt"/>
                  <a:ea typeface="+mn-ea"/>
                  <a:cs typeface="+mn-cs"/>
                </a:rPr>
                <a:t>25</a:t>
              </a:r>
              <a:r>
                <a:rPr lang="zh-CN" sz="1350" dirty="0">
                  <a:solidFill>
                    <a:srgbClr val="1F2937"/>
                  </a:solidFill>
                  <a:latin typeface="+mn-lt"/>
                  <a:ea typeface="+mn-ea"/>
                  <a:cs typeface="+mn-cs"/>
                </a:rPr>
                <a:t>。</a:t>
              </a:r>
            </a:p>
          </p:txBody>
        </p:sp>
        <p:sp>
          <p:nvSpPr>
            <p:cNvPr id="18" name="TextBox 18"/>
            <p:cNvSpPr txBox="1"/>
            <p:nvPr/>
          </p:nvSpPr>
          <p:spPr>
            <a:xfrm>
              <a:off x="758190" y="3971449"/>
              <a:ext cx="4579894"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两边相等。要算右边得先造出 3 维向量，左边只在原来的 2 维里算。</a:t>
              </a:r>
            </a:p>
          </p:txBody>
        </p:sp>
      </p:grpSp>
      <mc:AlternateContent xmlns:mc="http://schemas.openxmlformats.org/markup-compatibility/2006">
        <mc:Choice xmlns:a14="http://schemas.microsoft.com/office/drawing/2010/main" Requires="a14">
          <p:sp>
            <p:nvSpPr>
              <p:cNvPr id="20" name="formula222"/>
              <p:cNvSpPr txBox="1">
                <a:spLocks noGrp="1"/>
              </p:cNvSpPr>
              <p:nvPr/>
            </p:nvSpPr>
            <p:spPr>
              <a:xfrm>
                <a:off x="533400" y="4514850"/>
                <a:ext cx="5626418"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x</m:t>
                              </m:r>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z</m:t>
                              </m:r>
                            </m:e>
                          </m:d>
                        </m:e>
                        <m:sup>
                          <m:r>
                            <a:rPr lang="zh-CN" sz="1350" dirty="0">
                              <a:solidFill>
                                <a:srgbClr val="1F2937"/>
                              </a:solidFill>
                              <a:latin typeface="Cambria Math"/>
                              <a:ea typeface="Cambria Math"/>
                              <a:cs typeface="Cambria Math"/>
                            </a:rPr>
                            <m:t>2</m:t>
                          </m:r>
                        </m:sup>
                      </m:sSup>
                      <m:r>
                        <m:rPr>
                          <m:sty m:val="p"/>
                        </m:rPr>
                        <a:rPr lang="zh-CN" sz="1350" dirty="0">
                          <a:solidFill>
                            <a:srgbClr val="1F2937"/>
                          </a:solidFill>
                          <a:latin typeface="Cambria Math"/>
                          <a:ea typeface="Cambria Math"/>
                          <a:cs typeface="Cambria Math"/>
                        </a:rPr>
                        <m:t>=</m:t>
                      </m:r>
                      <m:sSup>
                        <m:e>
                          <m:d>
                            <m:dPr>
                              <m:begChr m:val="("/>
                              <m:sepChr m:val=""/>
                              <m:endChr m:val=")"/>
                              <m:grow m:val="on"/>
                              <m:ctrlPr>
                                <a:rPr lang="zh-CN" sz="1350" dirty="0">
                                  <a:solidFill>
                                    <a:srgbClr val="1F2937"/>
                                  </a:solidFill>
                                  <a:latin typeface="Cambria Math"/>
                                  <a:ea typeface="Cambria Math"/>
                                  <a:cs typeface="Cambria Math"/>
                                </a:rPr>
                              </m:ctrlPr>
                            </m:dPr>
                            <m:e>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1</m:t>
                                  </m:r>
                                </m:sub>
                              </m:sSub>
                              <m:sSub>
                                <m:e>
                                  <m:r>
                                    <a:rPr lang="zh-CN" sz="1350" dirty="0">
                                      <a:solidFill>
                                        <a:srgbClr val="1F2937"/>
                                      </a:solidFill>
                                      <a:latin typeface="Cambria Math"/>
                                      <a:ea typeface="Cambria Math"/>
                                      <a:cs typeface="Cambria Math"/>
                                    </a:rPr>
                                    <m:t>z</m:t>
                                  </m:r>
                                </m:e>
                                <m:sub>
                                  <m:r>
                                    <a:rPr lang="zh-CN" sz="1350" dirty="0">
                                      <a:solidFill>
                                        <a:srgbClr val="1F2937"/>
                                      </a:solidFill>
                                      <a:latin typeface="Cambria Math"/>
                                      <a:ea typeface="Cambria Math"/>
                                      <a:cs typeface="Cambria Math"/>
                                    </a:rPr>
                                    <m:t>1</m:t>
                                  </m:r>
                                </m:sub>
                              </m:sSub>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2</m:t>
                                  </m:r>
                                </m:sub>
                              </m:sSub>
                              <m:sSub>
                                <m:e>
                                  <m:r>
                                    <a:rPr lang="zh-CN" sz="1350" dirty="0">
                                      <a:solidFill>
                                        <a:srgbClr val="1F2937"/>
                                      </a:solidFill>
                                      <a:latin typeface="Cambria Math"/>
                                      <a:ea typeface="Cambria Math"/>
                                      <a:cs typeface="Cambria Math"/>
                                    </a:rPr>
                                    <m:t>z</m:t>
                                  </m:r>
                                </m:e>
                                <m:sub>
                                  <m:r>
                                    <a:rPr lang="zh-CN" sz="1350" dirty="0">
                                      <a:solidFill>
                                        <a:srgbClr val="1F2937"/>
                                      </a:solidFill>
                                      <a:latin typeface="Cambria Math"/>
                                      <a:ea typeface="Cambria Math"/>
                                      <a:cs typeface="Cambria Math"/>
                                    </a:rPr>
                                    <m:t>2</m:t>
                                  </m:r>
                                </m:sub>
                              </m:sSub>
                            </m:e>
                          </m:d>
                        </m:e>
                        <m:sup>
                          <m:r>
                            <a:rPr lang="zh-CN" sz="1350" dirty="0">
                              <a:solidFill>
                                <a:srgbClr val="1F2937"/>
                              </a:solidFill>
                              <a:latin typeface="Cambria Math"/>
                              <a:ea typeface="Cambria Math"/>
                              <a:cs typeface="Cambria Math"/>
                            </a:rPr>
                            <m:t>2</m:t>
                          </m:r>
                        </m:sup>
                      </m:sSup>
                      <m:r>
                        <m:rPr>
                          <m:sty m:val="p"/>
                        </m:rPr>
                        <a:rPr lang="zh-CN" sz="1350" dirty="0">
                          <a:solidFill>
                            <a:srgbClr val="1F2937"/>
                          </a:solidFill>
                          <a:latin typeface="Cambria Math"/>
                          <a:ea typeface="Cambria Math"/>
                          <a:cs typeface="Cambria Math"/>
                        </a:rPr>
                        <m:t>=</m:t>
                      </m:r>
                      <m:sSubSup>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2</m:t>
                          </m:r>
                        </m:sup>
                      </m:sSubSup>
                      <m:sSubSup>
                        <m:e>
                          <m:r>
                            <a:rPr lang="zh-CN" sz="1350" dirty="0">
                              <a:solidFill>
                                <a:srgbClr val="1F2937"/>
                              </a:solidFill>
                              <a:latin typeface="Cambria Math"/>
                              <a:ea typeface="Cambria Math"/>
                              <a:cs typeface="Cambria Math"/>
                            </a:rPr>
                            <m:t>z</m:t>
                          </m:r>
                        </m:e>
                        <m:sub>
                          <m:r>
                            <a:rPr lang="zh-CN" sz="1350" dirty="0">
                              <a:solidFill>
                                <a:srgbClr val="1F2937"/>
                              </a:solidFill>
                              <a:latin typeface="Cambria Math"/>
                              <a:ea typeface="Cambria Math"/>
                              <a:cs typeface="Cambria Math"/>
                            </a:rPr>
                            <m:t>1</m:t>
                          </m:r>
                        </m:sub>
                        <m:sup>
                          <m:r>
                            <a:rPr lang="zh-CN" sz="1350" dirty="0">
                              <a:solidFill>
                                <a:srgbClr val="1F2937"/>
                              </a:solidFill>
                              <a:latin typeface="Cambria Math"/>
                              <a:ea typeface="Cambria Math"/>
                              <a:cs typeface="Cambria Math"/>
                            </a:rPr>
                            <m:t>2</m:t>
                          </m:r>
                        </m:sup>
                      </m:sSub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2</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1</m:t>
                          </m:r>
                        </m:sub>
                      </m:sSub>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2</m:t>
                          </m:r>
                        </m:sub>
                      </m:sSub>
                      <m:sSub>
                        <m:e>
                          <m:r>
                            <a:rPr lang="zh-CN" sz="1350" dirty="0">
                              <a:solidFill>
                                <a:srgbClr val="1F2937"/>
                              </a:solidFill>
                              <a:latin typeface="Cambria Math"/>
                              <a:ea typeface="Cambria Math"/>
                              <a:cs typeface="Cambria Math"/>
                            </a:rPr>
                            <m:t>z</m:t>
                          </m:r>
                        </m:e>
                        <m:sub>
                          <m:r>
                            <a:rPr lang="zh-CN" sz="1350" dirty="0">
                              <a:solidFill>
                                <a:srgbClr val="1F2937"/>
                              </a:solidFill>
                              <a:latin typeface="Cambria Math"/>
                              <a:ea typeface="Cambria Math"/>
                              <a:cs typeface="Cambria Math"/>
                            </a:rPr>
                            <m:t>1</m:t>
                          </m:r>
                        </m:sub>
                      </m:sSub>
                      <m:sSub>
                        <m:e>
                          <m:r>
                            <a:rPr lang="zh-CN" sz="1350" dirty="0">
                              <a:solidFill>
                                <a:srgbClr val="1F2937"/>
                              </a:solidFill>
                              <a:latin typeface="Cambria Math"/>
                              <a:ea typeface="Cambria Math"/>
                              <a:cs typeface="Cambria Math"/>
                            </a:rPr>
                            <m:t>z</m:t>
                          </m:r>
                        </m:e>
                        <m:sub>
                          <m:r>
                            <a:rPr lang="zh-CN" sz="1350" dirty="0">
                              <a:solidFill>
                                <a:srgbClr val="1F2937"/>
                              </a:solidFill>
                              <a:latin typeface="Cambria Math"/>
                              <a:ea typeface="Cambria Math"/>
                              <a:cs typeface="Cambria Math"/>
                            </a:rPr>
                            <m:t>2</m:t>
                          </m:r>
                        </m:sub>
                      </m:sSub>
                      <m:r>
                        <m:rPr>
                          <m:sty m:val="p"/>
                        </m:rPr>
                        <a:rPr lang="zh-CN" sz="1350" dirty="0">
                          <a:solidFill>
                            <a:srgbClr val="1F2937"/>
                          </a:solidFill>
                          <a:latin typeface="Cambria Math"/>
                          <a:ea typeface="Cambria Math"/>
                          <a:cs typeface="Cambria Math"/>
                        </a:rPr>
                        <m:t>+</m:t>
                      </m:r>
                      <m:sSubSup>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2</m:t>
                          </m:r>
                        </m:sub>
                        <m:sup>
                          <m:r>
                            <a:rPr lang="zh-CN" sz="1350" dirty="0">
                              <a:solidFill>
                                <a:srgbClr val="1F2937"/>
                              </a:solidFill>
                              <a:latin typeface="Cambria Math"/>
                              <a:ea typeface="Cambria Math"/>
                              <a:cs typeface="Cambria Math"/>
                            </a:rPr>
                            <m:t>2</m:t>
                          </m:r>
                        </m:sup>
                      </m:sSubSup>
                      <m:sSubSup>
                        <m:e>
                          <m:r>
                            <a:rPr lang="zh-CN" sz="1350" dirty="0">
                              <a:solidFill>
                                <a:srgbClr val="1F2937"/>
                              </a:solidFill>
                              <a:latin typeface="Cambria Math"/>
                              <a:ea typeface="Cambria Math"/>
                              <a:cs typeface="Cambria Math"/>
                            </a:rPr>
                            <m:t>z</m:t>
                          </m:r>
                        </m:e>
                        <m:sub>
                          <m:r>
                            <a:rPr lang="zh-CN" sz="1350" dirty="0">
                              <a:solidFill>
                                <a:srgbClr val="1F2937"/>
                              </a:solidFill>
                              <a:latin typeface="Cambria Math"/>
                              <a:ea typeface="Cambria Math"/>
                              <a:cs typeface="Cambria Math"/>
                            </a:rPr>
                            <m:t>2</m:t>
                          </m:r>
                        </m:sub>
                        <m:sup>
                          <m:r>
                            <a:rPr lang="zh-CN" sz="1350" dirty="0">
                              <a:solidFill>
                                <a:srgbClr val="1F2937"/>
                              </a:solidFill>
                              <a:latin typeface="Cambria Math"/>
                              <a:ea typeface="Cambria Math"/>
                              <a:cs typeface="Cambria Math"/>
                            </a:rPr>
                            <m:t>2</m:t>
                          </m:r>
                        </m:sup>
                      </m:sSubSup>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ϕ</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x</m:t>
                          </m:r>
                        </m:e>
                      </m:d>
                      <m:r>
                        <m:rPr>
                          <m:sty m:val="p"/>
                        </m:rPr>
                        <a:rPr lang="zh-CN" sz="1350" dirty="0">
                          <a:solidFill>
                            <a:srgbClr val="1F2937"/>
                          </a:solidFill>
                          <a:latin typeface="Cambria Math"/>
                          <a:ea typeface="Cambria Math"/>
                          <a:cs typeface="Cambria Math"/>
                        </a:rPr>
                        <m:t>⋅</m:t>
                      </m:r>
                      <m:r>
                        <a:rPr lang="zh-CN" sz="1350" dirty="0">
                          <a:solidFill>
                            <a:srgbClr val="1F2937"/>
                          </a:solidFill>
                          <a:latin typeface="Cambria Math"/>
                          <a:ea typeface="Cambria Math"/>
                          <a:cs typeface="Cambria Math"/>
                        </a:rPr>
                        <m:t>ϕ</m:t>
                      </m:r>
                      <m:d>
                        <m:dPr>
                          <m:begChr m:val="("/>
                          <m:sepChr m:val=""/>
                          <m:endChr m:val=")"/>
                          <m:grow m:val="on"/>
                          <m:ctrlPr>
                            <a:rPr lang="zh-CN" sz="1350" dirty="0">
                              <a:solidFill>
                                <a:srgbClr val="1F2937"/>
                              </a:solidFill>
                              <a:latin typeface="Cambria Math"/>
                              <a:ea typeface="Cambria Math"/>
                              <a:cs typeface="Cambria Math"/>
                            </a:rPr>
                          </m:ctrlPr>
                        </m:dPr>
                        <m:e>
                          <m:r>
                            <a:rPr lang="zh-CN" sz="1350" dirty="0">
                              <a:solidFill>
                                <a:srgbClr val="1F2937"/>
                              </a:solidFill>
                              <a:latin typeface="Cambria Math"/>
                              <a:ea typeface="Cambria Math"/>
                              <a:cs typeface="Cambria Math"/>
                            </a:rPr>
                            <m:t>z</m:t>
                          </m:r>
                        </m:e>
                      </m:d>
                    </m:oMath>
                  </m:oMathPara>
                </a14:m>
              </a:p>
            </p:txBody>
          </p:sp>
        </mc:Choice>
      </mc:AlternateContent>
      <p:grpSp>
        <p:nvGrpSpPr>
          <p:cNvPr id="48" name="c2-table-1"/>
          <p:cNvGrpSpPr/>
          <p:nvPr/>
        </p:nvGrpSpPr>
        <p:grpSpPr>
          <a:xfrm>
            <a:off x="6459284" y="1941195"/>
            <a:ext cx="5199316" cy="2309432"/>
            <a:chOff x="6459284" y="1941195"/>
            <a:chExt cx="5199316" cy="2309432"/>
          </a:xfrm>
        </p:grpSpPr>
        <p:sp>
          <p:nvSpPr>
            <p:cNvPr id="21" name="Rectangle 21"/>
            <p:cNvSpPr/>
            <p:nvPr/>
          </p:nvSpPr>
          <p:spPr>
            <a:xfrm>
              <a:off x="6464618" y="1941195"/>
              <a:ext cx="5193982" cy="405765"/>
            </a:xfrm>
            <a:prstGeom prst="rect">
              <a:avLst/>
            </a:prstGeom>
            <a:solidFill>
              <a:srgbClr val="0E7C86"/>
            </a:solidFill>
            <a:ln>
              <a:noFill/>
            </a:ln>
          </p:spPr>
        </p:sp>
        <p:sp>
          <p:nvSpPr>
            <p:cNvPr id="22" name="TextBox 22"/>
            <p:cNvSpPr txBox="1"/>
            <p:nvPr/>
          </p:nvSpPr>
          <p:spPr>
            <a:xfrm>
              <a:off x="6793828" y="2065496"/>
              <a:ext cx="89986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原空间维数 n</a:t>
              </a:r>
            </a:p>
          </p:txBody>
        </p:sp>
        <p:sp>
          <p:nvSpPr>
            <p:cNvPr id="23" name="TextBox 23"/>
            <p:cNvSpPr txBox="1"/>
            <p:nvPr/>
          </p:nvSpPr>
          <p:spPr>
            <a:xfrm>
              <a:off x="8322780" y="2065496"/>
              <a:ext cx="121762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二次核的显式维数</a:t>
              </a:r>
            </a:p>
          </p:txBody>
        </p:sp>
        <p:sp>
          <p:nvSpPr>
            <p:cNvPr id="24" name="TextBox 24"/>
            <p:cNvSpPr txBox="1"/>
            <p:nvPr/>
          </p:nvSpPr>
          <p:spPr>
            <a:xfrm>
              <a:off x="10141102" y="2065496"/>
              <a:ext cx="121762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三次核的显式维数</a:t>
              </a:r>
            </a:p>
          </p:txBody>
        </p:sp>
        <p:sp>
          <p:nvSpPr>
            <p:cNvPr id="25" name="TextBox 25"/>
            <p:cNvSpPr txBox="1"/>
            <p:nvPr/>
          </p:nvSpPr>
          <p:spPr>
            <a:xfrm>
              <a:off x="6564630" y="2471261"/>
              <a:ext cx="985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2</a:t>
              </a:r>
            </a:p>
          </p:txBody>
        </p:sp>
        <p:sp>
          <p:nvSpPr>
            <p:cNvPr id="26" name="TextBox 26"/>
            <p:cNvSpPr txBox="1"/>
            <p:nvPr/>
          </p:nvSpPr>
          <p:spPr>
            <a:xfrm>
              <a:off x="8122920" y="247126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3</a:t>
              </a:r>
            </a:p>
          </p:txBody>
        </p:sp>
        <p:sp>
          <p:nvSpPr>
            <p:cNvPr id="27" name="TextBox 27"/>
            <p:cNvSpPr txBox="1"/>
            <p:nvPr/>
          </p:nvSpPr>
          <p:spPr>
            <a:xfrm>
              <a:off x="9941242" y="247126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4</a:t>
              </a:r>
            </a:p>
          </p:txBody>
        </p:sp>
        <p:sp>
          <p:nvSpPr>
            <p:cNvPr id="28" name="Rectangle 28"/>
            <p:cNvSpPr/>
            <p:nvPr/>
          </p:nvSpPr>
          <p:spPr>
            <a:xfrm>
              <a:off x="6464618" y="2747962"/>
              <a:ext cx="5193982" cy="9525"/>
            </a:xfrm>
            <a:prstGeom prst="rect">
              <a:avLst/>
            </a:prstGeom>
            <a:solidFill>
              <a:srgbClr val="D9DFEA"/>
            </a:solidFill>
            <a:ln>
              <a:noFill/>
            </a:ln>
          </p:spPr>
        </p:sp>
        <p:sp>
          <p:nvSpPr>
            <p:cNvPr id="29" name="Rectangle 29"/>
            <p:cNvSpPr/>
            <p:nvPr/>
          </p:nvSpPr>
          <p:spPr>
            <a:xfrm>
              <a:off x="6464618" y="2752725"/>
              <a:ext cx="5193982" cy="405765"/>
            </a:xfrm>
            <a:prstGeom prst="rect">
              <a:avLst/>
            </a:prstGeom>
            <a:solidFill>
              <a:srgbClr val="F4F6FB"/>
            </a:solidFill>
            <a:ln>
              <a:noFill/>
            </a:ln>
          </p:spPr>
        </p:sp>
        <p:sp>
          <p:nvSpPr>
            <p:cNvPr id="30" name="TextBox 30"/>
            <p:cNvSpPr txBox="1"/>
            <p:nvPr/>
          </p:nvSpPr>
          <p:spPr>
            <a:xfrm>
              <a:off x="6564630" y="2877026"/>
              <a:ext cx="1855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10</a:t>
              </a:r>
            </a:p>
          </p:txBody>
        </p:sp>
        <p:sp>
          <p:nvSpPr>
            <p:cNvPr id="31" name="TextBox 31"/>
            <p:cNvSpPr txBox="1"/>
            <p:nvPr/>
          </p:nvSpPr>
          <p:spPr>
            <a:xfrm>
              <a:off x="8122920" y="2877026"/>
              <a:ext cx="17728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55</a:t>
              </a:r>
            </a:p>
          </p:txBody>
        </p:sp>
        <p:sp>
          <p:nvSpPr>
            <p:cNvPr id="32" name="TextBox 32"/>
            <p:cNvSpPr txBox="1"/>
            <p:nvPr/>
          </p:nvSpPr>
          <p:spPr>
            <a:xfrm>
              <a:off x="9941242" y="2877026"/>
              <a:ext cx="26020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220</a:t>
              </a:r>
            </a:p>
          </p:txBody>
        </p:sp>
        <p:sp>
          <p:nvSpPr>
            <p:cNvPr id="33" name="Rectangle 33"/>
            <p:cNvSpPr/>
            <p:nvPr/>
          </p:nvSpPr>
          <p:spPr>
            <a:xfrm>
              <a:off x="6464618" y="3153728"/>
              <a:ext cx="5193982" cy="9525"/>
            </a:xfrm>
            <a:prstGeom prst="rect">
              <a:avLst/>
            </a:prstGeom>
            <a:solidFill>
              <a:srgbClr val="D9DFEA"/>
            </a:solidFill>
            <a:ln>
              <a:noFill/>
            </a:ln>
          </p:spPr>
        </p:sp>
        <p:sp>
          <p:nvSpPr>
            <p:cNvPr id="34" name="TextBox 34"/>
            <p:cNvSpPr txBox="1"/>
            <p:nvPr/>
          </p:nvSpPr>
          <p:spPr>
            <a:xfrm>
              <a:off x="6564630" y="3282791"/>
              <a:ext cx="27264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100</a:t>
              </a:r>
            </a:p>
          </p:txBody>
        </p:sp>
        <p:sp>
          <p:nvSpPr>
            <p:cNvPr id="35" name="TextBox 35"/>
            <p:cNvSpPr txBox="1"/>
            <p:nvPr/>
          </p:nvSpPr>
          <p:spPr>
            <a:xfrm>
              <a:off x="8122920" y="3282791"/>
              <a:ext cx="38836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5 050</a:t>
              </a:r>
            </a:p>
          </p:txBody>
        </p:sp>
        <p:sp>
          <p:nvSpPr>
            <p:cNvPr id="36" name="Rectangle 36"/>
            <p:cNvSpPr/>
            <p:nvPr/>
          </p:nvSpPr>
          <p:spPr>
            <a:xfrm>
              <a:off x="9850755" y="3168015"/>
              <a:ext cx="1798320" cy="386715"/>
            </a:xfrm>
            <a:prstGeom prst="rect">
              <a:avLst/>
            </a:prstGeom>
            <a:solidFill>
              <a:srgbClr val="FDECEA"/>
            </a:solidFill>
            <a:ln>
              <a:noFill/>
            </a:ln>
          </p:spPr>
        </p:sp>
        <p:sp>
          <p:nvSpPr>
            <p:cNvPr id="37" name="TextBox 37"/>
            <p:cNvSpPr txBox="1"/>
            <p:nvPr/>
          </p:nvSpPr>
          <p:spPr>
            <a:xfrm>
              <a:off x="9941242" y="3282791"/>
              <a:ext cx="55421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171 700</a:t>
              </a:r>
            </a:p>
          </p:txBody>
        </p:sp>
        <p:sp>
          <p:nvSpPr>
            <p:cNvPr id="38" name="Rectangle 38"/>
            <p:cNvSpPr/>
            <p:nvPr/>
          </p:nvSpPr>
          <p:spPr>
            <a:xfrm>
              <a:off x="6464618" y="3559492"/>
              <a:ext cx="5193982" cy="9525"/>
            </a:xfrm>
            <a:prstGeom prst="rect">
              <a:avLst/>
            </a:prstGeom>
            <a:solidFill>
              <a:srgbClr val="D9DFEA"/>
            </a:solidFill>
            <a:ln>
              <a:noFill/>
            </a:ln>
          </p:spPr>
        </p:sp>
        <p:sp>
          <p:nvSpPr>
            <p:cNvPr id="39" name="Rectangle 39"/>
            <p:cNvSpPr/>
            <p:nvPr/>
          </p:nvSpPr>
          <p:spPr>
            <a:xfrm>
              <a:off x="6464618" y="3564255"/>
              <a:ext cx="5193982" cy="405765"/>
            </a:xfrm>
            <a:prstGeom prst="rect">
              <a:avLst/>
            </a:prstGeom>
            <a:solidFill>
              <a:srgbClr val="F4F6FB"/>
            </a:solidFill>
            <a:ln>
              <a:noFill/>
            </a:ln>
          </p:spPr>
        </p:sp>
        <p:sp>
          <p:nvSpPr>
            <p:cNvPr id="40" name="TextBox 40"/>
            <p:cNvSpPr txBox="1"/>
            <p:nvPr/>
          </p:nvSpPr>
          <p:spPr>
            <a:xfrm>
              <a:off x="6564630" y="3688556"/>
              <a:ext cx="40721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1 000</a:t>
              </a:r>
            </a:p>
          </p:txBody>
        </p:sp>
        <p:sp>
          <p:nvSpPr>
            <p:cNvPr id="41" name="TextBox 41"/>
            <p:cNvSpPr txBox="1"/>
            <p:nvPr/>
          </p:nvSpPr>
          <p:spPr>
            <a:xfrm>
              <a:off x="8122920" y="3688556"/>
              <a:ext cx="55421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500 500</a:t>
              </a:r>
            </a:p>
          </p:txBody>
        </p:sp>
        <p:sp>
          <p:nvSpPr>
            <p:cNvPr id="42" name="Rectangle 42"/>
            <p:cNvSpPr/>
            <p:nvPr/>
          </p:nvSpPr>
          <p:spPr>
            <a:xfrm>
              <a:off x="9850755" y="3573780"/>
              <a:ext cx="1798320" cy="386715"/>
            </a:xfrm>
            <a:prstGeom prst="rect">
              <a:avLst/>
            </a:prstGeom>
            <a:solidFill>
              <a:srgbClr val="FDECEA"/>
            </a:solidFill>
            <a:ln>
              <a:noFill/>
            </a:ln>
          </p:spPr>
        </p:sp>
        <p:sp>
          <p:nvSpPr>
            <p:cNvPr id="43" name="TextBox 43"/>
            <p:cNvSpPr txBox="1"/>
            <p:nvPr/>
          </p:nvSpPr>
          <p:spPr>
            <a:xfrm>
              <a:off x="9941242" y="3688556"/>
              <a:ext cx="81053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 1.7 × 10⁸</a:t>
              </a:r>
            </a:p>
          </p:txBody>
        </p:sp>
        <p:sp>
          <p:nvSpPr>
            <p:cNvPr id="44" name="Rectangle 44"/>
            <p:cNvSpPr/>
            <p:nvPr/>
          </p:nvSpPr>
          <p:spPr>
            <a:xfrm>
              <a:off x="6464618" y="1941195"/>
              <a:ext cx="5193982" cy="2028825"/>
            </a:xfrm>
            <a:prstGeom prst="rect">
              <a:avLst/>
            </a:prstGeom>
            <a:noFill/>
            <a:ln w="14288">
              <a:solidFill>
                <a:srgbClr val="D9DFEA"/>
              </a:solidFill>
            </a:ln>
          </p:spPr>
        </p:sp>
        <p:sp>
          <p:nvSpPr>
            <p:cNvPr id="45" name="Rectangle 45"/>
            <p:cNvSpPr/>
            <p:nvPr/>
          </p:nvSpPr>
          <p:spPr>
            <a:xfrm>
              <a:off x="8018145" y="1941195"/>
              <a:ext cx="9525" cy="2028825"/>
            </a:xfrm>
            <a:prstGeom prst="rect">
              <a:avLst/>
            </a:prstGeom>
            <a:solidFill>
              <a:srgbClr val="D9DFEA"/>
            </a:solidFill>
            <a:ln>
              <a:noFill/>
            </a:ln>
          </p:spPr>
        </p:sp>
        <p:sp>
          <p:nvSpPr>
            <p:cNvPr id="46" name="Rectangle 46"/>
            <p:cNvSpPr/>
            <p:nvPr/>
          </p:nvSpPr>
          <p:spPr>
            <a:xfrm>
              <a:off x="9836468" y="1941195"/>
              <a:ext cx="9525" cy="2028825"/>
            </a:xfrm>
            <a:prstGeom prst="rect">
              <a:avLst/>
            </a:prstGeom>
            <a:solidFill>
              <a:srgbClr val="D9DFEA"/>
            </a:solidFill>
            <a:ln>
              <a:noFill/>
            </a:ln>
          </p:spPr>
        </p:sp>
        <p:sp>
          <p:nvSpPr>
            <p:cNvPr id="47" name="TextBox 47"/>
            <p:cNvSpPr txBox="1"/>
            <p:nvPr/>
          </p:nvSpPr>
          <p:spPr>
            <a:xfrm>
              <a:off x="6459284" y="4045268"/>
              <a:ext cx="3299479"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显式维数按 C(n+q−1, q) 增长，核函数始终是 O(n)</a:t>
              </a:r>
            </a:p>
          </p:txBody>
        </p:sp>
      </p:grpSp>
      <p:grpSp>
        <p:nvGrpSpPr>
          <p:cNvPr id="54" name="c2-card-2"/>
          <p:cNvGrpSpPr/>
          <p:nvPr/>
        </p:nvGrpSpPr>
        <p:grpSpPr>
          <a:xfrm>
            <a:off x="6464618" y="4384358"/>
            <a:ext cx="5193982" cy="1226820"/>
            <a:chOff x="6464618" y="4384358"/>
            <a:chExt cx="5193982" cy="1226820"/>
          </a:xfrm>
        </p:grpSpPr>
        <p:sp>
          <p:nvSpPr>
            <p:cNvPr id="49" name="Rectangle 49"/>
            <p:cNvSpPr/>
            <p:nvPr/>
          </p:nvSpPr>
          <p:spPr>
            <a:xfrm>
              <a:off x="6464618" y="4384358"/>
              <a:ext cx="5193982" cy="1226820"/>
            </a:xfrm>
            <a:prstGeom prst="roundRect">
              <a:avLst>
                <a:gd name="adj" fmla="val 10870"/>
              </a:avLst>
            </a:prstGeom>
            <a:solidFill>
              <a:srgbClr val="0E7C86"/>
            </a:solidFill>
            <a:ln>
              <a:noFill/>
            </a:ln>
          </p:spPr>
        </p:sp>
        <p:sp>
          <p:nvSpPr>
            <p:cNvPr id="50" name="Rectangle 50"/>
            <p:cNvSpPr/>
            <p:nvPr/>
          </p:nvSpPr>
          <p:spPr>
            <a:xfrm>
              <a:off x="6657022" y="4576762"/>
              <a:ext cx="476250" cy="247650"/>
            </a:xfrm>
            <a:prstGeom prst="roundRect">
              <a:avLst>
                <a:gd name="adj" fmla="val 50000"/>
              </a:avLst>
            </a:prstGeom>
            <a:solidFill>
              <a:srgbClr val="0B5F67"/>
            </a:solidFill>
            <a:ln>
              <a:noFill/>
            </a:ln>
          </p:spPr>
        </p:sp>
        <p:sp>
          <p:nvSpPr>
            <p:cNvPr id="51" name="TextBox 51"/>
            <p:cNvSpPr txBox="1"/>
            <p:nvPr/>
          </p:nvSpPr>
          <p:spPr>
            <a:xfrm>
              <a:off x="6748462" y="4611052"/>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要点</a:t>
              </a:r>
            </a:p>
          </p:txBody>
        </p:sp>
        <p:sp>
          <p:nvSpPr>
            <p:cNvPr id="52" name="TextBox 52"/>
            <p:cNvSpPr txBox="1"/>
            <p:nvPr/>
          </p:nvSpPr>
          <p:spPr>
            <a:xfrm>
              <a:off x="7240714" y="4615815"/>
              <a:ext cx="235676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同一个核可以对应不止一个 φ</a:t>
              </a:r>
            </a:p>
          </p:txBody>
        </p:sp>
        <p:sp>
          <p:nvSpPr>
            <p:cNvPr id="53" name="TextBox 53"/>
            <p:cNvSpPr txBox="1"/>
            <p:nvPr/>
          </p:nvSpPr>
          <p:spPr>
            <a:xfrm>
              <a:off x="6650164" y="4950142"/>
              <a:ext cx="454856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把 φ 换成 (x₁², x₁x₂, x₂x₁, x₂²) ∈ R⁴，内积同样等于 (x</a:t>
              </a:r>
            </a:p>
            <a:p>
              <a:pPr algn="l" marL="145732" indent="-145732">
                <a:lnSpc>
                  <a:spcPts val="2025"/>
                </a:lnSpc>
                <a:buClr>
                  <a:srgbClr val="FFFFFF"/>
                </a:buClr>
                <a:buSzTx/>
                <a:buFontTx/>
                <a:buChar char="•"/>
              </a:pPr>
              <a:r>
                <a:rPr lang="zh-CN" sz="1350" dirty="0">
                  <a:solidFill>
                    <a:srgbClr val="FFFFFF"/>
                  </a:solidFill>
                  <a:latin typeface="+mn-lt"/>
                  <a:ea typeface="+mn-ea"/>
                  <a:cs typeface="+mn-cs"/>
                </a:rPr>
                <a:t>z)²。核只规定内积，不规定映射的具体形式。</a:t>
              </a:r>
            </a:p>
          </p:txBody>
        </p:sp>
      </p:grpSp>
      <p:grpSp>
        <p:nvGrpSpPr>
          <p:cNvPr id="61" name="takeaway"/>
          <p:cNvGrpSpPr/>
          <p:nvPr/>
        </p:nvGrpSpPr>
        <p:grpSpPr>
          <a:xfrm>
            <a:off x="533400" y="5874068"/>
            <a:ext cx="11125200" cy="488632"/>
            <a:chOff x="533400" y="5874068"/>
            <a:chExt cx="11125200" cy="488632"/>
          </a:xfrm>
        </p:grpSpPr>
        <p:sp>
          <p:nvSpPr>
            <p:cNvPr id="55" name="Rectangle 55"/>
            <p:cNvSpPr/>
            <p:nvPr/>
          </p:nvSpPr>
          <p:spPr>
            <a:xfrm>
              <a:off x="533400" y="5874068"/>
              <a:ext cx="11125200" cy="488632"/>
            </a:xfrm>
            <a:prstGeom prst="roundRect">
              <a:avLst>
                <a:gd name="adj" fmla="val 23392"/>
              </a:avLst>
            </a:prstGeom>
            <a:solidFill>
              <a:srgbClr val="FDECEA"/>
            </a:solidFill>
            <a:ln>
              <a:noFill/>
            </a:ln>
          </p:spPr>
        </p:sp>
        <p:grpSp>
          <p:nvGrpSpPr>
            <p:cNvPr id="59" name="Group 59"/>
            <p:cNvGrpSpPr/>
            <p:nvPr/>
          </p:nvGrpSpPr>
          <p:grpSpPr>
            <a:xfrm>
              <a:off x="726129" y="6014203"/>
              <a:ext cx="224134" cy="192560"/>
              <a:chOff x="726129" y="6014203"/>
              <a:chExt cx="224134" cy="192560"/>
            </a:xfrm>
          </p:grpSpPr>
          <p:sp>
            <p:nvSpPr>
              <p:cNvPr id="56" name="Freeform 56"/>
              <p:cNvSpPr/>
              <p:nvPr/>
            </p:nvSpPr>
            <p:spPr>
              <a:xfrm>
                <a:off x="838200" y="608457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7" name="Freeform 57"/>
              <p:cNvSpPr/>
              <p:nvPr/>
            </p:nvSpPr>
            <p:spPr>
              <a:xfrm>
                <a:off x="726129" y="601420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8" name="Freeform 58"/>
              <p:cNvSpPr/>
              <p:nvPr/>
            </p:nvSpPr>
            <p:spPr>
              <a:xfrm>
                <a:off x="838200" y="616235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60" name="TextBox 60"/>
            <p:cNvSpPr txBox="1"/>
            <p:nvPr/>
          </p:nvSpPr>
          <p:spPr>
            <a:xfrm>
              <a:off x="1040892" y="6023610"/>
              <a:ext cx="8696458" cy="264033"/>
            </a:xfrm>
            <a:prstGeom prst="rect">
              <a:avLst/>
            </a:prstGeom>
            <a:noFill/>
            <a:ln>
              <a:noFill/>
            </a:ln>
          </p:spPr>
          <p:txBody>
            <a:bodyPr wrap="none" lIns="0" tIns="0" rIns="0" bIns="0" anchor="t" anchorCtr="0">
              <a:spAutoFit/>
            </a:bodyPr>
            <a:lstStyle/>
            <a:p>
              <a:pPr algn="l"/>
              <a:r>
                <a:rPr lang="zh-CN" sz="1350" dirty="0">
                  <a:solidFill>
                    <a:srgbClr val="B42318"/>
                  </a:solidFill>
                  <a:latin typeface="+mn-lt"/>
                  <a:ea typeface="+mn-ea"/>
                  <a:cs typeface="+mn-cs"/>
                </a:rPr>
                <a:t>不是随便一个二元函数都能当核：K 必须对称，且对任意样本集给出的 Gram 矩阵半正定（Mercer 条件）。</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280982" cy="909257"/>
            <a:chOff x="520446" y="342900"/>
            <a:chExt cx="3280982"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非线性支持向量机：核方法</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常用核函数与怎么挑</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36" name="c1-table-1"/>
          <p:cNvGrpSpPr/>
          <p:nvPr/>
        </p:nvGrpSpPr>
        <p:grpSpPr>
          <a:xfrm>
            <a:off x="533400" y="1524000"/>
            <a:ext cx="6059805" cy="2692718"/>
            <a:chOff x="533400" y="1524000"/>
            <a:chExt cx="6059805" cy="2692718"/>
          </a:xfrm>
        </p:grpSpPr>
        <p:sp>
          <p:nvSpPr>
            <p:cNvPr id="7" name="Rectangle 7"/>
            <p:cNvSpPr/>
            <p:nvPr/>
          </p:nvSpPr>
          <p:spPr>
            <a:xfrm>
              <a:off x="533400" y="1524000"/>
              <a:ext cx="6059805" cy="448628"/>
            </a:xfrm>
            <a:prstGeom prst="rect">
              <a:avLst/>
            </a:prstGeom>
            <a:solidFill>
              <a:srgbClr val="0E7C86"/>
            </a:solidFill>
            <a:ln>
              <a:noFill/>
            </a:ln>
          </p:spPr>
        </p:sp>
        <p:sp>
          <p:nvSpPr>
            <p:cNvPr id="8" name="TextBox 8"/>
            <p:cNvSpPr txBox="1"/>
            <p:nvPr/>
          </p:nvSpPr>
          <p:spPr>
            <a:xfrm>
              <a:off x="1263294"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名称</a:t>
              </a:r>
            </a:p>
          </p:txBody>
        </p:sp>
        <p:sp>
          <p:nvSpPr>
            <p:cNvPr id="9" name="TextBox 9"/>
            <p:cNvSpPr txBox="1"/>
            <p:nvPr/>
          </p:nvSpPr>
          <p:spPr>
            <a:xfrm>
              <a:off x="3345976" y="1659731"/>
              <a:ext cx="676589"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K(x, z)</a:t>
              </a:r>
            </a:p>
          </p:txBody>
        </p:sp>
        <p:sp>
          <p:nvSpPr>
            <p:cNvPr id="10" name="TextBox 10"/>
            <p:cNvSpPr txBox="1"/>
            <p:nvPr/>
          </p:nvSpPr>
          <p:spPr>
            <a:xfrm>
              <a:off x="5626697"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参数</a:t>
              </a:r>
            </a:p>
          </p:txBody>
        </p:sp>
        <p:sp>
          <p:nvSpPr>
            <p:cNvPr id="11" name="TextBox 11"/>
            <p:cNvSpPr txBox="1"/>
            <p:nvPr/>
          </p:nvSpPr>
          <p:spPr>
            <a:xfrm>
              <a:off x="641223" y="2108359"/>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线性核</a:t>
              </a:r>
            </a:p>
          </p:txBody>
        </p:sp>
        <p:sp>
          <p:nvSpPr>
            <p:cNvPr id="12" name="TextBox 12"/>
            <p:cNvSpPr txBox="1"/>
            <p:nvPr/>
          </p:nvSpPr>
          <p:spPr>
            <a:xfrm>
              <a:off x="2458593" y="2108359"/>
              <a:ext cx="400660"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x · z</a:t>
              </a:r>
            </a:p>
          </p:txBody>
        </p:sp>
        <p:sp>
          <p:nvSpPr>
            <p:cNvPr id="13" name="TextBox 13"/>
            <p:cNvSpPr txBox="1"/>
            <p:nvPr/>
          </p:nvSpPr>
          <p:spPr>
            <a:xfrm>
              <a:off x="5125593" y="2108359"/>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无</a:t>
              </a:r>
            </a:p>
          </p:txBody>
        </p:sp>
        <p:sp>
          <p:nvSpPr>
            <p:cNvPr id="14" name="Rectangle 14"/>
            <p:cNvSpPr/>
            <p:nvPr/>
          </p:nvSpPr>
          <p:spPr>
            <a:xfrm>
              <a:off x="533400" y="2416492"/>
              <a:ext cx="6059805" cy="9525"/>
            </a:xfrm>
            <a:prstGeom prst="rect">
              <a:avLst/>
            </a:prstGeom>
            <a:solidFill>
              <a:srgbClr val="D9DFEA"/>
            </a:solidFill>
            <a:ln>
              <a:noFill/>
            </a:ln>
          </p:spPr>
        </p:sp>
        <p:sp>
          <p:nvSpPr>
            <p:cNvPr id="15" name="Rectangle 15"/>
            <p:cNvSpPr/>
            <p:nvPr/>
          </p:nvSpPr>
          <p:spPr>
            <a:xfrm>
              <a:off x="533400" y="2421255"/>
              <a:ext cx="6059805" cy="448628"/>
            </a:xfrm>
            <a:prstGeom prst="rect">
              <a:avLst/>
            </a:prstGeom>
            <a:solidFill>
              <a:srgbClr val="F4F6FB"/>
            </a:solidFill>
            <a:ln>
              <a:noFill/>
            </a:ln>
          </p:spPr>
        </p:sp>
        <p:sp>
          <p:nvSpPr>
            <p:cNvPr id="16" name="TextBox 16"/>
            <p:cNvSpPr txBox="1"/>
            <p:nvPr/>
          </p:nvSpPr>
          <p:spPr>
            <a:xfrm>
              <a:off x="641223" y="255698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多项式核</a:t>
              </a:r>
            </a:p>
          </p:txBody>
        </p:sp>
        <p:sp>
          <p:nvSpPr>
            <p:cNvPr id="17" name="TextBox 17"/>
            <p:cNvSpPr txBox="1"/>
            <p:nvPr/>
          </p:nvSpPr>
          <p:spPr>
            <a:xfrm>
              <a:off x="2458593" y="2556986"/>
              <a:ext cx="96929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[x·z + c]^q</a:t>
              </a:r>
            </a:p>
          </p:txBody>
        </p:sp>
        <p:sp>
          <p:nvSpPr>
            <p:cNvPr id="18" name="TextBox 18"/>
            <p:cNvSpPr txBox="1"/>
            <p:nvPr/>
          </p:nvSpPr>
          <p:spPr>
            <a:xfrm>
              <a:off x="5125593" y="2556986"/>
              <a:ext cx="106910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c ≥ 0，q ∈ N⁺</a:t>
              </a:r>
            </a:p>
          </p:txBody>
        </p:sp>
        <p:sp>
          <p:nvSpPr>
            <p:cNvPr id="19" name="Rectangle 19"/>
            <p:cNvSpPr/>
            <p:nvPr/>
          </p:nvSpPr>
          <p:spPr>
            <a:xfrm>
              <a:off x="533400" y="2866072"/>
              <a:ext cx="6059805" cy="9525"/>
            </a:xfrm>
            <a:prstGeom prst="rect">
              <a:avLst/>
            </a:prstGeom>
            <a:solidFill>
              <a:srgbClr val="D9DFEA"/>
            </a:solidFill>
            <a:ln>
              <a:noFill/>
            </a:ln>
          </p:spPr>
        </p:sp>
        <p:sp>
          <p:nvSpPr>
            <p:cNvPr id="20" name="TextBox 20"/>
            <p:cNvSpPr txBox="1"/>
            <p:nvPr/>
          </p:nvSpPr>
          <p:spPr>
            <a:xfrm>
              <a:off x="641223" y="3005614"/>
              <a:ext cx="118995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高斯核（RBF）</a:t>
              </a:r>
            </a:p>
          </p:txBody>
        </p:sp>
        <p:sp>
          <p:nvSpPr>
            <p:cNvPr id="21" name="Rectangle 21"/>
            <p:cNvSpPr/>
            <p:nvPr/>
          </p:nvSpPr>
          <p:spPr>
            <a:xfrm>
              <a:off x="2360295" y="2880360"/>
              <a:ext cx="2646998" cy="429578"/>
            </a:xfrm>
            <a:prstGeom prst="rect">
              <a:avLst/>
            </a:prstGeom>
            <a:solidFill>
              <a:srgbClr val="FDEEE7"/>
            </a:solidFill>
            <a:ln>
              <a:noFill/>
            </a:ln>
          </p:spPr>
        </p:sp>
        <p:sp>
          <p:nvSpPr>
            <p:cNvPr id="22" name="TextBox 22"/>
            <p:cNvSpPr txBox="1"/>
            <p:nvPr/>
          </p:nvSpPr>
          <p:spPr>
            <a:xfrm>
              <a:off x="2458593" y="3005614"/>
              <a:ext cx="1451773"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exp(−||x−z||²/σ²)</a:t>
              </a:r>
            </a:p>
          </p:txBody>
        </p:sp>
        <p:sp>
          <p:nvSpPr>
            <p:cNvPr id="23" name="TextBox 23"/>
            <p:cNvSpPr txBox="1"/>
            <p:nvPr/>
          </p:nvSpPr>
          <p:spPr>
            <a:xfrm>
              <a:off x="5125593" y="3005614"/>
              <a:ext cx="97165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σ ∈ R，σ ≠ 0</a:t>
              </a:r>
            </a:p>
          </p:txBody>
        </p:sp>
        <p:sp>
          <p:nvSpPr>
            <p:cNvPr id="24" name="Rectangle 24"/>
            <p:cNvSpPr/>
            <p:nvPr/>
          </p:nvSpPr>
          <p:spPr>
            <a:xfrm>
              <a:off x="533400" y="3314700"/>
              <a:ext cx="6059805" cy="9525"/>
            </a:xfrm>
            <a:prstGeom prst="rect">
              <a:avLst/>
            </a:prstGeom>
            <a:solidFill>
              <a:srgbClr val="D9DFEA"/>
            </a:solidFill>
            <a:ln>
              <a:noFill/>
            </a:ln>
          </p:spPr>
        </p:sp>
        <p:sp>
          <p:nvSpPr>
            <p:cNvPr id="25" name="Rectangle 25"/>
            <p:cNvSpPr/>
            <p:nvPr/>
          </p:nvSpPr>
          <p:spPr>
            <a:xfrm>
              <a:off x="533400" y="3319462"/>
              <a:ext cx="6059805" cy="448628"/>
            </a:xfrm>
            <a:prstGeom prst="rect">
              <a:avLst/>
            </a:prstGeom>
            <a:solidFill>
              <a:srgbClr val="F4F6FB"/>
            </a:solidFill>
            <a:ln>
              <a:noFill/>
            </a:ln>
          </p:spPr>
        </p:sp>
        <p:sp>
          <p:nvSpPr>
            <p:cNvPr id="26" name="TextBox 26"/>
            <p:cNvSpPr txBox="1"/>
            <p:nvPr/>
          </p:nvSpPr>
          <p:spPr>
            <a:xfrm>
              <a:off x="641223" y="3454241"/>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拉普拉斯核</a:t>
              </a:r>
            </a:p>
          </p:txBody>
        </p:sp>
        <p:sp>
          <p:nvSpPr>
            <p:cNvPr id="27" name="TextBox 27"/>
            <p:cNvSpPr txBox="1"/>
            <p:nvPr/>
          </p:nvSpPr>
          <p:spPr>
            <a:xfrm>
              <a:off x="2458593" y="3454241"/>
              <a:ext cx="1262228"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exp(−||x−z||/σ)</a:t>
              </a:r>
            </a:p>
          </p:txBody>
        </p:sp>
        <p:sp>
          <p:nvSpPr>
            <p:cNvPr id="28" name="TextBox 28"/>
            <p:cNvSpPr txBox="1"/>
            <p:nvPr/>
          </p:nvSpPr>
          <p:spPr>
            <a:xfrm>
              <a:off x="5125593" y="3454241"/>
              <a:ext cx="400660"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σ &gt; 0</a:t>
              </a:r>
            </a:p>
          </p:txBody>
        </p:sp>
        <p:sp>
          <p:nvSpPr>
            <p:cNvPr id="29" name="Rectangle 29"/>
            <p:cNvSpPr/>
            <p:nvPr/>
          </p:nvSpPr>
          <p:spPr>
            <a:xfrm>
              <a:off x="533400" y="3763328"/>
              <a:ext cx="6059805" cy="9525"/>
            </a:xfrm>
            <a:prstGeom prst="rect">
              <a:avLst/>
            </a:prstGeom>
            <a:solidFill>
              <a:srgbClr val="D9DFEA"/>
            </a:solidFill>
            <a:ln>
              <a:noFill/>
            </a:ln>
          </p:spPr>
        </p:sp>
        <p:sp>
          <p:nvSpPr>
            <p:cNvPr id="30" name="TextBox 30"/>
            <p:cNvSpPr txBox="1"/>
            <p:nvPr/>
          </p:nvSpPr>
          <p:spPr>
            <a:xfrm>
              <a:off x="641223" y="3903821"/>
              <a:ext cx="155395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S 形核（双曲正切）</a:t>
              </a:r>
            </a:p>
          </p:txBody>
        </p:sp>
        <p:sp>
          <p:nvSpPr>
            <p:cNvPr id="31" name="TextBox 31"/>
            <p:cNvSpPr txBox="1"/>
            <p:nvPr/>
          </p:nvSpPr>
          <p:spPr>
            <a:xfrm>
              <a:off x="2458593" y="3903821"/>
              <a:ext cx="1443157"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tanh(υ(x·z) + c)</a:t>
              </a:r>
            </a:p>
          </p:txBody>
        </p:sp>
        <p:sp>
          <p:nvSpPr>
            <p:cNvPr id="32" name="TextBox 32"/>
            <p:cNvSpPr txBox="1"/>
            <p:nvPr/>
          </p:nvSpPr>
          <p:spPr>
            <a:xfrm>
              <a:off x="5125593" y="3903821"/>
              <a:ext cx="96067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υ &gt; 0，c &lt; 0</a:t>
              </a:r>
            </a:p>
          </p:txBody>
        </p:sp>
        <p:sp>
          <p:nvSpPr>
            <p:cNvPr id="33" name="Rectangle 33"/>
            <p:cNvSpPr/>
            <p:nvPr/>
          </p:nvSpPr>
          <p:spPr>
            <a:xfrm>
              <a:off x="533400" y="1524000"/>
              <a:ext cx="6059805" cy="2692718"/>
            </a:xfrm>
            <a:prstGeom prst="rect">
              <a:avLst/>
            </a:prstGeom>
            <a:noFill/>
            <a:ln w="14288">
              <a:solidFill>
                <a:srgbClr val="D9DFEA"/>
              </a:solidFill>
            </a:ln>
          </p:spPr>
        </p:sp>
        <p:sp>
          <p:nvSpPr>
            <p:cNvPr id="34" name="Rectangle 34"/>
            <p:cNvSpPr/>
            <p:nvPr/>
          </p:nvSpPr>
          <p:spPr>
            <a:xfrm>
              <a:off x="2346008" y="1524000"/>
              <a:ext cx="9525" cy="2692718"/>
            </a:xfrm>
            <a:prstGeom prst="rect">
              <a:avLst/>
            </a:prstGeom>
            <a:solidFill>
              <a:srgbClr val="D9DFEA"/>
            </a:solidFill>
            <a:ln>
              <a:noFill/>
            </a:ln>
          </p:spPr>
        </p:sp>
        <p:sp>
          <p:nvSpPr>
            <p:cNvPr id="35" name="Rectangle 35"/>
            <p:cNvSpPr/>
            <p:nvPr/>
          </p:nvSpPr>
          <p:spPr>
            <a:xfrm>
              <a:off x="5013008" y="1524000"/>
              <a:ext cx="9525" cy="2692718"/>
            </a:xfrm>
            <a:prstGeom prst="rect">
              <a:avLst/>
            </a:prstGeom>
            <a:solidFill>
              <a:srgbClr val="D9DFEA"/>
            </a:solidFill>
            <a:ln>
              <a:noFill/>
            </a:ln>
          </p:spPr>
        </p:sp>
      </p:grpSp>
      <p:grpSp>
        <p:nvGrpSpPr>
          <p:cNvPr id="41" name="c1-card-2"/>
          <p:cNvGrpSpPr/>
          <p:nvPr/>
        </p:nvGrpSpPr>
        <p:grpSpPr>
          <a:xfrm>
            <a:off x="533400" y="4407218"/>
            <a:ext cx="6059805" cy="1924050"/>
            <a:chOff x="533400" y="4407218"/>
            <a:chExt cx="6059805" cy="1924050"/>
          </a:xfrm>
        </p:grpSpPr>
        <p:sp>
          <p:nvSpPr>
            <p:cNvPr id="37" name="Rectangle 37"/>
            <p:cNvSpPr/>
            <p:nvPr/>
          </p:nvSpPr>
          <p:spPr>
            <a:xfrm>
              <a:off x="533400" y="4407218"/>
              <a:ext cx="6059805" cy="1924050"/>
            </a:xfrm>
            <a:prstGeom prst="roundRect">
              <a:avLst>
                <a:gd name="adj" fmla="val 6931"/>
              </a:avLst>
            </a:prstGeom>
            <a:solidFill>
              <a:srgbClr val="FFFFFF"/>
            </a:solidFill>
            <a:ln w="14288">
              <a:solidFill>
                <a:srgbClr val="D9DFEA"/>
              </a:solidFill>
            </a:ln>
          </p:spPr>
        </p:sp>
        <p:sp>
          <p:nvSpPr>
            <p:cNvPr id="38" name="Rectangle 38"/>
            <p:cNvSpPr/>
            <p:nvPr/>
          </p:nvSpPr>
          <p:spPr>
            <a:xfrm>
              <a:off x="542925" y="4540568"/>
              <a:ext cx="47625" cy="1657350"/>
            </a:xfrm>
            <a:prstGeom prst="roundRect">
              <a:avLst>
                <a:gd name="adj" fmla="val 50000"/>
              </a:avLst>
            </a:prstGeom>
            <a:solidFill>
              <a:srgbClr val="5B6475"/>
            </a:solidFill>
            <a:ln>
              <a:noFill/>
            </a:ln>
          </p:spPr>
        </p:sp>
        <p:sp>
          <p:nvSpPr>
            <p:cNvPr id="39" name="TextBox 39"/>
            <p:cNvSpPr txBox="1"/>
            <p:nvPr/>
          </p:nvSpPr>
          <p:spPr>
            <a:xfrm>
              <a:off x="773430" y="4641532"/>
              <a:ext cx="24384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两版课件的高斯核写法不同</a:t>
              </a:r>
            </a:p>
          </p:txBody>
        </p:sp>
        <p:sp>
          <p:nvSpPr>
            <p:cNvPr id="40" name="TextBox 40"/>
            <p:cNvSpPr txBox="1"/>
            <p:nvPr/>
          </p:nvSpPr>
          <p:spPr>
            <a:xfrm>
              <a:off x="773430" y="4995862"/>
              <a:ext cx="5320665" cy="11506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B 版第 63 页写 exp(−||x−y||²/σ²)，A 版第 46 页写</a:t>
              </a:r>
              <a:br/>
              <a:r>
                <a:rPr lang="zh-CN" sz="1500" dirty="0">
                  <a:solidFill>
                    <a:srgbClr val="1F2937"/>
                  </a:solidFill>
                  <a:latin typeface="+mn-lt"/>
                  <a:ea typeface="+mn-ea"/>
                  <a:cs typeface="+mn-cs"/>
                </a:rPr>
                <a:t>exp(−||x−y||²/(2σ²))，两种都通行，σ 的含义差一个 √2 倍；</a:t>
              </a:r>
              <a:br/>
              <a:r>
                <a:rPr lang="zh-CN" sz="1500" dirty="0">
                  <a:solidFill>
                    <a:srgbClr val="1F2937"/>
                  </a:solidFill>
                  <a:latin typeface="+mn-lt"/>
                  <a:ea typeface="+mn-ea"/>
                  <a:cs typeface="+mn-cs"/>
                </a:rPr>
                <a:t>scikit-learn 写成 exp(−γ||x−z||²)。用之前先看清文档里 σ 或</a:t>
              </a:r>
              <a:br/>
              <a:r>
                <a:rPr lang="zh-CN" sz="1500" dirty="0">
                  <a:solidFill>
                    <a:srgbClr val="1F2937"/>
                  </a:solidFill>
                  <a:latin typeface="+mn-lt"/>
                  <a:ea typeface="+mn-ea"/>
                  <a:cs typeface="+mn-cs"/>
                </a:rPr>
                <a:t>γ 的定义。</a:t>
              </a:r>
            </a:p>
          </p:txBody>
        </p:sp>
      </p:grpSp>
      <p:grpSp>
        <p:nvGrpSpPr>
          <p:cNvPr id="55" name="c2-bullets-1"/>
          <p:cNvGrpSpPr/>
          <p:nvPr/>
        </p:nvGrpSpPr>
        <p:grpSpPr>
          <a:xfrm>
            <a:off x="6890385" y="1548765"/>
            <a:ext cx="4089601" cy="2103405"/>
            <a:chOff x="6890385" y="1548765"/>
            <a:chExt cx="4089601" cy="2103405"/>
          </a:xfrm>
        </p:grpSpPr>
        <p:sp>
          <p:nvSpPr>
            <p:cNvPr id="42" name="TextBox 42"/>
            <p:cNvSpPr txBox="1"/>
            <p:nvPr/>
          </p:nvSpPr>
          <p:spPr>
            <a:xfrm>
              <a:off x="6890385" y="1548765"/>
              <a:ext cx="1024890" cy="293370"/>
            </a:xfrm>
            <a:prstGeom prst="rect">
              <a:avLst/>
            </a:prstGeom>
            <a:noFill/>
            <a:ln>
              <a:noFill/>
            </a:ln>
          </p:spPr>
          <p:txBody>
            <a:bodyPr wrap="none" lIns="0" tIns="0" rIns="0" bIns="0" anchor="t" anchorCtr="0">
              <a:spAutoFit/>
            </a:bodyPr>
            <a:lstStyle/>
            <a:p>
              <a:pPr algn="l"/>
              <a:r>
                <a:rPr lang="zh-CN" sz="1500" b="1" dirty="0">
                  <a:solidFill>
                    <a:srgbClr val="0E7C86"/>
                  </a:solidFill>
                  <a:latin typeface="+mn-lt"/>
                  <a:ea typeface="+mn-ea"/>
                  <a:cs typeface="+mn-cs"/>
                </a:rPr>
                <a:t>选核的经验</a:t>
              </a:r>
            </a:p>
          </p:txBody>
        </p:sp>
        <p:sp>
          <p:nvSpPr>
            <p:cNvPr id="43" name="Freeform 43"/>
            <p:cNvSpPr/>
            <p:nvPr/>
          </p:nvSpPr>
          <p:spPr>
            <a:xfrm>
              <a:off x="6898005" y="1934528"/>
              <a:ext cx="143827" cy="117158"/>
            </a:xfrm>
            <a:custGeom>
              <a:avLst/>
              <a:gdLst/>
              <a:ahLst/>
              <a:cxnLst/>
              <a:rect l="l" t="t" r="r" b="b"/>
              <a:pathLst>
                <a:path w="143827" h="117158">
                  <a:moveTo>
                    <a:pt x="0" y="61912"/>
                  </a:moveTo>
                  <a:lnTo>
                    <a:pt x="54292" y="117158"/>
                  </a:lnTo>
                  <a:lnTo>
                    <a:pt x="143827" y="0"/>
                  </a:lnTo>
                </a:path>
              </a:pathLst>
            </a:custGeom>
            <a:noFill/>
            <a:ln w="24765" cap="rnd">
              <a:solidFill>
                <a:srgbClr val="14A38B"/>
              </a:solidFill>
              <a:round/>
            </a:ln>
          </p:spPr>
        </p:sp>
        <p:sp>
          <p:nvSpPr>
            <p:cNvPr id="44" name="TextBox 44"/>
            <p:cNvSpPr txBox="1"/>
            <p:nvPr/>
          </p:nvSpPr>
          <p:spPr>
            <a:xfrm>
              <a:off x="7148512" y="1903095"/>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先试线性核</a:t>
              </a:r>
            </a:p>
          </p:txBody>
        </p:sp>
        <p:sp>
          <p:nvSpPr>
            <p:cNvPr id="45" name="Rectangle 45"/>
            <p:cNvSpPr/>
            <p:nvPr/>
          </p:nvSpPr>
          <p:spPr>
            <a:xfrm>
              <a:off x="7156132" y="2269808"/>
              <a:ext cx="73342" cy="19050"/>
            </a:xfrm>
            <a:prstGeom prst="rect">
              <a:avLst/>
            </a:prstGeom>
            <a:solidFill>
              <a:srgbClr val="5B6475"/>
            </a:solidFill>
            <a:ln>
              <a:noFill/>
            </a:ln>
          </p:spPr>
        </p:sp>
        <p:sp>
          <p:nvSpPr>
            <p:cNvPr id="46" name="TextBox 46"/>
            <p:cNvSpPr txBox="1"/>
            <p:nvPr/>
          </p:nvSpPr>
          <p:spPr>
            <a:xfrm>
              <a:off x="7340156" y="2196941"/>
              <a:ext cx="3114599"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特征维数已经很高时往往够用，训练最快</a:t>
              </a:r>
            </a:p>
          </p:txBody>
        </p:sp>
        <p:sp>
          <p:nvSpPr>
            <p:cNvPr id="47" name="Freeform 47"/>
            <p:cNvSpPr/>
            <p:nvPr/>
          </p:nvSpPr>
          <p:spPr>
            <a:xfrm>
              <a:off x="6898005" y="2537460"/>
              <a:ext cx="143827" cy="117158"/>
            </a:xfrm>
            <a:custGeom>
              <a:avLst/>
              <a:gdLst/>
              <a:ahLst/>
              <a:cxnLst/>
              <a:rect l="l" t="t" r="r" b="b"/>
              <a:pathLst>
                <a:path w="143827" h="117158">
                  <a:moveTo>
                    <a:pt x="0" y="61912"/>
                  </a:moveTo>
                  <a:lnTo>
                    <a:pt x="54292" y="117158"/>
                  </a:lnTo>
                  <a:lnTo>
                    <a:pt x="143827" y="0"/>
                  </a:lnTo>
                </a:path>
              </a:pathLst>
            </a:custGeom>
            <a:noFill/>
            <a:ln w="24765" cap="rnd">
              <a:solidFill>
                <a:srgbClr val="14A38B"/>
              </a:solidFill>
              <a:round/>
            </a:ln>
          </p:spPr>
        </p:sp>
        <p:sp>
          <p:nvSpPr>
            <p:cNvPr id="48" name="TextBox 48"/>
            <p:cNvSpPr txBox="1"/>
            <p:nvPr/>
          </p:nvSpPr>
          <p:spPr>
            <a:xfrm>
              <a:off x="7148512" y="2506028"/>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其次试高斯核</a:t>
              </a:r>
            </a:p>
          </p:txBody>
        </p:sp>
        <p:sp>
          <p:nvSpPr>
            <p:cNvPr id="49" name="Rectangle 49"/>
            <p:cNvSpPr/>
            <p:nvPr/>
          </p:nvSpPr>
          <p:spPr>
            <a:xfrm>
              <a:off x="7156132" y="2872740"/>
              <a:ext cx="73342" cy="19050"/>
            </a:xfrm>
            <a:prstGeom prst="rect">
              <a:avLst/>
            </a:prstGeom>
            <a:solidFill>
              <a:srgbClr val="5B6475"/>
            </a:solidFill>
            <a:ln>
              <a:noFill/>
            </a:ln>
          </p:spPr>
        </p:sp>
        <p:sp>
          <p:nvSpPr>
            <p:cNvPr id="50" name="TextBox 50"/>
            <p:cNvSpPr txBox="1"/>
            <p:nvPr/>
          </p:nvSpPr>
          <p:spPr>
            <a:xfrm>
              <a:off x="7340156" y="2799874"/>
              <a:ext cx="363983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样本多、特征少、边界弯曲时首选，只调 σ 和 C</a:t>
              </a:r>
            </a:p>
          </p:txBody>
        </p:sp>
        <p:sp>
          <p:nvSpPr>
            <p:cNvPr id="51" name="Freeform 51"/>
            <p:cNvSpPr/>
            <p:nvPr/>
          </p:nvSpPr>
          <p:spPr>
            <a:xfrm>
              <a:off x="6898005" y="3141345"/>
              <a:ext cx="143827" cy="116205"/>
            </a:xfrm>
            <a:custGeom>
              <a:avLst/>
              <a:gdLst/>
              <a:ahLst/>
              <a:cxnLst/>
              <a:rect l="l" t="t" r="r" b="b"/>
              <a:pathLst>
                <a:path w="143827" h="116205">
                  <a:moveTo>
                    <a:pt x="0" y="60960"/>
                  </a:moveTo>
                  <a:lnTo>
                    <a:pt x="54292" y="116205"/>
                  </a:lnTo>
                  <a:lnTo>
                    <a:pt x="143827" y="0"/>
                  </a:lnTo>
                </a:path>
              </a:pathLst>
            </a:custGeom>
            <a:noFill/>
            <a:ln w="24765" cap="rnd">
              <a:solidFill>
                <a:srgbClr val="14A38B"/>
              </a:solidFill>
              <a:round/>
            </a:ln>
          </p:spPr>
        </p:sp>
        <p:sp>
          <p:nvSpPr>
            <p:cNvPr id="52" name="TextBox 52"/>
            <p:cNvSpPr txBox="1"/>
            <p:nvPr/>
          </p:nvSpPr>
          <p:spPr>
            <a:xfrm>
              <a:off x="7148512" y="3108960"/>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多项式核谨慎用</a:t>
              </a:r>
            </a:p>
          </p:txBody>
        </p:sp>
        <p:sp>
          <p:nvSpPr>
            <p:cNvPr id="53" name="Rectangle 53"/>
            <p:cNvSpPr/>
            <p:nvPr/>
          </p:nvSpPr>
          <p:spPr>
            <a:xfrm>
              <a:off x="7156132" y="3475672"/>
              <a:ext cx="73342" cy="19050"/>
            </a:xfrm>
            <a:prstGeom prst="rect">
              <a:avLst/>
            </a:prstGeom>
            <a:solidFill>
              <a:srgbClr val="5B6475"/>
            </a:solidFill>
            <a:ln>
              <a:noFill/>
            </a:ln>
          </p:spPr>
        </p:sp>
        <p:sp>
          <p:nvSpPr>
            <p:cNvPr id="54" name="TextBox 54"/>
            <p:cNvSpPr txBox="1"/>
            <p:nvPr/>
          </p:nvSpPr>
          <p:spPr>
            <a:xfrm>
              <a:off x="7340156" y="3402806"/>
              <a:ext cx="3088752"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q 稍大数值就会溢出或下溢，训练不稳定</a:t>
              </a:r>
            </a:p>
          </p:txBody>
        </p:sp>
      </p:grpSp>
      <p:grpSp>
        <p:nvGrpSpPr>
          <p:cNvPr id="66" name="c2-card-2"/>
          <p:cNvGrpSpPr/>
          <p:nvPr/>
        </p:nvGrpSpPr>
        <p:grpSpPr>
          <a:xfrm>
            <a:off x="6898005" y="3792855"/>
            <a:ext cx="4760595" cy="2538412"/>
            <a:chOff x="6898005" y="3792855"/>
            <a:chExt cx="4760595" cy="2538412"/>
          </a:xfrm>
        </p:grpSpPr>
        <p:sp>
          <p:nvSpPr>
            <p:cNvPr id="56" name="Rectangle 56"/>
            <p:cNvSpPr/>
            <p:nvPr/>
          </p:nvSpPr>
          <p:spPr>
            <a:xfrm>
              <a:off x="6898005" y="3792855"/>
              <a:ext cx="4760595" cy="2538412"/>
            </a:xfrm>
            <a:prstGeom prst="roundRect">
              <a:avLst>
                <a:gd name="adj" fmla="val 5253"/>
              </a:avLst>
            </a:prstGeom>
            <a:solidFill>
              <a:srgbClr val="FFFFFF"/>
            </a:solidFill>
            <a:ln w="14288">
              <a:solidFill>
                <a:srgbClr val="D9DFEA"/>
              </a:solidFill>
            </a:ln>
          </p:spPr>
        </p:sp>
        <p:sp>
          <p:nvSpPr>
            <p:cNvPr id="57" name="Rectangle 57"/>
            <p:cNvSpPr/>
            <p:nvPr/>
          </p:nvSpPr>
          <p:spPr>
            <a:xfrm>
              <a:off x="6907530" y="3926205"/>
              <a:ext cx="47625" cy="2271712"/>
            </a:xfrm>
            <a:prstGeom prst="roundRect">
              <a:avLst>
                <a:gd name="adj" fmla="val 50000"/>
              </a:avLst>
            </a:prstGeom>
            <a:solidFill>
              <a:srgbClr val="B42318"/>
            </a:solidFill>
            <a:ln>
              <a:noFill/>
            </a:ln>
          </p:spPr>
        </p:sp>
        <p:sp>
          <p:nvSpPr>
            <p:cNvPr id="58" name="Rectangle 58"/>
            <p:cNvSpPr/>
            <p:nvPr/>
          </p:nvSpPr>
          <p:spPr>
            <a:xfrm>
              <a:off x="7145655" y="4002405"/>
              <a:ext cx="636270" cy="257175"/>
            </a:xfrm>
            <a:prstGeom prst="roundRect">
              <a:avLst>
                <a:gd name="adj" fmla="val 50000"/>
              </a:avLst>
            </a:prstGeom>
            <a:solidFill>
              <a:srgbClr val="FDECEA"/>
            </a:solidFill>
            <a:ln>
              <a:noFill/>
            </a:ln>
          </p:spPr>
        </p:sp>
        <p:sp>
          <p:nvSpPr>
            <p:cNvPr id="59" name="TextBox 59"/>
            <p:cNvSpPr txBox="1"/>
            <p:nvPr/>
          </p:nvSpPr>
          <p:spPr>
            <a:xfrm>
              <a:off x="7231913" y="4038124"/>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易错点</a:t>
              </a:r>
            </a:p>
          </p:txBody>
        </p:sp>
        <p:sp>
          <p:nvSpPr>
            <p:cNvPr id="60" name="TextBox 60"/>
            <p:cNvSpPr txBox="1"/>
            <p:nvPr/>
          </p:nvSpPr>
          <p:spPr>
            <a:xfrm>
              <a:off x="7888605" y="4037648"/>
              <a:ext cx="2416693"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σ 取极端值时高斯核会退化</a:t>
              </a:r>
            </a:p>
          </p:txBody>
        </p:sp>
        <p:sp>
          <p:nvSpPr>
            <p:cNvPr id="61" name="Ellipse 61"/>
            <p:cNvSpPr/>
            <p:nvPr/>
          </p:nvSpPr>
          <p:spPr>
            <a:xfrm>
              <a:off x="7151370" y="4461510"/>
              <a:ext cx="64770" cy="64770"/>
            </a:xfrm>
            <a:prstGeom prst="ellipse">
              <a:avLst/>
            </a:prstGeom>
            <a:solidFill>
              <a:srgbClr val="0E7C86"/>
            </a:solidFill>
            <a:ln>
              <a:noFill/>
            </a:ln>
          </p:spPr>
        </p:sp>
        <p:sp>
          <p:nvSpPr>
            <p:cNvPr id="62" name="TextBox 62"/>
            <p:cNvSpPr txBox="1"/>
            <p:nvPr/>
          </p:nvSpPr>
          <p:spPr>
            <a:xfrm>
              <a:off x="7309485" y="4398645"/>
              <a:ext cx="395859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σ 太小：K(x, z) 除了 x = z 之外几乎都是 0，</a:t>
              </a:r>
              <a:br/>
              <a:r>
                <a:rPr lang="zh-CN" sz="1500" dirty="0">
                  <a:solidFill>
                    <a:srgbClr val="1F2937"/>
                  </a:solidFill>
                  <a:latin typeface="+mn-lt"/>
                  <a:ea typeface="+mn-ea"/>
                  <a:cs typeface="+mn-cs"/>
                </a:rPr>
                <a:t>Gram 矩阵近似单位阵，训练集全部变成支持向</a:t>
              </a:r>
              <a:br/>
              <a:r>
                <a:rPr lang="zh-CN" sz="1500" dirty="0">
                  <a:solidFill>
                    <a:srgbClr val="1F2937"/>
                  </a:solidFill>
                  <a:latin typeface="+mn-lt"/>
                  <a:ea typeface="+mn-ea"/>
                  <a:cs typeface="+mn-cs"/>
                </a:rPr>
                <a:t>量，严重过学习</a:t>
              </a:r>
            </a:p>
          </p:txBody>
        </p:sp>
        <p:sp>
          <p:nvSpPr>
            <p:cNvPr id="63" name="Ellipse 63"/>
            <p:cNvSpPr/>
            <p:nvPr/>
          </p:nvSpPr>
          <p:spPr>
            <a:xfrm>
              <a:off x="7151370" y="5368290"/>
              <a:ext cx="64770" cy="64770"/>
            </a:xfrm>
            <a:prstGeom prst="ellipse">
              <a:avLst/>
            </a:prstGeom>
            <a:solidFill>
              <a:srgbClr val="0E7C86"/>
            </a:solidFill>
            <a:ln>
              <a:noFill/>
            </a:ln>
          </p:spPr>
        </p:sp>
        <p:sp>
          <p:nvSpPr>
            <p:cNvPr id="64" name="TextBox 64"/>
            <p:cNvSpPr txBox="1"/>
            <p:nvPr/>
          </p:nvSpPr>
          <p:spPr>
            <a:xfrm>
              <a:off x="7309485" y="5305425"/>
              <a:ext cx="37490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σ 太大：K(x, z) 几乎恒为 1，模型退化成常</a:t>
              </a:r>
              <a:br/>
              <a:r>
                <a:rPr lang="zh-CN" sz="1500" dirty="0">
                  <a:solidFill>
                    <a:srgbClr val="1F2937"/>
                  </a:solidFill>
                  <a:latin typeface="+mn-lt"/>
                  <a:ea typeface="+mn-ea"/>
                  <a:cs typeface="+mn-cs"/>
                </a:rPr>
                <a:t>数，欠学习</a:t>
              </a:r>
            </a:p>
          </p:txBody>
        </p:sp>
        <p:sp>
          <p:nvSpPr>
            <p:cNvPr id="65" name="TextBox 65"/>
            <p:cNvSpPr txBox="1"/>
            <p:nvPr/>
          </p:nvSpPr>
          <p:spPr>
            <a:xfrm>
              <a:off x="7139178" y="5922169"/>
              <a:ext cx="3323976"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和 C 一起用交叉验证在二维对数网格上搜。</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非线性支持向量机：核方法</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高斯核背后是一个无穷维映射</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780" y="1548765"/>
            <a:ext cx="5457254" cy="293370"/>
            <a:chOff x="525780" y="1548765"/>
            <a:chExt cx="5457254" cy="293370"/>
          </a:xfrm>
        </p:grpSpPr>
        <p:sp>
          <p:nvSpPr>
            <p:cNvPr id="7" name="TextBox 7"/>
            <p:cNvSpPr txBox="1"/>
            <p:nvPr/>
          </p:nvSpPr>
          <p:spPr>
            <a:xfrm>
              <a:off x="525780" y="1548765"/>
              <a:ext cx="5457254"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这也是“永远不要显式写出 φ”最有力的理由：它根本写不完。</a:t>
              </a:r>
            </a:p>
          </p:txBody>
        </p:sp>
      </p:grpSp>
      <p:grpSp>
        <p:nvGrpSpPr>
          <p:cNvPr id="26" name="c1-steps-1"/>
          <p:cNvGrpSpPr/>
          <p:nvPr/>
        </p:nvGrpSpPr>
        <p:grpSpPr>
          <a:xfrm>
            <a:off x="533400" y="1964055"/>
            <a:ext cx="2872588" cy="2411159"/>
            <a:chOff x="533400" y="1964055"/>
            <a:chExt cx="2872588" cy="2411159"/>
          </a:xfrm>
        </p:grpSpPr>
        <p:sp>
          <p:nvSpPr>
            <p:cNvPr id="9" name="Rectangle 9"/>
            <p:cNvSpPr/>
            <p:nvPr/>
          </p:nvSpPr>
          <p:spPr>
            <a:xfrm>
              <a:off x="666750" y="2106930"/>
              <a:ext cx="19050" cy="1862138"/>
            </a:xfrm>
            <a:prstGeom prst="rect">
              <a:avLst/>
            </a:prstGeom>
            <a:solidFill>
              <a:srgbClr val="D9DFEA"/>
            </a:solidFill>
            <a:ln>
              <a:noFill/>
            </a:ln>
          </p:spPr>
        </p:sp>
        <p:sp>
          <p:nvSpPr>
            <p:cNvPr id="10" name="Ellipse 10"/>
            <p:cNvSpPr/>
            <p:nvPr/>
          </p:nvSpPr>
          <p:spPr>
            <a:xfrm>
              <a:off x="533400" y="1964055"/>
              <a:ext cx="285750" cy="285750"/>
            </a:xfrm>
            <a:prstGeom prst="ellipse">
              <a:avLst/>
            </a:prstGeom>
            <a:solidFill>
              <a:srgbClr val="0E7C86"/>
            </a:solidFill>
            <a:ln>
              <a:noFill/>
            </a:ln>
          </p:spPr>
        </p:sp>
        <p:sp>
          <p:nvSpPr>
            <p:cNvPr id="11" name="TextBox 11"/>
            <p:cNvSpPr txBox="1"/>
            <p:nvPr/>
          </p:nvSpPr>
          <p:spPr>
            <a:xfrm>
              <a:off x="627024" y="203787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585085"/>
              <a:ext cx="285750" cy="285750"/>
            </a:xfrm>
            <a:prstGeom prst="ellipse">
              <a:avLst/>
            </a:prstGeom>
            <a:solidFill>
              <a:srgbClr val="0E7C86"/>
            </a:solidFill>
            <a:ln>
              <a:noFill/>
            </a:ln>
          </p:spPr>
        </p:sp>
        <p:sp>
          <p:nvSpPr>
            <p:cNvPr id="13" name="TextBox 13"/>
            <p:cNvSpPr txBox="1"/>
            <p:nvPr/>
          </p:nvSpPr>
          <p:spPr>
            <a:xfrm>
              <a:off x="627024" y="265890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206115"/>
              <a:ext cx="285750" cy="285750"/>
            </a:xfrm>
            <a:prstGeom prst="ellipse">
              <a:avLst/>
            </a:prstGeom>
            <a:solidFill>
              <a:srgbClr val="0E7C86"/>
            </a:solidFill>
            <a:ln>
              <a:noFill/>
            </a:ln>
          </p:spPr>
        </p:sp>
        <p:sp>
          <p:nvSpPr>
            <p:cNvPr id="15" name="TextBox 15"/>
            <p:cNvSpPr txBox="1"/>
            <p:nvPr/>
          </p:nvSpPr>
          <p:spPr>
            <a:xfrm>
              <a:off x="627024" y="327993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3826192"/>
              <a:ext cx="285750" cy="285750"/>
            </a:xfrm>
            <a:prstGeom prst="ellipse">
              <a:avLst/>
            </a:prstGeom>
            <a:solidFill>
              <a:srgbClr val="0E7C86"/>
            </a:solidFill>
            <a:ln>
              <a:noFill/>
            </a:ln>
          </p:spPr>
        </p:sp>
        <p:sp>
          <p:nvSpPr>
            <p:cNvPr id="17" name="TextBox 17"/>
            <p:cNvSpPr txBox="1"/>
            <p:nvPr/>
          </p:nvSpPr>
          <p:spPr>
            <a:xfrm>
              <a:off x="627024" y="390001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TextBox 18"/>
            <p:cNvSpPr txBox="1"/>
            <p:nvPr/>
          </p:nvSpPr>
          <p:spPr>
            <a:xfrm>
              <a:off x="945261" y="1996916"/>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一维情形</a:t>
              </a:r>
            </a:p>
          </p:txBody>
        </p:sp>
        <p:sp>
          <p:nvSpPr>
            <p:cNvPr id="19" name="TextBox 19"/>
            <p:cNvSpPr txBox="1"/>
            <p:nvPr/>
          </p:nvSpPr>
          <p:spPr>
            <a:xfrm>
              <a:off x="946404" y="2277428"/>
              <a:ext cx="1956302"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K(x, z) = exp(−(x − z)²)</a:t>
              </a:r>
            </a:p>
          </p:txBody>
        </p:sp>
        <p:sp>
          <p:nvSpPr>
            <p:cNvPr id="20" name="TextBox 20"/>
            <p:cNvSpPr txBox="1"/>
            <p:nvPr/>
          </p:nvSpPr>
          <p:spPr>
            <a:xfrm>
              <a:off x="945261" y="2617946"/>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拆平方</a:t>
              </a:r>
            </a:p>
          </p:txBody>
        </p:sp>
        <p:sp>
          <p:nvSpPr>
            <p:cNvPr id="21" name="TextBox 21"/>
            <p:cNvSpPr txBox="1"/>
            <p:nvPr/>
          </p:nvSpPr>
          <p:spPr>
            <a:xfrm>
              <a:off x="946404" y="2898457"/>
              <a:ext cx="2459584"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 exp(−x²)·exp(−z²)·exp(2xz)</a:t>
              </a:r>
            </a:p>
          </p:txBody>
        </p:sp>
        <p:sp>
          <p:nvSpPr>
            <p:cNvPr id="22" name="TextBox 22"/>
            <p:cNvSpPr txBox="1"/>
            <p:nvPr/>
          </p:nvSpPr>
          <p:spPr>
            <a:xfrm>
              <a:off x="945261" y="3238976"/>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展开指数</a:t>
              </a:r>
            </a:p>
          </p:txBody>
        </p:sp>
        <p:sp>
          <p:nvSpPr>
            <p:cNvPr id="23" name="TextBox 23"/>
            <p:cNvSpPr txBox="1"/>
            <p:nvPr/>
          </p:nvSpPr>
          <p:spPr>
            <a:xfrm>
              <a:off x="946404" y="3519488"/>
              <a:ext cx="2174240"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exp(2xz) = Σₖ (2ᵏ/k!)·xᵏzᵏ</a:t>
              </a:r>
            </a:p>
          </p:txBody>
        </p:sp>
        <p:sp>
          <p:nvSpPr>
            <p:cNvPr id="24" name="TextBox 24"/>
            <p:cNvSpPr txBox="1"/>
            <p:nvPr/>
          </p:nvSpPr>
          <p:spPr>
            <a:xfrm>
              <a:off x="945261" y="3860006"/>
              <a:ext cx="56740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读出 φ</a:t>
              </a:r>
            </a:p>
          </p:txBody>
        </p:sp>
        <p:sp>
          <p:nvSpPr>
            <p:cNvPr id="25" name="TextBox 25"/>
            <p:cNvSpPr txBox="1"/>
            <p:nvPr/>
          </p:nvSpPr>
          <p:spPr>
            <a:xfrm>
              <a:off x="946404" y="4140518"/>
              <a:ext cx="245958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每一项 k 对应特征空间的一个坐标</a:t>
              </a:r>
            </a:p>
          </p:txBody>
        </p:sp>
      </p:grpSp>
      <mc:AlternateContent xmlns:mc="http://schemas.openxmlformats.org/markup-compatibility/2006">
        <mc:Choice xmlns:a14="http://schemas.microsoft.com/office/drawing/2010/main" Requires="a14">
          <p:sp>
            <p:nvSpPr>
              <p:cNvPr id="27" name="formula225"/>
              <p:cNvSpPr txBox="1">
                <a:spLocks noGrp="1"/>
              </p:cNvSpPr>
              <p:nvPr/>
            </p:nvSpPr>
            <p:spPr>
              <a:xfrm>
                <a:off x="533400" y="4551045"/>
                <a:ext cx="5410200" cy="48863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420" dirty="0">
                          <a:solidFill>
                            <a:srgbClr val="1F2937"/>
                          </a:solidFill>
                          <a:latin typeface="Cambria Math"/>
                          <a:ea typeface="Cambria Math"/>
                          <a:cs typeface="Cambria Math"/>
                        </a:rPr>
                        <m:t>ϕ</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x</m:t>
                          </m:r>
                        </m:e>
                      </m:d>
                      <m:r>
                        <m:rPr>
                          <m:sty m:val="p"/>
                        </m:rPr>
                        <a:rPr lang="zh-CN" sz="1420" dirty="0">
                          <a:solidFill>
                            <a:srgbClr val="1F2937"/>
                          </a:solidFill>
                          <a:latin typeface="Cambria Math"/>
                          <a:ea typeface="Cambria Math"/>
                          <a:cs typeface="Cambria Math"/>
                        </a:rPr>
                        <m:t>=</m:t>
                      </m:r>
                      <m:sSup>
                        <m:e>
                          <m:r>
                            <a:rPr lang="zh-CN" sz="1420" dirty="0">
                              <a:solidFill>
                                <a:srgbClr val="1F2937"/>
                              </a:solidFill>
                              <a:latin typeface="Cambria Math"/>
                              <a:ea typeface="Cambria Math"/>
                              <a:cs typeface="Cambria Math"/>
                            </a:rPr>
                            <m:t>e</m:t>
                          </m:r>
                        </m:e>
                        <m:sup>
                          <m:r>
                            <m:rPr>
                              <m:sty m:val="p"/>
                            </m:rPr>
                            <a:rPr lang="zh-CN" sz="1420" dirty="0">
                              <a:solidFill>
                                <a:srgbClr val="1F2937"/>
                              </a:solidFill>
                              <a:latin typeface="Cambria Math"/>
                              <a:ea typeface="Cambria Math"/>
                              <a:cs typeface="Cambria Math"/>
                            </a:rPr>
                            <m:t>−</m:t>
                          </m:r>
                          <m:sSup>
                            <m:e>
                              <m:r>
                                <a:rPr lang="zh-CN" sz="1420" dirty="0">
                                  <a:solidFill>
                                    <a:srgbClr val="1F2937"/>
                                  </a:solidFill>
                                  <a:latin typeface="Cambria Math"/>
                                  <a:ea typeface="Cambria Math"/>
                                  <a:cs typeface="Cambria Math"/>
                                </a:rPr>
                                <m:t>x</m:t>
                              </m:r>
                            </m:e>
                            <m:sup>
                              <m:r>
                                <a:rPr lang="zh-CN" sz="1420" dirty="0">
                                  <a:solidFill>
                                    <a:srgbClr val="1F2937"/>
                                  </a:solidFill>
                                  <a:latin typeface="Cambria Math"/>
                                  <a:ea typeface="Cambria Math"/>
                                  <a:cs typeface="Cambria Math"/>
                                </a:rPr>
                                <m:t>2</m:t>
                              </m:r>
                            </m:sup>
                          </m:sSup>
                        </m:sup>
                      </m:sSup>
                      <m:sSup>
                        <m:e>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1</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rad>
                                <m:radPr>
                                  <m:degHide m:val="on"/>
                                  <m:ctrlPr>
                                    <a:rPr lang="zh-CN" sz="1420" dirty="0">
                                      <a:solidFill>
                                        <a:srgbClr val="1F2937"/>
                                      </a:solidFill>
                                      <a:latin typeface="Cambria Math"/>
                                      <a:ea typeface="Cambria Math"/>
                                      <a:cs typeface="Cambria Math"/>
                                    </a:rPr>
                                  </m:ctrlPr>
                                </m:radPr>
                                <m:deg/>
                                <m:e>
                                  <m:f>
                                    <m:fPr>
                                      <m:type m:val="bar"/>
                                      <m:ctrlPr>
                                        <a:rPr lang="zh-CN" sz="1420" dirty="0">
                                          <a:solidFill>
                                            <a:srgbClr val="1F2937"/>
                                          </a:solidFill>
                                          <a:latin typeface="Cambria Math"/>
                                          <a:ea typeface="Cambria Math"/>
                                          <a:cs typeface="Cambria Math"/>
                                        </a:rPr>
                                      </m:ctrlPr>
                                    </m:fPr>
                                    <m:num>
                                      <m:r>
                                        <a:rPr lang="zh-CN" sz="1420" dirty="0">
                                          <a:solidFill>
                                            <a:srgbClr val="1F2937"/>
                                          </a:solidFill>
                                          <a:latin typeface="Cambria Math"/>
                                          <a:ea typeface="Cambria Math"/>
                                          <a:cs typeface="Cambria Math"/>
                                        </a:rPr>
                                        <m:t>2</m:t>
                                      </m:r>
                                    </m:num>
                                    <m:den>
                                      <m:r>
                                        <a:rPr lang="zh-CN" sz="1420" dirty="0">
                                          <a:solidFill>
                                            <a:srgbClr val="1F2937"/>
                                          </a:solidFill>
                                          <a:latin typeface="Cambria Math"/>
                                          <a:ea typeface="Cambria Math"/>
                                          <a:cs typeface="Cambria Math"/>
                                        </a:rPr>
                                        <m:t>1</m:t>
                                      </m:r>
                                      <m:r>
                                        <m:rPr>
                                          <m:sty m:val="p"/>
                                        </m:rPr>
                                        <a:rPr lang="zh-CN" sz="1420" dirty="0">
                                          <a:solidFill>
                                            <a:srgbClr val="1F2937"/>
                                          </a:solidFill>
                                          <a:latin typeface="Cambria Math"/>
                                          <a:ea typeface="Cambria Math"/>
                                          <a:cs typeface="Cambria Math"/>
                                        </a:rPr>
                                        <m:t>!</m:t>
                                      </m:r>
                                    </m:den>
                                  </m:f>
                                </m:e>
                              </m:rad>
                              <m:r>
                                <a:rPr lang="zh-CN" sz="1420" dirty="0">
                                  <a:solidFill>
                                    <a:srgbClr val="1F2937"/>
                                  </a:solidFill>
                                  <a:latin typeface="Cambria Math"/>
                                  <a:ea typeface="Cambria Math"/>
                                  <a:cs typeface="Cambria Math"/>
                                </a:rPr>
                                <m:t xml:space="preserve"> </m:t>
                              </m:r>
                              <m:r>
                                <a:rPr lang="zh-CN" sz="1420" dirty="0">
                                  <a:solidFill>
                                    <a:srgbClr val="1F2937"/>
                                  </a:solidFill>
                                  <a:latin typeface="Cambria Math"/>
                                  <a:ea typeface="Cambria Math"/>
                                  <a:cs typeface="Cambria Math"/>
                                </a:rPr>
                                <m:t>x</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rad>
                                <m:radPr>
                                  <m:degHide m:val="on"/>
                                  <m:ctrlPr>
                                    <a:rPr lang="zh-CN" sz="1420" dirty="0">
                                      <a:solidFill>
                                        <a:srgbClr val="1F2937"/>
                                      </a:solidFill>
                                      <a:latin typeface="Cambria Math"/>
                                      <a:ea typeface="Cambria Math"/>
                                      <a:cs typeface="Cambria Math"/>
                                    </a:rPr>
                                  </m:ctrlPr>
                                </m:radPr>
                                <m:deg/>
                                <m:e>
                                  <m:f>
                                    <m:fPr>
                                      <m:type m:val="bar"/>
                                      <m:ctrlPr>
                                        <a:rPr lang="zh-CN" sz="1420" dirty="0">
                                          <a:solidFill>
                                            <a:srgbClr val="1F2937"/>
                                          </a:solidFill>
                                          <a:latin typeface="Cambria Math"/>
                                          <a:ea typeface="Cambria Math"/>
                                          <a:cs typeface="Cambria Math"/>
                                        </a:rPr>
                                      </m:ctrlPr>
                                    </m:fPr>
                                    <m:num>
                                      <m:sSup>
                                        <m:e>
                                          <m:r>
                                            <a:rPr lang="zh-CN" sz="1420" dirty="0">
                                              <a:solidFill>
                                                <a:srgbClr val="1F2937"/>
                                              </a:solidFill>
                                              <a:latin typeface="Cambria Math"/>
                                              <a:ea typeface="Cambria Math"/>
                                              <a:cs typeface="Cambria Math"/>
                                            </a:rPr>
                                            <m:t>2</m:t>
                                          </m:r>
                                        </m:e>
                                        <m:sup>
                                          <m:r>
                                            <a:rPr lang="zh-CN" sz="1420" dirty="0">
                                              <a:solidFill>
                                                <a:srgbClr val="1F2937"/>
                                              </a:solidFill>
                                              <a:latin typeface="Cambria Math"/>
                                              <a:ea typeface="Cambria Math"/>
                                              <a:cs typeface="Cambria Math"/>
                                            </a:rPr>
                                            <m:t>2</m:t>
                                          </m:r>
                                        </m:sup>
                                      </m:sSup>
                                    </m:num>
                                    <m:den>
                                      <m:r>
                                        <a:rPr lang="zh-CN" sz="1420" dirty="0">
                                          <a:solidFill>
                                            <a:srgbClr val="1F2937"/>
                                          </a:solidFill>
                                          <a:latin typeface="Cambria Math"/>
                                          <a:ea typeface="Cambria Math"/>
                                          <a:cs typeface="Cambria Math"/>
                                        </a:rPr>
                                        <m:t>2</m:t>
                                      </m:r>
                                      <m:r>
                                        <m:rPr>
                                          <m:sty m:val="p"/>
                                        </m:rPr>
                                        <a:rPr lang="zh-CN" sz="1420" dirty="0">
                                          <a:solidFill>
                                            <a:srgbClr val="1F2937"/>
                                          </a:solidFill>
                                          <a:latin typeface="Cambria Math"/>
                                          <a:ea typeface="Cambria Math"/>
                                          <a:cs typeface="Cambria Math"/>
                                        </a:rPr>
                                        <m:t>!</m:t>
                                      </m:r>
                                    </m:den>
                                  </m:f>
                                </m:e>
                              </m:rad>
                              <m:r>
                                <a:rPr lang="zh-CN" sz="1420" dirty="0">
                                  <a:solidFill>
                                    <a:srgbClr val="1F2937"/>
                                  </a:solidFill>
                                  <a:latin typeface="Cambria Math"/>
                                  <a:ea typeface="Cambria Math"/>
                                  <a:cs typeface="Cambria Math"/>
                                </a:rPr>
                                <m:t xml:space="preserve"> </m:t>
                              </m:r>
                              <m:sSup>
                                <m:e>
                                  <m:r>
                                    <a:rPr lang="zh-CN" sz="1420" dirty="0">
                                      <a:solidFill>
                                        <a:srgbClr val="1F2937"/>
                                      </a:solidFill>
                                      <a:latin typeface="Cambria Math"/>
                                      <a:ea typeface="Cambria Math"/>
                                      <a:cs typeface="Cambria Math"/>
                                    </a:rPr>
                                    <m:t>x</m:t>
                                  </m:r>
                                </m:e>
                                <m:sup>
                                  <m:r>
                                    <a:rPr lang="zh-CN" sz="1420" dirty="0">
                                      <a:solidFill>
                                        <a:srgbClr val="1F2937"/>
                                      </a:solidFill>
                                      <a:latin typeface="Cambria Math"/>
                                      <a:ea typeface="Cambria Math"/>
                                      <a:cs typeface="Cambria Math"/>
                                    </a:rPr>
                                    <m:t>2</m:t>
                                  </m:r>
                                </m:sup>
                              </m:sSup>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rad>
                                <m:radPr>
                                  <m:degHide m:val="on"/>
                                  <m:ctrlPr>
                                    <a:rPr lang="zh-CN" sz="1420" dirty="0">
                                      <a:solidFill>
                                        <a:srgbClr val="1F2937"/>
                                      </a:solidFill>
                                      <a:latin typeface="Cambria Math"/>
                                      <a:ea typeface="Cambria Math"/>
                                      <a:cs typeface="Cambria Math"/>
                                    </a:rPr>
                                  </m:ctrlPr>
                                </m:radPr>
                                <m:deg/>
                                <m:e>
                                  <m:f>
                                    <m:fPr>
                                      <m:type m:val="bar"/>
                                      <m:ctrlPr>
                                        <a:rPr lang="zh-CN" sz="1420" dirty="0">
                                          <a:solidFill>
                                            <a:srgbClr val="1F2937"/>
                                          </a:solidFill>
                                          <a:latin typeface="Cambria Math"/>
                                          <a:ea typeface="Cambria Math"/>
                                          <a:cs typeface="Cambria Math"/>
                                        </a:rPr>
                                      </m:ctrlPr>
                                    </m:fPr>
                                    <m:num>
                                      <m:sSup>
                                        <m:e>
                                          <m:r>
                                            <a:rPr lang="zh-CN" sz="1420" dirty="0">
                                              <a:solidFill>
                                                <a:srgbClr val="1F2937"/>
                                              </a:solidFill>
                                              <a:latin typeface="Cambria Math"/>
                                              <a:ea typeface="Cambria Math"/>
                                              <a:cs typeface="Cambria Math"/>
                                            </a:rPr>
                                            <m:t>2</m:t>
                                          </m:r>
                                        </m:e>
                                        <m:sup>
                                          <m:r>
                                            <a:rPr lang="zh-CN" sz="1420" dirty="0">
                                              <a:solidFill>
                                                <a:srgbClr val="1F2937"/>
                                              </a:solidFill>
                                              <a:latin typeface="Cambria Math"/>
                                              <a:ea typeface="Cambria Math"/>
                                              <a:cs typeface="Cambria Math"/>
                                            </a:rPr>
                                            <m:t>3</m:t>
                                          </m:r>
                                        </m:sup>
                                      </m:sSup>
                                    </m:num>
                                    <m:den>
                                      <m:r>
                                        <a:rPr lang="zh-CN" sz="1420" dirty="0">
                                          <a:solidFill>
                                            <a:srgbClr val="1F2937"/>
                                          </a:solidFill>
                                          <a:latin typeface="Cambria Math"/>
                                          <a:ea typeface="Cambria Math"/>
                                          <a:cs typeface="Cambria Math"/>
                                        </a:rPr>
                                        <m:t>3</m:t>
                                      </m:r>
                                      <m:r>
                                        <m:rPr>
                                          <m:sty m:val="p"/>
                                        </m:rPr>
                                        <a:rPr lang="zh-CN" sz="1420" dirty="0">
                                          <a:solidFill>
                                            <a:srgbClr val="1F2937"/>
                                          </a:solidFill>
                                          <a:latin typeface="Cambria Math"/>
                                          <a:ea typeface="Cambria Math"/>
                                          <a:cs typeface="Cambria Math"/>
                                        </a:rPr>
                                        <m:t>!</m:t>
                                      </m:r>
                                    </m:den>
                                  </m:f>
                                </m:e>
                              </m:rad>
                              <m:r>
                                <a:rPr lang="zh-CN" sz="1420" dirty="0">
                                  <a:solidFill>
                                    <a:srgbClr val="1F2937"/>
                                  </a:solidFill>
                                  <a:latin typeface="Cambria Math"/>
                                  <a:ea typeface="Cambria Math"/>
                                  <a:cs typeface="Cambria Math"/>
                                </a:rPr>
                                <m:t xml:space="preserve"> </m:t>
                              </m:r>
                              <m:sSup>
                                <m:e>
                                  <m:r>
                                    <a:rPr lang="zh-CN" sz="1420" dirty="0">
                                      <a:solidFill>
                                        <a:srgbClr val="1F2937"/>
                                      </a:solidFill>
                                      <a:latin typeface="Cambria Math"/>
                                      <a:ea typeface="Cambria Math"/>
                                      <a:cs typeface="Cambria Math"/>
                                    </a:rPr>
                                    <m:t>x</m:t>
                                  </m:r>
                                </m:e>
                                <m:sup>
                                  <m:r>
                                    <a:rPr lang="zh-CN" sz="1420" dirty="0">
                                      <a:solidFill>
                                        <a:srgbClr val="1F2937"/>
                                      </a:solidFill>
                                      <a:latin typeface="Cambria Math"/>
                                      <a:ea typeface="Cambria Math"/>
                                      <a:cs typeface="Cambria Math"/>
                                    </a:rPr>
                                    <m:t>3</m:t>
                                  </m:r>
                                </m:sup>
                              </m:sSup>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 xml:space="preserve"> </m:t>
                              </m:r>
                              <m:r>
                                <m:rPr>
                                  <m:sty m:val="p"/>
                                </m:rPr>
                                <a:rPr lang="zh-CN" sz="1420" dirty="0">
                                  <a:solidFill>
                                    <a:srgbClr val="1F2937"/>
                                  </a:solidFill>
                                  <a:latin typeface="Cambria Math"/>
                                  <a:ea typeface="Cambria Math"/>
                                  <a:cs typeface="Cambria Math"/>
                                </a:rPr>
                                <m:t>⋯</m:t>
                              </m:r>
                            </m:e>
                          </m:d>
                        </m:e>
                        <m:sup>
                          <m:r>
                            <a:rPr lang="zh-CN" sz="1420" dirty="0">
                              <a:solidFill>
                                <a:srgbClr val="1F2937"/>
                              </a:solidFill>
                              <a:latin typeface="Cambria Math"/>
                              <a:ea typeface="Cambria Math"/>
                              <a:cs typeface="Cambria Math"/>
                            </a:rPr>
                            <m:t>T</m:t>
                          </m:r>
                        </m:sup>
                      </m:sSup>
                    </m:oMath>
                  </m:oMathPara>
                </a14:m>
              </a:p>
            </p:txBody>
          </p:sp>
        </mc:Choice>
      </mc:AlternateContent>
      <p:grpSp>
        <p:nvGrpSpPr>
          <p:cNvPr id="33" name="c1-callout-3"/>
          <p:cNvGrpSpPr/>
          <p:nvPr/>
        </p:nvGrpSpPr>
        <p:grpSpPr>
          <a:xfrm>
            <a:off x="533400" y="5225415"/>
            <a:ext cx="5410200" cy="1018222"/>
            <a:chOff x="533400" y="5225415"/>
            <a:chExt cx="5410200" cy="1018222"/>
          </a:xfrm>
        </p:grpSpPr>
        <p:sp>
          <p:nvSpPr>
            <p:cNvPr id="28" name="Rectangle 28"/>
            <p:cNvSpPr/>
            <p:nvPr/>
          </p:nvSpPr>
          <p:spPr>
            <a:xfrm>
              <a:off x="533400" y="5225415"/>
              <a:ext cx="5410200" cy="1018222"/>
            </a:xfrm>
            <a:prstGeom prst="roundRect">
              <a:avLst>
                <a:gd name="adj" fmla="val 11225"/>
              </a:avLst>
            </a:prstGeom>
            <a:solidFill>
              <a:srgbClr val="E3F5F1"/>
            </a:solidFill>
            <a:ln>
              <a:noFill/>
            </a:ln>
          </p:spPr>
        </p:sp>
        <p:grpSp>
          <p:nvGrpSpPr>
            <p:cNvPr id="31" name="Group 31"/>
            <p:cNvGrpSpPr/>
            <p:nvPr/>
          </p:nvGrpSpPr>
          <p:grpSpPr>
            <a:xfrm>
              <a:off x="738188" y="5634038"/>
              <a:ext cx="200026" cy="200026"/>
              <a:chOff x="738188" y="5634038"/>
              <a:chExt cx="200026" cy="200026"/>
            </a:xfrm>
          </p:grpSpPr>
          <p:sp>
            <p:nvSpPr>
              <p:cNvPr id="29" name="Freeform 29"/>
              <p:cNvSpPr/>
              <p:nvPr/>
            </p:nvSpPr>
            <p:spPr>
              <a:xfrm>
                <a:off x="738188" y="56340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30" name="Freeform 30"/>
              <p:cNvSpPr/>
              <p:nvPr/>
            </p:nvSpPr>
            <p:spPr>
              <a:xfrm>
                <a:off x="804863" y="5711825"/>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32" name="TextBox 32"/>
            <p:cNvSpPr txBox="1"/>
            <p:nvPr/>
          </p:nvSpPr>
          <p:spPr>
            <a:xfrm>
              <a:off x="1040511" y="5372576"/>
              <a:ext cx="4387723"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0F7A68"/>
                  </a:solidFill>
                  <a:latin typeface="+mn-lt"/>
                  <a:ea typeface="+mn-ea"/>
                  <a:cs typeface="+mn-cs"/>
                </a:rPr>
                <a:t>数值复核：x = 0.7、z = −0.4 时，级数前 30 项求和得</a:t>
              </a:r>
              <a:br/>
              <a:r>
                <a:rPr lang="zh-CN" sz="1420" dirty="0">
                  <a:solidFill>
                    <a:srgbClr val="0F7A68"/>
                  </a:solidFill>
                  <a:latin typeface="+mn-lt"/>
                  <a:ea typeface="+mn-ea"/>
                  <a:cs typeface="+mn-cs"/>
                </a:rPr>
                <a:t>0.298197279，直接算 exp(−(x−z)²) =</a:t>
              </a:r>
              <a:br/>
              <a:r>
                <a:rPr lang="zh-CN" sz="1420" dirty="0">
                  <a:solidFill>
                    <a:srgbClr val="0F7A68"/>
                  </a:solidFill>
                  <a:latin typeface="+mn-lt"/>
                  <a:ea typeface="+mn-ea"/>
                  <a:cs typeface="+mn-cs"/>
                </a:rPr>
                <a:t>0.298197279，一致。</a:t>
              </a:r>
            </a:p>
          </p:txBody>
        </p:sp>
      </p:grpSp>
      <p:grpSp>
        <p:nvGrpSpPr>
          <p:cNvPr id="42" name="c2-card-1"/>
          <p:cNvGrpSpPr/>
          <p:nvPr/>
        </p:nvGrpSpPr>
        <p:grpSpPr>
          <a:xfrm>
            <a:off x="6248400" y="1954530"/>
            <a:ext cx="5410200" cy="2156460"/>
            <a:chOff x="6248400" y="1954530"/>
            <a:chExt cx="5410200" cy="2156460"/>
          </a:xfrm>
        </p:grpSpPr>
        <p:sp>
          <p:nvSpPr>
            <p:cNvPr id="34" name="Rectangle 34"/>
            <p:cNvSpPr/>
            <p:nvPr/>
          </p:nvSpPr>
          <p:spPr>
            <a:xfrm>
              <a:off x="6248400" y="1954530"/>
              <a:ext cx="5410200" cy="2156460"/>
            </a:xfrm>
            <a:prstGeom prst="roundRect">
              <a:avLst>
                <a:gd name="adj" fmla="val 6184"/>
              </a:avLst>
            </a:prstGeom>
            <a:solidFill>
              <a:srgbClr val="0E7C86"/>
            </a:solidFill>
            <a:ln>
              <a:noFill/>
            </a:ln>
          </p:spPr>
        </p:sp>
        <p:sp>
          <p:nvSpPr>
            <p:cNvPr id="35" name="Rectangle 35"/>
            <p:cNvSpPr/>
            <p:nvPr/>
          </p:nvSpPr>
          <p:spPr>
            <a:xfrm>
              <a:off x="6452235" y="2158365"/>
              <a:ext cx="921068" cy="257175"/>
            </a:xfrm>
            <a:prstGeom prst="roundRect">
              <a:avLst>
                <a:gd name="adj" fmla="val 50000"/>
              </a:avLst>
            </a:prstGeom>
            <a:solidFill>
              <a:srgbClr val="0B5F67"/>
            </a:solidFill>
            <a:ln>
              <a:noFill/>
            </a:ln>
          </p:spPr>
        </p:sp>
        <p:sp>
          <p:nvSpPr>
            <p:cNvPr id="36" name="TextBox 36"/>
            <p:cNvSpPr txBox="1"/>
            <p:nvPr/>
          </p:nvSpPr>
          <p:spPr>
            <a:xfrm>
              <a:off x="6529642" y="2194084"/>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为什么重要</a:t>
              </a:r>
            </a:p>
          </p:txBody>
        </p:sp>
        <p:sp>
          <p:nvSpPr>
            <p:cNvPr id="37" name="TextBox 37"/>
            <p:cNvSpPr txBox="1"/>
            <p:nvPr/>
          </p:nvSpPr>
          <p:spPr>
            <a:xfrm>
              <a:off x="7480364" y="2197894"/>
              <a:ext cx="1734922"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无穷维带来的两件事</a:t>
              </a:r>
            </a:p>
          </p:txBody>
        </p:sp>
        <p:sp>
          <p:nvSpPr>
            <p:cNvPr id="38" name="Ellipse 38"/>
            <p:cNvSpPr/>
            <p:nvPr/>
          </p:nvSpPr>
          <p:spPr>
            <a:xfrm>
              <a:off x="6459855" y="2609850"/>
              <a:ext cx="60960" cy="60960"/>
            </a:xfrm>
            <a:prstGeom prst="ellipse">
              <a:avLst/>
            </a:prstGeom>
            <a:solidFill>
              <a:srgbClr val="FFFFFF"/>
            </a:solidFill>
            <a:ln>
              <a:noFill/>
            </a:ln>
          </p:spPr>
        </p:sp>
        <p:sp>
          <p:nvSpPr>
            <p:cNvPr id="39" name="TextBox 39"/>
            <p:cNvSpPr txBox="1"/>
            <p:nvPr/>
          </p:nvSpPr>
          <p:spPr>
            <a:xfrm>
              <a:off x="6616446" y="2550319"/>
              <a:ext cx="4604131"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FFD58A"/>
                  </a:solidFill>
                  <a:latin typeface="+mn-lt"/>
                  <a:ea typeface="+mn-ea"/>
                  <a:cs typeface="+mn-cs"/>
                </a:rPr>
                <a:t>表达能力很强</a:t>
              </a:r>
              <a:r>
                <a:rPr lang="zh-CN" sz="1420" dirty="0">
                  <a:solidFill>
                    <a:srgbClr val="FFFFFF"/>
                  </a:solidFill>
                  <a:latin typeface="+mn-lt"/>
                  <a:ea typeface="+mn-ea"/>
                  <a:cs typeface="+mn-cs"/>
                </a:rPr>
                <a:t>：在无穷维空间里，任意有限个互不相同的</a:t>
              </a:r>
              <a:br/>
              <a:r>
                <a:rPr lang="zh-CN" sz="1420" dirty="0">
                  <a:solidFill>
                    <a:srgbClr val="FFFFFF"/>
                  </a:solidFill>
                  <a:latin typeface="+mn-lt"/>
                  <a:ea typeface="+mn-ea"/>
                  <a:cs typeface="+mn-cs"/>
                </a:rPr>
                <a:t>样本总是线性可分的，所以高斯核 SVM 能拟合任意复杂的</a:t>
              </a:r>
              <a:br/>
              <a:r>
                <a:rPr lang="zh-CN" sz="1420" dirty="0">
                  <a:solidFill>
                    <a:srgbClr val="FFFFFF"/>
                  </a:solidFill>
                  <a:latin typeface="+mn-lt"/>
                  <a:ea typeface="+mn-ea"/>
                  <a:cs typeface="+mn-cs"/>
                </a:rPr>
                <a:t>边界</a:t>
              </a:r>
            </a:p>
          </p:txBody>
        </p:sp>
        <p:sp>
          <p:nvSpPr>
            <p:cNvPr id="40" name="Ellipse 40"/>
            <p:cNvSpPr/>
            <p:nvPr/>
          </p:nvSpPr>
          <p:spPr>
            <a:xfrm>
              <a:off x="6459855" y="3472815"/>
              <a:ext cx="60960" cy="60960"/>
            </a:xfrm>
            <a:prstGeom prst="ellipse">
              <a:avLst/>
            </a:prstGeom>
            <a:solidFill>
              <a:srgbClr val="FFFFFF"/>
            </a:solidFill>
            <a:ln>
              <a:noFill/>
            </a:ln>
          </p:spPr>
        </p:sp>
        <p:sp>
          <p:nvSpPr>
            <p:cNvPr id="41" name="TextBox 41"/>
            <p:cNvSpPr txBox="1"/>
            <p:nvPr/>
          </p:nvSpPr>
          <p:spPr>
            <a:xfrm>
              <a:off x="6616446" y="3413284"/>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FFD58A"/>
                  </a:solidFill>
                  <a:latin typeface="+mn-lt"/>
                  <a:ea typeface="+mn-ea"/>
                  <a:cs typeface="+mn-cs"/>
                </a:rPr>
                <a:t>必须靠正则化约束</a:t>
              </a:r>
              <a:r>
                <a:rPr lang="zh-CN" sz="1420" dirty="0">
                  <a:solidFill>
                    <a:srgbClr val="FFFFFF"/>
                  </a:solidFill>
                  <a:latin typeface="+mn-lt"/>
                  <a:ea typeface="+mn-ea"/>
                  <a:cs typeface="+mn-cs"/>
                </a:rPr>
                <a:t>：正因为能力太强，C 和 σ 选不好就会</a:t>
              </a:r>
              <a:br/>
              <a:r>
                <a:rPr lang="zh-CN" sz="1420" dirty="0">
                  <a:solidFill>
                    <a:srgbClr val="FFFFFF"/>
                  </a:solidFill>
                  <a:latin typeface="+mn-lt"/>
                  <a:ea typeface="+mn-ea"/>
                  <a:cs typeface="+mn-cs"/>
                </a:rPr>
                <a:t>把噪声也学下来，第 8 页的结构风险这时才真正起作用</a:t>
              </a:r>
            </a:p>
          </p:txBody>
        </p:sp>
      </p:grpSp>
      <p:grpSp>
        <p:nvGrpSpPr>
          <p:cNvPr id="47" name="c2-card-2"/>
          <p:cNvGrpSpPr/>
          <p:nvPr/>
        </p:nvGrpSpPr>
        <p:grpSpPr>
          <a:xfrm>
            <a:off x="6248400" y="4295775"/>
            <a:ext cx="5410200" cy="1947862"/>
            <a:chOff x="6248400" y="4295775"/>
            <a:chExt cx="5410200" cy="1947862"/>
          </a:xfrm>
        </p:grpSpPr>
        <p:sp>
          <p:nvSpPr>
            <p:cNvPr id="43" name="Rectangle 43"/>
            <p:cNvSpPr/>
            <p:nvPr/>
          </p:nvSpPr>
          <p:spPr>
            <a:xfrm>
              <a:off x="6248400" y="4295775"/>
              <a:ext cx="5410200" cy="1947862"/>
            </a:xfrm>
            <a:prstGeom prst="roundRect">
              <a:avLst>
                <a:gd name="adj" fmla="val 6846"/>
              </a:avLst>
            </a:prstGeom>
            <a:solidFill>
              <a:srgbClr val="FFFFFF"/>
            </a:solidFill>
            <a:ln w="14288">
              <a:solidFill>
                <a:srgbClr val="D9DFEA"/>
              </a:solidFill>
            </a:ln>
          </p:spPr>
        </p:sp>
        <p:sp>
          <p:nvSpPr>
            <p:cNvPr id="44" name="Rectangle 44"/>
            <p:cNvSpPr/>
            <p:nvPr/>
          </p:nvSpPr>
          <p:spPr>
            <a:xfrm>
              <a:off x="6257925" y="4429125"/>
              <a:ext cx="47625" cy="1681162"/>
            </a:xfrm>
            <a:prstGeom prst="roundRect">
              <a:avLst>
                <a:gd name="adj" fmla="val 50000"/>
              </a:avLst>
            </a:prstGeom>
            <a:solidFill>
              <a:srgbClr val="5B6475"/>
            </a:solidFill>
            <a:ln>
              <a:noFill/>
            </a:ln>
          </p:spPr>
        </p:sp>
        <p:sp>
          <p:nvSpPr>
            <p:cNvPr id="45" name="TextBox 45"/>
            <p:cNvSpPr txBox="1"/>
            <p:nvPr/>
          </p:nvSpPr>
          <p:spPr>
            <a:xfrm>
              <a:off x="6483096" y="4523899"/>
              <a:ext cx="139226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与第 5 章的联系</a:t>
              </a:r>
            </a:p>
          </p:txBody>
        </p:sp>
        <p:sp>
          <p:nvSpPr>
            <p:cNvPr id="46" name="TextBox 46"/>
            <p:cNvSpPr txBox="1"/>
            <p:nvPr/>
          </p:nvSpPr>
          <p:spPr>
            <a:xfrm>
              <a:off x="6483096" y="4862036"/>
              <a:ext cx="4784471"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高斯核 SVM 的决策函数与第 5 章的 RBF 网络形式完全一</a:t>
              </a:r>
              <a:br/>
              <a:r>
                <a:rPr lang="zh-CN" sz="1420" dirty="0">
                  <a:solidFill>
                    <a:srgbClr val="1F2937"/>
                  </a:solidFill>
                  <a:latin typeface="+mn-lt"/>
                  <a:ea typeface="+mn-ea"/>
                  <a:cs typeface="+mn-cs"/>
                </a:rPr>
                <a:t>样，区别只在中心怎么来：RBF 网络靠 k-means 或随机采</a:t>
              </a:r>
              <a:br/>
              <a:r>
                <a:rPr lang="zh-CN" sz="1420" dirty="0">
                  <a:solidFill>
                    <a:srgbClr val="1F2937"/>
                  </a:solidFill>
                  <a:latin typeface="+mn-lt"/>
                  <a:ea typeface="+mn-ea"/>
                  <a:cs typeface="+mn-cs"/>
                </a:rPr>
                <a:t>样，高斯核 SVM 的中心就是</a:t>
              </a:r>
              <a:r>
                <a:rPr lang="zh-CN" sz="1420" b="1" dirty="0">
                  <a:solidFill>
                    <a:srgbClr val="C2410C"/>
                  </a:solidFill>
                  <a:latin typeface="+mn-lt"/>
                  <a:ea typeface="+mn-ea"/>
                  <a:cs typeface="+mn-cs"/>
                </a:rPr>
                <a:t>支持向量</a:t>
              </a:r>
              <a:r>
                <a:rPr lang="zh-CN" sz="1420" dirty="0">
                  <a:solidFill>
                    <a:srgbClr val="1F2937"/>
                  </a:solidFill>
                  <a:latin typeface="+mn-lt"/>
                  <a:ea typeface="+mn-ea"/>
                  <a:cs typeface="+mn-cs"/>
                </a:rPr>
                <a:t>，个数由优化过程自动</a:t>
              </a:r>
              <a:br/>
              <a:r>
                <a:rPr lang="zh-CN" sz="1420" dirty="0">
                  <a:solidFill>
                    <a:srgbClr val="1F2937"/>
                  </a:solidFill>
                  <a:latin typeface="+mn-lt"/>
                  <a:ea typeface="+mn-ea"/>
                  <a:cs typeface="+mn-cs"/>
                </a:rPr>
                <a:t>决定。</a:t>
              </a:r>
            </a:p>
          </p:txBody>
        </p:sp>
      </p:grpSp>
      <p:grpSp>
        <p:nvGrpSpPr>
          <p:cNvPr id="50" name="footer"/>
          <p:cNvGrpSpPr/>
          <p:nvPr/>
        </p:nvGrpSpPr>
        <p:grpSpPr>
          <a:xfrm>
            <a:off x="528447" y="6581299"/>
            <a:ext cx="11135106" cy="190690"/>
            <a:chOff x="528447" y="6581299"/>
            <a:chExt cx="11135106" cy="190690"/>
          </a:xfrm>
        </p:grpSpPr>
        <p:sp>
          <p:nvSpPr>
            <p:cNvPr id="48" name="TextBox 48"/>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9" name="TextBox 4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268028" cy="266700"/>
            </a:xfrm>
            <a:prstGeom prst="roundRect">
              <a:avLst>
                <a:gd name="adj" fmla="val 50000"/>
              </a:avLst>
            </a:prstGeom>
            <a:solidFill>
              <a:srgbClr val="E2F3F4"/>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非线性支持向量机：核方法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核形式的对偶问题与最优分类超曲面</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780" y="1548765"/>
            <a:ext cx="6625018" cy="293370"/>
            <a:chOff x="525780" y="1548765"/>
            <a:chExt cx="6625018" cy="293370"/>
          </a:xfrm>
        </p:grpSpPr>
        <p:sp>
          <p:nvSpPr>
            <p:cNvPr id="7" name="TextBox 7"/>
            <p:cNvSpPr txBox="1"/>
            <p:nvPr/>
          </p:nvSpPr>
          <p:spPr>
            <a:xfrm>
              <a:off x="525780" y="1548765"/>
              <a:ext cx="6625018"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把第 31 页对偶里的 xᵢ·xⱼ 整体换成 K(xᵢ, xⱼ)，非线性 SVM 就写完了。</a:t>
              </a:r>
            </a:p>
          </p:txBody>
        </p:sp>
      </p:grpSp>
      <mc:AlternateContent xmlns:mc="http://schemas.openxmlformats.org/markup-compatibility/2006">
        <mc:Choice xmlns:a14="http://schemas.microsoft.com/office/drawing/2010/main" Requires="a14">
          <p:sp>
            <p:nvSpPr>
              <p:cNvPr id="9" name="formula235"/>
              <p:cNvSpPr txBox="1">
                <a:spLocks noGrp="1"/>
              </p:cNvSpPr>
              <p:nvPr/>
            </p:nvSpPr>
            <p:spPr>
              <a:xfrm>
                <a:off x="533400" y="1954530"/>
                <a:ext cx="5193982"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280" dirty="0">
                                  <a:solidFill>
                                    <a:srgbClr val="1F2937"/>
                                  </a:solidFill>
                                  <a:latin typeface="Cambria Math"/>
                                  <a:ea typeface="Cambria Math"/>
                                  <a:cs typeface="Cambria Math"/>
                                </a:rPr>
                                <m:t>max</m:t>
                              </m:r>
                            </m:e>
                            <m:lim>
                              <m:r>
                                <a:rPr lang="zh-CN" sz="1280" dirty="0">
                                  <a:solidFill>
                                    <a:srgbClr val="1F2937"/>
                                  </a:solidFill>
                                  <a:latin typeface="Cambria Math"/>
                                  <a:ea typeface="Cambria Math"/>
                                  <a:cs typeface="Cambria Math"/>
                                </a:rPr>
                                <m:t>α</m:t>
                              </m:r>
                            </m:lim>
                          </m:limLow>
                        </m:fName>
                        <m:e>
                          <m:r>
                            <a:rPr lang="zh-CN" sz="1280" dirty="0">
                              <a:solidFill>
                                <a:srgbClr val="1F2937"/>
                              </a:solidFill>
                              <a:latin typeface="Cambria Math"/>
                              <a:ea typeface="Cambria Math"/>
                              <a:cs typeface="Cambria Math"/>
                            </a:rPr>
                            <m:t xml:space="preserve"> </m:t>
                          </m:r>
                          <m:r>
                            <a:rPr lang="zh-CN" sz="1280" dirty="0">
                              <a:solidFill>
                                <a:srgbClr val="1F2937"/>
                              </a:solidFill>
                              <a:latin typeface="Cambria Math"/>
                              <a:ea typeface="Cambria Math"/>
                              <a:cs typeface="Cambria Math"/>
                            </a:rPr>
                            <m:t>L</m:t>
                          </m:r>
                          <m:d>
                            <m:dPr>
                              <m:begChr m:val="("/>
                              <m:sepChr m:val=""/>
                              <m:endChr m:val=")"/>
                              <m:grow m:val="on"/>
                              <m:ctrlPr>
                                <a:rPr lang="zh-CN" sz="1280" dirty="0">
                                  <a:solidFill>
                                    <a:srgbClr val="1F2937"/>
                                  </a:solidFill>
                                  <a:latin typeface="Cambria Math"/>
                                  <a:ea typeface="Cambria Math"/>
                                  <a:cs typeface="Cambria Math"/>
                                </a:rPr>
                              </m:ctrlPr>
                            </m:dPr>
                            <m:e>
                              <m:r>
                                <a:rPr lang="zh-CN" sz="1280" dirty="0">
                                  <a:solidFill>
                                    <a:srgbClr val="1F2937"/>
                                  </a:solidFill>
                                  <a:latin typeface="Cambria Math"/>
                                  <a:ea typeface="Cambria Math"/>
                                  <a:cs typeface="Cambria Math"/>
                                </a:rPr>
                                <m:t>α</m:t>
                              </m:r>
                            </m:e>
                          </m:d>
                        </m:e>
                      </m:func>
                      <m:r>
                        <m:rPr>
                          <m:sty m:val="p"/>
                        </m:rPr>
                        <a:rPr lang="zh-CN" sz="1280" dirty="0">
                          <a:solidFill>
                            <a:srgbClr val="1F2937"/>
                          </a:solidFill>
                          <a:latin typeface="Cambria Math"/>
                          <a:ea typeface="Cambria Math"/>
                          <a:cs typeface="Cambria Math"/>
                        </a:rPr>
                        <m:t>=</m:t>
                      </m:r>
                      <m:nary>
                        <m:naryPr>
                          <m:chr m:val="∑"/>
                          <m:limLoc m:val="undOvr"/>
                          <m:grow m:val="off"/>
                          <m:subHide m:val="off"/>
                          <m:supHide m:val="on"/>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sub>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e>
                      </m:nary>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nary>
                        <m:naryPr>
                          <m:chr m:val="∑"/>
                          <m:limLoc m:val="undOvr"/>
                          <m:grow m:val="off"/>
                          <m:subHide m:val="off"/>
                          <m:supHide m:val="on"/>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j</m:t>
                          </m:r>
                        </m:sub>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j</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j</m:t>
                              </m:r>
                            </m:sub>
                          </m:sSub>
                          <m:r>
                            <a:rPr lang="zh-CN" sz="1280" dirty="0">
                              <a:solidFill>
                                <a:srgbClr val="1F2937"/>
                              </a:solidFill>
                              <a:latin typeface="Cambria Math"/>
                              <a:ea typeface="Cambria Math"/>
                              <a:cs typeface="Cambria Math"/>
                            </a:rPr>
                            <m:t>K</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j</m:t>
                                  </m:r>
                                </m:sub>
                              </m:sSub>
                            </m:e>
                          </m:d>
                        </m:e>
                      </m:nary>
                    </m:oMath>
                  </m:oMathPara>
                </a14:m>
              </a:p>
            </p:txBody>
          </p:sp>
        </mc:Choice>
      </mc:AlternateContent>
      <mc:AlternateContent xmlns:mc="http://schemas.openxmlformats.org/markup-compatibility/2006">
        <mc:Choice xmlns:a14="http://schemas.microsoft.com/office/drawing/2010/main" Requires="a14">
          <p:sp>
            <p:nvSpPr>
              <p:cNvPr id="10" name="formula236"/>
              <p:cNvSpPr txBox="1">
                <a:spLocks noGrp="1"/>
              </p:cNvSpPr>
              <p:nvPr/>
            </p:nvSpPr>
            <p:spPr>
              <a:xfrm>
                <a:off x="533400" y="2668905"/>
                <a:ext cx="5193982" cy="53435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280" dirty="0">
                          <a:solidFill>
                            <a:srgbClr val="1F2937"/>
                          </a:solidFill>
                          <a:latin typeface="Cambria Math"/>
                          <a:ea typeface="Cambria Math"/>
                          <a:cs typeface="Cambria Math"/>
                        </a:rPr>
                        <m:t>s.t.</m:t>
                      </m:r>
                      <m:r>
                        <a:rPr lang="zh-CN" sz="1280" dirty="0">
                          <a:solidFill>
                            <a:srgbClr val="1F2937"/>
                          </a:solidFill>
                          <a:latin typeface="Cambria Math"/>
                          <a:ea typeface="Cambria Math"/>
                          <a:cs typeface="Cambria Math"/>
                        </a:rPr>
                        <m:t xml:space="preserve">  </m:t>
                      </m:r>
                      <m:r>
                        <a:rPr lang="zh-CN" sz="1280" dirty="0">
                          <a:solidFill>
                            <a:srgbClr val="1F2937"/>
                          </a:solidFill>
                          <a:latin typeface="Cambria Math"/>
                          <a:ea typeface="Cambria Math"/>
                          <a:cs typeface="Cambria Math"/>
                        </a:rPr>
                        <m:t>0</m:t>
                      </m:r>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C</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 xml:space="preserve">  </m:t>
                      </m:r>
                      <m:nary>
                        <m:naryPr>
                          <m:chr m:val="∑"/>
                          <m:limLoc m:val="undOvr"/>
                          <m:grow m:val="off"/>
                          <m:subHide m:val="off"/>
                          <m:supHide m:val="on"/>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sub>
                        <m:sup/>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sSub>
                            <m:e>
                              <m:r>
                                <a:rPr lang="zh-CN" sz="1280" dirty="0">
                                  <a:solidFill>
                                    <a:srgbClr val="1F2937"/>
                                  </a:solidFill>
                                  <a:latin typeface="Cambria Math"/>
                                  <a:ea typeface="Cambria Math"/>
                                  <a:cs typeface="Cambria Math"/>
                                </a:rPr>
                                <m:t>y</m:t>
                              </m:r>
                            </m:e>
                            <m:sub>
                              <m:r>
                                <a:rPr lang="zh-CN" sz="1280" dirty="0">
                                  <a:solidFill>
                                    <a:srgbClr val="1F2937"/>
                                  </a:solidFill>
                                  <a:latin typeface="Cambria Math"/>
                                  <a:ea typeface="Cambria Math"/>
                                  <a:cs typeface="Cambria Math"/>
                                </a:rPr>
                                <m:t>i</m:t>
                              </m:r>
                            </m:sub>
                          </m:sSub>
                        </m:e>
                      </m:nary>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0</m:t>
                      </m:r>
                    </m:oMath>
                  </m:oMathPara>
                </a14:m>
              </a:p>
            </p:txBody>
          </p:sp>
        </mc:Choice>
      </mc:AlternateContent>
      <p:grpSp>
        <p:nvGrpSpPr>
          <p:cNvPr id="28" name="c1-steps-3"/>
          <p:cNvGrpSpPr/>
          <p:nvPr/>
        </p:nvGrpSpPr>
        <p:grpSpPr>
          <a:xfrm>
            <a:off x="533400" y="3392805"/>
            <a:ext cx="2683368" cy="2398776"/>
            <a:chOff x="533400" y="3392805"/>
            <a:chExt cx="2683368" cy="2398776"/>
          </a:xfrm>
        </p:grpSpPr>
        <p:sp>
          <p:nvSpPr>
            <p:cNvPr id="11" name="Rectangle 11"/>
            <p:cNvSpPr/>
            <p:nvPr/>
          </p:nvSpPr>
          <p:spPr>
            <a:xfrm>
              <a:off x="666750" y="3535680"/>
              <a:ext cx="19050" cy="1850708"/>
            </a:xfrm>
            <a:prstGeom prst="rect">
              <a:avLst/>
            </a:prstGeom>
            <a:solidFill>
              <a:srgbClr val="D9DFEA"/>
            </a:solidFill>
            <a:ln>
              <a:noFill/>
            </a:ln>
          </p:spPr>
        </p:sp>
        <p:sp>
          <p:nvSpPr>
            <p:cNvPr id="12" name="Ellipse 12"/>
            <p:cNvSpPr/>
            <p:nvPr/>
          </p:nvSpPr>
          <p:spPr>
            <a:xfrm>
              <a:off x="533400" y="3392805"/>
              <a:ext cx="285750" cy="285750"/>
            </a:xfrm>
            <a:prstGeom prst="ellipse">
              <a:avLst/>
            </a:prstGeom>
            <a:solidFill>
              <a:srgbClr val="0E7C86"/>
            </a:solidFill>
            <a:ln>
              <a:noFill/>
            </a:ln>
          </p:spPr>
        </p:sp>
        <p:sp>
          <p:nvSpPr>
            <p:cNvPr id="13" name="TextBox 13"/>
            <p:cNvSpPr txBox="1"/>
            <p:nvPr/>
          </p:nvSpPr>
          <p:spPr>
            <a:xfrm>
              <a:off x="627024" y="346662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4" name="Ellipse 14"/>
            <p:cNvSpPr/>
            <p:nvPr/>
          </p:nvSpPr>
          <p:spPr>
            <a:xfrm>
              <a:off x="533400" y="4010025"/>
              <a:ext cx="285750" cy="285750"/>
            </a:xfrm>
            <a:prstGeom prst="ellipse">
              <a:avLst/>
            </a:prstGeom>
            <a:solidFill>
              <a:srgbClr val="0E7C86"/>
            </a:solidFill>
            <a:ln>
              <a:noFill/>
            </a:ln>
          </p:spPr>
        </p:sp>
        <p:sp>
          <p:nvSpPr>
            <p:cNvPr id="15" name="TextBox 15"/>
            <p:cNvSpPr txBox="1"/>
            <p:nvPr/>
          </p:nvSpPr>
          <p:spPr>
            <a:xfrm>
              <a:off x="627024" y="40838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6" name="Ellipse 16"/>
            <p:cNvSpPr/>
            <p:nvPr/>
          </p:nvSpPr>
          <p:spPr>
            <a:xfrm>
              <a:off x="533400" y="4627245"/>
              <a:ext cx="285750" cy="285750"/>
            </a:xfrm>
            <a:prstGeom prst="ellipse">
              <a:avLst/>
            </a:prstGeom>
            <a:solidFill>
              <a:srgbClr val="0E7C86"/>
            </a:solidFill>
            <a:ln>
              <a:noFill/>
            </a:ln>
          </p:spPr>
        </p:sp>
        <p:sp>
          <p:nvSpPr>
            <p:cNvPr id="17" name="TextBox 17"/>
            <p:cNvSpPr txBox="1"/>
            <p:nvPr/>
          </p:nvSpPr>
          <p:spPr>
            <a:xfrm>
              <a:off x="627024" y="470106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8" name="Ellipse 18"/>
            <p:cNvSpPr/>
            <p:nvPr/>
          </p:nvSpPr>
          <p:spPr>
            <a:xfrm>
              <a:off x="533400" y="5243512"/>
              <a:ext cx="285750" cy="285750"/>
            </a:xfrm>
            <a:prstGeom prst="ellipse">
              <a:avLst/>
            </a:prstGeom>
            <a:solidFill>
              <a:srgbClr val="0E7C86"/>
            </a:solidFill>
            <a:ln>
              <a:noFill/>
            </a:ln>
          </p:spPr>
        </p:sp>
        <p:sp>
          <p:nvSpPr>
            <p:cNvPr id="19" name="TextBox 19"/>
            <p:cNvSpPr txBox="1"/>
            <p:nvPr/>
          </p:nvSpPr>
          <p:spPr>
            <a:xfrm>
              <a:off x="627024" y="53173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20" name="TextBox 20"/>
            <p:cNvSpPr txBox="1"/>
            <p:nvPr/>
          </p:nvSpPr>
          <p:spPr>
            <a:xfrm>
              <a:off x="945261" y="3426619"/>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平稳性</a:t>
              </a:r>
            </a:p>
          </p:txBody>
        </p:sp>
        <p:sp>
          <p:nvSpPr>
            <p:cNvPr id="21" name="TextBox 21"/>
            <p:cNvSpPr txBox="1"/>
            <p:nvPr/>
          </p:nvSpPr>
          <p:spPr>
            <a:xfrm>
              <a:off x="946404" y="3707130"/>
              <a:ext cx="1267816"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w = Σ αᵢyᵢφ(xᵢ)</a:t>
              </a:r>
            </a:p>
          </p:txBody>
        </p:sp>
        <p:sp>
          <p:nvSpPr>
            <p:cNvPr id="22" name="TextBox 22"/>
            <p:cNvSpPr txBox="1"/>
            <p:nvPr/>
          </p:nvSpPr>
          <p:spPr>
            <a:xfrm>
              <a:off x="945261" y="4042886"/>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代入判别式</a:t>
              </a:r>
            </a:p>
          </p:txBody>
        </p:sp>
        <p:sp>
          <p:nvSpPr>
            <p:cNvPr id="23" name="TextBox 23"/>
            <p:cNvSpPr txBox="1"/>
            <p:nvPr/>
          </p:nvSpPr>
          <p:spPr>
            <a:xfrm>
              <a:off x="946404" y="4323398"/>
              <a:ext cx="2270364"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g(x) = Σ αᵢyᵢ φ(xᵢ)·φ(x) + b</a:t>
              </a:r>
            </a:p>
          </p:txBody>
        </p:sp>
        <p:sp>
          <p:nvSpPr>
            <p:cNvPr id="24" name="TextBox 24"/>
            <p:cNvSpPr txBox="1"/>
            <p:nvPr/>
          </p:nvSpPr>
          <p:spPr>
            <a:xfrm>
              <a:off x="945261" y="4660106"/>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换成核</a:t>
              </a:r>
            </a:p>
          </p:txBody>
        </p:sp>
        <p:sp>
          <p:nvSpPr>
            <p:cNvPr id="25" name="TextBox 25"/>
            <p:cNvSpPr txBox="1"/>
            <p:nvPr/>
          </p:nvSpPr>
          <p:spPr>
            <a:xfrm>
              <a:off x="946404" y="4940617"/>
              <a:ext cx="1770975"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K(x, xᵢ) = φ(xᵢ)·φ(x)</a:t>
              </a:r>
            </a:p>
          </p:txBody>
        </p:sp>
        <p:sp>
          <p:nvSpPr>
            <p:cNvPr id="26" name="TextBox 26"/>
            <p:cNvSpPr txBox="1"/>
            <p:nvPr/>
          </p:nvSpPr>
          <p:spPr>
            <a:xfrm>
              <a:off x="945261" y="527637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得到结果</a:t>
              </a:r>
            </a:p>
          </p:txBody>
        </p:sp>
        <p:sp>
          <p:nvSpPr>
            <p:cNvPr id="27" name="TextBox 27"/>
            <p:cNvSpPr txBox="1"/>
            <p:nvPr/>
          </p:nvSpPr>
          <p:spPr>
            <a:xfrm>
              <a:off x="946404" y="5556885"/>
              <a:ext cx="2015998"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g(x) = Σ αᵢyᵢK(x, xᵢ) + b</a:t>
              </a:r>
            </a:p>
          </p:txBody>
        </p:sp>
      </p:grpSp>
      <p:grpSp>
        <p:nvGrpSpPr>
          <p:cNvPr id="36" name="c2-card-1"/>
          <p:cNvGrpSpPr/>
          <p:nvPr/>
        </p:nvGrpSpPr>
        <p:grpSpPr>
          <a:xfrm>
            <a:off x="6032182" y="1954530"/>
            <a:ext cx="5626418" cy="1768792"/>
            <a:chOff x="6032182" y="1954530"/>
            <a:chExt cx="5626418" cy="1768792"/>
          </a:xfrm>
        </p:grpSpPr>
        <p:sp>
          <p:nvSpPr>
            <p:cNvPr id="29" name="Rectangle 29"/>
            <p:cNvSpPr/>
            <p:nvPr/>
          </p:nvSpPr>
          <p:spPr>
            <a:xfrm>
              <a:off x="6032182" y="1954530"/>
              <a:ext cx="5626418" cy="1768792"/>
            </a:xfrm>
            <a:prstGeom prst="roundRect">
              <a:avLst>
                <a:gd name="adj" fmla="val 7539"/>
              </a:avLst>
            </a:prstGeom>
            <a:solidFill>
              <a:srgbClr val="FFFFFF"/>
            </a:solidFill>
            <a:ln w="14288">
              <a:solidFill>
                <a:srgbClr val="D9DFEA"/>
              </a:solidFill>
            </a:ln>
          </p:spPr>
        </p:sp>
        <p:sp>
          <p:nvSpPr>
            <p:cNvPr id="30" name="Rectangle 30"/>
            <p:cNvSpPr/>
            <p:nvPr/>
          </p:nvSpPr>
          <p:spPr>
            <a:xfrm>
              <a:off x="6041708" y="2087880"/>
              <a:ext cx="47625" cy="1502092"/>
            </a:xfrm>
            <a:prstGeom prst="roundRect">
              <a:avLst>
                <a:gd name="adj" fmla="val 50000"/>
              </a:avLst>
            </a:prstGeom>
            <a:solidFill>
              <a:srgbClr val="14A38B"/>
            </a:solidFill>
            <a:ln>
              <a:noFill/>
            </a:ln>
          </p:spPr>
        </p:sp>
        <p:sp>
          <p:nvSpPr>
            <p:cNvPr id="31" name="Rectangle 31"/>
            <p:cNvSpPr/>
            <p:nvPr/>
          </p:nvSpPr>
          <p:spPr>
            <a:xfrm>
              <a:off x="6268402" y="2152650"/>
              <a:ext cx="1809750" cy="247650"/>
            </a:xfrm>
            <a:prstGeom prst="roundRect">
              <a:avLst>
                <a:gd name="adj" fmla="val 50000"/>
              </a:avLst>
            </a:prstGeom>
            <a:solidFill>
              <a:srgbClr val="E3F5F1"/>
            </a:solidFill>
            <a:ln>
              <a:noFill/>
            </a:ln>
          </p:spPr>
        </p:sp>
        <p:sp>
          <p:nvSpPr>
            <p:cNvPr id="32" name="TextBox 32"/>
            <p:cNvSpPr txBox="1"/>
            <p:nvPr/>
          </p:nvSpPr>
          <p:spPr>
            <a:xfrm>
              <a:off x="6319838" y="2186940"/>
              <a:ext cx="170688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最优分类超曲面与决策函数</a:t>
              </a:r>
            </a:p>
          </p:txBody>
        </p:sp>
        <p:sp>
          <p:nvSpPr>
            <p:cNvPr id="33" name="TextBox 33"/>
            <p:cNvSpPr txBox="1"/>
            <p:nvPr/>
          </p:nvSpPr>
          <p:spPr>
            <a:xfrm>
              <a:off x="8185214" y="2187416"/>
              <a:ext cx="13526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整章的最终结果</a:t>
              </a:r>
            </a:p>
          </p:txBody>
        </p:sp>
        <mc:AlternateContent xmlns:mc="http://schemas.openxmlformats.org/markup-compatibility/2006">
          <mc:Choice xmlns:a14="http://schemas.microsoft.com/office/drawing/2010/main" Requires="a14">
            <p:sp>
              <p:nvSpPr>
                <p:cNvPr id="34" name="formula237"/>
                <p:cNvSpPr txBox="1">
                  <a:spLocks noGrp="1"/>
                </p:cNvSpPr>
                <p:nvPr/>
              </p:nvSpPr>
              <p:spPr>
                <a:xfrm>
                  <a:off x="6268402" y="2507932"/>
                  <a:ext cx="5192078" cy="50006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120" dirty="0">
                            <a:solidFill>
                              <a:srgbClr val="1F2937"/>
                            </a:solidFill>
                            <a:latin typeface="Cambria Math"/>
                            <a:ea typeface="Cambria Math"/>
                            <a:cs typeface="Cambria Math"/>
                          </a:rPr>
                          <m:t>g</m:t>
                        </m:r>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x</m:t>
                            </m:r>
                          </m:e>
                        </m:d>
                        <m:r>
                          <m:rPr>
                            <m:sty m:val="p"/>
                          </m:rPr>
                          <a:rPr lang="zh-CN" sz="1120" dirty="0">
                            <a:solidFill>
                              <a:srgbClr val="1F2937"/>
                            </a:solidFill>
                            <a:latin typeface="Cambria Math"/>
                            <a:ea typeface="Cambria Math"/>
                            <a:cs typeface="Cambria Math"/>
                          </a:rPr>
                          <m:t>=</m:t>
                        </m:r>
                        <m:nary>
                          <m:naryPr>
                            <m:chr m:val="∑"/>
                            <m:limLoc m:val="undOvr"/>
                            <m:grow m:val="off"/>
                            <m:subHide m:val="off"/>
                            <m:supHide m:val="off"/>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i</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sub>
                          <m:sup>
                            <m:r>
                              <a:rPr lang="zh-CN" sz="1120" dirty="0">
                                <a:solidFill>
                                  <a:srgbClr val="1F2937"/>
                                </a:solidFill>
                                <a:latin typeface="Cambria Math"/>
                                <a:ea typeface="Cambria Math"/>
                                <a:cs typeface="Cambria Math"/>
                              </a:rPr>
                              <m:t>N</m:t>
                            </m:r>
                          </m:sup>
                          <m:e>
                            <m:sSubSup>
                              <m:e>
                                <m:r>
                                  <a:rPr lang="zh-CN" sz="1120" dirty="0">
                                    <a:solidFill>
                                      <a:srgbClr val="1F2937"/>
                                    </a:solidFill>
                                    <a:latin typeface="Cambria Math"/>
                                    <a:ea typeface="Cambria Math"/>
                                    <a:cs typeface="Cambria Math"/>
                                  </a:rPr>
                                  <m:t>α</m:t>
                                </m:r>
                              </m:e>
                              <m:sub>
                                <m:r>
                                  <a:rPr lang="zh-CN" sz="1120" dirty="0">
                                    <a:solidFill>
                                      <a:srgbClr val="1F2937"/>
                                    </a:solidFill>
                                    <a:latin typeface="Cambria Math"/>
                                    <a:ea typeface="Cambria Math"/>
                                    <a:cs typeface="Cambria Math"/>
                                  </a:rPr>
                                  <m:t>i</m:t>
                                </m:r>
                              </m:sub>
                              <m:sup>
                                <m:r>
                                  <m:rPr>
                                    <m:sty m:val="p"/>
                                  </m:rPr>
                                  <a:rPr lang="zh-CN" sz="1120" dirty="0">
                                    <a:solidFill>
                                      <a:srgbClr val="1F2937"/>
                                    </a:solidFill>
                                    <a:latin typeface="Cambria Math"/>
                                    <a:ea typeface="Cambria Math"/>
                                    <a:cs typeface="Cambria Math"/>
                                  </a:rPr>
                                  <m:t>*</m:t>
                                </m:r>
                              </m:sup>
                            </m:sSubSup>
                            <m:sSub>
                              <m:e>
                                <m:r>
                                  <a:rPr lang="zh-CN" sz="1120" dirty="0">
                                    <a:solidFill>
                                      <a:srgbClr val="1F2937"/>
                                    </a:solidFill>
                                    <a:latin typeface="Cambria Math"/>
                                    <a:ea typeface="Cambria Math"/>
                                    <a:cs typeface="Cambria Math"/>
                                  </a:rPr>
                                  <m:t>y</m:t>
                                </m:r>
                              </m:e>
                              <m:sub>
                                <m:r>
                                  <a:rPr lang="zh-CN" sz="1120" dirty="0">
                                    <a:solidFill>
                                      <a:srgbClr val="1F2937"/>
                                    </a:solidFill>
                                    <a:latin typeface="Cambria Math"/>
                                    <a:ea typeface="Cambria Math"/>
                                    <a:cs typeface="Cambria Math"/>
                                  </a:rPr>
                                  <m:t>i</m:t>
                                </m:r>
                              </m:sub>
                            </m:sSub>
                            <m:r>
                              <a:rPr lang="zh-CN" sz="1120" dirty="0">
                                <a:solidFill>
                                  <a:srgbClr val="1F2937"/>
                                </a:solidFill>
                                <a:latin typeface="Cambria Math"/>
                                <a:ea typeface="Cambria Math"/>
                                <a:cs typeface="Cambria Math"/>
                              </a:rPr>
                              <m:t>K</m:t>
                            </m:r>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x</m:t>
                                </m:r>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x</m:t>
                                    </m:r>
                                  </m:e>
                                  <m:sub>
                                    <m:r>
                                      <a:rPr lang="zh-CN" sz="1120" dirty="0">
                                        <a:solidFill>
                                          <a:srgbClr val="1F2937"/>
                                        </a:solidFill>
                                        <a:latin typeface="Cambria Math"/>
                                        <a:ea typeface="Cambria Math"/>
                                        <a:cs typeface="Cambria Math"/>
                                      </a:rPr>
                                      <m:t>i</m:t>
                                    </m:r>
                                  </m:sub>
                                </m:sSub>
                              </m:e>
                            </m:d>
                          </m:e>
                        </m:nary>
                        <m:r>
                          <m:rPr>
                            <m:sty m:val="p"/>
                          </m:rPr>
                          <a:rPr lang="zh-CN" sz="1120" dirty="0">
                            <a:solidFill>
                              <a:srgbClr val="1F2937"/>
                            </a:solidFill>
                            <a:latin typeface="Cambria Math"/>
                            <a:ea typeface="Cambria Math"/>
                            <a:cs typeface="Cambria Math"/>
                          </a:rPr>
                          <m:t>+</m:t>
                        </m:r>
                        <m:sSup>
                          <m:e>
                            <m:r>
                              <a:rPr lang="zh-CN" sz="1120" dirty="0">
                                <a:solidFill>
                                  <a:srgbClr val="1F2937"/>
                                </a:solidFill>
                                <a:latin typeface="Cambria Math"/>
                                <a:ea typeface="Cambria Math"/>
                                <a:cs typeface="Cambria Math"/>
                              </a:rPr>
                              <m:t>b</m:t>
                            </m:r>
                          </m:e>
                          <m:sup>
                            <m:r>
                              <m:rPr>
                                <m:sty m:val="p"/>
                              </m:rPr>
                              <a:rPr lang="zh-CN" sz="1120" dirty="0">
                                <a:solidFill>
                                  <a:srgbClr val="1F2937"/>
                                </a:solidFill>
                                <a:latin typeface="Cambria Math"/>
                                <a:ea typeface="Cambria Math"/>
                                <a:cs typeface="Cambria Math"/>
                              </a:rPr>
                              <m:t>*</m:t>
                            </m:r>
                          </m:sup>
                        </m:sSup>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0</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 xml:space="preserve">  </m:t>
                        </m:r>
                        <m:r>
                          <a:rPr lang="zh-CN" sz="1120" dirty="0">
                            <a:solidFill>
                              <a:srgbClr val="1F2937"/>
                            </a:solidFill>
                            <a:latin typeface="Cambria Math"/>
                            <a:ea typeface="Cambria Math"/>
                            <a:cs typeface="Cambria Math"/>
                          </a:rPr>
                          <m:t>f</m:t>
                        </m:r>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x</m:t>
                            </m:r>
                          </m:e>
                        </m:d>
                        <m:r>
                          <m:rPr>
                            <m:sty m:val="p"/>
                          </m:rPr>
                          <a:rPr lang="zh-CN" sz="1120" dirty="0">
                            <a:solidFill>
                              <a:srgbClr val="1F2937"/>
                            </a:solidFill>
                            <a:latin typeface="Cambria Math"/>
                            <a:ea typeface="Cambria Math"/>
                            <a:cs typeface="Cambria Math"/>
                          </a:rPr>
                          <m:t>=</m:t>
                        </m:r>
                        <m:r>
                          <m:rPr>
                            <m:sty m:val="p"/>
                          </m:rPr>
                          <a:rPr lang="zh-CN" sz="1120" dirty="0">
                            <a:solidFill>
                              <a:srgbClr val="1F2937"/>
                            </a:solidFill>
                            <a:latin typeface="Cambria Math"/>
                            <a:ea typeface="Cambria Math"/>
                            <a:cs typeface="Cambria Math"/>
                          </a:rPr>
                          <m:t>sgn</m:t>
                        </m:r>
                        <m:d>
                          <m:dPr>
                            <m:begChr m:val="("/>
                            <m:sepChr m:val=""/>
                            <m:endChr m:val=")"/>
                            <m:grow m:val="on"/>
                            <m:ctrlPr>
                              <a:rPr lang="zh-CN" sz="1120" dirty="0">
                                <a:solidFill>
                                  <a:srgbClr val="1F2937"/>
                                </a:solidFill>
                                <a:latin typeface="Cambria Math"/>
                                <a:ea typeface="Cambria Math"/>
                                <a:cs typeface="Cambria Math"/>
                              </a:rPr>
                            </m:ctrlPr>
                          </m:dPr>
                          <m:e>
                            <m:nary>
                              <m:naryPr>
                                <m:chr m:val="∑"/>
                                <m:limLoc m:val="undOvr"/>
                                <m:grow m:val="off"/>
                                <m:subHide m:val="off"/>
                                <m:supHide m:val="off"/>
                                <m:ctrlPr>
                                  <a:rPr lang="zh-CN" sz="1120" dirty="0">
                                    <a:solidFill>
                                      <a:srgbClr val="1F2937"/>
                                    </a:solidFill>
                                    <a:latin typeface="Cambria Math"/>
                                    <a:ea typeface="Cambria Math"/>
                                    <a:cs typeface="Cambria Math"/>
                                  </a:rPr>
                                </m:ctrlPr>
                              </m:naryPr>
                              <m:sub>
                                <m:r>
                                  <a:rPr lang="zh-CN" sz="1120" dirty="0">
                                    <a:solidFill>
                                      <a:srgbClr val="1F2937"/>
                                    </a:solidFill>
                                    <a:latin typeface="Cambria Math"/>
                                    <a:ea typeface="Cambria Math"/>
                                    <a:cs typeface="Cambria Math"/>
                                  </a:rPr>
                                  <m:t>i</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sub>
                              <m:sup>
                                <m:r>
                                  <a:rPr lang="zh-CN" sz="1120" dirty="0">
                                    <a:solidFill>
                                      <a:srgbClr val="1F2937"/>
                                    </a:solidFill>
                                    <a:latin typeface="Cambria Math"/>
                                    <a:ea typeface="Cambria Math"/>
                                    <a:cs typeface="Cambria Math"/>
                                  </a:rPr>
                                  <m:t>N</m:t>
                                </m:r>
                              </m:sup>
                              <m:e>
                                <m:sSubSup>
                                  <m:e>
                                    <m:r>
                                      <a:rPr lang="zh-CN" sz="1120" dirty="0">
                                        <a:solidFill>
                                          <a:srgbClr val="1F2937"/>
                                        </a:solidFill>
                                        <a:latin typeface="Cambria Math"/>
                                        <a:ea typeface="Cambria Math"/>
                                        <a:cs typeface="Cambria Math"/>
                                      </a:rPr>
                                      <m:t>α</m:t>
                                    </m:r>
                                  </m:e>
                                  <m:sub>
                                    <m:r>
                                      <a:rPr lang="zh-CN" sz="1120" dirty="0">
                                        <a:solidFill>
                                          <a:srgbClr val="1F2937"/>
                                        </a:solidFill>
                                        <a:latin typeface="Cambria Math"/>
                                        <a:ea typeface="Cambria Math"/>
                                        <a:cs typeface="Cambria Math"/>
                                      </a:rPr>
                                      <m:t>i</m:t>
                                    </m:r>
                                  </m:sub>
                                  <m:sup>
                                    <m:r>
                                      <m:rPr>
                                        <m:sty m:val="p"/>
                                      </m:rPr>
                                      <a:rPr lang="zh-CN" sz="1120" dirty="0">
                                        <a:solidFill>
                                          <a:srgbClr val="1F2937"/>
                                        </a:solidFill>
                                        <a:latin typeface="Cambria Math"/>
                                        <a:ea typeface="Cambria Math"/>
                                        <a:cs typeface="Cambria Math"/>
                                      </a:rPr>
                                      <m:t>*</m:t>
                                    </m:r>
                                  </m:sup>
                                </m:sSubSup>
                                <m:sSub>
                                  <m:e>
                                    <m:r>
                                      <a:rPr lang="zh-CN" sz="1120" dirty="0">
                                        <a:solidFill>
                                          <a:srgbClr val="1F2937"/>
                                        </a:solidFill>
                                        <a:latin typeface="Cambria Math"/>
                                        <a:ea typeface="Cambria Math"/>
                                        <a:cs typeface="Cambria Math"/>
                                      </a:rPr>
                                      <m:t>y</m:t>
                                    </m:r>
                                  </m:e>
                                  <m:sub>
                                    <m:r>
                                      <a:rPr lang="zh-CN" sz="1120" dirty="0">
                                        <a:solidFill>
                                          <a:srgbClr val="1F2937"/>
                                        </a:solidFill>
                                        <a:latin typeface="Cambria Math"/>
                                        <a:ea typeface="Cambria Math"/>
                                        <a:cs typeface="Cambria Math"/>
                                      </a:rPr>
                                      <m:t>i</m:t>
                                    </m:r>
                                  </m:sub>
                                </m:sSub>
                                <m:r>
                                  <a:rPr lang="zh-CN" sz="1120" dirty="0">
                                    <a:solidFill>
                                      <a:srgbClr val="1F2937"/>
                                    </a:solidFill>
                                    <a:latin typeface="Cambria Math"/>
                                    <a:ea typeface="Cambria Math"/>
                                    <a:cs typeface="Cambria Math"/>
                                  </a:rPr>
                                  <m:t>K</m:t>
                                </m:r>
                                <m:d>
                                  <m:dPr>
                                    <m:begChr m:val="("/>
                                    <m:sepChr m:val=""/>
                                    <m:endChr m:val=")"/>
                                    <m:grow m:val="on"/>
                                    <m:ctrlPr>
                                      <a:rPr lang="zh-CN" sz="1120" dirty="0">
                                        <a:solidFill>
                                          <a:srgbClr val="1F2937"/>
                                        </a:solidFill>
                                        <a:latin typeface="Cambria Math"/>
                                        <a:ea typeface="Cambria Math"/>
                                        <a:cs typeface="Cambria Math"/>
                                      </a:rPr>
                                    </m:ctrlPr>
                                  </m:dPr>
                                  <m:e>
                                    <m:r>
                                      <a:rPr lang="zh-CN" sz="1120" dirty="0">
                                        <a:solidFill>
                                          <a:srgbClr val="1F2937"/>
                                        </a:solidFill>
                                        <a:latin typeface="Cambria Math"/>
                                        <a:ea typeface="Cambria Math"/>
                                        <a:cs typeface="Cambria Math"/>
                                      </a:rPr>
                                      <m:t>x</m:t>
                                    </m:r>
                                    <m:r>
                                      <m:rPr>
                                        <m:sty m:val="p"/>
                                      </m:rPr>
                                      <a:rPr lang="zh-CN" sz="1120" dirty="0">
                                        <a:solidFill>
                                          <a:srgbClr val="1F2937"/>
                                        </a:solidFill>
                                        <a:latin typeface="Cambria Math"/>
                                        <a:ea typeface="Cambria Math"/>
                                        <a:cs typeface="Cambria Math"/>
                                      </a:rPr>
                                      <m:t>,</m:t>
                                    </m:r>
                                    <m:sSub>
                                      <m:e>
                                        <m:r>
                                          <a:rPr lang="zh-CN" sz="1120" dirty="0">
                                            <a:solidFill>
                                              <a:srgbClr val="1F2937"/>
                                            </a:solidFill>
                                            <a:latin typeface="Cambria Math"/>
                                            <a:ea typeface="Cambria Math"/>
                                            <a:cs typeface="Cambria Math"/>
                                          </a:rPr>
                                          <m:t>x</m:t>
                                        </m:r>
                                      </m:e>
                                      <m:sub>
                                        <m:r>
                                          <a:rPr lang="zh-CN" sz="1120" dirty="0">
                                            <a:solidFill>
                                              <a:srgbClr val="1F2937"/>
                                            </a:solidFill>
                                            <a:latin typeface="Cambria Math"/>
                                            <a:ea typeface="Cambria Math"/>
                                            <a:cs typeface="Cambria Math"/>
                                          </a:rPr>
                                          <m:t>i</m:t>
                                        </m:r>
                                      </m:sub>
                                    </m:sSub>
                                  </m:e>
                                </m:d>
                              </m:e>
                            </m:nary>
                            <m:r>
                              <m:rPr>
                                <m:sty m:val="p"/>
                              </m:rPr>
                              <a:rPr lang="zh-CN" sz="1120" dirty="0">
                                <a:solidFill>
                                  <a:srgbClr val="1F2937"/>
                                </a:solidFill>
                                <a:latin typeface="Cambria Math"/>
                                <a:ea typeface="Cambria Math"/>
                                <a:cs typeface="Cambria Math"/>
                              </a:rPr>
                              <m:t>+</m:t>
                            </m:r>
                            <m:sSup>
                              <m:e>
                                <m:r>
                                  <a:rPr lang="zh-CN" sz="1120" dirty="0">
                                    <a:solidFill>
                                      <a:srgbClr val="1F2937"/>
                                    </a:solidFill>
                                    <a:latin typeface="Cambria Math"/>
                                    <a:ea typeface="Cambria Math"/>
                                    <a:cs typeface="Cambria Math"/>
                                  </a:rPr>
                                  <m:t>b</m:t>
                                </m:r>
                              </m:e>
                              <m:sup>
                                <m:r>
                                  <m:rPr>
                                    <m:sty m:val="p"/>
                                  </m:rPr>
                                  <a:rPr lang="zh-CN" sz="1120" dirty="0">
                                    <a:solidFill>
                                      <a:srgbClr val="1F2937"/>
                                    </a:solidFill>
                                    <a:latin typeface="Cambria Math"/>
                                    <a:ea typeface="Cambria Math"/>
                                    <a:cs typeface="Cambria Math"/>
                                  </a:rPr>
                                  <m:t>*</m:t>
                                </m:r>
                              </m:sup>
                            </m:sSup>
                          </m:e>
                        </m:d>
                      </m:oMath>
                    </m:oMathPara>
                  </a14:m>
                </a:p>
              </p:txBody>
            </p:sp>
          </mc:Choice>
        </mc:AlternateContent>
        <p:sp>
          <p:nvSpPr>
            <p:cNvPr id="35" name="TextBox 35"/>
            <p:cNvSpPr txBox="1"/>
            <p:nvPr/>
          </p:nvSpPr>
          <p:spPr>
            <a:xfrm>
              <a:off x="6262306" y="3117532"/>
              <a:ext cx="498043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w 在特征空间里可能是无穷维、写不出来，但 g(x) 只需要 |S| 次核求值。</a:t>
              </a:r>
              <a:br/>
              <a:r>
                <a:rPr lang="zh-CN" sz="1200" dirty="0">
                  <a:solidFill>
                    <a:srgbClr val="5B6475"/>
                  </a:solidFill>
                  <a:latin typeface="+mn-lt"/>
                  <a:ea typeface="+mn-ea"/>
                  <a:cs typeface="+mn-cs"/>
                </a:rPr>
                <a:t>b* = yₛ − Σᵢ αᵢ*yᵢK(xᵢ, xₛ)，用 0 &lt; αₛ* &lt; C 的支持向量算。</a:t>
              </a:r>
            </a:p>
          </p:txBody>
        </p:sp>
      </p:grpSp>
      <p:grpSp>
        <p:nvGrpSpPr>
          <p:cNvPr id="48" name="c2-card-2"/>
          <p:cNvGrpSpPr/>
          <p:nvPr/>
        </p:nvGrpSpPr>
        <p:grpSpPr>
          <a:xfrm>
            <a:off x="6032182" y="3904298"/>
            <a:ext cx="5626418" cy="2401252"/>
            <a:chOff x="6032182" y="3904298"/>
            <a:chExt cx="5626418" cy="2401252"/>
          </a:xfrm>
        </p:grpSpPr>
        <p:sp>
          <p:nvSpPr>
            <p:cNvPr id="37" name="Rectangle 37"/>
            <p:cNvSpPr/>
            <p:nvPr/>
          </p:nvSpPr>
          <p:spPr>
            <a:xfrm>
              <a:off x="6032182" y="3904298"/>
              <a:ext cx="5626418" cy="2401252"/>
            </a:xfrm>
            <a:prstGeom prst="roundRect">
              <a:avLst>
                <a:gd name="adj" fmla="val 5553"/>
              </a:avLst>
            </a:prstGeom>
            <a:solidFill>
              <a:srgbClr val="FFFFFF"/>
            </a:solidFill>
            <a:ln w="14288">
              <a:solidFill>
                <a:srgbClr val="D9DFEA"/>
              </a:solidFill>
            </a:ln>
          </p:spPr>
        </p:sp>
        <p:sp>
          <p:nvSpPr>
            <p:cNvPr id="38" name="Rectangle 38"/>
            <p:cNvSpPr/>
            <p:nvPr/>
          </p:nvSpPr>
          <p:spPr>
            <a:xfrm>
              <a:off x="6041708" y="4037648"/>
              <a:ext cx="47625" cy="2134552"/>
            </a:xfrm>
            <a:prstGeom prst="roundRect">
              <a:avLst>
                <a:gd name="adj" fmla="val 50000"/>
              </a:avLst>
            </a:prstGeom>
            <a:solidFill>
              <a:srgbClr val="5B6475"/>
            </a:solidFill>
            <a:ln>
              <a:noFill/>
            </a:ln>
          </p:spPr>
        </p:sp>
        <p:sp>
          <p:nvSpPr>
            <p:cNvPr id="39" name="Rectangle 39"/>
            <p:cNvSpPr/>
            <p:nvPr/>
          </p:nvSpPr>
          <p:spPr>
            <a:xfrm>
              <a:off x="6268402" y="4102418"/>
              <a:ext cx="476250" cy="247650"/>
            </a:xfrm>
            <a:prstGeom prst="roundRect">
              <a:avLst>
                <a:gd name="adj" fmla="val 50000"/>
              </a:avLst>
            </a:prstGeom>
            <a:solidFill>
              <a:srgbClr val="F4F6FB"/>
            </a:solidFill>
            <a:ln>
              <a:noFill/>
            </a:ln>
          </p:spPr>
        </p:sp>
        <p:sp>
          <p:nvSpPr>
            <p:cNvPr id="40" name="TextBox 40"/>
            <p:cNvSpPr txBox="1"/>
            <p:nvPr/>
          </p:nvSpPr>
          <p:spPr>
            <a:xfrm>
              <a:off x="6359842" y="4136708"/>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41" name="TextBox 41"/>
            <p:cNvSpPr txBox="1"/>
            <p:nvPr/>
          </p:nvSpPr>
          <p:spPr>
            <a:xfrm>
              <a:off x="6851714" y="4137184"/>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核方法一节里的两处笔误</a:t>
              </a:r>
            </a:p>
          </p:txBody>
        </p:sp>
        <p:sp>
          <p:nvSpPr>
            <p:cNvPr id="42" name="Ellipse 42"/>
            <p:cNvSpPr/>
            <p:nvPr/>
          </p:nvSpPr>
          <p:spPr>
            <a:xfrm>
              <a:off x="6268402" y="4468178"/>
              <a:ext cx="201930" cy="201930"/>
            </a:xfrm>
            <a:prstGeom prst="ellipse">
              <a:avLst/>
            </a:prstGeom>
            <a:solidFill>
              <a:srgbClr val="0E7C86"/>
            </a:solidFill>
            <a:ln>
              <a:noFill/>
            </a:ln>
          </p:spPr>
        </p:sp>
        <p:sp>
          <p:nvSpPr>
            <p:cNvPr id="43" name="TextBox 43"/>
            <p:cNvSpPr txBox="1"/>
            <p:nvPr/>
          </p:nvSpPr>
          <p:spPr>
            <a:xfrm>
              <a:off x="6326747" y="450851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44" name="TextBox 44"/>
            <p:cNvSpPr txBox="1"/>
            <p:nvPr/>
          </p:nvSpPr>
          <p:spPr>
            <a:xfrm>
              <a:off x="6559296" y="4481036"/>
              <a:ext cx="4685284"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B 版第 60 页写 w = Σ αᵢyᵢxᵢ，这一节的平稳性条件应含映</a:t>
              </a:r>
              <a:br/>
              <a:r>
                <a:rPr lang="zh-CN" sz="1420" dirty="0">
                  <a:solidFill>
                    <a:srgbClr val="1F2937"/>
                  </a:solidFill>
                  <a:latin typeface="+mn-lt"/>
                  <a:ea typeface="+mn-ea"/>
                  <a:cs typeface="+mn-cs"/>
                </a:rPr>
                <a:t>射：</a:t>
              </a:r>
              <a:r>
                <a:rPr lang="el-GR" sz="1420" b="1" dirty="0">
                  <a:solidFill>
                    <a:srgbClr val="C2410C"/>
                  </a:solidFill>
                  <a:latin typeface="+mn-lt"/>
                  <a:ea typeface="+mn-ea"/>
                  <a:cs typeface="+mn-cs"/>
                </a:rPr>
                <a:t>w = Σ αᵢyᵢφ(xᵢ)</a:t>
              </a:r>
              <a:r>
                <a:rPr lang="zh-CN" sz="1420" dirty="0">
                  <a:solidFill>
                    <a:srgbClr val="1F2937"/>
                  </a:solidFill>
                  <a:latin typeface="+mn-lt"/>
                  <a:ea typeface="+mn-ea"/>
                  <a:cs typeface="+mn-cs"/>
                </a:rPr>
                <a:t>（同一份课件第 59、66 页写对</a:t>
              </a:r>
              <a:br/>
              <a:r>
                <a:rPr lang="zh-CN" sz="1420" dirty="0">
                  <a:solidFill>
                    <a:srgbClr val="1F2937"/>
                  </a:solidFill>
                  <a:latin typeface="+mn-lt"/>
                  <a:ea typeface="+mn-ea"/>
                  <a:cs typeface="+mn-cs"/>
                </a:rPr>
                <a:t>了）。</a:t>
              </a:r>
            </a:p>
          </p:txBody>
        </p:sp>
        <p:sp>
          <p:nvSpPr>
            <p:cNvPr id="45" name="Ellipse 45"/>
            <p:cNvSpPr/>
            <p:nvPr/>
          </p:nvSpPr>
          <p:spPr>
            <a:xfrm>
              <a:off x="6268402" y="5329238"/>
              <a:ext cx="201930" cy="201930"/>
            </a:xfrm>
            <a:prstGeom prst="ellipse">
              <a:avLst/>
            </a:prstGeom>
            <a:solidFill>
              <a:srgbClr val="0E7C86"/>
            </a:solidFill>
            <a:ln>
              <a:noFill/>
            </a:ln>
          </p:spPr>
        </p:sp>
        <p:sp>
          <p:nvSpPr>
            <p:cNvPr id="46" name="TextBox 46"/>
            <p:cNvSpPr txBox="1"/>
            <p:nvPr/>
          </p:nvSpPr>
          <p:spPr>
            <a:xfrm>
              <a:off x="6326747" y="536862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47" name="TextBox 47"/>
            <p:cNvSpPr txBox="1"/>
            <p:nvPr/>
          </p:nvSpPr>
          <p:spPr>
            <a:xfrm>
              <a:off x="6559296" y="5341144"/>
              <a:ext cx="4601877"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B 版第 61 页把 L 展开成 … + b Σ αᵢyᵢ …；由 −Σαᵢyᵢ(w·</a:t>
              </a:r>
              <a:br/>
              <a:r>
                <a:rPr lang="zh-CN" sz="1420" dirty="0">
                  <a:solidFill>
                    <a:srgbClr val="1F2937"/>
                  </a:solidFill>
                  <a:latin typeface="+mn-lt"/>
                  <a:ea typeface="+mn-ea"/>
                  <a:cs typeface="+mn-cs"/>
                </a:rPr>
                <a:t xml:space="preserve">φ(xᵢ) + b) 展开得到的是 </a:t>
              </a:r>
              <a:r>
                <a:rPr lang="el-GR" sz="1420" b="1" dirty="0">
                  <a:solidFill>
                    <a:srgbClr val="C2410C"/>
                  </a:solidFill>
                  <a:latin typeface="+mn-lt"/>
                  <a:ea typeface="+mn-ea"/>
                  <a:cs typeface="+mn-cs"/>
                </a:rPr>
                <a:t>− b Σ αᵢyᵢ</a:t>
              </a:r>
              <a:r>
                <a:rPr lang="zh-CN" sz="1420" dirty="0">
                  <a:solidFill>
                    <a:srgbClr val="1F2937"/>
                  </a:solidFill>
                  <a:latin typeface="+mn-lt"/>
                  <a:ea typeface="+mn-ea"/>
                  <a:cs typeface="+mn-cs"/>
                </a:rPr>
                <a:t>（该项最终为 0，但</a:t>
              </a:r>
              <a:br/>
              <a:r>
                <a:rPr lang="zh-CN" sz="1420" dirty="0">
                  <a:solidFill>
                    <a:srgbClr val="1F2937"/>
                  </a:solidFill>
                  <a:latin typeface="+mn-lt"/>
                  <a:ea typeface="+mn-ea"/>
                  <a:cs typeface="+mn-cs"/>
                </a:rPr>
                <a:t>符号要写对）。</a:t>
              </a:r>
            </a:p>
          </p:txBody>
        </p:sp>
      </p:grpSp>
      <p:grpSp>
        <p:nvGrpSpPr>
          <p:cNvPr id="51" name="footer"/>
          <p:cNvGrpSpPr/>
          <p:nvPr/>
        </p:nvGrpSpPr>
        <p:grpSpPr>
          <a:xfrm>
            <a:off x="528447" y="6581299"/>
            <a:ext cx="11135106" cy="190690"/>
            <a:chOff x="528447" y="6581299"/>
            <a:chExt cx="11135106" cy="190690"/>
          </a:xfrm>
        </p:grpSpPr>
        <p:sp>
          <p:nvSpPr>
            <p:cNvPr id="49" name="TextBox 4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0" name="TextBox 5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06</a:t>
              </a:r>
            </a:p>
          </p:txBody>
        </p:sp>
      </p:grpSp>
      <p:grpSp>
        <p:nvGrpSpPr>
          <p:cNvPr id="18" name="section-title"/>
          <p:cNvGrpSpPr/>
          <p:nvPr/>
        </p:nvGrpSpPr>
        <p:grpSpPr>
          <a:xfrm>
            <a:off x="667512" y="1835468"/>
            <a:ext cx="4882896" cy="3351847"/>
            <a:chOff x="667512" y="1835468"/>
            <a:chExt cx="4882896"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第六部分</a:t>
              </a:r>
            </a:p>
          </p:txBody>
        </p:sp>
        <p:sp>
          <p:nvSpPr>
            <p:cNvPr id="7" name="TextBox 7"/>
            <p:cNvSpPr txBox="1"/>
            <p:nvPr/>
          </p:nvSpPr>
          <p:spPr>
            <a:xfrm>
              <a:off x="667512" y="2240280"/>
              <a:ext cx="4882896"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支持向量机的优化算法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103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N 很大时，对偶问题也不能硬解</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259918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核矩阵的存储代价随 N² 增长</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分解算法：工作集与固定集</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7165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工作集靠违反 KKT 的样本来换</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327964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SMO：每次只动两个乘子，有闭式解</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支持向量机的优化算法</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直接解的困难：核矩阵存不下</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5" name="c1-card-1"/>
          <p:cNvGrpSpPr/>
          <p:nvPr/>
        </p:nvGrpSpPr>
        <p:grpSpPr>
          <a:xfrm>
            <a:off x="533400" y="1524000"/>
            <a:ext cx="5626418" cy="1929765"/>
            <a:chOff x="533400" y="1524000"/>
            <a:chExt cx="5626418" cy="1929765"/>
          </a:xfrm>
        </p:grpSpPr>
        <p:sp>
          <p:nvSpPr>
            <p:cNvPr id="7" name="Rectangle 7"/>
            <p:cNvSpPr/>
            <p:nvPr/>
          </p:nvSpPr>
          <p:spPr>
            <a:xfrm>
              <a:off x="533400" y="1524000"/>
              <a:ext cx="5626418" cy="1929765"/>
            </a:xfrm>
            <a:prstGeom prst="roundRect">
              <a:avLst>
                <a:gd name="adj" fmla="val 6910"/>
              </a:avLst>
            </a:prstGeom>
            <a:solidFill>
              <a:srgbClr val="FFFFFF"/>
            </a:solidFill>
            <a:ln w="14288">
              <a:solidFill>
                <a:srgbClr val="D9DFEA"/>
              </a:solidFill>
            </a:ln>
          </p:spPr>
        </p:sp>
        <p:sp>
          <p:nvSpPr>
            <p:cNvPr id="8" name="Rectangle 8"/>
            <p:cNvSpPr/>
            <p:nvPr/>
          </p:nvSpPr>
          <p:spPr>
            <a:xfrm>
              <a:off x="542925" y="1657350"/>
              <a:ext cx="47625" cy="1663065"/>
            </a:xfrm>
            <a:prstGeom prst="roundRect">
              <a:avLst>
                <a:gd name="adj" fmla="val 50000"/>
              </a:avLst>
            </a:prstGeom>
            <a:solidFill>
              <a:srgbClr val="B42318"/>
            </a:solidFill>
            <a:ln>
              <a:noFill/>
            </a:ln>
          </p:spPr>
        </p:sp>
        <p:sp>
          <p:nvSpPr>
            <p:cNvPr id="9" name="Rectangle 9"/>
            <p:cNvSpPr/>
            <p:nvPr/>
          </p:nvSpPr>
          <p:spPr>
            <a:xfrm>
              <a:off x="758190" y="1710690"/>
              <a:ext cx="707708" cy="238125"/>
            </a:xfrm>
            <a:prstGeom prst="roundRect">
              <a:avLst>
                <a:gd name="adj" fmla="val 50000"/>
              </a:avLst>
            </a:prstGeom>
            <a:solidFill>
              <a:srgbClr val="FDECEA"/>
            </a:solidFill>
            <a:ln>
              <a:noFill/>
            </a:ln>
          </p:spPr>
        </p:sp>
        <p:sp>
          <p:nvSpPr>
            <p:cNvPr id="10" name="TextBox 10"/>
            <p:cNvSpPr txBox="1"/>
            <p:nvPr/>
          </p:nvSpPr>
          <p:spPr>
            <a:xfrm>
              <a:off x="842759" y="1743551"/>
              <a:ext cx="537616"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问题规模</a:t>
              </a:r>
            </a:p>
          </p:txBody>
        </p:sp>
        <p:sp>
          <p:nvSpPr>
            <p:cNvPr id="11" name="TextBox 11"/>
            <p:cNvSpPr txBox="1"/>
            <p:nvPr/>
          </p:nvSpPr>
          <p:spPr>
            <a:xfrm>
              <a:off x="1573340" y="1745932"/>
              <a:ext cx="27190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对偶问题的系数矩阵有 N² 个元素</a:t>
              </a:r>
            </a:p>
          </p:txBody>
        </p:sp>
        <mc:AlternateContent xmlns:mc="http://schemas.openxmlformats.org/markup-compatibility/2006">
          <mc:Choice xmlns:a14="http://schemas.microsoft.com/office/drawing/2010/main" Requires="a14">
            <p:sp>
              <p:nvSpPr>
                <p:cNvPr id="12" name="formula243"/>
                <p:cNvSpPr txBox="1">
                  <a:spLocks noGrp="1"/>
                </p:cNvSpPr>
                <p:nvPr/>
              </p:nvSpPr>
              <p:spPr>
                <a:xfrm>
                  <a:off x="758190" y="2049780"/>
                  <a:ext cx="5214938" cy="3429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350" dirty="0">
                            <a:solidFill>
                              <a:srgbClr val="1F2937"/>
                            </a:solidFill>
                            <a:latin typeface="Cambria Math"/>
                            <a:ea typeface="Cambria Math"/>
                            <a:cs typeface="Cambria Math"/>
                          </a:rPr>
                          <m:t>D</m:t>
                        </m:r>
                        <m:r>
                          <m:rPr>
                            <m:sty m:val="p"/>
                          </m:rPr>
                          <a:rPr lang="zh-CN" sz="1350" dirty="0">
                            <a:solidFill>
                              <a:srgbClr val="1F2937"/>
                            </a:solidFill>
                            <a:latin typeface="Cambria Math"/>
                            <a:ea typeface="Cambria Math"/>
                            <a:cs typeface="Cambria Math"/>
                          </a:rPr>
                          <m:t>=</m:t>
                        </m:r>
                        <m:d>
                          <m:dPr>
                            <m:begChr m:val="{"/>
                            <m:sepChr m:val="|"/>
                            <m:endChr m:val="}"/>
                            <m:grow m:val="on"/>
                            <m:ctrlPr>
                              <a:rPr lang="zh-CN" sz="1350" dirty="0">
                                <a:solidFill>
                                  <a:srgbClr val="1F2937"/>
                                </a:solidFill>
                                <a:latin typeface="Cambria Math"/>
                                <a:ea typeface="Cambria Math"/>
                                <a:cs typeface="Cambria Math"/>
                              </a:rPr>
                            </m:ctrlPr>
                          </m:dPr>
                          <m:e>
                            <m:sSub>
                              <m:e>
                                <m:r>
                                  <a:rPr lang="zh-CN" sz="1350" dirty="0">
                                    <a:solidFill>
                                      <a:srgbClr val="1F2937"/>
                                    </a:solidFill>
                                    <a:latin typeface="Cambria Math"/>
                                    <a:ea typeface="Cambria Math"/>
                                    <a:cs typeface="Cambria Math"/>
                                  </a:rPr>
                                  <m:t>d</m:t>
                                </m:r>
                              </m:e>
                              <m:sub>
                                <m:r>
                                  <a:rPr lang="zh-CN" sz="1350" dirty="0">
                                    <a:solidFill>
                                      <a:srgbClr val="1F2937"/>
                                    </a:solidFill>
                                    <a:latin typeface="Cambria Math"/>
                                    <a:ea typeface="Cambria Math"/>
                                    <a:cs typeface="Cambria Math"/>
                                  </a:rPr>
                                  <m:t>ij</m:t>
                                </m:r>
                              </m:sub>
                            </m:sSub>
                            <m:r>
                              <a:rPr lang="zh-CN" sz="1350" dirty="0">
                                <a:solidFill>
                                  <a:srgbClr val="1F2937"/>
                                </a:solidFill>
                                <a:latin typeface="Cambria Math"/>
                                <a:ea typeface="Cambria Math"/>
                                <a:cs typeface="Cambria Math"/>
                              </a:rPr>
                              <m:t xml:space="preserve"> </m:t>
                            </m:r>
                          </m:e>
                          <m:e>
                            <m:r>
                              <a:rPr lang="zh-CN" sz="1350" dirty="0">
                                <a:solidFill>
                                  <a:srgbClr val="1F2937"/>
                                </a:solidFill>
                                <a:latin typeface="Cambria Math"/>
                                <a:ea typeface="Cambria Math"/>
                                <a:cs typeface="Cambria Math"/>
                              </a:rPr>
                              <m:t xml:space="preserve"> </m:t>
                            </m:r>
                            <m:sSub>
                              <m:e>
                                <m:r>
                                  <a:rPr lang="zh-CN" sz="1350" dirty="0">
                                    <a:solidFill>
                                      <a:srgbClr val="1F2937"/>
                                    </a:solidFill>
                                    <a:latin typeface="Cambria Math"/>
                                    <a:ea typeface="Cambria Math"/>
                                    <a:cs typeface="Cambria Math"/>
                                  </a:rPr>
                                  <m:t>d</m:t>
                                </m:r>
                              </m:e>
                              <m:sub>
                                <m:r>
                                  <a:rPr lang="zh-CN" sz="1350" dirty="0">
                                    <a:solidFill>
                                      <a:srgbClr val="1F2937"/>
                                    </a:solidFill>
                                    <a:latin typeface="Cambria Math"/>
                                    <a:ea typeface="Cambria Math"/>
                                    <a:cs typeface="Cambria Math"/>
                                  </a:rPr>
                                  <m:t>ij</m:t>
                                </m:r>
                              </m:sub>
                            </m:sSub>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i</m:t>
                                </m:r>
                              </m:sub>
                            </m:sSub>
                            <m:sSub>
                              <m:e>
                                <m:r>
                                  <a:rPr lang="zh-CN" sz="1350" dirty="0">
                                    <a:solidFill>
                                      <a:srgbClr val="1F2937"/>
                                    </a:solidFill>
                                    <a:latin typeface="Cambria Math"/>
                                    <a:ea typeface="Cambria Math"/>
                                    <a:cs typeface="Cambria Math"/>
                                  </a:rPr>
                                  <m:t>y</m:t>
                                </m:r>
                              </m:e>
                              <m:sub>
                                <m:r>
                                  <a:rPr lang="zh-CN" sz="1350" dirty="0">
                                    <a:solidFill>
                                      <a:srgbClr val="1F2937"/>
                                    </a:solidFill>
                                    <a:latin typeface="Cambria Math"/>
                                    <a:ea typeface="Cambria Math"/>
                                    <a:cs typeface="Cambria Math"/>
                                  </a:rPr>
                                  <m:t>j</m:t>
                                </m:r>
                              </m:sub>
                            </m:sSub>
                            <m:r>
                              <a:rPr lang="zh-CN" sz="1350" dirty="0">
                                <a:solidFill>
                                  <a:srgbClr val="1F2937"/>
                                </a:solidFill>
                                <a:latin typeface="Cambria Math"/>
                                <a:ea typeface="Cambria Math"/>
                                <a:cs typeface="Cambria Math"/>
                              </a:rPr>
                              <m:t>K</m:t>
                            </m:r>
                            <m:d>
                              <m:dPr>
                                <m:begChr m:val="("/>
                                <m:sepChr m:val=""/>
                                <m:endChr m:val=")"/>
                                <m:grow m:val="on"/>
                                <m:ctrlPr>
                                  <a:rPr lang="zh-CN" sz="1350" dirty="0">
                                    <a:solidFill>
                                      <a:srgbClr val="1F2937"/>
                                    </a:solidFill>
                                    <a:latin typeface="Cambria Math"/>
                                    <a:ea typeface="Cambria Math"/>
                                    <a:cs typeface="Cambria Math"/>
                                  </a:rPr>
                                </m:ctrlPr>
                              </m:dPr>
                              <m:e>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i</m:t>
                                    </m:r>
                                  </m:sub>
                                </m:sSub>
                                <m:r>
                                  <m:rPr>
                                    <m:sty m:val="p"/>
                                  </m:rPr>
                                  <a:rPr lang="zh-CN" sz="1350" dirty="0">
                                    <a:solidFill>
                                      <a:srgbClr val="1F2937"/>
                                    </a:solidFill>
                                    <a:latin typeface="Cambria Math"/>
                                    <a:ea typeface="Cambria Math"/>
                                    <a:cs typeface="Cambria Math"/>
                                  </a:rPr>
                                  <m:t>,</m:t>
                                </m:r>
                                <m:sSub>
                                  <m:e>
                                    <m:r>
                                      <a:rPr lang="zh-CN" sz="1350" dirty="0">
                                        <a:solidFill>
                                          <a:srgbClr val="1F2937"/>
                                        </a:solidFill>
                                        <a:latin typeface="Cambria Math"/>
                                        <a:ea typeface="Cambria Math"/>
                                        <a:cs typeface="Cambria Math"/>
                                      </a:rPr>
                                      <m:t>x</m:t>
                                    </m:r>
                                  </m:e>
                                  <m:sub>
                                    <m:r>
                                      <a:rPr lang="zh-CN" sz="1350" dirty="0">
                                        <a:solidFill>
                                          <a:srgbClr val="1F2937"/>
                                        </a:solidFill>
                                        <a:latin typeface="Cambria Math"/>
                                        <a:ea typeface="Cambria Math"/>
                                        <a:cs typeface="Cambria Math"/>
                                      </a:rPr>
                                      <m:t>j</m:t>
                                    </m:r>
                                  </m:sub>
                                </m:sSub>
                              </m:e>
                            </m:d>
                          </m:e>
                        </m:d>
                      </m:oMath>
                    </m:oMathPara>
                  </a14:m>
                </a:p>
              </p:txBody>
            </p:sp>
          </mc:Choice>
        </mc:AlternateContent>
        <p:sp>
          <p:nvSpPr>
            <p:cNvPr id="13" name="TextBox 13"/>
            <p:cNvSpPr txBox="1"/>
            <p:nvPr/>
          </p:nvSpPr>
          <p:spPr>
            <a:xfrm>
              <a:off x="751332" y="2498408"/>
              <a:ext cx="449319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D 的存储代价 = 0.5 × (训练样本数)² × 单元存储空间。</a:t>
              </a:r>
            </a:p>
          </p:txBody>
        </p:sp>
        <p:sp>
          <p:nvSpPr>
            <p:cNvPr id="14" name="TextBox 14"/>
            <p:cNvSpPr txBox="1"/>
            <p:nvPr/>
          </p:nvSpPr>
          <p:spPr>
            <a:xfrm>
              <a:off x="751332" y="2798445"/>
              <a:ext cx="4347972"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训练样本 7 000、每个数 8 字节</a:t>
              </a:r>
              <a:r>
                <a:rPr lang="zh-CN" sz="1350" dirty="0">
                  <a:solidFill>
                    <a:srgbClr val="1F2937"/>
                  </a:solidFill>
                  <a:latin typeface="+mn-lt"/>
                  <a:ea typeface="+mn-ea"/>
                  <a:cs typeface="+mn-cs"/>
                </a:rPr>
                <a:t xml:space="preserve">：0.5 × 7000² × 8 = </a:t>
              </a:r>
              <a:r>
                <a:rPr lang="zh-CN" sz="1350" b="1" dirty="0">
                  <a:solidFill>
                    <a:srgbClr val="C2410C"/>
                  </a:solidFill>
                  <a:latin typeface="+mn-lt"/>
                  <a:ea typeface="+mn-ea"/>
                  <a:cs typeface="+mn-cs"/>
                </a:rPr>
                <a:t>196</a:t>
              </a:r>
              <a:br/>
              <a:r>
                <a:rPr lang="en-US" sz="1350" b="1" dirty="0">
                  <a:solidFill>
                    <a:srgbClr val="C2410C"/>
                  </a:solidFill>
                  <a:latin typeface="+mn-lt"/>
                  <a:ea typeface="+mn-ea"/>
                  <a:cs typeface="+mn-cs"/>
                </a:rPr>
                <a:t>MByte</a:t>
              </a:r>
              <a:r>
                <a:rPr lang="zh-CN" sz="1350" dirty="0">
                  <a:solidFill>
                    <a:srgbClr val="1F2937"/>
                  </a:solidFill>
                  <a:latin typeface="+mn-lt"/>
                  <a:ea typeface="+mn-ea"/>
                  <a:cs typeface="+mn-cs"/>
                </a:rPr>
                <a:t>。</a:t>
              </a:r>
            </a:p>
          </p:txBody>
        </p:sp>
      </p:grpSp>
      <p:grpSp>
        <p:nvGrpSpPr>
          <p:cNvPr id="32" name="c1-table-2"/>
          <p:cNvGrpSpPr/>
          <p:nvPr/>
        </p:nvGrpSpPr>
        <p:grpSpPr>
          <a:xfrm>
            <a:off x="528447" y="3623310"/>
            <a:ext cx="5631371" cy="1863756"/>
            <a:chOff x="528447" y="3623310"/>
            <a:chExt cx="5631371" cy="1863756"/>
          </a:xfrm>
        </p:grpSpPr>
        <p:sp>
          <p:nvSpPr>
            <p:cNvPr id="16" name="Rectangle 16"/>
            <p:cNvSpPr/>
            <p:nvPr/>
          </p:nvSpPr>
          <p:spPr>
            <a:xfrm>
              <a:off x="533400" y="3623310"/>
              <a:ext cx="5626418" cy="400050"/>
            </a:xfrm>
            <a:prstGeom prst="rect">
              <a:avLst/>
            </a:prstGeom>
            <a:solidFill>
              <a:srgbClr val="0E7C86"/>
            </a:solidFill>
            <a:ln>
              <a:noFill/>
            </a:ln>
          </p:spPr>
        </p:sp>
        <p:sp>
          <p:nvSpPr>
            <p:cNvPr id="17" name="TextBox 17"/>
            <p:cNvSpPr txBox="1"/>
            <p:nvPr/>
          </p:nvSpPr>
          <p:spPr>
            <a:xfrm>
              <a:off x="1204560" y="3744754"/>
              <a:ext cx="90748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训练样本数 N</a:t>
              </a:r>
            </a:p>
          </p:txBody>
        </p:sp>
        <p:sp>
          <p:nvSpPr>
            <p:cNvPr id="18" name="TextBox 18"/>
            <p:cNvSpPr txBox="1"/>
            <p:nvPr/>
          </p:nvSpPr>
          <p:spPr>
            <a:xfrm>
              <a:off x="3605877" y="3744754"/>
              <a:ext cx="173222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D 的存储（8 字节/元素）</a:t>
              </a:r>
            </a:p>
          </p:txBody>
        </p:sp>
        <p:sp>
          <p:nvSpPr>
            <p:cNvPr id="19" name="TextBox 19"/>
            <p:cNvSpPr txBox="1"/>
            <p:nvPr/>
          </p:nvSpPr>
          <p:spPr>
            <a:xfrm>
              <a:off x="630555" y="4144804"/>
              <a:ext cx="40721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7 000</a:t>
              </a:r>
            </a:p>
          </p:txBody>
        </p:sp>
        <p:sp>
          <p:nvSpPr>
            <p:cNvPr id="20" name="TextBox 20"/>
            <p:cNvSpPr txBox="1"/>
            <p:nvPr/>
          </p:nvSpPr>
          <p:spPr>
            <a:xfrm>
              <a:off x="2881312" y="4144804"/>
              <a:ext cx="52918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196 MB</a:t>
              </a:r>
            </a:p>
          </p:txBody>
        </p:sp>
        <p:sp>
          <p:nvSpPr>
            <p:cNvPr id="21" name="Rectangle 21"/>
            <p:cNvSpPr/>
            <p:nvPr/>
          </p:nvSpPr>
          <p:spPr>
            <a:xfrm>
              <a:off x="533400" y="4418648"/>
              <a:ext cx="5626418" cy="9525"/>
            </a:xfrm>
            <a:prstGeom prst="rect">
              <a:avLst/>
            </a:prstGeom>
            <a:solidFill>
              <a:srgbClr val="D9DFEA"/>
            </a:solidFill>
            <a:ln>
              <a:noFill/>
            </a:ln>
          </p:spPr>
        </p:sp>
        <p:sp>
          <p:nvSpPr>
            <p:cNvPr id="22" name="Rectangle 22"/>
            <p:cNvSpPr/>
            <p:nvPr/>
          </p:nvSpPr>
          <p:spPr>
            <a:xfrm>
              <a:off x="533400" y="4423410"/>
              <a:ext cx="5626418" cy="400050"/>
            </a:xfrm>
            <a:prstGeom prst="rect">
              <a:avLst/>
            </a:prstGeom>
            <a:solidFill>
              <a:srgbClr val="F4F6FB"/>
            </a:solidFill>
            <a:ln>
              <a:noFill/>
            </a:ln>
          </p:spPr>
        </p:sp>
        <p:sp>
          <p:nvSpPr>
            <p:cNvPr id="23" name="TextBox 23"/>
            <p:cNvSpPr txBox="1"/>
            <p:nvPr/>
          </p:nvSpPr>
          <p:spPr>
            <a:xfrm>
              <a:off x="630555" y="4544854"/>
              <a:ext cx="49428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20 000</a:t>
              </a:r>
            </a:p>
          </p:txBody>
        </p:sp>
        <p:sp>
          <p:nvSpPr>
            <p:cNvPr id="24" name="TextBox 24"/>
            <p:cNvSpPr txBox="1"/>
            <p:nvPr/>
          </p:nvSpPr>
          <p:spPr>
            <a:xfrm>
              <a:off x="2881312" y="4544854"/>
              <a:ext cx="49732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1.6 GB</a:t>
              </a:r>
            </a:p>
          </p:txBody>
        </p:sp>
        <p:sp>
          <p:nvSpPr>
            <p:cNvPr id="25" name="Rectangle 25"/>
            <p:cNvSpPr/>
            <p:nvPr/>
          </p:nvSpPr>
          <p:spPr>
            <a:xfrm>
              <a:off x="533400" y="4818698"/>
              <a:ext cx="5626418" cy="9525"/>
            </a:xfrm>
            <a:prstGeom prst="rect">
              <a:avLst/>
            </a:prstGeom>
            <a:solidFill>
              <a:srgbClr val="D9DFEA"/>
            </a:solidFill>
            <a:ln>
              <a:noFill/>
            </a:ln>
          </p:spPr>
        </p:sp>
        <p:sp>
          <p:nvSpPr>
            <p:cNvPr id="26" name="TextBox 26"/>
            <p:cNvSpPr txBox="1"/>
            <p:nvPr/>
          </p:nvSpPr>
          <p:spPr>
            <a:xfrm>
              <a:off x="630555" y="4944904"/>
              <a:ext cx="58135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100 000</a:t>
              </a:r>
            </a:p>
          </p:txBody>
        </p:sp>
        <p:sp>
          <p:nvSpPr>
            <p:cNvPr id="27" name="Rectangle 27"/>
            <p:cNvSpPr/>
            <p:nvPr/>
          </p:nvSpPr>
          <p:spPr>
            <a:xfrm>
              <a:off x="2793682" y="4832985"/>
              <a:ext cx="3356610" cy="381000"/>
            </a:xfrm>
            <a:prstGeom prst="rect">
              <a:avLst/>
            </a:prstGeom>
            <a:solidFill>
              <a:srgbClr val="FDECEA"/>
            </a:solidFill>
            <a:ln>
              <a:noFill/>
            </a:ln>
          </p:spPr>
        </p:sp>
        <p:sp>
          <p:nvSpPr>
            <p:cNvPr id="28" name="TextBox 28"/>
            <p:cNvSpPr txBox="1"/>
            <p:nvPr/>
          </p:nvSpPr>
          <p:spPr>
            <a:xfrm>
              <a:off x="2881312" y="4944904"/>
              <a:ext cx="40970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40 GB</a:t>
              </a:r>
            </a:p>
          </p:txBody>
        </p:sp>
        <p:sp>
          <p:nvSpPr>
            <p:cNvPr id="29" name="Rectangle 29"/>
            <p:cNvSpPr/>
            <p:nvPr/>
          </p:nvSpPr>
          <p:spPr>
            <a:xfrm>
              <a:off x="533400" y="3623310"/>
              <a:ext cx="5626418" cy="1600200"/>
            </a:xfrm>
            <a:prstGeom prst="rect">
              <a:avLst/>
            </a:prstGeom>
            <a:noFill/>
            <a:ln w="14288">
              <a:solidFill>
                <a:srgbClr val="D9DFEA"/>
              </a:solidFill>
            </a:ln>
          </p:spPr>
        </p:sp>
        <p:sp>
          <p:nvSpPr>
            <p:cNvPr id="30" name="Rectangle 30"/>
            <p:cNvSpPr/>
            <p:nvPr/>
          </p:nvSpPr>
          <p:spPr>
            <a:xfrm>
              <a:off x="2779395" y="3623310"/>
              <a:ext cx="9525" cy="1600200"/>
            </a:xfrm>
            <a:prstGeom prst="rect">
              <a:avLst/>
            </a:prstGeom>
            <a:solidFill>
              <a:srgbClr val="D9DFEA"/>
            </a:solidFill>
            <a:ln>
              <a:noFill/>
            </a:ln>
          </p:spPr>
        </p:sp>
        <p:sp>
          <p:nvSpPr>
            <p:cNvPr id="31" name="TextBox 31"/>
            <p:cNvSpPr txBox="1"/>
            <p:nvPr/>
          </p:nvSpPr>
          <p:spPr>
            <a:xfrm>
              <a:off x="528447" y="5296376"/>
              <a:ext cx="28376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只算下三角（对称）的一半，代价仍然是 O(N²)</a:t>
              </a:r>
            </a:p>
          </p:txBody>
        </p:sp>
      </p:grpSp>
      <p:grpSp>
        <p:nvGrpSpPr>
          <p:cNvPr id="38" name="c1-callout-3"/>
          <p:cNvGrpSpPr/>
          <p:nvPr/>
        </p:nvGrpSpPr>
        <p:grpSpPr>
          <a:xfrm>
            <a:off x="533400" y="5618798"/>
            <a:ext cx="5626418" cy="729615"/>
            <a:chOff x="533400" y="5618798"/>
            <a:chExt cx="5626418" cy="729615"/>
          </a:xfrm>
        </p:grpSpPr>
        <p:sp>
          <p:nvSpPr>
            <p:cNvPr id="33" name="Rectangle 33"/>
            <p:cNvSpPr/>
            <p:nvPr/>
          </p:nvSpPr>
          <p:spPr>
            <a:xfrm>
              <a:off x="533400" y="5618798"/>
              <a:ext cx="5626418" cy="729615"/>
            </a:xfrm>
            <a:prstGeom prst="roundRect">
              <a:avLst>
                <a:gd name="adj" fmla="val 15666"/>
              </a:avLst>
            </a:prstGeom>
            <a:solidFill>
              <a:srgbClr val="0E7C86"/>
            </a:solidFill>
            <a:ln>
              <a:noFill/>
            </a:ln>
          </p:spPr>
        </p:sp>
        <p:grpSp>
          <p:nvGrpSpPr>
            <p:cNvPr id="36" name="Group 36"/>
            <p:cNvGrpSpPr/>
            <p:nvPr/>
          </p:nvGrpSpPr>
          <p:grpSpPr>
            <a:xfrm>
              <a:off x="738188" y="5883595"/>
              <a:ext cx="200023" cy="200023"/>
              <a:chOff x="738188" y="5883595"/>
              <a:chExt cx="200023" cy="200023"/>
            </a:xfrm>
          </p:grpSpPr>
          <p:sp>
            <p:nvSpPr>
              <p:cNvPr id="34" name="Freeform 34"/>
              <p:cNvSpPr/>
              <p:nvPr/>
            </p:nvSpPr>
            <p:spPr>
              <a:xfrm>
                <a:off x="738188" y="588359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5" name="Freeform 35"/>
              <p:cNvSpPr/>
              <p:nvPr/>
            </p:nvSpPr>
            <p:spPr>
              <a:xfrm>
                <a:off x="871538" y="595026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7" name="TextBox 37"/>
            <p:cNvSpPr txBox="1"/>
            <p:nvPr/>
          </p:nvSpPr>
          <p:spPr>
            <a:xfrm>
              <a:off x="1040892" y="5765483"/>
              <a:ext cx="46428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二次规划的通用算法规模正比于训练样本数，在实际任务中造</a:t>
              </a:r>
              <a:br/>
              <a:r>
                <a:rPr lang="zh-CN" sz="1350" dirty="0">
                  <a:solidFill>
                    <a:srgbClr val="FFFFFF"/>
                  </a:solidFill>
                  <a:latin typeface="+mn-lt"/>
                  <a:ea typeface="+mn-ea"/>
                  <a:cs typeface="+mn-cs"/>
                </a:rPr>
                <a:t>成很大开销，所以要利用问题本身的特性另想办法。</a:t>
              </a:r>
            </a:p>
          </p:txBody>
        </p:sp>
      </p:grpSp>
      <p:grpSp>
        <p:nvGrpSpPr>
          <p:cNvPr id="45" name="c2-card-1"/>
          <p:cNvGrpSpPr/>
          <p:nvPr/>
        </p:nvGrpSpPr>
        <p:grpSpPr>
          <a:xfrm>
            <a:off x="6464618" y="1524000"/>
            <a:ext cx="5193982" cy="1463992"/>
            <a:chOff x="6464618" y="1524000"/>
            <a:chExt cx="5193982" cy="1463992"/>
          </a:xfrm>
        </p:grpSpPr>
        <p:sp>
          <p:nvSpPr>
            <p:cNvPr id="39" name="Rectangle 39"/>
            <p:cNvSpPr/>
            <p:nvPr/>
          </p:nvSpPr>
          <p:spPr>
            <a:xfrm>
              <a:off x="6464618" y="1524000"/>
              <a:ext cx="5193982" cy="1463992"/>
            </a:xfrm>
            <a:prstGeom prst="roundRect">
              <a:avLst>
                <a:gd name="adj" fmla="val 9109"/>
              </a:avLst>
            </a:prstGeom>
            <a:solidFill>
              <a:srgbClr val="0E7C86"/>
            </a:solidFill>
            <a:ln>
              <a:noFill/>
            </a:ln>
          </p:spPr>
        </p:sp>
        <p:sp>
          <p:nvSpPr>
            <p:cNvPr id="40" name="Rectangle 40"/>
            <p:cNvSpPr/>
            <p:nvPr/>
          </p:nvSpPr>
          <p:spPr>
            <a:xfrm>
              <a:off x="6651308" y="1710690"/>
              <a:ext cx="582930" cy="238125"/>
            </a:xfrm>
            <a:prstGeom prst="roundRect">
              <a:avLst>
                <a:gd name="adj" fmla="val 50000"/>
              </a:avLst>
            </a:prstGeom>
            <a:solidFill>
              <a:srgbClr val="0B5F67"/>
            </a:solidFill>
            <a:ln>
              <a:noFill/>
            </a:ln>
          </p:spPr>
        </p:sp>
        <p:sp>
          <p:nvSpPr>
            <p:cNvPr id="41" name="TextBox 41"/>
            <p:cNvSpPr txBox="1"/>
            <p:nvPr/>
          </p:nvSpPr>
          <p:spPr>
            <a:xfrm>
              <a:off x="6739928" y="1743551"/>
              <a:ext cx="40568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突破口</a:t>
              </a:r>
            </a:p>
          </p:txBody>
        </p:sp>
        <p:sp>
          <p:nvSpPr>
            <p:cNvPr id="42" name="TextBox 42"/>
            <p:cNvSpPr txBox="1"/>
            <p:nvPr/>
          </p:nvSpPr>
          <p:spPr>
            <a:xfrm>
              <a:off x="7341680" y="1745932"/>
              <a:ext cx="128587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最优解是稀疏的</a:t>
              </a:r>
            </a:p>
          </p:txBody>
        </p:sp>
        <p:sp>
          <p:nvSpPr>
            <p:cNvPr id="43" name="TextBox 43"/>
            <p:cNvSpPr txBox="1"/>
            <p:nvPr/>
          </p:nvSpPr>
          <p:spPr>
            <a:xfrm>
              <a:off x="6644449" y="2071688"/>
              <a:ext cx="460857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由 KKT 条件，绝大多数 αᵢ 的最优值是 0。既然最终只有少数</a:t>
              </a:r>
              <a:br/>
              <a:r>
                <a:rPr lang="zh-CN" sz="1350" dirty="0">
                  <a:solidFill>
                    <a:srgbClr val="FFFFFF"/>
                  </a:solidFill>
                  <a:latin typeface="+mn-lt"/>
                  <a:ea typeface="+mn-ea"/>
                  <a:cs typeface="+mn-cs"/>
                </a:rPr>
                <a:t>变量非零，就没有必要同时把所有变量摆上桌面。</a:t>
              </a:r>
            </a:p>
          </p:txBody>
        </p:sp>
        <p:sp>
          <p:nvSpPr>
            <p:cNvPr id="44" name="TextBox 44"/>
            <p:cNvSpPr txBox="1"/>
            <p:nvPr/>
          </p:nvSpPr>
          <p:spPr>
            <a:xfrm>
              <a:off x="6645592" y="2625566"/>
              <a:ext cx="2695214" cy="220028"/>
            </a:xfrm>
            <a:prstGeom prst="rect">
              <a:avLst/>
            </a:prstGeom>
            <a:noFill/>
            <a:ln>
              <a:noFill/>
            </a:ln>
          </p:spPr>
          <p:txBody>
            <a:bodyPr wrap="none" lIns="0" tIns="0" rIns="0" bIns="0" anchor="t" anchorCtr="0">
              <a:spAutoFit/>
            </a:bodyPr>
            <a:lstStyle/>
            <a:p>
              <a:pPr algn="l"/>
              <a:r>
                <a:rPr lang="zh-CN" sz="1120" dirty="0">
                  <a:solidFill>
                    <a:srgbClr val="FFFFFF"/>
                  </a:solidFill>
                  <a:latin typeface="+mn-lt"/>
                  <a:ea typeface="+mn-ea"/>
                  <a:cs typeface="+mn-cs"/>
                </a:rPr>
                <a:t>这正是分解算法与 SMO 的共同出发点。</a:t>
              </a:r>
            </a:p>
          </p:txBody>
        </p:sp>
      </p:grpSp>
      <p:grpSp>
        <p:nvGrpSpPr>
          <p:cNvPr id="60" name="c2-flow-2"/>
          <p:cNvGrpSpPr/>
          <p:nvPr/>
        </p:nvGrpSpPr>
        <p:grpSpPr>
          <a:xfrm>
            <a:off x="6828472" y="3331845"/>
            <a:ext cx="4466272" cy="2429828"/>
            <a:chOff x="6828472" y="3331845"/>
            <a:chExt cx="4466272" cy="2429828"/>
          </a:xfrm>
        </p:grpSpPr>
        <p:sp>
          <p:nvSpPr>
            <p:cNvPr id="46" name="Freeform 46"/>
            <p:cNvSpPr/>
            <p:nvPr/>
          </p:nvSpPr>
          <p:spPr>
            <a:xfrm>
              <a:off x="9062085" y="3909060"/>
              <a:ext cx="9525" cy="243840"/>
            </a:xfrm>
            <a:custGeom>
              <a:avLst/>
              <a:gdLst/>
              <a:ahLst/>
              <a:cxnLst/>
              <a:rect l="l" t="t" r="r" b="b"/>
              <a:pathLst>
                <a:path w="9525" h="243840">
                  <a:moveTo>
                    <a:pt x="0" y="0"/>
                  </a:moveTo>
                  <a:lnTo>
                    <a:pt x="0" y="243840"/>
                  </a:lnTo>
                </a:path>
              </a:pathLst>
            </a:custGeom>
            <a:noFill/>
            <a:ln w="15240">
              <a:solidFill>
                <a:srgbClr val="5B6475"/>
              </a:solidFill>
            </a:ln>
          </p:spPr>
        </p:sp>
        <p:sp>
          <p:nvSpPr>
            <p:cNvPr id="47" name="Freeform 47"/>
            <p:cNvSpPr/>
            <p:nvPr/>
          </p:nvSpPr>
          <p:spPr>
            <a:xfrm>
              <a:off x="9009698" y="41529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8" name="Freeform 48"/>
            <p:cNvSpPr/>
            <p:nvPr/>
          </p:nvSpPr>
          <p:spPr>
            <a:xfrm>
              <a:off x="9062085" y="4834890"/>
              <a:ext cx="9525" cy="243840"/>
            </a:xfrm>
            <a:custGeom>
              <a:avLst/>
              <a:gdLst/>
              <a:ahLst/>
              <a:cxnLst/>
              <a:rect l="l" t="t" r="r" b="b"/>
              <a:pathLst>
                <a:path w="9525" h="243840">
                  <a:moveTo>
                    <a:pt x="0" y="0"/>
                  </a:moveTo>
                  <a:lnTo>
                    <a:pt x="0" y="243840"/>
                  </a:lnTo>
                </a:path>
              </a:pathLst>
            </a:custGeom>
            <a:noFill/>
            <a:ln w="15240">
              <a:solidFill>
                <a:srgbClr val="5B6475"/>
              </a:solidFill>
            </a:ln>
          </p:spPr>
        </p:sp>
        <p:sp>
          <p:nvSpPr>
            <p:cNvPr id="49" name="Freeform 49"/>
            <p:cNvSpPr/>
            <p:nvPr/>
          </p:nvSpPr>
          <p:spPr>
            <a:xfrm>
              <a:off x="9009698" y="507873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50" name="Rectangle 50"/>
            <p:cNvSpPr/>
            <p:nvPr/>
          </p:nvSpPr>
          <p:spPr>
            <a:xfrm>
              <a:off x="6828472" y="3331845"/>
              <a:ext cx="4466272" cy="578168"/>
            </a:xfrm>
            <a:prstGeom prst="roundRect">
              <a:avLst>
                <a:gd name="adj" fmla="val 16474"/>
              </a:avLst>
            </a:prstGeom>
            <a:solidFill>
              <a:srgbClr val="FFFFFF"/>
            </a:solidFill>
            <a:ln w="15240">
              <a:solidFill>
                <a:srgbClr val="0E7C86"/>
              </a:solidFill>
            </a:ln>
          </p:spPr>
        </p:sp>
        <p:sp>
          <p:nvSpPr>
            <p:cNvPr id="51" name="Rectangle 51"/>
            <p:cNvSpPr/>
            <p:nvPr/>
          </p:nvSpPr>
          <p:spPr>
            <a:xfrm>
              <a:off x="6828472" y="4257675"/>
              <a:ext cx="4466272" cy="578168"/>
            </a:xfrm>
            <a:prstGeom prst="roundRect">
              <a:avLst>
                <a:gd name="adj" fmla="val 16474"/>
              </a:avLst>
            </a:prstGeom>
            <a:solidFill>
              <a:srgbClr val="FFFFFF"/>
            </a:solidFill>
            <a:ln w="15240">
              <a:solidFill>
                <a:srgbClr val="0E7C86"/>
              </a:solidFill>
            </a:ln>
          </p:spPr>
        </p:sp>
        <p:sp>
          <p:nvSpPr>
            <p:cNvPr id="52" name="Rectangle 52"/>
            <p:cNvSpPr/>
            <p:nvPr/>
          </p:nvSpPr>
          <p:spPr>
            <a:xfrm>
              <a:off x="6828472" y="5183505"/>
              <a:ext cx="4466272" cy="578168"/>
            </a:xfrm>
            <a:prstGeom prst="roundRect">
              <a:avLst>
                <a:gd name="adj" fmla="val 16474"/>
              </a:avLst>
            </a:prstGeom>
            <a:solidFill>
              <a:srgbClr val="E2F3F4"/>
            </a:solidFill>
            <a:ln w="19050">
              <a:solidFill>
                <a:srgbClr val="0E7C86"/>
              </a:solidFill>
            </a:ln>
          </p:spPr>
        </p:sp>
        <p:sp>
          <p:nvSpPr>
            <p:cNvPr id="53" name="TextBox 53"/>
            <p:cNvSpPr txBox="1"/>
            <p:nvPr/>
          </p:nvSpPr>
          <p:spPr>
            <a:xfrm>
              <a:off x="8782558" y="3445669"/>
              <a:ext cx="559054" cy="412433"/>
            </a:xfrm>
            <a:prstGeom prst="rect">
              <a:avLst/>
            </a:prstGeom>
            <a:noFill/>
            <a:ln>
              <a:noFill/>
            </a:ln>
          </p:spPr>
          <p:txBody>
            <a:bodyPr wrap="none" lIns="0" tIns="0" rIns="0" bIns="0" anchor="t" anchorCtr="0">
              <a:spAutoFit/>
            </a:bodyPr>
            <a:lstStyle/>
            <a:p>
              <a:pPr algn="ctr">
                <a:lnSpc>
                  <a:spcPts val="1515"/>
                </a:lnSpc>
              </a:pPr>
              <a:r>
                <a:rPr lang="zh-CN" sz="1120" dirty="0">
                  <a:solidFill>
                    <a:srgbClr val="1F2937"/>
                  </a:solidFill>
                  <a:latin typeface="+mn-lt"/>
                  <a:ea typeface="+mn-ea"/>
                  <a:cs typeface="+mn-cs"/>
                </a:rPr>
                <a:t>整个 QP</a:t>
              </a:r>
              <a:br/>
              <a:r>
                <a:rPr lang="zh-CN" sz="1120" dirty="0">
                  <a:solidFill>
                    <a:srgbClr val="1F2937"/>
                  </a:solidFill>
                  <a:latin typeface="+mn-lt"/>
                  <a:ea typeface="+mn-ea"/>
                  <a:cs typeface="+mn-cs"/>
                </a:rPr>
                <a:t>N 个变量</a:t>
              </a:r>
            </a:p>
          </p:txBody>
        </p:sp>
        <p:sp>
          <p:nvSpPr>
            <p:cNvPr id="54" name="TextBox 54"/>
            <p:cNvSpPr txBox="1"/>
            <p:nvPr/>
          </p:nvSpPr>
          <p:spPr>
            <a:xfrm>
              <a:off x="8647430" y="4371499"/>
              <a:ext cx="829310" cy="412433"/>
            </a:xfrm>
            <a:prstGeom prst="rect">
              <a:avLst/>
            </a:prstGeom>
            <a:noFill/>
            <a:ln>
              <a:noFill/>
            </a:ln>
          </p:spPr>
          <p:txBody>
            <a:bodyPr wrap="none" lIns="0" tIns="0" rIns="0" bIns="0" anchor="t" anchorCtr="0">
              <a:spAutoFit/>
            </a:bodyPr>
            <a:lstStyle/>
            <a:p>
              <a:pPr algn="ctr">
                <a:lnSpc>
                  <a:spcPts val="1515"/>
                </a:lnSpc>
              </a:pPr>
              <a:r>
                <a:rPr lang="zh-CN" sz="1120" dirty="0">
                  <a:solidFill>
                    <a:srgbClr val="1F2937"/>
                  </a:solidFill>
                  <a:latin typeface="+mn-lt"/>
                  <a:ea typeface="+mn-ea"/>
                  <a:cs typeface="+mn-cs"/>
                </a:rPr>
                <a:t>分解算法</a:t>
              </a:r>
              <a:br/>
              <a:r>
                <a:rPr lang="zh-CN" sz="1120" dirty="0">
                  <a:solidFill>
                    <a:srgbClr val="1F2937"/>
                  </a:solidFill>
                  <a:latin typeface="+mn-lt"/>
                  <a:ea typeface="+mn-ea"/>
                  <a:cs typeface="+mn-cs"/>
                </a:rPr>
                <a:t>每次解 |B| 个</a:t>
              </a:r>
            </a:p>
          </p:txBody>
        </p:sp>
        <p:sp>
          <p:nvSpPr>
            <p:cNvPr id="55" name="TextBox 55"/>
            <p:cNvSpPr txBox="1"/>
            <p:nvPr/>
          </p:nvSpPr>
          <p:spPr>
            <a:xfrm>
              <a:off x="8690102" y="5297329"/>
              <a:ext cx="743966" cy="412433"/>
            </a:xfrm>
            <a:prstGeom prst="rect">
              <a:avLst/>
            </a:prstGeom>
            <a:noFill/>
            <a:ln>
              <a:noFill/>
            </a:ln>
          </p:spPr>
          <p:txBody>
            <a:bodyPr wrap="none" lIns="0" tIns="0" rIns="0" bIns="0" anchor="t" anchorCtr="0">
              <a:spAutoFit/>
            </a:bodyPr>
            <a:lstStyle/>
            <a:p>
              <a:pPr algn="ctr">
                <a:lnSpc>
                  <a:spcPts val="1515"/>
                </a:lnSpc>
              </a:pPr>
              <a:r>
                <a:rPr lang="en-US" sz="1120" dirty="0">
                  <a:solidFill>
                    <a:srgbClr val="1F2937"/>
                  </a:solidFill>
                  <a:latin typeface="+mn-lt"/>
                  <a:ea typeface="+mn-ea"/>
                  <a:cs typeface="+mn-cs"/>
                </a:rPr>
                <a:t>SMO</a:t>
              </a:r>
              <a:br/>
              <a:r>
                <a:rPr lang="zh-CN" sz="1120" dirty="0">
                  <a:solidFill>
                    <a:srgbClr val="1F2937"/>
                  </a:solidFill>
                  <a:latin typeface="+mn-lt"/>
                  <a:ea typeface="+mn-ea"/>
                  <a:cs typeface="+mn-cs"/>
                </a:rPr>
                <a:t>每次解 2 个</a:t>
              </a:r>
            </a:p>
          </p:txBody>
        </p:sp>
        <p:sp>
          <p:nvSpPr>
            <p:cNvPr id="56" name="Rectangle 56"/>
            <p:cNvSpPr/>
            <p:nvPr/>
          </p:nvSpPr>
          <p:spPr>
            <a:xfrm>
              <a:off x="9090660" y="4004310"/>
              <a:ext cx="895350" cy="165735"/>
            </a:xfrm>
            <a:prstGeom prst="roundRect">
              <a:avLst>
                <a:gd name="adj" fmla="val 22989"/>
              </a:avLst>
            </a:prstGeom>
            <a:solidFill>
              <a:srgbClr val="FFFFFF"/>
            </a:solidFill>
            <a:ln>
              <a:noFill/>
            </a:ln>
          </p:spPr>
        </p:sp>
        <p:sp>
          <p:nvSpPr>
            <p:cNvPr id="57" name="TextBox 57"/>
            <p:cNvSpPr txBox="1"/>
            <p:nvPr/>
          </p:nvSpPr>
          <p:spPr>
            <a:xfrm>
              <a:off x="9114472" y="4027170"/>
              <a:ext cx="857631"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固定住其余变量</a:t>
              </a:r>
            </a:p>
          </p:txBody>
        </p:sp>
        <p:sp>
          <p:nvSpPr>
            <p:cNvPr id="58" name="Rectangle 58"/>
            <p:cNvSpPr/>
            <p:nvPr/>
          </p:nvSpPr>
          <p:spPr>
            <a:xfrm>
              <a:off x="9090660" y="4930140"/>
              <a:ext cx="718185" cy="165735"/>
            </a:xfrm>
            <a:prstGeom prst="roundRect">
              <a:avLst>
                <a:gd name="adj" fmla="val 22989"/>
              </a:avLst>
            </a:prstGeom>
            <a:solidFill>
              <a:srgbClr val="FFFFFF"/>
            </a:solidFill>
            <a:ln>
              <a:noFill/>
            </a:ln>
          </p:spPr>
        </p:sp>
        <p:sp>
          <p:nvSpPr>
            <p:cNvPr id="59" name="TextBox 59"/>
            <p:cNvSpPr txBox="1"/>
            <p:nvPr/>
          </p:nvSpPr>
          <p:spPr>
            <a:xfrm>
              <a:off x="9114472" y="4953000"/>
              <a:ext cx="679780"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|B| 取到最小</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支持向量机的优化算法</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分解算法：只动工作集，固定集按兵不动</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9275807" cy="278702"/>
            <a:chOff x="526161" y="1547336"/>
            <a:chExt cx="9275807" cy="278702"/>
          </a:xfrm>
        </p:grpSpPr>
        <p:sp>
          <p:nvSpPr>
            <p:cNvPr id="7" name="TextBox 7"/>
            <p:cNvSpPr txBox="1"/>
            <p:nvPr/>
          </p:nvSpPr>
          <p:spPr>
            <a:xfrm>
              <a:off x="526161" y="1547336"/>
              <a:ext cx="9275807"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Osuna 等人在 IEEE NNSP'97 的 An Improved Training Algorithm for Support Vector Machines 中提出。</a:t>
              </a:r>
            </a:p>
          </p:txBody>
        </p:sp>
      </p:grpSp>
      <p:grpSp>
        <p:nvGrpSpPr>
          <p:cNvPr id="25" name="c1-card-1"/>
          <p:cNvGrpSpPr/>
          <p:nvPr/>
        </p:nvGrpSpPr>
        <p:grpSpPr>
          <a:xfrm>
            <a:off x="533400" y="1941195"/>
            <a:ext cx="5410200" cy="2398395"/>
            <a:chOff x="533400" y="1941195"/>
            <a:chExt cx="5410200" cy="2398395"/>
          </a:xfrm>
        </p:grpSpPr>
        <p:sp>
          <p:nvSpPr>
            <p:cNvPr id="9" name="Rectangle 9"/>
            <p:cNvSpPr/>
            <p:nvPr/>
          </p:nvSpPr>
          <p:spPr>
            <a:xfrm>
              <a:off x="533400" y="1941195"/>
              <a:ext cx="5410200" cy="2398395"/>
            </a:xfrm>
            <a:prstGeom prst="roundRect">
              <a:avLst>
                <a:gd name="adj" fmla="val 5560"/>
              </a:avLst>
            </a:prstGeom>
            <a:solidFill>
              <a:srgbClr val="FFFFFF"/>
            </a:solidFill>
            <a:ln w="14288">
              <a:solidFill>
                <a:srgbClr val="D9DFEA"/>
              </a:solidFill>
            </a:ln>
          </p:spPr>
        </p:sp>
        <p:sp>
          <p:nvSpPr>
            <p:cNvPr id="10" name="Rectangle 10"/>
            <p:cNvSpPr/>
            <p:nvPr/>
          </p:nvSpPr>
          <p:spPr>
            <a:xfrm>
              <a:off x="542925" y="2074545"/>
              <a:ext cx="47625" cy="2131695"/>
            </a:xfrm>
            <a:prstGeom prst="roundRect">
              <a:avLst>
                <a:gd name="adj" fmla="val 50000"/>
              </a:avLst>
            </a:prstGeom>
            <a:solidFill>
              <a:srgbClr val="0E7C86"/>
            </a:solidFill>
            <a:ln>
              <a:noFill/>
            </a:ln>
          </p:spPr>
        </p:sp>
        <p:sp>
          <p:nvSpPr>
            <p:cNvPr id="11" name="Rectangle 11"/>
            <p:cNvSpPr/>
            <p:nvPr/>
          </p:nvSpPr>
          <p:spPr>
            <a:xfrm>
              <a:off x="763905" y="2133600"/>
              <a:ext cx="476250" cy="247650"/>
            </a:xfrm>
            <a:prstGeom prst="roundRect">
              <a:avLst>
                <a:gd name="adj" fmla="val 50000"/>
              </a:avLst>
            </a:prstGeom>
            <a:solidFill>
              <a:srgbClr val="E2F3F4"/>
            </a:solidFill>
            <a:ln>
              <a:noFill/>
            </a:ln>
          </p:spPr>
        </p:sp>
        <p:sp>
          <p:nvSpPr>
            <p:cNvPr id="12" name="TextBox 12"/>
            <p:cNvSpPr txBox="1"/>
            <p:nvPr/>
          </p:nvSpPr>
          <p:spPr>
            <a:xfrm>
              <a:off x="855345" y="2167890"/>
              <a:ext cx="293370"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做法</a:t>
              </a:r>
            </a:p>
          </p:txBody>
        </p:sp>
        <p:sp>
          <p:nvSpPr>
            <p:cNvPr id="13" name="TextBox 13"/>
            <p:cNvSpPr txBox="1"/>
            <p:nvPr/>
          </p:nvSpPr>
          <p:spPr>
            <a:xfrm>
              <a:off x="1347597" y="2173605"/>
              <a:ext cx="114184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把 α 切成两块</a:t>
              </a:r>
            </a:p>
          </p:txBody>
        </p:sp>
        <p:sp>
          <p:nvSpPr>
            <p:cNvPr id="14" name="TextBox 14"/>
            <p:cNvSpPr txBox="1"/>
            <p:nvPr/>
          </p:nvSpPr>
          <p:spPr>
            <a:xfrm>
              <a:off x="757047" y="2507932"/>
              <a:ext cx="372663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把乘子向量分成工作集 B 与固定集 N 两部分。</a:t>
              </a:r>
            </a:p>
          </p:txBody>
        </p:sp>
        <p:sp>
          <p:nvSpPr>
            <p:cNvPr id="15" name="Ellipse 15"/>
            <p:cNvSpPr/>
            <p:nvPr/>
          </p:nvSpPr>
          <p:spPr>
            <a:xfrm>
              <a:off x="763905" y="2798445"/>
              <a:ext cx="192405" cy="192405"/>
            </a:xfrm>
            <a:prstGeom prst="ellipse">
              <a:avLst/>
            </a:prstGeom>
            <a:solidFill>
              <a:srgbClr val="0E7C86"/>
            </a:solidFill>
            <a:ln>
              <a:noFill/>
            </a:ln>
          </p:spPr>
        </p:sp>
        <p:sp>
          <p:nvSpPr>
            <p:cNvPr id="16" name="TextBox 16"/>
            <p:cNvSpPr txBox="1"/>
            <p:nvPr/>
          </p:nvSpPr>
          <p:spPr>
            <a:xfrm>
              <a:off x="819583" y="283683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17" name="TextBox 17"/>
            <p:cNvSpPr txBox="1"/>
            <p:nvPr/>
          </p:nvSpPr>
          <p:spPr>
            <a:xfrm>
              <a:off x="1044702" y="2810827"/>
              <a:ext cx="431916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每次只对工作集解一个小 QP，固定集里的值保持不变</a:t>
              </a:r>
            </a:p>
          </p:txBody>
        </p:sp>
        <p:sp>
          <p:nvSpPr>
            <p:cNvPr id="18" name="Ellipse 18"/>
            <p:cNvSpPr/>
            <p:nvPr/>
          </p:nvSpPr>
          <p:spPr>
            <a:xfrm>
              <a:off x="763905" y="3100388"/>
              <a:ext cx="192405" cy="192405"/>
            </a:xfrm>
            <a:prstGeom prst="ellipse">
              <a:avLst/>
            </a:prstGeom>
            <a:solidFill>
              <a:srgbClr val="0E7C86"/>
            </a:solidFill>
            <a:ln>
              <a:noFill/>
            </a:ln>
          </p:spPr>
        </p:sp>
        <p:sp>
          <p:nvSpPr>
            <p:cNvPr id="19" name="TextBox 19"/>
            <p:cNvSpPr txBox="1"/>
            <p:nvPr/>
          </p:nvSpPr>
          <p:spPr>
            <a:xfrm>
              <a:off x="819583" y="313972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20" name="TextBox 20"/>
            <p:cNvSpPr txBox="1"/>
            <p:nvPr/>
          </p:nvSpPr>
          <p:spPr>
            <a:xfrm>
              <a:off x="1044702" y="3112770"/>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每次迭代换一组 B 和 N，每解完一个小问题就向最终解前进</a:t>
              </a:r>
              <a:br/>
              <a:r>
                <a:rPr lang="zh-CN" sz="1350" dirty="0">
                  <a:solidFill>
                    <a:srgbClr val="1F2937"/>
                  </a:solidFill>
                  <a:latin typeface="+mn-lt"/>
                  <a:ea typeface="+mn-ea"/>
                  <a:cs typeface="+mn-cs"/>
                </a:rPr>
                <a:t>一步</a:t>
              </a:r>
            </a:p>
          </p:txBody>
        </p:sp>
        <p:sp>
          <p:nvSpPr>
            <p:cNvPr id="21" name="Ellipse 21"/>
            <p:cNvSpPr/>
            <p:nvPr/>
          </p:nvSpPr>
          <p:spPr>
            <a:xfrm>
              <a:off x="763905" y="3660457"/>
              <a:ext cx="192405" cy="192405"/>
            </a:xfrm>
            <a:prstGeom prst="ellipse">
              <a:avLst/>
            </a:prstGeom>
            <a:solidFill>
              <a:srgbClr val="0E7C86"/>
            </a:solidFill>
            <a:ln>
              <a:noFill/>
            </a:ln>
          </p:spPr>
        </p:sp>
        <p:sp>
          <p:nvSpPr>
            <p:cNvPr id="22" name="TextBox 22"/>
            <p:cNvSpPr txBox="1"/>
            <p:nvPr/>
          </p:nvSpPr>
          <p:spPr>
            <a:xfrm>
              <a:off x="819583" y="369884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23" name="TextBox 23"/>
            <p:cNvSpPr txBox="1"/>
            <p:nvPr/>
          </p:nvSpPr>
          <p:spPr>
            <a:xfrm>
              <a:off x="1044702" y="3672840"/>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每次迭代检查当前结果，满足优化条件就结束</a:t>
              </a:r>
            </a:p>
          </p:txBody>
        </p:sp>
        <p:sp>
          <p:nvSpPr>
            <p:cNvPr id="24" name="TextBox 24"/>
            <p:cNvSpPr txBox="1"/>
            <p:nvPr/>
          </p:nvSpPr>
          <p:spPr>
            <a:xfrm>
              <a:off x="758190" y="3971449"/>
              <a:ext cx="2725369"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工作集规模人为指定，常取几十到几百。</a:t>
              </a:r>
            </a:p>
          </p:txBody>
        </p:sp>
      </p:grpSp>
      <mc:AlternateContent xmlns:mc="http://schemas.openxmlformats.org/markup-compatibility/2006">
        <mc:Choice xmlns:a14="http://schemas.microsoft.com/office/drawing/2010/main" Requires="a14">
          <p:sp>
            <p:nvSpPr>
              <p:cNvPr id="26" name="formula256"/>
              <p:cNvSpPr txBox="1">
                <a:spLocks noGrp="1"/>
              </p:cNvSpPr>
              <p:nvPr/>
            </p:nvSpPr>
            <p:spPr>
              <a:xfrm>
                <a:off x="533400" y="4514850"/>
                <a:ext cx="5410200" cy="42100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280" dirty="0">
                          <a:solidFill>
                            <a:srgbClr val="1F2937"/>
                          </a:solidFill>
                          <a:latin typeface="Cambria Math"/>
                          <a:ea typeface="Cambria Math"/>
                          <a:cs typeface="Cambria Math"/>
                        </a:rPr>
                        <m:t>α</m:t>
                      </m:r>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m>
                            <m:mPr>
                              <m:baseJc m:val="center"/>
                              <m:plcHide m:val="on"/>
                              <m:mcs>
                                <m:mc>
                                  <m:mcPr>
                                    <m:count m:val="1"/>
                                  </m:mcPr>
                                </m:mc>
                              </m:mcs>
                            </m:mPr>
                            <m:mr>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B</m:t>
                                    </m:r>
                                  </m:sub>
                                </m:sSub>
                              </m:e>
                            </m:mr>
                            <m:mr>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N</m:t>
                                    </m:r>
                                  </m:sub>
                                </m:sSub>
                              </m:e>
                            </m:mr>
                          </m:m>
                        </m:e>
                      </m:d>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 xml:space="preserve">  </m:t>
                      </m:r>
                      <m:r>
                        <a:rPr lang="zh-CN" sz="1280" dirty="0">
                          <a:solidFill>
                            <a:srgbClr val="1F2937"/>
                          </a:solidFill>
                          <a:latin typeface="Cambria Math"/>
                          <a:ea typeface="Cambria Math"/>
                          <a:cs typeface="Cambria Math"/>
                        </a:rPr>
                        <m:t>D</m:t>
                      </m:r>
                      <m:r>
                        <m:rPr>
                          <m:sty m:val="p"/>
                        </m:rPr>
                        <a:rPr lang="zh-CN" sz="1280" dirty="0">
                          <a:solidFill>
                            <a:srgbClr val="1F2937"/>
                          </a:solidFill>
                          <a:latin typeface="Cambria Math"/>
                          <a:ea typeface="Cambria Math"/>
                          <a:cs typeface="Cambria Math"/>
                        </a:rPr>
                        <m:t>=</m:t>
                      </m:r>
                      <m:d>
                        <m:dPr>
                          <m:begChr m:val="("/>
                          <m:sepChr m:val=""/>
                          <m:endChr m:val=")"/>
                          <m:grow m:val="on"/>
                          <m:ctrlPr>
                            <a:rPr lang="zh-CN" sz="1280" dirty="0">
                              <a:solidFill>
                                <a:srgbClr val="1F2937"/>
                              </a:solidFill>
                              <a:latin typeface="Cambria Math"/>
                              <a:ea typeface="Cambria Math"/>
                              <a:cs typeface="Cambria Math"/>
                            </a:rPr>
                          </m:ctrlPr>
                        </m:dPr>
                        <m:e>
                          <m:m>
                            <m:mPr>
                              <m:baseJc m:val="center"/>
                              <m:plcHide m:val="on"/>
                              <m:mcs>
                                <m:mc>
                                  <m:mcPr>
                                    <m:count m:val="1"/>
                                  </m:mcPr>
                                </m:mc>
                                <m:mc>
                                  <m:mcPr>
                                    <m:count m:val="1"/>
                                  </m:mcPr>
                                </m:mc>
                              </m:mcs>
                            </m:mPr>
                            <m:mr>
                              <m:e>
                                <m:sSub>
                                  <m:e>
                                    <m:r>
                                      <a:rPr lang="zh-CN" sz="1280" dirty="0">
                                        <a:solidFill>
                                          <a:srgbClr val="1F2937"/>
                                        </a:solidFill>
                                        <a:latin typeface="Cambria Math"/>
                                        <a:ea typeface="Cambria Math"/>
                                        <a:cs typeface="Cambria Math"/>
                                      </a:rPr>
                                      <m:t>D</m:t>
                                    </m:r>
                                  </m:e>
                                  <m:sub>
                                    <m:r>
                                      <a:rPr lang="zh-CN" sz="1280" dirty="0">
                                        <a:solidFill>
                                          <a:srgbClr val="1F2937"/>
                                        </a:solidFill>
                                        <a:latin typeface="Cambria Math"/>
                                        <a:ea typeface="Cambria Math"/>
                                        <a:cs typeface="Cambria Math"/>
                                      </a:rPr>
                                      <m:t>BB</m:t>
                                    </m:r>
                                  </m:sub>
                                </m:sSub>
                              </m:e>
                              <m:e>
                                <m:sSub>
                                  <m:e>
                                    <m:r>
                                      <a:rPr lang="zh-CN" sz="1280" dirty="0">
                                        <a:solidFill>
                                          <a:srgbClr val="1F2937"/>
                                        </a:solidFill>
                                        <a:latin typeface="Cambria Math"/>
                                        <a:ea typeface="Cambria Math"/>
                                        <a:cs typeface="Cambria Math"/>
                                      </a:rPr>
                                      <m:t>D</m:t>
                                    </m:r>
                                  </m:e>
                                  <m:sub>
                                    <m:r>
                                      <a:rPr lang="zh-CN" sz="1280" dirty="0">
                                        <a:solidFill>
                                          <a:srgbClr val="1F2937"/>
                                        </a:solidFill>
                                        <a:latin typeface="Cambria Math"/>
                                        <a:ea typeface="Cambria Math"/>
                                        <a:cs typeface="Cambria Math"/>
                                      </a:rPr>
                                      <m:t>BN</m:t>
                                    </m:r>
                                  </m:sub>
                                </m:sSub>
                              </m:e>
                            </m:mr>
                            <m:mr>
                              <m:e>
                                <m:sSub>
                                  <m:e>
                                    <m:r>
                                      <a:rPr lang="zh-CN" sz="1280" dirty="0">
                                        <a:solidFill>
                                          <a:srgbClr val="1F2937"/>
                                        </a:solidFill>
                                        <a:latin typeface="Cambria Math"/>
                                        <a:ea typeface="Cambria Math"/>
                                        <a:cs typeface="Cambria Math"/>
                                      </a:rPr>
                                      <m:t>D</m:t>
                                    </m:r>
                                  </m:e>
                                  <m:sub>
                                    <m:r>
                                      <a:rPr lang="zh-CN" sz="1280" dirty="0">
                                        <a:solidFill>
                                          <a:srgbClr val="1F2937"/>
                                        </a:solidFill>
                                        <a:latin typeface="Cambria Math"/>
                                        <a:ea typeface="Cambria Math"/>
                                        <a:cs typeface="Cambria Math"/>
                                      </a:rPr>
                                      <m:t>NB</m:t>
                                    </m:r>
                                  </m:sub>
                                </m:sSub>
                              </m:e>
                              <m:e>
                                <m:sSub>
                                  <m:e>
                                    <m:r>
                                      <a:rPr lang="zh-CN" sz="1280" dirty="0">
                                        <a:solidFill>
                                          <a:srgbClr val="1F2937"/>
                                        </a:solidFill>
                                        <a:latin typeface="Cambria Math"/>
                                        <a:ea typeface="Cambria Math"/>
                                        <a:cs typeface="Cambria Math"/>
                                      </a:rPr>
                                      <m:t>D</m:t>
                                    </m:r>
                                  </m:e>
                                  <m:sub>
                                    <m:r>
                                      <a:rPr lang="zh-CN" sz="1280" dirty="0">
                                        <a:solidFill>
                                          <a:srgbClr val="1F2937"/>
                                        </a:solidFill>
                                        <a:latin typeface="Cambria Math"/>
                                        <a:ea typeface="Cambria Math"/>
                                        <a:cs typeface="Cambria Math"/>
                                      </a:rPr>
                                      <m:t>NN</m:t>
                                    </m:r>
                                  </m:sub>
                                </m:sSub>
                              </m:e>
                            </m:mr>
                          </m:m>
                        </m:e>
                      </m:d>
                    </m:oMath>
                  </m:oMathPara>
                </a14:m>
              </a:p>
            </p:txBody>
          </p:sp>
        </mc:Choice>
      </mc:AlternateContent>
      <mc:AlternateContent xmlns:mc="http://schemas.openxmlformats.org/markup-compatibility/2006">
        <mc:Choice xmlns:a14="http://schemas.microsoft.com/office/drawing/2010/main" Requires="a14">
          <p:sp>
            <p:nvSpPr>
              <p:cNvPr id="27" name="formula257"/>
              <p:cNvSpPr txBox="1">
                <a:spLocks noGrp="1"/>
              </p:cNvSpPr>
              <p:nvPr/>
            </p:nvSpPr>
            <p:spPr>
              <a:xfrm>
                <a:off x="533400" y="5111115"/>
                <a:ext cx="5410200" cy="43719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r>
                            <m:rPr>
                              <m:sty m:val="p"/>
                            </m:rPr>
                            <a:rPr lang="zh-CN" sz="1280" dirty="0">
                              <a:solidFill>
                                <a:srgbClr val="1F2937"/>
                              </a:solidFill>
                              <a:latin typeface="Cambria Math"/>
                              <a:ea typeface="Cambria Math"/>
                              <a:cs typeface="Cambria Math"/>
                            </a:rPr>
                            <m:t>max</m:t>
                          </m:r>
                        </m:fName>
                        <m:e>
                          <m:r>
                            <a:rPr lang="zh-CN" sz="1280" dirty="0">
                              <a:solidFill>
                                <a:srgbClr val="1F2937"/>
                              </a:solidFill>
                              <a:latin typeface="Cambria Math"/>
                              <a:ea typeface="Cambria Math"/>
                              <a:cs typeface="Cambria Math"/>
                            </a:rPr>
                            <m:t xml:space="preserve"> </m:t>
                          </m:r>
                          <m:sSubSup>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B</m:t>
                              </m:r>
                            </m:sub>
                            <m:sup>
                              <m:r>
                                <a:rPr lang="zh-CN" sz="1280" dirty="0">
                                  <a:solidFill>
                                    <a:srgbClr val="1F2937"/>
                                  </a:solidFill>
                                  <a:latin typeface="Cambria Math"/>
                                  <a:ea typeface="Cambria Math"/>
                                  <a:cs typeface="Cambria Math"/>
                                </a:rPr>
                                <m:t>T</m:t>
                              </m:r>
                            </m:sup>
                          </m:sSubSup>
                        </m:e>
                      </m:func>
                      <m:r>
                        <m:rPr>
                          <m:sty m:val="b"/>
                        </m:rPr>
                        <a:rPr lang="zh-CN" sz="1280" dirty="0">
                          <a:solidFill>
                            <a:srgbClr val="1F2937"/>
                          </a:solidFill>
                          <a:latin typeface="Cambria Math"/>
                          <a:ea typeface="Cambria Math"/>
                          <a:cs typeface="Cambria Math"/>
                        </a:rPr>
                        <m:t>1</m:t>
                      </m:r>
                      <m:r>
                        <m:rPr>
                          <m:sty m:val="p"/>
                        </m:rPr>
                        <a:rPr lang="zh-CN" sz="1280" dirty="0">
                          <a:solidFill>
                            <a:srgbClr val="1F2937"/>
                          </a:solidFill>
                          <a:latin typeface="Cambria Math"/>
                          <a:ea typeface="Cambria Math"/>
                          <a:cs typeface="Cambria Math"/>
                        </a:rPr>
                        <m:t>−</m:t>
                      </m:r>
                      <m:f>
                        <m:fPr>
                          <m:type m:val="bar"/>
                          <m:ctrlPr>
                            <a:rPr lang="zh-CN" sz="1280" dirty="0">
                              <a:solidFill>
                                <a:srgbClr val="1F2937"/>
                              </a:solidFill>
                              <a:latin typeface="Cambria Math"/>
                              <a:ea typeface="Cambria Math"/>
                              <a:cs typeface="Cambria Math"/>
                            </a:rPr>
                          </m:ctrlPr>
                        </m:fPr>
                        <m:num>
                          <m:r>
                            <a:rPr lang="zh-CN" sz="1280" dirty="0">
                              <a:solidFill>
                                <a:srgbClr val="1F2937"/>
                              </a:solidFill>
                              <a:latin typeface="Cambria Math"/>
                              <a:ea typeface="Cambria Math"/>
                              <a:cs typeface="Cambria Math"/>
                            </a:rPr>
                            <m:t>1</m:t>
                          </m:r>
                        </m:num>
                        <m:den>
                          <m:r>
                            <a:rPr lang="zh-CN" sz="1280" dirty="0">
                              <a:solidFill>
                                <a:srgbClr val="1F2937"/>
                              </a:solidFill>
                              <a:latin typeface="Cambria Math"/>
                              <a:ea typeface="Cambria Math"/>
                              <a:cs typeface="Cambria Math"/>
                            </a:rPr>
                            <m:t>2</m:t>
                          </m:r>
                        </m:den>
                      </m:f>
                      <m:d>
                        <m:dPr>
                          <m:begChr m:val="["/>
                          <m:sepChr m:val=""/>
                          <m:endChr m:val="]"/>
                          <m:grow m:val="on"/>
                          <m:ctrlPr>
                            <a:rPr lang="zh-CN" sz="1280" dirty="0">
                              <a:solidFill>
                                <a:srgbClr val="1F2937"/>
                              </a:solidFill>
                              <a:latin typeface="Cambria Math"/>
                              <a:ea typeface="Cambria Math"/>
                              <a:cs typeface="Cambria Math"/>
                            </a:rPr>
                          </m:ctrlPr>
                        </m:dPr>
                        <m:e>
                          <m:sSubSup>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B</m:t>
                              </m:r>
                            </m:sub>
                            <m:sup>
                              <m:r>
                                <a:rPr lang="zh-CN" sz="1280" dirty="0">
                                  <a:solidFill>
                                    <a:srgbClr val="1F2937"/>
                                  </a:solidFill>
                                  <a:latin typeface="Cambria Math"/>
                                  <a:ea typeface="Cambria Math"/>
                                  <a:cs typeface="Cambria Math"/>
                                </a:rPr>
                                <m:t>T</m:t>
                              </m:r>
                            </m:sup>
                          </m:sSubSup>
                          <m:sSub>
                            <m:e>
                              <m:r>
                                <a:rPr lang="zh-CN" sz="1280" dirty="0">
                                  <a:solidFill>
                                    <a:srgbClr val="1F2937"/>
                                  </a:solidFill>
                                  <a:latin typeface="Cambria Math"/>
                                  <a:ea typeface="Cambria Math"/>
                                  <a:cs typeface="Cambria Math"/>
                                </a:rPr>
                                <m:t>D</m:t>
                              </m:r>
                            </m:e>
                            <m:sub>
                              <m:r>
                                <a:rPr lang="zh-CN" sz="1280" dirty="0">
                                  <a:solidFill>
                                    <a:srgbClr val="1F2937"/>
                                  </a:solidFill>
                                  <a:latin typeface="Cambria Math"/>
                                  <a:ea typeface="Cambria Math"/>
                                  <a:cs typeface="Cambria Math"/>
                                </a:rPr>
                                <m:t>BB</m:t>
                              </m:r>
                            </m:sub>
                          </m:sSub>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B</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2</m:t>
                          </m:r>
                          <m:r>
                            <a:rPr lang="zh-CN" sz="1280" dirty="0">
                              <a:solidFill>
                                <a:srgbClr val="1F2937"/>
                              </a:solidFill>
                              <a:latin typeface="Cambria Math"/>
                              <a:ea typeface="Cambria Math"/>
                              <a:cs typeface="Cambria Math"/>
                            </a:rPr>
                            <m:t xml:space="preserve"> </m:t>
                          </m:r>
                          <m:sSubSup>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B</m:t>
                              </m:r>
                            </m:sub>
                            <m:sup>
                              <m:r>
                                <a:rPr lang="zh-CN" sz="1280" dirty="0">
                                  <a:solidFill>
                                    <a:srgbClr val="1F2937"/>
                                  </a:solidFill>
                                  <a:latin typeface="Cambria Math"/>
                                  <a:ea typeface="Cambria Math"/>
                                  <a:cs typeface="Cambria Math"/>
                                </a:rPr>
                                <m:t>T</m:t>
                              </m:r>
                            </m:sup>
                          </m:sSubSup>
                          <m:sSub>
                            <m:e>
                              <m:r>
                                <a:rPr lang="zh-CN" sz="1280" dirty="0">
                                  <a:solidFill>
                                    <a:srgbClr val="1F2937"/>
                                  </a:solidFill>
                                  <a:latin typeface="Cambria Math"/>
                                  <a:ea typeface="Cambria Math"/>
                                  <a:cs typeface="Cambria Math"/>
                                </a:rPr>
                                <m:t>D</m:t>
                              </m:r>
                            </m:e>
                            <m:sub>
                              <m:r>
                                <a:rPr lang="zh-CN" sz="1280" dirty="0">
                                  <a:solidFill>
                                    <a:srgbClr val="1F2937"/>
                                  </a:solidFill>
                                  <a:latin typeface="Cambria Math"/>
                                  <a:ea typeface="Cambria Math"/>
                                  <a:cs typeface="Cambria Math"/>
                                </a:rPr>
                                <m:t>BN</m:t>
                              </m:r>
                            </m:sub>
                          </m:sSub>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N</m:t>
                              </m:r>
                            </m:sub>
                          </m:sSub>
                        </m:e>
                      </m:d>
                      <m:r>
                        <m:rPr>
                          <m:sty m:val="p"/>
                        </m:rPr>
                        <a:rPr lang="zh-CN" sz="1280" dirty="0">
                          <a:solidFill>
                            <a:srgbClr val="1F2937"/>
                          </a:solidFill>
                          <a:latin typeface="Cambria Math"/>
                          <a:ea typeface="Cambria Math"/>
                          <a:cs typeface="Cambria Math"/>
                        </a:rPr>
                        <m:t>+</m:t>
                      </m:r>
                      <m:r>
                        <m:rPr>
                          <m:sty m:val="p"/>
                        </m:rPr>
                        <a:rPr lang="zh-CN" sz="1280" dirty="0">
                          <a:solidFill>
                            <a:srgbClr val="1F2937"/>
                          </a:solidFill>
                          <a:latin typeface="Cambria Math"/>
                          <a:ea typeface="Cambria Math"/>
                          <a:cs typeface="Cambria Math"/>
                        </a:rPr>
                        <m:t>const</m:t>
                      </m:r>
                    </m:oMath>
                  </m:oMathPara>
                </a14:m>
              </a:p>
            </p:txBody>
          </p:sp>
        </mc:Choice>
      </mc:AlternateContent>
      <p:grpSp>
        <p:nvGrpSpPr>
          <p:cNvPr id="37" name="c2-card-1"/>
          <p:cNvGrpSpPr/>
          <p:nvPr/>
        </p:nvGrpSpPr>
        <p:grpSpPr>
          <a:xfrm>
            <a:off x="6248400" y="1941195"/>
            <a:ext cx="5410200" cy="1831658"/>
            <a:chOff x="6248400" y="1941195"/>
            <a:chExt cx="5410200" cy="1831658"/>
          </a:xfrm>
        </p:grpSpPr>
        <p:sp>
          <p:nvSpPr>
            <p:cNvPr id="28" name="Rectangle 28"/>
            <p:cNvSpPr/>
            <p:nvPr/>
          </p:nvSpPr>
          <p:spPr>
            <a:xfrm>
              <a:off x="6248400" y="1941195"/>
              <a:ext cx="5410200" cy="1831658"/>
            </a:xfrm>
            <a:prstGeom prst="roundRect">
              <a:avLst>
                <a:gd name="adj" fmla="val 7280"/>
              </a:avLst>
            </a:prstGeom>
            <a:solidFill>
              <a:srgbClr val="0E7C86"/>
            </a:solidFill>
            <a:ln>
              <a:noFill/>
            </a:ln>
          </p:spPr>
        </p:sp>
        <p:sp>
          <p:nvSpPr>
            <p:cNvPr id="29" name="Rectangle 29"/>
            <p:cNvSpPr/>
            <p:nvPr/>
          </p:nvSpPr>
          <p:spPr>
            <a:xfrm>
              <a:off x="6440805" y="2133600"/>
              <a:ext cx="742950" cy="247650"/>
            </a:xfrm>
            <a:prstGeom prst="roundRect">
              <a:avLst>
                <a:gd name="adj" fmla="val 50000"/>
              </a:avLst>
            </a:prstGeom>
            <a:solidFill>
              <a:srgbClr val="0B5F67"/>
            </a:solidFill>
            <a:ln>
              <a:noFill/>
            </a:ln>
          </p:spPr>
        </p:sp>
        <p:sp>
          <p:nvSpPr>
            <p:cNvPr id="30" name="TextBox 30"/>
            <p:cNvSpPr txBox="1"/>
            <p:nvPr/>
          </p:nvSpPr>
          <p:spPr>
            <a:xfrm>
              <a:off x="6524244" y="216789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两点化简</a:t>
              </a:r>
            </a:p>
          </p:txBody>
        </p:sp>
        <p:sp>
          <p:nvSpPr>
            <p:cNvPr id="31" name="TextBox 31"/>
            <p:cNvSpPr txBox="1"/>
            <p:nvPr/>
          </p:nvSpPr>
          <p:spPr>
            <a:xfrm>
              <a:off x="7291197" y="2173605"/>
              <a:ext cx="164934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为什么子问题这么小</a:t>
              </a:r>
            </a:p>
          </p:txBody>
        </p:sp>
        <p:sp>
          <p:nvSpPr>
            <p:cNvPr id="32" name="Ellipse 32"/>
            <p:cNvSpPr/>
            <p:nvPr/>
          </p:nvSpPr>
          <p:spPr>
            <a:xfrm>
              <a:off x="6449378" y="2564130"/>
              <a:ext cx="59055" cy="59055"/>
            </a:xfrm>
            <a:prstGeom prst="ellipse">
              <a:avLst/>
            </a:prstGeom>
            <a:solidFill>
              <a:srgbClr val="FFFFFF"/>
            </a:solidFill>
            <a:ln>
              <a:noFill/>
            </a:ln>
          </p:spPr>
        </p:sp>
        <p:sp>
          <p:nvSpPr>
            <p:cNvPr id="33" name="TextBox 33"/>
            <p:cNvSpPr txBox="1"/>
            <p:nvPr/>
          </p:nvSpPr>
          <p:spPr>
            <a:xfrm>
              <a:off x="6605397" y="2507932"/>
              <a:ext cx="4011930" cy="264033"/>
            </a:xfrm>
            <a:prstGeom prst="rect">
              <a:avLst/>
            </a:prstGeom>
            <a:noFill/>
            <a:ln>
              <a:noFill/>
            </a:ln>
          </p:spPr>
          <p:txBody>
            <a:bodyPr wrap="none" lIns="0" tIns="0" rIns="0" bIns="0" anchor="t" anchorCtr="0">
              <a:spAutoFit/>
            </a:bodyPr>
            <a:lstStyle/>
            <a:p>
              <a:pPr algn="l"/>
              <a:r>
                <a:rPr lang="zh-CN" sz="1350" b="1" dirty="0">
                  <a:solidFill>
                    <a:srgbClr val="FFD58A"/>
                  </a:solidFill>
                  <a:latin typeface="+mn-lt"/>
                  <a:ea typeface="+mn-ea"/>
                  <a:cs typeface="+mn-cs"/>
                </a:rPr>
                <a:t>常数项</a:t>
              </a:r>
              <a:r>
                <a:rPr lang="zh-CN" sz="1350" dirty="0">
                  <a:solidFill>
                    <a:srgbClr val="FFFFFF"/>
                  </a:solidFill>
                  <a:latin typeface="+mn-lt"/>
                  <a:ea typeface="+mn-ea"/>
                  <a:cs typeface="+mn-cs"/>
                </a:rPr>
                <a:t>：只含固定集的项与工作集无关，整体丢掉</a:t>
              </a:r>
            </a:p>
          </p:txBody>
        </p:sp>
        <p:sp>
          <p:nvSpPr>
            <p:cNvPr id="34" name="Ellipse 34"/>
            <p:cNvSpPr/>
            <p:nvPr/>
          </p:nvSpPr>
          <p:spPr>
            <a:xfrm>
              <a:off x="6449378" y="2867025"/>
              <a:ext cx="59055" cy="59055"/>
            </a:xfrm>
            <a:prstGeom prst="ellipse">
              <a:avLst/>
            </a:prstGeom>
            <a:solidFill>
              <a:srgbClr val="FFFFFF"/>
            </a:solidFill>
            <a:ln>
              <a:noFill/>
            </a:ln>
          </p:spPr>
        </p:sp>
        <p:sp>
          <p:nvSpPr>
            <p:cNvPr id="35" name="TextBox 35"/>
            <p:cNvSpPr txBox="1"/>
            <p:nvPr/>
          </p:nvSpPr>
          <p:spPr>
            <a:xfrm>
              <a:off x="6605397" y="2810827"/>
              <a:ext cx="4693101" cy="264033"/>
            </a:xfrm>
            <a:prstGeom prst="rect">
              <a:avLst/>
            </a:prstGeom>
            <a:noFill/>
            <a:ln>
              <a:noFill/>
            </a:ln>
          </p:spPr>
          <p:txBody>
            <a:bodyPr wrap="none" lIns="0" tIns="0" rIns="0" bIns="0" anchor="t" anchorCtr="0">
              <a:spAutoFit/>
            </a:bodyPr>
            <a:lstStyle/>
            <a:p>
              <a:pPr algn="l"/>
              <a:r>
                <a:rPr lang="zh-CN" sz="1350" b="1" dirty="0">
                  <a:solidFill>
                    <a:srgbClr val="FFD58A"/>
                  </a:solidFill>
                  <a:latin typeface="+mn-lt"/>
                  <a:ea typeface="+mn-ea"/>
                  <a:cs typeface="+mn-cs"/>
                </a:rPr>
                <a:t>相等项</a:t>
              </a:r>
              <a:r>
                <a:rPr lang="zh-CN" sz="1350" dirty="0">
                  <a:solidFill>
                    <a:srgbClr val="FFFFFF"/>
                  </a:solidFill>
                  <a:latin typeface="+mn-lt"/>
                  <a:ea typeface="+mn-ea"/>
                  <a:cs typeface="+mn-cs"/>
                </a:rPr>
                <a:t>：D 对称使两个交叉项相等，合成一项，故系数为 2</a:t>
              </a:r>
            </a:p>
          </p:txBody>
        </p:sp>
        <p:sp>
          <p:nvSpPr>
            <p:cNvPr id="36" name="TextBox 36"/>
            <p:cNvSpPr txBox="1"/>
            <p:nvPr/>
          </p:nvSpPr>
          <p:spPr>
            <a:xfrm>
              <a:off x="6433947" y="3112770"/>
              <a:ext cx="457428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子问题仍是一条等式加 0 ≤ α ≤ C 的标准 QP，但变量只有 |B|</a:t>
              </a:r>
              <a:br/>
              <a:r>
                <a:rPr lang="zh-CN" sz="1350" dirty="0">
                  <a:solidFill>
                    <a:srgbClr val="FFFFFF"/>
                  </a:solidFill>
                  <a:latin typeface="+mn-lt"/>
                  <a:ea typeface="+mn-ea"/>
                  <a:cs typeface="+mn-cs"/>
                </a:rPr>
                <a:t>个。</a:t>
              </a:r>
            </a:p>
          </p:txBody>
        </p:sp>
      </p:grpSp>
      <p:grpSp>
        <p:nvGrpSpPr>
          <p:cNvPr id="45" name="c2-card-2"/>
          <p:cNvGrpSpPr/>
          <p:nvPr/>
        </p:nvGrpSpPr>
        <p:grpSpPr>
          <a:xfrm>
            <a:off x="6248400" y="3948112"/>
            <a:ext cx="5410200" cy="1599248"/>
            <a:chOff x="6248400" y="3948112"/>
            <a:chExt cx="5410200" cy="1599248"/>
          </a:xfrm>
        </p:grpSpPr>
        <p:sp>
          <p:nvSpPr>
            <p:cNvPr id="38" name="Rectangle 38"/>
            <p:cNvSpPr/>
            <p:nvPr/>
          </p:nvSpPr>
          <p:spPr>
            <a:xfrm>
              <a:off x="6248400" y="3948112"/>
              <a:ext cx="5410200" cy="1599248"/>
            </a:xfrm>
            <a:prstGeom prst="roundRect">
              <a:avLst>
                <a:gd name="adj" fmla="val 8338"/>
              </a:avLst>
            </a:prstGeom>
            <a:solidFill>
              <a:srgbClr val="FFFFFF"/>
            </a:solidFill>
            <a:ln w="14288">
              <a:solidFill>
                <a:srgbClr val="D9DFEA"/>
              </a:solidFill>
            </a:ln>
          </p:spPr>
        </p:sp>
        <p:sp>
          <p:nvSpPr>
            <p:cNvPr id="39" name="Rectangle 39"/>
            <p:cNvSpPr/>
            <p:nvPr/>
          </p:nvSpPr>
          <p:spPr>
            <a:xfrm>
              <a:off x="6257925" y="4081462"/>
              <a:ext cx="47625" cy="1332548"/>
            </a:xfrm>
            <a:prstGeom prst="roundRect">
              <a:avLst>
                <a:gd name="adj" fmla="val 50000"/>
              </a:avLst>
            </a:prstGeom>
            <a:solidFill>
              <a:srgbClr val="0E7C86"/>
            </a:solidFill>
            <a:ln>
              <a:noFill/>
            </a:ln>
          </p:spPr>
        </p:sp>
        <p:sp>
          <p:nvSpPr>
            <p:cNvPr id="40" name="Rectangle 40"/>
            <p:cNvSpPr/>
            <p:nvPr/>
          </p:nvSpPr>
          <p:spPr>
            <a:xfrm>
              <a:off x="6478905" y="4140518"/>
              <a:ext cx="742950" cy="247650"/>
            </a:xfrm>
            <a:prstGeom prst="roundRect">
              <a:avLst>
                <a:gd name="adj" fmla="val 50000"/>
              </a:avLst>
            </a:prstGeom>
            <a:solidFill>
              <a:srgbClr val="E2F3F4"/>
            </a:solidFill>
            <a:ln>
              <a:noFill/>
            </a:ln>
          </p:spPr>
        </p:sp>
        <p:sp>
          <p:nvSpPr>
            <p:cNvPr id="41" name="TextBox 41"/>
            <p:cNvSpPr txBox="1"/>
            <p:nvPr/>
          </p:nvSpPr>
          <p:spPr>
            <a:xfrm>
              <a:off x="6562344" y="4174808"/>
              <a:ext cx="576072"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换出换入</a:t>
              </a:r>
            </a:p>
          </p:txBody>
        </p:sp>
        <p:sp>
          <p:nvSpPr>
            <p:cNvPr id="42" name="TextBox 42"/>
            <p:cNvSpPr txBox="1"/>
            <p:nvPr/>
          </p:nvSpPr>
          <p:spPr>
            <a:xfrm>
              <a:off x="7329297" y="4180522"/>
              <a:ext cx="210300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工作集靠 KKT 违反来更换</a:t>
              </a:r>
            </a:p>
          </p:txBody>
        </p:sp>
        <p:sp>
          <p:nvSpPr>
            <p:cNvPr id="43" name="TextBox 43"/>
            <p:cNvSpPr txBox="1"/>
            <p:nvPr/>
          </p:nvSpPr>
          <p:spPr>
            <a:xfrm>
              <a:off x="6472047" y="4514850"/>
              <a:ext cx="473716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若固定集里存在 j 使下面任一条成立，说明 αⱼ 违反 KKT，换进</a:t>
              </a:r>
              <a:br/>
              <a:r>
                <a:rPr lang="zh-CN" sz="1350" dirty="0">
                  <a:solidFill>
                    <a:srgbClr val="1F2937"/>
                  </a:solidFill>
                  <a:latin typeface="+mn-lt"/>
                  <a:ea typeface="+mn-ea"/>
                  <a:cs typeface="+mn-cs"/>
                </a:rPr>
                <a:t>工作集：</a:t>
              </a:r>
            </a:p>
          </p:txBody>
        </p:sp>
        <mc:AlternateContent xmlns:mc="http://schemas.openxmlformats.org/markup-compatibility/2006">
          <mc:Choice xmlns:a14="http://schemas.microsoft.com/office/drawing/2010/main" Requires="a14">
            <p:sp>
              <p:nvSpPr>
                <p:cNvPr id="44" name="formula258"/>
                <p:cNvSpPr txBox="1">
                  <a:spLocks noGrp="1"/>
                </p:cNvSpPr>
                <p:nvPr/>
              </p:nvSpPr>
              <p:spPr>
                <a:xfrm>
                  <a:off x="6478905" y="5052060"/>
                  <a:ext cx="4987290" cy="2857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120" dirty="0">
                                <a:solidFill>
                                  <a:srgbClr val="1F2937"/>
                                </a:solidFill>
                                <a:latin typeface="Cambria Math"/>
                                <a:ea typeface="Cambria Math"/>
                                <a:cs typeface="Cambria Math"/>
                              </a:rPr>
                              <m:t>α</m:t>
                            </m:r>
                          </m:e>
                          <m:sub>
                            <m:r>
                              <a:rPr lang="zh-CN" sz="1120" dirty="0">
                                <a:solidFill>
                                  <a:srgbClr val="1F2937"/>
                                </a:solidFill>
                                <a:latin typeface="Cambria Math"/>
                                <a:ea typeface="Cambria Math"/>
                                <a:cs typeface="Cambria Math"/>
                              </a:rPr>
                              <m:t>j</m:t>
                            </m:r>
                          </m:sub>
                        </m:sSub>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0</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 xml:space="preserve"> </m:t>
                        </m:r>
                        <m:r>
                          <a:rPr lang="zh-CN" sz="1120" dirty="0">
                            <a:solidFill>
                              <a:srgbClr val="1F2937"/>
                            </a:solidFill>
                            <a:latin typeface="Cambria Math"/>
                            <a:ea typeface="Cambria Math"/>
                            <a:cs typeface="Cambria Math"/>
                          </a:rPr>
                          <m:t>g</m:t>
                        </m:r>
                        <m:d>
                          <m:dPr>
                            <m:begChr m:val="("/>
                            <m:sepChr m:val=""/>
                            <m:endChr m:val=")"/>
                            <m:grow m:val="on"/>
                            <m:ctrlPr>
                              <a:rPr lang="zh-CN" sz="1120" dirty="0">
                                <a:solidFill>
                                  <a:srgbClr val="1F2937"/>
                                </a:solidFill>
                                <a:latin typeface="Cambria Math"/>
                                <a:ea typeface="Cambria Math"/>
                                <a:cs typeface="Cambria Math"/>
                              </a:rPr>
                            </m:ctrlPr>
                          </m:dPr>
                          <m:e>
                            <m:sSub>
                              <m:e>
                                <m:r>
                                  <a:rPr lang="zh-CN" sz="1120" dirty="0">
                                    <a:solidFill>
                                      <a:srgbClr val="1F2937"/>
                                    </a:solidFill>
                                    <a:latin typeface="Cambria Math"/>
                                    <a:ea typeface="Cambria Math"/>
                                    <a:cs typeface="Cambria Math"/>
                                  </a:rPr>
                                  <m:t>x</m:t>
                                </m:r>
                              </m:e>
                              <m:sub>
                                <m:r>
                                  <a:rPr lang="zh-CN" sz="1120" dirty="0">
                                    <a:solidFill>
                                      <a:srgbClr val="1F2937"/>
                                    </a:solidFill>
                                    <a:latin typeface="Cambria Math"/>
                                    <a:ea typeface="Cambria Math"/>
                                    <a:cs typeface="Cambria Math"/>
                                  </a:rPr>
                                  <m:t>j</m:t>
                                </m:r>
                              </m:sub>
                            </m:sSub>
                          </m:e>
                        </m:d>
                        <m:sSub>
                          <m:e>
                            <m:r>
                              <a:rPr lang="zh-CN" sz="1120" dirty="0">
                                <a:solidFill>
                                  <a:srgbClr val="1F2937"/>
                                </a:solidFill>
                                <a:latin typeface="Cambria Math"/>
                                <a:ea typeface="Cambria Math"/>
                                <a:cs typeface="Cambria Math"/>
                              </a:rPr>
                              <m:t>y</m:t>
                            </m:r>
                          </m:e>
                          <m:sub>
                            <m:r>
                              <a:rPr lang="zh-CN" sz="1120" dirty="0">
                                <a:solidFill>
                                  <a:srgbClr val="1F2937"/>
                                </a:solidFill>
                                <a:latin typeface="Cambria Math"/>
                                <a:ea typeface="Cambria Math"/>
                                <a:cs typeface="Cambria Math"/>
                              </a:rPr>
                              <m:t>j</m:t>
                            </m:r>
                          </m:sub>
                        </m:sSub>
                        <m:r>
                          <m:rPr>
                            <m:sty m:val="p"/>
                          </m:rPr>
                          <a:rPr lang="zh-CN" sz="1120" dirty="0">
                            <a:solidFill>
                              <a:srgbClr val="1F2937"/>
                            </a:solidFill>
                            <a:latin typeface="Cambria Math"/>
                            <a:ea typeface="Cambria Math"/>
                            <a:cs typeface="Cambria Math"/>
                          </a:rPr>
                          <m:t>&lt;</m:t>
                        </m:r>
                        <m:r>
                          <a:rPr lang="zh-CN" sz="1120" dirty="0">
                            <a:solidFill>
                              <a:srgbClr val="1F2937"/>
                            </a:solidFill>
                            <a:latin typeface="Cambria Math"/>
                            <a:ea typeface="Cambria Math"/>
                            <a:cs typeface="Cambria Math"/>
                          </a:rPr>
                          <m:t>1</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 xml:space="preserve"> </m:t>
                        </m:r>
                        <m:sSub>
                          <m:e>
                            <m:r>
                              <a:rPr lang="zh-CN" sz="1120" dirty="0">
                                <a:solidFill>
                                  <a:srgbClr val="1F2937"/>
                                </a:solidFill>
                                <a:latin typeface="Cambria Math"/>
                                <a:ea typeface="Cambria Math"/>
                                <a:cs typeface="Cambria Math"/>
                              </a:rPr>
                              <m:t>α</m:t>
                            </m:r>
                          </m:e>
                          <m:sub>
                            <m:r>
                              <a:rPr lang="zh-CN" sz="1120" dirty="0">
                                <a:solidFill>
                                  <a:srgbClr val="1F2937"/>
                                </a:solidFill>
                                <a:latin typeface="Cambria Math"/>
                                <a:ea typeface="Cambria Math"/>
                                <a:cs typeface="Cambria Math"/>
                              </a:rPr>
                              <m:t>j</m:t>
                            </m:r>
                          </m:sub>
                        </m:sSub>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C</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 xml:space="preserve"> </m:t>
                        </m:r>
                        <m:r>
                          <a:rPr lang="zh-CN" sz="1120" dirty="0">
                            <a:solidFill>
                              <a:srgbClr val="1F2937"/>
                            </a:solidFill>
                            <a:latin typeface="Cambria Math"/>
                            <a:ea typeface="Cambria Math"/>
                            <a:cs typeface="Cambria Math"/>
                          </a:rPr>
                          <m:t>g</m:t>
                        </m:r>
                        <m:d>
                          <m:dPr>
                            <m:begChr m:val="("/>
                            <m:sepChr m:val=""/>
                            <m:endChr m:val=")"/>
                            <m:grow m:val="on"/>
                            <m:ctrlPr>
                              <a:rPr lang="zh-CN" sz="1120" dirty="0">
                                <a:solidFill>
                                  <a:srgbClr val="1F2937"/>
                                </a:solidFill>
                                <a:latin typeface="Cambria Math"/>
                                <a:ea typeface="Cambria Math"/>
                                <a:cs typeface="Cambria Math"/>
                              </a:rPr>
                            </m:ctrlPr>
                          </m:dPr>
                          <m:e>
                            <m:sSub>
                              <m:e>
                                <m:r>
                                  <a:rPr lang="zh-CN" sz="1120" dirty="0">
                                    <a:solidFill>
                                      <a:srgbClr val="1F2937"/>
                                    </a:solidFill>
                                    <a:latin typeface="Cambria Math"/>
                                    <a:ea typeface="Cambria Math"/>
                                    <a:cs typeface="Cambria Math"/>
                                  </a:rPr>
                                  <m:t>x</m:t>
                                </m:r>
                              </m:e>
                              <m:sub>
                                <m:r>
                                  <a:rPr lang="zh-CN" sz="1120" dirty="0">
                                    <a:solidFill>
                                      <a:srgbClr val="1F2937"/>
                                    </a:solidFill>
                                    <a:latin typeface="Cambria Math"/>
                                    <a:ea typeface="Cambria Math"/>
                                    <a:cs typeface="Cambria Math"/>
                                  </a:rPr>
                                  <m:t>j</m:t>
                                </m:r>
                              </m:sub>
                            </m:sSub>
                          </m:e>
                        </m:d>
                        <m:sSub>
                          <m:e>
                            <m:r>
                              <a:rPr lang="zh-CN" sz="1120" dirty="0">
                                <a:solidFill>
                                  <a:srgbClr val="1F2937"/>
                                </a:solidFill>
                                <a:latin typeface="Cambria Math"/>
                                <a:ea typeface="Cambria Math"/>
                                <a:cs typeface="Cambria Math"/>
                              </a:rPr>
                              <m:t>y</m:t>
                            </m:r>
                          </m:e>
                          <m:sub>
                            <m:r>
                              <a:rPr lang="zh-CN" sz="1120" dirty="0">
                                <a:solidFill>
                                  <a:srgbClr val="1F2937"/>
                                </a:solidFill>
                                <a:latin typeface="Cambria Math"/>
                                <a:ea typeface="Cambria Math"/>
                                <a:cs typeface="Cambria Math"/>
                              </a:rPr>
                              <m:t>j</m:t>
                            </m:r>
                          </m:sub>
                        </m:sSub>
                        <m:r>
                          <m:rPr>
                            <m:sty m:val="p"/>
                          </m:rPr>
                          <a:rPr lang="zh-CN" sz="1120" dirty="0">
                            <a:solidFill>
                              <a:srgbClr val="1F2937"/>
                            </a:solidFill>
                            <a:latin typeface="Cambria Math"/>
                            <a:ea typeface="Cambria Math"/>
                            <a:cs typeface="Cambria Math"/>
                          </a:rPr>
                          <m:t>&gt;</m:t>
                        </m:r>
                        <m:r>
                          <a:rPr lang="zh-CN" sz="1120" dirty="0">
                            <a:solidFill>
                              <a:srgbClr val="1F2937"/>
                            </a:solidFill>
                            <a:latin typeface="Cambria Math"/>
                            <a:ea typeface="Cambria Math"/>
                            <a:cs typeface="Cambria Math"/>
                          </a:rPr>
                          <m:t>1</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 xml:space="preserve"> </m:t>
                        </m:r>
                        <m:r>
                          <a:rPr lang="zh-CN" sz="1120" dirty="0">
                            <a:solidFill>
                              <a:srgbClr val="1F2937"/>
                            </a:solidFill>
                            <a:latin typeface="Cambria Math"/>
                            <a:ea typeface="Cambria Math"/>
                            <a:cs typeface="Cambria Math"/>
                          </a:rPr>
                          <m:t>0</m:t>
                        </m:r>
                        <m:r>
                          <m:rPr>
                            <m:sty m:val="p"/>
                          </m:rPr>
                          <a:rPr lang="zh-CN" sz="1120" dirty="0">
                            <a:solidFill>
                              <a:srgbClr val="1F2937"/>
                            </a:solidFill>
                            <a:latin typeface="Cambria Math"/>
                            <a:ea typeface="Cambria Math"/>
                            <a:cs typeface="Cambria Math"/>
                          </a:rPr>
                          <m:t>&lt;</m:t>
                        </m:r>
                        <m:sSub>
                          <m:e>
                            <m:r>
                              <a:rPr lang="zh-CN" sz="1120" dirty="0">
                                <a:solidFill>
                                  <a:srgbClr val="1F2937"/>
                                </a:solidFill>
                                <a:latin typeface="Cambria Math"/>
                                <a:ea typeface="Cambria Math"/>
                                <a:cs typeface="Cambria Math"/>
                              </a:rPr>
                              <m:t>α</m:t>
                            </m:r>
                          </m:e>
                          <m:sub>
                            <m:r>
                              <a:rPr lang="zh-CN" sz="1120" dirty="0">
                                <a:solidFill>
                                  <a:srgbClr val="1F2937"/>
                                </a:solidFill>
                                <a:latin typeface="Cambria Math"/>
                                <a:ea typeface="Cambria Math"/>
                                <a:cs typeface="Cambria Math"/>
                              </a:rPr>
                              <m:t>j</m:t>
                            </m:r>
                          </m:sub>
                        </m:sSub>
                        <m:r>
                          <m:rPr>
                            <m:sty m:val="p"/>
                          </m:rPr>
                          <a:rPr lang="zh-CN" sz="1120" dirty="0">
                            <a:solidFill>
                              <a:srgbClr val="1F2937"/>
                            </a:solidFill>
                            <a:latin typeface="Cambria Math"/>
                            <a:ea typeface="Cambria Math"/>
                            <a:cs typeface="Cambria Math"/>
                          </a:rPr>
                          <m:t>&lt;</m:t>
                        </m:r>
                        <m:r>
                          <a:rPr lang="zh-CN" sz="1120" dirty="0">
                            <a:solidFill>
                              <a:srgbClr val="1F2937"/>
                            </a:solidFill>
                            <a:latin typeface="Cambria Math"/>
                            <a:ea typeface="Cambria Math"/>
                            <a:cs typeface="Cambria Math"/>
                          </a:rPr>
                          <m:t>C</m:t>
                        </m:r>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 xml:space="preserve"> </m:t>
                        </m:r>
                        <m:r>
                          <a:rPr lang="zh-CN" sz="1120" dirty="0">
                            <a:solidFill>
                              <a:srgbClr val="1F2937"/>
                            </a:solidFill>
                            <a:latin typeface="Cambria Math"/>
                            <a:ea typeface="Cambria Math"/>
                            <a:cs typeface="Cambria Math"/>
                          </a:rPr>
                          <m:t>g</m:t>
                        </m:r>
                        <m:d>
                          <m:dPr>
                            <m:begChr m:val="("/>
                            <m:sepChr m:val=""/>
                            <m:endChr m:val=")"/>
                            <m:grow m:val="on"/>
                            <m:ctrlPr>
                              <a:rPr lang="zh-CN" sz="1120" dirty="0">
                                <a:solidFill>
                                  <a:srgbClr val="1F2937"/>
                                </a:solidFill>
                                <a:latin typeface="Cambria Math"/>
                                <a:ea typeface="Cambria Math"/>
                                <a:cs typeface="Cambria Math"/>
                              </a:rPr>
                            </m:ctrlPr>
                          </m:dPr>
                          <m:e>
                            <m:sSub>
                              <m:e>
                                <m:r>
                                  <a:rPr lang="zh-CN" sz="1120" dirty="0">
                                    <a:solidFill>
                                      <a:srgbClr val="1F2937"/>
                                    </a:solidFill>
                                    <a:latin typeface="Cambria Math"/>
                                    <a:ea typeface="Cambria Math"/>
                                    <a:cs typeface="Cambria Math"/>
                                  </a:rPr>
                                  <m:t>x</m:t>
                                </m:r>
                              </m:e>
                              <m:sub>
                                <m:r>
                                  <a:rPr lang="zh-CN" sz="1120" dirty="0">
                                    <a:solidFill>
                                      <a:srgbClr val="1F2937"/>
                                    </a:solidFill>
                                    <a:latin typeface="Cambria Math"/>
                                    <a:ea typeface="Cambria Math"/>
                                    <a:cs typeface="Cambria Math"/>
                                  </a:rPr>
                                  <m:t>j</m:t>
                                </m:r>
                              </m:sub>
                            </m:sSub>
                          </m:e>
                        </m:d>
                        <m:sSub>
                          <m:e>
                            <m:r>
                              <a:rPr lang="zh-CN" sz="1120" dirty="0">
                                <a:solidFill>
                                  <a:srgbClr val="1F2937"/>
                                </a:solidFill>
                                <a:latin typeface="Cambria Math"/>
                                <a:ea typeface="Cambria Math"/>
                                <a:cs typeface="Cambria Math"/>
                              </a:rPr>
                              <m:t>y</m:t>
                            </m:r>
                          </m:e>
                          <m:sub>
                            <m:r>
                              <a:rPr lang="zh-CN" sz="1120" dirty="0">
                                <a:solidFill>
                                  <a:srgbClr val="1F2937"/>
                                </a:solidFill>
                                <a:latin typeface="Cambria Math"/>
                                <a:ea typeface="Cambria Math"/>
                                <a:cs typeface="Cambria Math"/>
                              </a:rPr>
                              <m:t>j</m:t>
                            </m:r>
                          </m:sub>
                        </m:sSub>
                        <m:r>
                          <m:rPr>
                            <m:sty m:val="p"/>
                          </m:rPr>
                          <a:rPr lang="zh-CN" sz="1120" dirty="0">
                            <a:solidFill>
                              <a:srgbClr val="1F2937"/>
                            </a:solidFill>
                            <a:latin typeface="Cambria Math"/>
                            <a:ea typeface="Cambria Math"/>
                            <a:cs typeface="Cambria Math"/>
                          </a:rPr>
                          <m:t>≠</m:t>
                        </m:r>
                        <m:r>
                          <a:rPr lang="zh-CN" sz="1120" dirty="0">
                            <a:solidFill>
                              <a:srgbClr val="1F2937"/>
                            </a:solidFill>
                            <a:latin typeface="Cambria Math"/>
                            <a:ea typeface="Cambria Math"/>
                            <a:cs typeface="Cambria Math"/>
                          </a:rPr>
                          <m:t>1</m:t>
                        </m:r>
                      </m:oMath>
                    </m:oMathPara>
                  </a14:m>
                </a:p>
              </p:txBody>
            </p:sp>
          </mc:Choice>
        </mc:AlternateContent>
      </p:grpSp>
      <p:grpSp>
        <p:nvGrpSpPr>
          <p:cNvPr id="52" name="takeaway"/>
          <p:cNvGrpSpPr/>
          <p:nvPr/>
        </p:nvGrpSpPr>
        <p:grpSpPr>
          <a:xfrm>
            <a:off x="533400" y="5874068"/>
            <a:ext cx="11125200" cy="488632"/>
            <a:chOff x="533400" y="5874068"/>
            <a:chExt cx="11125200" cy="488632"/>
          </a:xfrm>
        </p:grpSpPr>
        <p:sp>
          <p:nvSpPr>
            <p:cNvPr id="46" name="Rectangle 46"/>
            <p:cNvSpPr/>
            <p:nvPr/>
          </p:nvSpPr>
          <p:spPr>
            <a:xfrm>
              <a:off x="533400" y="5874068"/>
              <a:ext cx="11125200" cy="488632"/>
            </a:xfrm>
            <a:prstGeom prst="roundRect">
              <a:avLst>
                <a:gd name="adj" fmla="val 23392"/>
              </a:avLst>
            </a:prstGeom>
            <a:solidFill>
              <a:srgbClr val="FDEEE7"/>
            </a:solidFill>
            <a:ln>
              <a:noFill/>
            </a:ln>
          </p:spPr>
        </p:sp>
        <p:grpSp>
          <p:nvGrpSpPr>
            <p:cNvPr id="50" name="Group 50"/>
            <p:cNvGrpSpPr/>
            <p:nvPr/>
          </p:nvGrpSpPr>
          <p:grpSpPr>
            <a:xfrm>
              <a:off x="738188" y="6017895"/>
              <a:ext cx="200026" cy="200025"/>
              <a:chOff x="738188" y="6017895"/>
              <a:chExt cx="200026" cy="200025"/>
            </a:xfrm>
          </p:grpSpPr>
          <p:sp>
            <p:nvSpPr>
              <p:cNvPr id="47" name="Freeform 47"/>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8" name="Freeform 48"/>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9" name="Freeform 49"/>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1" name="TextBox 51"/>
            <p:cNvSpPr txBox="1"/>
            <p:nvPr/>
          </p:nvSpPr>
          <p:spPr>
            <a:xfrm>
              <a:off x="1040892" y="6023610"/>
              <a:ext cx="8537181"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这三条正是第 32 页那张表的逆命题：表里说“α 取某值则样本在某处”，这里说“样本不在该处则 α 该换”。</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545834" cy="909257"/>
            <a:chOff x="520446" y="342900"/>
            <a:chExt cx="4545834"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支持向量机的优化算法</a:t>
              </a:r>
            </a:p>
          </p:txBody>
        </p:sp>
        <p:sp>
          <p:nvSpPr>
            <p:cNvPr id="4" name="TextBox 4"/>
            <p:cNvSpPr txBox="1"/>
            <p:nvPr/>
          </p:nvSpPr>
          <p:spPr>
            <a:xfrm>
              <a:off x="520446" y="753428"/>
              <a:ext cx="454583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SMO：把工作集缩到最小的 2</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8881775" cy="264033"/>
            <a:chOff x="526542" y="1545907"/>
            <a:chExt cx="8881775" cy="264033"/>
          </a:xfrm>
        </p:grpSpPr>
        <p:sp>
          <p:nvSpPr>
            <p:cNvPr id="7" name="TextBox 7"/>
            <p:cNvSpPr txBox="1"/>
            <p:nvPr/>
          </p:nvSpPr>
          <p:spPr>
            <a:xfrm>
              <a:off x="526542" y="1545907"/>
              <a:ext cx="888177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序列最小优化（Sequential Minimal Optimization），John C. Platt 1998 年提出，是分解算法的极端情形。</a:t>
              </a:r>
            </a:p>
          </p:txBody>
        </p:sp>
      </p:grpSp>
      <p:grpSp>
        <p:nvGrpSpPr>
          <p:cNvPr id="15" name="c1-card-1"/>
          <p:cNvGrpSpPr/>
          <p:nvPr/>
        </p:nvGrpSpPr>
        <p:grpSpPr>
          <a:xfrm>
            <a:off x="533400" y="1928812"/>
            <a:ext cx="5410200" cy="1687830"/>
            <a:chOff x="533400" y="1928812"/>
            <a:chExt cx="5410200" cy="1687830"/>
          </a:xfrm>
        </p:grpSpPr>
        <p:sp>
          <p:nvSpPr>
            <p:cNvPr id="9" name="Rectangle 9"/>
            <p:cNvSpPr/>
            <p:nvPr/>
          </p:nvSpPr>
          <p:spPr>
            <a:xfrm>
              <a:off x="533400" y="1928812"/>
              <a:ext cx="5410200" cy="1687830"/>
            </a:xfrm>
            <a:prstGeom prst="roundRect">
              <a:avLst>
                <a:gd name="adj" fmla="val 7901"/>
              </a:avLst>
            </a:prstGeom>
            <a:solidFill>
              <a:srgbClr val="0E7C86"/>
            </a:solidFill>
            <a:ln>
              <a:noFill/>
            </a:ln>
          </p:spPr>
        </p:sp>
        <p:sp>
          <p:nvSpPr>
            <p:cNvPr id="10" name="Rectangle 10"/>
            <p:cNvSpPr/>
            <p:nvPr/>
          </p:nvSpPr>
          <p:spPr>
            <a:xfrm>
              <a:off x="714375" y="2109788"/>
              <a:ext cx="1342072" cy="238125"/>
            </a:xfrm>
            <a:prstGeom prst="roundRect">
              <a:avLst>
                <a:gd name="adj" fmla="val 50000"/>
              </a:avLst>
            </a:prstGeom>
            <a:solidFill>
              <a:srgbClr val="0B5F67"/>
            </a:solidFill>
            <a:ln>
              <a:noFill/>
            </a:ln>
          </p:spPr>
        </p:sp>
        <p:sp>
          <p:nvSpPr>
            <p:cNvPr id="11" name="TextBox 11"/>
            <p:cNvSpPr txBox="1"/>
            <p:nvPr/>
          </p:nvSpPr>
          <p:spPr>
            <a:xfrm>
              <a:off x="780664" y="2142649"/>
              <a:ext cx="1210447"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为什么是 2 而不是 1</a:t>
              </a:r>
            </a:p>
          </p:txBody>
        </p:sp>
        <p:sp>
          <p:nvSpPr>
            <p:cNvPr id="12" name="TextBox 12"/>
            <p:cNvSpPr txBox="1"/>
            <p:nvPr/>
          </p:nvSpPr>
          <p:spPr>
            <a:xfrm>
              <a:off x="2164270" y="2149316"/>
              <a:ext cx="1908404"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等式约束不允许只动一个</a:t>
              </a:r>
            </a:p>
          </p:txBody>
        </p:sp>
        <p:sp>
          <p:nvSpPr>
            <p:cNvPr id="13" name="TextBox 13"/>
            <p:cNvSpPr txBox="1"/>
            <p:nvPr/>
          </p:nvSpPr>
          <p:spPr>
            <a:xfrm>
              <a:off x="707898" y="2465546"/>
              <a:ext cx="478409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约束 Σ αᵢyᵢ = 0 把所有变量绑在一起：固定其余不动时，剩下那一</a:t>
              </a:r>
              <a:br/>
              <a:r>
                <a:rPr lang="zh-CN" sz="1280" dirty="0">
                  <a:solidFill>
                    <a:srgbClr val="FFFFFF"/>
                  </a:solidFill>
                  <a:latin typeface="+mn-lt"/>
                  <a:ea typeface="+mn-ea"/>
                  <a:cs typeface="+mn-cs"/>
                </a:rPr>
                <a:t>个也被唯一确定，没得优化。所以一次至少选两个。</a:t>
              </a:r>
            </a:p>
          </p:txBody>
        </p:sp>
        <p:sp>
          <p:nvSpPr>
            <p:cNvPr id="14" name="TextBox 14"/>
            <p:cNvSpPr txBox="1"/>
            <p:nvPr/>
          </p:nvSpPr>
          <p:spPr>
            <a:xfrm>
              <a:off x="707898" y="2994184"/>
              <a:ext cx="475970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选定 αᵢ、αⱼ 后约束变成 αᵢyᵢ + αⱼyⱼ = c（c 由其余乘子决定），</a:t>
              </a:r>
              <a:br/>
              <a:r>
                <a:rPr lang="zh-CN" sz="1280" dirty="0">
                  <a:solidFill>
                    <a:srgbClr val="FFFFFF"/>
                  </a:solidFill>
                  <a:latin typeface="+mn-lt"/>
                  <a:ea typeface="+mn-ea"/>
                  <a:cs typeface="+mn-cs"/>
                </a:rPr>
                <a:t>于是 αⱼ 可以用 αᵢ 表示，问题化成只有一个变量、只有箱约束。</a:t>
              </a:r>
            </a:p>
          </p:txBody>
        </p:sp>
      </p:grpSp>
      <p:grpSp>
        <p:nvGrpSpPr>
          <p:cNvPr id="33" name="c1-steps-2"/>
          <p:cNvGrpSpPr/>
          <p:nvPr/>
        </p:nvGrpSpPr>
        <p:grpSpPr>
          <a:xfrm>
            <a:off x="533400" y="3790950"/>
            <a:ext cx="2701119" cy="2149411"/>
            <a:chOff x="533400" y="3790950"/>
            <a:chExt cx="2701119" cy="2149411"/>
          </a:xfrm>
        </p:grpSpPr>
        <p:sp>
          <p:nvSpPr>
            <p:cNvPr id="16" name="Rectangle 16"/>
            <p:cNvSpPr/>
            <p:nvPr/>
          </p:nvSpPr>
          <p:spPr>
            <a:xfrm>
              <a:off x="666750" y="3933825"/>
              <a:ext cx="19050" cy="1659255"/>
            </a:xfrm>
            <a:prstGeom prst="rect">
              <a:avLst/>
            </a:prstGeom>
            <a:solidFill>
              <a:srgbClr val="D9DFEA"/>
            </a:solidFill>
            <a:ln>
              <a:noFill/>
            </a:ln>
          </p:spPr>
        </p:sp>
        <p:sp>
          <p:nvSpPr>
            <p:cNvPr id="17" name="Ellipse 17"/>
            <p:cNvSpPr/>
            <p:nvPr/>
          </p:nvSpPr>
          <p:spPr>
            <a:xfrm>
              <a:off x="533400" y="3790950"/>
              <a:ext cx="285750" cy="285750"/>
            </a:xfrm>
            <a:prstGeom prst="ellipse">
              <a:avLst/>
            </a:prstGeom>
            <a:solidFill>
              <a:srgbClr val="0E7C86"/>
            </a:solidFill>
            <a:ln>
              <a:noFill/>
            </a:ln>
          </p:spPr>
        </p:sp>
        <p:sp>
          <p:nvSpPr>
            <p:cNvPr id="18" name="TextBox 18"/>
            <p:cNvSpPr txBox="1"/>
            <p:nvPr/>
          </p:nvSpPr>
          <p:spPr>
            <a:xfrm>
              <a:off x="627024" y="386476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9" name="Ellipse 19"/>
            <p:cNvSpPr/>
            <p:nvPr/>
          </p:nvSpPr>
          <p:spPr>
            <a:xfrm>
              <a:off x="533400" y="4344352"/>
              <a:ext cx="285750" cy="285750"/>
            </a:xfrm>
            <a:prstGeom prst="ellipse">
              <a:avLst/>
            </a:prstGeom>
            <a:solidFill>
              <a:srgbClr val="0E7C86"/>
            </a:solidFill>
            <a:ln>
              <a:noFill/>
            </a:ln>
          </p:spPr>
        </p:sp>
        <p:sp>
          <p:nvSpPr>
            <p:cNvPr id="20" name="TextBox 20"/>
            <p:cNvSpPr txBox="1"/>
            <p:nvPr/>
          </p:nvSpPr>
          <p:spPr>
            <a:xfrm>
              <a:off x="627024" y="441817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21" name="Ellipse 21"/>
            <p:cNvSpPr/>
            <p:nvPr/>
          </p:nvSpPr>
          <p:spPr>
            <a:xfrm>
              <a:off x="533400" y="4896802"/>
              <a:ext cx="285750" cy="285750"/>
            </a:xfrm>
            <a:prstGeom prst="ellipse">
              <a:avLst/>
            </a:prstGeom>
            <a:solidFill>
              <a:srgbClr val="0E7C86"/>
            </a:solidFill>
            <a:ln>
              <a:noFill/>
            </a:ln>
          </p:spPr>
        </p:sp>
        <p:sp>
          <p:nvSpPr>
            <p:cNvPr id="22" name="TextBox 22"/>
            <p:cNvSpPr txBox="1"/>
            <p:nvPr/>
          </p:nvSpPr>
          <p:spPr>
            <a:xfrm>
              <a:off x="627024" y="497062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23" name="Ellipse 23"/>
            <p:cNvSpPr/>
            <p:nvPr/>
          </p:nvSpPr>
          <p:spPr>
            <a:xfrm>
              <a:off x="533400" y="5450205"/>
              <a:ext cx="285750" cy="285750"/>
            </a:xfrm>
            <a:prstGeom prst="ellipse">
              <a:avLst/>
            </a:prstGeom>
            <a:solidFill>
              <a:srgbClr val="0E7C86"/>
            </a:solidFill>
            <a:ln>
              <a:noFill/>
            </a:ln>
          </p:spPr>
        </p:sp>
        <p:sp>
          <p:nvSpPr>
            <p:cNvPr id="24" name="TextBox 24"/>
            <p:cNvSpPr txBox="1"/>
            <p:nvPr/>
          </p:nvSpPr>
          <p:spPr>
            <a:xfrm>
              <a:off x="627024" y="552402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25" name="TextBox 25"/>
            <p:cNvSpPr txBox="1"/>
            <p:nvPr/>
          </p:nvSpPr>
          <p:spPr>
            <a:xfrm>
              <a:off x="946023" y="3821906"/>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选两个变量</a:t>
              </a:r>
            </a:p>
          </p:txBody>
        </p:sp>
        <p:sp>
          <p:nvSpPr>
            <p:cNvPr id="26" name="TextBox 26"/>
            <p:cNvSpPr txBox="1"/>
            <p:nvPr/>
          </p:nvSpPr>
          <p:spPr>
            <a:xfrm>
              <a:off x="947166" y="4076700"/>
              <a:ext cx="190157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优先挑违反 KKT 最严重的一对</a:t>
              </a:r>
            </a:p>
          </p:txBody>
        </p:sp>
        <p:sp>
          <p:nvSpPr>
            <p:cNvPr id="27" name="TextBox 27"/>
            <p:cNvSpPr txBox="1"/>
            <p:nvPr/>
          </p:nvSpPr>
          <p:spPr>
            <a:xfrm>
              <a:off x="946023" y="4374356"/>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求无约束极值</a:t>
              </a:r>
            </a:p>
          </p:txBody>
        </p:sp>
        <p:sp>
          <p:nvSpPr>
            <p:cNvPr id="28" name="TextBox 28"/>
            <p:cNvSpPr txBox="1"/>
            <p:nvPr/>
          </p:nvSpPr>
          <p:spPr>
            <a:xfrm>
              <a:off x="947166" y="4629150"/>
              <a:ext cx="138177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对 αⱼ 求偏导令其为零</a:t>
              </a:r>
            </a:p>
          </p:txBody>
        </p:sp>
        <p:sp>
          <p:nvSpPr>
            <p:cNvPr id="29" name="TextBox 29"/>
            <p:cNvSpPr txBox="1"/>
            <p:nvPr/>
          </p:nvSpPr>
          <p:spPr>
            <a:xfrm>
              <a:off x="946023" y="4927759"/>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裁剪并回代</a:t>
              </a:r>
            </a:p>
          </p:txBody>
        </p:sp>
        <p:sp>
          <p:nvSpPr>
            <p:cNvPr id="30" name="TextBox 30"/>
            <p:cNvSpPr txBox="1"/>
            <p:nvPr/>
          </p:nvSpPr>
          <p:spPr>
            <a:xfrm>
              <a:off x="947166" y="5182552"/>
              <a:ext cx="228735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截到 [L, H] 内，再由 αⱼ 算 αᵢ 与 b</a:t>
              </a:r>
            </a:p>
          </p:txBody>
        </p:sp>
        <p:sp>
          <p:nvSpPr>
            <p:cNvPr id="31" name="TextBox 31"/>
            <p:cNvSpPr txBox="1"/>
            <p:nvPr/>
          </p:nvSpPr>
          <p:spPr>
            <a:xfrm>
              <a:off x="946023" y="548116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反复迭代</a:t>
              </a:r>
            </a:p>
          </p:txBody>
        </p:sp>
        <p:sp>
          <p:nvSpPr>
            <p:cNvPr id="32" name="TextBox 32"/>
            <p:cNvSpPr txBox="1"/>
            <p:nvPr/>
          </p:nvSpPr>
          <p:spPr>
            <a:xfrm>
              <a:off x="947166" y="5735002"/>
              <a:ext cx="147751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直到全部满足 KKT 条件</a:t>
              </a:r>
            </a:p>
          </p:txBody>
        </p:sp>
      </p:grpSp>
      <p:grpSp>
        <p:nvGrpSpPr>
          <p:cNvPr id="42" name="c2-card-1"/>
          <p:cNvGrpSpPr/>
          <p:nvPr/>
        </p:nvGrpSpPr>
        <p:grpSpPr>
          <a:xfrm>
            <a:off x="6248400" y="1928812"/>
            <a:ext cx="5410200" cy="1795462"/>
            <a:chOff x="6248400" y="1928812"/>
            <a:chExt cx="5410200" cy="1795462"/>
          </a:xfrm>
        </p:grpSpPr>
        <p:sp>
          <p:nvSpPr>
            <p:cNvPr id="34" name="Rectangle 34"/>
            <p:cNvSpPr/>
            <p:nvPr/>
          </p:nvSpPr>
          <p:spPr>
            <a:xfrm>
              <a:off x="6248400" y="1928812"/>
              <a:ext cx="5410200" cy="1795462"/>
            </a:xfrm>
            <a:prstGeom prst="roundRect">
              <a:avLst>
                <a:gd name="adj" fmla="val 7427"/>
              </a:avLst>
            </a:prstGeom>
            <a:solidFill>
              <a:srgbClr val="FFFFFF"/>
            </a:solidFill>
            <a:ln w="14288">
              <a:solidFill>
                <a:srgbClr val="D9DFEA"/>
              </a:solidFill>
            </a:ln>
          </p:spPr>
        </p:sp>
        <p:sp>
          <p:nvSpPr>
            <p:cNvPr id="35" name="Rectangle 35"/>
            <p:cNvSpPr/>
            <p:nvPr/>
          </p:nvSpPr>
          <p:spPr>
            <a:xfrm>
              <a:off x="6257925" y="2062162"/>
              <a:ext cx="47625" cy="1528762"/>
            </a:xfrm>
            <a:prstGeom prst="roundRect">
              <a:avLst>
                <a:gd name="adj" fmla="val 50000"/>
              </a:avLst>
            </a:prstGeom>
            <a:solidFill>
              <a:srgbClr val="0E7C86"/>
            </a:solidFill>
            <a:ln>
              <a:noFill/>
            </a:ln>
          </p:spPr>
        </p:sp>
        <p:sp>
          <p:nvSpPr>
            <p:cNvPr id="36" name="Rectangle 36"/>
            <p:cNvSpPr/>
            <p:nvPr/>
          </p:nvSpPr>
          <p:spPr>
            <a:xfrm>
              <a:off x="6467475" y="2109788"/>
              <a:ext cx="582930" cy="238125"/>
            </a:xfrm>
            <a:prstGeom prst="roundRect">
              <a:avLst>
                <a:gd name="adj" fmla="val 50000"/>
              </a:avLst>
            </a:prstGeom>
            <a:solidFill>
              <a:srgbClr val="E2F3F4"/>
            </a:solidFill>
            <a:ln>
              <a:noFill/>
            </a:ln>
          </p:spPr>
        </p:sp>
        <p:sp>
          <p:nvSpPr>
            <p:cNvPr id="37" name="TextBox 37"/>
            <p:cNvSpPr txBox="1"/>
            <p:nvPr/>
          </p:nvSpPr>
          <p:spPr>
            <a:xfrm>
              <a:off x="6556096" y="2142649"/>
              <a:ext cx="40568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闭式解</a:t>
              </a:r>
            </a:p>
          </p:txBody>
        </p:sp>
        <p:sp>
          <p:nvSpPr>
            <p:cNvPr id="38" name="TextBox 38"/>
            <p:cNvSpPr txBox="1"/>
            <p:nvPr/>
          </p:nvSpPr>
          <p:spPr>
            <a:xfrm>
              <a:off x="7158228" y="2149316"/>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一次更新只有四行公式</a:t>
              </a:r>
            </a:p>
          </p:txBody>
        </p:sp>
        <p:sp>
          <p:nvSpPr>
            <p:cNvPr id="39" name="TextBox 39"/>
            <p:cNvSpPr txBox="1"/>
            <p:nvPr/>
          </p:nvSpPr>
          <p:spPr>
            <a:xfrm>
              <a:off x="6460998" y="2465546"/>
              <a:ext cx="394361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记 Eₖ = g(xₖ) − yₖ 为预测误差，κ 为二阶项系数：</a:t>
              </a:r>
            </a:p>
          </p:txBody>
        </p:sp>
        <mc:AlternateContent xmlns:mc="http://schemas.openxmlformats.org/markup-compatibility/2006">
          <mc:Choice xmlns:a14="http://schemas.microsoft.com/office/drawing/2010/main" Requires="a14">
            <p:sp>
              <p:nvSpPr>
                <p:cNvPr id="40" name="formula271"/>
                <p:cNvSpPr txBox="1">
                  <a:spLocks noGrp="1"/>
                </p:cNvSpPr>
                <p:nvPr/>
              </p:nvSpPr>
              <p:spPr>
                <a:xfrm>
                  <a:off x="6467475" y="2729865"/>
                  <a:ext cx="5010150" cy="41148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200" dirty="0">
                            <a:solidFill>
                              <a:srgbClr val="1F2937"/>
                            </a:solidFill>
                            <a:latin typeface="Cambria Math"/>
                            <a:ea typeface="Cambria Math"/>
                            <a:cs typeface="Cambria Math"/>
                          </a:rPr>
                          <m:t>κ</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K</m:t>
                            </m:r>
                          </m:e>
                          <m:sub>
                            <m:r>
                              <a:rPr lang="zh-CN" sz="1200" dirty="0">
                                <a:solidFill>
                                  <a:srgbClr val="1F2937"/>
                                </a:solidFill>
                                <a:latin typeface="Cambria Math"/>
                                <a:ea typeface="Cambria Math"/>
                                <a:cs typeface="Cambria Math"/>
                              </a:rPr>
                              <m:t>ii</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K</m:t>
                            </m:r>
                          </m:e>
                          <m:sub>
                            <m:r>
                              <a:rPr lang="zh-CN" sz="1200" dirty="0">
                                <a:solidFill>
                                  <a:srgbClr val="1F2937"/>
                                </a:solidFill>
                                <a:latin typeface="Cambria Math"/>
                                <a:ea typeface="Cambria Math"/>
                                <a:cs typeface="Cambria Math"/>
                              </a:rPr>
                              <m:t>jj</m:t>
                            </m:r>
                          </m:sub>
                        </m:sSub>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2</m:t>
                        </m:r>
                        <m:sSub>
                          <m:e>
                            <m:r>
                              <a:rPr lang="zh-CN" sz="1200" dirty="0">
                                <a:solidFill>
                                  <a:srgbClr val="1F2937"/>
                                </a:solidFill>
                                <a:latin typeface="Cambria Math"/>
                                <a:ea typeface="Cambria Math"/>
                                <a:cs typeface="Cambria Math"/>
                              </a:rPr>
                              <m:t>K</m:t>
                            </m:r>
                          </m:e>
                          <m:sub>
                            <m:r>
                              <a:rPr lang="zh-CN" sz="1200" dirty="0">
                                <a:solidFill>
                                  <a:srgbClr val="1F2937"/>
                                </a:solidFill>
                                <a:latin typeface="Cambria Math"/>
                                <a:ea typeface="Cambria Math"/>
                                <a:cs typeface="Cambria Math"/>
                              </a:rPr>
                              <m:t>ij</m:t>
                            </m:r>
                          </m:sub>
                        </m:sSub>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 xml:space="preserve">  </m:t>
                        </m:r>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j</m:t>
                            </m:r>
                          </m:sub>
                          <m:sup>
                            <m:r>
                              <m:rPr>
                                <m:sty m:val="p"/>
                              </m:rPr>
                              <a:rPr lang="zh-CN" sz="1200" dirty="0">
                                <a:solidFill>
                                  <a:srgbClr val="1F2937"/>
                                </a:solidFill>
                                <a:latin typeface="Cambria Math"/>
                                <a:ea typeface="Cambria Math"/>
                                <a:cs typeface="Cambria Math"/>
                              </a:rPr>
                              <m:t>new</m:t>
                            </m:r>
                            <m:r>
                              <m:rPr>
                                <m:sty m:val="p"/>
                              </m:rPr>
                              <a:rPr lang="zh-CN" sz="1200" dirty="0">
                                <a:solidFill>
                                  <a:srgbClr val="1F2937"/>
                                </a:solidFill>
                                <a:latin typeface="Cambria Math"/>
                                <a:ea typeface="Cambria Math"/>
                                <a:cs typeface="Cambria Math"/>
                              </a:rPr>
                              <m:t>,</m:t>
                            </m:r>
                            <m:r>
                              <m:rPr>
                                <m:sty m:val="p"/>
                              </m:rPr>
                              <a:rPr lang="zh-CN" sz="1200" dirty="0">
                                <a:solidFill>
                                  <a:srgbClr val="1F2937"/>
                                </a:solidFill>
                                <a:latin typeface="Cambria Math"/>
                                <a:ea typeface="Cambria Math"/>
                                <a:cs typeface="Cambria Math"/>
                              </a:rPr>
                              <m:t>unc</m:t>
                            </m:r>
                          </m:sup>
                        </m:sSubSup>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f>
                          <m:fPr>
                            <m:type m:val="bar"/>
                            <m:ctrlPr>
                              <a:rPr lang="zh-CN" sz="1200" dirty="0">
                                <a:solidFill>
                                  <a:srgbClr val="1F2937"/>
                                </a:solidFill>
                                <a:latin typeface="Cambria Math"/>
                                <a:ea typeface="Cambria Math"/>
                                <a:cs typeface="Cambria Math"/>
                              </a:rPr>
                            </m:ctrlPr>
                          </m:fPr>
                          <m:num>
                            <m:sSub>
                              <m:e>
                                <m:r>
                                  <a:rPr lang="zh-CN" sz="1200" dirty="0">
                                    <a:solidFill>
                                      <a:srgbClr val="1F2937"/>
                                    </a:solidFill>
                                    <a:latin typeface="Cambria Math"/>
                                    <a:ea typeface="Cambria Math"/>
                                    <a:cs typeface="Cambria Math"/>
                                  </a:rPr>
                                  <m:t>y</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E</m:t>
                                    </m:r>
                                  </m:e>
                                  <m:sub>
                                    <m:r>
                                      <a:rPr lang="zh-CN" sz="1200" dirty="0">
                                        <a:solidFill>
                                          <a:srgbClr val="1F2937"/>
                                        </a:solidFill>
                                        <a:latin typeface="Cambria Math"/>
                                        <a:ea typeface="Cambria Math"/>
                                        <a:cs typeface="Cambria Math"/>
                                      </a:rPr>
                                      <m:t>i</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E</m:t>
                                    </m:r>
                                  </m:e>
                                  <m:sub>
                                    <m:r>
                                      <a:rPr lang="zh-CN" sz="1200" dirty="0">
                                        <a:solidFill>
                                          <a:srgbClr val="1F2937"/>
                                        </a:solidFill>
                                        <a:latin typeface="Cambria Math"/>
                                        <a:ea typeface="Cambria Math"/>
                                        <a:cs typeface="Cambria Math"/>
                                      </a:rPr>
                                      <m:t>j</m:t>
                                    </m:r>
                                  </m:sub>
                                </m:sSub>
                              </m:e>
                            </m:d>
                          </m:num>
                          <m:den>
                            <m:r>
                              <a:rPr lang="zh-CN" sz="1200" dirty="0">
                                <a:solidFill>
                                  <a:srgbClr val="1F2937"/>
                                </a:solidFill>
                                <a:latin typeface="Cambria Math"/>
                                <a:ea typeface="Cambria Math"/>
                                <a:cs typeface="Cambria Math"/>
                              </a:rPr>
                              <m:t>κ</m:t>
                            </m:r>
                          </m:den>
                        </m:f>
                      </m:oMath>
                    </m:oMathPara>
                  </a14:m>
                </a:p>
              </p:txBody>
            </p:sp>
          </mc:Choice>
        </mc:AlternateContent>
        <mc:AlternateContent xmlns:mc="http://schemas.openxmlformats.org/markup-compatibility/2006">
          <mc:Choice xmlns:a14="http://schemas.microsoft.com/office/drawing/2010/main" Requires="a14">
            <p:sp>
              <p:nvSpPr>
                <p:cNvPr id="41" name="formula272"/>
                <p:cNvSpPr txBox="1">
                  <a:spLocks noGrp="1"/>
                </p:cNvSpPr>
                <p:nvPr/>
              </p:nvSpPr>
              <p:spPr>
                <a:xfrm>
                  <a:off x="6467475" y="3222308"/>
                  <a:ext cx="5010150" cy="3048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j</m:t>
                            </m:r>
                          </m:sub>
                          <m:sup>
                            <m:r>
                              <m:rPr>
                                <m:sty m:val="p"/>
                              </m:rPr>
                              <a:rPr lang="zh-CN" sz="1200" dirty="0">
                                <a:solidFill>
                                  <a:srgbClr val="1F2937"/>
                                </a:solidFill>
                                <a:latin typeface="Cambria Math"/>
                                <a:ea typeface="Cambria Math"/>
                                <a:cs typeface="Cambria Math"/>
                              </a:rPr>
                              <m:t>new</m:t>
                            </m:r>
                          </m:sup>
                        </m:sSubSup>
                        <m:r>
                          <m:rPr>
                            <m:sty m:val="p"/>
                          </m:rPr>
                          <a:rPr lang="zh-CN" sz="1200" dirty="0">
                            <a:solidFill>
                              <a:srgbClr val="1F2937"/>
                            </a:solidFill>
                            <a:latin typeface="Cambria Math"/>
                            <a:ea typeface="Cambria Math"/>
                            <a:cs typeface="Cambria Math"/>
                          </a:rPr>
                          <m:t>=</m:t>
                        </m:r>
                        <m:r>
                          <m:rPr>
                            <m:sty m:val="p"/>
                          </m:rPr>
                          <a:rPr lang="zh-CN" sz="1200" dirty="0">
                            <a:solidFill>
                              <a:srgbClr val="1F2937"/>
                            </a:solidFill>
                            <a:latin typeface="Cambria Math"/>
                            <a:ea typeface="Cambria Math"/>
                            <a:cs typeface="Cambria Math"/>
                          </a:rPr>
                          <m:t>clip</m:t>
                        </m:r>
                        <m:r>
                          <a:rPr lang="zh-CN" sz="1200" dirty="0">
                            <a:solidFill>
                              <a:srgbClr val="1F2937"/>
                            </a:solidFill>
                            <a:latin typeface="Cambria Math"/>
                            <a:ea typeface="Cambria Math"/>
                            <a:cs typeface="Cambria Math"/>
                          </a:rPr>
                          <m:t>​</m:t>
                        </m:r>
                        <m:d>
                          <m:dPr>
                            <m:begChr m:val="("/>
                            <m:sepChr m:val=""/>
                            <m:endChr m:val=")"/>
                            <m:grow m:val="on"/>
                            <m:ctrlPr>
                              <a:rPr lang="zh-CN" sz="1200" dirty="0">
                                <a:solidFill>
                                  <a:srgbClr val="1F2937"/>
                                </a:solidFill>
                                <a:latin typeface="Cambria Math"/>
                                <a:ea typeface="Cambria Math"/>
                                <a:cs typeface="Cambria Math"/>
                              </a:rPr>
                            </m:ctrlPr>
                          </m:dPr>
                          <m:e>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j</m:t>
                                </m:r>
                              </m:sub>
                              <m:sup>
                                <m:r>
                                  <m:rPr>
                                    <m:sty m:val="p"/>
                                  </m:rPr>
                                  <a:rPr lang="zh-CN" sz="1200" dirty="0">
                                    <a:solidFill>
                                      <a:srgbClr val="1F2937"/>
                                    </a:solidFill>
                                    <a:latin typeface="Cambria Math"/>
                                    <a:ea typeface="Cambria Math"/>
                                    <a:cs typeface="Cambria Math"/>
                                  </a:rPr>
                                  <m:t>new</m:t>
                                </m:r>
                                <m:r>
                                  <m:rPr>
                                    <m:sty m:val="p"/>
                                  </m:rPr>
                                  <a:rPr lang="zh-CN" sz="1200" dirty="0">
                                    <a:solidFill>
                                      <a:srgbClr val="1F2937"/>
                                    </a:solidFill>
                                    <a:latin typeface="Cambria Math"/>
                                    <a:ea typeface="Cambria Math"/>
                                    <a:cs typeface="Cambria Math"/>
                                  </a:rPr>
                                  <m:t>,</m:t>
                                </m:r>
                                <m:r>
                                  <m:rPr>
                                    <m:sty m:val="p"/>
                                  </m:rPr>
                                  <a:rPr lang="zh-CN" sz="1200" dirty="0">
                                    <a:solidFill>
                                      <a:srgbClr val="1F2937"/>
                                    </a:solidFill>
                                    <a:latin typeface="Cambria Math"/>
                                    <a:ea typeface="Cambria Math"/>
                                    <a:cs typeface="Cambria Math"/>
                                  </a:rPr>
                                  <m:t>unc</m:t>
                                </m:r>
                              </m:sup>
                            </m:sSubSup>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L</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H</m:t>
                            </m:r>
                          </m:e>
                        </m: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 xml:space="preserve">  </m:t>
                        </m:r>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i</m:t>
                            </m:r>
                          </m:sub>
                          <m:sup>
                            <m:r>
                              <m:rPr>
                                <m:sty m:val="p"/>
                              </m:rPr>
                              <a:rPr lang="zh-CN" sz="1200" dirty="0">
                                <a:solidFill>
                                  <a:srgbClr val="1F2937"/>
                                </a:solidFill>
                                <a:latin typeface="Cambria Math"/>
                                <a:ea typeface="Cambria Math"/>
                                <a:cs typeface="Cambria Math"/>
                              </a:rPr>
                              <m:t>new</m:t>
                            </m:r>
                          </m:sup>
                        </m:sSubSup>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i</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y</m:t>
                            </m:r>
                          </m:e>
                          <m:sub>
                            <m:r>
                              <a:rPr lang="zh-CN" sz="1200" dirty="0">
                                <a:solidFill>
                                  <a:srgbClr val="1F2937"/>
                                </a:solidFill>
                                <a:latin typeface="Cambria Math"/>
                                <a:ea typeface="Cambria Math"/>
                                <a:cs typeface="Cambria Math"/>
                              </a:rPr>
                              <m:t>i</m:t>
                            </m:r>
                          </m:sub>
                        </m:sSub>
                        <m:sSub>
                          <m:e>
                            <m:r>
                              <a:rPr lang="zh-CN" sz="1200" dirty="0">
                                <a:solidFill>
                                  <a:srgbClr val="1F2937"/>
                                </a:solidFill>
                                <a:latin typeface="Cambria Math"/>
                                <a:ea typeface="Cambria Math"/>
                                <a:cs typeface="Cambria Math"/>
                              </a:rPr>
                              <m:t>y</m:t>
                            </m:r>
                          </m:e>
                          <m:sub>
                            <m:r>
                              <a:rPr lang="zh-CN" sz="1200" dirty="0">
                                <a:solidFill>
                                  <a:srgbClr val="1F2937"/>
                                </a:solidFill>
                                <a:latin typeface="Cambria Math"/>
                                <a:ea typeface="Cambria Math"/>
                                <a:cs typeface="Cambria Math"/>
                              </a:rPr>
                              <m:t>j</m:t>
                            </m:r>
                          </m:sub>
                        </m:sSub>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j</m:t>
                                </m:r>
                              </m:sub>
                            </m:sSub>
                            <m:r>
                              <m:rPr>
                                <m:sty m:val="p"/>
                              </m:rPr>
                              <a:rPr lang="zh-CN" sz="1200" dirty="0">
                                <a:solidFill>
                                  <a:srgbClr val="1F2937"/>
                                </a:solidFill>
                                <a:latin typeface="Cambria Math"/>
                                <a:ea typeface="Cambria Math"/>
                                <a:cs typeface="Cambria Math"/>
                              </a:rPr>
                              <m:t>−</m:t>
                            </m:r>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j</m:t>
                                </m:r>
                              </m:sub>
                              <m:sup>
                                <m:r>
                                  <m:rPr>
                                    <m:sty m:val="p"/>
                                  </m:rPr>
                                  <a:rPr lang="zh-CN" sz="1200" dirty="0">
                                    <a:solidFill>
                                      <a:srgbClr val="1F2937"/>
                                    </a:solidFill>
                                    <a:latin typeface="Cambria Math"/>
                                    <a:ea typeface="Cambria Math"/>
                                    <a:cs typeface="Cambria Math"/>
                                  </a:rPr>
                                  <m:t>new</m:t>
                                </m:r>
                              </m:sup>
                            </m:sSubSup>
                          </m:e>
                        </m:d>
                      </m:oMath>
                    </m:oMathPara>
                  </a14:m>
                </a:p>
              </p:txBody>
            </p:sp>
          </mc:Choice>
        </mc:AlternateContent>
      </p:grpSp>
      <p:grpSp>
        <p:nvGrpSpPr>
          <p:cNvPr id="59" name="c2-table-2"/>
          <p:cNvGrpSpPr/>
          <p:nvPr/>
        </p:nvGrpSpPr>
        <p:grpSpPr>
          <a:xfrm>
            <a:off x="6243447" y="3889058"/>
            <a:ext cx="5415153" cy="1408461"/>
            <a:chOff x="6243447" y="3889058"/>
            <a:chExt cx="5415153" cy="1408461"/>
          </a:xfrm>
        </p:grpSpPr>
        <p:sp>
          <p:nvSpPr>
            <p:cNvPr id="43" name="Rectangle 43"/>
            <p:cNvSpPr/>
            <p:nvPr/>
          </p:nvSpPr>
          <p:spPr>
            <a:xfrm>
              <a:off x="6248400" y="3889058"/>
              <a:ext cx="5410200" cy="381000"/>
            </a:xfrm>
            <a:prstGeom prst="rect">
              <a:avLst/>
            </a:prstGeom>
            <a:solidFill>
              <a:srgbClr val="0E7C86"/>
            </a:solidFill>
            <a:ln>
              <a:noFill/>
            </a:ln>
          </p:spPr>
        </p:sp>
        <p:sp>
          <p:nvSpPr>
            <p:cNvPr id="44" name="TextBox 44"/>
            <p:cNvSpPr txBox="1"/>
            <p:nvPr/>
          </p:nvSpPr>
          <p:spPr>
            <a:xfrm>
              <a:off x="6804660" y="4006215"/>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情形</a:t>
              </a:r>
            </a:p>
          </p:txBody>
        </p:sp>
        <p:sp>
          <p:nvSpPr>
            <p:cNvPr id="45" name="TextBox 45"/>
            <p:cNvSpPr txBox="1"/>
            <p:nvPr/>
          </p:nvSpPr>
          <p:spPr>
            <a:xfrm>
              <a:off x="8442987" y="4006215"/>
              <a:ext cx="42666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下界 L</a:t>
              </a:r>
            </a:p>
          </p:txBody>
        </p:sp>
        <p:sp>
          <p:nvSpPr>
            <p:cNvPr id="46" name="TextBox 46"/>
            <p:cNvSpPr txBox="1"/>
            <p:nvPr/>
          </p:nvSpPr>
          <p:spPr>
            <a:xfrm>
              <a:off x="10444189" y="4006215"/>
              <a:ext cx="42666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上界 H</a:t>
              </a:r>
            </a:p>
          </p:txBody>
        </p:sp>
        <p:sp>
          <p:nvSpPr>
            <p:cNvPr id="47" name="TextBox 47"/>
            <p:cNvSpPr txBox="1"/>
            <p:nvPr/>
          </p:nvSpPr>
          <p:spPr>
            <a:xfrm>
              <a:off x="6343079" y="4388168"/>
              <a:ext cx="50787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yᵢ ≠ yⱼ</a:t>
              </a:r>
            </a:p>
          </p:txBody>
        </p:sp>
        <p:sp>
          <p:nvSpPr>
            <p:cNvPr id="48" name="TextBox 48"/>
            <p:cNvSpPr txBox="1"/>
            <p:nvPr/>
          </p:nvSpPr>
          <p:spPr>
            <a:xfrm>
              <a:off x="7749921" y="4388168"/>
              <a:ext cx="1099071"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max(0, αⱼ − αᵢ)</a:t>
              </a:r>
            </a:p>
          </p:txBody>
        </p:sp>
        <p:sp>
          <p:nvSpPr>
            <p:cNvPr id="49" name="TextBox 49"/>
            <p:cNvSpPr txBox="1"/>
            <p:nvPr/>
          </p:nvSpPr>
          <p:spPr>
            <a:xfrm>
              <a:off x="9751124" y="4388168"/>
              <a:ext cx="1324947"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min(C, C + αⱼ − αᵢ)</a:t>
              </a:r>
            </a:p>
          </p:txBody>
        </p:sp>
        <p:sp>
          <p:nvSpPr>
            <p:cNvPr id="50" name="Rectangle 50"/>
            <p:cNvSpPr/>
            <p:nvPr/>
          </p:nvSpPr>
          <p:spPr>
            <a:xfrm>
              <a:off x="6248400" y="4647248"/>
              <a:ext cx="5410200" cy="9525"/>
            </a:xfrm>
            <a:prstGeom prst="rect">
              <a:avLst/>
            </a:prstGeom>
            <a:solidFill>
              <a:srgbClr val="D9DFEA"/>
            </a:solidFill>
            <a:ln>
              <a:noFill/>
            </a:ln>
          </p:spPr>
        </p:sp>
        <p:sp>
          <p:nvSpPr>
            <p:cNvPr id="51" name="Rectangle 51"/>
            <p:cNvSpPr/>
            <p:nvPr/>
          </p:nvSpPr>
          <p:spPr>
            <a:xfrm>
              <a:off x="6248400" y="4652010"/>
              <a:ext cx="5410200" cy="381000"/>
            </a:xfrm>
            <a:prstGeom prst="rect">
              <a:avLst/>
            </a:prstGeom>
            <a:solidFill>
              <a:srgbClr val="F4F6FB"/>
            </a:solidFill>
            <a:ln>
              <a:noFill/>
            </a:ln>
          </p:spPr>
        </p:sp>
        <p:sp>
          <p:nvSpPr>
            <p:cNvPr id="52" name="TextBox 52"/>
            <p:cNvSpPr txBox="1"/>
            <p:nvPr/>
          </p:nvSpPr>
          <p:spPr>
            <a:xfrm>
              <a:off x="6343079" y="4769168"/>
              <a:ext cx="507870"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yᵢ = yⱼ</a:t>
              </a:r>
            </a:p>
          </p:txBody>
        </p:sp>
        <p:sp>
          <p:nvSpPr>
            <p:cNvPr id="53" name="TextBox 53"/>
            <p:cNvSpPr txBox="1"/>
            <p:nvPr/>
          </p:nvSpPr>
          <p:spPr>
            <a:xfrm>
              <a:off x="7749921" y="4769168"/>
              <a:ext cx="1351902"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max(0, αᵢ + αⱼ − C)</a:t>
              </a:r>
            </a:p>
          </p:txBody>
        </p:sp>
        <p:sp>
          <p:nvSpPr>
            <p:cNvPr id="54" name="TextBox 54"/>
            <p:cNvSpPr txBox="1"/>
            <p:nvPr/>
          </p:nvSpPr>
          <p:spPr>
            <a:xfrm>
              <a:off x="9751124" y="4769168"/>
              <a:ext cx="1073668"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min(C, αᵢ + αⱼ)</a:t>
              </a:r>
            </a:p>
          </p:txBody>
        </p:sp>
        <p:sp>
          <p:nvSpPr>
            <p:cNvPr id="55" name="Rectangle 55"/>
            <p:cNvSpPr/>
            <p:nvPr/>
          </p:nvSpPr>
          <p:spPr>
            <a:xfrm>
              <a:off x="6248400" y="3889058"/>
              <a:ext cx="5410200" cy="1143952"/>
            </a:xfrm>
            <a:prstGeom prst="rect">
              <a:avLst/>
            </a:prstGeom>
            <a:noFill/>
            <a:ln w="14288">
              <a:solidFill>
                <a:srgbClr val="D9DFEA"/>
              </a:solidFill>
            </a:ln>
          </p:spPr>
        </p:sp>
        <p:sp>
          <p:nvSpPr>
            <p:cNvPr id="56" name="Rectangle 56"/>
            <p:cNvSpPr/>
            <p:nvPr/>
          </p:nvSpPr>
          <p:spPr>
            <a:xfrm>
              <a:off x="7650480" y="3889058"/>
              <a:ext cx="9525" cy="1143952"/>
            </a:xfrm>
            <a:prstGeom prst="rect">
              <a:avLst/>
            </a:prstGeom>
            <a:solidFill>
              <a:srgbClr val="D9DFEA"/>
            </a:solidFill>
            <a:ln>
              <a:noFill/>
            </a:ln>
          </p:spPr>
        </p:sp>
        <p:sp>
          <p:nvSpPr>
            <p:cNvPr id="57" name="Rectangle 57"/>
            <p:cNvSpPr/>
            <p:nvPr/>
          </p:nvSpPr>
          <p:spPr>
            <a:xfrm>
              <a:off x="9651682" y="3889058"/>
              <a:ext cx="9525" cy="1143952"/>
            </a:xfrm>
            <a:prstGeom prst="rect">
              <a:avLst/>
            </a:prstGeom>
            <a:solidFill>
              <a:srgbClr val="D9DFEA"/>
            </a:solidFill>
            <a:ln>
              <a:noFill/>
            </a:ln>
          </p:spPr>
        </p:sp>
        <p:sp>
          <p:nvSpPr>
            <p:cNvPr id="58" name="TextBox 58"/>
            <p:cNvSpPr txBox="1"/>
            <p:nvPr/>
          </p:nvSpPr>
          <p:spPr>
            <a:xfrm>
              <a:off x="6243447" y="5106829"/>
              <a:ext cx="311400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裁剪区间来自 0 ≤ α ≤ C 与直线 αᵢyᵢ + αⱼyⱼ = c 的交</a:t>
              </a:r>
            </a:p>
          </p:txBody>
        </p:sp>
      </p:grpSp>
      <p:grpSp>
        <p:nvGrpSpPr>
          <p:cNvPr id="66" name="c2-callout-3"/>
          <p:cNvGrpSpPr/>
          <p:nvPr/>
        </p:nvGrpSpPr>
        <p:grpSpPr>
          <a:xfrm>
            <a:off x="6248400" y="5423535"/>
            <a:ext cx="5410200" cy="702945"/>
            <a:chOff x="6248400" y="5423535"/>
            <a:chExt cx="5410200" cy="702945"/>
          </a:xfrm>
        </p:grpSpPr>
        <p:sp>
          <p:nvSpPr>
            <p:cNvPr id="60" name="Rectangle 60"/>
            <p:cNvSpPr/>
            <p:nvPr/>
          </p:nvSpPr>
          <p:spPr>
            <a:xfrm>
              <a:off x="6248400" y="5423535"/>
              <a:ext cx="5410200" cy="702945"/>
            </a:xfrm>
            <a:prstGeom prst="roundRect">
              <a:avLst>
                <a:gd name="adj" fmla="val 16260"/>
              </a:avLst>
            </a:prstGeom>
            <a:solidFill>
              <a:srgbClr val="F4F6FB"/>
            </a:solidFill>
            <a:ln>
              <a:noFill/>
            </a:ln>
          </p:spPr>
        </p:sp>
        <p:grpSp>
          <p:nvGrpSpPr>
            <p:cNvPr id="64" name="Group 64"/>
            <p:cNvGrpSpPr/>
            <p:nvPr/>
          </p:nvGrpSpPr>
          <p:grpSpPr>
            <a:xfrm>
              <a:off x="6453188" y="5674995"/>
              <a:ext cx="200026" cy="200026"/>
              <a:chOff x="6453188" y="5674995"/>
              <a:chExt cx="200026" cy="200026"/>
            </a:xfrm>
          </p:grpSpPr>
          <p:sp>
            <p:nvSpPr>
              <p:cNvPr id="61" name="Freeform 61"/>
              <p:cNvSpPr/>
              <p:nvPr/>
            </p:nvSpPr>
            <p:spPr>
              <a:xfrm>
                <a:off x="6453188" y="56749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2" name="Freeform 62"/>
              <p:cNvSpPr/>
              <p:nvPr/>
            </p:nvSpPr>
            <p:spPr>
              <a:xfrm>
                <a:off x="6553200" y="57416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3" name="Freeform 63"/>
              <p:cNvSpPr/>
              <p:nvPr/>
            </p:nvSpPr>
            <p:spPr>
              <a:xfrm>
                <a:off x="6542088" y="57750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5" name="TextBox 65"/>
            <p:cNvSpPr txBox="1"/>
            <p:nvPr/>
          </p:nvSpPr>
          <p:spPr>
            <a:xfrm>
              <a:off x="6756273" y="5568791"/>
              <a:ext cx="449148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原文把二阶项系数记作 η，本讲义改记 κ，避开第 7 页 VC 上界</a:t>
              </a:r>
              <a:br/>
              <a:r>
                <a:rPr lang="zh-CN" sz="1280" dirty="0">
                  <a:solidFill>
                    <a:srgbClr val="1F2937"/>
                  </a:solidFill>
                  <a:latin typeface="+mn-lt"/>
                  <a:ea typeface="+mn-ea"/>
                  <a:cs typeface="+mn-cs"/>
                </a:rPr>
                <a:t>里表示置信水平的 η。</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497807" cy="909257"/>
            <a:chOff x="520446" y="342900"/>
            <a:chExt cx="5497807" cy="909257"/>
          </a:xfrm>
        </p:grpSpPr>
        <p:sp>
          <p:nvSpPr>
            <p:cNvPr id="2" name="Rectangle 2"/>
            <p:cNvSpPr/>
            <p:nvPr/>
          </p:nvSpPr>
          <p:spPr>
            <a:xfrm>
              <a:off x="533400" y="342900"/>
              <a:ext cx="2983230" cy="266700"/>
            </a:xfrm>
            <a:prstGeom prst="roundRect">
              <a:avLst>
                <a:gd name="adj" fmla="val 50000"/>
              </a:avLst>
            </a:prstGeom>
            <a:solidFill>
              <a:srgbClr val="E2F3F4"/>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支持向量机的优化算法</a:t>
              </a:r>
            </a:p>
          </p:txBody>
        </p:sp>
        <p:sp>
          <p:nvSpPr>
            <p:cNvPr id="4" name="TextBox 4"/>
            <p:cNvSpPr txBox="1"/>
            <p:nvPr/>
          </p:nvSpPr>
          <p:spPr>
            <a:xfrm>
              <a:off x="520446" y="753428"/>
              <a:ext cx="549780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例题：一步 SMO 就解出了三点问题</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4752594" cy="264033"/>
            <a:chOff x="526542" y="1545907"/>
            <a:chExt cx="4752594" cy="264033"/>
          </a:xfrm>
        </p:grpSpPr>
        <p:sp>
          <p:nvSpPr>
            <p:cNvPr id="7" name="TextBox 7"/>
            <p:cNvSpPr txBox="1"/>
            <p:nvPr/>
          </p:nvSpPr>
          <p:spPr>
            <a:xfrm>
              <a:off x="526542" y="1545907"/>
              <a:ext cx="4752594"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还是第 15 页那三个点，取 C = 10，从 α = 0、b = 0 出发。</a:t>
              </a:r>
            </a:p>
          </p:txBody>
        </p:sp>
      </p:grpSp>
      <p:grpSp>
        <p:nvGrpSpPr>
          <p:cNvPr id="34" name="c1-steps-1"/>
          <p:cNvGrpSpPr/>
          <p:nvPr/>
        </p:nvGrpSpPr>
        <p:grpSpPr>
          <a:xfrm>
            <a:off x="533400" y="1938338"/>
            <a:ext cx="3832060" cy="3255263"/>
            <a:chOff x="533400" y="1938338"/>
            <a:chExt cx="3832060" cy="3255263"/>
          </a:xfrm>
        </p:grpSpPr>
        <p:sp>
          <p:nvSpPr>
            <p:cNvPr id="9" name="Rectangle 9"/>
            <p:cNvSpPr/>
            <p:nvPr/>
          </p:nvSpPr>
          <p:spPr>
            <a:xfrm>
              <a:off x="666750" y="2081212"/>
              <a:ext cx="19050" cy="2765108"/>
            </a:xfrm>
            <a:prstGeom prst="rect">
              <a:avLst/>
            </a:prstGeom>
            <a:solidFill>
              <a:srgbClr val="D9DFEA"/>
            </a:solidFill>
            <a:ln>
              <a:noFill/>
            </a:ln>
          </p:spPr>
        </p:sp>
        <p:sp>
          <p:nvSpPr>
            <p:cNvPr id="10" name="Ellipse 10"/>
            <p:cNvSpPr/>
            <p:nvPr/>
          </p:nvSpPr>
          <p:spPr>
            <a:xfrm>
              <a:off x="533400" y="1938338"/>
              <a:ext cx="285750" cy="285750"/>
            </a:xfrm>
            <a:prstGeom prst="ellipse">
              <a:avLst/>
            </a:prstGeom>
            <a:solidFill>
              <a:srgbClr val="0E7C86"/>
            </a:solidFill>
            <a:ln>
              <a:noFill/>
            </a:ln>
          </p:spPr>
        </p:sp>
        <p:sp>
          <p:nvSpPr>
            <p:cNvPr id="11" name="TextBox 11"/>
            <p:cNvSpPr txBox="1"/>
            <p:nvPr/>
          </p:nvSpPr>
          <p:spPr>
            <a:xfrm>
              <a:off x="627024" y="20121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490788"/>
              <a:ext cx="285750" cy="285750"/>
            </a:xfrm>
            <a:prstGeom prst="ellipse">
              <a:avLst/>
            </a:prstGeom>
            <a:solidFill>
              <a:srgbClr val="0E7C86"/>
            </a:solidFill>
            <a:ln>
              <a:noFill/>
            </a:ln>
          </p:spPr>
        </p:sp>
        <p:sp>
          <p:nvSpPr>
            <p:cNvPr id="13" name="TextBox 13"/>
            <p:cNvSpPr txBox="1"/>
            <p:nvPr/>
          </p:nvSpPr>
          <p:spPr>
            <a:xfrm>
              <a:off x="627024" y="256460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044190"/>
              <a:ext cx="285750" cy="285750"/>
            </a:xfrm>
            <a:prstGeom prst="ellipse">
              <a:avLst/>
            </a:prstGeom>
            <a:solidFill>
              <a:srgbClr val="0E7C86"/>
            </a:solidFill>
            <a:ln>
              <a:noFill/>
            </a:ln>
          </p:spPr>
        </p:sp>
        <p:sp>
          <p:nvSpPr>
            <p:cNvPr id="15" name="TextBox 15"/>
            <p:cNvSpPr txBox="1"/>
            <p:nvPr/>
          </p:nvSpPr>
          <p:spPr>
            <a:xfrm>
              <a:off x="627024" y="311800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3597592"/>
              <a:ext cx="285750" cy="285750"/>
            </a:xfrm>
            <a:prstGeom prst="ellipse">
              <a:avLst/>
            </a:prstGeom>
            <a:solidFill>
              <a:srgbClr val="0E7C86"/>
            </a:solidFill>
            <a:ln>
              <a:noFill/>
            </a:ln>
          </p:spPr>
        </p:sp>
        <p:sp>
          <p:nvSpPr>
            <p:cNvPr id="17" name="TextBox 17"/>
            <p:cNvSpPr txBox="1"/>
            <p:nvPr/>
          </p:nvSpPr>
          <p:spPr>
            <a:xfrm>
              <a:off x="627024" y="367141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Ellipse 18"/>
            <p:cNvSpPr/>
            <p:nvPr/>
          </p:nvSpPr>
          <p:spPr>
            <a:xfrm>
              <a:off x="533400" y="4150042"/>
              <a:ext cx="285750" cy="285750"/>
            </a:xfrm>
            <a:prstGeom prst="ellipse">
              <a:avLst/>
            </a:prstGeom>
            <a:solidFill>
              <a:srgbClr val="0E7C86"/>
            </a:solidFill>
            <a:ln>
              <a:noFill/>
            </a:ln>
          </p:spPr>
        </p:sp>
        <p:sp>
          <p:nvSpPr>
            <p:cNvPr id="19" name="TextBox 19"/>
            <p:cNvSpPr txBox="1"/>
            <p:nvPr/>
          </p:nvSpPr>
          <p:spPr>
            <a:xfrm>
              <a:off x="627024" y="422386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20" name="Ellipse 20"/>
            <p:cNvSpPr/>
            <p:nvPr/>
          </p:nvSpPr>
          <p:spPr>
            <a:xfrm>
              <a:off x="533400" y="4703445"/>
              <a:ext cx="285750" cy="285750"/>
            </a:xfrm>
            <a:prstGeom prst="ellipse">
              <a:avLst/>
            </a:prstGeom>
            <a:solidFill>
              <a:srgbClr val="0E7C86"/>
            </a:solidFill>
            <a:ln>
              <a:noFill/>
            </a:ln>
          </p:spPr>
        </p:sp>
        <p:sp>
          <p:nvSpPr>
            <p:cNvPr id="21" name="TextBox 21"/>
            <p:cNvSpPr txBox="1"/>
            <p:nvPr/>
          </p:nvSpPr>
          <p:spPr>
            <a:xfrm>
              <a:off x="627024" y="477726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6</a:t>
              </a:r>
            </a:p>
          </p:txBody>
        </p:sp>
        <p:sp>
          <p:nvSpPr>
            <p:cNvPr id="22" name="TextBox 22"/>
            <p:cNvSpPr txBox="1"/>
            <p:nvPr/>
          </p:nvSpPr>
          <p:spPr>
            <a:xfrm>
              <a:off x="946023" y="1968341"/>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选变量</a:t>
              </a:r>
            </a:p>
          </p:txBody>
        </p:sp>
        <p:sp>
          <p:nvSpPr>
            <p:cNvPr id="23" name="TextBox 23"/>
            <p:cNvSpPr txBox="1"/>
            <p:nvPr/>
          </p:nvSpPr>
          <p:spPr>
            <a:xfrm>
              <a:off x="947166" y="2223135"/>
              <a:ext cx="263979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取 αᵢ = α₁（y = +1）、αⱼ = α₃（y = −1）</a:t>
              </a:r>
            </a:p>
          </p:txBody>
        </p:sp>
        <p:sp>
          <p:nvSpPr>
            <p:cNvPr id="24" name="TextBox 24"/>
            <p:cNvSpPr txBox="1"/>
            <p:nvPr/>
          </p:nvSpPr>
          <p:spPr>
            <a:xfrm>
              <a:off x="946023" y="252174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算误差</a:t>
              </a:r>
            </a:p>
          </p:txBody>
        </p:sp>
        <p:sp>
          <p:nvSpPr>
            <p:cNvPr id="25" name="TextBox 25"/>
            <p:cNvSpPr txBox="1"/>
            <p:nvPr/>
          </p:nvSpPr>
          <p:spPr>
            <a:xfrm>
              <a:off x="947166" y="2776538"/>
              <a:ext cx="341829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 = 0 时 g ≡ 0，E₁ = 0 − 1 = −1，E₃ = 0 − (−1) = +1</a:t>
              </a:r>
            </a:p>
          </p:txBody>
        </p:sp>
        <p:sp>
          <p:nvSpPr>
            <p:cNvPr id="26" name="TextBox 26"/>
            <p:cNvSpPr txBox="1"/>
            <p:nvPr/>
          </p:nvSpPr>
          <p:spPr>
            <a:xfrm>
              <a:off x="946023" y="3075146"/>
              <a:ext cx="33905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算 κ</a:t>
              </a:r>
            </a:p>
          </p:txBody>
        </p:sp>
        <p:sp>
          <p:nvSpPr>
            <p:cNvPr id="27" name="TextBox 27"/>
            <p:cNvSpPr txBox="1"/>
            <p:nvPr/>
          </p:nvSpPr>
          <p:spPr>
            <a:xfrm>
              <a:off x="947166" y="3328988"/>
              <a:ext cx="2574588"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κ = K₁₁ + K₃₃ − 2K₁₃ = 18 + 2 − 12 = 8</a:t>
              </a:r>
            </a:p>
          </p:txBody>
        </p:sp>
        <p:sp>
          <p:nvSpPr>
            <p:cNvPr id="28" name="TextBox 28"/>
            <p:cNvSpPr txBox="1"/>
            <p:nvPr/>
          </p:nvSpPr>
          <p:spPr>
            <a:xfrm>
              <a:off x="946023" y="362759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无约束解</a:t>
              </a:r>
            </a:p>
          </p:txBody>
        </p:sp>
        <p:sp>
          <p:nvSpPr>
            <p:cNvPr id="29" name="TextBox 29"/>
            <p:cNvSpPr txBox="1"/>
            <p:nvPr/>
          </p:nvSpPr>
          <p:spPr>
            <a:xfrm>
              <a:off x="947166" y="3882390"/>
              <a:ext cx="1827028"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α₃ = 0 + (−1)(−1 − 1)/8 = ¼</a:t>
              </a:r>
            </a:p>
          </p:txBody>
        </p:sp>
        <p:sp>
          <p:nvSpPr>
            <p:cNvPr id="30" name="TextBox 30"/>
            <p:cNvSpPr txBox="1"/>
            <p:nvPr/>
          </p:nvSpPr>
          <p:spPr>
            <a:xfrm>
              <a:off x="946023" y="4180999"/>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裁剪</a:t>
              </a:r>
            </a:p>
          </p:txBody>
        </p:sp>
        <p:sp>
          <p:nvSpPr>
            <p:cNvPr id="31" name="TextBox 31"/>
            <p:cNvSpPr txBox="1"/>
            <p:nvPr/>
          </p:nvSpPr>
          <p:spPr>
            <a:xfrm>
              <a:off x="947166" y="4435792"/>
              <a:ext cx="27720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y₁ ≠ y₃，L = 0、H = 10，¼ 在区间内，不动</a:t>
              </a:r>
            </a:p>
          </p:txBody>
        </p:sp>
        <p:sp>
          <p:nvSpPr>
            <p:cNvPr id="32" name="TextBox 32"/>
            <p:cNvSpPr txBox="1"/>
            <p:nvPr/>
          </p:nvSpPr>
          <p:spPr>
            <a:xfrm>
              <a:off x="946023" y="4733449"/>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回代</a:t>
              </a:r>
            </a:p>
          </p:txBody>
        </p:sp>
        <p:sp>
          <p:nvSpPr>
            <p:cNvPr id="33" name="TextBox 33"/>
            <p:cNvSpPr txBox="1"/>
            <p:nvPr/>
          </p:nvSpPr>
          <p:spPr>
            <a:xfrm>
              <a:off x="947166" y="4988242"/>
              <a:ext cx="1827028" cy="205359"/>
            </a:xfrm>
            <a:prstGeom prst="rect">
              <a:avLst/>
            </a:prstGeom>
            <a:noFill/>
            <a:ln>
              <a:noFill/>
            </a:ln>
          </p:spPr>
          <p:txBody>
            <a:bodyPr wrap="none" lIns="0" tIns="0" rIns="0" bIns="0" anchor="t" anchorCtr="0">
              <a:spAutoFit/>
            </a:bodyPr>
            <a:lstStyle/>
            <a:p>
              <a:pPr algn="l"/>
              <a:r>
                <a:rPr lang="el-GR" sz="1050" dirty="0">
                  <a:solidFill>
                    <a:srgbClr val="1F2937"/>
                  </a:solidFill>
                  <a:latin typeface="+mn-lt"/>
                  <a:ea typeface="+mn-ea"/>
                  <a:cs typeface="+mn-cs"/>
                </a:rPr>
                <a:t>α₁ = 0 + (1)(−1)(0 − ¼) = ¼</a:t>
              </a:r>
            </a:p>
          </p:txBody>
        </p:sp>
      </p:grpSp>
      <mc:AlternateContent xmlns:mc="http://schemas.openxmlformats.org/markup-compatibility/2006">
        <mc:Choice xmlns:a14="http://schemas.microsoft.com/office/drawing/2010/main" Requires="a14">
          <p:sp>
            <p:nvSpPr>
              <p:cNvPr id="35" name="formula279"/>
              <p:cNvSpPr txBox="1">
                <a:spLocks noGrp="1"/>
              </p:cNvSpPr>
              <p:nvPr/>
            </p:nvSpPr>
            <p:spPr>
              <a:xfrm>
                <a:off x="533400" y="5354955"/>
                <a:ext cx="5626418" cy="3048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p>
                        <m:e>
                          <m:r>
                            <a:rPr lang="zh-CN" sz="1200" dirty="0">
                              <a:solidFill>
                                <a:srgbClr val="1F2937"/>
                              </a:solidFill>
                              <a:latin typeface="Cambria Math"/>
                              <a:ea typeface="Cambria Math"/>
                              <a:cs typeface="Cambria Math"/>
                            </a:rPr>
                            <m:t>b</m:t>
                          </m:r>
                        </m:e>
                        <m:sup>
                          <m:r>
                            <m:rPr>
                              <m:sty m:val="p"/>
                            </m:rPr>
                            <a:rPr lang="zh-CN" sz="1200" dirty="0">
                              <a:solidFill>
                                <a:srgbClr val="1F2937"/>
                              </a:solidFill>
                              <a:latin typeface="Cambria Math"/>
                              <a:ea typeface="Cambria Math"/>
                              <a:cs typeface="Cambria Math"/>
                            </a:rPr>
                            <m:t>new</m:t>
                          </m:r>
                        </m:sup>
                      </m:sSup>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E</m:t>
                          </m:r>
                        </m:e>
                        <m:sub>
                          <m:r>
                            <a:rPr lang="zh-CN" sz="1200" dirty="0">
                              <a:solidFill>
                                <a:srgbClr val="1F2937"/>
                              </a:solidFill>
                              <a:latin typeface="Cambria Math"/>
                              <a:ea typeface="Cambria Math"/>
                              <a:cs typeface="Cambria Math"/>
                            </a:rPr>
                            <m:t>1</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y</m:t>
                          </m:r>
                        </m:e>
                        <m:sub>
                          <m:r>
                            <a:rPr lang="zh-CN" sz="1200" dirty="0">
                              <a:solidFill>
                                <a:srgbClr val="1F2937"/>
                              </a:solidFill>
                              <a:latin typeface="Cambria Math"/>
                              <a:ea typeface="Cambria Math"/>
                              <a:cs typeface="Cambria Math"/>
                            </a:rPr>
                            <m:t>1</m:t>
                          </m:r>
                        </m:sub>
                      </m:sSub>
                      <m:sSub>
                        <m:e>
                          <m:r>
                            <a:rPr lang="zh-CN" sz="1200" dirty="0">
                              <a:solidFill>
                                <a:srgbClr val="1F2937"/>
                              </a:solidFill>
                              <a:latin typeface="Cambria Math"/>
                              <a:ea typeface="Cambria Math"/>
                              <a:cs typeface="Cambria Math"/>
                            </a:rPr>
                            <m:t>K</m:t>
                          </m:r>
                        </m:e>
                        <m:sub>
                          <m:r>
                            <a:rPr lang="zh-CN" sz="1200" dirty="0">
                              <a:solidFill>
                                <a:srgbClr val="1F2937"/>
                              </a:solidFill>
                              <a:latin typeface="Cambria Math"/>
                              <a:ea typeface="Cambria Math"/>
                              <a:cs typeface="Cambria Math"/>
                            </a:rPr>
                            <m:t>11</m:t>
                          </m:r>
                        </m:sub>
                      </m:sSub>
                      <m:d>
                        <m:dPr>
                          <m:begChr m:val="("/>
                          <m:sepChr m:val=""/>
                          <m:endChr m:val=")"/>
                          <m:grow m:val="on"/>
                          <m:ctrlPr>
                            <a:rPr lang="zh-CN" sz="1200" dirty="0">
                              <a:solidFill>
                                <a:srgbClr val="1F2937"/>
                              </a:solidFill>
                              <a:latin typeface="Cambria Math"/>
                              <a:ea typeface="Cambria Math"/>
                              <a:cs typeface="Cambria Math"/>
                            </a:rPr>
                          </m:ctrlPr>
                        </m:dPr>
                        <m:e>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1</m:t>
                              </m:r>
                            </m:sub>
                            <m:sup>
                              <m:r>
                                <m:rPr>
                                  <m:sty m:val="p"/>
                                </m:rPr>
                                <a:rPr lang="zh-CN" sz="1200" dirty="0">
                                  <a:solidFill>
                                    <a:srgbClr val="1F2937"/>
                                  </a:solidFill>
                                  <a:latin typeface="Cambria Math"/>
                                  <a:ea typeface="Cambria Math"/>
                                  <a:cs typeface="Cambria Math"/>
                                </a:rPr>
                                <m:t>new</m:t>
                              </m:r>
                            </m:sup>
                          </m:sSubSup>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1</m:t>
                              </m:r>
                            </m:sub>
                          </m:sSub>
                        </m:e>
                      </m:d>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y</m:t>
                          </m:r>
                        </m:e>
                        <m:sub>
                          <m:r>
                            <a:rPr lang="zh-CN" sz="1200" dirty="0">
                              <a:solidFill>
                                <a:srgbClr val="1F2937"/>
                              </a:solidFill>
                              <a:latin typeface="Cambria Math"/>
                              <a:ea typeface="Cambria Math"/>
                              <a:cs typeface="Cambria Math"/>
                            </a:rPr>
                            <m:t>3</m:t>
                          </m:r>
                        </m:sub>
                      </m:sSub>
                      <m:sSub>
                        <m:e>
                          <m:r>
                            <a:rPr lang="zh-CN" sz="1200" dirty="0">
                              <a:solidFill>
                                <a:srgbClr val="1F2937"/>
                              </a:solidFill>
                              <a:latin typeface="Cambria Math"/>
                              <a:ea typeface="Cambria Math"/>
                              <a:cs typeface="Cambria Math"/>
                            </a:rPr>
                            <m:t>K</m:t>
                          </m:r>
                        </m:e>
                        <m:sub>
                          <m:r>
                            <a:rPr lang="zh-CN" sz="1200" dirty="0">
                              <a:solidFill>
                                <a:srgbClr val="1F2937"/>
                              </a:solidFill>
                              <a:latin typeface="Cambria Math"/>
                              <a:ea typeface="Cambria Math"/>
                              <a:cs typeface="Cambria Math"/>
                            </a:rPr>
                            <m:t>13</m:t>
                          </m:r>
                        </m:sub>
                      </m:sSub>
                      <m:d>
                        <m:dPr>
                          <m:begChr m:val="("/>
                          <m:sepChr m:val=""/>
                          <m:endChr m:val=")"/>
                          <m:grow m:val="on"/>
                          <m:ctrlPr>
                            <a:rPr lang="zh-CN" sz="1200" dirty="0">
                              <a:solidFill>
                                <a:srgbClr val="1F2937"/>
                              </a:solidFill>
                              <a:latin typeface="Cambria Math"/>
                              <a:ea typeface="Cambria Math"/>
                              <a:cs typeface="Cambria Math"/>
                            </a:rPr>
                          </m:ctrlPr>
                        </m:dPr>
                        <m:e>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3</m:t>
                              </m:r>
                            </m:sub>
                            <m:sup>
                              <m:r>
                                <m:rPr>
                                  <m:sty m:val="p"/>
                                </m:rPr>
                                <a:rPr lang="zh-CN" sz="1200" dirty="0">
                                  <a:solidFill>
                                    <a:srgbClr val="1F2937"/>
                                  </a:solidFill>
                                  <a:latin typeface="Cambria Math"/>
                                  <a:ea typeface="Cambria Math"/>
                                  <a:cs typeface="Cambria Math"/>
                                </a:rPr>
                                <m:t>new</m:t>
                              </m:r>
                            </m:sup>
                          </m:sSubSup>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3</m:t>
                              </m:r>
                            </m:sub>
                          </m:sSub>
                        </m:e>
                      </m: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b</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4.5</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1.5</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2</m:t>
                      </m:r>
                    </m:oMath>
                  </m:oMathPara>
                </a14:m>
              </a:p>
            </p:txBody>
          </p:sp>
        </mc:Choice>
      </mc:AlternateContent>
      <p:grpSp>
        <p:nvGrpSpPr>
          <p:cNvPr id="42" name="c2-card-1"/>
          <p:cNvGrpSpPr/>
          <p:nvPr/>
        </p:nvGrpSpPr>
        <p:grpSpPr>
          <a:xfrm>
            <a:off x="6464618" y="1928812"/>
            <a:ext cx="5193982" cy="1403032"/>
            <a:chOff x="6464618" y="1928812"/>
            <a:chExt cx="5193982" cy="1403032"/>
          </a:xfrm>
        </p:grpSpPr>
        <p:sp>
          <p:nvSpPr>
            <p:cNvPr id="36" name="Rectangle 36"/>
            <p:cNvSpPr/>
            <p:nvPr/>
          </p:nvSpPr>
          <p:spPr>
            <a:xfrm>
              <a:off x="6464618" y="1928812"/>
              <a:ext cx="5193982" cy="1403032"/>
            </a:xfrm>
            <a:prstGeom prst="roundRect">
              <a:avLst>
                <a:gd name="adj" fmla="val 9504"/>
              </a:avLst>
            </a:prstGeom>
            <a:solidFill>
              <a:srgbClr val="FFFFFF"/>
            </a:solidFill>
            <a:ln w="14288">
              <a:solidFill>
                <a:srgbClr val="D9DFEA"/>
              </a:solidFill>
            </a:ln>
          </p:spPr>
        </p:sp>
        <p:sp>
          <p:nvSpPr>
            <p:cNvPr id="37" name="Rectangle 37"/>
            <p:cNvSpPr/>
            <p:nvPr/>
          </p:nvSpPr>
          <p:spPr>
            <a:xfrm>
              <a:off x="6474142" y="2062162"/>
              <a:ext cx="47625" cy="1136332"/>
            </a:xfrm>
            <a:prstGeom prst="roundRect">
              <a:avLst>
                <a:gd name="adj" fmla="val 50000"/>
              </a:avLst>
            </a:prstGeom>
            <a:solidFill>
              <a:srgbClr val="14A38B"/>
            </a:solidFill>
            <a:ln>
              <a:noFill/>
            </a:ln>
          </p:spPr>
        </p:sp>
        <p:sp>
          <p:nvSpPr>
            <p:cNvPr id="38" name="Rectangle 38"/>
            <p:cNvSpPr/>
            <p:nvPr/>
          </p:nvSpPr>
          <p:spPr>
            <a:xfrm>
              <a:off x="6683692" y="2109788"/>
              <a:ext cx="458152" cy="238125"/>
            </a:xfrm>
            <a:prstGeom prst="roundRect">
              <a:avLst>
                <a:gd name="adj" fmla="val 50000"/>
              </a:avLst>
            </a:prstGeom>
            <a:solidFill>
              <a:srgbClr val="E3F5F1"/>
            </a:solidFill>
            <a:ln>
              <a:noFill/>
            </a:ln>
          </p:spPr>
        </p:sp>
        <p:sp>
          <p:nvSpPr>
            <p:cNvPr id="39" name="TextBox 39"/>
            <p:cNvSpPr txBox="1"/>
            <p:nvPr/>
          </p:nvSpPr>
          <p:spPr>
            <a:xfrm>
              <a:off x="6776364" y="2142649"/>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结果</a:t>
              </a:r>
            </a:p>
          </p:txBody>
        </p:sp>
        <p:sp>
          <p:nvSpPr>
            <p:cNvPr id="40" name="TextBox 40"/>
            <p:cNvSpPr txBox="1"/>
            <p:nvPr/>
          </p:nvSpPr>
          <p:spPr>
            <a:xfrm>
              <a:off x="7250620" y="2149316"/>
              <a:ext cx="139146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一步就到了最优解</a:t>
              </a:r>
            </a:p>
          </p:txBody>
        </p:sp>
        <p:sp>
          <p:nvSpPr>
            <p:cNvPr id="41" name="TextBox 41"/>
            <p:cNvSpPr txBox="1"/>
            <p:nvPr/>
          </p:nvSpPr>
          <p:spPr>
            <a:xfrm>
              <a:off x="6677216" y="2465546"/>
              <a:ext cx="4458970"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α = (¼, 0, ¼)，b = −2，与第 24 页对偶解、第 15 页几何解完</a:t>
              </a:r>
              <a:br/>
              <a:r>
                <a:rPr lang="zh-CN" sz="1280" dirty="0">
                  <a:solidFill>
                    <a:srgbClr val="1F2937"/>
                  </a:solidFill>
                  <a:latin typeface="+mn-lt"/>
                  <a:ea typeface="+mn-ea"/>
                  <a:cs typeface="+mn-cs"/>
                </a:rPr>
                <a:t>全一致。再验 KKT：α₂ = 0 且 y₂g(x₂) = 1.5 &gt; 1；α₁、α₃ 在</a:t>
              </a:r>
              <a:br/>
              <a:r>
                <a:rPr lang="zh-CN" sz="1280" dirty="0">
                  <a:solidFill>
                    <a:srgbClr val="1F2937"/>
                  </a:solidFill>
                  <a:latin typeface="+mn-lt"/>
                  <a:ea typeface="+mn-ea"/>
                  <a:cs typeface="+mn-cs"/>
                </a:rPr>
                <a:t>(0, C) 内且函数间隔为 1。算法可以停了。</a:t>
              </a:r>
            </a:p>
          </p:txBody>
        </p:sp>
      </p:grpSp>
      <p:grpSp>
        <p:nvGrpSpPr>
          <p:cNvPr id="46" name="c2-code-2"/>
          <p:cNvGrpSpPr/>
          <p:nvPr/>
        </p:nvGrpSpPr>
        <p:grpSpPr>
          <a:xfrm>
            <a:off x="6464618" y="3496628"/>
            <a:ext cx="5193982" cy="1855470"/>
            <a:chOff x="6464618" y="3496628"/>
            <a:chExt cx="5193982" cy="1855470"/>
          </a:xfrm>
        </p:grpSpPr>
        <p:sp>
          <p:nvSpPr>
            <p:cNvPr id="43" name="Rectangle 43"/>
            <p:cNvSpPr/>
            <p:nvPr/>
          </p:nvSpPr>
          <p:spPr>
            <a:xfrm>
              <a:off x="6464618" y="3496628"/>
              <a:ext cx="5193982" cy="1855470"/>
            </a:xfrm>
            <a:prstGeom prst="roundRect">
              <a:avLst>
                <a:gd name="adj" fmla="val 5133"/>
              </a:avLst>
            </a:prstGeom>
            <a:solidFill>
              <a:srgbClr val="F6F8FA"/>
            </a:solidFill>
            <a:ln w="11430">
              <a:solidFill>
                <a:srgbClr val="D9DFEA"/>
              </a:solidFill>
            </a:ln>
          </p:spPr>
        </p:sp>
        <p:sp>
          <p:nvSpPr>
            <p:cNvPr id="44" name="TextBox 44"/>
            <p:cNvSpPr txBox="1"/>
            <p:nvPr/>
          </p:nvSpPr>
          <p:spPr>
            <a:xfrm>
              <a:off x="6593015" y="3648551"/>
              <a:ext cx="933399"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一步更新的代码</a:t>
              </a:r>
            </a:p>
          </p:txBody>
        </p:sp>
        <p:sp>
          <p:nvSpPr>
            <p:cNvPr id="45" name="TextBox 45"/>
            <p:cNvSpPr txBox="1"/>
            <p:nvPr/>
          </p:nvSpPr>
          <p:spPr>
            <a:xfrm>
              <a:off x="6593205" y="3907631"/>
              <a:ext cx="2878582" cy="1358265"/>
            </a:xfrm>
            <a:prstGeom prst="rect">
              <a:avLst/>
            </a:prstGeom>
            <a:noFill/>
            <a:ln>
              <a:noFill/>
            </a:ln>
          </p:spPr>
          <p:txBody>
            <a:bodyPr wrap="none" lIns="0" tIns="0" rIns="0" bIns="0" anchor="t" anchorCtr="0">
              <a:spAutoFit/>
            </a:bodyPr>
            <a:lstStyle/>
            <a:p>
              <a:pPr algn="l">
                <a:lnSpc>
                  <a:spcPts val="1178"/>
                </a:lnSpc>
              </a:pPr>
              <a:r>
                <a:rPr lang="en-US" sz="820" dirty="0">
                  <a:solidFill>
                    <a:srgbClr val="1F2937"/>
                  </a:solidFill>
                  <a:latin typeface="Consolas"/>
                  <a:ea typeface="Consolas"/>
                  <a:cs typeface="Consolas"/>
                </a:rPr>
                <a:t>K = X @ X.T; a = np.zeros(3); b = 0.0; C = 10.0</a:t>
              </a:r>
              <a:br/>
              <a:r>
                <a:rPr lang="en-US" sz="820" dirty="0">
                  <a:solidFill>
                    <a:srgbClr val="1F2937"/>
                  </a:solidFill>
                  <a:latin typeface="Consolas"/>
                  <a:ea typeface="Consolas"/>
                  <a:cs typeface="Consolas"/>
                </a:rPr>
                <a:t>i, j = 0, 2</a:t>
              </a:r>
              <a:br/>
              <a:r>
                <a:rPr lang="en-US" sz="820" dirty="0">
                  <a:solidFill>
                    <a:srgbClr val="1F2937"/>
                  </a:solidFill>
                  <a:latin typeface="Consolas"/>
                  <a:ea typeface="Consolas"/>
                  <a:cs typeface="Consolas"/>
                </a:rPr>
                <a:t xml:space="preserve">Ei = (a*y) @ K[i] + b - y[i]      </a:t>
              </a:r>
              <a:r>
                <a:rPr lang="zh-CN" sz="820" dirty="0">
                  <a:solidFill>
                    <a:srgbClr val="0F7A68"/>
                  </a:solidFill>
                  <a:latin typeface="Consolas"/>
                  <a:ea typeface="Consolas"/>
                  <a:cs typeface="Consolas"/>
                </a:rPr>
                <a:t># = -1.0</a:t>
              </a:r>
              <a:br/>
              <a:r>
                <a:rPr lang="en-US" sz="820" dirty="0">
                  <a:solidFill>
                    <a:srgbClr val="1F2937"/>
                  </a:solidFill>
                  <a:latin typeface="Consolas"/>
                  <a:ea typeface="Consolas"/>
                  <a:cs typeface="Consolas"/>
                </a:rPr>
                <a:t xml:space="preserve">Ej = (a*y) @ K[j] + b - y[j]      </a:t>
              </a:r>
              <a:r>
                <a:rPr lang="zh-CN" sz="820" dirty="0">
                  <a:solidFill>
                    <a:srgbClr val="0F7A68"/>
                  </a:solidFill>
                  <a:latin typeface="Consolas"/>
                  <a:ea typeface="Consolas"/>
                  <a:cs typeface="Consolas"/>
                </a:rPr>
                <a:t># = +1.0</a:t>
              </a:r>
              <a:br/>
              <a:r>
                <a:rPr lang="en-US" sz="820" dirty="0">
                  <a:solidFill>
                    <a:srgbClr val="1F2937"/>
                  </a:solidFill>
                  <a:latin typeface="Consolas"/>
                  <a:ea typeface="Consolas"/>
                  <a:cs typeface="Consolas"/>
                </a:rPr>
                <a:t xml:space="preserve">kap = K[i,i] + K[j,j] - 2*K[i,j]  </a:t>
              </a:r>
              <a:r>
                <a:rPr lang="zh-CN" sz="820" dirty="0">
                  <a:solidFill>
                    <a:srgbClr val="0F7A68"/>
                  </a:solidFill>
                  <a:latin typeface="Consolas"/>
                  <a:ea typeface="Consolas"/>
                  <a:cs typeface="Consolas"/>
                </a:rPr>
                <a:t># = 8.0</a:t>
              </a:r>
              <a:br/>
              <a:r>
                <a:rPr lang="en-US" sz="820" dirty="0">
                  <a:solidFill>
                    <a:srgbClr val="1F2937"/>
                  </a:solidFill>
                  <a:latin typeface="Consolas"/>
                  <a:ea typeface="Consolas"/>
                  <a:cs typeface="Consolas"/>
                </a:rPr>
                <a:t xml:space="preserve">aj = a[j] + y[j]*(Ei - Ej)/kap    </a:t>
              </a:r>
              <a:r>
                <a:rPr lang="zh-CN" sz="820" dirty="0">
                  <a:solidFill>
                    <a:srgbClr val="0F7A68"/>
                  </a:solidFill>
                  <a:latin typeface="Consolas"/>
                  <a:ea typeface="Consolas"/>
                  <a:cs typeface="Consolas"/>
                </a:rPr>
                <a:t># = 0.25</a:t>
              </a:r>
              <a:br/>
              <a:r>
                <a:rPr lang="en-US" sz="820" dirty="0">
                  <a:solidFill>
                    <a:srgbClr val="1F2937"/>
                  </a:solidFill>
                  <a:latin typeface="Consolas"/>
                  <a:ea typeface="Consolas"/>
                  <a:cs typeface="Consolas"/>
                </a:rPr>
                <a:t>L, H = max(0, a[j]-a[i]), min(C, C+a[j]-a[i])</a:t>
              </a:r>
              <a:br/>
              <a:r>
                <a:rPr lang="en-US" sz="820" dirty="0">
                  <a:solidFill>
                    <a:srgbClr val="1F2937"/>
                  </a:solidFill>
                  <a:latin typeface="Consolas"/>
                  <a:ea typeface="Consolas"/>
                  <a:cs typeface="Consolas"/>
                </a:rPr>
                <a:t xml:space="preserve">aj = min(max(aj, L), H)           </a:t>
              </a:r>
              <a:r>
                <a:rPr lang="zh-CN" sz="820" dirty="0">
                  <a:solidFill>
                    <a:srgbClr val="0F7A68"/>
                  </a:solidFill>
                  <a:latin typeface="Consolas"/>
                  <a:ea typeface="Microsoft YaHei"/>
                  <a:cs typeface="Consolas"/>
                </a:rPr>
                <a:t># 裁剪后仍是 0.25</a:t>
              </a:r>
              <a:br/>
              <a:r>
                <a:rPr lang="en-US" sz="820" dirty="0">
                  <a:solidFill>
                    <a:srgbClr val="1F2937"/>
                  </a:solidFill>
                  <a:latin typeface="Consolas"/>
                  <a:ea typeface="Consolas"/>
                  <a:cs typeface="Consolas"/>
                </a:rPr>
                <a:t xml:space="preserve">ai = a[i] + y[i]*y[j]*(a[j] - aj) </a:t>
              </a:r>
              <a:r>
                <a:rPr lang="zh-CN" sz="820" dirty="0">
                  <a:solidFill>
                    <a:srgbClr val="0F7A68"/>
                  </a:solidFill>
                  <a:latin typeface="Consolas"/>
                  <a:ea typeface="Consolas"/>
                  <a:cs typeface="Consolas"/>
                </a:rPr>
                <a:t># = 0.25</a:t>
              </a:r>
            </a:p>
          </p:txBody>
        </p:sp>
      </p:grpSp>
      <p:grpSp>
        <p:nvGrpSpPr>
          <p:cNvPr id="53" name="takeaway"/>
          <p:cNvGrpSpPr/>
          <p:nvPr/>
        </p:nvGrpSpPr>
        <p:grpSpPr>
          <a:xfrm>
            <a:off x="533400" y="5895022"/>
            <a:ext cx="11125200" cy="467678"/>
            <a:chOff x="533400" y="5895022"/>
            <a:chExt cx="11125200" cy="467678"/>
          </a:xfrm>
        </p:grpSpPr>
        <p:sp>
          <p:nvSpPr>
            <p:cNvPr id="47" name="Rectangle 47"/>
            <p:cNvSpPr/>
            <p:nvPr/>
          </p:nvSpPr>
          <p:spPr>
            <a:xfrm>
              <a:off x="533400" y="5895022"/>
              <a:ext cx="11125200" cy="467678"/>
            </a:xfrm>
            <a:prstGeom prst="roundRect">
              <a:avLst>
                <a:gd name="adj" fmla="val 24440"/>
              </a:avLst>
            </a:prstGeom>
            <a:solidFill>
              <a:srgbClr val="FDEEE7"/>
            </a:solidFill>
            <a:ln>
              <a:noFill/>
            </a:ln>
          </p:spPr>
        </p:sp>
        <p:grpSp>
          <p:nvGrpSpPr>
            <p:cNvPr id="51" name="Group 51"/>
            <p:cNvGrpSpPr/>
            <p:nvPr/>
          </p:nvGrpSpPr>
          <p:grpSpPr>
            <a:xfrm>
              <a:off x="738188" y="6028373"/>
              <a:ext cx="200026" cy="200025"/>
              <a:chOff x="738188" y="6028373"/>
              <a:chExt cx="200026" cy="200025"/>
            </a:xfrm>
          </p:grpSpPr>
          <p:sp>
            <p:nvSpPr>
              <p:cNvPr id="48" name="Freeform 48"/>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9" name="Freeform 49"/>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0" name="Freeform 50"/>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2" name="TextBox 52"/>
            <p:cNvSpPr txBox="1"/>
            <p:nvPr/>
          </p:nvSpPr>
          <p:spPr>
            <a:xfrm>
              <a:off x="1041273" y="6039326"/>
              <a:ext cx="6763746"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E 的更新是 SMO 的主要开销：实现里会缓存所有样本的 Eₖ，每步只更新受影响的那些。</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0E7C86"/>
          </a:solidFill>
          <a:ln>
            <a:noFill/>
          </a:ln>
        </p:spPr>
      </p:sp>
      <p:sp>
        <p:nvSpPr>
          <p:cNvPr id="3" name="section-ring"/>
          <p:cNvSpPr/>
          <p:nvPr/>
        </p:nvSpPr>
        <p:spPr>
          <a:xfrm>
            <a:off x="7334250" y="190500"/>
            <a:ext cx="6477000" cy="6477000"/>
          </a:xfrm>
          <a:prstGeom prst="ellipse">
            <a:avLst/>
          </a:prstGeom>
          <a:noFill/>
          <a:ln w="133350">
            <a:solidFill>
              <a:srgbClr val="E2F3F4"/>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07</a:t>
              </a:r>
            </a:p>
          </p:txBody>
        </p:sp>
      </p:grpSp>
      <p:grpSp>
        <p:nvGrpSpPr>
          <p:cNvPr id="18" name="section-title"/>
          <p:cNvGrpSpPr/>
          <p:nvPr/>
        </p:nvGrpSpPr>
        <p:grpSpPr>
          <a:xfrm>
            <a:off x="667512" y="1835468"/>
            <a:ext cx="5367528" cy="3351847"/>
            <a:chOff x="667512" y="1835468"/>
            <a:chExt cx="5367528"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第七部分</a:t>
              </a:r>
            </a:p>
          </p:txBody>
        </p:sp>
        <p:sp>
          <p:nvSpPr>
            <p:cNvPr id="7" name="TextBox 7"/>
            <p:cNvSpPr txBox="1"/>
            <p:nvPr/>
          </p:nvSpPr>
          <p:spPr>
            <a:xfrm>
              <a:off x="667512" y="2240280"/>
              <a:ext cx="536752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支持向量回归与多类扩展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792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同一套间隔思想，换个目标就能做回归</a:t>
              </a:r>
            </a:p>
          </p:txBody>
        </p:sp>
        <p:sp>
          <p:nvSpPr>
            <p:cNvPr id="10" name="Ellipse 10"/>
            <p:cNvSpPr/>
            <p:nvPr/>
          </p:nvSpPr>
          <p:spPr>
            <a:xfrm>
              <a:off x="723900" y="3888105"/>
              <a:ext cx="76200" cy="76200"/>
            </a:xfrm>
            <a:prstGeom prst="ellipse">
              <a:avLst/>
            </a:prstGeom>
            <a:solidFill>
              <a:srgbClr val="0E7C86"/>
            </a:solidFill>
            <a:ln>
              <a:noFill/>
            </a:ln>
          </p:spPr>
        </p:sp>
        <p:sp>
          <p:nvSpPr>
            <p:cNvPr id="11" name="TextBox 11"/>
            <p:cNvSpPr txBox="1"/>
            <p:nvPr/>
          </p:nvSpPr>
          <p:spPr>
            <a:xfrm>
              <a:off x="906780" y="3830955"/>
              <a:ext cx="326631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ε-不敏感损失：带内不罚，带外才罚</a:t>
              </a:r>
            </a:p>
          </p:txBody>
        </p:sp>
        <p:sp>
          <p:nvSpPr>
            <p:cNvPr id="12" name="Ellipse 12"/>
            <p:cNvSpPr/>
            <p:nvPr/>
          </p:nvSpPr>
          <p:spPr>
            <a:xfrm>
              <a:off x="723900" y="4242435"/>
              <a:ext cx="76200" cy="76200"/>
            </a:xfrm>
            <a:prstGeom prst="ellipse">
              <a:avLst/>
            </a:prstGeom>
            <a:solidFill>
              <a:srgbClr val="0E7C86"/>
            </a:solidFill>
            <a:ln>
              <a:noFill/>
            </a:ln>
          </p:spPr>
        </p:sp>
        <p:sp>
          <p:nvSpPr>
            <p:cNvPr id="13" name="TextBox 13"/>
            <p:cNvSpPr txBox="1"/>
            <p:nvPr/>
          </p:nvSpPr>
          <p:spPr>
            <a:xfrm>
              <a:off x="906780" y="4185285"/>
              <a:ext cx="245059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SVR 的原问题、对偶与核化</a:t>
              </a:r>
            </a:p>
          </p:txBody>
        </p:sp>
        <p:sp>
          <p:nvSpPr>
            <p:cNvPr id="14" name="Ellipse 14"/>
            <p:cNvSpPr/>
            <p:nvPr/>
          </p:nvSpPr>
          <p:spPr>
            <a:xfrm>
              <a:off x="723900" y="4596765"/>
              <a:ext cx="76200" cy="76200"/>
            </a:xfrm>
            <a:prstGeom prst="ellipse">
              <a:avLst/>
            </a:prstGeom>
            <a:solidFill>
              <a:srgbClr val="0E7C86"/>
            </a:solidFill>
            <a:ln>
              <a:noFill/>
            </a:ln>
          </p:spPr>
        </p:sp>
        <p:sp>
          <p:nvSpPr>
            <p:cNvPr id="15" name="TextBox 15"/>
            <p:cNvSpPr txBox="1"/>
            <p:nvPr/>
          </p:nvSpPr>
          <p:spPr>
            <a:xfrm>
              <a:off x="906780" y="453961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稀疏性定理与分布定理</a:t>
              </a:r>
            </a:p>
          </p:txBody>
        </p:sp>
        <p:sp>
          <p:nvSpPr>
            <p:cNvPr id="16" name="Ellipse 16"/>
            <p:cNvSpPr/>
            <p:nvPr/>
          </p:nvSpPr>
          <p:spPr>
            <a:xfrm>
              <a:off x="723900" y="4951095"/>
              <a:ext cx="76200" cy="76200"/>
            </a:xfrm>
            <a:prstGeom prst="ellipse">
              <a:avLst/>
            </a:prstGeom>
            <a:solidFill>
              <a:srgbClr val="0E7C86"/>
            </a:solidFill>
            <a:ln>
              <a:noFill/>
            </a:ln>
          </p:spPr>
        </p:sp>
        <p:sp>
          <p:nvSpPr>
            <p:cNvPr id="17" name="TextBox 17"/>
            <p:cNvSpPr txBox="1"/>
            <p:nvPr/>
          </p:nvSpPr>
          <p:spPr>
            <a:xfrm>
              <a:off x="906780" y="4893945"/>
              <a:ext cx="306438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多类：one-vs-all 与 one-vs-one</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963341" cy="909257"/>
            <a:chOff x="520446" y="342900"/>
            <a:chExt cx="3963341"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396334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回归问题与 ε-不敏感损失</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410200" cy="1917382"/>
            <a:chOff x="533400" y="1524000"/>
            <a:chExt cx="5410200" cy="1917382"/>
          </a:xfrm>
        </p:grpSpPr>
        <p:sp>
          <p:nvSpPr>
            <p:cNvPr id="7" name="Rectangle 7"/>
            <p:cNvSpPr/>
            <p:nvPr/>
          </p:nvSpPr>
          <p:spPr>
            <a:xfrm>
              <a:off x="533400" y="1524000"/>
              <a:ext cx="5410200" cy="1917382"/>
            </a:xfrm>
            <a:prstGeom prst="roundRect">
              <a:avLst>
                <a:gd name="adj" fmla="val 6955"/>
              </a:avLst>
            </a:prstGeom>
            <a:solidFill>
              <a:srgbClr val="FFFFFF"/>
            </a:solidFill>
            <a:ln w="14288">
              <a:solidFill>
                <a:srgbClr val="D9DFEA"/>
              </a:solidFill>
            </a:ln>
          </p:spPr>
        </p:sp>
        <p:sp>
          <p:nvSpPr>
            <p:cNvPr id="8" name="Rectangle 8"/>
            <p:cNvSpPr/>
            <p:nvPr/>
          </p:nvSpPr>
          <p:spPr>
            <a:xfrm>
              <a:off x="542925" y="1657350"/>
              <a:ext cx="47625" cy="1650682"/>
            </a:xfrm>
            <a:prstGeom prst="roundRect">
              <a:avLst>
                <a:gd name="adj" fmla="val 50000"/>
              </a:avLst>
            </a:prstGeom>
            <a:solidFill>
              <a:srgbClr val="0E7C86"/>
            </a:solidFill>
            <a:ln>
              <a:noFill/>
            </a:ln>
          </p:spPr>
        </p:sp>
        <p:sp>
          <p:nvSpPr>
            <p:cNvPr id="9" name="Rectangle 9"/>
            <p:cNvSpPr/>
            <p:nvPr/>
          </p:nvSpPr>
          <p:spPr>
            <a:xfrm>
              <a:off x="781050" y="1733550"/>
              <a:ext cx="494348" cy="257175"/>
            </a:xfrm>
            <a:prstGeom prst="roundRect">
              <a:avLst>
                <a:gd name="adj" fmla="val 50000"/>
              </a:avLst>
            </a:prstGeom>
            <a:solidFill>
              <a:srgbClr val="E2F3F4"/>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问题</a:t>
              </a:r>
            </a:p>
          </p:txBody>
        </p:sp>
        <p:sp>
          <p:nvSpPr>
            <p:cNvPr id="11" name="TextBox 11"/>
            <p:cNvSpPr txBox="1"/>
            <p:nvPr/>
          </p:nvSpPr>
          <p:spPr>
            <a:xfrm>
              <a:off x="1382078" y="1768792"/>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回归问题描述</a:t>
              </a:r>
            </a:p>
          </p:txBody>
        </p:sp>
        <p:sp>
          <p:nvSpPr>
            <p:cNvPr id="12" name="TextBox 12"/>
            <p:cNvSpPr txBox="1"/>
            <p:nvPr/>
          </p:nvSpPr>
          <p:spPr>
            <a:xfrm>
              <a:off x="773430" y="2129790"/>
              <a:ext cx="457581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给定训练集 T = {(x₁, y₁), ⋯, (xₗ, yₗ)}，其中 xᵢ ∈</a:t>
              </a:r>
              <a:br/>
              <a:r>
                <a:rPr lang="zh-CN" sz="1500" dirty="0">
                  <a:solidFill>
                    <a:srgbClr val="1F2937"/>
                  </a:solidFill>
                  <a:latin typeface="+mn-lt"/>
                  <a:ea typeface="+mn-ea"/>
                  <a:cs typeface="+mn-cs"/>
                </a:rPr>
                <a:t>Rⁿ、</a:t>
              </a:r>
              <a:r>
                <a:rPr lang="en-US" sz="1500" b="1" dirty="0">
                  <a:solidFill>
                    <a:srgbClr val="C2410C"/>
                  </a:solidFill>
                  <a:latin typeface="+mn-lt"/>
                  <a:ea typeface="+mn-ea"/>
                  <a:cs typeface="+mn-cs"/>
                </a:rPr>
                <a:t>yᵢ ∈ R</a:t>
              </a:r>
              <a:r>
                <a:rPr lang="zh-CN" sz="1500" dirty="0">
                  <a:solidFill>
                    <a:srgbClr val="1F2937"/>
                  </a:solidFill>
                  <a:latin typeface="+mn-lt"/>
                  <a:ea typeface="+mn-ea"/>
                  <a:cs typeface="+mn-cs"/>
                </a:rPr>
                <a:t>，确定 Rⁿ 上的一个实值函数 f(x)，用 y =</a:t>
              </a:r>
              <a:br/>
              <a:r>
                <a:rPr lang="zh-CN" sz="1500" dirty="0">
                  <a:solidFill>
                    <a:srgbClr val="1F2937"/>
                  </a:solidFill>
                  <a:latin typeface="+mn-lt"/>
                  <a:ea typeface="+mn-ea"/>
                  <a:cs typeface="+mn-cs"/>
                </a:rPr>
                <a:t>f(x) 推断任意模式 x 对应的 y 值。</a:t>
              </a:r>
            </a:p>
          </p:txBody>
        </p:sp>
        <p:sp>
          <p:nvSpPr>
            <p:cNvPr id="13" name="TextBox 13"/>
            <p:cNvSpPr txBox="1"/>
            <p:nvPr/>
          </p:nvSpPr>
          <p:spPr>
            <a:xfrm>
              <a:off x="774573" y="3033236"/>
              <a:ext cx="3907241"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与分类的唯一区别：y 从 {−1, +1} 换成了连续值。</a:t>
              </a:r>
            </a:p>
          </p:txBody>
        </p:sp>
      </p:grpSp>
      <p:grpSp>
        <p:nvGrpSpPr>
          <p:cNvPr id="23" name="c1-card-2"/>
          <p:cNvGrpSpPr/>
          <p:nvPr/>
        </p:nvGrpSpPr>
        <p:grpSpPr>
          <a:xfrm>
            <a:off x="533400" y="3631882"/>
            <a:ext cx="5410200" cy="2420302"/>
            <a:chOff x="533400" y="3631882"/>
            <a:chExt cx="5410200" cy="2420302"/>
          </a:xfrm>
        </p:grpSpPr>
        <p:sp>
          <p:nvSpPr>
            <p:cNvPr id="15" name="Rectangle 15"/>
            <p:cNvSpPr/>
            <p:nvPr/>
          </p:nvSpPr>
          <p:spPr>
            <a:xfrm>
              <a:off x="533400" y="3631882"/>
              <a:ext cx="5410200" cy="2420302"/>
            </a:xfrm>
            <a:prstGeom prst="roundRect">
              <a:avLst>
                <a:gd name="adj" fmla="val 5510"/>
              </a:avLst>
            </a:prstGeom>
            <a:solidFill>
              <a:srgbClr val="FFFFFF"/>
            </a:solidFill>
            <a:ln w="14288">
              <a:solidFill>
                <a:srgbClr val="D9DFEA"/>
              </a:solidFill>
            </a:ln>
          </p:spPr>
        </p:sp>
        <p:sp>
          <p:nvSpPr>
            <p:cNvPr id="16" name="Rectangle 16"/>
            <p:cNvSpPr/>
            <p:nvPr/>
          </p:nvSpPr>
          <p:spPr>
            <a:xfrm>
              <a:off x="542925" y="3765232"/>
              <a:ext cx="47625" cy="2153602"/>
            </a:xfrm>
            <a:prstGeom prst="roundRect">
              <a:avLst>
                <a:gd name="adj" fmla="val 50000"/>
              </a:avLst>
            </a:prstGeom>
            <a:solidFill>
              <a:srgbClr val="0E7C86"/>
            </a:solidFill>
            <a:ln>
              <a:noFill/>
            </a:ln>
          </p:spPr>
        </p:sp>
        <p:sp>
          <p:nvSpPr>
            <p:cNvPr id="17" name="Rectangle 17"/>
            <p:cNvSpPr/>
            <p:nvPr/>
          </p:nvSpPr>
          <p:spPr>
            <a:xfrm>
              <a:off x="781050" y="3841432"/>
              <a:ext cx="494348" cy="257175"/>
            </a:xfrm>
            <a:prstGeom prst="roundRect">
              <a:avLst>
                <a:gd name="adj" fmla="val 50000"/>
              </a:avLst>
            </a:prstGeom>
            <a:solidFill>
              <a:srgbClr val="E2F3F4"/>
            </a:solidFill>
            <a:ln>
              <a:noFill/>
            </a:ln>
          </p:spPr>
        </p:sp>
        <p:sp>
          <p:nvSpPr>
            <p:cNvPr id="18" name="TextBox 18"/>
            <p:cNvSpPr txBox="1"/>
            <p:nvPr/>
          </p:nvSpPr>
          <p:spPr>
            <a:xfrm>
              <a:off x="871258" y="3877151"/>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损失</a:t>
              </a:r>
            </a:p>
          </p:txBody>
        </p:sp>
        <p:sp>
          <p:nvSpPr>
            <p:cNvPr id="19" name="TextBox 19"/>
            <p:cNvSpPr txBox="1"/>
            <p:nvPr/>
          </p:nvSpPr>
          <p:spPr>
            <a:xfrm>
              <a:off x="1382078" y="3876675"/>
              <a:ext cx="1661979"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ε-不敏感损失函数</a:t>
              </a:r>
            </a:p>
          </p:txBody>
        </p:sp>
        <mc:AlternateContent xmlns:mc="http://schemas.openxmlformats.org/markup-compatibility/2006">
          <mc:Choice xmlns:a14="http://schemas.microsoft.com/office/drawing/2010/main" Requires="a14">
            <p:sp>
              <p:nvSpPr>
                <p:cNvPr id="20" name="formula281"/>
                <p:cNvSpPr txBox="1">
                  <a:spLocks noGrp="1"/>
                </p:cNvSpPr>
                <p:nvPr/>
              </p:nvSpPr>
              <p:spPr>
                <a:xfrm>
                  <a:off x="781050" y="4212908"/>
                  <a:ext cx="4953000" cy="3810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500" dirty="0">
                            <a:solidFill>
                              <a:srgbClr val="1F2937"/>
                            </a:solidFill>
                            <a:latin typeface="Cambria Math"/>
                            <a:ea typeface="Cambria Math"/>
                            <a:cs typeface="Cambria Math"/>
                          </a:rPr>
                          <m:t>L</m:t>
                        </m:r>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y</m:t>
                            </m:r>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f</m:t>
                            </m:r>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x</m:t>
                                </m:r>
                              </m:e>
                            </m:d>
                          </m:e>
                        </m:d>
                        <m:r>
                          <m:rPr>
                            <m:sty m:val="p"/>
                          </m:rPr>
                          <a:rPr lang="zh-CN" sz="1500" dirty="0">
                            <a:solidFill>
                              <a:srgbClr val="1F2937"/>
                            </a:solidFill>
                            <a:latin typeface="Cambria Math"/>
                            <a:ea typeface="Cambria Math"/>
                            <a:cs typeface="Cambria Math"/>
                          </a:rPr>
                          <m:t>=</m:t>
                        </m:r>
                        <m:sSub>
                          <m:e>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y</m:t>
                                </m:r>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f</m:t>
                                </m:r>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x</m:t>
                                    </m:r>
                                  </m:e>
                                </m:d>
                              </m:e>
                            </m:d>
                          </m:e>
                          <m:sub>
                            <m:r>
                              <a:rPr lang="zh-CN" sz="1500" dirty="0">
                                <a:solidFill>
                                  <a:srgbClr val="1F2937"/>
                                </a:solidFill>
                                <a:latin typeface="Cambria Math"/>
                                <a:ea typeface="Cambria Math"/>
                                <a:cs typeface="Cambria Math"/>
                              </a:rPr>
                              <m:t>ε</m:t>
                            </m:r>
                          </m:sub>
                        </m:sSub>
                        <m:r>
                          <m:rPr>
                            <m:sty m:val="p"/>
                          </m:rPr>
                          <a:rPr lang="zh-CN" sz="1500" dirty="0">
                            <a:solidFill>
                              <a:srgbClr val="1F2937"/>
                            </a:solidFill>
                            <a:latin typeface="Cambria Math"/>
                            <a:ea typeface="Cambria Math"/>
                            <a:cs typeface="Cambria Math"/>
                          </a:rPr>
                          <m:t>=</m:t>
                        </m:r>
                        <m:func>
                          <m:funcPr/>
                          <m:fName>
                            <m:r>
                              <m:rPr>
                                <m:sty m:val="p"/>
                              </m:rPr>
                              <a:rPr lang="zh-CN" sz="1500" dirty="0">
                                <a:solidFill>
                                  <a:srgbClr val="1F2937"/>
                                </a:solidFill>
                                <a:latin typeface="Cambria Math"/>
                                <a:ea typeface="Cambria Math"/>
                                <a:cs typeface="Cambria Math"/>
                              </a:rPr>
                              <m:t>max</m:t>
                            </m:r>
                          </m:fName>
                          <m:e>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0</m:t>
                                </m:r>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 xml:space="preserve"> </m:t>
                                </m:r>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y</m:t>
                                    </m:r>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f</m:t>
                                    </m:r>
                                    <m:d>
                                      <m:dPr>
                                        <m:begChr m:val="("/>
                                        <m:sepChr m:val=""/>
                                        <m:endChr m:val=")"/>
                                        <m:grow m:val="on"/>
                                        <m:ctrlPr>
                                          <a:rPr lang="zh-CN" sz="1500" dirty="0">
                                            <a:solidFill>
                                              <a:srgbClr val="1F2937"/>
                                            </a:solidFill>
                                            <a:latin typeface="Cambria Math"/>
                                            <a:ea typeface="Cambria Math"/>
                                            <a:cs typeface="Cambria Math"/>
                                          </a:rPr>
                                        </m:ctrlPr>
                                      </m:dPr>
                                      <m:e>
                                        <m:r>
                                          <a:rPr lang="zh-CN" sz="1500" dirty="0">
                                            <a:solidFill>
                                              <a:srgbClr val="1F2937"/>
                                            </a:solidFill>
                                            <a:latin typeface="Cambria Math"/>
                                            <a:ea typeface="Cambria Math"/>
                                            <a:cs typeface="Cambria Math"/>
                                          </a:rPr>
                                          <m:t>x</m:t>
                                        </m:r>
                                      </m:e>
                                    </m:d>
                                  </m:e>
                                </m:d>
                                <m:r>
                                  <m:rPr>
                                    <m:sty m:val="p"/>
                                  </m:rPr>
                                  <a:rPr lang="zh-CN" sz="1500" dirty="0">
                                    <a:solidFill>
                                      <a:srgbClr val="1F2937"/>
                                    </a:solidFill>
                                    <a:latin typeface="Cambria Math"/>
                                    <a:ea typeface="Cambria Math"/>
                                    <a:cs typeface="Cambria Math"/>
                                  </a:rPr>
                                  <m:t>−</m:t>
                                </m:r>
                                <m:r>
                                  <a:rPr lang="zh-CN" sz="1500" dirty="0">
                                    <a:solidFill>
                                      <a:srgbClr val="1F2937"/>
                                    </a:solidFill>
                                    <a:latin typeface="Cambria Math"/>
                                    <a:ea typeface="Cambria Math"/>
                                    <a:cs typeface="Cambria Math"/>
                                  </a:rPr>
                                  <m:t>ε</m:t>
                                </m:r>
                              </m:e>
                            </m:d>
                          </m:e>
                        </m:func>
                      </m:oMath>
                    </m:oMathPara>
                  </a14:m>
                </a:p>
              </p:txBody>
            </p:sp>
          </mc:Choice>
        </mc:AlternateContent>
        <p:sp>
          <p:nvSpPr>
            <p:cNvPr id="21" name="TextBox 21"/>
            <p:cNvSpPr txBox="1"/>
            <p:nvPr/>
          </p:nvSpPr>
          <p:spPr>
            <a:xfrm>
              <a:off x="773430" y="4713922"/>
              <a:ext cx="4587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残差绝对值不超过 ε 时损失记 0，超过的部分才线性计</a:t>
              </a:r>
              <a:br/>
              <a:r>
                <a:rPr lang="zh-CN" sz="1500" dirty="0">
                  <a:solidFill>
                    <a:srgbClr val="1F2937"/>
                  </a:solidFill>
                  <a:latin typeface="+mn-lt"/>
                  <a:ea typeface="+mn-ea"/>
                  <a:cs typeface="+mn-cs"/>
                </a:rPr>
                <a:t>入。</a:t>
              </a:r>
            </a:p>
          </p:txBody>
        </p:sp>
        <p:sp>
          <p:nvSpPr>
            <p:cNvPr id="22" name="TextBox 22"/>
            <p:cNvSpPr txBox="1"/>
            <p:nvPr/>
          </p:nvSpPr>
          <p:spPr>
            <a:xfrm>
              <a:off x="774573" y="5331619"/>
              <a:ext cx="472719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对比：最小二乘对任何残差都罚，且罚得是平方，一个离群点就能</a:t>
              </a:r>
              <a:br/>
              <a:r>
                <a:rPr lang="zh-CN" sz="1280" dirty="0">
                  <a:solidFill>
                    <a:srgbClr val="5B6475"/>
                  </a:solidFill>
                  <a:latin typeface="+mn-lt"/>
                  <a:ea typeface="+mn-ea"/>
                  <a:cs typeface="+mn-cs"/>
                </a:rPr>
                <a:t>把直线拽歪。</a:t>
              </a:r>
            </a:p>
          </p:txBody>
        </p:sp>
      </p:grpSp>
      <p:grpSp>
        <p:nvGrpSpPr>
          <p:cNvPr id="37" name="c2-graph-1"/>
          <p:cNvGrpSpPr/>
          <p:nvPr/>
        </p:nvGrpSpPr>
        <p:grpSpPr>
          <a:xfrm>
            <a:off x="6740842" y="1617345"/>
            <a:ext cx="4587240" cy="2105025"/>
            <a:chOff x="6740842" y="1617345"/>
            <a:chExt cx="4587240" cy="2105025"/>
          </a:xfrm>
        </p:grpSpPr>
        <p:sp>
          <p:nvSpPr>
            <p:cNvPr id="24" name="Freeform 24"/>
            <p:cNvSpPr/>
            <p:nvPr/>
          </p:nvSpPr>
          <p:spPr>
            <a:xfrm>
              <a:off x="6740842" y="3421380"/>
              <a:ext cx="4491990" cy="9525"/>
            </a:xfrm>
            <a:custGeom>
              <a:avLst/>
              <a:gdLst/>
              <a:ahLst/>
              <a:cxnLst/>
              <a:rect l="l" t="t" r="r" b="b"/>
              <a:pathLst>
                <a:path w="4491990" h="9525">
                  <a:moveTo>
                    <a:pt x="0" y="0"/>
                  </a:moveTo>
                  <a:lnTo>
                    <a:pt x="4491990" y="0"/>
                  </a:lnTo>
                </a:path>
              </a:pathLst>
            </a:custGeom>
            <a:noFill/>
            <a:ln w="17145">
              <a:solidFill>
                <a:srgbClr val="5B6475"/>
              </a:solidFill>
            </a:ln>
          </p:spPr>
        </p:sp>
        <p:sp>
          <p:nvSpPr>
            <p:cNvPr id="25" name="Freeform 25"/>
            <p:cNvSpPr/>
            <p:nvPr/>
          </p:nvSpPr>
          <p:spPr>
            <a:xfrm>
              <a:off x="11232832" y="3373755"/>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26" name="Freeform 26"/>
            <p:cNvSpPr/>
            <p:nvPr/>
          </p:nvSpPr>
          <p:spPr>
            <a:xfrm>
              <a:off x="9034462" y="1967865"/>
              <a:ext cx="9525" cy="1493520"/>
            </a:xfrm>
            <a:custGeom>
              <a:avLst/>
              <a:gdLst/>
              <a:ahLst/>
              <a:cxnLst/>
              <a:rect l="l" t="t" r="r" b="b"/>
              <a:pathLst>
                <a:path w="9525" h="1493520">
                  <a:moveTo>
                    <a:pt x="0" y="1493520"/>
                  </a:moveTo>
                  <a:lnTo>
                    <a:pt x="0" y="0"/>
                  </a:lnTo>
                </a:path>
              </a:pathLst>
            </a:custGeom>
            <a:noFill/>
            <a:ln w="17145">
              <a:solidFill>
                <a:srgbClr val="5B6475"/>
              </a:solidFill>
            </a:ln>
          </p:spPr>
        </p:sp>
        <p:sp>
          <p:nvSpPr>
            <p:cNvPr id="27" name="Freeform 27"/>
            <p:cNvSpPr/>
            <p:nvPr/>
          </p:nvSpPr>
          <p:spPr>
            <a:xfrm>
              <a:off x="8986838" y="1872615"/>
              <a:ext cx="95250" cy="95250"/>
            </a:xfrm>
            <a:custGeom>
              <a:avLst/>
              <a:gdLst/>
              <a:ahLst/>
              <a:cxnLst/>
              <a:rect l="l" t="t" r="r" b="b"/>
              <a:pathLst>
                <a:path w="95250" h="95250">
                  <a:moveTo>
                    <a:pt x="47625" y="0"/>
                  </a:moveTo>
                  <a:lnTo>
                    <a:pt x="95250" y="95250"/>
                  </a:lnTo>
                  <a:lnTo>
                    <a:pt x="0" y="95250"/>
                  </a:lnTo>
                  <a:close/>
                </a:path>
              </a:pathLst>
            </a:custGeom>
            <a:solidFill>
              <a:srgbClr val="5B6475"/>
            </a:solidFill>
            <a:ln>
              <a:noFill/>
            </a:ln>
          </p:spPr>
        </p:sp>
        <p:sp>
          <p:nvSpPr>
            <p:cNvPr id="28" name="Freeform 28"/>
            <p:cNvSpPr/>
            <p:nvPr/>
          </p:nvSpPr>
          <p:spPr>
            <a:xfrm>
              <a:off x="6740842" y="2076450"/>
              <a:ext cx="4587240" cy="1344930"/>
            </a:xfrm>
            <a:custGeom>
              <a:avLst/>
              <a:gdLst/>
              <a:ahLst/>
              <a:cxnLst/>
              <a:rect l="l" t="t" r="r" b="b"/>
              <a:pathLst>
                <a:path w="4587240" h="1344930">
                  <a:moveTo>
                    <a:pt x="0" y="0"/>
                  </a:moveTo>
                  <a:lnTo>
                    <a:pt x="1542097" y="1344930"/>
                  </a:lnTo>
                  <a:lnTo>
                    <a:pt x="3046095" y="1344930"/>
                  </a:lnTo>
                  <a:lnTo>
                    <a:pt x="4587240" y="0"/>
                  </a:lnTo>
                </a:path>
              </a:pathLst>
            </a:custGeom>
            <a:noFill/>
            <a:ln w="17145">
              <a:solidFill>
                <a:srgbClr val="0E7C86"/>
              </a:solidFill>
            </a:ln>
          </p:spPr>
        </p:sp>
        <p:sp>
          <p:nvSpPr>
            <p:cNvPr id="29" name="Ellipse 29"/>
            <p:cNvSpPr/>
            <p:nvPr/>
          </p:nvSpPr>
          <p:spPr>
            <a:xfrm>
              <a:off x="8235315" y="3373755"/>
              <a:ext cx="95250" cy="95250"/>
            </a:xfrm>
            <a:prstGeom prst="ellipse">
              <a:avLst/>
            </a:prstGeom>
            <a:solidFill>
              <a:srgbClr val="0E7C86"/>
            </a:solidFill>
            <a:ln>
              <a:noFill/>
            </a:ln>
          </p:spPr>
        </p:sp>
        <p:sp>
          <p:nvSpPr>
            <p:cNvPr id="30" name="Ellipse 30"/>
            <p:cNvSpPr/>
            <p:nvPr/>
          </p:nvSpPr>
          <p:spPr>
            <a:xfrm>
              <a:off x="9739312" y="3373755"/>
              <a:ext cx="95250" cy="95250"/>
            </a:xfrm>
            <a:prstGeom prst="ellipse">
              <a:avLst/>
            </a:prstGeom>
            <a:solidFill>
              <a:srgbClr val="0E7C86"/>
            </a:solidFill>
            <a:ln>
              <a:noFill/>
            </a:ln>
          </p:spPr>
        </p:sp>
        <p:sp>
          <p:nvSpPr>
            <p:cNvPr id="31" name="TextBox 31"/>
            <p:cNvSpPr txBox="1"/>
            <p:nvPr/>
          </p:nvSpPr>
          <p:spPr>
            <a:xfrm>
              <a:off x="9043797" y="1617345"/>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损失</a:t>
              </a:r>
            </a:p>
          </p:txBody>
        </p:sp>
        <p:sp>
          <p:nvSpPr>
            <p:cNvPr id="32" name="TextBox 32"/>
            <p:cNvSpPr txBox="1"/>
            <p:nvPr/>
          </p:nvSpPr>
          <p:spPr>
            <a:xfrm>
              <a:off x="8179156" y="3546158"/>
              <a:ext cx="142799" cy="176212"/>
            </a:xfrm>
            <a:prstGeom prst="rect">
              <a:avLst/>
            </a:prstGeom>
            <a:noFill/>
            <a:ln>
              <a:noFill/>
            </a:ln>
          </p:spPr>
          <p:txBody>
            <a:bodyPr wrap="none" lIns="0" tIns="0" rIns="0" bIns="0" anchor="t" anchorCtr="0">
              <a:spAutoFit/>
            </a:bodyPr>
            <a:lstStyle/>
            <a:p>
              <a:pPr algn="ctr"/>
              <a:r>
                <a:rPr lang="el-GR" sz="900" dirty="0">
                  <a:solidFill>
                    <a:srgbClr val="0E7C86"/>
                  </a:solidFill>
                  <a:latin typeface="+mn-lt"/>
                  <a:ea typeface="+mn-ea"/>
                  <a:cs typeface="+mn-cs"/>
                </a:rPr>
                <a:t>−ε</a:t>
              </a:r>
            </a:p>
          </p:txBody>
        </p:sp>
        <p:sp>
          <p:nvSpPr>
            <p:cNvPr id="33" name="TextBox 33"/>
            <p:cNvSpPr txBox="1"/>
            <p:nvPr/>
          </p:nvSpPr>
          <p:spPr>
            <a:xfrm>
              <a:off x="8981694" y="3546158"/>
              <a:ext cx="105537"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O</a:t>
              </a:r>
            </a:p>
          </p:txBody>
        </p:sp>
        <p:sp>
          <p:nvSpPr>
            <p:cNvPr id="34" name="TextBox 34"/>
            <p:cNvSpPr txBox="1"/>
            <p:nvPr/>
          </p:nvSpPr>
          <p:spPr>
            <a:xfrm>
              <a:off x="9747923" y="3546158"/>
              <a:ext cx="142799" cy="176212"/>
            </a:xfrm>
            <a:prstGeom prst="rect">
              <a:avLst/>
            </a:prstGeom>
            <a:noFill/>
            <a:ln>
              <a:noFill/>
            </a:ln>
          </p:spPr>
          <p:txBody>
            <a:bodyPr wrap="none" lIns="0" tIns="0" rIns="0" bIns="0" anchor="t" anchorCtr="0">
              <a:spAutoFit/>
            </a:bodyPr>
            <a:lstStyle/>
            <a:p>
              <a:pPr algn="ctr"/>
              <a:r>
                <a:rPr lang="el-GR" sz="900" dirty="0">
                  <a:solidFill>
                    <a:srgbClr val="0E7C86"/>
                  </a:solidFill>
                  <a:latin typeface="+mn-lt"/>
                  <a:ea typeface="+mn-ea"/>
                  <a:cs typeface="+mn-cs"/>
                </a:rPr>
                <a:t>+ε</a:t>
              </a:r>
            </a:p>
          </p:txBody>
        </p:sp>
        <p:sp>
          <p:nvSpPr>
            <p:cNvPr id="35" name="TextBox 35"/>
            <p:cNvSpPr txBox="1"/>
            <p:nvPr/>
          </p:nvSpPr>
          <p:spPr>
            <a:xfrm>
              <a:off x="10802226" y="3165158"/>
              <a:ext cx="482041" cy="176212"/>
            </a:xfrm>
            <a:prstGeom prst="rect">
              <a:avLst/>
            </a:prstGeom>
            <a:noFill/>
            <a:ln>
              <a:noFill/>
            </a:ln>
          </p:spPr>
          <p:txBody>
            <a:bodyPr wrap="none" lIns="0" tIns="0" rIns="0" bIns="0" anchor="t" anchorCtr="0">
              <a:spAutoFit/>
            </a:bodyPr>
            <a:lstStyle/>
            <a:p>
              <a:pPr algn="r"/>
              <a:r>
                <a:rPr lang="en-US" sz="900" dirty="0">
                  <a:solidFill>
                    <a:srgbClr val="5B6475"/>
                  </a:solidFill>
                  <a:latin typeface="+mn-lt"/>
                  <a:ea typeface="+mn-ea"/>
                  <a:cs typeface="+mn-cs"/>
                </a:rPr>
                <a:t>y − f(x)</a:t>
              </a:r>
            </a:p>
          </p:txBody>
        </p:sp>
        <p:sp>
          <p:nvSpPr>
            <p:cNvPr id="36" name="TextBox 36"/>
            <p:cNvSpPr txBox="1"/>
            <p:nvPr/>
          </p:nvSpPr>
          <p:spPr>
            <a:xfrm>
              <a:off x="8581777" y="3093720"/>
              <a:ext cx="960615" cy="176212"/>
            </a:xfrm>
            <a:prstGeom prst="rect">
              <a:avLst/>
            </a:prstGeom>
            <a:noFill/>
            <a:ln>
              <a:noFill/>
            </a:ln>
          </p:spPr>
          <p:txBody>
            <a:bodyPr wrap="none" lIns="0" tIns="0" rIns="0" bIns="0" anchor="t" anchorCtr="0">
              <a:spAutoFit/>
            </a:bodyPr>
            <a:lstStyle/>
            <a:p>
              <a:pPr algn="ctr"/>
              <a:r>
                <a:rPr lang="zh-CN" sz="900" dirty="0">
                  <a:solidFill>
                    <a:srgbClr val="0E7C86"/>
                  </a:solidFill>
                  <a:latin typeface="+mn-lt"/>
                  <a:ea typeface="+mn-ea"/>
                  <a:cs typeface="+mn-cs"/>
                </a:rPr>
                <a:t>带内平底，罚为 0</a:t>
              </a:r>
            </a:p>
          </p:txBody>
        </p:sp>
      </p:grpSp>
      <p:grpSp>
        <p:nvGrpSpPr>
          <p:cNvPr id="44" name="c2-card-2"/>
          <p:cNvGrpSpPr/>
          <p:nvPr/>
        </p:nvGrpSpPr>
        <p:grpSpPr>
          <a:xfrm>
            <a:off x="6248400" y="4095750"/>
            <a:ext cx="5410200" cy="1956435"/>
            <a:chOff x="6248400" y="4095750"/>
            <a:chExt cx="5410200" cy="1956435"/>
          </a:xfrm>
        </p:grpSpPr>
        <p:sp>
          <p:nvSpPr>
            <p:cNvPr id="38" name="Rectangle 38"/>
            <p:cNvSpPr/>
            <p:nvPr/>
          </p:nvSpPr>
          <p:spPr>
            <a:xfrm>
              <a:off x="6248400" y="4095750"/>
              <a:ext cx="5410200" cy="1956435"/>
            </a:xfrm>
            <a:prstGeom prst="roundRect">
              <a:avLst>
                <a:gd name="adj" fmla="val 6816"/>
              </a:avLst>
            </a:prstGeom>
            <a:solidFill>
              <a:srgbClr val="0E7C86"/>
            </a:solidFill>
            <a:ln>
              <a:noFill/>
            </a:ln>
          </p:spPr>
        </p:sp>
        <p:sp>
          <p:nvSpPr>
            <p:cNvPr id="39" name="Rectangle 39"/>
            <p:cNvSpPr/>
            <p:nvPr/>
          </p:nvSpPr>
          <p:spPr>
            <a:xfrm>
              <a:off x="6457950" y="4305300"/>
              <a:ext cx="494348" cy="257175"/>
            </a:xfrm>
            <a:prstGeom prst="roundRect">
              <a:avLst>
                <a:gd name="adj" fmla="val 50000"/>
              </a:avLst>
            </a:prstGeom>
            <a:solidFill>
              <a:srgbClr val="0B5F67"/>
            </a:solidFill>
            <a:ln>
              <a:noFill/>
            </a:ln>
          </p:spPr>
        </p:sp>
        <p:sp>
          <p:nvSpPr>
            <p:cNvPr id="40" name="TextBox 40"/>
            <p:cNvSpPr txBox="1"/>
            <p:nvPr/>
          </p:nvSpPr>
          <p:spPr>
            <a:xfrm>
              <a:off x="6548158" y="434101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直觉</a:t>
              </a:r>
            </a:p>
          </p:txBody>
        </p:sp>
        <p:sp>
          <p:nvSpPr>
            <p:cNvPr id="41" name="TextBox 41"/>
            <p:cNvSpPr txBox="1"/>
            <p:nvPr/>
          </p:nvSpPr>
          <p:spPr>
            <a:xfrm>
              <a:off x="7058978" y="4340542"/>
              <a:ext cx="3883209"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回归也是“最大间隔”，只是间隔的含义反了</a:t>
              </a:r>
            </a:p>
          </p:txBody>
        </p:sp>
        <p:sp>
          <p:nvSpPr>
            <p:cNvPr id="42" name="TextBox 42"/>
            <p:cNvSpPr txBox="1"/>
            <p:nvPr/>
          </p:nvSpPr>
          <p:spPr>
            <a:xfrm>
              <a:off x="6450330" y="4701540"/>
              <a:ext cx="4777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分类：让离超平面</a:t>
              </a:r>
              <a:r>
                <a:rPr lang="zh-CN" sz="1500" b="1" dirty="0">
                  <a:solidFill>
                    <a:srgbClr val="FFD58A"/>
                  </a:solidFill>
                  <a:latin typeface="+mn-lt"/>
                  <a:ea typeface="+mn-ea"/>
                  <a:cs typeface="+mn-cs"/>
                </a:rPr>
                <a:t>最近</a:t>
              </a:r>
              <a:r>
                <a:rPr lang="zh-CN" sz="1500" dirty="0">
                  <a:solidFill>
                    <a:srgbClr val="FFFFFF"/>
                  </a:solidFill>
                  <a:latin typeface="+mn-lt"/>
                  <a:ea typeface="+mn-ea"/>
                  <a:cs typeface="+mn-cs"/>
                </a:rPr>
                <a:t>的样本点之间的间隔</a:t>
              </a:r>
              <a:r>
                <a:rPr lang="zh-CN" sz="1500" b="1" dirty="0">
                  <a:solidFill>
                    <a:srgbClr val="FFD58A"/>
                  </a:solidFill>
                  <a:latin typeface="+mn-lt"/>
                  <a:ea typeface="+mn-ea"/>
                  <a:cs typeface="+mn-cs"/>
                </a:rPr>
                <a:t>最大</a:t>
              </a:r>
              <a:r>
                <a:rPr lang="zh-CN" sz="1500" dirty="0">
                  <a:solidFill>
                    <a:srgbClr val="FFFFFF"/>
                  </a:solidFill>
                  <a:latin typeface="+mn-lt"/>
                  <a:ea typeface="+mn-ea"/>
                  <a:cs typeface="+mn-cs"/>
                </a:rPr>
                <a:t>（把点推</a:t>
              </a:r>
              <a:br/>
              <a:r>
                <a:rPr lang="zh-CN" sz="1500" dirty="0">
                  <a:solidFill>
                    <a:srgbClr val="FFFFFF"/>
                  </a:solidFill>
                  <a:latin typeface="+mn-lt"/>
                  <a:ea typeface="+mn-ea"/>
                  <a:cs typeface="+mn-cs"/>
                </a:rPr>
                <a:t>开）。</a:t>
              </a:r>
            </a:p>
          </p:txBody>
        </p:sp>
        <p:sp>
          <p:nvSpPr>
            <p:cNvPr id="43" name="TextBox 43"/>
            <p:cNvSpPr txBox="1"/>
            <p:nvPr/>
          </p:nvSpPr>
          <p:spPr>
            <a:xfrm>
              <a:off x="6450330" y="5322570"/>
              <a:ext cx="4777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回归：让离超平面</a:t>
              </a:r>
              <a:r>
                <a:rPr lang="zh-CN" sz="1500" b="1" dirty="0">
                  <a:solidFill>
                    <a:srgbClr val="FFD58A"/>
                  </a:solidFill>
                  <a:latin typeface="+mn-lt"/>
                  <a:ea typeface="+mn-ea"/>
                  <a:cs typeface="+mn-cs"/>
                </a:rPr>
                <a:t>最远</a:t>
              </a:r>
              <a:r>
                <a:rPr lang="zh-CN" sz="1500" dirty="0">
                  <a:solidFill>
                    <a:srgbClr val="FFFFFF"/>
                  </a:solidFill>
                  <a:latin typeface="+mn-lt"/>
                  <a:ea typeface="+mn-ea"/>
                  <a:cs typeface="+mn-cs"/>
                </a:rPr>
                <a:t>的样本点之间的间隔</a:t>
              </a:r>
              <a:r>
                <a:rPr lang="zh-CN" sz="1500" b="1" dirty="0">
                  <a:solidFill>
                    <a:srgbClr val="FFD58A"/>
                  </a:solidFill>
                  <a:latin typeface="+mn-lt"/>
                  <a:ea typeface="+mn-ea"/>
                  <a:cs typeface="+mn-cs"/>
                </a:rPr>
                <a:t>最小</a:t>
              </a:r>
              <a:r>
                <a:rPr lang="zh-CN" sz="1500" dirty="0">
                  <a:solidFill>
                    <a:srgbClr val="FFFFFF"/>
                  </a:solidFill>
                  <a:latin typeface="+mn-lt"/>
                  <a:ea typeface="+mn-ea"/>
                  <a:cs typeface="+mn-cs"/>
                </a:rPr>
                <a:t>（把点包</a:t>
              </a:r>
              <a:br/>
              <a:r>
                <a:rPr lang="zh-CN" sz="1500" dirty="0">
                  <a:solidFill>
                    <a:srgbClr val="FFFFFF"/>
                  </a:solidFill>
                  <a:latin typeface="+mn-lt"/>
                  <a:ea typeface="+mn-ea"/>
                  <a:cs typeface="+mn-cs"/>
                </a:rPr>
                <a:t>进来）。两条虚线中间的那条线就是回归函数。</a:t>
              </a:r>
            </a:p>
          </p:txBody>
        </p:sp>
      </p:grpSp>
      <p:grpSp>
        <p:nvGrpSpPr>
          <p:cNvPr id="47" name="footer"/>
          <p:cNvGrpSpPr/>
          <p:nvPr/>
        </p:nvGrpSpPr>
        <p:grpSpPr>
          <a:xfrm>
            <a:off x="528447" y="6581299"/>
            <a:ext cx="11135106" cy="190690"/>
            <a:chOff x="528447" y="6581299"/>
            <a:chExt cx="11135106" cy="190690"/>
          </a:xfrm>
        </p:grpSpPr>
        <p:sp>
          <p:nvSpPr>
            <p:cNvPr id="45" name="TextBox 45"/>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6" name="TextBox 4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44375" cy="909257"/>
            <a:chOff x="520446" y="342900"/>
            <a:chExt cx="4844375"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484437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ε-带：SVR 与 SVM 摆在一起看</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42" name="c1-table-1"/>
          <p:cNvGrpSpPr/>
          <p:nvPr/>
        </p:nvGrpSpPr>
        <p:grpSpPr>
          <a:xfrm>
            <a:off x="533400" y="1524000"/>
            <a:ext cx="4977765" cy="3368040"/>
            <a:chOff x="533400" y="1524000"/>
            <a:chExt cx="4977765" cy="3368040"/>
          </a:xfrm>
        </p:grpSpPr>
        <p:sp>
          <p:nvSpPr>
            <p:cNvPr id="7" name="Rectangle 7"/>
            <p:cNvSpPr/>
            <p:nvPr/>
          </p:nvSpPr>
          <p:spPr>
            <a:xfrm>
              <a:off x="533400" y="1524000"/>
              <a:ext cx="4977765" cy="448628"/>
            </a:xfrm>
            <a:prstGeom prst="rect">
              <a:avLst/>
            </a:prstGeom>
            <a:solidFill>
              <a:srgbClr val="0E7C86"/>
            </a:solidFill>
            <a:ln>
              <a:noFill/>
            </a:ln>
          </p:spPr>
        </p:sp>
        <p:sp>
          <p:nvSpPr>
            <p:cNvPr id="8" name="TextBox 8"/>
            <p:cNvSpPr txBox="1"/>
            <p:nvPr/>
          </p:nvSpPr>
          <p:spPr>
            <a:xfrm>
              <a:off x="902297"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项目</a:t>
              </a:r>
            </a:p>
          </p:txBody>
        </p:sp>
        <p:sp>
          <p:nvSpPr>
            <p:cNvPr id="9" name="TextBox 9"/>
            <p:cNvSpPr txBox="1"/>
            <p:nvPr/>
          </p:nvSpPr>
          <p:spPr>
            <a:xfrm>
              <a:off x="2071436" y="1659731"/>
              <a:ext cx="1055874"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SVM（分类）</a:t>
              </a:r>
            </a:p>
          </p:txBody>
        </p:sp>
        <p:sp>
          <p:nvSpPr>
            <p:cNvPr id="10" name="TextBox 10"/>
            <p:cNvSpPr txBox="1"/>
            <p:nvPr/>
          </p:nvSpPr>
          <p:spPr>
            <a:xfrm>
              <a:off x="4031748" y="1659731"/>
              <a:ext cx="101764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SVR（回归）</a:t>
              </a:r>
            </a:p>
          </p:txBody>
        </p:sp>
        <p:sp>
          <p:nvSpPr>
            <p:cNvPr id="11" name="TextBox 11"/>
            <p:cNvSpPr txBox="1"/>
            <p:nvPr/>
          </p:nvSpPr>
          <p:spPr>
            <a:xfrm>
              <a:off x="641223" y="2108359"/>
              <a:ext cx="211976"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yᵢ</a:t>
              </a:r>
            </a:p>
          </p:txBody>
        </p:sp>
        <p:sp>
          <p:nvSpPr>
            <p:cNvPr id="12" name="TextBox 12"/>
            <p:cNvSpPr txBox="1"/>
            <p:nvPr/>
          </p:nvSpPr>
          <p:spPr>
            <a:xfrm>
              <a:off x="1736598" y="2108359"/>
              <a:ext cx="72805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 +1}</a:t>
              </a:r>
            </a:p>
          </p:txBody>
        </p:sp>
        <p:sp>
          <p:nvSpPr>
            <p:cNvPr id="13" name="TextBox 13"/>
            <p:cNvSpPr txBox="1"/>
            <p:nvPr/>
          </p:nvSpPr>
          <p:spPr>
            <a:xfrm>
              <a:off x="3677793" y="2108359"/>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R</a:t>
              </a:r>
            </a:p>
          </p:txBody>
        </p:sp>
        <p:sp>
          <p:nvSpPr>
            <p:cNvPr id="14" name="Rectangle 14"/>
            <p:cNvSpPr/>
            <p:nvPr/>
          </p:nvSpPr>
          <p:spPr>
            <a:xfrm>
              <a:off x="533400" y="2416492"/>
              <a:ext cx="4977765" cy="9525"/>
            </a:xfrm>
            <a:prstGeom prst="rect">
              <a:avLst/>
            </a:prstGeom>
            <a:solidFill>
              <a:srgbClr val="D9DFEA"/>
            </a:solidFill>
            <a:ln>
              <a:noFill/>
            </a:ln>
          </p:spPr>
        </p:sp>
        <p:sp>
          <p:nvSpPr>
            <p:cNvPr id="15" name="Rectangle 15"/>
            <p:cNvSpPr/>
            <p:nvPr/>
          </p:nvSpPr>
          <p:spPr>
            <a:xfrm>
              <a:off x="533400" y="2421255"/>
              <a:ext cx="4977765" cy="448628"/>
            </a:xfrm>
            <a:prstGeom prst="rect">
              <a:avLst/>
            </a:prstGeom>
            <a:solidFill>
              <a:srgbClr val="F4F6FB"/>
            </a:solidFill>
            <a:ln>
              <a:noFill/>
            </a:ln>
          </p:spPr>
        </p:sp>
        <p:sp>
          <p:nvSpPr>
            <p:cNvPr id="16" name="TextBox 16"/>
            <p:cNvSpPr txBox="1"/>
            <p:nvPr/>
          </p:nvSpPr>
          <p:spPr>
            <a:xfrm>
              <a:off x="641223" y="2556986"/>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约束</a:t>
              </a:r>
            </a:p>
          </p:txBody>
        </p:sp>
        <p:sp>
          <p:nvSpPr>
            <p:cNvPr id="17" name="TextBox 17"/>
            <p:cNvSpPr txBox="1"/>
            <p:nvPr/>
          </p:nvSpPr>
          <p:spPr>
            <a:xfrm>
              <a:off x="1736598" y="2556986"/>
              <a:ext cx="1288075"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yᵢ(w·xᵢ+b) ≥ 1</a:t>
              </a:r>
            </a:p>
          </p:txBody>
        </p:sp>
        <p:sp>
          <p:nvSpPr>
            <p:cNvPr id="18" name="TextBox 18"/>
            <p:cNvSpPr txBox="1"/>
            <p:nvPr/>
          </p:nvSpPr>
          <p:spPr>
            <a:xfrm>
              <a:off x="3677793" y="2556986"/>
              <a:ext cx="1589623"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|yᵢ − (w·xᵢ+b)| ≤ ε</a:t>
              </a:r>
            </a:p>
          </p:txBody>
        </p:sp>
        <p:sp>
          <p:nvSpPr>
            <p:cNvPr id="19" name="Rectangle 19"/>
            <p:cNvSpPr/>
            <p:nvPr/>
          </p:nvSpPr>
          <p:spPr>
            <a:xfrm>
              <a:off x="533400" y="2866072"/>
              <a:ext cx="4977765" cy="9525"/>
            </a:xfrm>
            <a:prstGeom prst="rect">
              <a:avLst/>
            </a:prstGeom>
            <a:solidFill>
              <a:srgbClr val="D9DFEA"/>
            </a:solidFill>
            <a:ln>
              <a:noFill/>
            </a:ln>
          </p:spPr>
        </p:sp>
        <p:sp>
          <p:nvSpPr>
            <p:cNvPr id="20" name="TextBox 20"/>
            <p:cNvSpPr txBox="1"/>
            <p:nvPr/>
          </p:nvSpPr>
          <p:spPr>
            <a:xfrm>
              <a:off x="641223" y="3005614"/>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几何含义</a:t>
              </a:r>
            </a:p>
          </p:txBody>
        </p:sp>
        <p:sp>
          <p:nvSpPr>
            <p:cNvPr id="21" name="Rectangle 21"/>
            <p:cNvSpPr/>
            <p:nvPr/>
          </p:nvSpPr>
          <p:spPr>
            <a:xfrm>
              <a:off x="1638300" y="2880360"/>
              <a:ext cx="1922145" cy="429578"/>
            </a:xfrm>
            <a:prstGeom prst="rect">
              <a:avLst/>
            </a:prstGeom>
            <a:solidFill>
              <a:srgbClr val="FDEEE7"/>
            </a:solidFill>
            <a:ln>
              <a:noFill/>
            </a:ln>
          </p:spPr>
        </p:sp>
        <p:sp>
          <p:nvSpPr>
            <p:cNvPr id="22" name="TextBox 22"/>
            <p:cNvSpPr txBox="1"/>
            <p:nvPr/>
          </p:nvSpPr>
          <p:spPr>
            <a:xfrm>
              <a:off x="1736598" y="3005614"/>
              <a:ext cx="87452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点都在带外</a:t>
              </a:r>
            </a:p>
          </p:txBody>
        </p:sp>
        <p:sp>
          <p:nvSpPr>
            <p:cNvPr id="23" name="Rectangle 23"/>
            <p:cNvSpPr/>
            <p:nvPr/>
          </p:nvSpPr>
          <p:spPr>
            <a:xfrm>
              <a:off x="3579495" y="2880360"/>
              <a:ext cx="1922145" cy="429578"/>
            </a:xfrm>
            <a:prstGeom prst="rect">
              <a:avLst/>
            </a:prstGeom>
            <a:solidFill>
              <a:srgbClr val="FDEEE7"/>
            </a:solidFill>
            <a:ln>
              <a:noFill/>
            </a:ln>
          </p:spPr>
        </p:sp>
        <p:sp>
          <p:nvSpPr>
            <p:cNvPr id="24" name="TextBox 24"/>
            <p:cNvSpPr txBox="1"/>
            <p:nvPr/>
          </p:nvSpPr>
          <p:spPr>
            <a:xfrm>
              <a:off x="3677793" y="3005614"/>
              <a:ext cx="87452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点都在带内</a:t>
              </a:r>
            </a:p>
          </p:txBody>
        </p:sp>
        <p:sp>
          <p:nvSpPr>
            <p:cNvPr id="25" name="Rectangle 25"/>
            <p:cNvSpPr/>
            <p:nvPr/>
          </p:nvSpPr>
          <p:spPr>
            <a:xfrm>
              <a:off x="533400" y="3314700"/>
              <a:ext cx="4977765" cy="9525"/>
            </a:xfrm>
            <a:prstGeom prst="rect">
              <a:avLst/>
            </a:prstGeom>
            <a:solidFill>
              <a:srgbClr val="D9DFEA"/>
            </a:solidFill>
            <a:ln>
              <a:noFill/>
            </a:ln>
          </p:spPr>
        </p:sp>
        <p:sp>
          <p:nvSpPr>
            <p:cNvPr id="26" name="Rectangle 26"/>
            <p:cNvSpPr/>
            <p:nvPr/>
          </p:nvSpPr>
          <p:spPr>
            <a:xfrm>
              <a:off x="533400" y="3319462"/>
              <a:ext cx="4977765" cy="448628"/>
            </a:xfrm>
            <a:prstGeom prst="rect">
              <a:avLst/>
            </a:prstGeom>
            <a:solidFill>
              <a:srgbClr val="F4F6FB"/>
            </a:solidFill>
            <a:ln>
              <a:noFill/>
            </a:ln>
          </p:spPr>
        </p:sp>
        <p:sp>
          <p:nvSpPr>
            <p:cNvPr id="27" name="TextBox 27"/>
            <p:cNvSpPr txBox="1"/>
            <p:nvPr/>
          </p:nvSpPr>
          <p:spPr>
            <a:xfrm>
              <a:off x="641223" y="3454241"/>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间隔</a:t>
              </a:r>
            </a:p>
          </p:txBody>
        </p:sp>
        <p:sp>
          <p:nvSpPr>
            <p:cNvPr id="28" name="TextBox 28"/>
            <p:cNvSpPr txBox="1"/>
            <p:nvPr/>
          </p:nvSpPr>
          <p:spPr>
            <a:xfrm>
              <a:off x="1736598" y="3454241"/>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越宽越好</a:t>
              </a:r>
            </a:p>
          </p:txBody>
        </p:sp>
        <p:sp>
          <p:nvSpPr>
            <p:cNvPr id="29" name="TextBox 29"/>
            <p:cNvSpPr txBox="1"/>
            <p:nvPr/>
          </p:nvSpPr>
          <p:spPr>
            <a:xfrm>
              <a:off x="3677793" y="3454241"/>
              <a:ext cx="124499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带宽 ε 由人指定</a:t>
              </a:r>
            </a:p>
          </p:txBody>
        </p:sp>
        <p:sp>
          <p:nvSpPr>
            <p:cNvPr id="30" name="Rectangle 30"/>
            <p:cNvSpPr/>
            <p:nvPr/>
          </p:nvSpPr>
          <p:spPr>
            <a:xfrm>
              <a:off x="533400" y="3763328"/>
              <a:ext cx="4977765" cy="9525"/>
            </a:xfrm>
            <a:prstGeom prst="rect">
              <a:avLst/>
            </a:prstGeom>
            <a:solidFill>
              <a:srgbClr val="D9DFEA"/>
            </a:solidFill>
            <a:ln>
              <a:noFill/>
            </a:ln>
          </p:spPr>
        </p:sp>
        <p:sp>
          <p:nvSpPr>
            <p:cNvPr id="31" name="TextBox 31"/>
            <p:cNvSpPr txBox="1"/>
            <p:nvPr/>
          </p:nvSpPr>
          <p:spPr>
            <a:xfrm>
              <a:off x="641223" y="3903821"/>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目标</a:t>
              </a:r>
            </a:p>
          </p:txBody>
        </p:sp>
        <p:sp>
          <p:nvSpPr>
            <p:cNvPr id="32" name="TextBox 32"/>
            <p:cNvSpPr txBox="1"/>
            <p:nvPr/>
          </p:nvSpPr>
          <p:spPr>
            <a:xfrm>
              <a:off x="1736598" y="3903821"/>
              <a:ext cx="86590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min ½||w||²</a:t>
              </a:r>
            </a:p>
          </p:txBody>
        </p:sp>
        <p:sp>
          <p:nvSpPr>
            <p:cNvPr id="33" name="TextBox 33"/>
            <p:cNvSpPr txBox="1"/>
            <p:nvPr/>
          </p:nvSpPr>
          <p:spPr>
            <a:xfrm>
              <a:off x="3677793" y="3903821"/>
              <a:ext cx="86590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min ½||w||²</a:t>
              </a:r>
            </a:p>
          </p:txBody>
        </p:sp>
        <p:sp>
          <p:nvSpPr>
            <p:cNvPr id="34" name="Rectangle 34"/>
            <p:cNvSpPr/>
            <p:nvPr/>
          </p:nvSpPr>
          <p:spPr>
            <a:xfrm>
              <a:off x="533400" y="4211955"/>
              <a:ext cx="4977765" cy="9525"/>
            </a:xfrm>
            <a:prstGeom prst="rect">
              <a:avLst/>
            </a:prstGeom>
            <a:solidFill>
              <a:srgbClr val="D9DFEA"/>
            </a:solidFill>
            <a:ln>
              <a:noFill/>
            </a:ln>
          </p:spPr>
        </p:sp>
        <p:sp>
          <p:nvSpPr>
            <p:cNvPr id="35" name="Rectangle 35"/>
            <p:cNvSpPr/>
            <p:nvPr/>
          </p:nvSpPr>
          <p:spPr>
            <a:xfrm>
              <a:off x="533400" y="4216718"/>
              <a:ext cx="4977765" cy="675322"/>
            </a:xfrm>
            <a:prstGeom prst="rect">
              <a:avLst/>
            </a:prstGeom>
            <a:solidFill>
              <a:srgbClr val="F4F6FB"/>
            </a:solidFill>
            <a:ln>
              <a:noFill/>
            </a:ln>
          </p:spPr>
        </p:sp>
        <p:sp>
          <p:nvSpPr>
            <p:cNvPr id="36" name="TextBox 36"/>
            <p:cNvSpPr txBox="1"/>
            <p:nvPr/>
          </p:nvSpPr>
          <p:spPr>
            <a:xfrm>
              <a:off x="641223" y="446579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支持向量</a:t>
              </a:r>
            </a:p>
          </p:txBody>
        </p:sp>
        <p:sp>
          <p:nvSpPr>
            <p:cNvPr id="37" name="TextBox 37"/>
            <p:cNvSpPr txBox="1"/>
            <p:nvPr/>
          </p:nvSpPr>
          <p:spPr>
            <a:xfrm>
              <a:off x="1736598" y="4465796"/>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落在带边界上的点</a:t>
              </a:r>
            </a:p>
          </p:txBody>
        </p:sp>
        <p:sp>
          <p:nvSpPr>
            <p:cNvPr id="38" name="TextBox 38"/>
            <p:cNvSpPr txBox="1"/>
            <p:nvPr/>
          </p:nvSpPr>
          <p:spPr>
            <a:xfrm>
              <a:off x="3677793" y="4352449"/>
              <a:ext cx="163855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落在带边界上或带外的</a:t>
              </a:r>
              <a:br/>
              <a:r>
                <a:rPr lang="zh-CN" sz="1280" dirty="0">
                  <a:solidFill>
                    <a:srgbClr val="1F2937"/>
                  </a:solidFill>
                  <a:latin typeface="+mn-lt"/>
                  <a:ea typeface="+mn-ea"/>
                  <a:cs typeface="+mn-cs"/>
                </a:rPr>
                <a:t>点</a:t>
              </a:r>
            </a:p>
          </p:txBody>
        </p:sp>
        <p:sp>
          <p:nvSpPr>
            <p:cNvPr id="39" name="Rectangle 39"/>
            <p:cNvSpPr/>
            <p:nvPr/>
          </p:nvSpPr>
          <p:spPr>
            <a:xfrm>
              <a:off x="533400" y="1524000"/>
              <a:ext cx="4977765" cy="3368040"/>
            </a:xfrm>
            <a:prstGeom prst="rect">
              <a:avLst/>
            </a:prstGeom>
            <a:noFill/>
            <a:ln w="14288">
              <a:solidFill>
                <a:srgbClr val="D9DFEA"/>
              </a:solidFill>
            </a:ln>
          </p:spPr>
        </p:sp>
        <p:sp>
          <p:nvSpPr>
            <p:cNvPr id="40" name="Rectangle 40"/>
            <p:cNvSpPr/>
            <p:nvPr/>
          </p:nvSpPr>
          <p:spPr>
            <a:xfrm>
              <a:off x="1624012" y="1524000"/>
              <a:ext cx="9525" cy="3368040"/>
            </a:xfrm>
            <a:prstGeom prst="rect">
              <a:avLst/>
            </a:prstGeom>
            <a:solidFill>
              <a:srgbClr val="D9DFEA"/>
            </a:solidFill>
            <a:ln>
              <a:noFill/>
            </a:ln>
          </p:spPr>
        </p:sp>
        <p:sp>
          <p:nvSpPr>
            <p:cNvPr id="41" name="Rectangle 41"/>
            <p:cNvSpPr/>
            <p:nvPr/>
          </p:nvSpPr>
          <p:spPr>
            <a:xfrm>
              <a:off x="3565208" y="1524000"/>
              <a:ext cx="9525" cy="3368040"/>
            </a:xfrm>
            <a:prstGeom prst="rect">
              <a:avLst/>
            </a:prstGeom>
            <a:solidFill>
              <a:srgbClr val="D9DFEA"/>
            </a:solidFill>
            <a:ln>
              <a:noFill/>
            </a:ln>
          </p:spPr>
        </p:sp>
      </p:grpSp>
      <p:grpSp>
        <p:nvGrpSpPr>
          <p:cNvPr id="48" name="c1-callout-2"/>
          <p:cNvGrpSpPr/>
          <p:nvPr/>
        </p:nvGrpSpPr>
        <p:grpSpPr>
          <a:xfrm>
            <a:off x="533400" y="5082540"/>
            <a:ext cx="4977765" cy="782955"/>
            <a:chOff x="533400" y="5082540"/>
            <a:chExt cx="4977765" cy="782955"/>
          </a:xfrm>
        </p:grpSpPr>
        <p:sp>
          <p:nvSpPr>
            <p:cNvPr id="43" name="Rectangle 43"/>
            <p:cNvSpPr/>
            <p:nvPr/>
          </p:nvSpPr>
          <p:spPr>
            <a:xfrm>
              <a:off x="533400" y="5082540"/>
              <a:ext cx="4977765" cy="782955"/>
            </a:xfrm>
            <a:prstGeom prst="roundRect">
              <a:avLst>
                <a:gd name="adj" fmla="val 14599"/>
              </a:avLst>
            </a:prstGeom>
            <a:solidFill>
              <a:srgbClr val="0E7C86"/>
            </a:solidFill>
            <a:ln>
              <a:noFill/>
            </a:ln>
          </p:spPr>
        </p:sp>
        <p:grpSp>
          <p:nvGrpSpPr>
            <p:cNvPr id="46" name="Group 46"/>
            <p:cNvGrpSpPr/>
            <p:nvPr/>
          </p:nvGrpSpPr>
          <p:grpSpPr>
            <a:xfrm>
              <a:off x="738188" y="5374007"/>
              <a:ext cx="200023" cy="200023"/>
              <a:chOff x="738188" y="5374007"/>
              <a:chExt cx="200023" cy="200023"/>
            </a:xfrm>
          </p:grpSpPr>
          <p:sp>
            <p:nvSpPr>
              <p:cNvPr id="44" name="Freeform 44"/>
              <p:cNvSpPr/>
              <p:nvPr/>
            </p:nvSpPr>
            <p:spPr>
              <a:xfrm>
                <a:off x="738188" y="537400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5" name="Freeform 45"/>
              <p:cNvSpPr/>
              <p:nvPr/>
            </p:nvSpPr>
            <p:spPr>
              <a:xfrm>
                <a:off x="871538" y="544068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7" name="TextBox 47"/>
            <p:cNvSpPr txBox="1"/>
            <p:nvPr/>
          </p:nvSpPr>
          <p:spPr>
            <a:xfrm>
              <a:off x="1040130" y="5231130"/>
              <a:ext cx="40633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目标函数一模一样：都是 min ½||w||²。变的只有</a:t>
              </a:r>
              <a:br/>
              <a:r>
                <a:rPr lang="zh-CN" sz="1500" dirty="0">
                  <a:solidFill>
                    <a:srgbClr val="FFFFFF"/>
                  </a:solidFill>
                  <a:latin typeface="+mn-lt"/>
                  <a:ea typeface="+mn-ea"/>
                  <a:cs typeface="+mn-cs"/>
                </a:rPr>
                <a:t>约束，所以整套对偶推导可以照搬。</a:t>
              </a:r>
            </a:p>
          </p:txBody>
        </p:sp>
      </p:grpSp>
      <p:grpSp>
        <p:nvGrpSpPr>
          <p:cNvPr id="65" name="c2-graph-1"/>
          <p:cNvGrpSpPr/>
          <p:nvPr/>
        </p:nvGrpSpPr>
        <p:grpSpPr>
          <a:xfrm>
            <a:off x="6235065" y="1545431"/>
            <a:ext cx="5152073" cy="2476500"/>
            <a:chOff x="6235065" y="1545431"/>
            <a:chExt cx="5152073" cy="2476500"/>
          </a:xfrm>
        </p:grpSpPr>
        <p:sp>
          <p:nvSpPr>
            <p:cNvPr id="49" name="Freeform 49"/>
            <p:cNvSpPr/>
            <p:nvPr/>
          </p:nvSpPr>
          <p:spPr>
            <a:xfrm>
              <a:off x="6320790" y="3769995"/>
              <a:ext cx="4971098" cy="9525"/>
            </a:xfrm>
            <a:custGeom>
              <a:avLst/>
              <a:gdLst/>
              <a:ahLst/>
              <a:cxnLst/>
              <a:rect l="l" t="t" r="r" b="b"/>
              <a:pathLst>
                <a:path w="4971098" h="9525">
                  <a:moveTo>
                    <a:pt x="0" y="0"/>
                  </a:moveTo>
                  <a:lnTo>
                    <a:pt x="4971098" y="0"/>
                  </a:lnTo>
                </a:path>
              </a:pathLst>
            </a:custGeom>
            <a:noFill/>
            <a:ln w="17145">
              <a:solidFill>
                <a:srgbClr val="5B6475"/>
              </a:solidFill>
            </a:ln>
          </p:spPr>
        </p:sp>
        <p:sp>
          <p:nvSpPr>
            <p:cNvPr id="50" name="Freeform 50"/>
            <p:cNvSpPr/>
            <p:nvPr/>
          </p:nvSpPr>
          <p:spPr>
            <a:xfrm>
              <a:off x="11291888" y="3722370"/>
              <a:ext cx="95250" cy="95250"/>
            </a:xfrm>
            <a:custGeom>
              <a:avLst/>
              <a:gdLst/>
              <a:ahLst/>
              <a:cxnLst/>
              <a:rect l="l" t="t" r="r" b="b"/>
              <a:pathLst>
                <a:path w="95250" h="95250">
                  <a:moveTo>
                    <a:pt x="95250" y="47625"/>
                  </a:moveTo>
                  <a:lnTo>
                    <a:pt x="0" y="95250"/>
                  </a:lnTo>
                  <a:lnTo>
                    <a:pt x="0" y="0"/>
                  </a:lnTo>
                  <a:close/>
                </a:path>
              </a:pathLst>
            </a:custGeom>
            <a:solidFill>
              <a:srgbClr val="5B6475"/>
            </a:solidFill>
            <a:ln>
              <a:noFill/>
            </a:ln>
          </p:spPr>
        </p:sp>
        <p:sp>
          <p:nvSpPr>
            <p:cNvPr id="51" name="Freeform 51"/>
            <p:cNvSpPr/>
            <p:nvPr/>
          </p:nvSpPr>
          <p:spPr>
            <a:xfrm>
              <a:off x="6282690" y="1864042"/>
              <a:ext cx="9525" cy="1814512"/>
            </a:xfrm>
            <a:custGeom>
              <a:avLst/>
              <a:gdLst/>
              <a:ahLst/>
              <a:cxnLst/>
              <a:rect l="l" t="t" r="r" b="b"/>
              <a:pathLst>
                <a:path w="9525" h="1814512">
                  <a:moveTo>
                    <a:pt x="0" y="0"/>
                  </a:moveTo>
                  <a:lnTo>
                    <a:pt x="0" y="1814512"/>
                  </a:lnTo>
                </a:path>
              </a:pathLst>
            </a:custGeom>
            <a:noFill/>
            <a:ln w="17145">
              <a:solidFill>
                <a:srgbClr val="5B6475"/>
              </a:solidFill>
            </a:ln>
          </p:spPr>
        </p:sp>
        <p:sp>
          <p:nvSpPr>
            <p:cNvPr id="52" name="Freeform 52"/>
            <p:cNvSpPr/>
            <p:nvPr/>
          </p:nvSpPr>
          <p:spPr>
            <a:xfrm>
              <a:off x="6235065" y="1768792"/>
              <a:ext cx="95250" cy="95250"/>
            </a:xfrm>
            <a:custGeom>
              <a:avLst/>
              <a:gdLst/>
              <a:ahLst/>
              <a:cxnLst/>
              <a:rect l="l" t="t" r="r" b="b"/>
              <a:pathLst>
                <a:path w="95250" h="95250">
                  <a:moveTo>
                    <a:pt x="47625" y="0"/>
                  </a:moveTo>
                  <a:lnTo>
                    <a:pt x="95250" y="95250"/>
                  </a:lnTo>
                  <a:lnTo>
                    <a:pt x="0" y="95250"/>
                  </a:lnTo>
                  <a:close/>
                </a:path>
              </a:pathLst>
            </a:custGeom>
            <a:solidFill>
              <a:srgbClr val="5B6475"/>
            </a:solidFill>
            <a:ln>
              <a:noFill/>
            </a:ln>
          </p:spPr>
        </p:sp>
        <p:sp>
          <p:nvSpPr>
            <p:cNvPr id="53" name="Freeform 53"/>
            <p:cNvSpPr/>
            <p:nvPr/>
          </p:nvSpPr>
          <p:spPr>
            <a:xfrm>
              <a:off x="6415088" y="2276475"/>
              <a:ext cx="4819650" cy="944880"/>
            </a:xfrm>
            <a:custGeom>
              <a:avLst/>
              <a:gdLst/>
              <a:ahLst/>
              <a:cxnLst/>
              <a:rect l="l" t="t" r="r" b="b"/>
              <a:pathLst>
                <a:path w="4819650" h="944880">
                  <a:moveTo>
                    <a:pt x="0" y="944880"/>
                  </a:moveTo>
                  <a:lnTo>
                    <a:pt x="4819650" y="0"/>
                  </a:lnTo>
                </a:path>
              </a:pathLst>
            </a:custGeom>
            <a:noFill/>
            <a:ln w="17145">
              <a:solidFill>
                <a:srgbClr val="0E7C86"/>
              </a:solidFill>
            </a:ln>
          </p:spPr>
        </p:sp>
        <p:sp>
          <p:nvSpPr>
            <p:cNvPr id="54" name="Freeform 54"/>
            <p:cNvSpPr/>
            <p:nvPr/>
          </p:nvSpPr>
          <p:spPr>
            <a:xfrm>
              <a:off x="6415088" y="1975485"/>
              <a:ext cx="4819650" cy="947737"/>
            </a:xfrm>
            <a:custGeom>
              <a:avLst/>
              <a:gdLst/>
              <a:ahLst/>
              <a:cxnLst/>
              <a:rect l="l" t="t" r="r" b="b"/>
              <a:pathLst>
                <a:path w="4819650" h="947737">
                  <a:moveTo>
                    <a:pt x="0" y="947737"/>
                  </a:moveTo>
                  <a:lnTo>
                    <a:pt x="4819650" y="0"/>
                  </a:lnTo>
                </a:path>
              </a:pathLst>
            </a:custGeom>
            <a:noFill/>
            <a:ln w="17145">
              <a:solidFill>
                <a:srgbClr val="F26B3A"/>
              </a:solidFill>
              <a:custDash>
                <a:ds d="333333" sp="222222"/>
              </a:custDash>
            </a:ln>
          </p:spPr>
        </p:sp>
        <p:sp>
          <p:nvSpPr>
            <p:cNvPr id="55" name="Freeform 55"/>
            <p:cNvSpPr/>
            <p:nvPr/>
          </p:nvSpPr>
          <p:spPr>
            <a:xfrm>
              <a:off x="6415088" y="2575560"/>
              <a:ext cx="4819650" cy="947738"/>
            </a:xfrm>
            <a:custGeom>
              <a:avLst/>
              <a:gdLst/>
              <a:ahLst/>
              <a:cxnLst/>
              <a:rect l="l" t="t" r="r" b="b"/>
              <a:pathLst>
                <a:path w="4819650" h="947738">
                  <a:moveTo>
                    <a:pt x="0" y="947738"/>
                  </a:moveTo>
                  <a:lnTo>
                    <a:pt x="4819650" y="0"/>
                  </a:lnTo>
                </a:path>
              </a:pathLst>
            </a:custGeom>
            <a:noFill/>
            <a:ln w="17145">
              <a:solidFill>
                <a:srgbClr val="F26B3A"/>
              </a:solidFill>
              <a:custDash>
                <a:ds d="333333" sp="222222"/>
              </a:custDash>
            </a:ln>
          </p:spPr>
        </p:sp>
        <p:sp>
          <p:nvSpPr>
            <p:cNvPr id="56" name="Ellipse 56"/>
            <p:cNvSpPr/>
            <p:nvPr/>
          </p:nvSpPr>
          <p:spPr>
            <a:xfrm>
              <a:off x="7218045" y="3272790"/>
              <a:ext cx="152400" cy="152400"/>
            </a:xfrm>
            <a:prstGeom prst="ellipse">
              <a:avLst/>
            </a:prstGeom>
            <a:solidFill>
              <a:srgbClr val="B42318"/>
            </a:solidFill>
            <a:ln>
              <a:noFill/>
            </a:ln>
          </p:spPr>
        </p:sp>
        <p:sp>
          <p:nvSpPr>
            <p:cNvPr id="57" name="Ellipse 57"/>
            <p:cNvSpPr/>
            <p:nvPr/>
          </p:nvSpPr>
          <p:spPr>
            <a:xfrm>
              <a:off x="8748712" y="2672715"/>
              <a:ext cx="152400" cy="152400"/>
            </a:xfrm>
            <a:prstGeom prst="ellipse">
              <a:avLst/>
            </a:prstGeom>
            <a:solidFill>
              <a:srgbClr val="0E7C86"/>
            </a:solidFill>
            <a:ln>
              <a:noFill/>
            </a:ln>
          </p:spPr>
        </p:sp>
        <p:sp>
          <p:nvSpPr>
            <p:cNvPr id="58" name="Ellipse 58"/>
            <p:cNvSpPr/>
            <p:nvPr/>
          </p:nvSpPr>
          <p:spPr>
            <a:xfrm>
              <a:off x="10279380" y="2073592"/>
              <a:ext cx="152400" cy="152400"/>
            </a:xfrm>
            <a:prstGeom prst="ellipse">
              <a:avLst/>
            </a:prstGeom>
            <a:solidFill>
              <a:srgbClr val="B42318"/>
            </a:solidFill>
            <a:ln>
              <a:noFill/>
            </a:ln>
          </p:spPr>
        </p:sp>
        <p:sp>
          <p:nvSpPr>
            <p:cNvPr id="59" name="TextBox 59"/>
            <p:cNvSpPr txBox="1"/>
            <p:nvPr/>
          </p:nvSpPr>
          <p:spPr>
            <a:xfrm>
              <a:off x="10569092" y="2141220"/>
              <a:ext cx="276073" cy="176212"/>
            </a:xfrm>
            <a:prstGeom prst="rect">
              <a:avLst/>
            </a:prstGeom>
            <a:noFill/>
            <a:ln>
              <a:noFill/>
            </a:ln>
          </p:spPr>
          <p:txBody>
            <a:bodyPr wrap="none" lIns="0" tIns="0" rIns="0" bIns="0" anchor="t" anchorCtr="0">
              <a:spAutoFit/>
            </a:bodyPr>
            <a:lstStyle/>
            <a:p>
              <a:pPr algn="r"/>
              <a:r>
                <a:rPr lang="en-US" sz="900" dirty="0">
                  <a:solidFill>
                    <a:srgbClr val="0E7C86"/>
                  </a:solidFill>
                  <a:latin typeface="+mn-lt"/>
                  <a:ea typeface="+mn-ea"/>
                  <a:cs typeface="+mn-cs"/>
                </a:rPr>
                <a:t>f(x)</a:t>
              </a:r>
            </a:p>
          </p:txBody>
        </p:sp>
        <p:sp>
          <p:nvSpPr>
            <p:cNvPr id="60" name="TextBox 60"/>
            <p:cNvSpPr txBox="1"/>
            <p:nvPr/>
          </p:nvSpPr>
          <p:spPr>
            <a:xfrm>
              <a:off x="7146646" y="2754630"/>
              <a:ext cx="142799" cy="176212"/>
            </a:xfrm>
            <a:prstGeom prst="rect">
              <a:avLst/>
            </a:prstGeom>
            <a:noFill/>
            <a:ln>
              <a:noFill/>
            </a:ln>
          </p:spPr>
          <p:txBody>
            <a:bodyPr wrap="none" lIns="0" tIns="0" rIns="0" bIns="0" anchor="t" anchorCtr="0">
              <a:spAutoFit/>
            </a:bodyPr>
            <a:lstStyle/>
            <a:p>
              <a:pPr algn="ctr"/>
              <a:r>
                <a:rPr lang="el-GR" sz="900" dirty="0">
                  <a:solidFill>
                    <a:srgbClr val="F26B3A"/>
                  </a:solidFill>
                  <a:latin typeface="+mn-lt"/>
                  <a:ea typeface="+mn-ea"/>
                  <a:cs typeface="+mn-cs"/>
                </a:rPr>
                <a:t>+ε</a:t>
              </a:r>
            </a:p>
          </p:txBody>
        </p:sp>
        <p:sp>
          <p:nvSpPr>
            <p:cNvPr id="61" name="TextBox 61"/>
            <p:cNvSpPr txBox="1"/>
            <p:nvPr/>
          </p:nvSpPr>
          <p:spPr>
            <a:xfrm>
              <a:off x="7146646" y="3570923"/>
              <a:ext cx="142799" cy="176212"/>
            </a:xfrm>
            <a:prstGeom prst="rect">
              <a:avLst/>
            </a:prstGeom>
            <a:noFill/>
            <a:ln>
              <a:noFill/>
            </a:ln>
          </p:spPr>
          <p:txBody>
            <a:bodyPr wrap="none" lIns="0" tIns="0" rIns="0" bIns="0" anchor="t" anchorCtr="0">
              <a:spAutoFit/>
            </a:bodyPr>
            <a:lstStyle/>
            <a:p>
              <a:pPr algn="ctr"/>
              <a:r>
                <a:rPr lang="el-GR" sz="900" dirty="0">
                  <a:solidFill>
                    <a:srgbClr val="F26B3A"/>
                  </a:solidFill>
                  <a:latin typeface="+mn-lt"/>
                  <a:ea typeface="+mn-ea"/>
                  <a:cs typeface="+mn-cs"/>
                </a:rPr>
                <a:t>−ε</a:t>
              </a:r>
            </a:p>
          </p:txBody>
        </p:sp>
        <p:sp>
          <p:nvSpPr>
            <p:cNvPr id="62" name="TextBox 62"/>
            <p:cNvSpPr txBox="1"/>
            <p:nvPr/>
          </p:nvSpPr>
          <p:spPr>
            <a:xfrm>
              <a:off x="8057064" y="1733550"/>
              <a:ext cx="1360437" cy="176212"/>
            </a:xfrm>
            <a:prstGeom prst="rect">
              <a:avLst/>
            </a:prstGeom>
            <a:noFill/>
            <a:ln>
              <a:noFill/>
            </a:ln>
          </p:spPr>
          <p:txBody>
            <a:bodyPr wrap="none" lIns="0" tIns="0" rIns="0" bIns="0" anchor="t" anchorCtr="0">
              <a:spAutoFit/>
            </a:bodyPr>
            <a:lstStyle/>
            <a:p>
              <a:pPr algn="ctr"/>
              <a:r>
                <a:rPr lang="zh-CN" sz="900" dirty="0">
                  <a:solidFill>
                    <a:srgbClr val="B42318"/>
                  </a:solidFill>
                  <a:latin typeface="+mn-lt"/>
                  <a:ea typeface="+mn-ea"/>
                  <a:cs typeface="+mn-cs"/>
                </a:rPr>
                <a:t>带边界上的点 = 支持向量</a:t>
              </a:r>
            </a:p>
          </p:txBody>
        </p:sp>
        <p:sp>
          <p:nvSpPr>
            <p:cNvPr id="63" name="TextBox 63"/>
            <p:cNvSpPr txBox="1"/>
            <p:nvPr/>
          </p:nvSpPr>
          <p:spPr>
            <a:xfrm>
              <a:off x="11242604" y="3860006"/>
              <a:ext cx="70239" cy="161925"/>
            </a:xfrm>
            <a:prstGeom prst="rect">
              <a:avLst/>
            </a:prstGeom>
            <a:noFill/>
            <a:ln>
              <a:noFill/>
            </a:ln>
          </p:spPr>
          <p:txBody>
            <a:bodyPr wrap="none" lIns="0" tIns="0" rIns="0" bIns="0" anchor="t" anchorCtr="0">
              <a:spAutoFit/>
            </a:bodyPr>
            <a:lstStyle/>
            <a:p>
              <a:pPr algn="r"/>
              <a:r>
                <a:rPr lang="en-US" sz="820" dirty="0">
                  <a:solidFill>
                    <a:srgbClr val="5B6475"/>
                  </a:solidFill>
                  <a:latin typeface="+mn-lt"/>
                  <a:ea typeface="+mn-ea"/>
                  <a:cs typeface="+mn-cs"/>
                </a:rPr>
                <a:t>x</a:t>
              </a:r>
            </a:p>
          </p:txBody>
        </p:sp>
        <p:sp>
          <p:nvSpPr>
            <p:cNvPr id="64" name="TextBox 64"/>
            <p:cNvSpPr txBox="1"/>
            <p:nvPr/>
          </p:nvSpPr>
          <p:spPr>
            <a:xfrm>
              <a:off x="6422831" y="1545431"/>
              <a:ext cx="70239" cy="161925"/>
            </a:xfrm>
            <a:prstGeom prst="rect">
              <a:avLst/>
            </a:prstGeom>
            <a:noFill/>
            <a:ln>
              <a:noFill/>
            </a:ln>
          </p:spPr>
          <p:txBody>
            <a:bodyPr wrap="none" lIns="0" tIns="0" rIns="0" bIns="0" anchor="t" anchorCtr="0">
              <a:spAutoFit/>
            </a:bodyPr>
            <a:lstStyle/>
            <a:p>
              <a:pPr algn="ctr"/>
              <a:r>
                <a:rPr lang="en-US" sz="820" dirty="0">
                  <a:solidFill>
                    <a:srgbClr val="5B6475"/>
                  </a:solidFill>
                  <a:latin typeface="+mn-lt"/>
                  <a:ea typeface="+mn-ea"/>
                  <a:cs typeface="+mn-cs"/>
                </a:rPr>
                <a:t>y</a:t>
              </a:r>
            </a:p>
          </p:txBody>
        </p:sp>
      </p:grpSp>
      <p:grpSp>
        <p:nvGrpSpPr>
          <p:cNvPr id="70" name="c2-card-2"/>
          <p:cNvGrpSpPr/>
          <p:nvPr/>
        </p:nvGrpSpPr>
        <p:grpSpPr>
          <a:xfrm>
            <a:off x="5815965" y="4267200"/>
            <a:ext cx="5842635" cy="1598295"/>
            <a:chOff x="5815965" y="4267200"/>
            <a:chExt cx="5842635" cy="1598295"/>
          </a:xfrm>
        </p:grpSpPr>
        <p:sp>
          <p:nvSpPr>
            <p:cNvPr id="66" name="Rectangle 66"/>
            <p:cNvSpPr/>
            <p:nvPr/>
          </p:nvSpPr>
          <p:spPr>
            <a:xfrm>
              <a:off x="5815965" y="4267200"/>
              <a:ext cx="5842635" cy="1598295"/>
            </a:xfrm>
            <a:prstGeom prst="roundRect">
              <a:avLst>
                <a:gd name="adj" fmla="val 8343"/>
              </a:avLst>
            </a:prstGeom>
            <a:solidFill>
              <a:srgbClr val="FFFFFF"/>
            </a:solidFill>
            <a:ln w="14288">
              <a:solidFill>
                <a:srgbClr val="D9DFEA"/>
              </a:solidFill>
            </a:ln>
          </p:spPr>
        </p:sp>
        <p:sp>
          <p:nvSpPr>
            <p:cNvPr id="67" name="Rectangle 67"/>
            <p:cNvSpPr/>
            <p:nvPr/>
          </p:nvSpPr>
          <p:spPr>
            <a:xfrm>
              <a:off x="5825490" y="4400550"/>
              <a:ext cx="47625" cy="1331595"/>
            </a:xfrm>
            <a:prstGeom prst="roundRect">
              <a:avLst>
                <a:gd name="adj" fmla="val 50000"/>
              </a:avLst>
            </a:prstGeom>
            <a:solidFill>
              <a:srgbClr val="D97706"/>
            </a:solidFill>
            <a:ln>
              <a:noFill/>
            </a:ln>
          </p:spPr>
        </p:sp>
        <p:sp>
          <p:nvSpPr>
            <p:cNvPr id="68" name="TextBox 68"/>
            <p:cNvSpPr txBox="1"/>
            <p:nvPr/>
          </p:nvSpPr>
          <p:spPr>
            <a:xfrm>
              <a:off x="6055995" y="4501515"/>
              <a:ext cx="163068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松弛变量同样要加</a:t>
              </a:r>
            </a:p>
          </p:txBody>
        </p:sp>
        <p:sp>
          <p:nvSpPr>
            <p:cNvPr id="69" name="TextBox 69"/>
            <p:cNvSpPr txBox="1"/>
            <p:nvPr/>
          </p:nvSpPr>
          <p:spPr>
            <a:xfrm>
              <a:off x="6055995" y="4855845"/>
              <a:ext cx="51492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为了去掉异常数据的影响，SVR 同样引入松弛因子，而且上下</a:t>
              </a:r>
              <a:br/>
              <a:r>
                <a:rPr lang="zh-CN" sz="1500" dirty="0">
                  <a:solidFill>
                    <a:srgbClr val="1F2937"/>
                  </a:solidFill>
                  <a:latin typeface="+mn-lt"/>
                  <a:ea typeface="+mn-ea"/>
                  <a:cs typeface="+mn-cs"/>
                </a:rPr>
                <a:t>两侧各要一个：ξᵢ 管向上越界，ξᵢ* 管向下越界。</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604338" cy="909257"/>
            <a:chOff x="520446" y="342900"/>
            <a:chExt cx="6604338"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660433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SVR 的原问题、拉格朗日函数与最优性条件</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4" name="c1-card-1"/>
          <p:cNvGrpSpPr/>
          <p:nvPr/>
        </p:nvGrpSpPr>
        <p:grpSpPr>
          <a:xfrm>
            <a:off x="533400" y="1524000"/>
            <a:ext cx="5410200" cy="2266950"/>
            <a:chOff x="533400" y="1524000"/>
            <a:chExt cx="5410200" cy="2266950"/>
          </a:xfrm>
        </p:grpSpPr>
        <p:sp>
          <p:nvSpPr>
            <p:cNvPr id="7" name="Rectangle 7"/>
            <p:cNvSpPr/>
            <p:nvPr/>
          </p:nvSpPr>
          <p:spPr>
            <a:xfrm>
              <a:off x="533400" y="1524000"/>
              <a:ext cx="5410200" cy="2266950"/>
            </a:xfrm>
            <a:prstGeom prst="roundRect">
              <a:avLst>
                <a:gd name="adj" fmla="val 5882"/>
              </a:avLst>
            </a:prstGeom>
            <a:solidFill>
              <a:srgbClr val="0E7C86"/>
            </a:solidFill>
            <a:ln>
              <a:noFill/>
            </a:ln>
          </p:spPr>
        </p:sp>
        <p:sp>
          <p:nvSpPr>
            <p:cNvPr id="8" name="Rectangle 8"/>
            <p:cNvSpPr/>
            <p:nvPr/>
          </p:nvSpPr>
          <p:spPr>
            <a:xfrm>
              <a:off x="725805" y="1716405"/>
              <a:ext cx="609600" cy="247650"/>
            </a:xfrm>
            <a:prstGeom prst="roundRect">
              <a:avLst>
                <a:gd name="adj" fmla="val 50000"/>
              </a:avLst>
            </a:prstGeom>
            <a:solidFill>
              <a:srgbClr val="0B5F67"/>
            </a:solidFill>
            <a:ln>
              <a:noFill/>
            </a:ln>
          </p:spPr>
        </p:sp>
        <p:sp>
          <p:nvSpPr>
            <p:cNvPr id="9" name="TextBox 9"/>
            <p:cNvSpPr txBox="1"/>
            <p:nvPr/>
          </p:nvSpPr>
          <p:spPr>
            <a:xfrm>
              <a:off x="813244" y="1750695"/>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原问题</a:t>
              </a:r>
            </a:p>
          </p:txBody>
        </p:sp>
        <p:sp>
          <p:nvSpPr>
            <p:cNvPr id="10" name="TextBox 10"/>
            <p:cNvSpPr txBox="1"/>
            <p:nvPr/>
          </p:nvSpPr>
          <p:spPr>
            <a:xfrm>
              <a:off x="1442847" y="1756410"/>
              <a:ext cx="201282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上下两侧各一个松弛变量</a:t>
              </a:r>
            </a:p>
          </p:txBody>
        </p:sp>
        <mc:AlternateContent xmlns:mc="http://schemas.openxmlformats.org/markup-compatibility/2006">
          <mc:Choice xmlns:a14="http://schemas.microsoft.com/office/drawing/2010/main" Requires="a14">
            <p:sp>
              <p:nvSpPr>
                <p:cNvPr id="11" name="formula302"/>
                <p:cNvSpPr txBox="1">
                  <a:spLocks noGrp="1"/>
                </p:cNvSpPr>
                <p:nvPr/>
              </p:nvSpPr>
              <p:spPr>
                <a:xfrm>
                  <a:off x="725805" y="2067878"/>
                  <a:ext cx="5025390" cy="60007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r>
                              <m:rPr>
                                <m:sty m:val="p"/>
                              </m:rPr>
                              <a:rPr lang="zh-CN" sz="1350" dirty="0">
                                <a:solidFill>
                                  <a:srgbClr val="FFFFFF"/>
                                </a:solidFill>
                                <a:latin typeface="Cambria Math"/>
                                <a:ea typeface="Cambria Math"/>
                                <a:cs typeface="Cambria Math"/>
                              </a:rPr>
                              <m:t>min</m:t>
                            </m:r>
                          </m:fName>
                          <m:e>
                            <m:r>
                              <a:rPr lang="zh-CN" sz="1350" dirty="0">
                                <a:solidFill>
                                  <a:srgbClr val="FFFFFF"/>
                                </a:solidFill>
                                <a:latin typeface="Cambria Math"/>
                                <a:ea typeface="Cambria Math"/>
                                <a:cs typeface="Cambria Math"/>
                              </a:rPr>
                              <m:t xml:space="preserve"> </m:t>
                            </m:r>
                            <m:f>
                              <m:fPr>
                                <m:type m:val="bar"/>
                                <m:ctrlPr>
                                  <a:rPr lang="zh-CN" sz="1350" dirty="0">
                                    <a:solidFill>
                                      <a:srgbClr val="FFFFFF"/>
                                    </a:solidFill>
                                    <a:latin typeface="Cambria Math"/>
                                    <a:ea typeface="Cambria Math"/>
                                    <a:cs typeface="Cambria Math"/>
                                  </a:rPr>
                                </m:ctrlPr>
                              </m:fPr>
                              <m:num>
                                <m:r>
                                  <a:rPr lang="zh-CN" sz="1350" dirty="0">
                                    <a:solidFill>
                                      <a:srgbClr val="FFFFFF"/>
                                    </a:solidFill>
                                    <a:latin typeface="Cambria Math"/>
                                    <a:ea typeface="Cambria Math"/>
                                    <a:cs typeface="Cambria Math"/>
                                  </a:rPr>
                                  <m:t>1</m:t>
                                </m:r>
                              </m:num>
                              <m:den>
                                <m:r>
                                  <a:rPr lang="zh-CN" sz="1350" dirty="0">
                                    <a:solidFill>
                                      <a:srgbClr val="FFFFFF"/>
                                    </a:solidFill>
                                    <a:latin typeface="Cambria Math"/>
                                    <a:ea typeface="Cambria Math"/>
                                    <a:cs typeface="Cambria Math"/>
                                  </a:rPr>
                                  <m:t>2</m:t>
                                </m:r>
                              </m:den>
                            </m:f>
                            <m:sSup>
                              <m:e>
                                <m:d>
                                  <m:dPr>
                                    <m:begChr m:val="‖"/>
                                    <m:sepChr m:val=""/>
                                    <m:endChr m:val="‖"/>
                                    <m:grow m:val="on"/>
                                    <m:ctrlPr>
                                      <a:rPr lang="zh-CN" sz="1350" dirty="0">
                                        <a:solidFill>
                                          <a:srgbClr val="FFFFFF"/>
                                        </a:solidFill>
                                        <a:latin typeface="Cambria Math"/>
                                        <a:ea typeface="Cambria Math"/>
                                        <a:cs typeface="Cambria Math"/>
                                      </a:rPr>
                                    </m:ctrlPr>
                                  </m:dPr>
                                  <m:e>
                                    <m:r>
                                      <a:rPr lang="zh-CN" sz="1350" dirty="0">
                                        <a:solidFill>
                                          <a:srgbClr val="FFFFFF"/>
                                        </a:solidFill>
                                        <a:latin typeface="Cambria Math"/>
                                        <a:ea typeface="Cambria Math"/>
                                        <a:cs typeface="Cambria Math"/>
                                      </a:rPr>
                                      <m:t>w</m:t>
                                    </m:r>
                                  </m:e>
                                </m:d>
                              </m:e>
                              <m:sup>
                                <m:r>
                                  <a:rPr lang="zh-CN" sz="1350" dirty="0">
                                    <a:solidFill>
                                      <a:srgbClr val="FFFFFF"/>
                                    </a:solidFill>
                                    <a:latin typeface="Cambria Math"/>
                                    <a:ea typeface="Cambria Math"/>
                                    <a:cs typeface="Cambria Math"/>
                                  </a:rPr>
                                  <m:t>2</m:t>
                                </m:r>
                              </m:sup>
                            </m:sSup>
                          </m:e>
                        </m:func>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C</m:t>
                        </m:r>
                        <m:nary>
                          <m:naryPr>
                            <m:chr m:val="∑"/>
                            <m:limLoc m:val="undOvr"/>
                            <m:grow m:val="off"/>
                            <m:subHide m:val="off"/>
                            <m:supHide m:val="off"/>
                            <m:ctrlPr>
                              <a:rPr lang="zh-CN" sz="1350" dirty="0">
                                <a:solidFill>
                                  <a:srgbClr val="FFFFFF"/>
                                </a:solidFill>
                                <a:latin typeface="Cambria Math"/>
                                <a:ea typeface="Cambria Math"/>
                                <a:cs typeface="Cambria Math"/>
                              </a:rPr>
                            </m:ctrlPr>
                          </m:naryPr>
                          <m:sub>
                            <m:r>
                              <a:rPr lang="zh-CN" sz="1350" dirty="0">
                                <a:solidFill>
                                  <a:srgbClr val="FFFFFF"/>
                                </a:solidFill>
                                <a:latin typeface="Cambria Math"/>
                                <a:ea typeface="Cambria Math"/>
                                <a:cs typeface="Cambria Math"/>
                              </a:rPr>
                              <m:t>i</m:t>
                            </m:r>
                            <m:r>
                              <m:rPr>
                                <m:sty m:val="p"/>
                              </m:rPr>
                              <a:rPr lang="zh-CN" sz="1350" dirty="0">
                                <a:solidFill>
                                  <a:srgbClr val="FFFFFF"/>
                                </a:solidFill>
                                <a:latin typeface="Cambria Math"/>
                                <a:ea typeface="Cambria Math"/>
                                <a:cs typeface="Cambria Math"/>
                              </a:rPr>
                              <m:t>=</m:t>
                            </m:r>
                            <m:r>
                              <a:rPr lang="zh-CN" sz="1350" dirty="0">
                                <a:solidFill>
                                  <a:srgbClr val="FFFFFF"/>
                                </a:solidFill>
                                <a:latin typeface="Cambria Math"/>
                                <a:ea typeface="Cambria Math"/>
                                <a:cs typeface="Cambria Math"/>
                              </a:rPr>
                              <m:t>1</m:t>
                            </m:r>
                          </m:sub>
                          <m:sup>
                            <m:r>
                              <a:rPr lang="zh-CN" sz="1350" dirty="0">
                                <a:solidFill>
                                  <a:srgbClr val="FFFFFF"/>
                                </a:solidFill>
                                <a:latin typeface="Cambria Math"/>
                                <a:ea typeface="Cambria Math"/>
                                <a:cs typeface="Cambria Math"/>
                              </a:rPr>
                              <m:t>l</m:t>
                            </m:r>
                          </m:sup>
                          <m:e>
                            <m:d>
                              <m:dPr>
                                <m:begChr m:val="("/>
                                <m:sepChr m:val=""/>
                                <m:endChr m:val=")"/>
                                <m:grow m:val="on"/>
                                <m:ctrlPr>
                                  <a:rPr lang="zh-CN" sz="1350" dirty="0">
                                    <a:solidFill>
                                      <a:srgbClr val="FFFFFF"/>
                                    </a:solidFill>
                                    <a:latin typeface="Cambria Math"/>
                                    <a:ea typeface="Cambria Math"/>
                                    <a:cs typeface="Cambria Math"/>
                                  </a:rPr>
                                </m:ctrlPr>
                              </m:dPr>
                              <m:e>
                                <m:sSub>
                                  <m:e>
                                    <m:r>
                                      <a:rPr lang="zh-CN" sz="1350" dirty="0">
                                        <a:solidFill>
                                          <a:srgbClr val="FFFFFF"/>
                                        </a:solidFill>
                                        <a:latin typeface="Cambria Math"/>
                                        <a:ea typeface="Cambria Math"/>
                                        <a:cs typeface="Cambria Math"/>
                                      </a:rPr>
                                      <m:t>ξ</m:t>
                                    </m:r>
                                  </m:e>
                                  <m:sub>
                                    <m:r>
                                      <a:rPr lang="zh-CN" sz="1350" dirty="0">
                                        <a:solidFill>
                                          <a:srgbClr val="FFFFFF"/>
                                        </a:solidFill>
                                        <a:latin typeface="Cambria Math"/>
                                        <a:ea typeface="Cambria Math"/>
                                        <a:cs typeface="Cambria Math"/>
                                      </a:rPr>
                                      <m:t>i</m:t>
                                    </m:r>
                                  </m:sub>
                                </m:sSub>
                                <m:r>
                                  <m:rPr>
                                    <m:sty m:val="p"/>
                                  </m:rPr>
                                  <a:rPr lang="zh-CN" sz="1350" dirty="0">
                                    <a:solidFill>
                                      <a:srgbClr val="FFFFFF"/>
                                    </a:solidFill>
                                    <a:latin typeface="Cambria Math"/>
                                    <a:ea typeface="Cambria Math"/>
                                    <a:cs typeface="Cambria Math"/>
                                  </a:rPr>
                                  <m:t>+</m:t>
                                </m:r>
                                <m:sSubSup>
                                  <m:e>
                                    <m:r>
                                      <a:rPr lang="zh-CN" sz="1350" dirty="0">
                                        <a:solidFill>
                                          <a:srgbClr val="FFFFFF"/>
                                        </a:solidFill>
                                        <a:latin typeface="Cambria Math"/>
                                        <a:ea typeface="Cambria Math"/>
                                        <a:cs typeface="Cambria Math"/>
                                      </a:rPr>
                                      <m:t>ξ</m:t>
                                    </m:r>
                                  </m:e>
                                  <m:sub>
                                    <m:r>
                                      <a:rPr lang="zh-CN" sz="1350" dirty="0">
                                        <a:solidFill>
                                          <a:srgbClr val="FFFFFF"/>
                                        </a:solidFill>
                                        <a:latin typeface="Cambria Math"/>
                                        <a:ea typeface="Cambria Math"/>
                                        <a:cs typeface="Cambria Math"/>
                                      </a:rPr>
                                      <m:t>i</m:t>
                                    </m:r>
                                  </m:sub>
                                  <m:sup>
                                    <m:r>
                                      <m:rPr>
                                        <m:sty m:val="p"/>
                                      </m:rPr>
                                      <a:rPr lang="zh-CN" sz="1350" dirty="0">
                                        <a:solidFill>
                                          <a:srgbClr val="FFFFFF"/>
                                        </a:solidFill>
                                        <a:latin typeface="Cambria Math"/>
                                        <a:ea typeface="Cambria Math"/>
                                        <a:cs typeface="Cambria Math"/>
                                      </a:rPr>
                                      <m:t>*</m:t>
                                    </m:r>
                                  </m:sup>
                                </m:sSubSup>
                              </m:e>
                            </m:d>
                          </m:e>
                        </m:nary>
                      </m:oMath>
                    </m:oMathPara>
                  </a14:m>
                </a:p>
              </p:txBody>
            </p:sp>
          </mc:Choice>
        </mc:AlternateContent>
        <mc:AlternateContent xmlns:mc="http://schemas.openxmlformats.org/markup-compatibility/2006">
          <mc:Choice xmlns:a14="http://schemas.microsoft.com/office/drawing/2010/main" Requires="a14">
            <p:sp>
              <p:nvSpPr>
                <p:cNvPr id="12" name="formula303"/>
                <p:cNvSpPr txBox="1">
                  <a:spLocks noGrp="1"/>
                </p:cNvSpPr>
                <p:nvPr/>
              </p:nvSpPr>
              <p:spPr>
                <a:xfrm>
                  <a:off x="725805" y="2754630"/>
                  <a:ext cx="5025390" cy="2667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050" dirty="0">
                            <a:solidFill>
                              <a:srgbClr val="FFFFFF"/>
                            </a:solidFill>
                            <a:latin typeface="Cambria Math"/>
                            <a:ea typeface="Cambria Math"/>
                            <a:cs typeface="Cambria Math"/>
                          </a:rPr>
                          <m:t>s.t.</m:t>
                        </m:r>
                        <m:r>
                          <a:rPr lang="zh-CN" sz="1050" dirty="0">
                            <a:solidFill>
                              <a:srgbClr val="FFFFFF"/>
                            </a:solidFill>
                            <a:latin typeface="Cambria Math"/>
                            <a:ea typeface="Cambria Math"/>
                            <a:cs typeface="Cambria Math"/>
                          </a:rPr>
                          <m:t xml:space="preserve">  </m:t>
                        </m:r>
                        <m:r>
                          <a:rPr lang="zh-CN" sz="1050" dirty="0">
                            <a:solidFill>
                              <a:srgbClr val="FFFFFF"/>
                            </a:solidFill>
                            <a:latin typeface="Cambria Math"/>
                            <a:ea typeface="Cambria Math"/>
                            <a:cs typeface="Cambria Math"/>
                          </a:rPr>
                          <m:t>w</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ϕ</m:t>
                        </m:r>
                        <m:d>
                          <m:dPr>
                            <m:begChr m:val="("/>
                            <m:sepChr m:val=""/>
                            <m:endChr m:val=")"/>
                            <m:grow m:val="on"/>
                            <m:ctrlPr>
                              <a:rPr lang="zh-CN" sz="1050" dirty="0">
                                <a:solidFill>
                                  <a:srgbClr val="FFFFFF"/>
                                </a:solidFill>
                                <a:latin typeface="Cambria Math"/>
                                <a:ea typeface="Cambria Math"/>
                                <a:cs typeface="Cambria Math"/>
                              </a:rPr>
                            </m:ctrlPr>
                          </m:dPr>
                          <m:e>
                            <m:sSub>
                              <m:e>
                                <m:r>
                                  <a:rPr lang="zh-CN" sz="1050" dirty="0">
                                    <a:solidFill>
                                      <a:srgbClr val="FFFFFF"/>
                                    </a:solidFill>
                                    <a:latin typeface="Cambria Math"/>
                                    <a:ea typeface="Cambria Math"/>
                                    <a:cs typeface="Cambria Math"/>
                                  </a:rPr>
                                  <m:t>x</m:t>
                                </m:r>
                              </m:e>
                              <m:sub>
                                <m:r>
                                  <a:rPr lang="zh-CN" sz="1050" dirty="0">
                                    <a:solidFill>
                                      <a:srgbClr val="FFFFFF"/>
                                    </a:solidFill>
                                    <a:latin typeface="Cambria Math"/>
                                    <a:ea typeface="Cambria Math"/>
                                    <a:cs typeface="Cambria Math"/>
                                  </a:rPr>
                                  <m:t>i</m:t>
                                </m:r>
                              </m:sub>
                            </m:sSub>
                          </m:e>
                        </m:d>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b</m:t>
                        </m:r>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y</m:t>
                            </m:r>
                          </m:e>
                          <m:sub>
                            <m:r>
                              <a:rPr lang="zh-CN" sz="1050" dirty="0">
                                <a:solidFill>
                                  <a:srgbClr val="FFFFFF"/>
                                </a:solidFill>
                                <a:latin typeface="Cambria Math"/>
                                <a:ea typeface="Cambria Math"/>
                                <a:cs typeface="Cambria Math"/>
                              </a:rPr>
                              <m:t>i</m:t>
                            </m:r>
                          </m:sub>
                        </m:sSub>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ε</m:t>
                        </m:r>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ξ</m:t>
                            </m:r>
                          </m:e>
                          <m:sub>
                            <m:r>
                              <a:rPr lang="zh-CN" sz="1050" dirty="0">
                                <a:solidFill>
                                  <a:srgbClr val="FFFFFF"/>
                                </a:solidFill>
                                <a:latin typeface="Cambria Math"/>
                                <a:ea typeface="Cambria Math"/>
                                <a:cs typeface="Cambria Math"/>
                              </a:rPr>
                              <m:t>i</m:t>
                            </m:r>
                          </m:sub>
                        </m:sSub>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 xml:space="preserve"> </m:t>
                        </m:r>
                        <m:sSub>
                          <m:e>
                            <m:r>
                              <a:rPr lang="zh-CN" sz="1050" dirty="0">
                                <a:solidFill>
                                  <a:srgbClr val="FFFFFF"/>
                                </a:solidFill>
                                <a:latin typeface="Cambria Math"/>
                                <a:ea typeface="Cambria Math"/>
                                <a:cs typeface="Cambria Math"/>
                              </a:rPr>
                              <m:t>y</m:t>
                            </m:r>
                          </m:e>
                          <m:sub>
                            <m:r>
                              <a:rPr lang="zh-CN" sz="1050" dirty="0">
                                <a:solidFill>
                                  <a:srgbClr val="FFFFFF"/>
                                </a:solidFill>
                                <a:latin typeface="Cambria Math"/>
                                <a:ea typeface="Cambria Math"/>
                                <a:cs typeface="Cambria Math"/>
                              </a:rPr>
                              <m:t>i</m:t>
                            </m:r>
                          </m:sub>
                        </m:sSub>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w</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ϕ</m:t>
                        </m:r>
                        <m:d>
                          <m:dPr>
                            <m:begChr m:val="("/>
                            <m:sepChr m:val=""/>
                            <m:endChr m:val=")"/>
                            <m:grow m:val="on"/>
                            <m:ctrlPr>
                              <a:rPr lang="zh-CN" sz="1050" dirty="0">
                                <a:solidFill>
                                  <a:srgbClr val="FFFFFF"/>
                                </a:solidFill>
                                <a:latin typeface="Cambria Math"/>
                                <a:ea typeface="Cambria Math"/>
                                <a:cs typeface="Cambria Math"/>
                              </a:rPr>
                            </m:ctrlPr>
                          </m:dPr>
                          <m:e>
                            <m:sSub>
                              <m:e>
                                <m:r>
                                  <a:rPr lang="zh-CN" sz="1050" dirty="0">
                                    <a:solidFill>
                                      <a:srgbClr val="FFFFFF"/>
                                    </a:solidFill>
                                    <a:latin typeface="Cambria Math"/>
                                    <a:ea typeface="Cambria Math"/>
                                    <a:cs typeface="Cambria Math"/>
                                  </a:rPr>
                                  <m:t>x</m:t>
                                </m:r>
                              </m:e>
                              <m:sub>
                                <m:r>
                                  <a:rPr lang="zh-CN" sz="1050" dirty="0">
                                    <a:solidFill>
                                      <a:srgbClr val="FFFFFF"/>
                                    </a:solidFill>
                                    <a:latin typeface="Cambria Math"/>
                                    <a:ea typeface="Cambria Math"/>
                                    <a:cs typeface="Cambria Math"/>
                                  </a:rPr>
                                  <m:t>i</m:t>
                                </m:r>
                              </m:sub>
                            </m:sSub>
                          </m:e>
                        </m:d>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b</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ε</m:t>
                        </m:r>
                        <m:r>
                          <m:rPr>
                            <m:sty m:val="p"/>
                          </m:rPr>
                          <a:rPr lang="zh-CN" sz="1050" dirty="0">
                            <a:solidFill>
                              <a:srgbClr val="FFFFFF"/>
                            </a:solidFill>
                            <a:latin typeface="Cambria Math"/>
                            <a:ea typeface="Cambria Math"/>
                            <a:cs typeface="Cambria Math"/>
                          </a:rPr>
                          <m:t>+</m:t>
                        </m:r>
                        <m:sSubSup>
                          <m:e>
                            <m:r>
                              <a:rPr lang="zh-CN" sz="1050" dirty="0">
                                <a:solidFill>
                                  <a:srgbClr val="FFFFFF"/>
                                </a:solidFill>
                                <a:latin typeface="Cambria Math"/>
                                <a:ea typeface="Cambria Math"/>
                                <a:cs typeface="Cambria Math"/>
                              </a:rPr>
                              <m:t>ξ</m:t>
                            </m:r>
                          </m:e>
                          <m:sub>
                            <m:r>
                              <a:rPr lang="zh-CN" sz="1050" dirty="0">
                                <a:solidFill>
                                  <a:srgbClr val="FFFFFF"/>
                                </a:solidFill>
                                <a:latin typeface="Cambria Math"/>
                                <a:ea typeface="Cambria Math"/>
                                <a:cs typeface="Cambria Math"/>
                              </a:rPr>
                              <m:t>i</m:t>
                            </m:r>
                          </m:sub>
                          <m:sup>
                            <m:r>
                              <m:rPr>
                                <m:sty m:val="p"/>
                              </m:rPr>
                              <a:rPr lang="zh-CN" sz="1050" dirty="0">
                                <a:solidFill>
                                  <a:srgbClr val="FFFFFF"/>
                                </a:solidFill>
                                <a:latin typeface="Cambria Math"/>
                                <a:ea typeface="Cambria Math"/>
                                <a:cs typeface="Cambria Math"/>
                              </a:rPr>
                              <m:t>*</m:t>
                            </m:r>
                          </m:sup>
                        </m:sSubSup>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 xml:space="preserve"> </m:t>
                        </m:r>
                        <m:sSub>
                          <m:e>
                            <m:r>
                              <a:rPr lang="zh-CN" sz="1050" dirty="0">
                                <a:solidFill>
                                  <a:srgbClr val="FFFFFF"/>
                                </a:solidFill>
                                <a:latin typeface="Cambria Math"/>
                                <a:ea typeface="Cambria Math"/>
                                <a:cs typeface="Cambria Math"/>
                              </a:rPr>
                              <m:t>ξ</m:t>
                            </m:r>
                          </m:e>
                          <m:sub>
                            <m:r>
                              <a:rPr lang="zh-CN" sz="1050" dirty="0">
                                <a:solidFill>
                                  <a:srgbClr val="FFFFFF"/>
                                </a:solidFill>
                                <a:latin typeface="Cambria Math"/>
                                <a:ea typeface="Cambria Math"/>
                                <a:cs typeface="Cambria Math"/>
                              </a:rPr>
                              <m:t>i</m:t>
                            </m:r>
                          </m:sub>
                        </m:sSub>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 xml:space="preserve"> </m:t>
                        </m:r>
                        <m:sSubSup>
                          <m:e>
                            <m:r>
                              <a:rPr lang="zh-CN" sz="1050" dirty="0">
                                <a:solidFill>
                                  <a:srgbClr val="FFFFFF"/>
                                </a:solidFill>
                                <a:latin typeface="Cambria Math"/>
                                <a:ea typeface="Cambria Math"/>
                                <a:cs typeface="Cambria Math"/>
                              </a:rPr>
                              <m:t>ξ</m:t>
                            </m:r>
                          </m:e>
                          <m:sub>
                            <m:r>
                              <a:rPr lang="zh-CN" sz="1050" dirty="0">
                                <a:solidFill>
                                  <a:srgbClr val="FFFFFF"/>
                                </a:solidFill>
                                <a:latin typeface="Cambria Math"/>
                                <a:ea typeface="Cambria Math"/>
                                <a:cs typeface="Cambria Math"/>
                              </a:rPr>
                              <m:t>i</m:t>
                            </m:r>
                          </m:sub>
                          <m:sup>
                            <m:r>
                              <m:rPr>
                                <m:sty m:val="p"/>
                              </m:rPr>
                              <a:rPr lang="zh-CN" sz="1050" dirty="0">
                                <a:solidFill>
                                  <a:srgbClr val="FFFFFF"/>
                                </a:solidFill>
                                <a:latin typeface="Cambria Math"/>
                                <a:ea typeface="Cambria Math"/>
                                <a:cs typeface="Cambria Math"/>
                              </a:rPr>
                              <m:t>*</m:t>
                            </m:r>
                          </m:sup>
                        </m:sSubSup>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0</m:t>
                        </m:r>
                      </m:oMath>
                    </m:oMathPara>
                  </a14:m>
                </a:p>
              </p:txBody>
            </p:sp>
          </mc:Choice>
        </mc:AlternateContent>
        <p:sp>
          <p:nvSpPr>
            <p:cNvPr id="13" name="TextBox 13"/>
            <p:cNvSpPr txBox="1"/>
            <p:nvPr/>
          </p:nvSpPr>
          <p:spPr>
            <a:xfrm>
              <a:off x="718947" y="3130868"/>
              <a:ext cx="478002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目标：确定最优回归函数 f(x) = w·φ(x) + b。SVR 只对</a:t>
              </a:r>
              <a:r>
                <a:rPr lang="zh-CN" sz="1350" b="1" dirty="0">
                  <a:solidFill>
                    <a:srgbClr val="FFD58A"/>
                  </a:solidFill>
                  <a:latin typeface="+mn-lt"/>
                  <a:ea typeface="+mn-ea"/>
                  <a:cs typeface="+mn-cs"/>
                </a:rPr>
                <a:t>间隔外</a:t>
              </a:r>
              <a:br/>
              <a:r>
                <a:rPr lang="zh-CN" sz="1350" dirty="0">
                  <a:solidFill>
                    <a:srgbClr val="FFFFFF"/>
                  </a:solidFill>
                  <a:latin typeface="+mn-lt"/>
                  <a:ea typeface="+mn-ea"/>
                  <a:cs typeface="+mn-cs"/>
                </a:rPr>
                <a:t>的样本进行惩罚，样本位于间隔内时不计算其损失。</a:t>
              </a:r>
            </a:p>
          </p:txBody>
        </p:sp>
      </p:grpSp>
      <p:grpSp>
        <p:nvGrpSpPr>
          <p:cNvPr id="20" name="c1-card-2"/>
          <p:cNvGrpSpPr/>
          <p:nvPr/>
        </p:nvGrpSpPr>
        <p:grpSpPr>
          <a:xfrm>
            <a:off x="533400" y="3966210"/>
            <a:ext cx="5410200" cy="2330768"/>
            <a:chOff x="533400" y="3966210"/>
            <a:chExt cx="5410200" cy="2330768"/>
          </a:xfrm>
        </p:grpSpPr>
        <p:sp>
          <p:nvSpPr>
            <p:cNvPr id="15" name="Rectangle 15"/>
            <p:cNvSpPr/>
            <p:nvPr/>
          </p:nvSpPr>
          <p:spPr>
            <a:xfrm>
              <a:off x="533400" y="3966210"/>
              <a:ext cx="5410200" cy="2330768"/>
            </a:xfrm>
            <a:prstGeom prst="roundRect">
              <a:avLst>
                <a:gd name="adj" fmla="val 5721"/>
              </a:avLst>
            </a:prstGeom>
            <a:solidFill>
              <a:srgbClr val="F4F6FB"/>
            </a:solidFill>
            <a:ln>
              <a:noFill/>
            </a:ln>
          </p:spPr>
        </p:sp>
        <p:sp>
          <p:nvSpPr>
            <p:cNvPr id="16" name="Rectangle 16"/>
            <p:cNvSpPr/>
            <p:nvPr/>
          </p:nvSpPr>
          <p:spPr>
            <a:xfrm>
              <a:off x="725805" y="4158615"/>
              <a:ext cx="1009650" cy="247650"/>
            </a:xfrm>
            <a:prstGeom prst="roundRect">
              <a:avLst>
                <a:gd name="adj" fmla="val 50000"/>
              </a:avLst>
            </a:prstGeom>
            <a:solidFill>
              <a:srgbClr val="E2F3F4"/>
            </a:solidFill>
            <a:ln>
              <a:noFill/>
            </a:ln>
          </p:spPr>
        </p:sp>
        <p:sp>
          <p:nvSpPr>
            <p:cNvPr id="17" name="TextBox 17"/>
            <p:cNvSpPr txBox="1"/>
            <p:nvPr/>
          </p:nvSpPr>
          <p:spPr>
            <a:xfrm>
              <a:off x="801243" y="4192905"/>
              <a:ext cx="858774"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拉格朗日函数</a:t>
              </a:r>
            </a:p>
          </p:txBody>
        </p:sp>
        <p:sp>
          <p:nvSpPr>
            <p:cNvPr id="18" name="TextBox 18"/>
            <p:cNvSpPr txBox="1"/>
            <p:nvPr/>
          </p:nvSpPr>
          <p:spPr>
            <a:xfrm>
              <a:off x="1842897" y="4198620"/>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四组约束各配一组乘子</a:t>
              </a:r>
            </a:p>
          </p:txBody>
        </p:sp>
        <mc:AlternateContent xmlns:mc="http://schemas.openxmlformats.org/markup-compatibility/2006">
          <mc:Choice xmlns:a14="http://schemas.microsoft.com/office/drawing/2010/main" Requires="a14">
            <p:sp>
              <p:nvSpPr>
                <p:cNvPr id="19" name="formula304"/>
                <p:cNvSpPr txBox="1">
                  <a:spLocks noGrp="1"/>
                </p:cNvSpPr>
                <p:nvPr/>
              </p:nvSpPr>
              <p:spPr>
                <a:xfrm>
                  <a:off x="725805" y="4510088"/>
                  <a:ext cx="5025390" cy="126492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eqArr>
                          <m:eqArrPr>
                            <m:baseJc m:val="center"/>
                          </m:eqArrPr>
                          <m:e>
                            <m:r>
                              <a:rPr lang="zh-CN" sz="1200" dirty="0">
                                <a:solidFill>
                                  <a:srgbClr val="1F2937"/>
                                </a:solidFill>
                                <a:latin typeface="Cambria Math"/>
                                <a:ea typeface="Cambria Math"/>
                                <a:cs typeface="Cambria Math"/>
                              </a:rPr>
                              <m:t>L</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&amp;</m:t>
                            </m:r>
                            <m:f>
                              <m:fPr>
                                <m:type m:val="bar"/>
                                <m:ctrlPr>
                                  <a:rPr lang="zh-CN" sz="1200" dirty="0">
                                    <a:solidFill>
                                      <a:srgbClr val="1F2937"/>
                                    </a:solidFill>
                                    <a:latin typeface="Cambria Math"/>
                                    <a:ea typeface="Cambria Math"/>
                                    <a:cs typeface="Cambria Math"/>
                                  </a:rPr>
                                </m:ctrlPr>
                              </m:fPr>
                              <m:num>
                                <m:r>
                                  <a:rPr lang="zh-CN" sz="1200" dirty="0">
                                    <a:solidFill>
                                      <a:srgbClr val="1F2937"/>
                                    </a:solidFill>
                                    <a:latin typeface="Cambria Math"/>
                                    <a:ea typeface="Cambria Math"/>
                                    <a:cs typeface="Cambria Math"/>
                                  </a:rPr>
                                  <m:t>1</m:t>
                                </m:r>
                              </m:num>
                              <m:den>
                                <m:r>
                                  <a:rPr lang="zh-CN" sz="1200" dirty="0">
                                    <a:solidFill>
                                      <a:srgbClr val="1F2937"/>
                                    </a:solidFill>
                                    <a:latin typeface="Cambria Math"/>
                                    <a:ea typeface="Cambria Math"/>
                                    <a:cs typeface="Cambria Math"/>
                                  </a:rPr>
                                  <m:t>2</m:t>
                                </m:r>
                              </m:den>
                            </m:f>
                            <m:sSup>
                              <m:e>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w</m:t>
                                    </m:r>
                                  </m:e>
                                </m:d>
                              </m:e>
                              <m:sup>
                                <m:r>
                                  <a:rPr lang="zh-CN" sz="1200" dirty="0">
                                    <a:solidFill>
                                      <a:srgbClr val="1F2937"/>
                                    </a:solidFill>
                                    <a:latin typeface="Cambria Math"/>
                                    <a:ea typeface="Cambria Math"/>
                                    <a:cs typeface="Cambria Math"/>
                                  </a:rPr>
                                  <m:t>2</m:t>
                                </m:r>
                              </m:sup>
                            </m:sSup>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C</m:t>
                            </m:r>
                            <m:nary>
                              <m:naryPr>
                                <m:chr m:val="∑"/>
                                <m:limLoc m:val="undOvr"/>
                                <m:grow m:val="off"/>
                                <m:subHide m:val="off"/>
                                <m:supHide m:val="off"/>
                                <m:ctrlPr>
                                  <a:rPr lang="zh-CN" sz="1200" dirty="0">
                                    <a:solidFill>
                                      <a:srgbClr val="1F2937"/>
                                    </a:solidFill>
                                    <a:latin typeface="Cambria Math"/>
                                    <a:ea typeface="Cambria Math"/>
                                    <a:cs typeface="Cambria Math"/>
                                  </a:rPr>
                                </m:ctrlPr>
                              </m:naryPr>
                              <m:sub>
                                <m:r>
                                  <a:rPr lang="zh-CN" sz="1200" dirty="0">
                                    <a:solidFill>
                                      <a:srgbClr val="1F2937"/>
                                    </a:solidFill>
                                    <a:latin typeface="Cambria Math"/>
                                    <a:ea typeface="Cambria Math"/>
                                    <a:cs typeface="Cambria Math"/>
                                  </a:rPr>
                                  <m:t>i</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b>
                              <m:sup>
                                <m:r>
                                  <a:rPr lang="zh-CN" sz="1200" dirty="0">
                                    <a:solidFill>
                                      <a:srgbClr val="1F2937"/>
                                    </a:solidFill>
                                    <a:latin typeface="Cambria Math"/>
                                    <a:ea typeface="Cambria Math"/>
                                    <a:cs typeface="Cambria Math"/>
                                  </a:rPr>
                                  <m:t>l</m:t>
                                </m:r>
                              </m:sup>
                              <m:e>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ξ</m:t>
                                        </m:r>
                                      </m:e>
                                      <m:sub>
                                        <m:r>
                                          <a:rPr lang="zh-CN" sz="1200" dirty="0">
                                            <a:solidFill>
                                              <a:srgbClr val="1F2937"/>
                                            </a:solidFill>
                                            <a:latin typeface="Cambria Math"/>
                                            <a:ea typeface="Cambria Math"/>
                                            <a:cs typeface="Cambria Math"/>
                                          </a:rPr>
                                          <m:t>i</m:t>
                                        </m:r>
                                      </m:sub>
                                    </m:sSub>
                                    <m:r>
                                      <m:rPr>
                                        <m:sty m:val="p"/>
                                      </m:rPr>
                                      <a:rPr lang="zh-CN" sz="1200" dirty="0">
                                        <a:solidFill>
                                          <a:srgbClr val="1F2937"/>
                                        </a:solidFill>
                                        <a:latin typeface="Cambria Math"/>
                                        <a:ea typeface="Cambria Math"/>
                                        <a:cs typeface="Cambria Math"/>
                                      </a:rPr>
                                      <m:t>+</m:t>
                                    </m:r>
                                    <m:sSubSup>
                                      <m:e>
                                        <m:r>
                                          <a:rPr lang="zh-CN" sz="1200" dirty="0">
                                            <a:solidFill>
                                              <a:srgbClr val="1F2937"/>
                                            </a:solidFill>
                                            <a:latin typeface="Cambria Math"/>
                                            <a:ea typeface="Cambria Math"/>
                                            <a:cs typeface="Cambria Math"/>
                                          </a:rPr>
                                          <m:t>ξ</m:t>
                                        </m:r>
                                      </m:e>
                                      <m:sub>
                                        <m:r>
                                          <a:rPr lang="zh-CN" sz="1200" dirty="0">
                                            <a:solidFill>
                                              <a:srgbClr val="1F2937"/>
                                            </a:solidFill>
                                            <a:latin typeface="Cambria Math"/>
                                            <a:ea typeface="Cambria Math"/>
                                            <a:cs typeface="Cambria Math"/>
                                          </a:rPr>
                                          <m:t>i</m:t>
                                        </m:r>
                                      </m:sub>
                                      <m:sup>
                                        <m:r>
                                          <m:rPr>
                                            <m:sty m:val="p"/>
                                          </m:rPr>
                                          <a:rPr lang="zh-CN" sz="1200" dirty="0">
                                            <a:solidFill>
                                              <a:srgbClr val="1F2937"/>
                                            </a:solidFill>
                                            <a:latin typeface="Cambria Math"/>
                                            <a:ea typeface="Cambria Math"/>
                                            <a:cs typeface="Cambria Math"/>
                                          </a:rPr>
                                          <m:t>*</m:t>
                                        </m:r>
                                      </m:sup>
                                    </m:sSubSup>
                                  </m:e>
                                </m:d>
                              </m:e>
                            </m:nary>
                            <m:r>
                              <m:rPr>
                                <m:sty m:val="p"/>
                              </m:rPr>
                              <a:rPr lang="zh-CN" sz="1200" dirty="0">
                                <a:solidFill>
                                  <a:srgbClr val="1F2937"/>
                                </a:solidFill>
                                <a:latin typeface="Cambria Math"/>
                                <a:ea typeface="Cambria Math"/>
                                <a:cs typeface="Cambria Math"/>
                              </a:rPr>
                              <m:t>−</m:t>
                            </m:r>
                            <m:nary>
                              <m:naryPr>
                                <m:chr m:val="∑"/>
                                <m:limLoc m:val="undOvr"/>
                                <m:grow m:val="off"/>
                                <m:subHide m:val="off"/>
                                <m:supHide m:val="off"/>
                                <m:ctrlPr>
                                  <a:rPr lang="zh-CN" sz="1200" dirty="0">
                                    <a:solidFill>
                                      <a:srgbClr val="1F2937"/>
                                    </a:solidFill>
                                    <a:latin typeface="Cambria Math"/>
                                    <a:ea typeface="Cambria Math"/>
                                    <a:cs typeface="Cambria Math"/>
                                  </a:rPr>
                                </m:ctrlPr>
                              </m:naryPr>
                              <m:sub>
                                <m:r>
                                  <a:rPr lang="zh-CN" sz="1200" dirty="0">
                                    <a:solidFill>
                                      <a:srgbClr val="1F2937"/>
                                    </a:solidFill>
                                    <a:latin typeface="Cambria Math"/>
                                    <a:ea typeface="Cambria Math"/>
                                    <a:cs typeface="Cambria Math"/>
                                  </a:rPr>
                                  <m:t>i</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b>
                              <m:sup>
                                <m:r>
                                  <a:rPr lang="zh-CN" sz="1200" dirty="0">
                                    <a:solidFill>
                                      <a:srgbClr val="1F2937"/>
                                    </a:solidFill>
                                    <a:latin typeface="Cambria Math"/>
                                    <a:ea typeface="Cambria Math"/>
                                    <a:cs typeface="Cambria Math"/>
                                  </a:rPr>
                                  <m:t>l</m:t>
                                </m:r>
                              </m:sup>
                              <m:e>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η</m:t>
                                        </m:r>
                                      </m:e>
                                      <m:sub>
                                        <m:r>
                                          <a:rPr lang="zh-CN" sz="1200" dirty="0">
                                            <a:solidFill>
                                              <a:srgbClr val="1F2937"/>
                                            </a:solidFill>
                                            <a:latin typeface="Cambria Math"/>
                                            <a:ea typeface="Cambria Math"/>
                                            <a:cs typeface="Cambria Math"/>
                                          </a:rPr>
                                          <m:t>i</m:t>
                                        </m:r>
                                      </m:sub>
                                    </m:sSub>
                                    <m:sSub>
                                      <m:e>
                                        <m:r>
                                          <a:rPr lang="zh-CN" sz="1200" dirty="0">
                                            <a:solidFill>
                                              <a:srgbClr val="1F2937"/>
                                            </a:solidFill>
                                            <a:latin typeface="Cambria Math"/>
                                            <a:ea typeface="Cambria Math"/>
                                            <a:cs typeface="Cambria Math"/>
                                          </a:rPr>
                                          <m:t>ξ</m:t>
                                        </m:r>
                                      </m:e>
                                      <m:sub>
                                        <m:r>
                                          <a:rPr lang="zh-CN" sz="1200" dirty="0">
                                            <a:solidFill>
                                              <a:srgbClr val="1F2937"/>
                                            </a:solidFill>
                                            <a:latin typeface="Cambria Math"/>
                                            <a:ea typeface="Cambria Math"/>
                                            <a:cs typeface="Cambria Math"/>
                                          </a:rPr>
                                          <m:t>i</m:t>
                                        </m:r>
                                      </m:sub>
                                    </m:sSub>
                                    <m:r>
                                      <m:rPr>
                                        <m:sty m:val="p"/>
                                      </m:rPr>
                                      <a:rPr lang="zh-CN" sz="1200" dirty="0">
                                        <a:solidFill>
                                          <a:srgbClr val="1F2937"/>
                                        </a:solidFill>
                                        <a:latin typeface="Cambria Math"/>
                                        <a:ea typeface="Cambria Math"/>
                                        <a:cs typeface="Cambria Math"/>
                                      </a:rPr>
                                      <m:t>+</m:t>
                                    </m:r>
                                    <m:sSubSup>
                                      <m:e>
                                        <m:r>
                                          <a:rPr lang="zh-CN" sz="1200" dirty="0">
                                            <a:solidFill>
                                              <a:srgbClr val="1F2937"/>
                                            </a:solidFill>
                                            <a:latin typeface="Cambria Math"/>
                                            <a:ea typeface="Cambria Math"/>
                                            <a:cs typeface="Cambria Math"/>
                                          </a:rPr>
                                          <m:t>η</m:t>
                                        </m:r>
                                      </m:e>
                                      <m:sub>
                                        <m:r>
                                          <a:rPr lang="zh-CN" sz="1200" dirty="0">
                                            <a:solidFill>
                                              <a:srgbClr val="1F2937"/>
                                            </a:solidFill>
                                            <a:latin typeface="Cambria Math"/>
                                            <a:ea typeface="Cambria Math"/>
                                            <a:cs typeface="Cambria Math"/>
                                          </a:rPr>
                                          <m:t>i</m:t>
                                        </m:r>
                                      </m:sub>
                                      <m:sup>
                                        <m:r>
                                          <m:rPr>
                                            <m:sty m:val="p"/>
                                          </m:rPr>
                                          <a:rPr lang="zh-CN" sz="1200" dirty="0">
                                            <a:solidFill>
                                              <a:srgbClr val="1F2937"/>
                                            </a:solidFill>
                                            <a:latin typeface="Cambria Math"/>
                                            <a:ea typeface="Cambria Math"/>
                                            <a:cs typeface="Cambria Math"/>
                                          </a:rPr>
                                          <m:t>*</m:t>
                                        </m:r>
                                      </m:sup>
                                    </m:sSubSup>
                                    <m:sSubSup>
                                      <m:e>
                                        <m:r>
                                          <a:rPr lang="zh-CN" sz="1200" dirty="0">
                                            <a:solidFill>
                                              <a:srgbClr val="1F2937"/>
                                            </a:solidFill>
                                            <a:latin typeface="Cambria Math"/>
                                            <a:ea typeface="Cambria Math"/>
                                            <a:cs typeface="Cambria Math"/>
                                          </a:rPr>
                                          <m:t>ξ</m:t>
                                        </m:r>
                                      </m:e>
                                      <m:sub>
                                        <m:r>
                                          <a:rPr lang="zh-CN" sz="1200" dirty="0">
                                            <a:solidFill>
                                              <a:srgbClr val="1F2937"/>
                                            </a:solidFill>
                                            <a:latin typeface="Cambria Math"/>
                                            <a:ea typeface="Cambria Math"/>
                                            <a:cs typeface="Cambria Math"/>
                                          </a:rPr>
                                          <m:t>i</m:t>
                                        </m:r>
                                      </m:sub>
                                      <m:sup>
                                        <m:r>
                                          <m:rPr>
                                            <m:sty m:val="p"/>
                                          </m:rPr>
                                          <a:rPr lang="zh-CN" sz="1200" dirty="0">
                                            <a:solidFill>
                                              <a:srgbClr val="1F2937"/>
                                            </a:solidFill>
                                            <a:latin typeface="Cambria Math"/>
                                            <a:ea typeface="Cambria Math"/>
                                            <a:cs typeface="Cambria Math"/>
                                          </a:rPr>
                                          <m:t>*</m:t>
                                        </m:r>
                                      </m:sup>
                                    </m:sSubSup>
                                  </m:e>
                                </m:d>
                              </m:e>
                            </m:nary>
                          </m:e>
                          <m:e>
                            <m:r>
                              <a:rPr lang="zh-CN" sz="1200" dirty="0">
                                <a:solidFill>
                                  <a:srgbClr val="1F2937"/>
                                </a:solidFill>
                                <a:latin typeface="Cambria Math"/>
                                <a:ea typeface="Cambria Math"/>
                                <a:cs typeface="Cambria Math"/>
                              </a:rPr>
                              <m:t>&amp;</m:t>
                            </m:r>
                            <m:r>
                              <m:rPr>
                                <m:sty m:val="p"/>
                              </m:rPr>
                              <a:rPr lang="zh-CN" sz="1200" dirty="0">
                                <a:solidFill>
                                  <a:srgbClr val="1F2937"/>
                                </a:solidFill>
                                <a:latin typeface="Cambria Math"/>
                                <a:ea typeface="Cambria Math"/>
                                <a:cs typeface="Cambria Math"/>
                              </a:rPr>
                              <m:t>−</m:t>
                            </m:r>
                            <m:nary>
                              <m:naryPr>
                                <m:chr m:val="∑"/>
                                <m:limLoc m:val="undOvr"/>
                                <m:grow m:val="off"/>
                                <m:subHide m:val="off"/>
                                <m:supHide m:val="off"/>
                                <m:ctrlPr>
                                  <a:rPr lang="zh-CN" sz="1200" dirty="0">
                                    <a:solidFill>
                                      <a:srgbClr val="1F2937"/>
                                    </a:solidFill>
                                    <a:latin typeface="Cambria Math"/>
                                    <a:ea typeface="Cambria Math"/>
                                    <a:cs typeface="Cambria Math"/>
                                  </a:rPr>
                                </m:ctrlPr>
                              </m:naryPr>
                              <m:sub>
                                <m:r>
                                  <a:rPr lang="zh-CN" sz="1200" dirty="0">
                                    <a:solidFill>
                                      <a:srgbClr val="1F2937"/>
                                    </a:solidFill>
                                    <a:latin typeface="Cambria Math"/>
                                    <a:ea typeface="Cambria Math"/>
                                    <a:cs typeface="Cambria Math"/>
                                  </a:rPr>
                                  <m:t>i</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b>
                              <m:sup>
                                <m:r>
                                  <a:rPr lang="zh-CN" sz="1200" dirty="0">
                                    <a:solidFill>
                                      <a:srgbClr val="1F2937"/>
                                    </a:solidFill>
                                    <a:latin typeface="Cambria Math"/>
                                    <a:ea typeface="Cambria Math"/>
                                    <a:cs typeface="Cambria Math"/>
                                  </a:rPr>
                                  <m:t>l</m:t>
                                </m:r>
                              </m:sup>
                              <m:e>
                                <m:sSub>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i</m:t>
                                    </m:r>
                                  </m:sub>
                                </m:sSub>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ε</m:t>
                                    </m:r>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ξ</m:t>
                                        </m:r>
                                      </m:e>
                                      <m:sub>
                                        <m:r>
                                          <a:rPr lang="zh-CN" sz="1200" dirty="0">
                                            <a:solidFill>
                                              <a:srgbClr val="1F2937"/>
                                            </a:solidFill>
                                            <a:latin typeface="Cambria Math"/>
                                            <a:ea typeface="Cambria Math"/>
                                            <a:cs typeface="Cambria Math"/>
                                          </a:rPr>
                                          <m:t>i</m:t>
                                        </m:r>
                                      </m:sub>
                                    </m:sSub>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y</m:t>
                                        </m:r>
                                      </m:e>
                                      <m:sub>
                                        <m:r>
                                          <a:rPr lang="zh-CN" sz="1200" dirty="0">
                                            <a:solidFill>
                                              <a:srgbClr val="1F2937"/>
                                            </a:solidFill>
                                            <a:latin typeface="Cambria Math"/>
                                            <a:ea typeface="Cambria Math"/>
                                            <a:cs typeface="Cambria Math"/>
                                          </a:rPr>
                                          <m:t>i</m:t>
                                        </m:r>
                                      </m:sub>
                                    </m:sSub>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w</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ϕ</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x</m:t>
                                            </m:r>
                                          </m:e>
                                          <m:sub>
                                            <m:r>
                                              <a:rPr lang="zh-CN" sz="1200" dirty="0">
                                                <a:solidFill>
                                                  <a:srgbClr val="1F2937"/>
                                                </a:solidFill>
                                                <a:latin typeface="Cambria Math"/>
                                                <a:ea typeface="Cambria Math"/>
                                                <a:cs typeface="Cambria Math"/>
                                              </a:rPr>
                                              <m:t>i</m:t>
                                            </m:r>
                                          </m:sub>
                                        </m:sSub>
                                      </m:e>
                                    </m: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b</m:t>
                                    </m:r>
                                  </m:e>
                                </m:d>
                              </m:e>
                            </m:nary>
                          </m:e>
                          <m:e>
                            <m:r>
                              <a:rPr lang="zh-CN" sz="1200" dirty="0">
                                <a:solidFill>
                                  <a:srgbClr val="1F2937"/>
                                </a:solidFill>
                                <a:latin typeface="Cambria Math"/>
                                <a:ea typeface="Cambria Math"/>
                                <a:cs typeface="Cambria Math"/>
                              </a:rPr>
                              <m:t>&amp;</m:t>
                            </m:r>
                            <m:r>
                              <m:rPr>
                                <m:sty m:val="p"/>
                              </m:rPr>
                              <a:rPr lang="zh-CN" sz="1200" dirty="0">
                                <a:solidFill>
                                  <a:srgbClr val="1F2937"/>
                                </a:solidFill>
                                <a:latin typeface="Cambria Math"/>
                                <a:ea typeface="Cambria Math"/>
                                <a:cs typeface="Cambria Math"/>
                              </a:rPr>
                              <m:t>−</m:t>
                            </m:r>
                            <m:nary>
                              <m:naryPr>
                                <m:chr m:val="∑"/>
                                <m:limLoc m:val="undOvr"/>
                                <m:grow m:val="off"/>
                                <m:subHide m:val="off"/>
                                <m:supHide m:val="off"/>
                                <m:ctrlPr>
                                  <a:rPr lang="zh-CN" sz="1200" dirty="0">
                                    <a:solidFill>
                                      <a:srgbClr val="1F2937"/>
                                    </a:solidFill>
                                    <a:latin typeface="Cambria Math"/>
                                    <a:ea typeface="Cambria Math"/>
                                    <a:cs typeface="Cambria Math"/>
                                  </a:rPr>
                                </m:ctrlPr>
                              </m:naryPr>
                              <m:sub>
                                <m:r>
                                  <a:rPr lang="zh-CN" sz="1200" dirty="0">
                                    <a:solidFill>
                                      <a:srgbClr val="1F2937"/>
                                    </a:solidFill>
                                    <a:latin typeface="Cambria Math"/>
                                    <a:ea typeface="Cambria Math"/>
                                    <a:cs typeface="Cambria Math"/>
                                  </a:rPr>
                                  <m:t>i</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1</m:t>
                                </m:r>
                              </m:sub>
                              <m:sup>
                                <m:r>
                                  <a:rPr lang="zh-CN" sz="1200" dirty="0">
                                    <a:solidFill>
                                      <a:srgbClr val="1F2937"/>
                                    </a:solidFill>
                                    <a:latin typeface="Cambria Math"/>
                                    <a:ea typeface="Cambria Math"/>
                                    <a:cs typeface="Cambria Math"/>
                                  </a:rPr>
                                  <m:t>l</m:t>
                                </m:r>
                              </m:sup>
                              <m:e>
                                <m:sSubSup>
                                  <m:e>
                                    <m:r>
                                      <a:rPr lang="zh-CN" sz="1200" dirty="0">
                                        <a:solidFill>
                                          <a:srgbClr val="1F2937"/>
                                        </a:solidFill>
                                        <a:latin typeface="Cambria Math"/>
                                        <a:ea typeface="Cambria Math"/>
                                        <a:cs typeface="Cambria Math"/>
                                      </a:rPr>
                                      <m:t>α</m:t>
                                    </m:r>
                                  </m:e>
                                  <m:sub>
                                    <m:r>
                                      <a:rPr lang="zh-CN" sz="1200" dirty="0">
                                        <a:solidFill>
                                          <a:srgbClr val="1F2937"/>
                                        </a:solidFill>
                                        <a:latin typeface="Cambria Math"/>
                                        <a:ea typeface="Cambria Math"/>
                                        <a:cs typeface="Cambria Math"/>
                                      </a:rPr>
                                      <m:t>i</m:t>
                                    </m:r>
                                  </m:sub>
                                  <m:sup>
                                    <m:r>
                                      <m:rPr>
                                        <m:sty m:val="p"/>
                                      </m:rPr>
                                      <a:rPr lang="zh-CN" sz="1200" dirty="0">
                                        <a:solidFill>
                                          <a:srgbClr val="1F2937"/>
                                        </a:solidFill>
                                        <a:latin typeface="Cambria Math"/>
                                        <a:ea typeface="Cambria Math"/>
                                        <a:cs typeface="Cambria Math"/>
                                      </a:rPr>
                                      <m:t>*</m:t>
                                    </m:r>
                                  </m:sup>
                                </m:sSubSup>
                                <m:d>
                                  <m:dPr>
                                    <m:begChr m:val="("/>
                                    <m:sepChr m:val=""/>
                                    <m:endChr m:val=")"/>
                                    <m:grow m:val="on"/>
                                    <m:ctrlPr>
                                      <a:rPr lang="zh-CN" sz="1200" dirty="0">
                                        <a:solidFill>
                                          <a:srgbClr val="1F2937"/>
                                        </a:solidFill>
                                        <a:latin typeface="Cambria Math"/>
                                        <a:ea typeface="Cambria Math"/>
                                        <a:cs typeface="Cambria Math"/>
                                      </a:rPr>
                                    </m:ctrlPr>
                                  </m:dPr>
                                  <m:e>
                                    <m:r>
                                      <a:rPr lang="zh-CN" sz="1200" dirty="0">
                                        <a:solidFill>
                                          <a:srgbClr val="1F2937"/>
                                        </a:solidFill>
                                        <a:latin typeface="Cambria Math"/>
                                        <a:ea typeface="Cambria Math"/>
                                        <a:cs typeface="Cambria Math"/>
                                      </a:rPr>
                                      <m:t>ε</m:t>
                                    </m:r>
                                    <m:r>
                                      <m:rPr>
                                        <m:sty m:val="p"/>
                                      </m:rPr>
                                      <a:rPr lang="zh-CN" sz="1200" dirty="0">
                                        <a:solidFill>
                                          <a:srgbClr val="1F2937"/>
                                        </a:solidFill>
                                        <a:latin typeface="Cambria Math"/>
                                        <a:ea typeface="Cambria Math"/>
                                        <a:cs typeface="Cambria Math"/>
                                      </a:rPr>
                                      <m:t>+</m:t>
                                    </m:r>
                                    <m:sSubSup>
                                      <m:e>
                                        <m:r>
                                          <a:rPr lang="zh-CN" sz="1200" dirty="0">
                                            <a:solidFill>
                                              <a:srgbClr val="1F2937"/>
                                            </a:solidFill>
                                            <a:latin typeface="Cambria Math"/>
                                            <a:ea typeface="Cambria Math"/>
                                            <a:cs typeface="Cambria Math"/>
                                          </a:rPr>
                                          <m:t>ξ</m:t>
                                        </m:r>
                                      </m:e>
                                      <m:sub>
                                        <m:r>
                                          <a:rPr lang="zh-CN" sz="1200" dirty="0">
                                            <a:solidFill>
                                              <a:srgbClr val="1F2937"/>
                                            </a:solidFill>
                                            <a:latin typeface="Cambria Math"/>
                                            <a:ea typeface="Cambria Math"/>
                                            <a:cs typeface="Cambria Math"/>
                                          </a:rPr>
                                          <m:t>i</m:t>
                                        </m:r>
                                      </m:sub>
                                      <m:sup>
                                        <m:r>
                                          <m:rPr>
                                            <m:sty m:val="p"/>
                                          </m:rPr>
                                          <a:rPr lang="zh-CN" sz="1200" dirty="0">
                                            <a:solidFill>
                                              <a:srgbClr val="1F2937"/>
                                            </a:solidFill>
                                            <a:latin typeface="Cambria Math"/>
                                            <a:ea typeface="Cambria Math"/>
                                            <a:cs typeface="Cambria Math"/>
                                          </a:rPr>
                                          <m:t>*</m:t>
                                        </m:r>
                                      </m:sup>
                                    </m:sSubSup>
                                    <m:r>
                                      <m:rPr>
                                        <m:sty m:val="p"/>
                                      </m:rPr>
                                      <a:rPr lang="zh-CN" sz="1200" dirty="0">
                                        <a:solidFill>
                                          <a:srgbClr val="1F2937"/>
                                        </a:solidFill>
                                        <a:latin typeface="Cambria Math"/>
                                        <a:ea typeface="Cambria Math"/>
                                        <a:cs typeface="Cambria Math"/>
                                      </a:rPr>
                                      <m:t>−</m:t>
                                    </m:r>
                                    <m:sSub>
                                      <m:e>
                                        <m:r>
                                          <a:rPr lang="zh-CN" sz="1200" dirty="0">
                                            <a:solidFill>
                                              <a:srgbClr val="1F2937"/>
                                            </a:solidFill>
                                            <a:latin typeface="Cambria Math"/>
                                            <a:ea typeface="Cambria Math"/>
                                            <a:cs typeface="Cambria Math"/>
                                          </a:rPr>
                                          <m:t>y</m:t>
                                        </m:r>
                                      </m:e>
                                      <m:sub>
                                        <m:r>
                                          <a:rPr lang="zh-CN" sz="1200" dirty="0">
                                            <a:solidFill>
                                              <a:srgbClr val="1F2937"/>
                                            </a:solidFill>
                                            <a:latin typeface="Cambria Math"/>
                                            <a:ea typeface="Cambria Math"/>
                                            <a:cs typeface="Cambria Math"/>
                                          </a:rPr>
                                          <m:t>i</m:t>
                                        </m:r>
                                      </m:sub>
                                    </m:sSub>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w</m:t>
                                    </m:r>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ϕ</m:t>
                                    </m:r>
                                    <m:d>
                                      <m:dPr>
                                        <m:begChr m:val="("/>
                                        <m:sepChr m:val=""/>
                                        <m:endChr m:val=")"/>
                                        <m:grow m:val="on"/>
                                        <m:ctrlPr>
                                          <a:rPr lang="zh-CN" sz="1200" dirty="0">
                                            <a:solidFill>
                                              <a:srgbClr val="1F2937"/>
                                            </a:solidFill>
                                            <a:latin typeface="Cambria Math"/>
                                            <a:ea typeface="Cambria Math"/>
                                            <a:cs typeface="Cambria Math"/>
                                          </a:rPr>
                                        </m:ctrlPr>
                                      </m:dPr>
                                      <m:e>
                                        <m:sSub>
                                          <m:e>
                                            <m:r>
                                              <a:rPr lang="zh-CN" sz="1200" dirty="0">
                                                <a:solidFill>
                                                  <a:srgbClr val="1F2937"/>
                                                </a:solidFill>
                                                <a:latin typeface="Cambria Math"/>
                                                <a:ea typeface="Cambria Math"/>
                                                <a:cs typeface="Cambria Math"/>
                                              </a:rPr>
                                              <m:t>x</m:t>
                                            </m:r>
                                          </m:e>
                                          <m:sub>
                                            <m:r>
                                              <a:rPr lang="zh-CN" sz="1200" dirty="0">
                                                <a:solidFill>
                                                  <a:srgbClr val="1F2937"/>
                                                </a:solidFill>
                                                <a:latin typeface="Cambria Math"/>
                                                <a:ea typeface="Cambria Math"/>
                                                <a:cs typeface="Cambria Math"/>
                                              </a:rPr>
                                              <m:t>i</m:t>
                                            </m:r>
                                          </m:sub>
                                        </m:sSub>
                                      </m:e>
                                    </m:d>
                                    <m:r>
                                      <m:rPr>
                                        <m:sty m:val="p"/>
                                      </m:rPr>
                                      <a:rPr lang="zh-CN" sz="1200" dirty="0">
                                        <a:solidFill>
                                          <a:srgbClr val="1F2937"/>
                                        </a:solidFill>
                                        <a:latin typeface="Cambria Math"/>
                                        <a:ea typeface="Cambria Math"/>
                                        <a:cs typeface="Cambria Math"/>
                                      </a:rPr>
                                      <m:t>+</m:t>
                                    </m:r>
                                    <m:r>
                                      <a:rPr lang="zh-CN" sz="1200" dirty="0">
                                        <a:solidFill>
                                          <a:srgbClr val="1F2937"/>
                                        </a:solidFill>
                                        <a:latin typeface="Cambria Math"/>
                                        <a:ea typeface="Cambria Math"/>
                                        <a:cs typeface="Cambria Math"/>
                                      </a:rPr>
                                      <m:t>b</m:t>
                                    </m:r>
                                  </m:e>
                                </m:d>
                              </m:e>
                            </m:nary>
                          </m:e>
                        </m:eqArr>
                      </m:oMath>
                    </m:oMathPara>
                  </a14:m>
                </a:p>
              </p:txBody>
            </p:sp>
          </mc:Choice>
        </mc:AlternateContent>
      </p:grpSp>
      <p:grpSp>
        <p:nvGrpSpPr>
          <p:cNvPr id="29" name="c2-card-1"/>
          <p:cNvGrpSpPr/>
          <p:nvPr/>
        </p:nvGrpSpPr>
        <p:grpSpPr>
          <a:xfrm>
            <a:off x="6248400" y="1524000"/>
            <a:ext cx="5410200" cy="2290762"/>
            <a:chOff x="6248400" y="1524000"/>
            <a:chExt cx="5410200" cy="2290762"/>
          </a:xfrm>
        </p:grpSpPr>
        <p:sp>
          <p:nvSpPr>
            <p:cNvPr id="21" name="Rectangle 21"/>
            <p:cNvSpPr/>
            <p:nvPr/>
          </p:nvSpPr>
          <p:spPr>
            <a:xfrm>
              <a:off x="6248400" y="1524000"/>
              <a:ext cx="5410200" cy="2290762"/>
            </a:xfrm>
            <a:prstGeom prst="roundRect">
              <a:avLst>
                <a:gd name="adj" fmla="val 5821"/>
              </a:avLst>
            </a:prstGeom>
            <a:solidFill>
              <a:srgbClr val="FFFFFF"/>
            </a:solidFill>
            <a:ln w="14288">
              <a:solidFill>
                <a:srgbClr val="D9DFEA"/>
              </a:solidFill>
            </a:ln>
          </p:spPr>
        </p:sp>
        <p:sp>
          <p:nvSpPr>
            <p:cNvPr id="22" name="Rectangle 22"/>
            <p:cNvSpPr/>
            <p:nvPr/>
          </p:nvSpPr>
          <p:spPr>
            <a:xfrm>
              <a:off x="6257925" y="1657350"/>
              <a:ext cx="47625" cy="2024062"/>
            </a:xfrm>
            <a:prstGeom prst="roundRect">
              <a:avLst>
                <a:gd name="adj" fmla="val 50000"/>
              </a:avLst>
            </a:prstGeom>
            <a:solidFill>
              <a:srgbClr val="0E7C86"/>
            </a:solidFill>
            <a:ln>
              <a:noFill/>
            </a:ln>
          </p:spPr>
        </p:sp>
        <p:sp>
          <p:nvSpPr>
            <p:cNvPr id="23" name="Rectangle 23"/>
            <p:cNvSpPr/>
            <p:nvPr/>
          </p:nvSpPr>
          <p:spPr>
            <a:xfrm>
              <a:off x="6478905" y="1716405"/>
              <a:ext cx="876300" cy="247650"/>
            </a:xfrm>
            <a:prstGeom prst="roundRect">
              <a:avLst>
                <a:gd name="adj" fmla="val 50000"/>
              </a:avLst>
            </a:prstGeom>
            <a:solidFill>
              <a:srgbClr val="E2F3F4"/>
            </a:solidFill>
            <a:ln>
              <a:noFill/>
            </a:ln>
          </p:spPr>
        </p:sp>
        <p:sp>
          <p:nvSpPr>
            <p:cNvPr id="24" name="TextBox 24"/>
            <p:cNvSpPr txBox="1"/>
            <p:nvPr/>
          </p:nvSpPr>
          <p:spPr>
            <a:xfrm>
              <a:off x="6558344" y="1750695"/>
              <a:ext cx="717423" cy="205359"/>
            </a:xfrm>
            <a:prstGeom prst="rect">
              <a:avLst/>
            </a:prstGeom>
            <a:noFill/>
            <a:ln>
              <a:noFill/>
            </a:ln>
          </p:spPr>
          <p:txBody>
            <a:bodyPr wrap="none" lIns="0" tIns="0" rIns="0" bIns="0" anchor="t" anchorCtr="0">
              <a:spAutoFit/>
            </a:bodyPr>
            <a:lstStyle/>
            <a:p>
              <a:pPr algn="ctr"/>
              <a:r>
                <a:rPr lang="zh-CN" sz="1050" b="1" dirty="0">
                  <a:solidFill>
                    <a:srgbClr val="0E7C86"/>
                  </a:solidFill>
                  <a:latin typeface="+mn-lt"/>
                  <a:ea typeface="+mn-ea"/>
                  <a:cs typeface="+mn-cs"/>
                </a:rPr>
                <a:t>最优性条件</a:t>
              </a:r>
            </a:p>
          </p:txBody>
        </p:sp>
        <p:sp>
          <p:nvSpPr>
            <p:cNvPr id="25" name="TextBox 25"/>
            <p:cNvSpPr txBox="1"/>
            <p:nvPr/>
          </p:nvSpPr>
          <p:spPr>
            <a:xfrm>
              <a:off x="7462647" y="1756410"/>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对四个主问题参数求偏导</a:t>
              </a:r>
            </a:p>
          </p:txBody>
        </p:sp>
        <mc:AlternateContent xmlns:mc="http://schemas.openxmlformats.org/markup-compatibility/2006">
          <mc:Choice xmlns:a14="http://schemas.microsoft.com/office/drawing/2010/main" Requires="a14">
            <p:sp>
              <p:nvSpPr>
                <p:cNvPr id="26" name="formula305"/>
                <p:cNvSpPr txBox="1">
                  <a:spLocks noGrp="1"/>
                </p:cNvSpPr>
                <p:nvPr/>
              </p:nvSpPr>
              <p:spPr>
                <a:xfrm>
                  <a:off x="6478905" y="2067878"/>
                  <a:ext cx="4987290" cy="56673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m:rPr>
                                <m:sty m:val="p"/>
                              </m:rPr>
                              <a:rPr lang="zh-CN" sz="1280" dirty="0">
                                <a:solidFill>
                                  <a:srgbClr val="1F2937"/>
                                </a:solidFill>
                                <a:latin typeface="Cambria Math"/>
                                <a:ea typeface="Cambria Math"/>
                                <a:cs typeface="Cambria Math"/>
                              </a:rPr>
                              <m:t>∇</m:t>
                            </m:r>
                          </m:e>
                          <m:sub>
                            <m:r>
                              <a:rPr lang="zh-CN" sz="1280" dirty="0">
                                <a:solidFill>
                                  <a:srgbClr val="1F2937"/>
                                </a:solidFill>
                                <a:latin typeface="Cambria Math"/>
                                <a:ea typeface="Cambria Math"/>
                                <a:cs typeface="Cambria Math"/>
                              </a:rPr>
                              <m:t>b</m:t>
                            </m:r>
                          </m:sub>
                        </m:sSub>
                        <m:r>
                          <a:rPr lang="zh-CN" sz="1280" dirty="0">
                            <a:solidFill>
                              <a:srgbClr val="1F2937"/>
                            </a:solidFill>
                            <a:latin typeface="Cambria Math"/>
                            <a:ea typeface="Cambria Math"/>
                            <a:cs typeface="Cambria Math"/>
                          </a:rPr>
                          <m:t>L</m:t>
                        </m:r>
                        <m:r>
                          <m:rPr>
                            <m:sty m:val="p"/>
                          </m:rPr>
                          <a:rPr lang="zh-CN" sz="1280" dirty="0">
                            <a:solidFill>
                              <a:srgbClr val="1F2937"/>
                            </a:solidFill>
                            <a:latin typeface="Cambria Math"/>
                            <a:ea typeface="Cambria Math"/>
                            <a:cs typeface="Cambria Math"/>
                          </a:rPr>
                          <m:t>=</m:t>
                        </m:r>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l</m:t>
                            </m:r>
                          </m:sup>
                          <m:e>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sSubSup>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up>
                                    <m:r>
                                      <m:rPr>
                                        <m:sty m:val="p"/>
                                      </m:rPr>
                                      <a:rPr lang="zh-CN" sz="1280" dirty="0">
                                        <a:solidFill>
                                          <a:srgbClr val="1F2937"/>
                                        </a:solidFill>
                                        <a:latin typeface="Cambria Math"/>
                                        <a:ea typeface="Cambria Math"/>
                                        <a:cs typeface="Cambria Math"/>
                                      </a:rPr>
                                      <m:t>*</m:t>
                                    </m:r>
                                  </m:sup>
                                </m:sSubSup>
                              </m:e>
                            </m:d>
                          </m:e>
                        </m:nary>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0</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 xml:space="preserve">  </m:t>
                        </m:r>
                        <m:sSub>
                          <m:e>
                            <m:r>
                              <m:rPr>
                                <m:sty m:val="p"/>
                              </m:rPr>
                              <a:rPr lang="zh-CN" sz="1280" dirty="0">
                                <a:solidFill>
                                  <a:srgbClr val="1F2937"/>
                                </a:solidFill>
                                <a:latin typeface="Cambria Math"/>
                                <a:ea typeface="Cambria Math"/>
                                <a:cs typeface="Cambria Math"/>
                              </a:rPr>
                              <m:t>∇</m:t>
                            </m:r>
                          </m:e>
                          <m:sub>
                            <m:r>
                              <a:rPr lang="zh-CN" sz="1280" dirty="0">
                                <a:solidFill>
                                  <a:srgbClr val="1F2937"/>
                                </a:solidFill>
                                <a:latin typeface="Cambria Math"/>
                                <a:ea typeface="Cambria Math"/>
                                <a:cs typeface="Cambria Math"/>
                              </a:rPr>
                              <m:t>w</m:t>
                            </m:r>
                          </m:sub>
                        </m:sSub>
                        <m:r>
                          <a:rPr lang="zh-CN" sz="1280" dirty="0">
                            <a:solidFill>
                              <a:srgbClr val="1F2937"/>
                            </a:solidFill>
                            <a:latin typeface="Cambria Math"/>
                            <a:ea typeface="Cambria Math"/>
                            <a:cs typeface="Cambria Math"/>
                          </a:rPr>
                          <m:t>L</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w</m:t>
                        </m:r>
                        <m:r>
                          <m:rPr>
                            <m:sty m:val="p"/>
                          </m:rPr>
                          <a:rPr lang="zh-CN" sz="1280" dirty="0">
                            <a:solidFill>
                              <a:srgbClr val="1F2937"/>
                            </a:solidFill>
                            <a:latin typeface="Cambria Math"/>
                            <a:ea typeface="Cambria Math"/>
                            <a:cs typeface="Cambria Math"/>
                          </a:rPr>
                          <m:t>−</m:t>
                        </m:r>
                        <m:nary>
                          <m:naryPr>
                            <m:chr m:val="∑"/>
                            <m:limLoc m:val="undOvr"/>
                            <m:grow m:val="off"/>
                            <m:subHide m:val="off"/>
                            <m:supHide m:val="off"/>
                            <m:ctrlPr>
                              <a:rPr lang="zh-CN" sz="1280" dirty="0">
                                <a:solidFill>
                                  <a:srgbClr val="1F2937"/>
                                </a:solidFill>
                                <a:latin typeface="Cambria Math"/>
                                <a:ea typeface="Cambria Math"/>
                                <a:cs typeface="Cambria Math"/>
                              </a:rPr>
                            </m:ctrlPr>
                          </m:naryPr>
                          <m:sub>
                            <m:r>
                              <a:rPr lang="zh-CN" sz="1280" dirty="0">
                                <a:solidFill>
                                  <a:srgbClr val="1F2937"/>
                                </a:solidFill>
                                <a:latin typeface="Cambria Math"/>
                                <a:ea typeface="Cambria Math"/>
                                <a:cs typeface="Cambria Math"/>
                              </a:rPr>
                              <m:t>i</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1</m:t>
                            </m:r>
                          </m:sub>
                          <m:sup>
                            <m:r>
                              <a:rPr lang="zh-CN" sz="1280" dirty="0">
                                <a:solidFill>
                                  <a:srgbClr val="1F2937"/>
                                </a:solidFill>
                                <a:latin typeface="Cambria Math"/>
                                <a:ea typeface="Cambria Math"/>
                                <a:cs typeface="Cambria Math"/>
                              </a:rPr>
                              <m:t>l</m:t>
                            </m:r>
                          </m:sup>
                          <m:e>
                            <m:d>
                              <m:dPr>
                                <m:begChr m:val="("/>
                                <m:sepChr m:val=""/>
                                <m:endChr m:val=")"/>
                                <m:grow m:val="on"/>
                                <m:ctrlPr>
                                  <a:rPr lang="zh-CN" sz="1280" dirty="0">
                                    <a:solidFill>
                                      <a:srgbClr val="1F2937"/>
                                    </a:solidFill>
                                    <a:latin typeface="Cambria Math"/>
                                    <a:ea typeface="Cambria Math"/>
                                    <a:cs typeface="Cambria Math"/>
                                  </a:rPr>
                                </m:ctrlPr>
                              </m:dPr>
                              <m:e>
                                <m:sSubSup>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up>
                                    <m:r>
                                      <m:rPr>
                                        <m:sty m:val="p"/>
                                      </m:rPr>
                                      <a:rPr lang="zh-CN" sz="1280" dirty="0">
                                        <a:solidFill>
                                          <a:srgbClr val="1F2937"/>
                                        </a:solidFill>
                                        <a:latin typeface="Cambria Math"/>
                                        <a:ea typeface="Cambria Math"/>
                                        <a:cs typeface="Cambria Math"/>
                                      </a:rPr>
                                      <m:t>*</m:t>
                                    </m:r>
                                  </m:sup>
                                </m:sSubSup>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e>
                            </m:d>
                            <m:r>
                              <a:rPr lang="zh-CN" sz="1280" dirty="0">
                                <a:solidFill>
                                  <a:srgbClr val="1F2937"/>
                                </a:solidFill>
                                <a:latin typeface="Cambria Math"/>
                                <a:ea typeface="Cambria Math"/>
                                <a:cs typeface="Cambria Math"/>
                              </a:rPr>
                              <m:t>ϕ</m:t>
                            </m:r>
                            <m:d>
                              <m:dPr>
                                <m:begChr m:val="("/>
                                <m:sepChr m:val=""/>
                                <m:endChr m:val=")"/>
                                <m:grow m:val="on"/>
                                <m:ctrlPr>
                                  <a:rPr lang="zh-CN" sz="1280" dirty="0">
                                    <a:solidFill>
                                      <a:srgbClr val="1F2937"/>
                                    </a:solidFill>
                                    <a:latin typeface="Cambria Math"/>
                                    <a:ea typeface="Cambria Math"/>
                                    <a:cs typeface="Cambria Math"/>
                                  </a:rPr>
                                </m:ctrlPr>
                              </m:dPr>
                              <m:e>
                                <m:sSub>
                                  <m:e>
                                    <m:r>
                                      <a:rPr lang="zh-CN" sz="1280" dirty="0">
                                        <a:solidFill>
                                          <a:srgbClr val="1F2937"/>
                                        </a:solidFill>
                                        <a:latin typeface="Cambria Math"/>
                                        <a:ea typeface="Cambria Math"/>
                                        <a:cs typeface="Cambria Math"/>
                                      </a:rPr>
                                      <m:t>x</m:t>
                                    </m:r>
                                  </m:e>
                                  <m:sub>
                                    <m:r>
                                      <a:rPr lang="zh-CN" sz="1280" dirty="0">
                                        <a:solidFill>
                                          <a:srgbClr val="1F2937"/>
                                        </a:solidFill>
                                        <a:latin typeface="Cambria Math"/>
                                        <a:ea typeface="Cambria Math"/>
                                        <a:cs typeface="Cambria Math"/>
                                      </a:rPr>
                                      <m:t>i</m:t>
                                    </m:r>
                                  </m:sub>
                                </m:sSub>
                              </m:e>
                            </m:d>
                          </m:e>
                        </m:nary>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0</m:t>
                        </m:r>
                      </m:oMath>
                    </m:oMathPara>
                  </a14:m>
                </a:p>
              </p:txBody>
            </p:sp>
          </mc:Choice>
        </mc:AlternateContent>
        <mc:AlternateContent xmlns:mc="http://schemas.openxmlformats.org/markup-compatibility/2006">
          <mc:Choice xmlns:a14="http://schemas.microsoft.com/office/drawing/2010/main" Requires="a14">
            <p:sp>
              <p:nvSpPr>
                <p:cNvPr id="27" name="formula306"/>
                <p:cNvSpPr txBox="1">
                  <a:spLocks noGrp="1"/>
                </p:cNvSpPr>
                <p:nvPr/>
              </p:nvSpPr>
              <p:spPr>
                <a:xfrm>
                  <a:off x="6478905" y="2721292"/>
                  <a:ext cx="4987290" cy="3238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m:rPr>
                                <m:sty m:val="p"/>
                              </m:rPr>
                              <a:rPr lang="zh-CN" sz="1280" dirty="0">
                                <a:solidFill>
                                  <a:srgbClr val="1F2937"/>
                                </a:solidFill>
                                <a:latin typeface="Cambria Math"/>
                                <a:ea typeface="Cambria Math"/>
                                <a:cs typeface="Cambria Math"/>
                              </a:rPr>
                              <m:t>∇</m:t>
                            </m:r>
                          </m:e>
                          <m:sub>
                            <m:r>
                              <a:rPr lang="zh-CN" sz="1280" dirty="0">
                                <a:solidFill>
                                  <a:srgbClr val="1F2937"/>
                                </a:solidFill>
                                <a:latin typeface="Cambria Math"/>
                                <a:ea typeface="Cambria Math"/>
                                <a:cs typeface="Cambria Math"/>
                              </a:rPr>
                              <m:t>ξ</m:t>
                            </m:r>
                          </m:sub>
                        </m:sSub>
                        <m:r>
                          <a:rPr lang="zh-CN" sz="1280" dirty="0">
                            <a:solidFill>
                              <a:srgbClr val="1F2937"/>
                            </a:solidFill>
                            <a:latin typeface="Cambria Math"/>
                            <a:ea typeface="Cambria Math"/>
                            <a:cs typeface="Cambria Math"/>
                          </a:rPr>
                          <m:t>L</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C</m:t>
                        </m:r>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sSub>
                          <m:e>
                            <m:r>
                              <a:rPr lang="zh-CN" sz="1280" dirty="0">
                                <a:solidFill>
                                  <a:srgbClr val="1F2937"/>
                                </a:solidFill>
                                <a:latin typeface="Cambria Math"/>
                                <a:ea typeface="Cambria Math"/>
                                <a:cs typeface="Cambria Math"/>
                              </a:rPr>
                              <m:t>η</m:t>
                            </m:r>
                          </m:e>
                          <m:sub>
                            <m:r>
                              <a:rPr lang="zh-CN" sz="1280" dirty="0">
                                <a:solidFill>
                                  <a:srgbClr val="1F2937"/>
                                </a:solidFill>
                                <a:latin typeface="Cambria Math"/>
                                <a:ea typeface="Cambria Math"/>
                                <a:cs typeface="Cambria Math"/>
                              </a:rPr>
                              <m:t>i</m:t>
                            </m:r>
                          </m:sub>
                        </m:sSub>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0</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 xml:space="preserve">  </m:t>
                        </m:r>
                        <m:sSub>
                          <m:e>
                            <m:r>
                              <m:rPr>
                                <m:sty m:val="p"/>
                              </m:rPr>
                              <a:rPr lang="zh-CN" sz="1280" dirty="0">
                                <a:solidFill>
                                  <a:srgbClr val="1F2937"/>
                                </a:solidFill>
                                <a:latin typeface="Cambria Math"/>
                                <a:ea typeface="Cambria Math"/>
                                <a:cs typeface="Cambria Math"/>
                              </a:rPr>
                              <m:t>∇</m:t>
                            </m:r>
                          </m:e>
                          <m:sub>
                            <m:sSup>
                              <m:e>
                                <m:r>
                                  <a:rPr lang="zh-CN" sz="1280" dirty="0">
                                    <a:solidFill>
                                      <a:srgbClr val="1F2937"/>
                                    </a:solidFill>
                                    <a:latin typeface="Cambria Math"/>
                                    <a:ea typeface="Cambria Math"/>
                                    <a:cs typeface="Cambria Math"/>
                                  </a:rPr>
                                  <m:t>ξ</m:t>
                                </m:r>
                              </m:e>
                              <m:sup>
                                <m:r>
                                  <m:rPr>
                                    <m:sty m:val="p"/>
                                  </m:rPr>
                                  <a:rPr lang="zh-CN" sz="1280" dirty="0">
                                    <a:solidFill>
                                      <a:srgbClr val="1F2937"/>
                                    </a:solidFill>
                                    <a:latin typeface="Cambria Math"/>
                                    <a:ea typeface="Cambria Math"/>
                                    <a:cs typeface="Cambria Math"/>
                                  </a:rPr>
                                  <m:t>*</m:t>
                                </m:r>
                              </m:sup>
                            </m:sSup>
                          </m:sub>
                        </m:sSub>
                        <m:r>
                          <a:rPr lang="zh-CN" sz="1280" dirty="0">
                            <a:solidFill>
                              <a:srgbClr val="1F2937"/>
                            </a:solidFill>
                            <a:latin typeface="Cambria Math"/>
                            <a:ea typeface="Cambria Math"/>
                            <a:cs typeface="Cambria Math"/>
                          </a:rPr>
                          <m:t>L</m:t>
                        </m:r>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C</m:t>
                        </m:r>
                        <m:r>
                          <m:rPr>
                            <m:sty m:val="p"/>
                          </m:rPr>
                          <a:rPr lang="zh-CN" sz="1280" dirty="0">
                            <a:solidFill>
                              <a:srgbClr val="1F2937"/>
                            </a:solidFill>
                            <a:latin typeface="Cambria Math"/>
                            <a:ea typeface="Cambria Math"/>
                            <a:cs typeface="Cambria Math"/>
                          </a:rPr>
                          <m:t>−</m:t>
                        </m:r>
                        <m:sSubSup>
                          <m:e>
                            <m:r>
                              <a:rPr lang="zh-CN" sz="1280" dirty="0">
                                <a:solidFill>
                                  <a:srgbClr val="1F2937"/>
                                </a:solidFill>
                                <a:latin typeface="Cambria Math"/>
                                <a:ea typeface="Cambria Math"/>
                                <a:cs typeface="Cambria Math"/>
                              </a:rPr>
                              <m:t>α</m:t>
                            </m:r>
                          </m:e>
                          <m:sub>
                            <m:r>
                              <a:rPr lang="zh-CN" sz="1280" dirty="0">
                                <a:solidFill>
                                  <a:srgbClr val="1F2937"/>
                                </a:solidFill>
                                <a:latin typeface="Cambria Math"/>
                                <a:ea typeface="Cambria Math"/>
                                <a:cs typeface="Cambria Math"/>
                              </a:rPr>
                              <m:t>i</m:t>
                            </m:r>
                          </m:sub>
                          <m:sup>
                            <m:r>
                              <m:rPr>
                                <m:sty m:val="p"/>
                              </m:rPr>
                              <a:rPr lang="zh-CN" sz="1280" dirty="0">
                                <a:solidFill>
                                  <a:srgbClr val="1F2937"/>
                                </a:solidFill>
                                <a:latin typeface="Cambria Math"/>
                                <a:ea typeface="Cambria Math"/>
                                <a:cs typeface="Cambria Math"/>
                              </a:rPr>
                              <m:t>*</m:t>
                            </m:r>
                          </m:sup>
                        </m:sSubSup>
                        <m:r>
                          <m:rPr>
                            <m:sty m:val="p"/>
                          </m:rPr>
                          <a:rPr lang="zh-CN" sz="1280" dirty="0">
                            <a:solidFill>
                              <a:srgbClr val="1F2937"/>
                            </a:solidFill>
                            <a:latin typeface="Cambria Math"/>
                            <a:ea typeface="Cambria Math"/>
                            <a:cs typeface="Cambria Math"/>
                          </a:rPr>
                          <m:t>−</m:t>
                        </m:r>
                        <m:sSubSup>
                          <m:e>
                            <m:r>
                              <a:rPr lang="zh-CN" sz="1280" dirty="0">
                                <a:solidFill>
                                  <a:srgbClr val="1F2937"/>
                                </a:solidFill>
                                <a:latin typeface="Cambria Math"/>
                                <a:ea typeface="Cambria Math"/>
                                <a:cs typeface="Cambria Math"/>
                              </a:rPr>
                              <m:t>η</m:t>
                            </m:r>
                          </m:e>
                          <m:sub>
                            <m:r>
                              <a:rPr lang="zh-CN" sz="1280" dirty="0">
                                <a:solidFill>
                                  <a:srgbClr val="1F2937"/>
                                </a:solidFill>
                                <a:latin typeface="Cambria Math"/>
                                <a:ea typeface="Cambria Math"/>
                                <a:cs typeface="Cambria Math"/>
                              </a:rPr>
                              <m:t>i</m:t>
                            </m:r>
                          </m:sub>
                          <m:sup>
                            <m:r>
                              <m:rPr>
                                <m:sty m:val="p"/>
                              </m:rPr>
                              <a:rPr lang="zh-CN" sz="1280" dirty="0">
                                <a:solidFill>
                                  <a:srgbClr val="1F2937"/>
                                </a:solidFill>
                                <a:latin typeface="Cambria Math"/>
                                <a:ea typeface="Cambria Math"/>
                                <a:cs typeface="Cambria Math"/>
                              </a:rPr>
                              <m:t>*</m:t>
                            </m:r>
                          </m:sup>
                        </m:sSubSup>
                        <m:r>
                          <m:rPr>
                            <m:sty m:val="p"/>
                          </m:rPr>
                          <a:rPr lang="zh-CN" sz="1280" dirty="0">
                            <a:solidFill>
                              <a:srgbClr val="1F2937"/>
                            </a:solidFill>
                            <a:latin typeface="Cambria Math"/>
                            <a:ea typeface="Cambria Math"/>
                            <a:cs typeface="Cambria Math"/>
                          </a:rPr>
                          <m:t>=</m:t>
                        </m:r>
                        <m:r>
                          <a:rPr lang="zh-CN" sz="1280" dirty="0">
                            <a:solidFill>
                              <a:srgbClr val="1F2937"/>
                            </a:solidFill>
                            <a:latin typeface="Cambria Math"/>
                            <a:ea typeface="Cambria Math"/>
                            <a:cs typeface="Cambria Math"/>
                          </a:rPr>
                          <m:t>0</m:t>
                        </m:r>
                      </m:oMath>
                    </m:oMathPara>
                  </a14:m>
                </a:p>
              </p:txBody>
            </p:sp>
          </mc:Choice>
        </mc:AlternateContent>
        <p:sp>
          <p:nvSpPr>
            <p:cNvPr id="28" name="TextBox 28"/>
            <p:cNvSpPr txBox="1"/>
            <p:nvPr/>
          </p:nvSpPr>
          <p:spPr>
            <a:xfrm>
              <a:off x="6472047" y="3154680"/>
              <a:ext cx="457428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乘子满足 αᵢ, αᵢ* ≥ 0、ηᵢ, ηᵢ* ≥ 0；由后两式立刻得到 0 ≤</a:t>
              </a:r>
              <a:br/>
              <a:r>
                <a:rPr lang="zh-CN" sz="1350" dirty="0">
                  <a:solidFill>
                    <a:srgbClr val="1F2937"/>
                  </a:solidFill>
                  <a:latin typeface="+mn-lt"/>
                  <a:ea typeface="+mn-ea"/>
                  <a:cs typeface="+mn-cs"/>
                </a:rPr>
                <a:t>αᵢ, αᵢ* ≤ C。</a:t>
              </a:r>
            </a:p>
          </p:txBody>
        </p:sp>
      </p:grpSp>
      <p:grpSp>
        <p:nvGrpSpPr>
          <p:cNvPr id="38" name="c2-card-2"/>
          <p:cNvGrpSpPr/>
          <p:nvPr/>
        </p:nvGrpSpPr>
        <p:grpSpPr>
          <a:xfrm>
            <a:off x="6248400" y="3990022"/>
            <a:ext cx="5410200" cy="2306955"/>
            <a:chOff x="6248400" y="3990022"/>
            <a:chExt cx="5410200" cy="2306955"/>
          </a:xfrm>
        </p:grpSpPr>
        <p:sp>
          <p:nvSpPr>
            <p:cNvPr id="30" name="Rectangle 30"/>
            <p:cNvSpPr/>
            <p:nvPr/>
          </p:nvSpPr>
          <p:spPr>
            <a:xfrm>
              <a:off x="6248400" y="3990022"/>
              <a:ext cx="5410200" cy="2306955"/>
            </a:xfrm>
            <a:prstGeom prst="roundRect">
              <a:avLst>
                <a:gd name="adj" fmla="val 5780"/>
              </a:avLst>
            </a:prstGeom>
            <a:solidFill>
              <a:srgbClr val="FFFFFF"/>
            </a:solidFill>
            <a:ln w="14288">
              <a:solidFill>
                <a:srgbClr val="D9DFEA"/>
              </a:solidFill>
            </a:ln>
          </p:spPr>
        </p:sp>
        <p:sp>
          <p:nvSpPr>
            <p:cNvPr id="31" name="Rectangle 31"/>
            <p:cNvSpPr/>
            <p:nvPr/>
          </p:nvSpPr>
          <p:spPr>
            <a:xfrm>
              <a:off x="6257925" y="4123372"/>
              <a:ext cx="47625" cy="2040255"/>
            </a:xfrm>
            <a:prstGeom prst="roundRect">
              <a:avLst>
                <a:gd name="adj" fmla="val 50000"/>
              </a:avLst>
            </a:prstGeom>
            <a:solidFill>
              <a:srgbClr val="5B6475"/>
            </a:solidFill>
            <a:ln>
              <a:noFill/>
            </a:ln>
          </p:spPr>
        </p:sp>
        <p:sp>
          <p:nvSpPr>
            <p:cNvPr id="32" name="Rectangle 32"/>
            <p:cNvSpPr/>
            <p:nvPr/>
          </p:nvSpPr>
          <p:spPr>
            <a:xfrm>
              <a:off x="6478905" y="4182428"/>
              <a:ext cx="476250" cy="247650"/>
            </a:xfrm>
            <a:prstGeom prst="roundRect">
              <a:avLst>
                <a:gd name="adj" fmla="val 50000"/>
              </a:avLst>
            </a:prstGeom>
            <a:solidFill>
              <a:srgbClr val="F4F6FB"/>
            </a:solidFill>
            <a:ln>
              <a:noFill/>
            </a:ln>
          </p:spPr>
        </p:sp>
        <p:sp>
          <p:nvSpPr>
            <p:cNvPr id="33" name="TextBox 33"/>
            <p:cNvSpPr txBox="1"/>
            <p:nvPr/>
          </p:nvSpPr>
          <p:spPr>
            <a:xfrm>
              <a:off x="6570345" y="4216718"/>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34" name="TextBox 34"/>
            <p:cNvSpPr txBox="1"/>
            <p:nvPr/>
          </p:nvSpPr>
          <p:spPr>
            <a:xfrm>
              <a:off x="7062597" y="4222432"/>
              <a:ext cx="24786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原课件的 ∇_w L 多了一个因子</a:t>
              </a:r>
            </a:p>
          </p:txBody>
        </p:sp>
        <p:sp>
          <p:nvSpPr>
            <p:cNvPr id="35" name="TextBox 35"/>
            <p:cNvSpPr txBox="1"/>
            <p:nvPr/>
          </p:nvSpPr>
          <p:spPr>
            <a:xfrm>
              <a:off x="6472047" y="4555808"/>
              <a:ext cx="277543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B 版第 78 页、A 版第 63 页都写成</a:t>
              </a:r>
            </a:p>
          </p:txBody>
        </p:sp>
        <p:sp>
          <p:nvSpPr>
            <p:cNvPr id="36" name="TextBox 36"/>
            <p:cNvSpPr txBox="1"/>
            <p:nvPr/>
          </p:nvSpPr>
          <p:spPr>
            <a:xfrm>
              <a:off x="6473190" y="4855369"/>
              <a:ext cx="3489127" cy="220028"/>
            </a:xfrm>
            <a:prstGeom prst="rect">
              <a:avLst/>
            </a:prstGeom>
            <a:noFill/>
            <a:ln>
              <a:noFill/>
            </a:ln>
          </p:spPr>
          <p:txBody>
            <a:bodyPr wrap="none" lIns="0" tIns="0" rIns="0" bIns="0" anchor="t" anchorCtr="0">
              <a:spAutoFit/>
            </a:bodyPr>
            <a:lstStyle/>
            <a:p>
              <a:pPr algn="l"/>
              <a:r>
                <a:rPr lang="el-GR" sz="1120" dirty="0">
                  <a:solidFill>
                    <a:srgbClr val="5B6475"/>
                  </a:solidFill>
                  <a:latin typeface="+mn-lt"/>
                  <a:ea typeface="+mn-ea"/>
                  <a:cs typeface="+mn-cs"/>
                </a:rPr>
                <a:t>∇_w L = w − Σ(αᵢ*−αᵢ)(αⱼ*−αⱼ)φ(xᵢ)·φ(xⱼ) = 0</a:t>
              </a:r>
            </a:p>
          </p:txBody>
        </p:sp>
        <p:sp>
          <p:nvSpPr>
            <p:cNvPr id="37" name="TextBox 37"/>
            <p:cNvSpPr txBox="1"/>
            <p:nvPr/>
          </p:nvSpPr>
          <p:spPr>
            <a:xfrm>
              <a:off x="6472047" y="5122545"/>
              <a:ext cx="4722590"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这里既出现了本不该有的 j 下标，又把 φ(xᵢ) 变成了内积，量</a:t>
              </a:r>
              <a:br/>
              <a:r>
                <a:rPr lang="zh-CN" sz="1350" dirty="0">
                  <a:solidFill>
                    <a:srgbClr val="1F2937"/>
                  </a:solidFill>
                  <a:latin typeface="+mn-lt"/>
                  <a:ea typeface="+mn-ea"/>
                  <a:cs typeface="+mn-cs"/>
                </a:rPr>
                <a:t xml:space="preserve">纲都对不上（左边是向量，右边成了标量）。正确写法是 </a:t>
              </a:r>
              <a:r>
                <a:rPr lang="en-US" sz="1350" b="1" dirty="0">
                  <a:solidFill>
                    <a:srgbClr val="C2410C"/>
                  </a:solidFill>
                  <a:latin typeface="+mn-lt"/>
                  <a:ea typeface="+mn-ea"/>
                  <a:cs typeface="+mn-cs"/>
                </a:rPr>
                <a:t>w =</a:t>
              </a:r>
              <a:br/>
              <a:r>
                <a:rPr lang="el-GR" sz="1350" b="1" dirty="0">
                  <a:solidFill>
                    <a:srgbClr val="C2410C"/>
                  </a:solidFill>
                  <a:latin typeface="+mn-lt"/>
                  <a:ea typeface="+mn-ea"/>
                  <a:cs typeface="+mn-cs"/>
                </a:rPr>
                <a:t>Σ(αᵢ* − αᵢ)φ(xᵢ)</a:t>
              </a:r>
              <a:r>
                <a:rPr lang="zh-CN" sz="1350" dirty="0">
                  <a:solidFill>
                    <a:srgbClr val="1F2937"/>
                  </a:solidFill>
                  <a:latin typeface="+mn-lt"/>
                  <a:ea typeface="+mn-ea"/>
                  <a:cs typeface="+mn-cs"/>
                </a:rPr>
                <a:t>，与决策函数 f(x) = Σ(αᵢ*−αᵢ)K(xᵢ, x)</a:t>
              </a:r>
              <a:br/>
              <a:r>
                <a:rPr lang="zh-CN" sz="1350" dirty="0">
                  <a:solidFill>
                    <a:srgbClr val="1F2937"/>
                  </a:solidFill>
                  <a:latin typeface="+mn-lt"/>
                  <a:ea typeface="+mn-ea"/>
                  <a:cs typeface="+mn-cs"/>
                </a:rPr>
                <a:t>+ b 自洽。</a:t>
              </a:r>
            </a:p>
          </p:txBody>
        </p:sp>
      </p:grpSp>
      <p:grpSp>
        <p:nvGrpSpPr>
          <p:cNvPr id="41" name="footer"/>
          <p:cNvGrpSpPr/>
          <p:nvPr/>
        </p:nvGrpSpPr>
        <p:grpSpPr>
          <a:xfrm>
            <a:off x="528447" y="6581299"/>
            <a:ext cx="11135106" cy="190690"/>
            <a:chOff x="528447" y="6581299"/>
            <a:chExt cx="11135106" cy="190690"/>
          </a:xfrm>
        </p:grpSpPr>
        <p:sp>
          <p:nvSpPr>
            <p:cNvPr id="39" name="TextBox 39"/>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40" name="TextBox 4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514809" cy="909257"/>
            <a:chOff x="520446" y="342900"/>
            <a:chExt cx="3514809"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351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SVR 的对偶问题与核化</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161" y="1547336"/>
            <a:ext cx="5672465" cy="278702"/>
            <a:chOff x="526161" y="1547336"/>
            <a:chExt cx="5672465" cy="278702"/>
          </a:xfrm>
        </p:grpSpPr>
        <p:sp>
          <p:nvSpPr>
            <p:cNvPr id="7" name="TextBox 7"/>
            <p:cNvSpPr txBox="1"/>
            <p:nvPr/>
          </p:nvSpPr>
          <p:spPr>
            <a:xfrm>
              <a:off x="526161" y="1547336"/>
              <a:ext cx="5672465"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把四条最优性条件代回 L，w、b、ξ、η 全部消掉，只剩两组乘子。</a:t>
              </a:r>
            </a:p>
          </p:txBody>
        </p:sp>
      </p:grpSp>
      <p:grpSp>
        <p:nvGrpSpPr>
          <p:cNvPr id="26" name="c1-steps-1"/>
          <p:cNvGrpSpPr/>
          <p:nvPr/>
        </p:nvGrpSpPr>
        <p:grpSpPr>
          <a:xfrm>
            <a:off x="533400" y="1950720"/>
            <a:ext cx="2617445" cy="2280762"/>
            <a:chOff x="533400" y="1950720"/>
            <a:chExt cx="2617445" cy="2280762"/>
          </a:xfrm>
        </p:grpSpPr>
        <p:sp>
          <p:nvSpPr>
            <p:cNvPr id="9" name="Rectangle 9"/>
            <p:cNvSpPr/>
            <p:nvPr/>
          </p:nvSpPr>
          <p:spPr>
            <a:xfrm>
              <a:off x="666750" y="2093595"/>
              <a:ext cx="19050" cy="1761172"/>
            </a:xfrm>
            <a:prstGeom prst="rect">
              <a:avLst/>
            </a:prstGeom>
            <a:solidFill>
              <a:srgbClr val="D9DFEA"/>
            </a:solidFill>
            <a:ln>
              <a:noFill/>
            </a:ln>
          </p:spPr>
        </p:sp>
        <p:sp>
          <p:nvSpPr>
            <p:cNvPr id="10" name="Ellipse 10"/>
            <p:cNvSpPr/>
            <p:nvPr/>
          </p:nvSpPr>
          <p:spPr>
            <a:xfrm>
              <a:off x="533400" y="1950720"/>
              <a:ext cx="285750" cy="285750"/>
            </a:xfrm>
            <a:prstGeom prst="ellipse">
              <a:avLst/>
            </a:prstGeom>
            <a:solidFill>
              <a:srgbClr val="0E7C86"/>
            </a:solidFill>
            <a:ln>
              <a:noFill/>
            </a:ln>
          </p:spPr>
        </p:sp>
        <p:sp>
          <p:nvSpPr>
            <p:cNvPr id="11" name="TextBox 11"/>
            <p:cNvSpPr txBox="1"/>
            <p:nvPr/>
          </p:nvSpPr>
          <p:spPr>
            <a:xfrm>
              <a:off x="627024" y="202453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538412"/>
              <a:ext cx="285750" cy="285750"/>
            </a:xfrm>
            <a:prstGeom prst="ellipse">
              <a:avLst/>
            </a:prstGeom>
            <a:solidFill>
              <a:srgbClr val="0E7C86"/>
            </a:solidFill>
            <a:ln>
              <a:noFill/>
            </a:ln>
          </p:spPr>
        </p:sp>
        <p:sp>
          <p:nvSpPr>
            <p:cNvPr id="13" name="TextBox 13"/>
            <p:cNvSpPr txBox="1"/>
            <p:nvPr/>
          </p:nvSpPr>
          <p:spPr>
            <a:xfrm>
              <a:off x="627024" y="26122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125152"/>
              <a:ext cx="285750" cy="285750"/>
            </a:xfrm>
            <a:prstGeom prst="ellipse">
              <a:avLst/>
            </a:prstGeom>
            <a:solidFill>
              <a:srgbClr val="0E7C86"/>
            </a:solidFill>
            <a:ln>
              <a:noFill/>
            </a:ln>
          </p:spPr>
        </p:sp>
        <p:sp>
          <p:nvSpPr>
            <p:cNvPr id="15" name="TextBox 15"/>
            <p:cNvSpPr txBox="1"/>
            <p:nvPr/>
          </p:nvSpPr>
          <p:spPr>
            <a:xfrm>
              <a:off x="627024" y="319897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3711892"/>
              <a:ext cx="285750" cy="285750"/>
            </a:xfrm>
            <a:prstGeom prst="ellipse">
              <a:avLst/>
            </a:prstGeom>
            <a:solidFill>
              <a:srgbClr val="0E7C86"/>
            </a:solidFill>
            <a:ln>
              <a:noFill/>
            </a:ln>
          </p:spPr>
        </p:sp>
        <p:sp>
          <p:nvSpPr>
            <p:cNvPr id="17" name="TextBox 17"/>
            <p:cNvSpPr txBox="1"/>
            <p:nvPr/>
          </p:nvSpPr>
          <p:spPr>
            <a:xfrm>
              <a:off x="627024" y="378571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TextBox 18"/>
            <p:cNvSpPr txBox="1"/>
            <p:nvPr/>
          </p:nvSpPr>
          <p:spPr>
            <a:xfrm>
              <a:off x="945642" y="1983105"/>
              <a:ext cx="77837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含 ξ 的项</a:t>
              </a:r>
            </a:p>
          </p:txBody>
        </p:sp>
        <p:sp>
          <p:nvSpPr>
            <p:cNvPr id="19" name="TextBox 19"/>
            <p:cNvSpPr txBox="1"/>
            <p:nvPr/>
          </p:nvSpPr>
          <p:spPr>
            <a:xfrm>
              <a:off x="946785" y="2250281"/>
              <a:ext cx="212725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系数 C − αᵢ − ηᵢ = 0，整体为 0</a:t>
              </a:r>
            </a:p>
          </p:txBody>
        </p:sp>
        <p:sp>
          <p:nvSpPr>
            <p:cNvPr id="20" name="TextBox 20"/>
            <p:cNvSpPr txBox="1"/>
            <p:nvPr/>
          </p:nvSpPr>
          <p:spPr>
            <a:xfrm>
              <a:off x="945642" y="2569845"/>
              <a:ext cx="77837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含 b 的项</a:t>
              </a:r>
            </a:p>
          </p:txBody>
        </p:sp>
        <p:sp>
          <p:nvSpPr>
            <p:cNvPr id="21" name="TextBox 21"/>
            <p:cNvSpPr txBox="1"/>
            <p:nvPr/>
          </p:nvSpPr>
          <p:spPr>
            <a:xfrm>
              <a:off x="946785" y="2837021"/>
              <a:ext cx="220406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系数 Σ(αᵢ − αᵢ*) = 0，整体为 0</a:t>
              </a:r>
            </a:p>
          </p:txBody>
        </p:sp>
        <p:sp>
          <p:nvSpPr>
            <p:cNvPr id="22" name="TextBox 22"/>
            <p:cNvSpPr txBox="1"/>
            <p:nvPr/>
          </p:nvSpPr>
          <p:spPr>
            <a:xfrm>
              <a:off x="945642" y="3156585"/>
              <a:ext cx="81653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含 w 的项</a:t>
              </a:r>
            </a:p>
          </p:txBody>
        </p:sp>
        <p:sp>
          <p:nvSpPr>
            <p:cNvPr id="23" name="TextBox 23"/>
            <p:cNvSpPr txBox="1"/>
            <p:nvPr/>
          </p:nvSpPr>
          <p:spPr>
            <a:xfrm>
              <a:off x="946785" y="3424714"/>
              <a:ext cx="1737797"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½||w||² − ||w||² = −½||w||²</a:t>
              </a:r>
            </a:p>
          </p:txBody>
        </p:sp>
        <p:sp>
          <p:nvSpPr>
            <p:cNvPr id="24" name="TextBox 24"/>
            <p:cNvSpPr txBox="1"/>
            <p:nvPr/>
          </p:nvSpPr>
          <p:spPr>
            <a:xfrm>
              <a:off x="945642" y="374332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剩下</a:t>
              </a:r>
            </a:p>
          </p:txBody>
        </p:sp>
        <p:sp>
          <p:nvSpPr>
            <p:cNvPr id="25" name="TextBox 25"/>
            <p:cNvSpPr txBox="1"/>
            <p:nvPr/>
          </p:nvSpPr>
          <p:spPr>
            <a:xfrm>
              <a:off x="946785" y="4011454"/>
              <a:ext cx="111208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只有 ε 项与 y 项</a:t>
              </a:r>
            </a:p>
          </p:txBody>
        </p:sp>
      </p:grpSp>
      <p:grpSp>
        <p:nvGrpSpPr>
          <p:cNvPr id="33" name="c1-card-2"/>
          <p:cNvGrpSpPr/>
          <p:nvPr/>
        </p:nvGrpSpPr>
        <p:grpSpPr>
          <a:xfrm>
            <a:off x="533400" y="4400550"/>
            <a:ext cx="5410200" cy="1840230"/>
            <a:chOff x="533400" y="4400550"/>
            <a:chExt cx="5410200" cy="1840230"/>
          </a:xfrm>
        </p:grpSpPr>
        <p:sp>
          <p:nvSpPr>
            <p:cNvPr id="27" name="Rectangle 27"/>
            <p:cNvSpPr/>
            <p:nvPr/>
          </p:nvSpPr>
          <p:spPr>
            <a:xfrm>
              <a:off x="533400" y="4400550"/>
              <a:ext cx="5410200" cy="1840230"/>
            </a:xfrm>
            <a:prstGeom prst="roundRect">
              <a:avLst>
                <a:gd name="adj" fmla="val 7246"/>
              </a:avLst>
            </a:prstGeom>
            <a:solidFill>
              <a:srgbClr val="0E7C86"/>
            </a:solidFill>
            <a:ln>
              <a:noFill/>
            </a:ln>
          </p:spPr>
        </p:sp>
        <p:sp>
          <p:nvSpPr>
            <p:cNvPr id="28" name="Rectangle 28"/>
            <p:cNvSpPr/>
            <p:nvPr/>
          </p:nvSpPr>
          <p:spPr>
            <a:xfrm>
              <a:off x="725805" y="4592955"/>
              <a:ext cx="742950" cy="247650"/>
            </a:xfrm>
            <a:prstGeom prst="roundRect">
              <a:avLst>
                <a:gd name="adj" fmla="val 50000"/>
              </a:avLst>
            </a:prstGeom>
            <a:solidFill>
              <a:srgbClr val="0B5F67"/>
            </a:solidFill>
            <a:ln>
              <a:noFill/>
            </a:ln>
          </p:spPr>
        </p:sp>
        <p:sp>
          <p:nvSpPr>
            <p:cNvPr id="29" name="TextBox 29"/>
            <p:cNvSpPr txBox="1"/>
            <p:nvPr/>
          </p:nvSpPr>
          <p:spPr>
            <a:xfrm>
              <a:off x="809244" y="4627245"/>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对偶问题</a:t>
              </a:r>
            </a:p>
          </p:txBody>
        </p:sp>
        <p:sp>
          <p:nvSpPr>
            <p:cNvPr id="30" name="TextBox 30"/>
            <p:cNvSpPr txBox="1"/>
            <p:nvPr/>
          </p:nvSpPr>
          <p:spPr>
            <a:xfrm>
              <a:off x="1576197" y="4632008"/>
              <a:ext cx="201282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引入核函数后的最终形式</a:t>
              </a:r>
            </a:p>
          </p:txBody>
        </p:sp>
        <mc:AlternateContent xmlns:mc="http://schemas.openxmlformats.org/markup-compatibility/2006">
          <mc:Choice xmlns:a14="http://schemas.microsoft.com/office/drawing/2010/main" Requires="a14">
            <p:sp>
              <p:nvSpPr>
                <p:cNvPr id="31" name="formula315"/>
                <p:cNvSpPr txBox="1">
                  <a:spLocks noGrp="1"/>
                </p:cNvSpPr>
                <p:nvPr/>
              </p:nvSpPr>
              <p:spPr>
                <a:xfrm>
                  <a:off x="725805" y="4944428"/>
                  <a:ext cx="5025390" cy="46672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r>
                              <m:rPr>
                                <m:sty m:val="p"/>
                              </m:rPr>
                              <a:rPr lang="zh-CN" sz="1050" dirty="0">
                                <a:solidFill>
                                  <a:srgbClr val="FFFFFF"/>
                                </a:solidFill>
                                <a:latin typeface="Cambria Math"/>
                                <a:ea typeface="Cambria Math"/>
                                <a:cs typeface="Cambria Math"/>
                              </a:rPr>
                              <m:t>max</m:t>
                            </m:r>
                          </m:fName>
                          <m:e>
                            <m:r>
                              <a:rPr lang="zh-CN" sz="1050" dirty="0">
                                <a:solidFill>
                                  <a:srgbClr val="FFFFFF"/>
                                </a:solidFill>
                                <a:latin typeface="Cambria Math"/>
                                <a:ea typeface="Cambria Math"/>
                                <a:cs typeface="Cambria Math"/>
                              </a:rPr>
                              <m:t xml:space="preserve"> </m:t>
                            </m:r>
                            <m:r>
                              <m:rPr>
                                <m:sty m:val="p"/>
                              </m:rPr>
                              <a:rPr lang="zh-CN" sz="1050" dirty="0">
                                <a:solidFill>
                                  <a:srgbClr val="FFFFFF"/>
                                </a:solidFill>
                                <a:latin typeface="Cambria Math"/>
                                <a:ea typeface="Cambria Math"/>
                                <a:cs typeface="Cambria Math"/>
                              </a:rPr>
                              <m:t>−</m:t>
                            </m:r>
                            <m:f>
                              <m:fPr>
                                <m:type m:val="bar"/>
                                <m:ctrlPr>
                                  <a:rPr lang="zh-CN" sz="1050" dirty="0">
                                    <a:solidFill>
                                      <a:srgbClr val="FFFFFF"/>
                                    </a:solidFill>
                                    <a:latin typeface="Cambria Math"/>
                                    <a:ea typeface="Cambria Math"/>
                                    <a:cs typeface="Cambria Math"/>
                                  </a:rPr>
                                </m:ctrlPr>
                              </m:fPr>
                              <m:num>
                                <m:r>
                                  <a:rPr lang="zh-CN" sz="1050" dirty="0">
                                    <a:solidFill>
                                      <a:srgbClr val="FFFFFF"/>
                                    </a:solidFill>
                                    <a:latin typeface="Cambria Math"/>
                                    <a:ea typeface="Cambria Math"/>
                                    <a:cs typeface="Cambria Math"/>
                                  </a:rPr>
                                  <m:t>1</m:t>
                                </m:r>
                              </m:num>
                              <m:den>
                                <m:r>
                                  <a:rPr lang="zh-CN" sz="1050" dirty="0">
                                    <a:solidFill>
                                      <a:srgbClr val="FFFFFF"/>
                                    </a:solidFill>
                                    <a:latin typeface="Cambria Math"/>
                                    <a:ea typeface="Cambria Math"/>
                                    <a:cs typeface="Cambria Math"/>
                                  </a:rPr>
                                  <m:t>2</m:t>
                                </m:r>
                              </m:den>
                            </m:f>
                          </m:e>
                        </m:func>
                        <m:nary>
                          <m:naryPr>
                            <m:chr m:val="∑"/>
                            <m:limLoc m:val="undOvr"/>
                            <m:grow m:val="off"/>
                            <m:subHide m:val="off"/>
                            <m:supHide m:val="off"/>
                            <m:ctrlPr>
                              <a:rPr lang="zh-CN" sz="1050" dirty="0">
                                <a:solidFill>
                                  <a:srgbClr val="FFFFFF"/>
                                </a:solidFill>
                                <a:latin typeface="Cambria Math"/>
                                <a:ea typeface="Cambria Math"/>
                                <a:cs typeface="Cambria Math"/>
                              </a:rPr>
                            </m:ctrlPr>
                          </m:naryPr>
                          <m:sub>
                            <m:r>
                              <a:rPr lang="zh-CN" sz="1050" dirty="0">
                                <a:solidFill>
                                  <a:srgbClr val="FFFFFF"/>
                                </a:solidFill>
                                <a:latin typeface="Cambria Math"/>
                                <a:ea typeface="Cambria Math"/>
                                <a:cs typeface="Cambria Math"/>
                              </a:rPr>
                              <m:t>i</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1</m:t>
                            </m:r>
                          </m:sub>
                          <m:sup>
                            <m:r>
                              <a:rPr lang="zh-CN" sz="1050" dirty="0">
                                <a:solidFill>
                                  <a:srgbClr val="FFFFFF"/>
                                </a:solidFill>
                                <a:latin typeface="Cambria Math"/>
                                <a:ea typeface="Cambria Math"/>
                                <a:cs typeface="Cambria Math"/>
                              </a:rPr>
                              <m:t>l</m:t>
                            </m:r>
                          </m:sup>
                          <m:e>
                            <m:nary>
                              <m:naryPr>
                                <m:chr m:val="∑"/>
                                <m:limLoc m:val="undOvr"/>
                                <m:grow m:val="off"/>
                                <m:subHide m:val="off"/>
                                <m:supHide m:val="off"/>
                                <m:ctrlPr>
                                  <a:rPr lang="zh-CN" sz="1050" dirty="0">
                                    <a:solidFill>
                                      <a:srgbClr val="FFFFFF"/>
                                    </a:solidFill>
                                    <a:latin typeface="Cambria Math"/>
                                    <a:ea typeface="Cambria Math"/>
                                    <a:cs typeface="Cambria Math"/>
                                  </a:rPr>
                                </m:ctrlPr>
                              </m:naryPr>
                              <m:sub>
                                <m:r>
                                  <a:rPr lang="zh-CN" sz="1050" dirty="0">
                                    <a:solidFill>
                                      <a:srgbClr val="FFFFFF"/>
                                    </a:solidFill>
                                    <a:latin typeface="Cambria Math"/>
                                    <a:ea typeface="Cambria Math"/>
                                    <a:cs typeface="Cambria Math"/>
                                  </a:rPr>
                                  <m:t>j</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1</m:t>
                                </m:r>
                              </m:sub>
                              <m:sup>
                                <m:r>
                                  <a:rPr lang="zh-CN" sz="1050" dirty="0">
                                    <a:solidFill>
                                      <a:srgbClr val="FFFFFF"/>
                                    </a:solidFill>
                                    <a:latin typeface="Cambria Math"/>
                                    <a:ea typeface="Cambria Math"/>
                                    <a:cs typeface="Cambria Math"/>
                                  </a:rPr>
                                  <m:t>l</m:t>
                                </m:r>
                              </m:sup>
                              <m:e>
                                <m:d>
                                  <m:dPr>
                                    <m:begChr m:val="("/>
                                    <m:sepChr m:val=""/>
                                    <m:endChr m:val=")"/>
                                    <m:grow m:val="on"/>
                                    <m:ctrlPr>
                                      <a:rPr lang="zh-CN" sz="1050" dirty="0">
                                        <a:solidFill>
                                          <a:srgbClr val="FFFFFF"/>
                                        </a:solidFill>
                                        <a:latin typeface="Cambria Math"/>
                                        <a:ea typeface="Cambria Math"/>
                                        <a:cs typeface="Cambria Math"/>
                                      </a:rPr>
                                    </m:ctrlPr>
                                  </m:dPr>
                                  <m:e>
                                    <m:sSubSup>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up>
                                        <m:r>
                                          <m:rPr>
                                            <m:sty m:val="p"/>
                                          </m:rPr>
                                          <a:rPr lang="zh-CN" sz="1050" dirty="0">
                                            <a:solidFill>
                                              <a:srgbClr val="FFFFFF"/>
                                            </a:solidFill>
                                            <a:latin typeface="Cambria Math"/>
                                            <a:ea typeface="Cambria Math"/>
                                            <a:cs typeface="Cambria Math"/>
                                          </a:rPr>
                                          <m:t>*</m:t>
                                        </m:r>
                                      </m:sup>
                                    </m:sSubSup>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Sub>
                                  </m:e>
                                </m:d>
                                <m:d>
                                  <m:dPr>
                                    <m:begChr m:val="("/>
                                    <m:sepChr m:val=""/>
                                    <m:endChr m:val=")"/>
                                    <m:grow m:val="on"/>
                                    <m:ctrlPr>
                                      <a:rPr lang="zh-CN" sz="1050" dirty="0">
                                        <a:solidFill>
                                          <a:srgbClr val="FFFFFF"/>
                                        </a:solidFill>
                                        <a:latin typeface="Cambria Math"/>
                                        <a:ea typeface="Cambria Math"/>
                                        <a:cs typeface="Cambria Math"/>
                                      </a:rPr>
                                    </m:ctrlPr>
                                  </m:dPr>
                                  <m:e>
                                    <m:sSubSup>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j</m:t>
                                        </m:r>
                                      </m:sub>
                                      <m:sup>
                                        <m:r>
                                          <m:rPr>
                                            <m:sty m:val="p"/>
                                          </m:rPr>
                                          <a:rPr lang="zh-CN" sz="1050" dirty="0">
                                            <a:solidFill>
                                              <a:srgbClr val="FFFFFF"/>
                                            </a:solidFill>
                                            <a:latin typeface="Cambria Math"/>
                                            <a:ea typeface="Cambria Math"/>
                                            <a:cs typeface="Cambria Math"/>
                                          </a:rPr>
                                          <m:t>*</m:t>
                                        </m:r>
                                      </m:sup>
                                    </m:sSubSup>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j</m:t>
                                        </m:r>
                                      </m:sub>
                                    </m:sSub>
                                  </m:e>
                                </m:d>
                                <m:r>
                                  <a:rPr lang="zh-CN" sz="1050" dirty="0">
                                    <a:solidFill>
                                      <a:srgbClr val="FFFFFF"/>
                                    </a:solidFill>
                                    <a:latin typeface="Cambria Math"/>
                                    <a:ea typeface="Cambria Math"/>
                                    <a:cs typeface="Cambria Math"/>
                                  </a:rPr>
                                  <m:t>K</m:t>
                                </m:r>
                                <m:d>
                                  <m:dPr>
                                    <m:begChr m:val="("/>
                                    <m:sepChr m:val=""/>
                                    <m:endChr m:val=")"/>
                                    <m:grow m:val="on"/>
                                    <m:ctrlPr>
                                      <a:rPr lang="zh-CN" sz="1050" dirty="0">
                                        <a:solidFill>
                                          <a:srgbClr val="FFFFFF"/>
                                        </a:solidFill>
                                        <a:latin typeface="Cambria Math"/>
                                        <a:ea typeface="Cambria Math"/>
                                        <a:cs typeface="Cambria Math"/>
                                      </a:rPr>
                                    </m:ctrlPr>
                                  </m:dPr>
                                  <m:e>
                                    <m:sSub>
                                      <m:e>
                                        <m:r>
                                          <a:rPr lang="zh-CN" sz="1050" dirty="0">
                                            <a:solidFill>
                                              <a:srgbClr val="FFFFFF"/>
                                            </a:solidFill>
                                            <a:latin typeface="Cambria Math"/>
                                            <a:ea typeface="Cambria Math"/>
                                            <a:cs typeface="Cambria Math"/>
                                          </a:rPr>
                                          <m:t>x</m:t>
                                        </m:r>
                                      </m:e>
                                      <m:sub>
                                        <m:r>
                                          <a:rPr lang="zh-CN" sz="1050" dirty="0">
                                            <a:solidFill>
                                              <a:srgbClr val="FFFFFF"/>
                                            </a:solidFill>
                                            <a:latin typeface="Cambria Math"/>
                                            <a:ea typeface="Cambria Math"/>
                                            <a:cs typeface="Cambria Math"/>
                                          </a:rPr>
                                          <m:t>i</m:t>
                                        </m:r>
                                      </m:sub>
                                    </m:sSub>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x</m:t>
                                        </m:r>
                                      </m:e>
                                      <m:sub>
                                        <m:r>
                                          <a:rPr lang="zh-CN" sz="1050" dirty="0">
                                            <a:solidFill>
                                              <a:srgbClr val="FFFFFF"/>
                                            </a:solidFill>
                                            <a:latin typeface="Cambria Math"/>
                                            <a:ea typeface="Cambria Math"/>
                                            <a:cs typeface="Cambria Math"/>
                                          </a:rPr>
                                          <m:t>j</m:t>
                                        </m:r>
                                      </m:sub>
                                    </m:sSub>
                                  </m:e>
                                </m:d>
                              </m:e>
                            </m:nary>
                          </m:e>
                        </m:nary>
                        <m:r>
                          <m:rPr>
                            <m:sty m:val="p"/>
                          </m:rPr>
                          <a:rPr lang="zh-CN" sz="1050" dirty="0">
                            <a:solidFill>
                              <a:srgbClr val="FFFFFF"/>
                            </a:solidFill>
                            <a:latin typeface="Cambria Math"/>
                            <a:ea typeface="Cambria Math"/>
                            <a:cs typeface="Cambria Math"/>
                          </a:rPr>
                          <m:t>+</m:t>
                        </m:r>
                        <m:nary>
                          <m:naryPr>
                            <m:chr m:val="∑"/>
                            <m:limLoc m:val="undOvr"/>
                            <m:grow m:val="off"/>
                            <m:subHide m:val="off"/>
                            <m:supHide m:val="off"/>
                            <m:ctrlPr>
                              <a:rPr lang="zh-CN" sz="1050" dirty="0">
                                <a:solidFill>
                                  <a:srgbClr val="FFFFFF"/>
                                </a:solidFill>
                                <a:latin typeface="Cambria Math"/>
                                <a:ea typeface="Cambria Math"/>
                                <a:cs typeface="Cambria Math"/>
                              </a:rPr>
                            </m:ctrlPr>
                          </m:naryPr>
                          <m:sub>
                            <m:r>
                              <a:rPr lang="zh-CN" sz="1050" dirty="0">
                                <a:solidFill>
                                  <a:srgbClr val="FFFFFF"/>
                                </a:solidFill>
                                <a:latin typeface="Cambria Math"/>
                                <a:ea typeface="Cambria Math"/>
                                <a:cs typeface="Cambria Math"/>
                              </a:rPr>
                              <m:t>i</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1</m:t>
                            </m:r>
                          </m:sub>
                          <m:sup>
                            <m:r>
                              <a:rPr lang="zh-CN" sz="1050" dirty="0">
                                <a:solidFill>
                                  <a:srgbClr val="FFFFFF"/>
                                </a:solidFill>
                                <a:latin typeface="Cambria Math"/>
                                <a:ea typeface="Cambria Math"/>
                                <a:cs typeface="Cambria Math"/>
                              </a:rPr>
                              <m:t>l</m:t>
                            </m:r>
                          </m:sup>
                          <m:e>
                            <m:sSub>
                              <m:e>
                                <m:r>
                                  <a:rPr lang="zh-CN" sz="1050" dirty="0">
                                    <a:solidFill>
                                      <a:srgbClr val="FFFFFF"/>
                                    </a:solidFill>
                                    <a:latin typeface="Cambria Math"/>
                                    <a:ea typeface="Cambria Math"/>
                                    <a:cs typeface="Cambria Math"/>
                                  </a:rPr>
                                  <m:t>y</m:t>
                                </m:r>
                              </m:e>
                              <m:sub>
                                <m:r>
                                  <a:rPr lang="zh-CN" sz="1050" dirty="0">
                                    <a:solidFill>
                                      <a:srgbClr val="FFFFFF"/>
                                    </a:solidFill>
                                    <a:latin typeface="Cambria Math"/>
                                    <a:ea typeface="Cambria Math"/>
                                    <a:cs typeface="Cambria Math"/>
                                  </a:rPr>
                                  <m:t>i</m:t>
                                </m:r>
                              </m:sub>
                            </m:sSub>
                            <m:d>
                              <m:dPr>
                                <m:begChr m:val="("/>
                                <m:sepChr m:val=""/>
                                <m:endChr m:val=")"/>
                                <m:grow m:val="on"/>
                                <m:ctrlPr>
                                  <a:rPr lang="zh-CN" sz="1050" dirty="0">
                                    <a:solidFill>
                                      <a:srgbClr val="FFFFFF"/>
                                    </a:solidFill>
                                    <a:latin typeface="Cambria Math"/>
                                    <a:ea typeface="Cambria Math"/>
                                    <a:cs typeface="Cambria Math"/>
                                  </a:rPr>
                                </m:ctrlPr>
                              </m:dPr>
                              <m:e>
                                <m:sSubSup>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up>
                                    <m:r>
                                      <m:rPr>
                                        <m:sty m:val="p"/>
                                      </m:rPr>
                                      <a:rPr lang="zh-CN" sz="1050" dirty="0">
                                        <a:solidFill>
                                          <a:srgbClr val="FFFFFF"/>
                                        </a:solidFill>
                                        <a:latin typeface="Cambria Math"/>
                                        <a:ea typeface="Cambria Math"/>
                                        <a:cs typeface="Cambria Math"/>
                                      </a:rPr>
                                      <m:t>*</m:t>
                                    </m:r>
                                  </m:sup>
                                </m:sSubSup>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Sub>
                              </m:e>
                            </m:d>
                          </m:e>
                        </m:nary>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ε</m:t>
                        </m:r>
                        <m:nary>
                          <m:naryPr>
                            <m:chr m:val="∑"/>
                            <m:limLoc m:val="undOvr"/>
                            <m:grow m:val="off"/>
                            <m:subHide m:val="off"/>
                            <m:supHide m:val="off"/>
                            <m:ctrlPr>
                              <a:rPr lang="zh-CN" sz="1050" dirty="0">
                                <a:solidFill>
                                  <a:srgbClr val="FFFFFF"/>
                                </a:solidFill>
                                <a:latin typeface="Cambria Math"/>
                                <a:ea typeface="Cambria Math"/>
                                <a:cs typeface="Cambria Math"/>
                              </a:rPr>
                            </m:ctrlPr>
                          </m:naryPr>
                          <m:sub>
                            <m:r>
                              <a:rPr lang="zh-CN" sz="1050" dirty="0">
                                <a:solidFill>
                                  <a:srgbClr val="FFFFFF"/>
                                </a:solidFill>
                                <a:latin typeface="Cambria Math"/>
                                <a:ea typeface="Cambria Math"/>
                                <a:cs typeface="Cambria Math"/>
                              </a:rPr>
                              <m:t>i</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1</m:t>
                            </m:r>
                          </m:sub>
                          <m:sup>
                            <m:r>
                              <a:rPr lang="zh-CN" sz="1050" dirty="0">
                                <a:solidFill>
                                  <a:srgbClr val="FFFFFF"/>
                                </a:solidFill>
                                <a:latin typeface="Cambria Math"/>
                                <a:ea typeface="Cambria Math"/>
                                <a:cs typeface="Cambria Math"/>
                              </a:rPr>
                              <m:t>l</m:t>
                            </m:r>
                          </m:sup>
                          <m:e>
                            <m:d>
                              <m:dPr>
                                <m:begChr m:val="("/>
                                <m:sepChr m:val=""/>
                                <m:endChr m:val=")"/>
                                <m:grow m:val="on"/>
                                <m:ctrlPr>
                                  <a:rPr lang="zh-CN" sz="1050" dirty="0">
                                    <a:solidFill>
                                      <a:srgbClr val="FFFFFF"/>
                                    </a:solidFill>
                                    <a:latin typeface="Cambria Math"/>
                                    <a:ea typeface="Cambria Math"/>
                                    <a:cs typeface="Cambria Math"/>
                                  </a:rPr>
                                </m:ctrlPr>
                              </m:dPr>
                              <m:e>
                                <m:sSubSup>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up>
                                    <m:r>
                                      <m:rPr>
                                        <m:sty m:val="p"/>
                                      </m:rPr>
                                      <a:rPr lang="zh-CN" sz="1050" dirty="0">
                                        <a:solidFill>
                                          <a:srgbClr val="FFFFFF"/>
                                        </a:solidFill>
                                        <a:latin typeface="Cambria Math"/>
                                        <a:ea typeface="Cambria Math"/>
                                        <a:cs typeface="Cambria Math"/>
                                      </a:rPr>
                                      <m:t>*</m:t>
                                    </m:r>
                                  </m:sup>
                                </m:sSubSup>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Sub>
                              </m:e>
                            </m:d>
                          </m:e>
                        </m:nary>
                      </m:oMath>
                    </m:oMathPara>
                  </a14:m>
                </a:p>
              </p:txBody>
            </p:sp>
          </mc:Choice>
        </mc:AlternateContent>
        <mc:AlternateContent xmlns:mc="http://schemas.openxmlformats.org/markup-compatibility/2006">
          <mc:Choice xmlns:a14="http://schemas.microsoft.com/office/drawing/2010/main" Requires="a14">
            <p:sp>
              <p:nvSpPr>
                <p:cNvPr id="32" name="formula316"/>
                <p:cNvSpPr txBox="1">
                  <a:spLocks noGrp="1"/>
                </p:cNvSpPr>
                <p:nvPr/>
              </p:nvSpPr>
              <p:spPr>
                <a:xfrm>
                  <a:off x="725805" y="5497830"/>
                  <a:ext cx="5025390" cy="5334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zh-CN" sz="1200" dirty="0">
                            <a:solidFill>
                              <a:srgbClr val="FFFFFF"/>
                            </a:solidFill>
                            <a:latin typeface="Cambria Math"/>
                            <a:ea typeface="Cambria Math"/>
                            <a:cs typeface="Cambria Math"/>
                          </a:rPr>
                          <m:t>s.t.</m:t>
                        </m:r>
                        <m:r>
                          <a:rPr lang="zh-CN" sz="1200" dirty="0">
                            <a:solidFill>
                              <a:srgbClr val="FFFFFF"/>
                            </a:solidFill>
                            <a:latin typeface="Cambria Math"/>
                            <a:ea typeface="Cambria Math"/>
                            <a:cs typeface="Cambria Math"/>
                          </a:rPr>
                          <m:t xml:space="preserve">  </m:t>
                        </m:r>
                        <m:nary>
                          <m:naryPr>
                            <m:chr m:val="∑"/>
                            <m:limLoc m:val="undOvr"/>
                            <m:grow m:val="off"/>
                            <m:subHide m:val="off"/>
                            <m:supHide m:val="off"/>
                            <m:ctrlPr>
                              <a:rPr lang="zh-CN" sz="1200" dirty="0">
                                <a:solidFill>
                                  <a:srgbClr val="FFFFFF"/>
                                </a:solidFill>
                                <a:latin typeface="Cambria Math"/>
                                <a:ea typeface="Cambria Math"/>
                                <a:cs typeface="Cambria Math"/>
                              </a:rPr>
                            </m:ctrlPr>
                          </m:naryPr>
                          <m:sub>
                            <m:r>
                              <a:rPr lang="zh-CN" sz="1200" dirty="0">
                                <a:solidFill>
                                  <a:srgbClr val="FFFFFF"/>
                                </a:solidFill>
                                <a:latin typeface="Cambria Math"/>
                                <a:ea typeface="Cambria Math"/>
                                <a:cs typeface="Cambria Math"/>
                              </a:rPr>
                              <m:t>i</m:t>
                            </m:r>
                            <m:r>
                              <m:rPr>
                                <m:sty m:val="p"/>
                              </m:rPr>
                              <a:rPr lang="zh-CN" sz="1200" dirty="0">
                                <a:solidFill>
                                  <a:srgbClr val="FFFFFF"/>
                                </a:solidFill>
                                <a:latin typeface="Cambria Math"/>
                                <a:ea typeface="Cambria Math"/>
                                <a:cs typeface="Cambria Math"/>
                              </a:rPr>
                              <m:t>=</m:t>
                            </m:r>
                            <m:r>
                              <a:rPr lang="zh-CN" sz="1200" dirty="0">
                                <a:solidFill>
                                  <a:srgbClr val="FFFFFF"/>
                                </a:solidFill>
                                <a:latin typeface="Cambria Math"/>
                                <a:ea typeface="Cambria Math"/>
                                <a:cs typeface="Cambria Math"/>
                              </a:rPr>
                              <m:t>1</m:t>
                            </m:r>
                          </m:sub>
                          <m:sup>
                            <m:r>
                              <a:rPr lang="zh-CN" sz="1200" dirty="0">
                                <a:solidFill>
                                  <a:srgbClr val="FFFFFF"/>
                                </a:solidFill>
                                <a:latin typeface="Cambria Math"/>
                                <a:ea typeface="Cambria Math"/>
                                <a:cs typeface="Cambria Math"/>
                              </a:rPr>
                              <m:t>l</m:t>
                            </m:r>
                          </m:sup>
                          <m:e>
                            <m:d>
                              <m:dPr>
                                <m:begChr m:val="("/>
                                <m:sepChr m:val=""/>
                                <m:endChr m:val=")"/>
                                <m:grow m:val="on"/>
                                <m:ctrlPr>
                                  <a:rPr lang="zh-CN" sz="1200" dirty="0">
                                    <a:solidFill>
                                      <a:srgbClr val="FFFFFF"/>
                                    </a:solidFill>
                                    <a:latin typeface="Cambria Math"/>
                                    <a:ea typeface="Cambria Math"/>
                                    <a:cs typeface="Cambria Math"/>
                                  </a:rPr>
                                </m:ctrlPr>
                              </m:dPr>
                              <m:e>
                                <m:sSubSup>
                                  <m:e>
                                    <m:r>
                                      <a:rPr lang="zh-CN" sz="1200" dirty="0">
                                        <a:solidFill>
                                          <a:srgbClr val="FFFFFF"/>
                                        </a:solidFill>
                                        <a:latin typeface="Cambria Math"/>
                                        <a:ea typeface="Cambria Math"/>
                                        <a:cs typeface="Cambria Math"/>
                                      </a:rPr>
                                      <m:t>α</m:t>
                                    </m:r>
                                  </m:e>
                                  <m:sub>
                                    <m:r>
                                      <a:rPr lang="zh-CN" sz="1200" dirty="0">
                                        <a:solidFill>
                                          <a:srgbClr val="FFFFFF"/>
                                        </a:solidFill>
                                        <a:latin typeface="Cambria Math"/>
                                        <a:ea typeface="Cambria Math"/>
                                        <a:cs typeface="Cambria Math"/>
                                      </a:rPr>
                                      <m:t>i</m:t>
                                    </m:r>
                                  </m:sub>
                                  <m:sup>
                                    <m:r>
                                      <m:rPr>
                                        <m:sty m:val="p"/>
                                      </m:rPr>
                                      <a:rPr lang="zh-CN" sz="1200" dirty="0">
                                        <a:solidFill>
                                          <a:srgbClr val="FFFFFF"/>
                                        </a:solidFill>
                                        <a:latin typeface="Cambria Math"/>
                                        <a:ea typeface="Cambria Math"/>
                                        <a:cs typeface="Cambria Math"/>
                                      </a:rPr>
                                      <m:t>*</m:t>
                                    </m:r>
                                  </m:sup>
                                </m:sSubSup>
                                <m:r>
                                  <m:rPr>
                                    <m:sty m:val="p"/>
                                  </m:rPr>
                                  <a:rPr lang="zh-CN" sz="1200" dirty="0">
                                    <a:solidFill>
                                      <a:srgbClr val="FFFFFF"/>
                                    </a:solidFill>
                                    <a:latin typeface="Cambria Math"/>
                                    <a:ea typeface="Cambria Math"/>
                                    <a:cs typeface="Cambria Math"/>
                                  </a:rPr>
                                  <m:t>−</m:t>
                                </m:r>
                                <m:sSub>
                                  <m:e>
                                    <m:r>
                                      <a:rPr lang="zh-CN" sz="1200" dirty="0">
                                        <a:solidFill>
                                          <a:srgbClr val="FFFFFF"/>
                                        </a:solidFill>
                                        <a:latin typeface="Cambria Math"/>
                                        <a:ea typeface="Cambria Math"/>
                                        <a:cs typeface="Cambria Math"/>
                                      </a:rPr>
                                      <m:t>α</m:t>
                                    </m:r>
                                  </m:e>
                                  <m:sub>
                                    <m:r>
                                      <a:rPr lang="zh-CN" sz="1200" dirty="0">
                                        <a:solidFill>
                                          <a:srgbClr val="FFFFFF"/>
                                        </a:solidFill>
                                        <a:latin typeface="Cambria Math"/>
                                        <a:ea typeface="Cambria Math"/>
                                        <a:cs typeface="Cambria Math"/>
                                      </a:rPr>
                                      <m:t>i</m:t>
                                    </m:r>
                                  </m:sub>
                                </m:sSub>
                              </m:e>
                            </m:d>
                          </m:e>
                        </m:nary>
                        <m:r>
                          <m:rPr>
                            <m:sty m:val="p"/>
                          </m:rPr>
                          <a:rPr lang="zh-CN" sz="1200" dirty="0">
                            <a:solidFill>
                              <a:srgbClr val="FFFFFF"/>
                            </a:solidFill>
                            <a:latin typeface="Cambria Math"/>
                            <a:ea typeface="Cambria Math"/>
                            <a:cs typeface="Cambria Math"/>
                          </a:rPr>
                          <m:t>=</m:t>
                        </m:r>
                        <m:r>
                          <a:rPr lang="zh-CN" sz="1200" dirty="0">
                            <a:solidFill>
                              <a:srgbClr val="FFFFFF"/>
                            </a:solidFill>
                            <a:latin typeface="Cambria Math"/>
                            <a:ea typeface="Cambria Math"/>
                            <a:cs typeface="Cambria Math"/>
                          </a:rPr>
                          <m:t>0</m:t>
                        </m:r>
                        <m:r>
                          <m:rPr>
                            <m:sty m:val="p"/>
                          </m:rPr>
                          <a:rPr lang="zh-CN" sz="1200" dirty="0">
                            <a:solidFill>
                              <a:srgbClr val="FFFFFF"/>
                            </a:solidFill>
                            <a:latin typeface="Cambria Math"/>
                            <a:ea typeface="Cambria Math"/>
                            <a:cs typeface="Cambria Math"/>
                          </a:rPr>
                          <m:t>,</m:t>
                        </m:r>
                        <m:r>
                          <a:rPr lang="zh-CN" sz="1200" dirty="0">
                            <a:solidFill>
                              <a:srgbClr val="FFFFFF"/>
                            </a:solidFill>
                            <a:latin typeface="Cambria Math"/>
                            <a:ea typeface="Cambria Math"/>
                            <a:cs typeface="Cambria Math"/>
                          </a:rPr>
                          <m:t xml:space="preserve">  </m:t>
                        </m:r>
                        <m:r>
                          <a:rPr lang="zh-CN" sz="1200" dirty="0">
                            <a:solidFill>
                              <a:srgbClr val="FFFFFF"/>
                            </a:solidFill>
                            <a:latin typeface="Cambria Math"/>
                            <a:ea typeface="Cambria Math"/>
                            <a:cs typeface="Cambria Math"/>
                          </a:rPr>
                          <m:t>0</m:t>
                        </m:r>
                        <m:r>
                          <m:rPr>
                            <m:sty m:val="p"/>
                          </m:rPr>
                          <a:rPr lang="zh-CN" sz="1200" dirty="0">
                            <a:solidFill>
                              <a:srgbClr val="FFFFFF"/>
                            </a:solidFill>
                            <a:latin typeface="Cambria Math"/>
                            <a:ea typeface="Cambria Math"/>
                            <a:cs typeface="Cambria Math"/>
                          </a:rPr>
                          <m:t>≤</m:t>
                        </m:r>
                        <m:sSub>
                          <m:e>
                            <m:r>
                              <a:rPr lang="zh-CN" sz="1200" dirty="0">
                                <a:solidFill>
                                  <a:srgbClr val="FFFFFF"/>
                                </a:solidFill>
                                <a:latin typeface="Cambria Math"/>
                                <a:ea typeface="Cambria Math"/>
                                <a:cs typeface="Cambria Math"/>
                              </a:rPr>
                              <m:t>α</m:t>
                            </m:r>
                          </m:e>
                          <m:sub>
                            <m:r>
                              <a:rPr lang="zh-CN" sz="1200" dirty="0">
                                <a:solidFill>
                                  <a:srgbClr val="FFFFFF"/>
                                </a:solidFill>
                                <a:latin typeface="Cambria Math"/>
                                <a:ea typeface="Cambria Math"/>
                                <a:cs typeface="Cambria Math"/>
                              </a:rPr>
                              <m:t>i</m:t>
                            </m:r>
                          </m:sub>
                        </m:sSub>
                        <m:r>
                          <m:rPr>
                            <m:sty m:val="p"/>
                          </m:rPr>
                          <a:rPr lang="zh-CN" sz="1200" dirty="0">
                            <a:solidFill>
                              <a:srgbClr val="FFFFFF"/>
                            </a:solidFill>
                            <a:latin typeface="Cambria Math"/>
                            <a:ea typeface="Cambria Math"/>
                            <a:cs typeface="Cambria Math"/>
                          </a:rPr>
                          <m:t>,</m:t>
                        </m:r>
                        <m:r>
                          <a:rPr lang="zh-CN" sz="1200" dirty="0">
                            <a:solidFill>
                              <a:srgbClr val="FFFFFF"/>
                            </a:solidFill>
                            <a:latin typeface="Cambria Math"/>
                            <a:ea typeface="Cambria Math"/>
                            <a:cs typeface="Cambria Math"/>
                          </a:rPr>
                          <m:t xml:space="preserve"> </m:t>
                        </m:r>
                        <m:sSubSup>
                          <m:e>
                            <m:r>
                              <a:rPr lang="zh-CN" sz="1200" dirty="0">
                                <a:solidFill>
                                  <a:srgbClr val="FFFFFF"/>
                                </a:solidFill>
                                <a:latin typeface="Cambria Math"/>
                                <a:ea typeface="Cambria Math"/>
                                <a:cs typeface="Cambria Math"/>
                              </a:rPr>
                              <m:t>α</m:t>
                            </m:r>
                          </m:e>
                          <m:sub>
                            <m:r>
                              <a:rPr lang="zh-CN" sz="1200" dirty="0">
                                <a:solidFill>
                                  <a:srgbClr val="FFFFFF"/>
                                </a:solidFill>
                                <a:latin typeface="Cambria Math"/>
                                <a:ea typeface="Cambria Math"/>
                                <a:cs typeface="Cambria Math"/>
                              </a:rPr>
                              <m:t>i</m:t>
                            </m:r>
                          </m:sub>
                          <m:sup>
                            <m:r>
                              <m:rPr>
                                <m:sty m:val="p"/>
                              </m:rPr>
                              <a:rPr lang="zh-CN" sz="1200" dirty="0">
                                <a:solidFill>
                                  <a:srgbClr val="FFFFFF"/>
                                </a:solidFill>
                                <a:latin typeface="Cambria Math"/>
                                <a:ea typeface="Cambria Math"/>
                                <a:cs typeface="Cambria Math"/>
                              </a:rPr>
                              <m:t>*</m:t>
                            </m:r>
                          </m:sup>
                        </m:sSubSup>
                        <m:r>
                          <m:rPr>
                            <m:sty m:val="p"/>
                          </m:rPr>
                          <a:rPr lang="zh-CN" sz="1200" dirty="0">
                            <a:solidFill>
                              <a:srgbClr val="FFFFFF"/>
                            </a:solidFill>
                            <a:latin typeface="Cambria Math"/>
                            <a:ea typeface="Cambria Math"/>
                            <a:cs typeface="Cambria Math"/>
                          </a:rPr>
                          <m:t>≤</m:t>
                        </m:r>
                        <m:r>
                          <a:rPr lang="zh-CN" sz="1200" dirty="0">
                            <a:solidFill>
                              <a:srgbClr val="FFFFFF"/>
                            </a:solidFill>
                            <a:latin typeface="Cambria Math"/>
                            <a:ea typeface="Cambria Math"/>
                            <a:cs typeface="Cambria Math"/>
                          </a:rPr>
                          <m:t>C</m:t>
                        </m:r>
                      </m:oMath>
                    </m:oMathPara>
                  </a14:m>
                </a:p>
              </p:txBody>
            </p:sp>
          </mc:Choice>
        </mc:AlternateContent>
      </p:grpSp>
      <p:grpSp>
        <p:nvGrpSpPr>
          <p:cNvPr id="45" name="c2-card-1"/>
          <p:cNvGrpSpPr/>
          <p:nvPr/>
        </p:nvGrpSpPr>
        <p:grpSpPr>
          <a:xfrm>
            <a:off x="6248400" y="1941195"/>
            <a:ext cx="5410200" cy="2558415"/>
            <a:chOff x="6248400" y="1941195"/>
            <a:chExt cx="5410200" cy="2558415"/>
          </a:xfrm>
        </p:grpSpPr>
        <p:sp>
          <p:nvSpPr>
            <p:cNvPr id="34" name="Rectangle 34"/>
            <p:cNvSpPr/>
            <p:nvPr/>
          </p:nvSpPr>
          <p:spPr>
            <a:xfrm>
              <a:off x="6248400" y="1941195"/>
              <a:ext cx="5410200" cy="2558415"/>
            </a:xfrm>
            <a:prstGeom prst="roundRect">
              <a:avLst>
                <a:gd name="adj" fmla="val 5212"/>
              </a:avLst>
            </a:prstGeom>
            <a:solidFill>
              <a:srgbClr val="FFFFFF"/>
            </a:solidFill>
            <a:ln w="14288">
              <a:solidFill>
                <a:srgbClr val="D9DFEA"/>
              </a:solidFill>
            </a:ln>
          </p:spPr>
        </p:sp>
        <p:sp>
          <p:nvSpPr>
            <p:cNvPr id="35" name="Rectangle 35"/>
            <p:cNvSpPr/>
            <p:nvPr/>
          </p:nvSpPr>
          <p:spPr>
            <a:xfrm>
              <a:off x="6257925" y="2074545"/>
              <a:ext cx="47625" cy="2291715"/>
            </a:xfrm>
            <a:prstGeom prst="roundRect">
              <a:avLst>
                <a:gd name="adj" fmla="val 50000"/>
              </a:avLst>
            </a:prstGeom>
            <a:solidFill>
              <a:srgbClr val="5B6475"/>
            </a:solidFill>
            <a:ln>
              <a:noFill/>
            </a:ln>
          </p:spPr>
        </p:sp>
        <p:sp>
          <p:nvSpPr>
            <p:cNvPr id="36" name="Rectangle 36"/>
            <p:cNvSpPr/>
            <p:nvPr/>
          </p:nvSpPr>
          <p:spPr>
            <a:xfrm>
              <a:off x="6478905" y="2133600"/>
              <a:ext cx="476250" cy="247650"/>
            </a:xfrm>
            <a:prstGeom prst="roundRect">
              <a:avLst>
                <a:gd name="adj" fmla="val 50000"/>
              </a:avLst>
            </a:prstGeom>
            <a:solidFill>
              <a:srgbClr val="F4F6FB"/>
            </a:solidFill>
            <a:ln>
              <a:noFill/>
            </a:ln>
          </p:spPr>
        </p:sp>
        <p:sp>
          <p:nvSpPr>
            <p:cNvPr id="37" name="TextBox 37"/>
            <p:cNvSpPr txBox="1"/>
            <p:nvPr/>
          </p:nvSpPr>
          <p:spPr>
            <a:xfrm>
              <a:off x="6570345" y="2167890"/>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38" name="TextBox 38"/>
            <p:cNvSpPr txBox="1"/>
            <p:nvPr/>
          </p:nvSpPr>
          <p:spPr>
            <a:xfrm>
              <a:off x="7062597" y="2173605"/>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原课件对偶目标里的符号与求和号</a:t>
              </a:r>
            </a:p>
          </p:txBody>
        </p:sp>
        <p:sp>
          <p:nvSpPr>
            <p:cNvPr id="39" name="Ellipse 39"/>
            <p:cNvSpPr/>
            <p:nvPr/>
          </p:nvSpPr>
          <p:spPr>
            <a:xfrm>
              <a:off x="6478905" y="2495550"/>
              <a:ext cx="192405" cy="192405"/>
            </a:xfrm>
            <a:prstGeom prst="ellipse">
              <a:avLst/>
            </a:prstGeom>
            <a:solidFill>
              <a:srgbClr val="0E7C86"/>
            </a:solidFill>
            <a:ln>
              <a:noFill/>
            </a:ln>
          </p:spPr>
        </p:sp>
        <p:sp>
          <p:nvSpPr>
            <p:cNvPr id="40" name="TextBox 40"/>
            <p:cNvSpPr txBox="1"/>
            <p:nvPr/>
          </p:nvSpPr>
          <p:spPr>
            <a:xfrm>
              <a:off x="6534583" y="25339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41" name="TextBox 41"/>
            <p:cNvSpPr txBox="1"/>
            <p:nvPr/>
          </p:nvSpPr>
          <p:spPr>
            <a:xfrm>
              <a:off x="6759702" y="2507932"/>
              <a:ext cx="4467130" cy="129273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B 版第 79、80 页与 A 版第 64、65 页都写成 </a:t>
              </a:r>
              <a:r>
                <a:rPr lang="el-GR" sz="1350" b="1" dirty="0">
                  <a:solidFill>
                    <a:srgbClr val="C2410C"/>
                  </a:solidFill>
                  <a:latin typeface="+mn-lt"/>
                  <a:ea typeface="+mn-ea"/>
                  <a:cs typeface="+mn-cs"/>
                </a:rPr>
                <a:t>− Σ yᵢ(αᵢ*</a:t>
              </a:r>
              <a:br/>
              <a:r>
                <a:rPr lang="el-GR" sz="1350" b="1" dirty="0">
                  <a:solidFill>
                    <a:srgbClr val="C2410C"/>
                  </a:solidFill>
                  <a:latin typeface="+mn-lt"/>
                  <a:ea typeface="+mn-ea"/>
                  <a:cs typeface="+mn-cs"/>
                </a:rPr>
                <a:t>− αᵢ)</a:t>
              </a:r>
              <a:r>
                <a:rPr lang="zh-CN" sz="1350" dirty="0">
                  <a:solidFill>
                    <a:srgbClr val="1F2937"/>
                  </a:solidFill>
                  <a:latin typeface="+mn-lt"/>
                  <a:ea typeface="+mn-ea"/>
                  <a:cs typeface="+mn-cs"/>
                </a:rPr>
                <a:t>。按同一份课件的拉格朗日函数推导（αᵢ 挂在含 +yᵢ</a:t>
              </a:r>
              <a:br/>
              <a:r>
                <a:rPr lang="zh-CN" sz="1350" dirty="0">
                  <a:solidFill>
                    <a:srgbClr val="1F2937"/>
                  </a:solidFill>
                  <a:latin typeface="+mn-lt"/>
                  <a:ea typeface="+mn-ea"/>
                  <a:cs typeface="+mn-cs"/>
                </a:rPr>
                <a:t xml:space="preserve">的那条约束上，得 w = Σ(αᵢ*−αᵢ)φ(xᵢ)），这一项应是 </a:t>
              </a:r>
              <a:r>
                <a:rPr lang="zh-CN" sz="1350" b="1" dirty="0">
                  <a:solidFill>
                    <a:srgbClr val="C2410C"/>
                  </a:solidFill>
                  <a:latin typeface="+mn-lt"/>
                  <a:ea typeface="+mn-ea"/>
                  <a:cs typeface="+mn-cs"/>
                </a:rPr>
                <a:t>+</a:t>
              </a:r>
              <a:br/>
              <a:r>
                <a:rPr lang="el-GR" sz="1350" b="1" dirty="0">
                  <a:solidFill>
                    <a:srgbClr val="C2410C"/>
                  </a:solidFill>
                  <a:latin typeface="+mn-lt"/>
                  <a:ea typeface="+mn-ea"/>
                  <a:cs typeface="+mn-cs"/>
                </a:rPr>
                <a:t>Σ yᵢ(αᵢ* − αᵢ)</a:t>
              </a:r>
              <a:r>
                <a:rPr lang="zh-CN" sz="1350" dirty="0">
                  <a:solidFill>
                    <a:srgbClr val="1F2937"/>
                  </a:solidFill>
                  <a:latin typeface="+mn-lt"/>
                  <a:ea typeface="+mn-ea"/>
                  <a:cs typeface="+mn-cs"/>
                </a:rPr>
                <a:t>，否则与它自己的决策函数 f(x) =</a:t>
              </a:r>
              <a:br/>
              <a:r>
                <a:rPr lang="zh-CN" sz="1350" dirty="0">
                  <a:solidFill>
                    <a:srgbClr val="1F2937"/>
                  </a:solidFill>
                  <a:latin typeface="+mn-lt"/>
                  <a:ea typeface="+mn-ea"/>
                  <a:cs typeface="+mn-cs"/>
                </a:rPr>
                <a:t>Σ(αᵢ*−αᵢ)K + b 矛盾。</a:t>
              </a:r>
            </a:p>
          </p:txBody>
        </p:sp>
        <p:sp>
          <p:nvSpPr>
            <p:cNvPr id="42" name="Ellipse 42"/>
            <p:cNvSpPr/>
            <p:nvPr/>
          </p:nvSpPr>
          <p:spPr>
            <a:xfrm>
              <a:off x="6478905" y="3827145"/>
              <a:ext cx="192405" cy="192405"/>
            </a:xfrm>
            <a:prstGeom prst="ellipse">
              <a:avLst/>
            </a:prstGeom>
            <a:solidFill>
              <a:srgbClr val="0E7C86"/>
            </a:solidFill>
            <a:ln>
              <a:noFill/>
            </a:ln>
          </p:spPr>
        </p:sp>
        <p:sp>
          <p:nvSpPr>
            <p:cNvPr id="43" name="TextBox 43"/>
            <p:cNvSpPr txBox="1"/>
            <p:nvPr/>
          </p:nvSpPr>
          <p:spPr>
            <a:xfrm>
              <a:off x="6534583" y="386553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44" name="TextBox 44"/>
            <p:cNvSpPr txBox="1"/>
            <p:nvPr/>
          </p:nvSpPr>
          <p:spPr>
            <a:xfrm>
              <a:off x="6759702" y="3839527"/>
              <a:ext cx="429139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原式的二次项只写了一个 Σᵢ₌₁ˡ，被加项里却同时有 i 和</a:t>
              </a:r>
              <a:br/>
              <a:r>
                <a:rPr lang="zh-CN" sz="1350" dirty="0">
                  <a:solidFill>
                    <a:srgbClr val="1F2937"/>
                  </a:solidFill>
                  <a:latin typeface="+mn-lt"/>
                  <a:ea typeface="+mn-ea"/>
                  <a:cs typeface="+mn-cs"/>
                </a:rPr>
                <a:t>j，应是对 i、j 的</a:t>
              </a:r>
              <a:r>
                <a:rPr lang="zh-CN" sz="1350" b="1" dirty="0">
                  <a:solidFill>
                    <a:srgbClr val="C2410C"/>
                  </a:solidFill>
                  <a:latin typeface="+mn-lt"/>
                  <a:ea typeface="+mn-ea"/>
                  <a:cs typeface="+mn-cs"/>
                </a:rPr>
                <a:t>双重求和</a:t>
              </a:r>
              <a:r>
                <a:rPr lang="zh-CN" sz="1350" dirty="0">
                  <a:solidFill>
                    <a:srgbClr val="1F2937"/>
                  </a:solidFill>
                  <a:latin typeface="+mn-lt"/>
                  <a:ea typeface="+mn-ea"/>
                  <a:cs typeface="+mn-cs"/>
                </a:rPr>
                <a:t>。</a:t>
              </a:r>
            </a:p>
          </p:txBody>
        </p:sp>
      </p:grpSp>
      <p:grpSp>
        <p:nvGrpSpPr>
          <p:cNvPr id="52" name="c2-callout-2"/>
          <p:cNvGrpSpPr/>
          <p:nvPr/>
        </p:nvGrpSpPr>
        <p:grpSpPr>
          <a:xfrm>
            <a:off x="6248400" y="4674870"/>
            <a:ext cx="5410200" cy="1565910"/>
            <a:chOff x="6248400" y="4674870"/>
            <a:chExt cx="5410200" cy="1565910"/>
          </a:xfrm>
        </p:grpSpPr>
        <p:sp>
          <p:nvSpPr>
            <p:cNvPr id="46" name="Rectangle 46"/>
            <p:cNvSpPr/>
            <p:nvPr/>
          </p:nvSpPr>
          <p:spPr>
            <a:xfrm>
              <a:off x="6248400" y="4674870"/>
              <a:ext cx="5410200" cy="1565910"/>
            </a:xfrm>
            <a:prstGeom prst="roundRect">
              <a:avLst>
                <a:gd name="adj" fmla="val 7299"/>
              </a:avLst>
            </a:prstGeom>
            <a:solidFill>
              <a:srgbClr val="FDEEE7"/>
            </a:solidFill>
            <a:ln>
              <a:noFill/>
            </a:ln>
          </p:spPr>
        </p:sp>
        <p:grpSp>
          <p:nvGrpSpPr>
            <p:cNvPr id="50" name="Group 50"/>
            <p:cNvGrpSpPr/>
            <p:nvPr/>
          </p:nvGrpSpPr>
          <p:grpSpPr>
            <a:xfrm>
              <a:off x="6453188" y="5357813"/>
              <a:ext cx="200026" cy="200025"/>
              <a:chOff x="6453188" y="5357813"/>
              <a:chExt cx="200026" cy="200025"/>
            </a:xfrm>
          </p:grpSpPr>
          <p:sp>
            <p:nvSpPr>
              <p:cNvPr id="47" name="Freeform 47"/>
              <p:cNvSpPr/>
              <p:nvPr/>
            </p:nvSpPr>
            <p:spPr>
              <a:xfrm>
                <a:off x="6453188" y="535781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8" name="Freeform 48"/>
              <p:cNvSpPr/>
              <p:nvPr/>
            </p:nvSpPr>
            <p:spPr>
              <a:xfrm>
                <a:off x="6492926" y="540226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9" name="Freeform 49"/>
              <p:cNvSpPr/>
              <p:nvPr/>
            </p:nvSpPr>
            <p:spPr>
              <a:xfrm>
                <a:off x="6527642" y="551338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1" name="TextBox 51"/>
            <p:cNvSpPr txBox="1"/>
            <p:nvPr/>
          </p:nvSpPr>
          <p:spPr>
            <a:xfrm>
              <a:off x="6755892" y="5114925"/>
              <a:ext cx="4102798"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另一种常见约定把 αᵢ 挂在含 −yᵢ 的约束上，此时 w =</a:t>
              </a:r>
              <a:br/>
              <a:r>
                <a:rPr lang="zh-CN" sz="1350" dirty="0">
                  <a:solidFill>
                    <a:srgbClr val="C2410C"/>
                  </a:solidFill>
                  <a:latin typeface="+mn-lt"/>
                  <a:ea typeface="+mn-ea"/>
                  <a:cs typeface="+mn-cs"/>
                </a:rPr>
                <a:t>Σ(αᵢ−αᵢ*)φ(xᵢ)、目标里写 +Σyᵢ(αᵢ−αᵢ*)、f(x) =</a:t>
              </a:r>
              <a:br/>
              <a:r>
                <a:rPr lang="zh-CN" sz="1350" dirty="0">
                  <a:solidFill>
                    <a:srgbClr val="C2410C"/>
                  </a:solidFill>
                  <a:latin typeface="+mn-lt"/>
                  <a:ea typeface="+mn-ea"/>
                  <a:cs typeface="+mn-cs"/>
                </a:rPr>
                <a:t>Σ(αᵢ−αᵢ*)K + b。两套写法各自自洽，不能混用。</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87933" cy="909257"/>
            <a:chOff x="520446" y="342900"/>
            <a:chExt cx="4887933"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488793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SVR 的稀疏性与支持向量的分布</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6" name="c1-card-1"/>
          <p:cNvGrpSpPr/>
          <p:nvPr/>
        </p:nvGrpSpPr>
        <p:grpSpPr>
          <a:xfrm>
            <a:off x="533400" y="1524000"/>
            <a:ext cx="5410200" cy="2045018"/>
            <a:chOff x="533400" y="1524000"/>
            <a:chExt cx="5410200" cy="2045018"/>
          </a:xfrm>
        </p:grpSpPr>
        <p:sp>
          <p:nvSpPr>
            <p:cNvPr id="7" name="Rectangle 7"/>
            <p:cNvSpPr/>
            <p:nvPr/>
          </p:nvSpPr>
          <p:spPr>
            <a:xfrm>
              <a:off x="533400" y="1524000"/>
              <a:ext cx="5410200" cy="2045018"/>
            </a:xfrm>
            <a:prstGeom prst="roundRect">
              <a:avLst>
                <a:gd name="adj" fmla="val 6521"/>
              </a:avLst>
            </a:prstGeom>
            <a:solidFill>
              <a:srgbClr val="FFFFFF"/>
            </a:solidFill>
            <a:ln w="14288">
              <a:solidFill>
                <a:srgbClr val="D9DFEA"/>
              </a:solidFill>
            </a:ln>
          </p:spPr>
        </p:sp>
        <p:sp>
          <p:nvSpPr>
            <p:cNvPr id="8" name="Rectangle 8"/>
            <p:cNvSpPr/>
            <p:nvPr/>
          </p:nvSpPr>
          <p:spPr>
            <a:xfrm>
              <a:off x="542925" y="1657350"/>
              <a:ext cx="47625" cy="1778318"/>
            </a:xfrm>
            <a:prstGeom prst="roundRect">
              <a:avLst>
                <a:gd name="adj" fmla="val 50000"/>
              </a:avLst>
            </a:prstGeom>
            <a:solidFill>
              <a:srgbClr val="F26B3A"/>
            </a:solidFill>
            <a:ln>
              <a:noFill/>
            </a:ln>
          </p:spPr>
        </p:sp>
        <p:sp>
          <p:nvSpPr>
            <p:cNvPr id="9" name="Rectangle 9"/>
            <p:cNvSpPr/>
            <p:nvPr/>
          </p:nvSpPr>
          <p:spPr>
            <a:xfrm>
              <a:off x="763905" y="1716405"/>
              <a:ext cx="876300" cy="247650"/>
            </a:xfrm>
            <a:prstGeom prst="roundRect">
              <a:avLst>
                <a:gd name="adj" fmla="val 50000"/>
              </a:avLst>
            </a:prstGeom>
            <a:solidFill>
              <a:srgbClr val="FDEEE7"/>
            </a:solidFill>
            <a:ln>
              <a:noFill/>
            </a:ln>
          </p:spPr>
        </p:sp>
        <p:sp>
          <p:nvSpPr>
            <p:cNvPr id="10" name="TextBox 10"/>
            <p:cNvSpPr txBox="1"/>
            <p:nvPr/>
          </p:nvSpPr>
          <p:spPr>
            <a:xfrm>
              <a:off x="843343" y="1750695"/>
              <a:ext cx="717423"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稀疏性定理</a:t>
              </a:r>
            </a:p>
          </p:txBody>
        </p:sp>
        <p:sp>
          <p:nvSpPr>
            <p:cNvPr id="11" name="TextBox 11"/>
            <p:cNvSpPr txBox="1"/>
            <p:nvPr/>
          </p:nvSpPr>
          <p:spPr>
            <a:xfrm>
              <a:off x="1747647" y="1756410"/>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两组乘子不会同时非零</a:t>
              </a:r>
            </a:p>
          </p:txBody>
        </p:sp>
        <p:sp>
          <p:nvSpPr>
            <p:cNvPr id="12" name="TextBox 12"/>
            <p:cNvSpPr txBox="1"/>
            <p:nvPr/>
          </p:nvSpPr>
          <p:spPr>
            <a:xfrm>
              <a:off x="757047" y="2090738"/>
              <a:ext cx="49619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设 α = (α₁, ⋯, αₗ)ᵀ、α* = (α₁*, ⋯, αₗ*)ᵀ 是 SVR 的解，则</a:t>
              </a:r>
            </a:p>
          </p:txBody>
        </p:sp>
        <p:sp>
          <p:nvSpPr>
            <p:cNvPr id="13" name="TextBox 13"/>
            <p:cNvSpPr txBox="1"/>
            <p:nvPr/>
          </p:nvSpPr>
          <p:spPr>
            <a:xfrm>
              <a:off x="757047" y="2392680"/>
              <a:ext cx="299608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Ⅰ. αᵢ, αᵢ* ∈ [0, C]，i = 1, 2, ⋯, l</a:t>
              </a:r>
            </a:p>
          </p:txBody>
        </p:sp>
        <p:sp>
          <p:nvSpPr>
            <p:cNvPr id="14" name="TextBox 14"/>
            <p:cNvSpPr txBox="1"/>
            <p:nvPr/>
          </p:nvSpPr>
          <p:spPr>
            <a:xfrm>
              <a:off x="757047" y="2695575"/>
              <a:ext cx="24997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Ⅱ. </a:t>
              </a:r>
              <a:r>
                <a:rPr lang="el-GR" sz="1350" b="1" dirty="0">
                  <a:solidFill>
                    <a:srgbClr val="C2410C"/>
                  </a:solidFill>
                  <a:latin typeface="+mn-lt"/>
                  <a:ea typeface="+mn-ea"/>
                  <a:cs typeface="+mn-cs"/>
                </a:rPr>
                <a:t>αᵢ·αᵢ* = 0</a:t>
              </a:r>
              <a:r>
                <a:rPr lang="zh-CN" sz="1350" dirty="0">
                  <a:solidFill>
                    <a:srgbClr val="1F2937"/>
                  </a:solidFill>
                  <a:latin typeface="+mn-lt"/>
                  <a:ea typeface="+mn-ea"/>
                  <a:cs typeface="+mn-cs"/>
                </a:rPr>
                <a:t>，i = 1, 2, ⋯, l</a:t>
              </a:r>
            </a:p>
          </p:txBody>
        </p:sp>
        <p:sp>
          <p:nvSpPr>
            <p:cNvPr id="15" name="TextBox 15"/>
            <p:cNvSpPr txBox="1"/>
            <p:nvPr/>
          </p:nvSpPr>
          <p:spPr>
            <a:xfrm>
              <a:off x="758190" y="2994184"/>
              <a:ext cx="4762246"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直观原因：一个样本不可能同时从上面和下面越出 ε-带，所以两条约束里至</a:t>
              </a:r>
              <a:br/>
              <a:r>
                <a:rPr lang="zh-CN" sz="1120" dirty="0">
                  <a:solidFill>
                    <a:srgbClr val="5B6475"/>
                  </a:solidFill>
                  <a:latin typeface="+mn-lt"/>
                  <a:ea typeface="+mn-ea"/>
                  <a:cs typeface="+mn-cs"/>
                </a:rPr>
                <a:t>多有一条取等号。</a:t>
              </a:r>
            </a:p>
          </p:txBody>
        </p:sp>
      </p:grpSp>
      <p:grpSp>
        <p:nvGrpSpPr>
          <p:cNvPr id="24" name="c1-card-2"/>
          <p:cNvGrpSpPr/>
          <p:nvPr/>
        </p:nvGrpSpPr>
        <p:grpSpPr>
          <a:xfrm>
            <a:off x="533400" y="3744278"/>
            <a:ext cx="5410200" cy="2459355"/>
            <a:chOff x="533400" y="3744278"/>
            <a:chExt cx="5410200" cy="2459355"/>
          </a:xfrm>
        </p:grpSpPr>
        <p:sp>
          <p:nvSpPr>
            <p:cNvPr id="17" name="Rectangle 17"/>
            <p:cNvSpPr/>
            <p:nvPr/>
          </p:nvSpPr>
          <p:spPr>
            <a:xfrm>
              <a:off x="533400" y="3744278"/>
              <a:ext cx="5410200" cy="2459355"/>
            </a:xfrm>
            <a:prstGeom prst="roundRect">
              <a:avLst>
                <a:gd name="adj" fmla="val 5422"/>
              </a:avLst>
            </a:prstGeom>
            <a:solidFill>
              <a:srgbClr val="FFFFFF"/>
            </a:solidFill>
            <a:ln w="14288">
              <a:solidFill>
                <a:srgbClr val="D9DFEA"/>
              </a:solidFill>
            </a:ln>
          </p:spPr>
        </p:sp>
        <p:sp>
          <p:nvSpPr>
            <p:cNvPr id="18" name="Rectangle 18"/>
            <p:cNvSpPr/>
            <p:nvPr/>
          </p:nvSpPr>
          <p:spPr>
            <a:xfrm>
              <a:off x="542925" y="3877628"/>
              <a:ext cx="47625" cy="2192655"/>
            </a:xfrm>
            <a:prstGeom prst="roundRect">
              <a:avLst>
                <a:gd name="adj" fmla="val 50000"/>
              </a:avLst>
            </a:prstGeom>
            <a:solidFill>
              <a:srgbClr val="14A38B"/>
            </a:solidFill>
            <a:ln>
              <a:noFill/>
            </a:ln>
          </p:spPr>
        </p:sp>
        <p:sp>
          <p:nvSpPr>
            <p:cNvPr id="19" name="Rectangle 19"/>
            <p:cNvSpPr/>
            <p:nvPr/>
          </p:nvSpPr>
          <p:spPr>
            <a:xfrm>
              <a:off x="763905" y="3936682"/>
              <a:ext cx="742950" cy="247650"/>
            </a:xfrm>
            <a:prstGeom prst="roundRect">
              <a:avLst>
                <a:gd name="adj" fmla="val 50000"/>
              </a:avLst>
            </a:prstGeom>
            <a:solidFill>
              <a:srgbClr val="E3F5F1"/>
            </a:solidFill>
            <a:ln>
              <a:noFill/>
            </a:ln>
          </p:spPr>
        </p:sp>
        <p:sp>
          <p:nvSpPr>
            <p:cNvPr id="20" name="TextBox 20"/>
            <p:cNvSpPr txBox="1"/>
            <p:nvPr/>
          </p:nvSpPr>
          <p:spPr>
            <a:xfrm>
              <a:off x="847344" y="3970973"/>
              <a:ext cx="576072"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决策函数</a:t>
              </a:r>
            </a:p>
          </p:txBody>
        </p:sp>
        <p:sp>
          <p:nvSpPr>
            <p:cNvPr id="21" name="TextBox 21"/>
            <p:cNvSpPr txBox="1"/>
            <p:nvPr/>
          </p:nvSpPr>
          <p:spPr>
            <a:xfrm>
              <a:off x="1614297" y="3976688"/>
              <a:ext cx="14480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大部分乘子都是 0</a:t>
              </a:r>
            </a:p>
          </p:txBody>
        </p:sp>
        <mc:AlternateContent xmlns:mc="http://schemas.openxmlformats.org/markup-compatibility/2006">
          <mc:Choice xmlns:a14="http://schemas.microsoft.com/office/drawing/2010/main" Requires="a14">
            <p:sp>
              <p:nvSpPr>
                <p:cNvPr id="22" name="formula321"/>
                <p:cNvSpPr txBox="1">
                  <a:spLocks noGrp="1"/>
                </p:cNvSpPr>
                <p:nvPr/>
              </p:nvSpPr>
              <p:spPr>
                <a:xfrm>
                  <a:off x="763905" y="4288155"/>
                  <a:ext cx="4987290" cy="63341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420" dirty="0">
                            <a:solidFill>
                              <a:srgbClr val="1F2937"/>
                            </a:solidFill>
                            <a:latin typeface="Cambria Math"/>
                            <a:ea typeface="Cambria Math"/>
                            <a:cs typeface="Cambria Math"/>
                          </a:rPr>
                          <m:t>f</m:t>
                        </m:r>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x</m:t>
                            </m:r>
                          </m:e>
                        </m:d>
                        <m:r>
                          <m:rPr>
                            <m:sty m:val="p"/>
                          </m:rPr>
                          <a:rPr lang="zh-CN" sz="1420" dirty="0">
                            <a:solidFill>
                              <a:srgbClr val="1F2937"/>
                            </a:solidFill>
                            <a:latin typeface="Cambria Math"/>
                            <a:ea typeface="Cambria Math"/>
                            <a:cs typeface="Cambria Math"/>
                          </a:rPr>
                          <m:t>=</m:t>
                        </m:r>
                        <m:nary>
                          <m:naryPr>
                            <m:chr m:val="∑"/>
                            <m:limLoc m:val="undOvr"/>
                            <m:grow m:val="off"/>
                            <m:subHide m:val="off"/>
                            <m:supHide m:val="off"/>
                            <m:ctrlPr>
                              <a:rPr lang="zh-CN" sz="1420" dirty="0">
                                <a:solidFill>
                                  <a:srgbClr val="1F2937"/>
                                </a:solidFill>
                                <a:latin typeface="Cambria Math"/>
                                <a:ea typeface="Cambria Math"/>
                                <a:cs typeface="Cambria Math"/>
                              </a:rPr>
                            </m:ctrlPr>
                          </m:naryPr>
                          <m:sub>
                            <m:r>
                              <a:rPr lang="zh-CN" sz="1420" dirty="0">
                                <a:solidFill>
                                  <a:srgbClr val="1F2937"/>
                                </a:solidFill>
                                <a:latin typeface="Cambria Math"/>
                                <a:ea typeface="Cambria Math"/>
                                <a:cs typeface="Cambria Math"/>
                              </a:rPr>
                              <m:t>i</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1</m:t>
                            </m:r>
                          </m:sub>
                          <m:sup>
                            <m:r>
                              <a:rPr lang="zh-CN" sz="1420" dirty="0">
                                <a:solidFill>
                                  <a:srgbClr val="1F2937"/>
                                </a:solidFill>
                                <a:latin typeface="Cambria Math"/>
                                <a:ea typeface="Cambria Math"/>
                                <a:cs typeface="Cambria Math"/>
                              </a:rPr>
                              <m:t>l</m:t>
                            </m:r>
                          </m:sup>
                          <m:e>
                            <m:d>
                              <m:dPr>
                                <m:begChr m:val="("/>
                                <m:sepChr m:val=""/>
                                <m:endChr m:val=")"/>
                                <m:grow m:val="on"/>
                                <m:ctrlPr>
                                  <a:rPr lang="zh-CN" sz="1420" dirty="0">
                                    <a:solidFill>
                                      <a:srgbClr val="1F2937"/>
                                    </a:solidFill>
                                    <a:latin typeface="Cambria Math"/>
                                    <a:ea typeface="Cambria Math"/>
                                    <a:cs typeface="Cambria Math"/>
                                  </a:rPr>
                                </m:ctrlPr>
                              </m:dPr>
                              <m:e>
                                <m:sSubSup>
                                  <m:e>
                                    <m:r>
                                      <a:rPr lang="zh-CN" sz="1420" dirty="0">
                                        <a:solidFill>
                                          <a:srgbClr val="1F2937"/>
                                        </a:solidFill>
                                        <a:latin typeface="Cambria Math"/>
                                        <a:ea typeface="Cambria Math"/>
                                        <a:cs typeface="Cambria Math"/>
                                      </a:rPr>
                                      <m:t>α</m:t>
                                    </m:r>
                                  </m:e>
                                  <m:sub>
                                    <m:r>
                                      <a:rPr lang="zh-CN" sz="1420" dirty="0">
                                        <a:solidFill>
                                          <a:srgbClr val="1F2937"/>
                                        </a:solidFill>
                                        <a:latin typeface="Cambria Math"/>
                                        <a:ea typeface="Cambria Math"/>
                                        <a:cs typeface="Cambria Math"/>
                                      </a:rPr>
                                      <m:t>i</m:t>
                                    </m:r>
                                  </m:sub>
                                  <m:sup>
                                    <m:r>
                                      <m:rPr>
                                        <m:sty m:val="p"/>
                                      </m:rPr>
                                      <a:rPr lang="zh-CN" sz="1420" dirty="0">
                                        <a:solidFill>
                                          <a:srgbClr val="1F2937"/>
                                        </a:solidFill>
                                        <a:latin typeface="Cambria Math"/>
                                        <a:ea typeface="Cambria Math"/>
                                        <a:cs typeface="Cambria Math"/>
                                      </a:rPr>
                                      <m:t>*</m:t>
                                    </m:r>
                                  </m:sup>
                                </m:sSubSup>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α</m:t>
                                    </m:r>
                                  </m:e>
                                  <m:sub>
                                    <m:r>
                                      <a:rPr lang="zh-CN" sz="1420" dirty="0">
                                        <a:solidFill>
                                          <a:srgbClr val="1F2937"/>
                                        </a:solidFill>
                                        <a:latin typeface="Cambria Math"/>
                                        <a:ea typeface="Cambria Math"/>
                                        <a:cs typeface="Cambria Math"/>
                                      </a:rPr>
                                      <m:t>i</m:t>
                                    </m:r>
                                  </m:sub>
                                </m:sSub>
                              </m:e>
                            </m:d>
                            <m:r>
                              <a:rPr lang="zh-CN" sz="1420" dirty="0">
                                <a:solidFill>
                                  <a:srgbClr val="1F2937"/>
                                </a:solidFill>
                                <a:latin typeface="Cambria Math"/>
                                <a:ea typeface="Cambria Math"/>
                                <a:cs typeface="Cambria Math"/>
                              </a:rPr>
                              <m:t>K</m:t>
                            </m:r>
                            <m:d>
                              <m:dPr>
                                <m:begChr m:val="("/>
                                <m:sepChr m:val=""/>
                                <m:endChr m:val=")"/>
                                <m:grow m:val="on"/>
                                <m:ctrlPr>
                                  <a:rPr lang="zh-CN" sz="1420" dirty="0">
                                    <a:solidFill>
                                      <a:srgbClr val="1F2937"/>
                                    </a:solidFill>
                                    <a:latin typeface="Cambria Math"/>
                                    <a:ea typeface="Cambria Math"/>
                                    <a:cs typeface="Cambria Math"/>
                                  </a:rPr>
                                </m:ctrlPr>
                              </m:dPr>
                              <m:e>
                                <m:sSub>
                                  <m:e>
                                    <m:r>
                                      <a:rPr lang="zh-CN" sz="1420" dirty="0">
                                        <a:solidFill>
                                          <a:srgbClr val="1F2937"/>
                                        </a:solidFill>
                                        <a:latin typeface="Cambria Math"/>
                                        <a:ea typeface="Cambria Math"/>
                                        <a:cs typeface="Cambria Math"/>
                                      </a:rPr>
                                      <m:t>x</m:t>
                                    </m:r>
                                  </m:e>
                                  <m:sub>
                                    <m:r>
                                      <a:rPr lang="zh-CN" sz="1420" dirty="0">
                                        <a:solidFill>
                                          <a:srgbClr val="1F2937"/>
                                        </a:solidFill>
                                        <a:latin typeface="Cambria Math"/>
                                        <a:ea typeface="Cambria Math"/>
                                        <a:cs typeface="Cambria Math"/>
                                      </a:rPr>
                                      <m:t>i</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x</m:t>
                                </m:r>
                              </m:e>
                            </m:d>
                          </m:e>
                        </m:nary>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b</m:t>
                        </m:r>
                      </m:oMath>
                    </m:oMathPara>
                  </a14:m>
                </a:p>
              </p:txBody>
            </p:sp>
          </mc:Choice>
        </mc:AlternateContent>
        <p:sp>
          <p:nvSpPr>
            <p:cNvPr id="23" name="TextBox 23"/>
            <p:cNvSpPr txBox="1"/>
            <p:nvPr/>
          </p:nvSpPr>
          <p:spPr>
            <a:xfrm>
              <a:off x="757047" y="5031105"/>
              <a:ext cx="507509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只有少数样本对应的乘子非 0，求和实际上只跑这些支持向量。</a:t>
              </a:r>
            </a:p>
          </p:txBody>
        </p:sp>
      </p:grpSp>
      <p:grpSp>
        <p:nvGrpSpPr>
          <p:cNvPr id="49" name="c2-table-1"/>
          <p:cNvGrpSpPr/>
          <p:nvPr/>
        </p:nvGrpSpPr>
        <p:grpSpPr>
          <a:xfrm>
            <a:off x="6243066" y="1524000"/>
            <a:ext cx="5415534" cy="2714244"/>
            <a:chOff x="6243066" y="1524000"/>
            <a:chExt cx="5415534" cy="2714244"/>
          </a:xfrm>
        </p:grpSpPr>
        <p:sp>
          <p:nvSpPr>
            <p:cNvPr id="25" name="Rectangle 25"/>
            <p:cNvSpPr/>
            <p:nvPr/>
          </p:nvSpPr>
          <p:spPr>
            <a:xfrm>
              <a:off x="6248400" y="1524000"/>
              <a:ext cx="5410200" cy="405765"/>
            </a:xfrm>
            <a:prstGeom prst="rect">
              <a:avLst/>
            </a:prstGeom>
            <a:solidFill>
              <a:srgbClr val="0E7C86"/>
            </a:solidFill>
            <a:ln>
              <a:noFill/>
            </a:ln>
          </p:spPr>
        </p:sp>
        <p:sp>
          <p:nvSpPr>
            <p:cNvPr id="26" name="TextBox 26"/>
            <p:cNvSpPr txBox="1"/>
            <p:nvPr/>
          </p:nvSpPr>
          <p:spPr>
            <a:xfrm>
              <a:off x="6864706" y="1648301"/>
              <a:ext cx="125531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(αᵢ, αᵢ*) 的取值</a:t>
              </a:r>
            </a:p>
          </p:txBody>
        </p:sp>
        <p:sp>
          <p:nvSpPr>
            <p:cNvPr id="27" name="TextBox 27"/>
            <p:cNvSpPr txBox="1"/>
            <p:nvPr/>
          </p:nvSpPr>
          <p:spPr>
            <a:xfrm>
              <a:off x="9739427" y="1648301"/>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样本点的位置</a:t>
              </a:r>
            </a:p>
          </p:txBody>
        </p:sp>
        <p:sp>
          <p:nvSpPr>
            <p:cNvPr id="28" name="TextBox 28"/>
            <p:cNvSpPr txBox="1"/>
            <p:nvPr/>
          </p:nvSpPr>
          <p:spPr>
            <a:xfrm>
              <a:off x="6348412" y="2054066"/>
              <a:ext cx="897983"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αᵢ = αᵢ* = 0</a:t>
              </a:r>
            </a:p>
          </p:txBody>
        </p:sp>
        <p:sp>
          <p:nvSpPr>
            <p:cNvPr id="29" name="TextBox 29"/>
            <p:cNvSpPr txBox="1"/>
            <p:nvPr/>
          </p:nvSpPr>
          <p:spPr>
            <a:xfrm>
              <a:off x="8837295" y="2054066"/>
              <a:ext cx="138347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ε-带的内部或边界上</a:t>
              </a:r>
            </a:p>
          </p:txBody>
        </p:sp>
        <p:sp>
          <p:nvSpPr>
            <p:cNvPr id="30" name="Rectangle 30"/>
            <p:cNvSpPr/>
            <p:nvPr/>
          </p:nvSpPr>
          <p:spPr>
            <a:xfrm>
              <a:off x="6248400" y="2330768"/>
              <a:ext cx="5410200" cy="9525"/>
            </a:xfrm>
            <a:prstGeom prst="rect">
              <a:avLst/>
            </a:prstGeom>
            <a:solidFill>
              <a:srgbClr val="D9DFEA"/>
            </a:solidFill>
            <a:ln>
              <a:noFill/>
            </a:ln>
          </p:spPr>
        </p:sp>
        <p:sp>
          <p:nvSpPr>
            <p:cNvPr id="31" name="Rectangle 31"/>
            <p:cNvSpPr/>
            <p:nvPr/>
          </p:nvSpPr>
          <p:spPr>
            <a:xfrm>
              <a:off x="6248400" y="2335530"/>
              <a:ext cx="5410200" cy="405765"/>
            </a:xfrm>
            <a:prstGeom prst="rect">
              <a:avLst/>
            </a:prstGeom>
            <a:solidFill>
              <a:srgbClr val="F4F6FB"/>
            </a:solidFill>
            <a:ln>
              <a:noFill/>
            </a:ln>
          </p:spPr>
        </p:sp>
        <p:sp>
          <p:nvSpPr>
            <p:cNvPr id="32" name="TextBox 32"/>
            <p:cNvSpPr txBox="1"/>
            <p:nvPr/>
          </p:nvSpPr>
          <p:spPr>
            <a:xfrm>
              <a:off x="6348412" y="2459831"/>
              <a:ext cx="1543782"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αᵢ ∈ (0, C), αᵢ* = 0</a:t>
              </a:r>
            </a:p>
          </p:txBody>
        </p:sp>
        <p:sp>
          <p:nvSpPr>
            <p:cNvPr id="33" name="Rectangle 33"/>
            <p:cNvSpPr/>
            <p:nvPr/>
          </p:nvSpPr>
          <p:spPr>
            <a:xfrm>
              <a:off x="8746808" y="2345055"/>
              <a:ext cx="2902268" cy="386715"/>
            </a:xfrm>
            <a:prstGeom prst="rect">
              <a:avLst/>
            </a:prstGeom>
            <a:solidFill>
              <a:srgbClr val="E3F5F1"/>
            </a:solidFill>
            <a:ln>
              <a:noFill/>
            </a:ln>
          </p:spPr>
        </p:sp>
        <p:sp>
          <p:nvSpPr>
            <p:cNvPr id="34" name="TextBox 34"/>
            <p:cNvSpPr txBox="1"/>
            <p:nvPr/>
          </p:nvSpPr>
          <p:spPr>
            <a:xfrm>
              <a:off x="8837295" y="2459831"/>
              <a:ext cx="93115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ε-带的边界上</a:t>
              </a:r>
            </a:p>
          </p:txBody>
        </p:sp>
        <p:sp>
          <p:nvSpPr>
            <p:cNvPr id="35" name="Rectangle 35"/>
            <p:cNvSpPr/>
            <p:nvPr/>
          </p:nvSpPr>
          <p:spPr>
            <a:xfrm>
              <a:off x="6248400" y="2736532"/>
              <a:ext cx="5410200" cy="9525"/>
            </a:xfrm>
            <a:prstGeom prst="rect">
              <a:avLst/>
            </a:prstGeom>
            <a:solidFill>
              <a:srgbClr val="D9DFEA"/>
            </a:solidFill>
            <a:ln>
              <a:noFill/>
            </a:ln>
          </p:spPr>
        </p:sp>
        <p:sp>
          <p:nvSpPr>
            <p:cNvPr id="36" name="TextBox 36"/>
            <p:cNvSpPr txBox="1"/>
            <p:nvPr/>
          </p:nvSpPr>
          <p:spPr>
            <a:xfrm>
              <a:off x="6348412" y="2865596"/>
              <a:ext cx="1543782"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αᵢ = 0, αᵢ* ∈ (0, C)</a:t>
              </a:r>
            </a:p>
          </p:txBody>
        </p:sp>
        <p:sp>
          <p:nvSpPr>
            <p:cNvPr id="37" name="Rectangle 37"/>
            <p:cNvSpPr/>
            <p:nvPr/>
          </p:nvSpPr>
          <p:spPr>
            <a:xfrm>
              <a:off x="8746808" y="2750820"/>
              <a:ext cx="2902268" cy="386715"/>
            </a:xfrm>
            <a:prstGeom prst="rect">
              <a:avLst/>
            </a:prstGeom>
            <a:solidFill>
              <a:srgbClr val="E3F5F1"/>
            </a:solidFill>
            <a:ln>
              <a:noFill/>
            </a:ln>
          </p:spPr>
        </p:sp>
        <p:sp>
          <p:nvSpPr>
            <p:cNvPr id="38" name="TextBox 38"/>
            <p:cNvSpPr txBox="1"/>
            <p:nvPr/>
          </p:nvSpPr>
          <p:spPr>
            <a:xfrm>
              <a:off x="8837295" y="2865596"/>
              <a:ext cx="93115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ε-带的边界上</a:t>
              </a:r>
            </a:p>
          </p:txBody>
        </p:sp>
        <p:sp>
          <p:nvSpPr>
            <p:cNvPr id="39" name="Rectangle 39"/>
            <p:cNvSpPr/>
            <p:nvPr/>
          </p:nvSpPr>
          <p:spPr>
            <a:xfrm>
              <a:off x="6248400" y="3142298"/>
              <a:ext cx="5410200" cy="9525"/>
            </a:xfrm>
            <a:prstGeom prst="rect">
              <a:avLst/>
            </a:prstGeom>
            <a:solidFill>
              <a:srgbClr val="D9DFEA"/>
            </a:solidFill>
            <a:ln>
              <a:noFill/>
            </a:ln>
          </p:spPr>
        </p:sp>
        <p:sp>
          <p:nvSpPr>
            <p:cNvPr id="40" name="Rectangle 40"/>
            <p:cNvSpPr/>
            <p:nvPr/>
          </p:nvSpPr>
          <p:spPr>
            <a:xfrm>
              <a:off x="6248400" y="3147060"/>
              <a:ext cx="5410200" cy="405765"/>
            </a:xfrm>
            <a:prstGeom prst="rect">
              <a:avLst/>
            </a:prstGeom>
            <a:solidFill>
              <a:srgbClr val="F4F6FB"/>
            </a:solidFill>
            <a:ln>
              <a:noFill/>
            </a:ln>
          </p:spPr>
        </p:sp>
        <p:sp>
          <p:nvSpPr>
            <p:cNvPr id="41" name="TextBox 41"/>
            <p:cNvSpPr txBox="1"/>
            <p:nvPr/>
          </p:nvSpPr>
          <p:spPr>
            <a:xfrm>
              <a:off x="6348412" y="3271361"/>
              <a:ext cx="1140531"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αᵢ = C, αᵢ* = 0</a:t>
              </a:r>
            </a:p>
          </p:txBody>
        </p:sp>
        <p:sp>
          <p:nvSpPr>
            <p:cNvPr id="42" name="TextBox 42"/>
            <p:cNvSpPr txBox="1"/>
            <p:nvPr/>
          </p:nvSpPr>
          <p:spPr>
            <a:xfrm>
              <a:off x="8837295" y="3271361"/>
              <a:ext cx="138347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ε-带的外部或边界上</a:t>
              </a:r>
            </a:p>
          </p:txBody>
        </p:sp>
        <p:sp>
          <p:nvSpPr>
            <p:cNvPr id="43" name="Rectangle 43"/>
            <p:cNvSpPr/>
            <p:nvPr/>
          </p:nvSpPr>
          <p:spPr>
            <a:xfrm>
              <a:off x="6248400" y="3548062"/>
              <a:ext cx="5410200" cy="9525"/>
            </a:xfrm>
            <a:prstGeom prst="rect">
              <a:avLst/>
            </a:prstGeom>
            <a:solidFill>
              <a:srgbClr val="D9DFEA"/>
            </a:solidFill>
            <a:ln>
              <a:noFill/>
            </a:ln>
          </p:spPr>
        </p:sp>
        <p:sp>
          <p:nvSpPr>
            <p:cNvPr id="44" name="TextBox 44"/>
            <p:cNvSpPr txBox="1"/>
            <p:nvPr/>
          </p:nvSpPr>
          <p:spPr>
            <a:xfrm>
              <a:off x="6348412" y="3677126"/>
              <a:ext cx="1140531" cy="220028"/>
            </a:xfrm>
            <a:prstGeom prst="rect">
              <a:avLst/>
            </a:prstGeom>
            <a:noFill/>
            <a:ln>
              <a:noFill/>
            </a:ln>
          </p:spPr>
          <p:txBody>
            <a:bodyPr wrap="none" lIns="0" tIns="0" rIns="0" bIns="0" anchor="t" anchorCtr="0">
              <a:spAutoFit/>
            </a:bodyPr>
            <a:lstStyle/>
            <a:p>
              <a:pPr algn="l"/>
              <a:r>
                <a:rPr lang="el-GR" sz="1120" b="1" dirty="0">
                  <a:solidFill>
                    <a:srgbClr val="1F2937"/>
                  </a:solidFill>
                  <a:latin typeface="+mn-lt"/>
                  <a:ea typeface="+mn-ea"/>
                  <a:cs typeface="+mn-cs"/>
                </a:rPr>
                <a:t>αᵢ = 0, αᵢ* = C</a:t>
              </a:r>
            </a:p>
          </p:txBody>
        </p:sp>
        <p:sp>
          <p:nvSpPr>
            <p:cNvPr id="45" name="TextBox 45"/>
            <p:cNvSpPr txBox="1"/>
            <p:nvPr/>
          </p:nvSpPr>
          <p:spPr>
            <a:xfrm>
              <a:off x="8837295" y="3677126"/>
              <a:ext cx="138347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ε-带的外部或边界上</a:t>
              </a:r>
            </a:p>
          </p:txBody>
        </p:sp>
        <p:sp>
          <p:nvSpPr>
            <p:cNvPr id="46" name="Rectangle 46"/>
            <p:cNvSpPr/>
            <p:nvPr/>
          </p:nvSpPr>
          <p:spPr>
            <a:xfrm>
              <a:off x="6248400" y="1524000"/>
              <a:ext cx="5410200" cy="2434590"/>
            </a:xfrm>
            <a:prstGeom prst="rect">
              <a:avLst/>
            </a:prstGeom>
            <a:noFill/>
            <a:ln w="14288">
              <a:solidFill>
                <a:srgbClr val="D9DFEA"/>
              </a:solidFill>
            </a:ln>
          </p:spPr>
        </p:sp>
        <p:sp>
          <p:nvSpPr>
            <p:cNvPr id="47" name="Rectangle 47"/>
            <p:cNvSpPr/>
            <p:nvPr/>
          </p:nvSpPr>
          <p:spPr>
            <a:xfrm>
              <a:off x="8732520" y="1524000"/>
              <a:ext cx="9525" cy="2434590"/>
            </a:xfrm>
            <a:prstGeom prst="rect">
              <a:avLst/>
            </a:prstGeom>
            <a:solidFill>
              <a:srgbClr val="D9DFEA"/>
            </a:solidFill>
            <a:ln>
              <a:noFill/>
            </a:ln>
          </p:spPr>
        </p:sp>
        <p:sp>
          <p:nvSpPr>
            <p:cNvPr id="48" name="TextBox 48"/>
            <p:cNvSpPr txBox="1"/>
            <p:nvPr/>
          </p:nvSpPr>
          <p:spPr>
            <a:xfrm>
              <a:off x="6243066" y="4032885"/>
              <a:ext cx="345963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分布定理：乘子的取值与样本相对 ε-带的位置一一对应</a:t>
              </a:r>
            </a:p>
          </p:txBody>
        </p:sp>
      </p:grpSp>
      <p:grpSp>
        <p:nvGrpSpPr>
          <p:cNvPr id="60" name="c2-card-2"/>
          <p:cNvGrpSpPr/>
          <p:nvPr/>
        </p:nvGrpSpPr>
        <p:grpSpPr>
          <a:xfrm>
            <a:off x="6248400" y="4371975"/>
            <a:ext cx="5410200" cy="1831658"/>
            <a:chOff x="6248400" y="4371975"/>
            <a:chExt cx="5410200" cy="1831658"/>
          </a:xfrm>
        </p:grpSpPr>
        <p:sp>
          <p:nvSpPr>
            <p:cNvPr id="50" name="Rectangle 50"/>
            <p:cNvSpPr/>
            <p:nvPr/>
          </p:nvSpPr>
          <p:spPr>
            <a:xfrm>
              <a:off x="6248400" y="4371975"/>
              <a:ext cx="5410200" cy="1831658"/>
            </a:xfrm>
            <a:prstGeom prst="roundRect">
              <a:avLst>
                <a:gd name="adj" fmla="val 7280"/>
              </a:avLst>
            </a:prstGeom>
            <a:solidFill>
              <a:srgbClr val="0E7C86"/>
            </a:solidFill>
            <a:ln>
              <a:noFill/>
            </a:ln>
          </p:spPr>
        </p:sp>
        <p:sp>
          <p:nvSpPr>
            <p:cNvPr id="51" name="Rectangle 51"/>
            <p:cNvSpPr/>
            <p:nvPr/>
          </p:nvSpPr>
          <p:spPr>
            <a:xfrm>
              <a:off x="6440805" y="4564380"/>
              <a:ext cx="1009650" cy="247650"/>
            </a:xfrm>
            <a:prstGeom prst="roundRect">
              <a:avLst>
                <a:gd name="adj" fmla="val 50000"/>
              </a:avLst>
            </a:prstGeom>
            <a:solidFill>
              <a:srgbClr val="0B5F67"/>
            </a:solidFill>
            <a:ln>
              <a:noFill/>
            </a:ln>
          </p:spPr>
        </p:sp>
        <p:sp>
          <p:nvSpPr>
            <p:cNvPr id="52" name="TextBox 52"/>
            <p:cNvSpPr txBox="1"/>
            <p:nvPr/>
          </p:nvSpPr>
          <p:spPr>
            <a:xfrm>
              <a:off x="6516243" y="4598670"/>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怎么用这张表</a:t>
              </a:r>
            </a:p>
          </p:txBody>
        </p:sp>
        <p:sp>
          <p:nvSpPr>
            <p:cNvPr id="53" name="TextBox 53"/>
            <p:cNvSpPr txBox="1"/>
            <p:nvPr/>
          </p:nvSpPr>
          <p:spPr>
            <a:xfrm>
              <a:off x="7557897" y="4604385"/>
              <a:ext cx="223227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和分类里的 α 表是同一回事</a:t>
              </a:r>
            </a:p>
          </p:txBody>
        </p:sp>
        <p:sp>
          <p:nvSpPr>
            <p:cNvPr id="54" name="Ellipse 54"/>
            <p:cNvSpPr/>
            <p:nvPr/>
          </p:nvSpPr>
          <p:spPr>
            <a:xfrm>
              <a:off x="6449378" y="4994910"/>
              <a:ext cx="59055" cy="59055"/>
            </a:xfrm>
            <a:prstGeom prst="ellipse">
              <a:avLst/>
            </a:prstGeom>
            <a:solidFill>
              <a:srgbClr val="FFFFFF"/>
            </a:solidFill>
            <a:ln>
              <a:noFill/>
            </a:ln>
          </p:spPr>
        </p:sp>
        <p:sp>
          <p:nvSpPr>
            <p:cNvPr id="55" name="TextBox 55"/>
            <p:cNvSpPr txBox="1"/>
            <p:nvPr/>
          </p:nvSpPr>
          <p:spPr>
            <a:xfrm>
              <a:off x="6605397" y="4938712"/>
              <a:ext cx="3257721"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乘子为 0：样本在带内，对模型没有贡献</a:t>
              </a:r>
            </a:p>
          </p:txBody>
        </p:sp>
        <p:sp>
          <p:nvSpPr>
            <p:cNvPr id="56" name="Ellipse 56"/>
            <p:cNvSpPr/>
            <p:nvPr/>
          </p:nvSpPr>
          <p:spPr>
            <a:xfrm>
              <a:off x="6449378" y="5296852"/>
              <a:ext cx="59055" cy="59055"/>
            </a:xfrm>
            <a:prstGeom prst="ellipse">
              <a:avLst/>
            </a:prstGeom>
            <a:solidFill>
              <a:srgbClr val="FFFFFF"/>
            </a:solidFill>
            <a:ln>
              <a:noFill/>
            </a:ln>
          </p:spPr>
        </p:sp>
        <p:sp>
          <p:nvSpPr>
            <p:cNvPr id="57" name="TextBox 57"/>
            <p:cNvSpPr txBox="1"/>
            <p:nvPr/>
          </p:nvSpPr>
          <p:spPr>
            <a:xfrm>
              <a:off x="6605397" y="5240655"/>
              <a:ext cx="453142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乘子在开区间 (0, C)：样本恰好压在带边界上，可以用来反</a:t>
              </a:r>
              <a:br/>
              <a:r>
                <a:rPr lang="zh-CN" sz="1350" dirty="0">
                  <a:solidFill>
                    <a:srgbClr val="FFFFFF"/>
                  </a:solidFill>
                  <a:latin typeface="+mn-lt"/>
                  <a:ea typeface="+mn-ea"/>
                  <a:cs typeface="+mn-cs"/>
                </a:rPr>
                <a:t>算 b</a:t>
              </a:r>
            </a:p>
          </p:txBody>
        </p:sp>
        <p:sp>
          <p:nvSpPr>
            <p:cNvPr id="58" name="Ellipse 58"/>
            <p:cNvSpPr/>
            <p:nvPr/>
          </p:nvSpPr>
          <p:spPr>
            <a:xfrm>
              <a:off x="6449378" y="5856922"/>
              <a:ext cx="59055" cy="59055"/>
            </a:xfrm>
            <a:prstGeom prst="ellipse">
              <a:avLst/>
            </a:prstGeom>
            <a:solidFill>
              <a:srgbClr val="FFFFFF"/>
            </a:solidFill>
            <a:ln>
              <a:noFill/>
            </a:ln>
          </p:spPr>
        </p:sp>
        <p:sp>
          <p:nvSpPr>
            <p:cNvPr id="59" name="TextBox 59"/>
            <p:cNvSpPr txBox="1"/>
            <p:nvPr/>
          </p:nvSpPr>
          <p:spPr>
            <a:xfrm>
              <a:off x="6605397" y="5800725"/>
              <a:ext cx="412062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乘子取到 C：样本在带外，松弛变量 ξ 或 ξ* 大于 0</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794939" cy="909257"/>
            <a:chOff x="520446" y="342900"/>
            <a:chExt cx="4794939"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479493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例题：ε 变大，回归函数就变平</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6542" y="1545907"/>
            <a:ext cx="4766139" cy="264033"/>
            <a:chOff x="526542" y="1545907"/>
            <a:chExt cx="4766139" cy="264033"/>
          </a:xfrm>
        </p:grpSpPr>
        <p:sp>
          <p:nvSpPr>
            <p:cNvPr id="7" name="TextBox 7"/>
            <p:cNvSpPr txBox="1"/>
            <p:nvPr/>
          </p:nvSpPr>
          <p:spPr>
            <a:xfrm>
              <a:off x="526542" y="1545907"/>
              <a:ext cx="476613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数据只有三个点，可以完全手算，用来看清 ε 对解的影响。</a:t>
              </a:r>
            </a:p>
          </p:txBody>
        </p:sp>
      </p:grpSp>
      <p:grpSp>
        <p:nvGrpSpPr>
          <p:cNvPr id="15" name="c1-card-1"/>
          <p:cNvGrpSpPr/>
          <p:nvPr/>
        </p:nvGrpSpPr>
        <p:grpSpPr>
          <a:xfrm>
            <a:off x="533400" y="1928812"/>
            <a:ext cx="5410200" cy="1716405"/>
            <a:chOff x="533400" y="1928812"/>
            <a:chExt cx="5410200" cy="1716405"/>
          </a:xfrm>
        </p:grpSpPr>
        <p:sp>
          <p:nvSpPr>
            <p:cNvPr id="9" name="Rectangle 9"/>
            <p:cNvSpPr/>
            <p:nvPr/>
          </p:nvSpPr>
          <p:spPr>
            <a:xfrm>
              <a:off x="533400" y="1928812"/>
              <a:ext cx="5410200" cy="1716405"/>
            </a:xfrm>
            <a:prstGeom prst="roundRect">
              <a:avLst>
                <a:gd name="adj" fmla="val 7769"/>
              </a:avLst>
            </a:prstGeom>
            <a:solidFill>
              <a:srgbClr val="FFFFFF"/>
            </a:solidFill>
            <a:ln w="14288">
              <a:solidFill>
                <a:srgbClr val="D9DFEA"/>
              </a:solidFill>
            </a:ln>
          </p:spPr>
        </p:sp>
        <p:sp>
          <p:nvSpPr>
            <p:cNvPr id="10" name="Rectangle 10"/>
            <p:cNvSpPr/>
            <p:nvPr/>
          </p:nvSpPr>
          <p:spPr>
            <a:xfrm>
              <a:off x="542925" y="2062162"/>
              <a:ext cx="47625" cy="1449705"/>
            </a:xfrm>
            <a:prstGeom prst="roundRect">
              <a:avLst>
                <a:gd name="adj" fmla="val 50000"/>
              </a:avLst>
            </a:prstGeom>
            <a:solidFill>
              <a:srgbClr val="14A38B"/>
            </a:solidFill>
            <a:ln>
              <a:noFill/>
            </a:ln>
          </p:spPr>
        </p:sp>
        <p:sp>
          <p:nvSpPr>
            <p:cNvPr id="11" name="Rectangle 11"/>
            <p:cNvSpPr/>
            <p:nvPr/>
          </p:nvSpPr>
          <p:spPr>
            <a:xfrm>
              <a:off x="758190" y="2115502"/>
              <a:ext cx="458152" cy="238125"/>
            </a:xfrm>
            <a:prstGeom prst="roundRect">
              <a:avLst>
                <a:gd name="adj" fmla="val 50000"/>
              </a:avLst>
            </a:prstGeom>
            <a:solidFill>
              <a:srgbClr val="E3F5F1"/>
            </a:solidFill>
            <a:ln>
              <a:noFill/>
            </a:ln>
          </p:spPr>
        </p:sp>
        <p:sp>
          <p:nvSpPr>
            <p:cNvPr id="12" name="TextBox 12"/>
            <p:cNvSpPr txBox="1"/>
            <p:nvPr/>
          </p:nvSpPr>
          <p:spPr>
            <a:xfrm>
              <a:off x="850862" y="2148364"/>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例题</a:t>
              </a:r>
            </a:p>
          </p:txBody>
        </p:sp>
        <p:sp>
          <p:nvSpPr>
            <p:cNvPr id="13" name="TextBox 13"/>
            <p:cNvSpPr txBox="1"/>
            <p:nvPr/>
          </p:nvSpPr>
          <p:spPr>
            <a:xfrm>
              <a:off x="1323784" y="2150745"/>
              <a:ext cx="374805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x = 1, 2, 3，y = 1, 2, 3，线性核，C 足够大</a:t>
              </a:r>
            </a:p>
          </p:txBody>
        </p:sp>
        <p:sp>
          <p:nvSpPr>
            <p:cNvPr id="14" name="TextBox 14"/>
            <p:cNvSpPr txBox="1"/>
            <p:nvPr/>
          </p:nvSpPr>
          <p:spPr>
            <a:xfrm>
              <a:off x="751332" y="2476500"/>
              <a:ext cx="4745736"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要求所有点落在 ε-带内：|yᵢ − (w·xᵢ + b)| ≤ ε，同时 ½w² 最</a:t>
              </a:r>
              <a:br/>
              <a:r>
                <a:rPr lang="zh-CN" sz="1350" dirty="0">
                  <a:solidFill>
                    <a:srgbClr val="1F2937"/>
                  </a:solidFill>
                  <a:latin typeface="+mn-lt"/>
                  <a:ea typeface="+mn-ea"/>
                  <a:cs typeface="+mn-cs"/>
                </a:rPr>
                <a:t>小。令 u = 1 − w，约束化为 |u·xᵢ − b| ≤ ε，x = 1 与 x = 3 两</a:t>
              </a:r>
              <a:br/>
              <a:r>
                <a:rPr lang="zh-CN" sz="1350" dirty="0">
                  <a:solidFill>
                    <a:srgbClr val="1F2937"/>
                  </a:solidFill>
                  <a:latin typeface="+mn-lt"/>
                  <a:ea typeface="+mn-ea"/>
                  <a:cs typeface="+mn-cs"/>
                </a:rPr>
                <a:t>条最紧，给出 u ≤ (b + ε)/3 与 u ≥ b − ε。w 要尽量小就是 u</a:t>
              </a:r>
              <a:br/>
              <a:r>
                <a:rPr lang="zh-CN" sz="1350" dirty="0">
                  <a:solidFill>
                    <a:srgbClr val="1F2937"/>
                  </a:solidFill>
                  <a:latin typeface="+mn-lt"/>
                  <a:ea typeface="+mn-ea"/>
                  <a:cs typeface="+mn-cs"/>
                </a:rPr>
                <a:t>要尽量接近 1，解得三组结果：</a:t>
              </a:r>
            </a:p>
          </p:txBody>
        </p:sp>
      </p:grpSp>
      <p:grpSp>
        <p:nvGrpSpPr>
          <p:cNvPr id="47" name="c1-table-2"/>
          <p:cNvGrpSpPr/>
          <p:nvPr/>
        </p:nvGrpSpPr>
        <p:grpSpPr>
          <a:xfrm>
            <a:off x="533400" y="3815715"/>
            <a:ext cx="5410200" cy="1600200"/>
            <a:chOff x="533400" y="3815715"/>
            <a:chExt cx="5410200" cy="1600200"/>
          </a:xfrm>
        </p:grpSpPr>
        <p:sp>
          <p:nvSpPr>
            <p:cNvPr id="16" name="Rectangle 16"/>
            <p:cNvSpPr/>
            <p:nvPr/>
          </p:nvSpPr>
          <p:spPr>
            <a:xfrm>
              <a:off x="533400" y="3815715"/>
              <a:ext cx="5410200" cy="400050"/>
            </a:xfrm>
            <a:prstGeom prst="rect">
              <a:avLst/>
            </a:prstGeom>
            <a:solidFill>
              <a:srgbClr val="0E7C86"/>
            </a:solidFill>
            <a:ln>
              <a:noFill/>
            </a:ln>
          </p:spPr>
        </p:sp>
        <p:sp>
          <p:nvSpPr>
            <p:cNvPr id="17" name="TextBox 17"/>
            <p:cNvSpPr txBox="1"/>
            <p:nvPr/>
          </p:nvSpPr>
          <p:spPr>
            <a:xfrm>
              <a:off x="863244" y="3937159"/>
              <a:ext cx="98502" cy="220028"/>
            </a:xfrm>
            <a:prstGeom prst="rect">
              <a:avLst/>
            </a:prstGeom>
            <a:noFill/>
            <a:ln>
              <a:noFill/>
            </a:ln>
          </p:spPr>
          <p:txBody>
            <a:bodyPr wrap="none" lIns="0" tIns="0" rIns="0" bIns="0" anchor="t" anchorCtr="0">
              <a:spAutoFit/>
            </a:bodyPr>
            <a:lstStyle/>
            <a:p>
              <a:pPr algn="ctr"/>
              <a:r>
                <a:rPr lang="el-GR" sz="1120" b="1" dirty="0">
                  <a:solidFill>
                    <a:srgbClr val="FFFFFF"/>
                  </a:solidFill>
                  <a:latin typeface="+mn-lt"/>
                  <a:ea typeface="+mn-ea"/>
                  <a:cs typeface="+mn-cs"/>
                </a:rPr>
                <a:t>ε</a:t>
              </a:r>
            </a:p>
          </p:txBody>
        </p:sp>
        <p:sp>
          <p:nvSpPr>
            <p:cNvPr id="18" name="TextBox 18"/>
            <p:cNvSpPr txBox="1"/>
            <p:nvPr/>
          </p:nvSpPr>
          <p:spPr>
            <a:xfrm>
              <a:off x="1658943" y="3937159"/>
              <a:ext cx="130165"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w</a:t>
              </a:r>
            </a:p>
          </p:txBody>
        </p:sp>
        <p:sp>
          <p:nvSpPr>
            <p:cNvPr id="19" name="TextBox 19"/>
            <p:cNvSpPr txBox="1"/>
            <p:nvPr/>
          </p:nvSpPr>
          <p:spPr>
            <a:xfrm>
              <a:off x="2539644" y="3937159"/>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b</a:t>
              </a:r>
            </a:p>
          </p:txBody>
        </p:sp>
        <p:sp>
          <p:nvSpPr>
            <p:cNvPr id="20" name="TextBox 20"/>
            <p:cNvSpPr txBox="1"/>
            <p:nvPr/>
          </p:nvSpPr>
          <p:spPr>
            <a:xfrm>
              <a:off x="3599661" y="3937159"/>
              <a:ext cx="359719"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f(x)</a:t>
              </a:r>
            </a:p>
          </p:txBody>
        </p:sp>
        <p:sp>
          <p:nvSpPr>
            <p:cNvPr id="21" name="TextBox 21"/>
            <p:cNvSpPr txBox="1"/>
            <p:nvPr/>
          </p:nvSpPr>
          <p:spPr>
            <a:xfrm>
              <a:off x="4933391" y="393715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支持向量</a:t>
              </a:r>
            </a:p>
          </p:txBody>
        </p:sp>
        <p:sp>
          <p:nvSpPr>
            <p:cNvPr id="22" name="TextBox 22"/>
            <p:cNvSpPr txBox="1"/>
            <p:nvPr/>
          </p:nvSpPr>
          <p:spPr>
            <a:xfrm>
              <a:off x="630555" y="4337209"/>
              <a:ext cx="985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0</a:t>
              </a:r>
            </a:p>
          </p:txBody>
        </p:sp>
        <p:sp>
          <p:nvSpPr>
            <p:cNvPr id="23" name="TextBox 23"/>
            <p:cNvSpPr txBox="1"/>
            <p:nvPr/>
          </p:nvSpPr>
          <p:spPr>
            <a:xfrm>
              <a:off x="1387793" y="4337209"/>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a:t>
              </a:r>
            </a:p>
          </p:txBody>
        </p:sp>
        <p:sp>
          <p:nvSpPr>
            <p:cNvPr id="24" name="TextBox 24"/>
            <p:cNvSpPr txBox="1"/>
            <p:nvPr/>
          </p:nvSpPr>
          <p:spPr>
            <a:xfrm>
              <a:off x="2253615" y="4337209"/>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25" name="TextBox 25"/>
            <p:cNvSpPr txBox="1"/>
            <p:nvPr/>
          </p:nvSpPr>
          <p:spPr>
            <a:xfrm>
              <a:off x="3119438" y="4337209"/>
              <a:ext cx="94356"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x</a:t>
              </a:r>
            </a:p>
          </p:txBody>
        </p:sp>
        <p:sp>
          <p:nvSpPr>
            <p:cNvPr id="26" name="TextBox 26"/>
            <p:cNvSpPr txBox="1"/>
            <p:nvPr/>
          </p:nvSpPr>
          <p:spPr>
            <a:xfrm>
              <a:off x="4633912" y="4337209"/>
              <a:ext cx="63714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全部 3 个</a:t>
              </a:r>
            </a:p>
          </p:txBody>
        </p:sp>
        <p:sp>
          <p:nvSpPr>
            <p:cNvPr id="27" name="Rectangle 27"/>
            <p:cNvSpPr/>
            <p:nvPr/>
          </p:nvSpPr>
          <p:spPr>
            <a:xfrm>
              <a:off x="533400" y="4611052"/>
              <a:ext cx="5410200" cy="9525"/>
            </a:xfrm>
            <a:prstGeom prst="rect">
              <a:avLst/>
            </a:prstGeom>
            <a:solidFill>
              <a:srgbClr val="D9DFEA"/>
            </a:solidFill>
            <a:ln>
              <a:noFill/>
            </a:ln>
          </p:spPr>
        </p:sp>
        <p:sp>
          <p:nvSpPr>
            <p:cNvPr id="28" name="Rectangle 28"/>
            <p:cNvSpPr/>
            <p:nvPr/>
          </p:nvSpPr>
          <p:spPr>
            <a:xfrm>
              <a:off x="533400" y="4615815"/>
              <a:ext cx="5410200" cy="400050"/>
            </a:xfrm>
            <a:prstGeom prst="rect">
              <a:avLst/>
            </a:prstGeom>
            <a:solidFill>
              <a:srgbClr val="F4F6FB"/>
            </a:solidFill>
            <a:ln>
              <a:noFill/>
            </a:ln>
          </p:spPr>
        </p:sp>
        <p:sp>
          <p:nvSpPr>
            <p:cNvPr id="29" name="TextBox 29"/>
            <p:cNvSpPr txBox="1"/>
            <p:nvPr/>
          </p:nvSpPr>
          <p:spPr>
            <a:xfrm>
              <a:off x="630555" y="4737259"/>
              <a:ext cx="27264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0.5</a:t>
              </a:r>
            </a:p>
          </p:txBody>
        </p:sp>
        <p:sp>
          <p:nvSpPr>
            <p:cNvPr id="30" name="Rectangle 30"/>
            <p:cNvSpPr/>
            <p:nvPr/>
          </p:nvSpPr>
          <p:spPr>
            <a:xfrm>
              <a:off x="1300162" y="4625340"/>
              <a:ext cx="846772" cy="381000"/>
            </a:xfrm>
            <a:prstGeom prst="rect">
              <a:avLst/>
            </a:prstGeom>
            <a:solidFill>
              <a:srgbClr val="FDEEE7"/>
            </a:solidFill>
            <a:ln>
              <a:noFill/>
            </a:ln>
          </p:spPr>
        </p:sp>
        <p:sp>
          <p:nvSpPr>
            <p:cNvPr id="31" name="TextBox 31"/>
            <p:cNvSpPr txBox="1"/>
            <p:nvPr/>
          </p:nvSpPr>
          <p:spPr>
            <a:xfrm>
              <a:off x="1387793" y="4737259"/>
              <a:ext cx="26020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0.5</a:t>
              </a:r>
            </a:p>
          </p:txBody>
        </p:sp>
        <p:sp>
          <p:nvSpPr>
            <p:cNvPr id="32" name="TextBox 32"/>
            <p:cNvSpPr txBox="1"/>
            <p:nvPr/>
          </p:nvSpPr>
          <p:spPr>
            <a:xfrm>
              <a:off x="2253615" y="4737259"/>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a:t>
              </a:r>
            </a:p>
          </p:txBody>
        </p:sp>
        <p:sp>
          <p:nvSpPr>
            <p:cNvPr id="33" name="TextBox 33"/>
            <p:cNvSpPr txBox="1"/>
            <p:nvPr/>
          </p:nvSpPr>
          <p:spPr>
            <a:xfrm>
              <a:off x="3119438" y="4737259"/>
              <a:ext cx="5994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0.5x + 1</a:t>
              </a:r>
            </a:p>
          </p:txBody>
        </p:sp>
        <p:sp>
          <p:nvSpPr>
            <p:cNvPr id="34" name="TextBox 34"/>
            <p:cNvSpPr txBox="1"/>
            <p:nvPr/>
          </p:nvSpPr>
          <p:spPr>
            <a:xfrm>
              <a:off x="4633912" y="4737259"/>
              <a:ext cx="561757"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x = 1, 3</a:t>
              </a:r>
            </a:p>
          </p:txBody>
        </p:sp>
        <p:sp>
          <p:nvSpPr>
            <p:cNvPr id="35" name="Rectangle 35"/>
            <p:cNvSpPr/>
            <p:nvPr/>
          </p:nvSpPr>
          <p:spPr>
            <a:xfrm>
              <a:off x="533400" y="5011102"/>
              <a:ext cx="5410200" cy="9525"/>
            </a:xfrm>
            <a:prstGeom prst="rect">
              <a:avLst/>
            </a:prstGeom>
            <a:solidFill>
              <a:srgbClr val="D9DFEA"/>
            </a:solidFill>
            <a:ln>
              <a:noFill/>
            </a:ln>
          </p:spPr>
        </p:sp>
        <p:sp>
          <p:nvSpPr>
            <p:cNvPr id="36" name="TextBox 36"/>
            <p:cNvSpPr txBox="1"/>
            <p:nvPr/>
          </p:nvSpPr>
          <p:spPr>
            <a:xfrm>
              <a:off x="630555" y="5137309"/>
              <a:ext cx="985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a:t>
              </a:r>
            </a:p>
          </p:txBody>
        </p:sp>
        <p:sp>
          <p:nvSpPr>
            <p:cNvPr id="37" name="Rectangle 37"/>
            <p:cNvSpPr/>
            <p:nvPr/>
          </p:nvSpPr>
          <p:spPr>
            <a:xfrm>
              <a:off x="1300162" y="5025390"/>
              <a:ext cx="846772" cy="381000"/>
            </a:xfrm>
            <a:prstGeom prst="rect">
              <a:avLst/>
            </a:prstGeom>
            <a:solidFill>
              <a:srgbClr val="FDECEA"/>
            </a:solidFill>
            <a:ln>
              <a:noFill/>
            </a:ln>
          </p:spPr>
        </p:sp>
        <p:sp>
          <p:nvSpPr>
            <p:cNvPr id="38" name="TextBox 38"/>
            <p:cNvSpPr txBox="1"/>
            <p:nvPr/>
          </p:nvSpPr>
          <p:spPr>
            <a:xfrm>
              <a:off x="1387793" y="5137309"/>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0</a:t>
              </a:r>
            </a:p>
          </p:txBody>
        </p:sp>
        <p:sp>
          <p:nvSpPr>
            <p:cNvPr id="39" name="TextBox 39"/>
            <p:cNvSpPr txBox="1"/>
            <p:nvPr/>
          </p:nvSpPr>
          <p:spPr>
            <a:xfrm>
              <a:off x="2253615" y="5137309"/>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2</a:t>
              </a:r>
            </a:p>
          </p:txBody>
        </p:sp>
        <p:sp>
          <p:nvSpPr>
            <p:cNvPr id="40" name="TextBox 40"/>
            <p:cNvSpPr txBox="1"/>
            <p:nvPr/>
          </p:nvSpPr>
          <p:spPr>
            <a:xfrm>
              <a:off x="3119438" y="5137309"/>
              <a:ext cx="69745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2（常数）</a:t>
              </a:r>
            </a:p>
          </p:txBody>
        </p:sp>
        <p:sp>
          <p:nvSpPr>
            <p:cNvPr id="41" name="TextBox 41"/>
            <p:cNvSpPr txBox="1"/>
            <p:nvPr/>
          </p:nvSpPr>
          <p:spPr>
            <a:xfrm>
              <a:off x="4633912" y="5137309"/>
              <a:ext cx="561757"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x = 1, 3</a:t>
              </a:r>
            </a:p>
          </p:txBody>
        </p:sp>
        <p:sp>
          <p:nvSpPr>
            <p:cNvPr id="42" name="Rectangle 42"/>
            <p:cNvSpPr/>
            <p:nvPr/>
          </p:nvSpPr>
          <p:spPr>
            <a:xfrm>
              <a:off x="533400" y="3815715"/>
              <a:ext cx="5410200" cy="1600200"/>
            </a:xfrm>
            <a:prstGeom prst="rect">
              <a:avLst/>
            </a:prstGeom>
            <a:noFill/>
            <a:ln w="14288">
              <a:solidFill>
                <a:srgbClr val="D9DFEA"/>
              </a:solidFill>
            </a:ln>
          </p:spPr>
        </p:sp>
        <p:sp>
          <p:nvSpPr>
            <p:cNvPr id="43" name="Rectangle 43"/>
            <p:cNvSpPr/>
            <p:nvPr/>
          </p:nvSpPr>
          <p:spPr>
            <a:xfrm>
              <a:off x="1285875" y="3815715"/>
              <a:ext cx="9525" cy="1600200"/>
            </a:xfrm>
            <a:prstGeom prst="rect">
              <a:avLst/>
            </a:prstGeom>
            <a:solidFill>
              <a:srgbClr val="D9DFEA"/>
            </a:solidFill>
            <a:ln>
              <a:noFill/>
            </a:ln>
          </p:spPr>
        </p:sp>
        <p:sp>
          <p:nvSpPr>
            <p:cNvPr id="44" name="Rectangle 44"/>
            <p:cNvSpPr/>
            <p:nvPr/>
          </p:nvSpPr>
          <p:spPr>
            <a:xfrm>
              <a:off x="2151698" y="3815715"/>
              <a:ext cx="9525" cy="1600200"/>
            </a:xfrm>
            <a:prstGeom prst="rect">
              <a:avLst/>
            </a:prstGeom>
            <a:solidFill>
              <a:srgbClr val="D9DFEA"/>
            </a:solidFill>
            <a:ln>
              <a:noFill/>
            </a:ln>
          </p:spPr>
        </p:sp>
        <p:sp>
          <p:nvSpPr>
            <p:cNvPr id="45" name="Rectangle 45"/>
            <p:cNvSpPr/>
            <p:nvPr/>
          </p:nvSpPr>
          <p:spPr>
            <a:xfrm>
              <a:off x="3017520" y="3815715"/>
              <a:ext cx="9525" cy="1600200"/>
            </a:xfrm>
            <a:prstGeom prst="rect">
              <a:avLst/>
            </a:prstGeom>
            <a:solidFill>
              <a:srgbClr val="D9DFEA"/>
            </a:solidFill>
            <a:ln>
              <a:noFill/>
            </a:ln>
          </p:spPr>
        </p:sp>
        <p:sp>
          <p:nvSpPr>
            <p:cNvPr id="46" name="Rectangle 46"/>
            <p:cNvSpPr/>
            <p:nvPr/>
          </p:nvSpPr>
          <p:spPr>
            <a:xfrm>
              <a:off x="4531995" y="3815715"/>
              <a:ext cx="9525" cy="1600200"/>
            </a:xfrm>
            <a:prstGeom prst="rect">
              <a:avLst/>
            </a:prstGeom>
            <a:solidFill>
              <a:srgbClr val="D9DFEA"/>
            </a:solidFill>
            <a:ln>
              <a:noFill/>
            </a:ln>
          </p:spPr>
        </p:sp>
      </p:grpSp>
      <p:grpSp>
        <p:nvGrpSpPr>
          <p:cNvPr id="53" name="c1-callout-3"/>
          <p:cNvGrpSpPr/>
          <p:nvPr/>
        </p:nvGrpSpPr>
        <p:grpSpPr>
          <a:xfrm>
            <a:off x="533400" y="5585460"/>
            <a:ext cx="5410200" cy="729615"/>
            <a:chOff x="533400" y="5585460"/>
            <a:chExt cx="5410200" cy="729615"/>
          </a:xfrm>
        </p:grpSpPr>
        <p:sp>
          <p:nvSpPr>
            <p:cNvPr id="48" name="Rectangle 48"/>
            <p:cNvSpPr/>
            <p:nvPr/>
          </p:nvSpPr>
          <p:spPr>
            <a:xfrm>
              <a:off x="533400" y="5585460"/>
              <a:ext cx="5410200" cy="729615"/>
            </a:xfrm>
            <a:prstGeom prst="roundRect">
              <a:avLst>
                <a:gd name="adj" fmla="val 15666"/>
              </a:avLst>
            </a:prstGeom>
            <a:solidFill>
              <a:srgbClr val="0E7C86"/>
            </a:solidFill>
            <a:ln>
              <a:noFill/>
            </a:ln>
          </p:spPr>
        </p:sp>
        <p:grpSp>
          <p:nvGrpSpPr>
            <p:cNvPr id="51" name="Group 51"/>
            <p:cNvGrpSpPr/>
            <p:nvPr/>
          </p:nvGrpSpPr>
          <p:grpSpPr>
            <a:xfrm>
              <a:off x="738188" y="5850257"/>
              <a:ext cx="200023" cy="200023"/>
              <a:chOff x="738188" y="5850257"/>
              <a:chExt cx="200023" cy="200023"/>
            </a:xfrm>
          </p:grpSpPr>
          <p:sp>
            <p:nvSpPr>
              <p:cNvPr id="49" name="Freeform 49"/>
              <p:cNvSpPr/>
              <p:nvPr/>
            </p:nvSpPr>
            <p:spPr>
              <a:xfrm>
                <a:off x="738188" y="585025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0" name="Freeform 50"/>
              <p:cNvSpPr/>
              <p:nvPr/>
            </p:nvSpPr>
            <p:spPr>
              <a:xfrm>
                <a:off x="871538" y="591693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2" name="TextBox 52"/>
            <p:cNvSpPr txBox="1"/>
            <p:nvPr/>
          </p:nvSpPr>
          <p:spPr>
            <a:xfrm>
              <a:off x="1040892" y="5731192"/>
              <a:ext cx="433425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ε 越大，带越宽，能装下的“平坦”函数越多，最优的 ||w||</a:t>
              </a:r>
              <a:br/>
              <a:r>
                <a:rPr lang="zh-CN" sz="1350" dirty="0">
                  <a:solidFill>
                    <a:srgbClr val="FFFFFF"/>
                  </a:solidFill>
                  <a:latin typeface="+mn-lt"/>
                  <a:ea typeface="+mn-ea"/>
                  <a:cs typeface="+mn-cs"/>
                </a:rPr>
                <a:t>就越小。ε = 1 时直接退化成一条水平线。</a:t>
              </a:r>
            </a:p>
          </p:txBody>
        </p:sp>
      </p:grpSp>
      <p:grpSp>
        <p:nvGrpSpPr>
          <p:cNvPr id="62" name="c2-card-1"/>
          <p:cNvGrpSpPr/>
          <p:nvPr/>
        </p:nvGrpSpPr>
        <p:grpSpPr>
          <a:xfrm>
            <a:off x="6248400" y="1928812"/>
            <a:ext cx="5410200" cy="1970722"/>
            <a:chOff x="6248400" y="1928812"/>
            <a:chExt cx="5410200" cy="1970722"/>
          </a:xfrm>
        </p:grpSpPr>
        <p:sp>
          <p:nvSpPr>
            <p:cNvPr id="54" name="Rectangle 54"/>
            <p:cNvSpPr/>
            <p:nvPr/>
          </p:nvSpPr>
          <p:spPr>
            <a:xfrm>
              <a:off x="6248400" y="1928812"/>
              <a:ext cx="5410200" cy="1970722"/>
            </a:xfrm>
            <a:prstGeom prst="roundRect">
              <a:avLst>
                <a:gd name="adj" fmla="val 6767"/>
              </a:avLst>
            </a:prstGeom>
            <a:solidFill>
              <a:srgbClr val="FFFFFF"/>
            </a:solidFill>
            <a:ln w="14288">
              <a:solidFill>
                <a:srgbClr val="D9DFEA"/>
              </a:solidFill>
            </a:ln>
          </p:spPr>
        </p:sp>
        <p:sp>
          <p:nvSpPr>
            <p:cNvPr id="55" name="Rectangle 55"/>
            <p:cNvSpPr/>
            <p:nvPr/>
          </p:nvSpPr>
          <p:spPr>
            <a:xfrm>
              <a:off x="6257925" y="2062162"/>
              <a:ext cx="47625" cy="1704022"/>
            </a:xfrm>
            <a:prstGeom prst="roundRect">
              <a:avLst>
                <a:gd name="adj" fmla="val 50000"/>
              </a:avLst>
            </a:prstGeom>
            <a:solidFill>
              <a:srgbClr val="14A38B"/>
            </a:solidFill>
            <a:ln>
              <a:noFill/>
            </a:ln>
          </p:spPr>
        </p:sp>
        <p:sp>
          <p:nvSpPr>
            <p:cNvPr id="56" name="Rectangle 56"/>
            <p:cNvSpPr/>
            <p:nvPr/>
          </p:nvSpPr>
          <p:spPr>
            <a:xfrm>
              <a:off x="6473190" y="2115502"/>
              <a:ext cx="458152" cy="238125"/>
            </a:xfrm>
            <a:prstGeom prst="roundRect">
              <a:avLst>
                <a:gd name="adj" fmla="val 50000"/>
              </a:avLst>
            </a:prstGeom>
            <a:solidFill>
              <a:srgbClr val="E3F5F1"/>
            </a:solidFill>
            <a:ln>
              <a:noFill/>
            </a:ln>
          </p:spPr>
        </p:sp>
        <p:sp>
          <p:nvSpPr>
            <p:cNvPr id="57" name="TextBox 57"/>
            <p:cNvSpPr txBox="1"/>
            <p:nvPr/>
          </p:nvSpPr>
          <p:spPr>
            <a:xfrm>
              <a:off x="6565862" y="2148364"/>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复核</a:t>
              </a:r>
            </a:p>
          </p:txBody>
        </p:sp>
        <p:sp>
          <p:nvSpPr>
            <p:cNvPr id="58" name="TextBox 58"/>
            <p:cNvSpPr txBox="1"/>
            <p:nvPr/>
          </p:nvSpPr>
          <p:spPr>
            <a:xfrm>
              <a:off x="7038784" y="2150745"/>
              <a:ext cx="198238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ε = 0.5 的解逐点验一遍</a:t>
              </a:r>
            </a:p>
          </p:txBody>
        </p:sp>
        <p:sp>
          <p:nvSpPr>
            <p:cNvPr id="59" name="TextBox 59"/>
            <p:cNvSpPr txBox="1"/>
            <p:nvPr/>
          </p:nvSpPr>
          <p:spPr>
            <a:xfrm>
              <a:off x="6466332" y="2476500"/>
              <a:ext cx="4651010"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f(x) = 0.5x + 1 三点的残差分别是 </a:t>
              </a:r>
              <a:r>
                <a:rPr lang="zh-CN" sz="1350" b="1" dirty="0">
                  <a:solidFill>
                    <a:srgbClr val="C2410C"/>
                  </a:solidFill>
                  <a:latin typeface="+mn-lt"/>
                  <a:ea typeface="+mn-ea"/>
                  <a:cs typeface="+mn-cs"/>
                </a:rPr>
                <a:t>−0.5</a:t>
              </a:r>
              <a:r>
                <a:rPr lang="zh-CN" sz="1350" dirty="0">
                  <a:solidFill>
                    <a:srgbClr val="1F2937"/>
                  </a:solidFill>
                  <a:latin typeface="+mn-lt"/>
                  <a:ea typeface="+mn-ea"/>
                  <a:cs typeface="+mn-cs"/>
                </a:rPr>
                <a:t>、</a:t>
              </a:r>
              <a:r>
                <a:rPr lang="zh-CN" sz="1350" b="1" dirty="0">
                  <a:solidFill>
                    <a:srgbClr val="C2410C"/>
                  </a:solidFill>
                  <a:latin typeface="+mn-lt"/>
                  <a:ea typeface="+mn-ea"/>
                  <a:cs typeface="+mn-cs"/>
                </a:rPr>
                <a:t>0</a:t>
              </a:r>
              <a:r>
                <a:rPr lang="zh-CN" sz="1350" dirty="0">
                  <a:solidFill>
                    <a:srgbClr val="1F2937"/>
                  </a:solidFill>
                  <a:latin typeface="+mn-lt"/>
                  <a:ea typeface="+mn-ea"/>
                  <a:cs typeface="+mn-cs"/>
                </a:rPr>
                <a:t>、</a:t>
              </a:r>
              <a:r>
                <a:rPr lang="zh-CN" sz="1350" b="1" dirty="0">
                  <a:solidFill>
                    <a:srgbClr val="C2410C"/>
                  </a:solidFill>
                  <a:latin typeface="+mn-lt"/>
                  <a:ea typeface="+mn-ea"/>
                  <a:cs typeface="+mn-cs"/>
                </a:rPr>
                <a:t>+0.5</a:t>
              </a:r>
              <a:r>
                <a:rPr lang="zh-CN" sz="1350" dirty="0">
                  <a:solidFill>
                    <a:srgbClr val="1F2937"/>
                  </a:solidFill>
                  <a:latin typeface="+mn-lt"/>
                  <a:ea typeface="+mn-ea"/>
                  <a:cs typeface="+mn-cs"/>
                </a:rPr>
                <a:t>，绝对值</a:t>
              </a:r>
              <a:br/>
              <a:r>
                <a:rPr lang="zh-CN" sz="1350" dirty="0">
                  <a:solidFill>
                    <a:srgbClr val="1F2937"/>
                  </a:solidFill>
                  <a:latin typeface="+mn-lt"/>
                  <a:ea typeface="+mn-ea"/>
                  <a:cs typeface="+mn-cs"/>
                </a:rPr>
                <a:t>都不超过 ε = 0.5，可行。</a:t>
              </a:r>
            </a:p>
          </p:txBody>
        </p:sp>
        <p:sp>
          <p:nvSpPr>
            <p:cNvPr id="60" name="TextBox 60"/>
            <p:cNvSpPr txBox="1"/>
            <p:nvPr/>
          </p:nvSpPr>
          <p:spPr>
            <a:xfrm>
              <a:off x="6466332" y="3033712"/>
              <a:ext cx="400284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x = 1 与 x = 3 取等号，是支持向量；x = 2 不是。</a:t>
              </a:r>
            </a:p>
          </p:txBody>
        </p:sp>
        <p:sp>
          <p:nvSpPr>
            <p:cNvPr id="61" name="TextBox 61"/>
            <p:cNvSpPr txBox="1"/>
            <p:nvPr/>
          </p:nvSpPr>
          <p:spPr>
            <a:xfrm>
              <a:off x="6467475" y="3330416"/>
              <a:ext cx="4726686"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若把 w 往 1 挪一点，x = 1 处残差就超过 0.5，不再可行，所以 w = 0.5 已</a:t>
              </a:r>
              <a:br/>
              <a:r>
                <a:rPr lang="zh-CN" sz="1120" dirty="0">
                  <a:solidFill>
                    <a:srgbClr val="5B6475"/>
                  </a:solidFill>
                  <a:latin typeface="+mn-lt"/>
                  <a:ea typeface="+mn-ea"/>
                  <a:cs typeface="+mn-cs"/>
                </a:rPr>
                <a:t>是最小。</a:t>
              </a:r>
            </a:p>
          </p:txBody>
        </p:sp>
      </p:grpSp>
      <p:grpSp>
        <p:nvGrpSpPr>
          <p:cNvPr id="73" name="c2-card-2"/>
          <p:cNvGrpSpPr/>
          <p:nvPr/>
        </p:nvGrpSpPr>
        <p:grpSpPr>
          <a:xfrm>
            <a:off x="6248400" y="4070032"/>
            <a:ext cx="5410200" cy="2245042"/>
            <a:chOff x="6248400" y="4070032"/>
            <a:chExt cx="5410200" cy="2245042"/>
          </a:xfrm>
        </p:grpSpPr>
        <p:sp>
          <p:nvSpPr>
            <p:cNvPr id="63" name="Rectangle 63"/>
            <p:cNvSpPr/>
            <p:nvPr/>
          </p:nvSpPr>
          <p:spPr>
            <a:xfrm>
              <a:off x="6248400" y="4070032"/>
              <a:ext cx="5410200" cy="2245042"/>
            </a:xfrm>
            <a:prstGeom prst="roundRect">
              <a:avLst>
                <a:gd name="adj" fmla="val 5940"/>
              </a:avLst>
            </a:prstGeom>
            <a:solidFill>
              <a:srgbClr val="FFFFFF"/>
            </a:solidFill>
            <a:ln w="14288">
              <a:solidFill>
                <a:srgbClr val="D9DFEA"/>
              </a:solidFill>
            </a:ln>
          </p:spPr>
        </p:sp>
        <p:sp>
          <p:nvSpPr>
            <p:cNvPr id="64" name="Rectangle 64"/>
            <p:cNvSpPr/>
            <p:nvPr/>
          </p:nvSpPr>
          <p:spPr>
            <a:xfrm>
              <a:off x="6257925" y="4203382"/>
              <a:ext cx="47625" cy="1978342"/>
            </a:xfrm>
            <a:prstGeom prst="roundRect">
              <a:avLst>
                <a:gd name="adj" fmla="val 50000"/>
              </a:avLst>
            </a:prstGeom>
            <a:solidFill>
              <a:srgbClr val="B42318"/>
            </a:solidFill>
            <a:ln>
              <a:noFill/>
            </a:ln>
          </p:spPr>
        </p:sp>
        <p:sp>
          <p:nvSpPr>
            <p:cNvPr id="65" name="Rectangle 65"/>
            <p:cNvSpPr/>
            <p:nvPr/>
          </p:nvSpPr>
          <p:spPr>
            <a:xfrm>
              <a:off x="6473190" y="4256722"/>
              <a:ext cx="582930" cy="238125"/>
            </a:xfrm>
            <a:prstGeom prst="roundRect">
              <a:avLst>
                <a:gd name="adj" fmla="val 50000"/>
              </a:avLst>
            </a:prstGeom>
            <a:solidFill>
              <a:srgbClr val="FDECEA"/>
            </a:solidFill>
            <a:ln>
              <a:noFill/>
            </a:ln>
          </p:spPr>
        </p:sp>
        <p:sp>
          <p:nvSpPr>
            <p:cNvPr id="66" name="TextBox 66"/>
            <p:cNvSpPr txBox="1"/>
            <p:nvPr/>
          </p:nvSpPr>
          <p:spPr>
            <a:xfrm>
              <a:off x="6561811" y="4289584"/>
              <a:ext cx="405689"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易错点</a:t>
              </a:r>
            </a:p>
          </p:txBody>
        </p:sp>
        <p:sp>
          <p:nvSpPr>
            <p:cNvPr id="67" name="TextBox 67"/>
            <p:cNvSpPr txBox="1"/>
            <p:nvPr/>
          </p:nvSpPr>
          <p:spPr>
            <a:xfrm>
              <a:off x="7163562" y="4291965"/>
              <a:ext cx="167994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ε 和 C 管的是两件事</a:t>
              </a:r>
            </a:p>
          </p:txBody>
        </p:sp>
        <p:sp>
          <p:nvSpPr>
            <p:cNvPr id="68" name="Ellipse 68"/>
            <p:cNvSpPr/>
            <p:nvPr/>
          </p:nvSpPr>
          <p:spPr>
            <a:xfrm>
              <a:off x="6481762" y="4673918"/>
              <a:ext cx="59055" cy="59055"/>
            </a:xfrm>
            <a:prstGeom prst="ellipse">
              <a:avLst/>
            </a:prstGeom>
            <a:solidFill>
              <a:srgbClr val="0E7C86"/>
            </a:solidFill>
            <a:ln>
              <a:noFill/>
            </a:ln>
          </p:spPr>
        </p:sp>
        <p:sp>
          <p:nvSpPr>
            <p:cNvPr id="69" name="TextBox 69"/>
            <p:cNvSpPr txBox="1"/>
            <p:nvPr/>
          </p:nvSpPr>
          <p:spPr>
            <a:xfrm>
              <a:off x="6637782" y="4617720"/>
              <a:ext cx="4641580"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C2410C"/>
                  </a:solidFill>
                  <a:latin typeface="+mn-lt"/>
                  <a:ea typeface="+mn-ea"/>
                  <a:cs typeface="+mn-cs"/>
                </a:rPr>
                <a:t>ε 管带宽</a:t>
              </a:r>
              <a:r>
                <a:rPr lang="zh-CN" sz="1350" dirty="0">
                  <a:solidFill>
                    <a:srgbClr val="1F2937"/>
                  </a:solidFill>
                  <a:latin typeface="+mn-lt"/>
                  <a:ea typeface="+mn-ea"/>
                  <a:cs typeface="+mn-cs"/>
                </a:rPr>
                <a:t>：决定多少点被判为“没误差”，影响支持向量个数与</a:t>
              </a:r>
              <a:br/>
              <a:r>
                <a:rPr lang="zh-CN" sz="1350" dirty="0">
                  <a:solidFill>
                    <a:srgbClr val="1F2937"/>
                  </a:solidFill>
                  <a:latin typeface="+mn-lt"/>
                  <a:ea typeface="+mn-ea"/>
                  <a:cs typeface="+mn-cs"/>
                </a:rPr>
                <a:t>稀疏度</a:t>
              </a:r>
            </a:p>
          </p:txBody>
        </p:sp>
        <p:sp>
          <p:nvSpPr>
            <p:cNvPr id="70" name="Ellipse 70"/>
            <p:cNvSpPr/>
            <p:nvPr/>
          </p:nvSpPr>
          <p:spPr>
            <a:xfrm>
              <a:off x="6481762" y="5231130"/>
              <a:ext cx="59055" cy="59055"/>
            </a:xfrm>
            <a:prstGeom prst="ellipse">
              <a:avLst/>
            </a:prstGeom>
            <a:solidFill>
              <a:srgbClr val="0E7C86"/>
            </a:solidFill>
            <a:ln>
              <a:noFill/>
            </a:ln>
          </p:spPr>
        </p:sp>
        <p:sp>
          <p:nvSpPr>
            <p:cNvPr id="71" name="TextBox 71"/>
            <p:cNvSpPr txBox="1"/>
            <p:nvPr/>
          </p:nvSpPr>
          <p:spPr>
            <a:xfrm>
              <a:off x="6637782" y="5174933"/>
              <a:ext cx="3274626"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C 管带外惩罚</a:t>
              </a:r>
              <a:r>
                <a:rPr lang="zh-CN" sz="1350" dirty="0">
                  <a:solidFill>
                    <a:srgbClr val="1F2937"/>
                  </a:solidFill>
                  <a:latin typeface="+mn-lt"/>
                  <a:ea typeface="+mn-ea"/>
                  <a:cs typeface="+mn-cs"/>
                </a:rPr>
                <a:t>：决定对越界点的容忍程度</a:t>
              </a:r>
            </a:p>
          </p:txBody>
        </p:sp>
        <p:sp>
          <p:nvSpPr>
            <p:cNvPr id="72" name="TextBox 72"/>
            <p:cNvSpPr txBox="1"/>
            <p:nvPr/>
          </p:nvSpPr>
          <p:spPr>
            <a:xfrm>
              <a:off x="6467475" y="5471636"/>
              <a:ext cx="3456625"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ε 取得比噪声水平大一点，能把噪声整个吞进带里。</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932916" cy="909257"/>
            <a:chOff x="520446" y="342900"/>
            <a:chExt cx="5932916"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593291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多类问题：把 k 类拆成若干个两类问题</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9" name="c1-card-1"/>
          <p:cNvGrpSpPr/>
          <p:nvPr/>
        </p:nvGrpSpPr>
        <p:grpSpPr>
          <a:xfrm>
            <a:off x="533400" y="1524000"/>
            <a:ext cx="5410200" cy="2015490"/>
            <a:chOff x="533400" y="1524000"/>
            <a:chExt cx="5410200" cy="2015490"/>
          </a:xfrm>
        </p:grpSpPr>
        <p:sp>
          <p:nvSpPr>
            <p:cNvPr id="7" name="Rectangle 7"/>
            <p:cNvSpPr/>
            <p:nvPr/>
          </p:nvSpPr>
          <p:spPr>
            <a:xfrm>
              <a:off x="533400" y="1524000"/>
              <a:ext cx="5410200" cy="2015490"/>
            </a:xfrm>
            <a:prstGeom prst="roundRect">
              <a:avLst>
                <a:gd name="adj" fmla="val 6616"/>
              </a:avLst>
            </a:prstGeom>
            <a:solidFill>
              <a:srgbClr val="FFFFFF"/>
            </a:solidFill>
            <a:ln w="14288">
              <a:solidFill>
                <a:srgbClr val="D9DFEA"/>
              </a:solidFill>
            </a:ln>
          </p:spPr>
        </p:sp>
        <p:sp>
          <p:nvSpPr>
            <p:cNvPr id="8" name="Rectangle 8"/>
            <p:cNvSpPr/>
            <p:nvPr/>
          </p:nvSpPr>
          <p:spPr>
            <a:xfrm>
              <a:off x="542925" y="1657350"/>
              <a:ext cx="47625" cy="1748790"/>
            </a:xfrm>
            <a:prstGeom prst="roundRect">
              <a:avLst>
                <a:gd name="adj" fmla="val 50000"/>
              </a:avLst>
            </a:prstGeom>
            <a:solidFill>
              <a:srgbClr val="0E7C86"/>
            </a:solidFill>
            <a:ln>
              <a:noFill/>
            </a:ln>
          </p:spPr>
        </p:sp>
        <p:sp>
          <p:nvSpPr>
            <p:cNvPr id="9" name="Rectangle 9"/>
            <p:cNvSpPr/>
            <p:nvPr/>
          </p:nvSpPr>
          <p:spPr>
            <a:xfrm>
              <a:off x="752475" y="1704975"/>
              <a:ext cx="582930" cy="238125"/>
            </a:xfrm>
            <a:prstGeom prst="roundRect">
              <a:avLst>
                <a:gd name="adj" fmla="val 50000"/>
              </a:avLst>
            </a:prstGeom>
            <a:solidFill>
              <a:srgbClr val="E2F3F4"/>
            </a:solidFill>
            <a:ln>
              <a:noFill/>
            </a:ln>
          </p:spPr>
        </p:sp>
        <p:sp>
          <p:nvSpPr>
            <p:cNvPr id="10" name="TextBox 10"/>
            <p:cNvSpPr txBox="1"/>
            <p:nvPr/>
          </p:nvSpPr>
          <p:spPr>
            <a:xfrm>
              <a:off x="841096" y="1737836"/>
              <a:ext cx="40568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方法一</a:t>
              </a:r>
            </a:p>
          </p:txBody>
        </p:sp>
        <p:sp>
          <p:nvSpPr>
            <p:cNvPr id="11" name="TextBox 11"/>
            <p:cNvSpPr txBox="1"/>
            <p:nvPr/>
          </p:nvSpPr>
          <p:spPr>
            <a:xfrm>
              <a:off x="1443228" y="1744504"/>
              <a:ext cx="195148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one-vs-all（一对其余）</a:t>
              </a:r>
            </a:p>
          </p:txBody>
        </p:sp>
        <p:sp>
          <p:nvSpPr>
            <p:cNvPr id="12" name="TextBox 12"/>
            <p:cNvSpPr txBox="1"/>
            <p:nvPr/>
          </p:nvSpPr>
          <p:spPr>
            <a:xfrm>
              <a:off x="745998" y="2061686"/>
              <a:ext cx="4715408"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把 k 类问题转化为 </a:t>
              </a:r>
              <a:r>
                <a:rPr lang="en-US" sz="1280" b="1" dirty="0">
                  <a:solidFill>
                    <a:srgbClr val="C2410C"/>
                  </a:solidFill>
                  <a:latin typeface="+mn-lt"/>
                  <a:ea typeface="+mn-ea"/>
                  <a:cs typeface="+mn-cs"/>
                </a:rPr>
                <a:t>k</a:t>
              </a:r>
              <a:r>
                <a:rPr lang="zh-CN" sz="1280" dirty="0">
                  <a:solidFill>
                    <a:srgbClr val="1F2937"/>
                  </a:solidFill>
                  <a:latin typeface="+mn-lt"/>
                  <a:ea typeface="+mn-ea"/>
                  <a:cs typeface="+mn-cs"/>
                </a:rPr>
                <a:t xml:space="preserve"> 个两类问题，第 i 个问题把属于 Cᵢ 类和不属</a:t>
              </a:r>
              <a:br/>
              <a:r>
                <a:rPr lang="zh-CN" sz="1280" dirty="0">
                  <a:solidFill>
                    <a:srgbClr val="1F2937"/>
                  </a:solidFill>
                  <a:latin typeface="+mn-lt"/>
                  <a:ea typeface="+mn-ea"/>
                  <a:cs typeface="+mn-cs"/>
                </a:rPr>
                <a:t>于 Cᵢ 类的模式区分开。判别时取 gᵢ(x) 值最大的那一类。</a:t>
              </a:r>
            </a:p>
          </p:txBody>
        </p:sp>
        <p:sp>
          <p:nvSpPr>
            <p:cNvPr id="13" name="Ellipse 13"/>
            <p:cNvSpPr/>
            <p:nvPr/>
          </p:nvSpPr>
          <p:spPr>
            <a:xfrm>
              <a:off x="762000" y="2641282"/>
              <a:ext cx="57150" cy="57150"/>
            </a:xfrm>
            <a:prstGeom prst="ellipse">
              <a:avLst/>
            </a:prstGeom>
            <a:solidFill>
              <a:srgbClr val="0E7C86"/>
            </a:solidFill>
            <a:ln>
              <a:noFill/>
            </a:ln>
          </p:spPr>
        </p:sp>
        <p:sp>
          <p:nvSpPr>
            <p:cNvPr id="14" name="TextBox 14"/>
            <p:cNvSpPr txBox="1"/>
            <p:nvPr/>
          </p:nvSpPr>
          <p:spPr>
            <a:xfrm>
              <a:off x="917448" y="2589371"/>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每个分类器都用全部样本训练</a:t>
              </a:r>
            </a:p>
          </p:txBody>
        </p:sp>
        <p:sp>
          <p:nvSpPr>
            <p:cNvPr id="15" name="Ellipse 15"/>
            <p:cNvSpPr/>
            <p:nvPr/>
          </p:nvSpPr>
          <p:spPr>
            <a:xfrm>
              <a:off x="762000" y="2927032"/>
              <a:ext cx="57150" cy="57150"/>
            </a:xfrm>
            <a:prstGeom prst="ellipse">
              <a:avLst/>
            </a:prstGeom>
            <a:solidFill>
              <a:srgbClr val="0E7C86"/>
            </a:solidFill>
            <a:ln>
              <a:noFill/>
            </a:ln>
          </p:spPr>
        </p:sp>
        <p:sp>
          <p:nvSpPr>
            <p:cNvPr id="16" name="TextBox 16"/>
            <p:cNvSpPr txBox="1"/>
            <p:nvPr/>
          </p:nvSpPr>
          <p:spPr>
            <a:xfrm>
              <a:off x="917448" y="2874169"/>
              <a:ext cx="317490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正负样本悬殊（1 : k−1），容易偏向负类</a:t>
              </a:r>
            </a:p>
          </p:txBody>
        </p:sp>
        <p:sp>
          <p:nvSpPr>
            <p:cNvPr id="17" name="Ellipse 17"/>
            <p:cNvSpPr/>
            <p:nvPr/>
          </p:nvSpPr>
          <p:spPr>
            <a:xfrm>
              <a:off x="762000" y="3211830"/>
              <a:ext cx="57150" cy="57150"/>
            </a:xfrm>
            <a:prstGeom prst="ellipse">
              <a:avLst/>
            </a:prstGeom>
            <a:solidFill>
              <a:srgbClr val="0E7C86"/>
            </a:solidFill>
            <a:ln>
              <a:noFill/>
            </a:ln>
          </p:spPr>
        </p:sp>
        <p:sp>
          <p:nvSpPr>
            <p:cNvPr id="18" name="TextBox 18"/>
            <p:cNvSpPr txBox="1"/>
            <p:nvPr/>
          </p:nvSpPr>
          <p:spPr>
            <a:xfrm>
              <a:off x="917448" y="3158966"/>
              <a:ext cx="30025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可能出现所有 gᵢ(x) 都为负的拒识区域</a:t>
              </a:r>
            </a:p>
          </p:txBody>
        </p:sp>
      </p:grpSp>
      <p:grpSp>
        <p:nvGrpSpPr>
          <p:cNvPr id="30" name="c1-card-2"/>
          <p:cNvGrpSpPr/>
          <p:nvPr/>
        </p:nvGrpSpPr>
        <p:grpSpPr>
          <a:xfrm>
            <a:off x="533400" y="3704272"/>
            <a:ext cx="5410200" cy="1973580"/>
            <a:chOff x="533400" y="3704272"/>
            <a:chExt cx="5410200" cy="1973580"/>
          </a:xfrm>
        </p:grpSpPr>
        <p:sp>
          <p:nvSpPr>
            <p:cNvPr id="20" name="Rectangle 20"/>
            <p:cNvSpPr/>
            <p:nvPr/>
          </p:nvSpPr>
          <p:spPr>
            <a:xfrm>
              <a:off x="533400" y="3704272"/>
              <a:ext cx="5410200" cy="1973580"/>
            </a:xfrm>
            <a:prstGeom prst="roundRect">
              <a:avLst>
                <a:gd name="adj" fmla="val 6757"/>
              </a:avLst>
            </a:prstGeom>
            <a:solidFill>
              <a:srgbClr val="FFFFFF"/>
            </a:solidFill>
            <a:ln w="14288">
              <a:solidFill>
                <a:srgbClr val="D9DFEA"/>
              </a:solidFill>
            </a:ln>
          </p:spPr>
        </p:sp>
        <p:sp>
          <p:nvSpPr>
            <p:cNvPr id="21" name="Rectangle 21"/>
            <p:cNvSpPr/>
            <p:nvPr/>
          </p:nvSpPr>
          <p:spPr>
            <a:xfrm>
              <a:off x="542925" y="3837622"/>
              <a:ext cx="47625" cy="1706880"/>
            </a:xfrm>
            <a:prstGeom prst="roundRect">
              <a:avLst>
                <a:gd name="adj" fmla="val 50000"/>
              </a:avLst>
            </a:prstGeom>
            <a:solidFill>
              <a:srgbClr val="0E7C86"/>
            </a:solidFill>
            <a:ln>
              <a:noFill/>
            </a:ln>
          </p:spPr>
        </p:sp>
        <p:sp>
          <p:nvSpPr>
            <p:cNvPr id="22" name="Rectangle 22"/>
            <p:cNvSpPr/>
            <p:nvPr/>
          </p:nvSpPr>
          <p:spPr>
            <a:xfrm>
              <a:off x="752475" y="3885248"/>
              <a:ext cx="582930" cy="238125"/>
            </a:xfrm>
            <a:prstGeom prst="roundRect">
              <a:avLst>
                <a:gd name="adj" fmla="val 50000"/>
              </a:avLst>
            </a:prstGeom>
            <a:solidFill>
              <a:srgbClr val="E2F3F4"/>
            </a:solidFill>
            <a:ln>
              <a:noFill/>
            </a:ln>
          </p:spPr>
        </p:sp>
        <p:sp>
          <p:nvSpPr>
            <p:cNvPr id="23" name="TextBox 23"/>
            <p:cNvSpPr txBox="1"/>
            <p:nvPr/>
          </p:nvSpPr>
          <p:spPr>
            <a:xfrm>
              <a:off x="841096" y="3918109"/>
              <a:ext cx="405689" cy="190690"/>
            </a:xfrm>
            <a:prstGeom prst="rect">
              <a:avLst/>
            </a:prstGeom>
            <a:noFill/>
            <a:ln>
              <a:noFill/>
            </a:ln>
          </p:spPr>
          <p:txBody>
            <a:bodyPr wrap="none" lIns="0" tIns="0" rIns="0" bIns="0" anchor="t" anchorCtr="0">
              <a:spAutoFit/>
            </a:bodyPr>
            <a:lstStyle/>
            <a:p>
              <a:pPr algn="ctr"/>
              <a:r>
                <a:rPr lang="zh-CN" sz="980" b="1" dirty="0">
                  <a:solidFill>
                    <a:srgbClr val="0E7C86"/>
                  </a:solidFill>
                  <a:latin typeface="+mn-lt"/>
                  <a:ea typeface="+mn-ea"/>
                  <a:cs typeface="+mn-cs"/>
                </a:rPr>
                <a:t>方法二</a:t>
              </a:r>
            </a:p>
          </p:txBody>
        </p:sp>
        <p:sp>
          <p:nvSpPr>
            <p:cNvPr id="24" name="TextBox 24"/>
            <p:cNvSpPr txBox="1"/>
            <p:nvPr/>
          </p:nvSpPr>
          <p:spPr>
            <a:xfrm>
              <a:off x="1443228" y="3924776"/>
              <a:ext cx="186963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one-vs-one（一对一）</a:t>
              </a:r>
            </a:p>
          </p:txBody>
        </p:sp>
        <p:sp>
          <p:nvSpPr>
            <p:cNvPr id="25" name="TextBox 25"/>
            <p:cNvSpPr txBox="1"/>
            <p:nvPr/>
          </p:nvSpPr>
          <p:spPr>
            <a:xfrm>
              <a:off x="745998" y="4241006"/>
              <a:ext cx="4762957"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训练 </a:t>
              </a:r>
              <a:r>
                <a:rPr lang="en-US" sz="1280" b="1" dirty="0">
                  <a:solidFill>
                    <a:srgbClr val="C2410C"/>
                  </a:solidFill>
                  <a:latin typeface="+mn-lt"/>
                  <a:ea typeface="+mn-ea"/>
                  <a:cs typeface="+mn-cs"/>
                </a:rPr>
                <a:t>k(k−1)/2</a:t>
              </a:r>
              <a:r>
                <a:rPr lang="zh-CN" sz="1280" dirty="0">
                  <a:solidFill>
                    <a:srgbClr val="1F2937"/>
                  </a:solidFill>
                  <a:latin typeface="+mn-lt"/>
                  <a:ea typeface="+mn-ea"/>
                  <a:cs typeface="+mn-cs"/>
                </a:rPr>
                <a:t xml:space="preserve"> 个分类器，每个只用两类的样本，采用委员会投票</a:t>
              </a:r>
              <a:br/>
              <a:r>
                <a:rPr lang="zh-CN" sz="1280" dirty="0">
                  <a:solidFill>
                    <a:srgbClr val="1F2937"/>
                  </a:solidFill>
                  <a:latin typeface="+mn-lt"/>
                  <a:ea typeface="+mn-ea"/>
                  <a:cs typeface="+mn-cs"/>
                </a:rPr>
                <a:t>确定待测模式的类别。</a:t>
              </a:r>
            </a:p>
          </p:txBody>
        </p:sp>
        <p:sp>
          <p:nvSpPr>
            <p:cNvPr id="26" name="Ellipse 26"/>
            <p:cNvSpPr/>
            <p:nvPr/>
          </p:nvSpPr>
          <p:spPr>
            <a:xfrm>
              <a:off x="762000" y="4821555"/>
              <a:ext cx="57150" cy="57150"/>
            </a:xfrm>
            <a:prstGeom prst="ellipse">
              <a:avLst/>
            </a:prstGeom>
            <a:solidFill>
              <a:srgbClr val="0E7C86"/>
            </a:solidFill>
            <a:ln>
              <a:noFill/>
            </a:ln>
          </p:spPr>
        </p:sp>
        <p:sp>
          <p:nvSpPr>
            <p:cNvPr id="27" name="TextBox 27"/>
            <p:cNvSpPr txBox="1"/>
            <p:nvPr/>
          </p:nvSpPr>
          <p:spPr>
            <a:xfrm>
              <a:off x="917448" y="4769644"/>
              <a:ext cx="375215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个数按 k² 增长，但每个只看两类数据，训练更快</a:t>
              </a:r>
            </a:p>
          </p:txBody>
        </p:sp>
        <p:sp>
          <p:nvSpPr>
            <p:cNvPr id="28" name="Ellipse 28"/>
            <p:cNvSpPr/>
            <p:nvPr/>
          </p:nvSpPr>
          <p:spPr>
            <a:xfrm>
              <a:off x="762000" y="5106352"/>
              <a:ext cx="57150" cy="57150"/>
            </a:xfrm>
            <a:prstGeom prst="ellipse">
              <a:avLst/>
            </a:prstGeom>
            <a:solidFill>
              <a:srgbClr val="0E7C86"/>
            </a:solidFill>
            <a:ln>
              <a:noFill/>
            </a:ln>
          </p:spPr>
        </p:sp>
        <p:sp>
          <p:nvSpPr>
            <p:cNvPr id="29" name="TextBox 29"/>
            <p:cNvSpPr txBox="1"/>
            <p:nvPr/>
          </p:nvSpPr>
          <p:spPr>
            <a:xfrm>
              <a:off x="917448" y="5054441"/>
              <a:ext cx="4629658"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票数相同时需要额外的决胜规则，scikit-learn 的 SVC 默认用这</a:t>
              </a:r>
              <a:br/>
              <a:r>
                <a:rPr lang="zh-CN" sz="1280" dirty="0">
                  <a:solidFill>
                    <a:srgbClr val="1F2937"/>
                  </a:solidFill>
                  <a:latin typeface="+mn-lt"/>
                  <a:ea typeface="+mn-ea"/>
                  <a:cs typeface="+mn-cs"/>
                </a:rPr>
                <a:t>一种</a:t>
              </a:r>
            </a:p>
          </p:txBody>
        </p:sp>
      </p:grpSp>
      <p:grpSp>
        <p:nvGrpSpPr>
          <p:cNvPr id="61" name="c2-table-1"/>
          <p:cNvGrpSpPr/>
          <p:nvPr/>
        </p:nvGrpSpPr>
        <p:grpSpPr>
          <a:xfrm>
            <a:off x="6248400" y="1524000"/>
            <a:ext cx="5410200" cy="2287905"/>
            <a:chOff x="6248400" y="1524000"/>
            <a:chExt cx="5410200" cy="2287905"/>
          </a:xfrm>
        </p:grpSpPr>
        <p:sp>
          <p:nvSpPr>
            <p:cNvPr id="31" name="Rectangle 31"/>
            <p:cNvSpPr/>
            <p:nvPr/>
          </p:nvSpPr>
          <p:spPr>
            <a:xfrm>
              <a:off x="6248400" y="1524000"/>
              <a:ext cx="5410200" cy="381000"/>
            </a:xfrm>
            <a:prstGeom prst="rect">
              <a:avLst/>
            </a:prstGeom>
            <a:solidFill>
              <a:srgbClr val="0E7C86"/>
            </a:solidFill>
            <a:ln>
              <a:noFill/>
            </a:ln>
          </p:spPr>
        </p:sp>
        <p:sp>
          <p:nvSpPr>
            <p:cNvPr id="32" name="TextBox 32"/>
            <p:cNvSpPr txBox="1"/>
            <p:nvPr/>
          </p:nvSpPr>
          <p:spPr>
            <a:xfrm>
              <a:off x="678827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对比项</a:t>
              </a:r>
            </a:p>
          </p:txBody>
        </p:sp>
        <p:sp>
          <p:nvSpPr>
            <p:cNvPr id="33" name="TextBox 33"/>
            <p:cNvSpPr txBox="1"/>
            <p:nvPr/>
          </p:nvSpPr>
          <p:spPr>
            <a:xfrm>
              <a:off x="8360902" y="1641157"/>
              <a:ext cx="752761"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one-vs-all</a:t>
              </a:r>
            </a:p>
          </p:txBody>
        </p:sp>
        <p:sp>
          <p:nvSpPr>
            <p:cNvPr id="34" name="TextBox 34"/>
            <p:cNvSpPr txBox="1"/>
            <p:nvPr/>
          </p:nvSpPr>
          <p:spPr>
            <a:xfrm>
              <a:off x="10271660" y="1641157"/>
              <a:ext cx="8269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one-vs-one</a:t>
              </a:r>
            </a:p>
          </p:txBody>
        </p:sp>
        <p:sp>
          <p:nvSpPr>
            <p:cNvPr id="35" name="TextBox 35"/>
            <p:cNvSpPr txBox="1"/>
            <p:nvPr/>
          </p:nvSpPr>
          <p:spPr>
            <a:xfrm>
              <a:off x="6343079" y="2023110"/>
              <a:ext cx="717423"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分类器个数</a:t>
              </a:r>
            </a:p>
          </p:txBody>
        </p:sp>
        <p:sp>
          <p:nvSpPr>
            <p:cNvPr id="36" name="TextBox 36"/>
            <p:cNvSpPr txBox="1"/>
            <p:nvPr/>
          </p:nvSpPr>
          <p:spPr>
            <a:xfrm>
              <a:off x="7857554" y="2023110"/>
              <a:ext cx="88411"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k</a:t>
              </a:r>
            </a:p>
          </p:txBody>
        </p:sp>
        <p:sp>
          <p:nvSpPr>
            <p:cNvPr id="37" name="TextBox 37"/>
            <p:cNvSpPr txBox="1"/>
            <p:nvPr/>
          </p:nvSpPr>
          <p:spPr>
            <a:xfrm>
              <a:off x="9805416" y="2023110"/>
              <a:ext cx="632612"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k(k−1)/2</a:t>
              </a:r>
            </a:p>
          </p:txBody>
        </p:sp>
        <p:sp>
          <p:nvSpPr>
            <p:cNvPr id="38" name="Rectangle 38"/>
            <p:cNvSpPr/>
            <p:nvPr/>
          </p:nvSpPr>
          <p:spPr>
            <a:xfrm>
              <a:off x="6248400" y="2282190"/>
              <a:ext cx="5410200" cy="9525"/>
            </a:xfrm>
            <a:prstGeom prst="rect">
              <a:avLst/>
            </a:prstGeom>
            <a:solidFill>
              <a:srgbClr val="D9DFEA"/>
            </a:solidFill>
            <a:ln>
              <a:noFill/>
            </a:ln>
          </p:spPr>
        </p:sp>
        <p:sp>
          <p:nvSpPr>
            <p:cNvPr id="39" name="Rectangle 39"/>
            <p:cNvSpPr/>
            <p:nvPr/>
          </p:nvSpPr>
          <p:spPr>
            <a:xfrm>
              <a:off x="6248400" y="2286952"/>
              <a:ext cx="5410200" cy="381000"/>
            </a:xfrm>
            <a:prstGeom prst="rect">
              <a:avLst/>
            </a:prstGeom>
            <a:solidFill>
              <a:srgbClr val="F4F6FB"/>
            </a:solidFill>
            <a:ln>
              <a:noFill/>
            </a:ln>
          </p:spPr>
        </p:sp>
        <p:sp>
          <p:nvSpPr>
            <p:cNvPr id="40" name="TextBox 40"/>
            <p:cNvSpPr txBox="1"/>
            <p:nvPr/>
          </p:nvSpPr>
          <p:spPr>
            <a:xfrm>
              <a:off x="6343079" y="2404110"/>
              <a:ext cx="612117"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k = 10 时</a:t>
              </a:r>
            </a:p>
          </p:txBody>
        </p:sp>
        <p:sp>
          <p:nvSpPr>
            <p:cNvPr id="41" name="TextBox 41"/>
            <p:cNvSpPr txBox="1"/>
            <p:nvPr/>
          </p:nvSpPr>
          <p:spPr>
            <a:xfrm>
              <a:off x="7857554" y="2404110"/>
              <a:ext cx="16615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a:t>
              </a:r>
            </a:p>
          </p:txBody>
        </p:sp>
        <p:sp>
          <p:nvSpPr>
            <p:cNvPr id="42" name="Rectangle 42"/>
            <p:cNvSpPr/>
            <p:nvPr/>
          </p:nvSpPr>
          <p:spPr>
            <a:xfrm>
              <a:off x="9720262" y="2296478"/>
              <a:ext cx="1928812" cy="361950"/>
            </a:xfrm>
            <a:prstGeom prst="rect">
              <a:avLst/>
            </a:prstGeom>
            <a:solidFill>
              <a:srgbClr val="FDECEA"/>
            </a:solidFill>
            <a:ln>
              <a:noFill/>
            </a:ln>
          </p:spPr>
        </p:sp>
        <p:sp>
          <p:nvSpPr>
            <p:cNvPr id="43" name="TextBox 43"/>
            <p:cNvSpPr txBox="1"/>
            <p:nvPr/>
          </p:nvSpPr>
          <p:spPr>
            <a:xfrm>
              <a:off x="9805416" y="2404110"/>
              <a:ext cx="16615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45</a:t>
              </a:r>
            </a:p>
          </p:txBody>
        </p:sp>
        <p:sp>
          <p:nvSpPr>
            <p:cNvPr id="44" name="Rectangle 44"/>
            <p:cNvSpPr/>
            <p:nvPr/>
          </p:nvSpPr>
          <p:spPr>
            <a:xfrm>
              <a:off x="6248400" y="2663190"/>
              <a:ext cx="5410200" cy="9525"/>
            </a:xfrm>
            <a:prstGeom prst="rect">
              <a:avLst/>
            </a:prstGeom>
            <a:solidFill>
              <a:srgbClr val="D9DFEA"/>
            </a:solidFill>
            <a:ln>
              <a:noFill/>
            </a:ln>
          </p:spPr>
        </p:sp>
        <p:sp>
          <p:nvSpPr>
            <p:cNvPr id="45" name="TextBox 45"/>
            <p:cNvSpPr txBox="1"/>
            <p:nvPr/>
          </p:nvSpPr>
          <p:spPr>
            <a:xfrm>
              <a:off x="6343079" y="2785110"/>
              <a:ext cx="717423"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单个训练集</a:t>
              </a:r>
            </a:p>
          </p:txBody>
        </p:sp>
        <p:sp>
          <p:nvSpPr>
            <p:cNvPr id="46" name="TextBox 46"/>
            <p:cNvSpPr txBox="1"/>
            <p:nvPr/>
          </p:nvSpPr>
          <p:spPr>
            <a:xfrm>
              <a:off x="7857554" y="2785110"/>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全部样本</a:t>
              </a:r>
            </a:p>
          </p:txBody>
        </p:sp>
        <p:sp>
          <p:nvSpPr>
            <p:cNvPr id="47" name="TextBox 47"/>
            <p:cNvSpPr txBox="1"/>
            <p:nvPr/>
          </p:nvSpPr>
          <p:spPr>
            <a:xfrm>
              <a:off x="9805416" y="2785110"/>
              <a:ext cx="100012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只含两类的样本</a:t>
              </a:r>
            </a:p>
          </p:txBody>
        </p:sp>
        <p:sp>
          <p:nvSpPr>
            <p:cNvPr id="48" name="Rectangle 48"/>
            <p:cNvSpPr/>
            <p:nvPr/>
          </p:nvSpPr>
          <p:spPr>
            <a:xfrm>
              <a:off x="6248400" y="3045142"/>
              <a:ext cx="5410200" cy="9525"/>
            </a:xfrm>
            <a:prstGeom prst="rect">
              <a:avLst/>
            </a:prstGeom>
            <a:solidFill>
              <a:srgbClr val="D9DFEA"/>
            </a:solidFill>
            <a:ln>
              <a:noFill/>
            </a:ln>
          </p:spPr>
        </p:sp>
        <p:sp>
          <p:nvSpPr>
            <p:cNvPr id="49" name="Rectangle 49"/>
            <p:cNvSpPr/>
            <p:nvPr/>
          </p:nvSpPr>
          <p:spPr>
            <a:xfrm>
              <a:off x="6248400" y="3049905"/>
              <a:ext cx="5410200" cy="381000"/>
            </a:xfrm>
            <a:prstGeom prst="rect">
              <a:avLst/>
            </a:prstGeom>
            <a:solidFill>
              <a:srgbClr val="F4F6FB"/>
            </a:solidFill>
            <a:ln>
              <a:noFill/>
            </a:ln>
          </p:spPr>
        </p:sp>
        <p:sp>
          <p:nvSpPr>
            <p:cNvPr id="50" name="TextBox 50"/>
            <p:cNvSpPr txBox="1"/>
            <p:nvPr/>
          </p:nvSpPr>
          <p:spPr>
            <a:xfrm>
              <a:off x="6343079" y="3167062"/>
              <a:ext cx="717423"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总训练开销</a:t>
              </a:r>
            </a:p>
          </p:txBody>
        </p:sp>
        <p:sp>
          <p:nvSpPr>
            <p:cNvPr id="51" name="TextBox 51"/>
            <p:cNvSpPr txBox="1"/>
            <p:nvPr/>
          </p:nvSpPr>
          <p:spPr>
            <a:xfrm>
              <a:off x="7857554" y="3167062"/>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大</a:t>
              </a:r>
            </a:p>
          </p:txBody>
        </p:sp>
        <p:sp>
          <p:nvSpPr>
            <p:cNvPr id="52" name="Rectangle 52"/>
            <p:cNvSpPr/>
            <p:nvPr/>
          </p:nvSpPr>
          <p:spPr>
            <a:xfrm>
              <a:off x="9720262" y="3059430"/>
              <a:ext cx="1928812" cy="361950"/>
            </a:xfrm>
            <a:prstGeom prst="rect">
              <a:avLst/>
            </a:prstGeom>
            <a:solidFill>
              <a:srgbClr val="E3F5F1"/>
            </a:solidFill>
            <a:ln>
              <a:noFill/>
            </a:ln>
          </p:spPr>
        </p:sp>
        <p:sp>
          <p:nvSpPr>
            <p:cNvPr id="53" name="TextBox 53"/>
            <p:cNvSpPr txBox="1"/>
            <p:nvPr/>
          </p:nvSpPr>
          <p:spPr>
            <a:xfrm>
              <a:off x="9805416" y="3167062"/>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小</a:t>
              </a:r>
            </a:p>
          </p:txBody>
        </p:sp>
        <p:sp>
          <p:nvSpPr>
            <p:cNvPr id="54" name="Rectangle 54"/>
            <p:cNvSpPr/>
            <p:nvPr/>
          </p:nvSpPr>
          <p:spPr>
            <a:xfrm>
              <a:off x="6248400" y="3426142"/>
              <a:ext cx="5410200" cy="9525"/>
            </a:xfrm>
            <a:prstGeom prst="rect">
              <a:avLst/>
            </a:prstGeom>
            <a:solidFill>
              <a:srgbClr val="D9DFEA"/>
            </a:solidFill>
            <a:ln>
              <a:noFill/>
            </a:ln>
          </p:spPr>
        </p:sp>
        <p:sp>
          <p:nvSpPr>
            <p:cNvPr id="55" name="TextBox 55"/>
            <p:cNvSpPr txBox="1"/>
            <p:nvPr/>
          </p:nvSpPr>
          <p:spPr>
            <a:xfrm>
              <a:off x="6343079" y="3548062"/>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判别方式</a:t>
              </a:r>
            </a:p>
          </p:txBody>
        </p:sp>
        <p:sp>
          <p:nvSpPr>
            <p:cNvPr id="56" name="TextBox 56"/>
            <p:cNvSpPr txBox="1"/>
            <p:nvPr/>
          </p:nvSpPr>
          <p:spPr>
            <a:xfrm>
              <a:off x="7857554" y="3548062"/>
              <a:ext cx="100012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取判别值最大者</a:t>
              </a:r>
            </a:p>
          </p:txBody>
        </p:sp>
        <p:sp>
          <p:nvSpPr>
            <p:cNvPr id="57" name="TextBox 57"/>
            <p:cNvSpPr txBox="1"/>
            <p:nvPr/>
          </p:nvSpPr>
          <p:spPr>
            <a:xfrm>
              <a:off x="9805416" y="3548062"/>
              <a:ext cx="2933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投票</a:t>
              </a:r>
            </a:p>
          </p:txBody>
        </p:sp>
        <p:sp>
          <p:nvSpPr>
            <p:cNvPr id="58" name="Rectangle 58"/>
            <p:cNvSpPr/>
            <p:nvPr/>
          </p:nvSpPr>
          <p:spPr>
            <a:xfrm>
              <a:off x="6248400" y="1524000"/>
              <a:ext cx="5410200" cy="2287905"/>
            </a:xfrm>
            <a:prstGeom prst="rect">
              <a:avLst/>
            </a:prstGeom>
            <a:noFill/>
            <a:ln w="14288">
              <a:solidFill>
                <a:srgbClr val="D9DFEA"/>
              </a:solidFill>
            </a:ln>
          </p:spPr>
        </p:sp>
        <p:sp>
          <p:nvSpPr>
            <p:cNvPr id="59" name="Rectangle 59"/>
            <p:cNvSpPr/>
            <p:nvPr/>
          </p:nvSpPr>
          <p:spPr>
            <a:xfrm>
              <a:off x="7758112" y="1524000"/>
              <a:ext cx="9525" cy="2287905"/>
            </a:xfrm>
            <a:prstGeom prst="rect">
              <a:avLst/>
            </a:prstGeom>
            <a:solidFill>
              <a:srgbClr val="D9DFEA"/>
            </a:solidFill>
            <a:ln>
              <a:noFill/>
            </a:ln>
          </p:spPr>
        </p:sp>
        <p:sp>
          <p:nvSpPr>
            <p:cNvPr id="60" name="Rectangle 60"/>
            <p:cNvSpPr/>
            <p:nvPr/>
          </p:nvSpPr>
          <p:spPr>
            <a:xfrm>
              <a:off x="9705975" y="1524000"/>
              <a:ext cx="9525" cy="2287905"/>
            </a:xfrm>
            <a:prstGeom prst="rect">
              <a:avLst/>
            </a:prstGeom>
            <a:solidFill>
              <a:srgbClr val="D9DFEA"/>
            </a:solidFill>
            <a:ln>
              <a:noFill/>
            </a:ln>
          </p:spPr>
        </p:sp>
      </p:grpSp>
      <p:grpSp>
        <p:nvGrpSpPr>
          <p:cNvPr id="76" name="c2-flow-2"/>
          <p:cNvGrpSpPr/>
          <p:nvPr/>
        </p:nvGrpSpPr>
        <p:grpSpPr>
          <a:xfrm>
            <a:off x="6627495" y="3995738"/>
            <a:ext cx="4652962" cy="1602105"/>
            <a:chOff x="6627495" y="3995738"/>
            <a:chExt cx="4652962" cy="1602105"/>
          </a:xfrm>
        </p:grpSpPr>
        <p:sp>
          <p:nvSpPr>
            <p:cNvPr id="62" name="Freeform 62"/>
            <p:cNvSpPr/>
            <p:nvPr/>
          </p:nvSpPr>
          <p:spPr>
            <a:xfrm>
              <a:off x="6627495" y="4182428"/>
              <a:ext cx="4547235" cy="409575"/>
            </a:xfrm>
            <a:custGeom>
              <a:avLst/>
              <a:gdLst/>
              <a:ahLst/>
              <a:cxnLst/>
              <a:rect l="l" t="t" r="r" b="b"/>
              <a:pathLst>
                <a:path w="4547235" h="409575">
                  <a:moveTo>
                    <a:pt x="0" y="0"/>
                  </a:moveTo>
                  <a:lnTo>
                    <a:pt x="2326005" y="0"/>
                  </a:lnTo>
                  <a:lnTo>
                    <a:pt x="2326005" y="409575"/>
                  </a:lnTo>
                  <a:lnTo>
                    <a:pt x="4547235" y="409575"/>
                  </a:lnTo>
                </a:path>
              </a:pathLst>
            </a:custGeom>
            <a:noFill/>
            <a:ln w="15240">
              <a:solidFill>
                <a:srgbClr val="5B6475"/>
              </a:solidFill>
            </a:ln>
          </p:spPr>
        </p:sp>
        <p:sp>
          <p:nvSpPr>
            <p:cNvPr id="63" name="Freeform 63"/>
            <p:cNvSpPr/>
            <p:nvPr/>
          </p:nvSpPr>
          <p:spPr>
            <a:xfrm>
              <a:off x="11174730" y="453961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64" name="Freeform 64"/>
            <p:cNvSpPr/>
            <p:nvPr/>
          </p:nvSpPr>
          <p:spPr>
            <a:xfrm>
              <a:off x="6627495" y="4592002"/>
              <a:ext cx="4547235" cy="409575"/>
            </a:xfrm>
            <a:custGeom>
              <a:avLst/>
              <a:gdLst/>
              <a:ahLst/>
              <a:cxnLst/>
              <a:rect l="l" t="t" r="r" b="b"/>
              <a:pathLst>
                <a:path w="4547235" h="409575">
                  <a:moveTo>
                    <a:pt x="0" y="0"/>
                  </a:moveTo>
                  <a:lnTo>
                    <a:pt x="2326005" y="0"/>
                  </a:lnTo>
                  <a:lnTo>
                    <a:pt x="2326005" y="409575"/>
                  </a:lnTo>
                  <a:lnTo>
                    <a:pt x="4547235" y="409575"/>
                  </a:lnTo>
                </a:path>
              </a:pathLst>
            </a:custGeom>
            <a:noFill/>
            <a:ln w="15240">
              <a:solidFill>
                <a:srgbClr val="5B6475"/>
              </a:solidFill>
            </a:ln>
          </p:spPr>
        </p:sp>
        <p:sp>
          <p:nvSpPr>
            <p:cNvPr id="65" name="Freeform 65"/>
            <p:cNvSpPr/>
            <p:nvPr/>
          </p:nvSpPr>
          <p:spPr>
            <a:xfrm>
              <a:off x="11174730" y="494919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66" name="Freeform 66"/>
            <p:cNvSpPr/>
            <p:nvPr/>
          </p:nvSpPr>
          <p:spPr>
            <a:xfrm>
              <a:off x="8953500" y="5120640"/>
              <a:ext cx="9525" cy="67628"/>
            </a:xfrm>
            <a:custGeom>
              <a:avLst/>
              <a:gdLst/>
              <a:ahLst/>
              <a:cxnLst/>
              <a:rect l="l" t="t" r="r" b="b"/>
              <a:pathLst>
                <a:path w="9525" h="67628">
                  <a:moveTo>
                    <a:pt x="0" y="67628"/>
                  </a:moveTo>
                  <a:lnTo>
                    <a:pt x="0" y="0"/>
                  </a:lnTo>
                </a:path>
              </a:pathLst>
            </a:custGeom>
            <a:noFill/>
            <a:ln w="15240">
              <a:solidFill>
                <a:srgbClr val="5B6475"/>
              </a:solidFill>
            </a:ln>
          </p:spPr>
        </p:sp>
        <p:sp>
          <p:nvSpPr>
            <p:cNvPr id="67" name="Freeform 67"/>
            <p:cNvSpPr/>
            <p:nvPr/>
          </p:nvSpPr>
          <p:spPr>
            <a:xfrm>
              <a:off x="8901112" y="51206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68" name="Rectangle 68"/>
            <p:cNvSpPr/>
            <p:nvPr/>
          </p:nvSpPr>
          <p:spPr>
            <a:xfrm>
              <a:off x="6627495" y="3995738"/>
              <a:ext cx="4652962" cy="372428"/>
            </a:xfrm>
            <a:prstGeom prst="roundRect">
              <a:avLst>
                <a:gd name="adj" fmla="val 50000"/>
              </a:avLst>
            </a:prstGeom>
            <a:solidFill>
              <a:srgbClr val="0E7C86"/>
            </a:solidFill>
            <a:ln>
              <a:noFill/>
            </a:ln>
          </p:spPr>
        </p:sp>
        <p:sp>
          <p:nvSpPr>
            <p:cNvPr id="69" name="Rectangle 69"/>
            <p:cNvSpPr/>
            <p:nvPr/>
          </p:nvSpPr>
          <p:spPr>
            <a:xfrm>
              <a:off x="6627495" y="4315778"/>
              <a:ext cx="4652962" cy="551498"/>
            </a:xfrm>
            <a:prstGeom prst="roundRect">
              <a:avLst>
                <a:gd name="adj" fmla="val 17271"/>
              </a:avLst>
            </a:prstGeom>
            <a:solidFill>
              <a:srgbClr val="FFFFFF"/>
            </a:solidFill>
            <a:ln w="15240">
              <a:solidFill>
                <a:srgbClr val="0E7C86"/>
              </a:solidFill>
            </a:ln>
          </p:spPr>
        </p:sp>
        <p:sp>
          <p:nvSpPr>
            <p:cNvPr id="70" name="Rectangle 70"/>
            <p:cNvSpPr/>
            <p:nvPr/>
          </p:nvSpPr>
          <p:spPr>
            <a:xfrm>
              <a:off x="6627495" y="4815840"/>
              <a:ext cx="4652962" cy="372428"/>
            </a:xfrm>
            <a:prstGeom prst="roundRect">
              <a:avLst>
                <a:gd name="adj" fmla="val 25575"/>
              </a:avLst>
            </a:prstGeom>
            <a:solidFill>
              <a:srgbClr val="FFFFFF"/>
            </a:solidFill>
            <a:ln w="15240">
              <a:solidFill>
                <a:srgbClr val="0E7C86"/>
              </a:solidFill>
            </a:ln>
          </p:spPr>
        </p:sp>
        <p:sp>
          <p:nvSpPr>
            <p:cNvPr id="71" name="Rectangle 71"/>
            <p:cNvSpPr/>
            <p:nvPr/>
          </p:nvSpPr>
          <p:spPr>
            <a:xfrm>
              <a:off x="6627495" y="5225415"/>
              <a:ext cx="4652962" cy="372428"/>
            </a:xfrm>
            <a:prstGeom prst="roundRect">
              <a:avLst>
                <a:gd name="adj" fmla="val 50000"/>
              </a:avLst>
            </a:prstGeom>
            <a:solidFill>
              <a:srgbClr val="0E7C86"/>
            </a:solidFill>
            <a:ln>
              <a:noFill/>
            </a:ln>
          </p:spPr>
        </p:sp>
        <p:sp>
          <p:nvSpPr>
            <p:cNvPr id="72" name="TextBox 72"/>
            <p:cNvSpPr txBox="1"/>
            <p:nvPr/>
          </p:nvSpPr>
          <p:spPr>
            <a:xfrm>
              <a:off x="8665464" y="4109085"/>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待测样本</a:t>
              </a:r>
            </a:p>
          </p:txBody>
        </p:sp>
        <p:sp>
          <p:nvSpPr>
            <p:cNvPr id="73" name="TextBox 73"/>
            <p:cNvSpPr txBox="1"/>
            <p:nvPr/>
          </p:nvSpPr>
          <p:spPr>
            <a:xfrm>
              <a:off x="8358092" y="4428172"/>
              <a:ext cx="1190816" cy="385382"/>
            </a:xfrm>
            <a:prstGeom prst="rect">
              <a:avLst/>
            </a:prstGeom>
            <a:noFill/>
            <a:ln>
              <a:noFill/>
            </a:ln>
          </p:spPr>
          <p:txBody>
            <a:bodyPr wrap="none" lIns="0" tIns="0" rIns="0" bIns="0" anchor="t" anchorCtr="0">
              <a:spAutoFit/>
            </a:bodyPr>
            <a:lstStyle/>
            <a:p>
              <a:pPr algn="ctr">
                <a:lnSpc>
                  <a:spcPts val="1418"/>
                </a:lnSpc>
              </a:pPr>
              <a:r>
                <a:rPr lang="zh-CN" sz="1050" dirty="0">
                  <a:solidFill>
                    <a:srgbClr val="1F2937"/>
                  </a:solidFill>
                  <a:latin typeface="+mn-lt"/>
                  <a:ea typeface="+mn-ea"/>
                  <a:cs typeface="+mn-cs"/>
                </a:rPr>
                <a:t>k 个或 k(k−1)/2 个</a:t>
              </a:r>
              <a:br/>
              <a:r>
                <a:rPr lang="zh-CN" sz="1050" dirty="0">
                  <a:solidFill>
                    <a:srgbClr val="1F2937"/>
                  </a:solidFill>
                  <a:latin typeface="+mn-lt"/>
                  <a:ea typeface="+mn-ea"/>
                  <a:cs typeface="+mn-cs"/>
                </a:rPr>
                <a:t>两类 SVM</a:t>
              </a:r>
            </a:p>
          </p:txBody>
        </p:sp>
        <p:sp>
          <p:nvSpPr>
            <p:cNvPr id="74" name="TextBox 74"/>
            <p:cNvSpPr txBox="1"/>
            <p:nvPr/>
          </p:nvSpPr>
          <p:spPr>
            <a:xfrm>
              <a:off x="8513512" y="4928235"/>
              <a:ext cx="879977"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取最大 / 投票</a:t>
              </a:r>
            </a:p>
          </p:txBody>
        </p:sp>
        <p:sp>
          <p:nvSpPr>
            <p:cNvPr id="75" name="TextBox 75"/>
            <p:cNvSpPr txBox="1"/>
            <p:nvPr/>
          </p:nvSpPr>
          <p:spPr>
            <a:xfrm>
              <a:off x="8806815" y="5337810"/>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类别</a:t>
              </a:r>
            </a:p>
          </p:txBody>
        </p:sp>
      </p:grpSp>
      <p:grpSp>
        <p:nvGrpSpPr>
          <p:cNvPr id="83" name="takeaway"/>
          <p:cNvGrpSpPr/>
          <p:nvPr/>
        </p:nvGrpSpPr>
        <p:grpSpPr>
          <a:xfrm>
            <a:off x="533400" y="5895022"/>
            <a:ext cx="11125200" cy="467678"/>
            <a:chOff x="533400" y="5895022"/>
            <a:chExt cx="11125200" cy="467678"/>
          </a:xfrm>
        </p:grpSpPr>
        <p:sp>
          <p:nvSpPr>
            <p:cNvPr id="77" name="Rectangle 77"/>
            <p:cNvSpPr/>
            <p:nvPr/>
          </p:nvSpPr>
          <p:spPr>
            <a:xfrm>
              <a:off x="533400" y="5895022"/>
              <a:ext cx="11125200" cy="467678"/>
            </a:xfrm>
            <a:prstGeom prst="roundRect">
              <a:avLst>
                <a:gd name="adj" fmla="val 24440"/>
              </a:avLst>
            </a:prstGeom>
            <a:solidFill>
              <a:srgbClr val="FDEEE7"/>
            </a:solidFill>
            <a:ln>
              <a:noFill/>
            </a:ln>
          </p:spPr>
        </p:sp>
        <p:grpSp>
          <p:nvGrpSpPr>
            <p:cNvPr id="81" name="Group 81"/>
            <p:cNvGrpSpPr/>
            <p:nvPr/>
          </p:nvGrpSpPr>
          <p:grpSpPr>
            <a:xfrm>
              <a:off x="738188" y="6028373"/>
              <a:ext cx="200026" cy="200025"/>
              <a:chOff x="738188" y="6028373"/>
              <a:chExt cx="200026" cy="200025"/>
            </a:xfrm>
          </p:grpSpPr>
          <p:sp>
            <p:nvSpPr>
              <p:cNvPr id="78" name="Freeform 78"/>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9" name="Freeform 79"/>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0" name="Freeform 80"/>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2" name="TextBox 82"/>
            <p:cNvSpPr txBox="1"/>
            <p:nvPr/>
          </p:nvSpPr>
          <p:spPr>
            <a:xfrm>
              <a:off x="1041273" y="6039326"/>
              <a:ext cx="5746120"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SVM 本身只会做两类判别，多类能力完全是靠外面这层拆分策略拼出来的。</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620821" cy="909257"/>
            <a:chOff x="520446" y="342900"/>
            <a:chExt cx="4620821" cy="909257"/>
          </a:xfrm>
        </p:grpSpPr>
        <p:sp>
          <p:nvSpPr>
            <p:cNvPr id="2" name="Rectangle 2"/>
            <p:cNvSpPr/>
            <p:nvPr/>
          </p:nvSpPr>
          <p:spPr>
            <a:xfrm>
              <a:off x="533400" y="342900"/>
              <a:ext cx="3126105" cy="266700"/>
            </a:xfrm>
            <a:prstGeom prst="roundRect">
              <a:avLst>
                <a:gd name="adj" fmla="val 50000"/>
              </a:avLst>
            </a:prstGeom>
            <a:solidFill>
              <a:srgbClr val="E2F3F4"/>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 · 支持向量回归与多类扩展</a:t>
              </a:r>
            </a:p>
          </p:txBody>
        </p:sp>
        <p:sp>
          <p:nvSpPr>
            <p:cNvPr id="4" name="TextBox 4"/>
            <p:cNvSpPr txBox="1"/>
            <p:nvPr/>
          </p:nvSpPr>
          <p:spPr>
            <a:xfrm>
              <a:off x="520446" y="753428"/>
              <a:ext cx="462082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SVM 的特点、优势与动手实践</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3" name="c1-bullets-1"/>
          <p:cNvGrpSpPr/>
          <p:nvPr/>
        </p:nvGrpSpPr>
        <p:grpSpPr>
          <a:xfrm>
            <a:off x="526542" y="1545907"/>
            <a:ext cx="3506216" cy="1884522"/>
            <a:chOff x="526542" y="1545907"/>
            <a:chExt cx="3506216" cy="1884522"/>
          </a:xfrm>
        </p:grpSpPr>
        <p:sp>
          <p:nvSpPr>
            <p:cNvPr id="7" name="TextBox 7"/>
            <p:cNvSpPr txBox="1"/>
            <p:nvPr/>
          </p:nvSpPr>
          <p:spPr>
            <a:xfrm>
              <a:off x="526542" y="1545907"/>
              <a:ext cx="1719369" cy="264033"/>
            </a:xfrm>
            <a:prstGeom prst="rect">
              <a:avLst/>
            </a:prstGeom>
            <a:noFill/>
            <a:ln>
              <a:noFill/>
            </a:ln>
          </p:spPr>
          <p:txBody>
            <a:bodyPr wrap="none" lIns="0" tIns="0" rIns="0" bIns="0" anchor="t" anchorCtr="0">
              <a:spAutoFit/>
            </a:bodyPr>
            <a:lstStyle/>
            <a:p>
              <a:pPr algn="l"/>
              <a:r>
                <a:rPr lang="zh-CN" sz="1350" b="1" dirty="0">
                  <a:solidFill>
                    <a:srgbClr val="0E7C86"/>
                  </a:solidFill>
                  <a:latin typeface="+mn-lt"/>
                  <a:ea typeface="+mn-ea"/>
                  <a:cs typeface="+mn-cs"/>
                </a:rPr>
                <a:t>SVM 方法的三个特点</a:t>
              </a:r>
            </a:p>
          </p:txBody>
        </p:sp>
        <p:sp>
          <p:nvSpPr>
            <p:cNvPr id="8" name="Ellipse 8"/>
            <p:cNvSpPr/>
            <p:nvPr/>
          </p:nvSpPr>
          <p:spPr>
            <a:xfrm>
              <a:off x="533400" y="1853565"/>
              <a:ext cx="192405" cy="192405"/>
            </a:xfrm>
            <a:prstGeom prst="ellipse">
              <a:avLst/>
            </a:prstGeom>
            <a:solidFill>
              <a:srgbClr val="0E7C86"/>
            </a:solidFill>
            <a:ln>
              <a:noFill/>
            </a:ln>
          </p:spPr>
        </p:sp>
        <p:sp>
          <p:nvSpPr>
            <p:cNvPr id="9" name="TextBox 9"/>
            <p:cNvSpPr txBox="1"/>
            <p:nvPr/>
          </p:nvSpPr>
          <p:spPr>
            <a:xfrm>
              <a:off x="589078" y="189290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10" name="TextBox 10"/>
            <p:cNvSpPr txBox="1"/>
            <p:nvPr/>
          </p:nvSpPr>
          <p:spPr>
            <a:xfrm>
              <a:off x="814197" y="1865947"/>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最大化分类边际是核心</a:t>
              </a:r>
            </a:p>
          </p:txBody>
        </p:sp>
        <p:sp>
          <p:nvSpPr>
            <p:cNvPr id="11" name="Rectangle 11"/>
            <p:cNvSpPr/>
            <p:nvPr/>
          </p:nvSpPr>
          <p:spPr>
            <a:xfrm>
              <a:off x="821055" y="2193608"/>
              <a:ext cx="64770" cy="19050"/>
            </a:xfrm>
            <a:prstGeom prst="rect">
              <a:avLst/>
            </a:prstGeom>
            <a:solidFill>
              <a:srgbClr val="5B6475"/>
            </a:solidFill>
            <a:ln>
              <a:noFill/>
            </a:ln>
          </p:spPr>
        </p:sp>
        <p:sp>
          <p:nvSpPr>
            <p:cNvPr id="12" name="TextBox 12"/>
            <p:cNvSpPr txBox="1"/>
            <p:nvPr/>
          </p:nvSpPr>
          <p:spPr>
            <a:xfrm>
              <a:off x="1005840" y="2130266"/>
              <a:ext cx="227304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间隔最大在理论上保证了推广能力</a:t>
              </a:r>
            </a:p>
          </p:txBody>
        </p:sp>
        <p:sp>
          <p:nvSpPr>
            <p:cNvPr id="13" name="Ellipse 13"/>
            <p:cNvSpPr/>
            <p:nvPr/>
          </p:nvSpPr>
          <p:spPr>
            <a:xfrm>
              <a:off x="533400" y="2393632"/>
              <a:ext cx="192405" cy="192405"/>
            </a:xfrm>
            <a:prstGeom prst="ellipse">
              <a:avLst/>
            </a:prstGeom>
            <a:solidFill>
              <a:srgbClr val="0E7C86"/>
            </a:solidFill>
            <a:ln>
              <a:noFill/>
            </a:ln>
          </p:spPr>
        </p:sp>
        <p:sp>
          <p:nvSpPr>
            <p:cNvPr id="14" name="TextBox 14"/>
            <p:cNvSpPr txBox="1"/>
            <p:nvPr/>
          </p:nvSpPr>
          <p:spPr>
            <a:xfrm>
              <a:off x="589078" y="243297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5" name="TextBox 15"/>
            <p:cNvSpPr txBox="1"/>
            <p:nvPr/>
          </p:nvSpPr>
          <p:spPr>
            <a:xfrm>
              <a:off x="814197" y="2406015"/>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非线性映射是理论基础</a:t>
              </a:r>
            </a:p>
          </p:txBody>
        </p:sp>
        <p:sp>
          <p:nvSpPr>
            <p:cNvPr id="16" name="Rectangle 16"/>
            <p:cNvSpPr/>
            <p:nvPr/>
          </p:nvSpPr>
          <p:spPr>
            <a:xfrm>
              <a:off x="821055" y="2733675"/>
              <a:ext cx="64770" cy="19050"/>
            </a:xfrm>
            <a:prstGeom prst="rect">
              <a:avLst/>
            </a:prstGeom>
            <a:solidFill>
              <a:srgbClr val="5B6475"/>
            </a:solidFill>
            <a:ln>
              <a:noFill/>
            </a:ln>
          </p:spPr>
        </p:sp>
        <p:sp>
          <p:nvSpPr>
            <p:cNvPr id="17" name="TextBox 17"/>
            <p:cNvSpPr txBox="1"/>
            <p:nvPr/>
          </p:nvSpPr>
          <p:spPr>
            <a:xfrm>
              <a:off x="1005840" y="2670334"/>
              <a:ext cx="227304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用内积核函数代替显式的高维映射</a:t>
              </a:r>
            </a:p>
          </p:txBody>
        </p:sp>
        <p:sp>
          <p:nvSpPr>
            <p:cNvPr id="18" name="Ellipse 18"/>
            <p:cNvSpPr/>
            <p:nvPr/>
          </p:nvSpPr>
          <p:spPr>
            <a:xfrm>
              <a:off x="533400" y="2934652"/>
              <a:ext cx="192405" cy="192405"/>
            </a:xfrm>
            <a:prstGeom prst="ellipse">
              <a:avLst/>
            </a:prstGeom>
            <a:solidFill>
              <a:srgbClr val="0E7C86"/>
            </a:solidFill>
            <a:ln>
              <a:noFill/>
            </a:ln>
          </p:spPr>
        </p:sp>
        <p:sp>
          <p:nvSpPr>
            <p:cNvPr id="19" name="TextBox 19"/>
            <p:cNvSpPr txBox="1"/>
            <p:nvPr/>
          </p:nvSpPr>
          <p:spPr>
            <a:xfrm>
              <a:off x="589078" y="297303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20" name="TextBox 20"/>
            <p:cNvSpPr txBox="1"/>
            <p:nvPr/>
          </p:nvSpPr>
          <p:spPr>
            <a:xfrm>
              <a:off x="814197" y="2946082"/>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支持向量是训练结果</a:t>
              </a:r>
            </a:p>
          </p:txBody>
        </p:sp>
        <p:sp>
          <p:nvSpPr>
            <p:cNvPr id="21" name="Rectangle 21"/>
            <p:cNvSpPr/>
            <p:nvPr/>
          </p:nvSpPr>
          <p:spPr>
            <a:xfrm>
              <a:off x="821055" y="3273742"/>
              <a:ext cx="64770" cy="19050"/>
            </a:xfrm>
            <a:prstGeom prst="rect">
              <a:avLst/>
            </a:prstGeom>
            <a:solidFill>
              <a:srgbClr val="5B6475"/>
            </a:solidFill>
            <a:ln>
              <a:noFill/>
            </a:ln>
          </p:spPr>
        </p:sp>
        <p:sp>
          <p:nvSpPr>
            <p:cNvPr id="22" name="TextBox 22"/>
            <p:cNvSpPr txBox="1"/>
            <p:nvPr/>
          </p:nvSpPr>
          <p:spPr>
            <a:xfrm>
              <a:off x="1005840" y="3210401"/>
              <a:ext cx="302691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起决定作用的只有支持向量，与样本总数无关</a:t>
              </a:r>
            </a:p>
          </p:txBody>
        </p:sp>
      </p:grpSp>
      <p:grpSp>
        <p:nvGrpSpPr>
          <p:cNvPr id="49" name="c1-table-2"/>
          <p:cNvGrpSpPr/>
          <p:nvPr/>
        </p:nvGrpSpPr>
        <p:grpSpPr>
          <a:xfrm>
            <a:off x="533400" y="3561398"/>
            <a:ext cx="5626418" cy="2028825"/>
            <a:chOff x="533400" y="3561398"/>
            <a:chExt cx="5626418" cy="2028825"/>
          </a:xfrm>
        </p:grpSpPr>
        <p:sp>
          <p:nvSpPr>
            <p:cNvPr id="24" name="Rectangle 24"/>
            <p:cNvSpPr/>
            <p:nvPr/>
          </p:nvSpPr>
          <p:spPr>
            <a:xfrm>
              <a:off x="533400" y="3561398"/>
              <a:ext cx="5626418" cy="405765"/>
            </a:xfrm>
            <a:prstGeom prst="rect">
              <a:avLst/>
            </a:prstGeom>
            <a:solidFill>
              <a:srgbClr val="0E7C86"/>
            </a:solidFill>
            <a:ln>
              <a:noFill/>
            </a:ln>
          </p:spPr>
        </p:sp>
        <p:sp>
          <p:nvSpPr>
            <p:cNvPr id="25" name="TextBox 25"/>
            <p:cNvSpPr txBox="1"/>
            <p:nvPr/>
          </p:nvSpPr>
          <p:spPr>
            <a:xfrm>
              <a:off x="976846" y="3685699"/>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对比项</a:t>
              </a:r>
            </a:p>
          </p:txBody>
        </p:sp>
        <p:sp>
          <p:nvSpPr>
            <p:cNvPr id="26" name="TextBox 26"/>
            <p:cNvSpPr txBox="1"/>
            <p:nvPr/>
          </p:nvSpPr>
          <p:spPr>
            <a:xfrm>
              <a:off x="2343937" y="3685699"/>
              <a:ext cx="121762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传统统计模式识别</a:t>
              </a:r>
            </a:p>
          </p:txBody>
        </p:sp>
        <p:sp>
          <p:nvSpPr>
            <p:cNvPr id="27" name="TextBox 27"/>
            <p:cNvSpPr txBox="1"/>
            <p:nvPr/>
          </p:nvSpPr>
          <p:spPr>
            <a:xfrm>
              <a:off x="4930669" y="3685699"/>
              <a:ext cx="320887"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SVM</a:t>
              </a:r>
            </a:p>
          </p:txBody>
        </p:sp>
        <p:sp>
          <p:nvSpPr>
            <p:cNvPr id="28" name="TextBox 28"/>
            <p:cNvSpPr txBox="1"/>
            <p:nvPr/>
          </p:nvSpPr>
          <p:spPr>
            <a:xfrm>
              <a:off x="633412" y="409146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理论基础</a:t>
              </a:r>
            </a:p>
          </p:txBody>
        </p:sp>
        <p:sp>
          <p:nvSpPr>
            <p:cNvPr id="29" name="TextBox 29"/>
            <p:cNvSpPr txBox="1"/>
            <p:nvPr/>
          </p:nvSpPr>
          <p:spPr>
            <a:xfrm>
              <a:off x="1984058" y="4091464"/>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数理统计理论</a:t>
              </a:r>
            </a:p>
          </p:txBody>
        </p:sp>
        <p:sp>
          <p:nvSpPr>
            <p:cNvPr id="30" name="TextBox 30"/>
            <p:cNvSpPr txBox="1"/>
            <p:nvPr/>
          </p:nvSpPr>
          <p:spPr>
            <a:xfrm>
              <a:off x="4121468" y="4091464"/>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统计学习理论</a:t>
              </a:r>
            </a:p>
          </p:txBody>
        </p:sp>
        <p:sp>
          <p:nvSpPr>
            <p:cNvPr id="31" name="Rectangle 31"/>
            <p:cNvSpPr/>
            <p:nvPr/>
          </p:nvSpPr>
          <p:spPr>
            <a:xfrm>
              <a:off x="533400" y="4368165"/>
              <a:ext cx="5626418" cy="9525"/>
            </a:xfrm>
            <a:prstGeom prst="rect">
              <a:avLst/>
            </a:prstGeom>
            <a:solidFill>
              <a:srgbClr val="D9DFEA"/>
            </a:solidFill>
            <a:ln>
              <a:noFill/>
            </a:ln>
          </p:spPr>
        </p:sp>
        <p:sp>
          <p:nvSpPr>
            <p:cNvPr id="32" name="Rectangle 32"/>
            <p:cNvSpPr/>
            <p:nvPr/>
          </p:nvSpPr>
          <p:spPr>
            <a:xfrm>
              <a:off x="533400" y="4372928"/>
              <a:ext cx="5626418" cy="405765"/>
            </a:xfrm>
            <a:prstGeom prst="rect">
              <a:avLst/>
            </a:prstGeom>
            <a:solidFill>
              <a:srgbClr val="F4F6FB"/>
            </a:solidFill>
            <a:ln>
              <a:noFill/>
            </a:ln>
          </p:spPr>
        </p:sp>
        <p:sp>
          <p:nvSpPr>
            <p:cNvPr id="33" name="TextBox 33"/>
            <p:cNvSpPr txBox="1"/>
            <p:nvPr/>
          </p:nvSpPr>
          <p:spPr>
            <a:xfrm>
              <a:off x="633412" y="449722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样本要求</a:t>
              </a:r>
            </a:p>
          </p:txBody>
        </p:sp>
        <p:sp>
          <p:nvSpPr>
            <p:cNvPr id="34" name="TextBox 34"/>
            <p:cNvSpPr txBox="1"/>
            <p:nvPr/>
          </p:nvSpPr>
          <p:spPr>
            <a:xfrm>
              <a:off x="1984058" y="4497229"/>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需样本数趋于无穷</a:t>
              </a:r>
            </a:p>
          </p:txBody>
        </p:sp>
        <p:sp>
          <p:nvSpPr>
            <p:cNvPr id="35" name="TextBox 35"/>
            <p:cNvSpPr txBox="1"/>
            <p:nvPr/>
          </p:nvSpPr>
          <p:spPr>
            <a:xfrm>
              <a:off x="4121468" y="4497229"/>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不需要</a:t>
              </a:r>
            </a:p>
          </p:txBody>
        </p:sp>
        <p:sp>
          <p:nvSpPr>
            <p:cNvPr id="36" name="Rectangle 36"/>
            <p:cNvSpPr/>
            <p:nvPr/>
          </p:nvSpPr>
          <p:spPr>
            <a:xfrm>
              <a:off x="533400" y="4773930"/>
              <a:ext cx="5626418" cy="9525"/>
            </a:xfrm>
            <a:prstGeom prst="rect">
              <a:avLst/>
            </a:prstGeom>
            <a:solidFill>
              <a:srgbClr val="D9DFEA"/>
            </a:solidFill>
            <a:ln>
              <a:noFill/>
            </a:ln>
          </p:spPr>
        </p:sp>
        <p:sp>
          <p:nvSpPr>
            <p:cNvPr id="37" name="TextBox 37"/>
            <p:cNvSpPr txBox="1"/>
            <p:nvPr/>
          </p:nvSpPr>
          <p:spPr>
            <a:xfrm>
              <a:off x="633412" y="4902994"/>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复杂度衡量</a:t>
              </a:r>
            </a:p>
          </p:txBody>
        </p:sp>
        <p:sp>
          <p:nvSpPr>
            <p:cNvPr id="38" name="TextBox 38"/>
            <p:cNvSpPr txBox="1"/>
            <p:nvPr/>
          </p:nvSpPr>
          <p:spPr>
            <a:xfrm>
              <a:off x="1984058" y="4902994"/>
              <a:ext cx="16220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无</a:t>
              </a:r>
            </a:p>
          </p:txBody>
        </p:sp>
        <p:sp>
          <p:nvSpPr>
            <p:cNvPr id="39" name="TextBox 39"/>
            <p:cNvSpPr txBox="1"/>
            <p:nvPr/>
          </p:nvSpPr>
          <p:spPr>
            <a:xfrm>
              <a:off x="4121468" y="4902994"/>
              <a:ext cx="38523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VC 维</a:t>
              </a:r>
            </a:p>
          </p:txBody>
        </p:sp>
        <p:sp>
          <p:nvSpPr>
            <p:cNvPr id="40" name="Rectangle 40"/>
            <p:cNvSpPr/>
            <p:nvPr/>
          </p:nvSpPr>
          <p:spPr>
            <a:xfrm>
              <a:off x="533400" y="5179695"/>
              <a:ext cx="5626418" cy="9525"/>
            </a:xfrm>
            <a:prstGeom prst="rect">
              <a:avLst/>
            </a:prstGeom>
            <a:solidFill>
              <a:srgbClr val="D9DFEA"/>
            </a:solidFill>
            <a:ln>
              <a:noFill/>
            </a:ln>
          </p:spPr>
        </p:sp>
        <p:sp>
          <p:nvSpPr>
            <p:cNvPr id="41" name="Rectangle 41"/>
            <p:cNvSpPr/>
            <p:nvPr/>
          </p:nvSpPr>
          <p:spPr>
            <a:xfrm>
              <a:off x="533400" y="5184458"/>
              <a:ext cx="5626418" cy="405765"/>
            </a:xfrm>
            <a:prstGeom prst="rect">
              <a:avLst/>
            </a:prstGeom>
            <a:solidFill>
              <a:srgbClr val="F4F6FB"/>
            </a:solidFill>
            <a:ln>
              <a:noFill/>
            </a:ln>
          </p:spPr>
        </p:sp>
        <p:sp>
          <p:nvSpPr>
            <p:cNvPr id="42" name="TextBox 42"/>
            <p:cNvSpPr txBox="1"/>
            <p:nvPr/>
          </p:nvSpPr>
          <p:spPr>
            <a:xfrm>
              <a:off x="633412" y="5308759"/>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最小化目标</a:t>
              </a:r>
            </a:p>
          </p:txBody>
        </p:sp>
        <p:sp>
          <p:nvSpPr>
            <p:cNvPr id="43" name="TextBox 43"/>
            <p:cNvSpPr txBox="1"/>
            <p:nvPr/>
          </p:nvSpPr>
          <p:spPr>
            <a:xfrm>
              <a:off x="1984058" y="5308759"/>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经验风险</a:t>
              </a:r>
            </a:p>
          </p:txBody>
        </p:sp>
        <p:sp>
          <p:nvSpPr>
            <p:cNvPr id="44" name="Rectangle 44"/>
            <p:cNvSpPr/>
            <p:nvPr/>
          </p:nvSpPr>
          <p:spPr>
            <a:xfrm>
              <a:off x="4030980" y="5193982"/>
              <a:ext cx="2119312" cy="386715"/>
            </a:xfrm>
            <a:prstGeom prst="rect">
              <a:avLst/>
            </a:prstGeom>
            <a:solidFill>
              <a:srgbClr val="E3F5F1"/>
            </a:solidFill>
            <a:ln>
              <a:noFill/>
            </a:ln>
          </p:spPr>
        </p:sp>
        <p:sp>
          <p:nvSpPr>
            <p:cNvPr id="45" name="TextBox 45"/>
            <p:cNvSpPr txBox="1"/>
            <p:nvPr/>
          </p:nvSpPr>
          <p:spPr>
            <a:xfrm>
              <a:off x="4121468" y="5308759"/>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结构风险</a:t>
              </a:r>
            </a:p>
          </p:txBody>
        </p:sp>
        <p:sp>
          <p:nvSpPr>
            <p:cNvPr id="46" name="Rectangle 46"/>
            <p:cNvSpPr/>
            <p:nvPr/>
          </p:nvSpPr>
          <p:spPr>
            <a:xfrm>
              <a:off x="533400" y="3561398"/>
              <a:ext cx="5626418" cy="2028825"/>
            </a:xfrm>
            <a:prstGeom prst="rect">
              <a:avLst/>
            </a:prstGeom>
            <a:noFill/>
            <a:ln w="14288">
              <a:solidFill>
                <a:srgbClr val="D9DFEA"/>
              </a:solidFill>
            </a:ln>
          </p:spPr>
        </p:sp>
        <p:sp>
          <p:nvSpPr>
            <p:cNvPr id="47" name="Rectangle 47"/>
            <p:cNvSpPr/>
            <p:nvPr/>
          </p:nvSpPr>
          <p:spPr>
            <a:xfrm>
              <a:off x="1879282" y="3561398"/>
              <a:ext cx="9525" cy="2028825"/>
            </a:xfrm>
            <a:prstGeom prst="rect">
              <a:avLst/>
            </a:prstGeom>
            <a:solidFill>
              <a:srgbClr val="D9DFEA"/>
            </a:solidFill>
            <a:ln>
              <a:noFill/>
            </a:ln>
          </p:spPr>
        </p:sp>
        <p:sp>
          <p:nvSpPr>
            <p:cNvPr id="48" name="Rectangle 48"/>
            <p:cNvSpPr/>
            <p:nvPr/>
          </p:nvSpPr>
          <p:spPr>
            <a:xfrm>
              <a:off x="4016692" y="3561398"/>
              <a:ext cx="9525" cy="2028825"/>
            </a:xfrm>
            <a:prstGeom prst="rect">
              <a:avLst/>
            </a:prstGeom>
            <a:solidFill>
              <a:srgbClr val="D9DFEA"/>
            </a:solidFill>
            <a:ln>
              <a:noFill/>
            </a:ln>
          </p:spPr>
        </p:sp>
      </p:grpSp>
      <p:grpSp>
        <p:nvGrpSpPr>
          <p:cNvPr id="53" name="c2-code-1"/>
          <p:cNvGrpSpPr/>
          <p:nvPr/>
        </p:nvGrpSpPr>
        <p:grpSpPr>
          <a:xfrm>
            <a:off x="6464618" y="1524000"/>
            <a:ext cx="5193982" cy="2428875"/>
            <a:chOff x="6464618" y="1524000"/>
            <a:chExt cx="5193982" cy="2428875"/>
          </a:xfrm>
        </p:grpSpPr>
        <p:sp>
          <p:nvSpPr>
            <p:cNvPr id="50" name="Rectangle 50"/>
            <p:cNvSpPr/>
            <p:nvPr/>
          </p:nvSpPr>
          <p:spPr>
            <a:xfrm>
              <a:off x="6464618" y="1524000"/>
              <a:ext cx="5193982" cy="2428875"/>
            </a:xfrm>
            <a:prstGeom prst="roundRect">
              <a:avLst>
                <a:gd name="adj" fmla="val 3922"/>
              </a:avLst>
            </a:prstGeom>
            <a:solidFill>
              <a:srgbClr val="F6F8FA"/>
            </a:solidFill>
            <a:ln w="11430">
              <a:solidFill>
                <a:srgbClr val="D9DFEA"/>
              </a:solidFill>
            </a:ln>
          </p:spPr>
        </p:sp>
        <p:sp>
          <p:nvSpPr>
            <p:cNvPr id="51" name="TextBox 51"/>
            <p:cNvSpPr txBox="1"/>
            <p:nvPr/>
          </p:nvSpPr>
          <p:spPr>
            <a:xfrm>
              <a:off x="6593015" y="1675924"/>
              <a:ext cx="152146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scikit-learn 的五行模板</a:t>
              </a:r>
            </a:p>
          </p:txBody>
        </p:sp>
        <p:sp>
          <p:nvSpPr>
            <p:cNvPr id="52" name="TextBox 52"/>
            <p:cNvSpPr txBox="1"/>
            <p:nvPr/>
          </p:nvSpPr>
          <p:spPr>
            <a:xfrm>
              <a:off x="6593205" y="1935194"/>
              <a:ext cx="3792601" cy="1933575"/>
            </a:xfrm>
            <a:prstGeom prst="rect">
              <a:avLst/>
            </a:prstGeom>
            <a:noFill/>
            <a:ln>
              <a:noFill/>
            </a:ln>
          </p:spPr>
          <p:txBody>
            <a:bodyPr wrap="none" lIns="0" tIns="0" rIns="0" bIns="0" anchor="t" anchorCtr="0">
              <a:spAutoFit/>
            </a:bodyPr>
            <a:lstStyle/>
            <a:p>
              <a:pPr algn="l">
                <a:lnSpc>
                  <a:spcPts val="1260"/>
                </a:lnSpc>
              </a:pP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sklearn.svm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SVC</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sklearn.pipeline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make_pipeline</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sklearn.preprocessing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StandardScaler</a:t>
              </a:r>
              <a:br/>
              <a:r>
                <a:rPr lang="en-US" sz="880" b="1" dirty="0">
                  <a:solidFill>
                    <a:srgbClr val="0E7C86"/>
                  </a:solidFill>
                  <a:latin typeface="Consolas"/>
                  <a:ea typeface="Consolas"/>
                  <a:cs typeface="Consolas"/>
                </a:rPr>
                <a:t>from</a:t>
              </a:r>
              <a:r>
                <a:rPr lang="en-US" sz="880" dirty="0">
                  <a:solidFill>
                    <a:srgbClr val="1F2937"/>
                  </a:solidFill>
                  <a:latin typeface="Consolas"/>
                  <a:ea typeface="Consolas"/>
                  <a:cs typeface="Consolas"/>
                </a:rPr>
                <a:t xml:space="preserve"> sklearn.model_selection </a:t>
              </a:r>
              <a:r>
                <a:rPr lang="en-US" sz="880" b="1" dirty="0">
                  <a:solidFill>
                    <a:srgbClr val="0E7C86"/>
                  </a:solidFill>
                  <a:latin typeface="Consolas"/>
                  <a:ea typeface="Consolas"/>
                  <a:cs typeface="Consolas"/>
                </a:rPr>
                <a:t>import</a:t>
              </a:r>
              <a:r>
                <a:rPr lang="en-US" sz="880" dirty="0">
                  <a:solidFill>
                    <a:srgbClr val="1F2937"/>
                  </a:solidFill>
                  <a:latin typeface="Consolas"/>
                  <a:ea typeface="Consolas"/>
                  <a:cs typeface="Consolas"/>
                </a:rPr>
                <a:t xml:space="preserve"> GridSearchCV</a:t>
              </a:r>
              <a:br/>
              <a:r>
                <a:rPr lang="zh-CN" sz="880" dirty="0">
                  <a:solidFill>
                    <a:srgbClr val="1F2937"/>
                  </a:solidFill>
                  <a:latin typeface="Consolas"/>
                  <a:ea typeface="Consolas"/>
                  <a:cs typeface="Consolas"/>
                </a:rPr>
                <a:t xml:space="preserve"> </a:t>
              </a:r>
              <a:br/>
              <a:r>
                <a:rPr lang="en-US" sz="880" dirty="0">
                  <a:solidFill>
                    <a:srgbClr val="1F2937"/>
                  </a:solidFill>
                  <a:latin typeface="Consolas"/>
                  <a:ea typeface="Consolas"/>
                  <a:cs typeface="Consolas"/>
                </a:rPr>
                <a:t xml:space="preserve">clf = make_pipeline(StandardScaler(),        </a:t>
              </a:r>
              <a:r>
                <a:rPr lang="zh-CN" sz="880" dirty="0">
                  <a:solidFill>
                    <a:srgbClr val="0F7A68"/>
                  </a:solidFill>
                  <a:latin typeface="Consolas"/>
                  <a:ea typeface="Microsoft YaHei"/>
                  <a:cs typeface="Consolas"/>
                </a:rPr>
                <a:t># 必须先标准化</a:t>
              </a:r>
              <a:br/>
              <a:r>
                <a:rPr lang="en-US" sz="880" dirty="0">
                  <a:solidFill>
                    <a:srgbClr val="1F2937"/>
                  </a:solidFill>
                  <a:latin typeface="Consolas"/>
                  <a:ea typeface="Consolas"/>
                  <a:cs typeface="Consolas"/>
                </a:rPr>
                <a:t xml:space="preserve">                    SVC(kernel=</a:t>
              </a:r>
              <a:r>
                <a:rPr lang="en-US" sz="880" dirty="0">
                  <a:solidFill>
                    <a:srgbClr val="C2410C"/>
                  </a:solidFill>
                  <a:latin typeface="Consolas"/>
                  <a:ea typeface="Consolas"/>
                  <a:cs typeface="Consolas"/>
                </a:rPr>
                <a:t>"rbf"</a:t>
              </a:r>
              <a:r>
                <a:rPr lang="zh-CN" sz="880" dirty="0">
                  <a:solidFill>
                    <a:srgbClr val="1F2937"/>
                  </a:solidFill>
                  <a:latin typeface="Consolas"/>
                  <a:ea typeface="Consolas"/>
                  <a:cs typeface="Consolas"/>
                </a:rPr>
                <a:t>))</a:t>
              </a:r>
              <a:br/>
              <a:r>
                <a:rPr lang="en-US" sz="880" dirty="0">
                  <a:solidFill>
                    <a:srgbClr val="1F2937"/>
                  </a:solidFill>
                  <a:latin typeface="Consolas"/>
                  <a:ea typeface="Consolas"/>
                  <a:cs typeface="Consolas"/>
                </a:rPr>
                <a:t>grid = {</a:t>
              </a:r>
              <a:r>
                <a:rPr lang="en-US" sz="880" dirty="0">
                  <a:solidFill>
                    <a:srgbClr val="C2410C"/>
                  </a:solidFill>
                  <a:latin typeface="Consolas"/>
                  <a:ea typeface="Consolas"/>
                  <a:cs typeface="Consolas"/>
                </a:rPr>
                <a:t>"svc__C"</a:t>
              </a:r>
              <a:r>
                <a:rPr lang="zh-CN" sz="880" dirty="0">
                  <a:solidFill>
                    <a:srgbClr val="1F2937"/>
                  </a:solidFill>
                  <a:latin typeface="Consolas"/>
                  <a:ea typeface="Consolas"/>
                  <a:cs typeface="Consolas"/>
                </a:rPr>
                <a:t>:     [0.1, 1, 10, 100],</a:t>
              </a:r>
              <a:br/>
              <a:r>
                <a:rPr lang="zh-CN" sz="880" dirty="0">
                  <a:solidFill>
                    <a:srgbClr val="1F2937"/>
                  </a:solidFill>
                  <a:latin typeface="Consolas"/>
                  <a:ea typeface="Consolas"/>
                  <a:cs typeface="Consolas"/>
                </a:rPr>
                <a:t xml:space="preserve">        </a:t>
              </a:r>
              <a:r>
                <a:rPr lang="en-US" sz="880" dirty="0">
                  <a:solidFill>
                    <a:srgbClr val="C2410C"/>
                  </a:solidFill>
                  <a:latin typeface="Consolas"/>
                  <a:ea typeface="Consolas"/>
                  <a:cs typeface="Consolas"/>
                </a:rPr>
                <a:t>"svc__gamma"</a:t>
              </a:r>
              <a:r>
                <a:rPr lang="zh-CN" sz="880" dirty="0">
                  <a:solidFill>
                    <a:srgbClr val="1F2937"/>
                  </a:solidFill>
                  <a:latin typeface="Consolas"/>
                  <a:ea typeface="Consolas"/>
                  <a:cs typeface="Consolas"/>
                </a:rPr>
                <a:t>: [0.001, 0.01, 0.1, 1]}</a:t>
              </a:r>
              <a:br/>
              <a:r>
                <a:rPr lang="en-US" sz="880" dirty="0">
                  <a:solidFill>
                    <a:srgbClr val="1F2937"/>
                  </a:solidFill>
                  <a:latin typeface="Consolas"/>
                  <a:ea typeface="Consolas"/>
                  <a:cs typeface="Consolas"/>
                </a:rPr>
                <a:t>gs = GridSearchCV(clf, grid, cv=5).fit(X, y)</a:t>
              </a:r>
              <a:br/>
              <a:r>
                <a:rPr lang="en-US" sz="880" dirty="0">
                  <a:solidFill>
                    <a:srgbClr val="1F2937"/>
                  </a:solidFill>
                  <a:latin typeface="Consolas"/>
                  <a:ea typeface="Consolas"/>
                  <a:cs typeface="Consolas"/>
                </a:rPr>
                <a:t>print(gs.best_params_, gs.best_score_)</a:t>
              </a:r>
              <a:br/>
              <a:r>
                <a:rPr lang="en-US" sz="880" dirty="0">
                  <a:solidFill>
                    <a:srgbClr val="1F2937"/>
                  </a:solidFill>
                  <a:latin typeface="Consolas"/>
                  <a:ea typeface="Consolas"/>
                  <a:cs typeface="Consolas"/>
                </a:rPr>
                <a:t xml:space="preserve">print(gs.best_estimator_[-1].n_support_)     </a:t>
              </a:r>
              <a:r>
                <a:rPr lang="zh-CN" sz="880" dirty="0">
                  <a:solidFill>
                    <a:srgbClr val="0F7A68"/>
                  </a:solidFill>
                  <a:latin typeface="Consolas"/>
                  <a:ea typeface="Microsoft YaHei"/>
                  <a:cs typeface="Consolas"/>
                </a:rPr>
                <a:t># 各类支持向量个数</a:t>
              </a:r>
            </a:p>
          </p:txBody>
        </p:sp>
      </p:grpSp>
      <p:grpSp>
        <p:nvGrpSpPr>
          <p:cNvPr id="60" name="c2-card-2"/>
          <p:cNvGrpSpPr/>
          <p:nvPr/>
        </p:nvGrpSpPr>
        <p:grpSpPr>
          <a:xfrm>
            <a:off x="6464618" y="4128135"/>
            <a:ext cx="5193982" cy="1483995"/>
            <a:chOff x="6464618" y="4128135"/>
            <a:chExt cx="5193982" cy="1483995"/>
          </a:xfrm>
        </p:grpSpPr>
        <p:sp>
          <p:nvSpPr>
            <p:cNvPr id="54" name="Rectangle 54"/>
            <p:cNvSpPr/>
            <p:nvPr/>
          </p:nvSpPr>
          <p:spPr>
            <a:xfrm>
              <a:off x="6464618" y="4128135"/>
              <a:ext cx="5193982" cy="1483995"/>
            </a:xfrm>
            <a:prstGeom prst="roundRect">
              <a:avLst>
                <a:gd name="adj" fmla="val 8986"/>
              </a:avLst>
            </a:prstGeom>
            <a:solidFill>
              <a:srgbClr val="FFFFFF"/>
            </a:solidFill>
            <a:ln w="14288">
              <a:solidFill>
                <a:srgbClr val="D9DFEA"/>
              </a:solidFill>
            </a:ln>
          </p:spPr>
        </p:sp>
        <p:sp>
          <p:nvSpPr>
            <p:cNvPr id="55" name="Rectangle 55"/>
            <p:cNvSpPr/>
            <p:nvPr/>
          </p:nvSpPr>
          <p:spPr>
            <a:xfrm>
              <a:off x="6474142" y="4261485"/>
              <a:ext cx="47625" cy="1217295"/>
            </a:xfrm>
            <a:prstGeom prst="roundRect">
              <a:avLst>
                <a:gd name="adj" fmla="val 50000"/>
              </a:avLst>
            </a:prstGeom>
            <a:solidFill>
              <a:srgbClr val="B42318"/>
            </a:solidFill>
            <a:ln>
              <a:noFill/>
            </a:ln>
          </p:spPr>
        </p:sp>
        <p:sp>
          <p:nvSpPr>
            <p:cNvPr id="56" name="Rectangle 56"/>
            <p:cNvSpPr/>
            <p:nvPr/>
          </p:nvSpPr>
          <p:spPr>
            <a:xfrm>
              <a:off x="6695122" y="4320540"/>
              <a:ext cx="609600" cy="247650"/>
            </a:xfrm>
            <a:prstGeom prst="roundRect">
              <a:avLst>
                <a:gd name="adj" fmla="val 50000"/>
              </a:avLst>
            </a:prstGeom>
            <a:solidFill>
              <a:srgbClr val="FDECEA"/>
            </a:solidFill>
            <a:ln>
              <a:noFill/>
            </a:ln>
          </p:spPr>
        </p:sp>
        <p:sp>
          <p:nvSpPr>
            <p:cNvPr id="57" name="TextBox 57"/>
            <p:cNvSpPr txBox="1"/>
            <p:nvPr/>
          </p:nvSpPr>
          <p:spPr>
            <a:xfrm>
              <a:off x="6782562" y="4354830"/>
              <a:ext cx="434721"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易错点</a:t>
              </a:r>
            </a:p>
          </p:txBody>
        </p:sp>
        <p:sp>
          <p:nvSpPr>
            <p:cNvPr id="58" name="TextBox 58"/>
            <p:cNvSpPr txBox="1"/>
            <p:nvPr/>
          </p:nvSpPr>
          <p:spPr>
            <a:xfrm>
              <a:off x="7412164" y="4359592"/>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不标准化，高斯核基本没法用</a:t>
              </a:r>
            </a:p>
          </p:txBody>
        </p:sp>
        <p:sp>
          <p:nvSpPr>
            <p:cNvPr id="59" name="TextBox 59"/>
            <p:cNvSpPr txBox="1"/>
            <p:nvPr/>
          </p:nvSpPr>
          <p:spPr>
            <a:xfrm>
              <a:off x="6688264" y="4693920"/>
              <a:ext cx="457428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高斯核里的 ||x − z||² 直接把所有特征的量纲加在一起。某个</a:t>
              </a:r>
              <a:br/>
              <a:r>
                <a:rPr lang="zh-CN" sz="1350" dirty="0">
                  <a:solidFill>
                    <a:srgbClr val="1F2937"/>
                  </a:solidFill>
                  <a:latin typeface="+mn-lt"/>
                  <a:ea typeface="+mn-ea"/>
                  <a:cs typeface="+mn-cs"/>
                </a:rPr>
                <a:t>特征的数值范围大两个数量级，距离就几乎只由它决定，其</a:t>
              </a:r>
              <a:br/>
              <a:r>
                <a:rPr lang="zh-CN" sz="1350" dirty="0">
                  <a:solidFill>
                    <a:srgbClr val="1F2937"/>
                  </a:solidFill>
                  <a:latin typeface="+mn-lt"/>
                  <a:ea typeface="+mn-ea"/>
                  <a:cs typeface="+mn-cs"/>
                </a:rPr>
                <a:t>余特征等于没用。</a:t>
              </a:r>
              <a:r>
                <a:rPr lang="zh-CN" sz="1350" b="1" dirty="0">
                  <a:solidFill>
                    <a:srgbClr val="C2410C"/>
                  </a:solidFill>
                  <a:latin typeface="+mn-lt"/>
                  <a:ea typeface="+mn-ea"/>
                  <a:cs typeface="+mn-cs"/>
                </a:rPr>
                <a:t>上核之前先做标准化</a:t>
              </a:r>
              <a:r>
                <a:rPr lang="zh-CN" sz="1350" dirty="0">
                  <a:solidFill>
                    <a:srgbClr val="1F2937"/>
                  </a:solidFill>
                  <a:latin typeface="+mn-lt"/>
                  <a:ea typeface="+mn-ea"/>
                  <a:cs typeface="+mn-cs"/>
                </a:rPr>
                <a:t>。</a:t>
              </a:r>
            </a:p>
          </p:txBody>
        </p:sp>
      </p:grpSp>
      <p:grpSp>
        <p:nvGrpSpPr>
          <p:cNvPr id="66" name="takeaway"/>
          <p:cNvGrpSpPr/>
          <p:nvPr/>
        </p:nvGrpSpPr>
        <p:grpSpPr>
          <a:xfrm>
            <a:off x="533400" y="5874068"/>
            <a:ext cx="11125200" cy="488632"/>
            <a:chOff x="533400" y="5874068"/>
            <a:chExt cx="11125200" cy="488632"/>
          </a:xfrm>
        </p:grpSpPr>
        <p:sp>
          <p:nvSpPr>
            <p:cNvPr id="61" name="Rectangle 61"/>
            <p:cNvSpPr/>
            <p:nvPr/>
          </p:nvSpPr>
          <p:spPr>
            <a:xfrm>
              <a:off x="533400" y="5874068"/>
              <a:ext cx="11125200" cy="488632"/>
            </a:xfrm>
            <a:prstGeom prst="roundRect">
              <a:avLst>
                <a:gd name="adj" fmla="val 23392"/>
              </a:avLst>
            </a:prstGeom>
            <a:solidFill>
              <a:srgbClr val="0E7C86"/>
            </a:solidFill>
            <a:ln>
              <a:noFill/>
            </a:ln>
          </p:spPr>
        </p:sp>
        <p:grpSp>
          <p:nvGrpSpPr>
            <p:cNvPr id="64" name="Group 64"/>
            <p:cNvGrpSpPr/>
            <p:nvPr/>
          </p:nvGrpSpPr>
          <p:grpSpPr>
            <a:xfrm>
              <a:off x="738188" y="6017897"/>
              <a:ext cx="200023" cy="200023"/>
              <a:chOff x="738188" y="6017897"/>
              <a:chExt cx="200023" cy="200023"/>
            </a:xfrm>
          </p:grpSpPr>
          <p:sp>
            <p:nvSpPr>
              <p:cNvPr id="62" name="Freeform 62"/>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3" name="Freeform 63"/>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5" name="TextBox 65"/>
            <p:cNvSpPr txBox="1"/>
            <p:nvPr/>
          </p:nvSpPr>
          <p:spPr>
            <a:xfrm>
              <a:off x="1040892" y="6023610"/>
              <a:ext cx="9940500"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SVM 避开了从归纳到演绎的传统过程，直接从训练样本推到预报样本，这种做法叫转导推理（transductive inference）。</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14756" cy="909257"/>
            <a:chOff x="520446" y="342900"/>
            <a:chExt cx="4414756" cy="909257"/>
          </a:xfrm>
        </p:grpSpPr>
        <p:sp>
          <p:nvSpPr>
            <p:cNvPr id="2" name="Rectangle 2"/>
            <p:cNvSpPr/>
            <p:nvPr/>
          </p:nvSpPr>
          <p:spPr>
            <a:xfrm>
              <a:off x="533400" y="342900"/>
              <a:ext cx="551498" cy="266700"/>
            </a:xfrm>
            <a:prstGeom prst="roundRect">
              <a:avLst>
                <a:gd name="adj" fmla="val 50000"/>
              </a:avLst>
            </a:prstGeom>
            <a:solidFill>
              <a:srgbClr val="E2F3F4"/>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更正</a:t>
              </a:r>
            </a:p>
          </p:txBody>
        </p:sp>
        <p:sp>
          <p:nvSpPr>
            <p:cNvPr id="4" name="TextBox 4"/>
            <p:cNvSpPr txBox="1"/>
            <p:nvPr/>
          </p:nvSpPr>
          <p:spPr>
            <a:xfrm>
              <a:off x="520446" y="753428"/>
              <a:ext cx="441475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本讲义对原课件的 10 处更正</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8" name="lead"/>
          <p:cNvGrpSpPr/>
          <p:nvPr/>
        </p:nvGrpSpPr>
        <p:grpSpPr>
          <a:xfrm>
            <a:off x="525780" y="1548765"/>
            <a:ext cx="5265420" cy="293370"/>
            <a:chOff x="525780" y="1548765"/>
            <a:chExt cx="5265420" cy="293370"/>
          </a:xfrm>
        </p:grpSpPr>
        <p:sp>
          <p:nvSpPr>
            <p:cNvPr id="7" name="TextBox 7"/>
            <p:cNvSpPr txBox="1"/>
            <p:nvPr/>
          </p:nvSpPr>
          <p:spPr>
            <a:xfrm>
              <a:off x="525780" y="1548765"/>
              <a:ext cx="526542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复习时对着原课件逐条核一遍，这些地方直接照本讲义写。</a:t>
              </a:r>
            </a:p>
          </p:txBody>
        </p:sp>
      </p:grpSp>
      <p:grpSp>
        <p:nvGrpSpPr>
          <p:cNvPr id="52" name="c1-table-1"/>
          <p:cNvGrpSpPr/>
          <p:nvPr/>
        </p:nvGrpSpPr>
        <p:grpSpPr>
          <a:xfrm>
            <a:off x="533400" y="1954530"/>
            <a:ext cx="5410200" cy="3007995"/>
            <a:chOff x="533400" y="1954530"/>
            <a:chExt cx="5410200" cy="3007995"/>
          </a:xfrm>
        </p:grpSpPr>
        <p:sp>
          <p:nvSpPr>
            <p:cNvPr id="9" name="Rectangle 9"/>
            <p:cNvSpPr/>
            <p:nvPr/>
          </p:nvSpPr>
          <p:spPr>
            <a:xfrm>
              <a:off x="533400" y="1954530"/>
              <a:ext cx="5410200" cy="430530"/>
            </a:xfrm>
            <a:prstGeom prst="rect">
              <a:avLst/>
            </a:prstGeom>
            <a:solidFill>
              <a:srgbClr val="0E7C86"/>
            </a:solidFill>
            <a:ln>
              <a:noFill/>
            </a:ln>
          </p:spPr>
        </p:sp>
        <p:sp>
          <p:nvSpPr>
            <p:cNvPr id="10" name="TextBox 10"/>
            <p:cNvSpPr txBox="1"/>
            <p:nvPr/>
          </p:nvSpPr>
          <p:spPr>
            <a:xfrm>
              <a:off x="724498" y="208597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a:t>
              </a:r>
            </a:p>
          </p:txBody>
        </p:sp>
        <p:sp>
          <p:nvSpPr>
            <p:cNvPr id="11" name="TextBox 11"/>
            <p:cNvSpPr txBox="1"/>
            <p:nvPr/>
          </p:nvSpPr>
          <p:spPr>
            <a:xfrm>
              <a:off x="147447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出处</a:t>
              </a:r>
            </a:p>
          </p:txBody>
        </p:sp>
        <p:sp>
          <p:nvSpPr>
            <p:cNvPr id="12" name="TextBox 12"/>
            <p:cNvSpPr txBox="1"/>
            <p:nvPr/>
          </p:nvSpPr>
          <p:spPr>
            <a:xfrm>
              <a:off x="2638997" y="2085975"/>
              <a:ext cx="819912"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原课件写法</a:t>
              </a:r>
            </a:p>
          </p:txBody>
        </p:sp>
        <p:sp>
          <p:nvSpPr>
            <p:cNvPr id="13" name="TextBox 13"/>
            <p:cNvSpPr txBox="1"/>
            <p:nvPr/>
          </p:nvSpPr>
          <p:spPr>
            <a:xfrm>
              <a:off x="4477702"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应为</a:t>
              </a:r>
            </a:p>
          </p:txBody>
        </p:sp>
        <p:sp>
          <p:nvSpPr>
            <p:cNvPr id="14" name="TextBox 14"/>
            <p:cNvSpPr txBox="1"/>
            <p:nvPr/>
          </p:nvSpPr>
          <p:spPr>
            <a:xfrm>
              <a:off x="5612892" y="2085975"/>
              <a:ext cx="17373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页</a:t>
              </a:r>
            </a:p>
          </p:txBody>
        </p:sp>
        <p:sp>
          <p:nvSpPr>
            <p:cNvPr id="15" name="TextBox 15"/>
            <p:cNvSpPr txBox="1"/>
            <p:nvPr/>
          </p:nvSpPr>
          <p:spPr>
            <a:xfrm>
              <a:off x="638746" y="2515552"/>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1</a:t>
              </a:r>
            </a:p>
          </p:txBody>
        </p:sp>
        <p:sp>
          <p:nvSpPr>
            <p:cNvPr id="16" name="TextBox 16"/>
            <p:cNvSpPr txBox="1"/>
            <p:nvPr/>
          </p:nvSpPr>
          <p:spPr>
            <a:xfrm>
              <a:off x="1125474" y="2515552"/>
              <a:ext cx="66614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B 第 8 页</a:t>
              </a:r>
            </a:p>
          </p:txBody>
        </p:sp>
        <p:sp>
          <p:nvSpPr>
            <p:cNvPr id="17" name="TextBox 17"/>
            <p:cNvSpPr txBox="1"/>
            <p:nvPr/>
          </p:nvSpPr>
          <p:spPr>
            <a:xfrm>
              <a:off x="2370392" y="2515552"/>
              <a:ext cx="1199921"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R_emp = Σ L(·)</a:t>
              </a:r>
            </a:p>
          </p:txBody>
        </p:sp>
        <p:sp>
          <p:nvSpPr>
            <p:cNvPr id="18" name="TextBox 18"/>
            <p:cNvSpPr txBox="1"/>
            <p:nvPr/>
          </p:nvSpPr>
          <p:spPr>
            <a:xfrm>
              <a:off x="3939159" y="2515552"/>
              <a:ext cx="104241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带 1/N 的平均</a:t>
              </a:r>
            </a:p>
          </p:txBody>
        </p:sp>
        <p:sp>
          <p:nvSpPr>
            <p:cNvPr id="19" name="TextBox 19"/>
            <p:cNvSpPr txBox="1"/>
            <p:nvPr/>
          </p:nvSpPr>
          <p:spPr>
            <a:xfrm>
              <a:off x="5562219" y="251555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5</a:t>
              </a:r>
            </a:p>
          </p:txBody>
        </p:sp>
        <p:sp>
          <p:nvSpPr>
            <p:cNvPr id="20" name="Rectangle 20"/>
            <p:cNvSpPr/>
            <p:nvPr/>
          </p:nvSpPr>
          <p:spPr>
            <a:xfrm>
              <a:off x="533400" y="2809875"/>
              <a:ext cx="5410200" cy="9525"/>
            </a:xfrm>
            <a:prstGeom prst="rect">
              <a:avLst/>
            </a:prstGeom>
            <a:solidFill>
              <a:srgbClr val="D9DFEA"/>
            </a:solidFill>
            <a:ln>
              <a:noFill/>
            </a:ln>
          </p:spPr>
        </p:sp>
        <p:sp>
          <p:nvSpPr>
            <p:cNvPr id="21" name="Rectangle 21"/>
            <p:cNvSpPr/>
            <p:nvPr/>
          </p:nvSpPr>
          <p:spPr>
            <a:xfrm>
              <a:off x="533400" y="2814638"/>
              <a:ext cx="5410200" cy="643890"/>
            </a:xfrm>
            <a:prstGeom prst="rect">
              <a:avLst/>
            </a:prstGeom>
            <a:solidFill>
              <a:srgbClr val="F4F6FB"/>
            </a:solidFill>
            <a:ln>
              <a:noFill/>
            </a:ln>
          </p:spPr>
        </p:sp>
        <p:sp>
          <p:nvSpPr>
            <p:cNvPr id="22" name="TextBox 22"/>
            <p:cNvSpPr txBox="1"/>
            <p:nvPr/>
          </p:nvSpPr>
          <p:spPr>
            <a:xfrm>
              <a:off x="638746" y="3052762"/>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2</a:t>
              </a:r>
            </a:p>
          </p:txBody>
        </p:sp>
        <p:sp>
          <p:nvSpPr>
            <p:cNvPr id="23" name="TextBox 23"/>
            <p:cNvSpPr txBox="1"/>
            <p:nvPr/>
          </p:nvSpPr>
          <p:spPr>
            <a:xfrm>
              <a:off x="1125474" y="2946082"/>
              <a:ext cx="9418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B 第 10、A 第</a:t>
              </a:r>
              <a:br/>
              <a:r>
                <a:rPr lang="zh-CN" sz="1200" dirty="0">
                  <a:solidFill>
                    <a:srgbClr val="1F2937"/>
                  </a:solidFill>
                  <a:latin typeface="+mn-lt"/>
                  <a:ea typeface="+mn-ea"/>
                  <a:cs typeface="+mn-cs"/>
                </a:rPr>
                <a:t>6 页</a:t>
              </a:r>
            </a:p>
          </p:txBody>
        </p:sp>
        <p:sp>
          <p:nvSpPr>
            <p:cNvPr id="24" name="TextBox 24"/>
            <p:cNvSpPr txBox="1"/>
            <p:nvPr/>
          </p:nvSpPr>
          <p:spPr>
            <a:xfrm>
              <a:off x="2370392" y="3052762"/>
              <a:ext cx="68260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ln(2h/n)</a:t>
              </a:r>
            </a:p>
          </p:txBody>
        </p:sp>
        <p:sp>
          <p:nvSpPr>
            <p:cNvPr id="25" name="Rectangle 25"/>
            <p:cNvSpPr/>
            <p:nvPr/>
          </p:nvSpPr>
          <p:spPr>
            <a:xfrm>
              <a:off x="3843338" y="2824162"/>
              <a:ext cx="1604010" cy="624840"/>
            </a:xfrm>
            <a:prstGeom prst="rect">
              <a:avLst/>
            </a:prstGeom>
            <a:solidFill>
              <a:srgbClr val="E3F5F1"/>
            </a:solidFill>
            <a:ln>
              <a:noFill/>
            </a:ln>
          </p:spPr>
        </p:sp>
        <p:sp>
          <p:nvSpPr>
            <p:cNvPr id="26" name="TextBox 26"/>
            <p:cNvSpPr txBox="1"/>
            <p:nvPr/>
          </p:nvSpPr>
          <p:spPr>
            <a:xfrm>
              <a:off x="3939159" y="3052762"/>
              <a:ext cx="692087"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ln(2N/h)</a:t>
              </a:r>
            </a:p>
          </p:txBody>
        </p:sp>
        <p:sp>
          <p:nvSpPr>
            <p:cNvPr id="27" name="TextBox 27"/>
            <p:cNvSpPr txBox="1"/>
            <p:nvPr/>
          </p:nvSpPr>
          <p:spPr>
            <a:xfrm>
              <a:off x="5562219" y="305276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7</a:t>
              </a:r>
            </a:p>
          </p:txBody>
        </p:sp>
        <p:sp>
          <p:nvSpPr>
            <p:cNvPr id="28" name="Rectangle 28"/>
            <p:cNvSpPr/>
            <p:nvPr/>
          </p:nvSpPr>
          <p:spPr>
            <a:xfrm>
              <a:off x="533400" y="3453765"/>
              <a:ext cx="5410200" cy="9525"/>
            </a:xfrm>
            <a:prstGeom prst="rect">
              <a:avLst/>
            </a:prstGeom>
            <a:solidFill>
              <a:srgbClr val="D9DFEA"/>
            </a:solidFill>
            <a:ln>
              <a:noFill/>
            </a:ln>
          </p:spPr>
        </p:sp>
        <p:sp>
          <p:nvSpPr>
            <p:cNvPr id="29" name="TextBox 29"/>
            <p:cNvSpPr txBox="1"/>
            <p:nvPr/>
          </p:nvSpPr>
          <p:spPr>
            <a:xfrm>
              <a:off x="638746" y="3589972"/>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3</a:t>
              </a:r>
            </a:p>
          </p:txBody>
        </p:sp>
        <p:sp>
          <p:nvSpPr>
            <p:cNvPr id="30" name="TextBox 30"/>
            <p:cNvSpPr txBox="1"/>
            <p:nvPr/>
          </p:nvSpPr>
          <p:spPr>
            <a:xfrm>
              <a:off x="1125474" y="3589972"/>
              <a:ext cx="7549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A 第 27 页</a:t>
              </a:r>
            </a:p>
          </p:txBody>
        </p:sp>
        <p:sp>
          <p:nvSpPr>
            <p:cNvPr id="31" name="TextBox 31"/>
            <p:cNvSpPr txBox="1"/>
            <p:nvPr/>
          </p:nvSpPr>
          <p:spPr>
            <a:xfrm>
              <a:off x="2370392" y="3589972"/>
              <a:ext cx="553364"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λ = 0.5</a:t>
              </a:r>
            </a:p>
          </p:txBody>
        </p:sp>
        <p:sp>
          <p:nvSpPr>
            <p:cNvPr id="32" name="TextBox 32"/>
            <p:cNvSpPr txBox="1"/>
            <p:nvPr/>
          </p:nvSpPr>
          <p:spPr>
            <a:xfrm>
              <a:off x="3939159" y="3589972"/>
              <a:ext cx="375666"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λ = 2</a:t>
              </a:r>
            </a:p>
          </p:txBody>
        </p:sp>
        <p:sp>
          <p:nvSpPr>
            <p:cNvPr id="33" name="TextBox 33"/>
            <p:cNvSpPr txBox="1"/>
            <p:nvPr/>
          </p:nvSpPr>
          <p:spPr>
            <a:xfrm>
              <a:off x="5562219" y="3589972"/>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18</a:t>
              </a:r>
            </a:p>
          </p:txBody>
        </p:sp>
        <p:sp>
          <p:nvSpPr>
            <p:cNvPr id="34" name="Rectangle 34"/>
            <p:cNvSpPr/>
            <p:nvPr/>
          </p:nvSpPr>
          <p:spPr>
            <a:xfrm>
              <a:off x="533400" y="3883342"/>
              <a:ext cx="5410200" cy="9525"/>
            </a:xfrm>
            <a:prstGeom prst="rect">
              <a:avLst/>
            </a:prstGeom>
            <a:solidFill>
              <a:srgbClr val="D9DFEA"/>
            </a:solidFill>
            <a:ln>
              <a:noFill/>
            </a:ln>
          </p:spPr>
        </p:sp>
        <p:sp>
          <p:nvSpPr>
            <p:cNvPr id="35" name="Rectangle 35"/>
            <p:cNvSpPr/>
            <p:nvPr/>
          </p:nvSpPr>
          <p:spPr>
            <a:xfrm>
              <a:off x="533400" y="3888105"/>
              <a:ext cx="5410200" cy="643890"/>
            </a:xfrm>
            <a:prstGeom prst="rect">
              <a:avLst/>
            </a:prstGeom>
            <a:solidFill>
              <a:srgbClr val="F4F6FB"/>
            </a:solidFill>
            <a:ln>
              <a:noFill/>
            </a:ln>
          </p:spPr>
        </p:sp>
        <p:sp>
          <p:nvSpPr>
            <p:cNvPr id="36" name="TextBox 36"/>
            <p:cNvSpPr txBox="1"/>
            <p:nvPr/>
          </p:nvSpPr>
          <p:spPr>
            <a:xfrm>
              <a:off x="638746" y="4126230"/>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4</a:t>
              </a:r>
            </a:p>
          </p:txBody>
        </p:sp>
        <p:sp>
          <p:nvSpPr>
            <p:cNvPr id="37" name="TextBox 37"/>
            <p:cNvSpPr txBox="1"/>
            <p:nvPr/>
          </p:nvSpPr>
          <p:spPr>
            <a:xfrm>
              <a:off x="1125474" y="4126230"/>
              <a:ext cx="7549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B 第 59 页</a:t>
              </a:r>
            </a:p>
          </p:txBody>
        </p:sp>
        <p:sp>
          <p:nvSpPr>
            <p:cNvPr id="38" name="TextBox 38"/>
            <p:cNvSpPr txBox="1"/>
            <p:nvPr/>
          </p:nvSpPr>
          <p:spPr>
            <a:xfrm>
              <a:off x="2370392" y="4019550"/>
              <a:ext cx="12542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C−α−β=0 标为原始</a:t>
              </a:r>
              <a:br/>
              <a:r>
                <a:rPr lang="zh-CN" sz="1200" dirty="0">
                  <a:solidFill>
                    <a:srgbClr val="1F2937"/>
                  </a:solidFill>
                  <a:latin typeface="+mn-lt"/>
                  <a:ea typeface="+mn-ea"/>
                  <a:cs typeface="+mn-cs"/>
                </a:rPr>
                <a:t>可行性</a:t>
              </a:r>
            </a:p>
          </p:txBody>
        </p:sp>
        <p:sp>
          <p:nvSpPr>
            <p:cNvPr id="39" name="TextBox 39"/>
            <p:cNvSpPr txBox="1"/>
            <p:nvPr/>
          </p:nvSpPr>
          <p:spPr>
            <a:xfrm>
              <a:off x="3939159" y="4126230"/>
              <a:ext cx="114300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它是平稳性条件</a:t>
              </a:r>
            </a:p>
          </p:txBody>
        </p:sp>
        <p:sp>
          <p:nvSpPr>
            <p:cNvPr id="40" name="TextBox 40"/>
            <p:cNvSpPr txBox="1"/>
            <p:nvPr/>
          </p:nvSpPr>
          <p:spPr>
            <a:xfrm>
              <a:off x="5562219" y="4126230"/>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19</a:t>
              </a:r>
            </a:p>
          </p:txBody>
        </p:sp>
        <p:sp>
          <p:nvSpPr>
            <p:cNvPr id="41" name="Rectangle 41"/>
            <p:cNvSpPr/>
            <p:nvPr/>
          </p:nvSpPr>
          <p:spPr>
            <a:xfrm>
              <a:off x="533400" y="4527232"/>
              <a:ext cx="5410200" cy="9525"/>
            </a:xfrm>
            <a:prstGeom prst="rect">
              <a:avLst/>
            </a:prstGeom>
            <a:solidFill>
              <a:srgbClr val="D9DFEA"/>
            </a:solidFill>
            <a:ln>
              <a:noFill/>
            </a:ln>
          </p:spPr>
        </p:sp>
        <p:sp>
          <p:nvSpPr>
            <p:cNvPr id="42" name="TextBox 42"/>
            <p:cNvSpPr txBox="1"/>
            <p:nvPr/>
          </p:nvSpPr>
          <p:spPr>
            <a:xfrm>
              <a:off x="638746" y="4663440"/>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5</a:t>
              </a:r>
            </a:p>
          </p:txBody>
        </p:sp>
        <p:sp>
          <p:nvSpPr>
            <p:cNvPr id="43" name="TextBox 43"/>
            <p:cNvSpPr txBox="1"/>
            <p:nvPr/>
          </p:nvSpPr>
          <p:spPr>
            <a:xfrm>
              <a:off x="1125474" y="4663440"/>
              <a:ext cx="7549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B 第 44 页</a:t>
              </a:r>
            </a:p>
          </p:txBody>
        </p:sp>
        <p:sp>
          <p:nvSpPr>
            <p:cNvPr id="44" name="TextBox 44"/>
            <p:cNvSpPr txBox="1"/>
            <p:nvPr/>
          </p:nvSpPr>
          <p:spPr>
            <a:xfrm>
              <a:off x="2370392" y="4663440"/>
              <a:ext cx="701573"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Σⱼ₌₁ᴺ αᵢ</a:t>
              </a:r>
            </a:p>
          </p:txBody>
        </p:sp>
        <p:sp>
          <p:nvSpPr>
            <p:cNvPr id="45" name="TextBox 45"/>
            <p:cNvSpPr txBox="1"/>
            <p:nvPr/>
          </p:nvSpPr>
          <p:spPr>
            <a:xfrm>
              <a:off x="3939159" y="4663440"/>
              <a:ext cx="701573" cy="234696"/>
            </a:xfrm>
            <a:prstGeom prst="rect">
              <a:avLst/>
            </a:prstGeom>
            <a:noFill/>
            <a:ln>
              <a:noFill/>
            </a:ln>
          </p:spPr>
          <p:txBody>
            <a:bodyPr wrap="none" lIns="0" tIns="0" rIns="0" bIns="0" anchor="t" anchorCtr="0">
              <a:spAutoFit/>
            </a:bodyPr>
            <a:lstStyle/>
            <a:p>
              <a:pPr algn="l"/>
              <a:r>
                <a:rPr lang="el-GR" sz="1200" dirty="0">
                  <a:solidFill>
                    <a:srgbClr val="1F2937"/>
                  </a:solidFill>
                  <a:latin typeface="+mn-lt"/>
                  <a:ea typeface="+mn-ea"/>
                  <a:cs typeface="+mn-cs"/>
                </a:rPr>
                <a:t>Σᵢ₌₁ᴺ αᵢ</a:t>
              </a:r>
            </a:p>
          </p:txBody>
        </p:sp>
        <p:sp>
          <p:nvSpPr>
            <p:cNvPr id="46" name="TextBox 46"/>
            <p:cNvSpPr txBox="1"/>
            <p:nvPr/>
          </p:nvSpPr>
          <p:spPr>
            <a:xfrm>
              <a:off x="5562219" y="4663440"/>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31</a:t>
              </a:r>
            </a:p>
          </p:txBody>
        </p:sp>
        <p:sp>
          <p:nvSpPr>
            <p:cNvPr id="47" name="Rectangle 47"/>
            <p:cNvSpPr/>
            <p:nvPr/>
          </p:nvSpPr>
          <p:spPr>
            <a:xfrm>
              <a:off x="533400" y="1954530"/>
              <a:ext cx="5410200" cy="3007995"/>
            </a:xfrm>
            <a:prstGeom prst="rect">
              <a:avLst/>
            </a:prstGeom>
            <a:noFill/>
            <a:ln w="14288">
              <a:solidFill>
                <a:srgbClr val="D9DFEA"/>
              </a:solidFill>
            </a:ln>
          </p:spPr>
        </p:sp>
        <p:sp>
          <p:nvSpPr>
            <p:cNvPr id="48" name="Rectangle 48"/>
            <p:cNvSpPr/>
            <p:nvPr/>
          </p:nvSpPr>
          <p:spPr>
            <a:xfrm>
              <a:off x="1015365" y="1954530"/>
              <a:ext cx="9525" cy="3007995"/>
            </a:xfrm>
            <a:prstGeom prst="rect">
              <a:avLst/>
            </a:prstGeom>
            <a:solidFill>
              <a:srgbClr val="D9DFEA"/>
            </a:solidFill>
            <a:ln>
              <a:noFill/>
            </a:ln>
          </p:spPr>
        </p:sp>
        <p:sp>
          <p:nvSpPr>
            <p:cNvPr id="49" name="Rectangle 49"/>
            <p:cNvSpPr/>
            <p:nvPr/>
          </p:nvSpPr>
          <p:spPr>
            <a:xfrm>
              <a:off x="2260282" y="1954530"/>
              <a:ext cx="9525" cy="3007995"/>
            </a:xfrm>
            <a:prstGeom prst="rect">
              <a:avLst/>
            </a:prstGeom>
            <a:solidFill>
              <a:srgbClr val="D9DFEA"/>
            </a:solidFill>
            <a:ln>
              <a:noFill/>
            </a:ln>
          </p:spPr>
        </p:sp>
        <p:sp>
          <p:nvSpPr>
            <p:cNvPr id="50" name="Rectangle 50"/>
            <p:cNvSpPr/>
            <p:nvPr/>
          </p:nvSpPr>
          <p:spPr>
            <a:xfrm>
              <a:off x="3829050" y="1954530"/>
              <a:ext cx="9525" cy="3007995"/>
            </a:xfrm>
            <a:prstGeom prst="rect">
              <a:avLst/>
            </a:prstGeom>
            <a:solidFill>
              <a:srgbClr val="D9DFEA"/>
            </a:solidFill>
            <a:ln>
              <a:noFill/>
            </a:ln>
          </p:spPr>
        </p:sp>
        <p:sp>
          <p:nvSpPr>
            <p:cNvPr id="51" name="Rectangle 51"/>
            <p:cNvSpPr/>
            <p:nvPr/>
          </p:nvSpPr>
          <p:spPr>
            <a:xfrm>
              <a:off x="5452110" y="1954530"/>
              <a:ext cx="9525" cy="3007995"/>
            </a:xfrm>
            <a:prstGeom prst="rect">
              <a:avLst/>
            </a:prstGeom>
            <a:solidFill>
              <a:srgbClr val="D9DFEA"/>
            </a:solidFill>
            <a:ln>
              <a:noFill/>
            </a:ln>
          </p:spPr>
        </p:sp>
      </p:grpSp>
      <p:grpSp>
        <p:nvGrpSpPr>
          <p:cNvPr id="96" name="c2-table-1"/>
          <p:cNvGrpSpPr/>
          <p:nvPr/>
        </p:nvGrpSpPr>
        <p:grpSpPr>
          <a:xfrm>
            <a:off x="6248400" y="1954530"/>
            <a:ext cx="5410200" cy="3434715"/>
            <a:chOff x="6248400" y="1954530"/>
            <a:chExt cx="5410200" cy="3434715"/>
          </a:xfrm>
        </p:grpSpPr>
        <p:sp>
          <p:nvSpPr>
            <p:cNvPr id="53" name="Rectangle 53"/>
            <p:cNvSpPr/>
            <p:nvPr/>
          </p:nvSpPr>
          <p:spPr>
            <a:xfrm>
              <a:off x="6248400" y="1954530"/>
              <a:ext cx="5410200" cy="430530"/>
            </a:xfrm>
            <a:prstGeom prst="rect">
              <a:avLst/>
            </a:prstGeom>
            <a:solidFill>
              <a:srgbClr val="0E7C86"/>
            </a:solidFill>
            <a:ln>
              <a:noFill/>
            </a:ln>
          </p:spPr>
        </p:sp>
        <p:sp>
          <p:nvSpPr>
            <p:cNvPr id="54" name="TextBox 54"/>
            <p:cNvSpPr txBox="1"/>
            <p:nvPr/>
          </p:nvSpPr>
          <p:spPr>
            <a:xfrm>
              <a:off x="6439498" y="208597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a:t>
              </a:r>
            </a:p>
          </p:txBody>
        </p:sp>
        <p:sp>
          <p:nvSpPr>
            <p:cNvPr id="55" name="TextBox 55"/>
            <p:cNvSpPr txBox="1"/>
            <p:nvPr/>
          </p:nvSpPr>
          <p:spPr>
            <a:xfrm>
              <a:off x="7189470"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出处</a:t>
              </a:r>
            </a:p>
          </p:txBody>
        </p:sp>
        <p:sp>
          <p:nvSpPr>
            <p:cNvPr id="56" name="TextBox 56"/>
            <p:cNvSpPr txBox="1"/>
            <p:nvPr/>
          </p:nvSpPr>
          <p:spPr>
            <a:xfrm>
              <a:off x="8353997" y="2085975"/>
              <a:ext cx="819912"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原课件写法</a:t>
              </a:r>
            </a:p>
          </p:txBody>
        </p:sp>
        <p:sp>
          <p:nvSpPr>
            <p:cNvPr id="57" name="TextBox 57"/>
            <p:cNvSpPr txBox="1"/>
            <p:nvPr/>
          </p:nvSpPr>
          <p:spPr>
            <a:xfrm>
              <a:off x="10192702" y="208597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应为</a:t>
              </a:r>
            </a:p>
          </p:txBody>
        </p:sp>
        <p:sp>
          <p:nvSpPr>
            <p:cNvPr id="58" name="TextBox 58"/>
            <p:cNvSpPr txBox="1"/>
            <p:nvPr/>
          </p:nvSpPr>
          <p:spPr>
            <a:xfrm>
              <a:off x="11327892" y="2085975"/>
              <a:ext cx="17373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页</a:t>
              </a:r>
            </a:p>
          </p:txBody>
        </p:sp>
        <p:sp>
          <p:nvSpPr>
            <p:cNvPr id="59" name="TextBox 59"/>
            <p:cNvSpPr txBox="1"/>
            <p:nvPr/>
          </p:nvSpPr>
          <p:spPr>
            <a:xfrm>
              <a:off x="6353747" y="2515552"/>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6</a:t>
              </a:r>
            </a:p>
          </p:txBody>
        </p:sp>
        <p:sp>
          <p:nvSpPr>
            <p:cNvPr id="60" name="TextBox 60"/>
            <p:cNvSpPr txBox="1"/>
            <p:nvPr/>
          </p:nvSpPr>
          <p:spPr>
            <a:xfrm>
              <a:off x="6840474" y="2515552"/>
              <a:ext cx="7549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B 第 48 页</a:t>
              </a:r>
            </a:p>
          </p:txBody>
        </p:sp>
        <p:sp>
          <p:nvSpPr>
            <p:cNvPr id="61" name="TextBox 61"/>
            <p:cNvSpPr txBox="1"/>
            <p:nvPr/>
          </p:nvSpPr>
          <p:spPr>
            <a:xfrm>
              <a:off x="8085392" y="2515552"/>
              <a:ext cx="9814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在二维空间中</a:t>
              </a:r>
            </a:p>
          </p:txBody>
        </p:sp>
        <p:sp>
          <p:nvSpPr>
            <p:cNvPr id="62" name="Rectangle 62"/>
            <p:cNvSpPr/>
            <p:nvPr/>
          </p:nvSpPr>
          <p:spPr>
            <a:xfrm>
              <a:off x="9558338" y="2394585"/>
              <a:ext cx="1604010" cy="411480"/>
            </a:xfrm>
            <a:prstGeom prst="rect">
              <a:avLst/>
            </a:prstGeom>
            <a:solidFill>
              <a:srgbClr val="E3F5F1"/>
            </a:solidFill>
            <a:ln>
              <a:noFill/>
            </a:ln>
          </p:spPr>
        </p:sp>
        <p:sp>
          <p:nvSpPr>
            <p:cNvPr id="63" name="TextBox 63"/>
            <p:cNvSpPr txBox="1"/>
            <p:nvPr/>
          </p:nvSpPr>
          <p:spPr>
            <a:xfrm>
              <a:off x="9654159" y="2515552"/>
              <a:ext cx="9814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在一维空间中</a:t>
              </a:r>
            </a:p>
          </p:txBody>
        </p:sp>
        <p:sp>
          <p:nvSpPr>
            <p:cNvPr id="64" name="TextBox 64"/>
            <p:cNvSpPr txBox="1"/>
            <p:nvPr/>
          </p:nvSpPr>
          <p:spPr>
            <a:xfrm>
              <a:off x="11277219" y="2515552"/>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34</a:t>
              </a:r>
            </a:p>
          </p:txBody>
        </p:sp>
        <p:sp>
          <p:nvSpPr>
            <p:cNvPr id="65" name="Rectangle 65"/>
            <p:cNvSpPr/>
            <p:nvPr/>
          </p:nvSpPr>
          <p:spPr>
            <a:xfrm>
              <a:off x="6248400" y="2809875"/>
              <a:ext cx="5410200" cy="9525"/>
            </a:xfrm>
            <a:prstGeom prst="rect">
              <a:avLst/>
            </a:prstGeom>
            <a:solidFill>
              <a:srgbClr val="D9DFEA"/>
            </a:solidFill>
            <a:ln>
              <a:noFill/>
            </a:ln>
          </p:spPr>
        </p:sp>
        <p:sp>
          <p:nvSpPr>
            <p:cNvPr id="66" name="Rectangle 66"/>
            <p:cNvSpPr/>
            <p:nvPr/>
          </p:nvSpPr>
          <p:spPr>
            <a:xfrm>
              <a:off x="6248400" y="2814638"/>
              <a:ext cx="5410200" cy="643890"/>
            </a:xfrm>
            <a:prstGeom prst="rect">
              <a:avLst/>
            </a:prstGeom>
            <a:solidFill>
              <a:srgbClr val="F4F6FB"/>
            </a:solidFill>
            <a:ln>
              <a:noFill/>
            </a:ln>
          </p:spPr>
        </p:sp>
        <p:sp>
          <p:nvSpPr>
            <p:cNvPr id="67" name="TextBox 67"/>
            <p:cNvSpPr txBox="1"/>
            <p:nvPr/>
          </p:nvSpPr>
          <p:spPr>
            <a:xfrm>
              <a:off x="6353747" y="3052762"/>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7</a:t>
              </a:r>
            </a:p>
          </p:txBody>
        </p:sp>
        <p:sp>
          <p:nvSpPr>
            <p:cNvPr id="68" name="TextBox 68"/>
            <p:cNvSpPr txBox="1"/>
            <p:nvPr/>
          </p:nvSpPr>
          <p:spPr>
            <a:xfrm>
              <a:off x="6840474" y="2946082"/>
              <a:ext cx="9418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B 第 50、A 第</a:t>
              </a:r>
              <a:br/>
              <a:r>
                <a:rPr lang="zh-CN" sz="1200" dirty="0">
                  <a:solidFill>
                    <a:srgbClr val="1F2937"/>
                  </a:solidFill>
                  <a:latin typeface="+mn-lt"/>
                  <a:ea typeface="+mn-ea"/>
                  <a:cs typeface="+mn-cs"/>
                </a:rPr>
                <a:t>16 页</a:t>
              </a:r>
            </a:p>
          </p:txBody>
        </p:sp>
        <p:sp>
          <p:nvSpPr>
            <p:cNvPr id="69" name="TextBox 69"/>
            <p:cNvSpPr txBox="1"/>
            <p:nvPr/>
          </p:nvSpPr>
          <p:spPr>
            <a:xfrm>
              <a:off x="8085392" y="3052762"/>
              <a:ext cx="13287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关于 y 的线性函数</a:t>
              </a:r>
            </a:p>
          </p:txBody>
        </p:sp>
        <p:sp>
          <p:nvSpPr>
            <p:cNvPr id="70" name="TextBox 70"/>
            <p:cNvSpPr txBox="1"/>
            <p:nvPr/>
          </p:nvSpPr>
          <p:spPr>
            <a:xfrm>
              <a:off x="9654159" y="3052762"/>
              <a:ext cx="125608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关于 z，y 是标签</a:t>
              </a:r>
            </a:p>
          </p:txBody>
        </p:sp>
        <p:sp>
          <p:nvSpPr>
            <p:cNvPr id="71" name="TextBox 71"/>
            <p:cNvSpPr txBox="1"/>
            <p:nvPr/>
          </p:nvSpPr>
          <p:spPr>
            <a:xfrm>
              <a:off x="11277219" y="3052762"/>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35</a:t>
              </a:r>
            </a:p>
          </p:txBody>
        </p:sp>
        <p:sp>
          <p:nvSpPr>
            <p:cNvPr id="72" name="Rectangle 72"/>
            <p:cNvSpPr/>
            <p:nvPr/>
          </p:nvSpPr>
          <p:spPr>
            <a:xfrm>
              <a:off x="6248400" y="3453765"/>
              <a:ext cx="5410200" cy="9525"/>
            </a:xfrm>
            <a:prstGeom prst="rect">
              <a:avLst/>
            </a:prstGeom>
            <a:solidFill>
              <a:srgbClr val="D9DFEA"/>
            </a:solidFill>
            <a:ln>
              <a:noFill/>
            </a:ln>
          </p:spPr>
        </p:sp>
        <p:sp>
          <p:nvSpPr>
            <p:cNvPr id="73" name="TextBox 73"/>
            <p:cNvSpPr txBox="1"/>
            <p:nvPr/>
          </p:nvSpPr>
          <p:spPr>
            <a:xfrm>
              <a:off x="6353747" y="3696652"/>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8</a:t>
              </a:r>
            </a:p>
          </p:txBody>
        </p:sp>
        <p:sp>
          <p:nvSpPr>
            <p:cNvPr id="74" name="TextBox 74"/>
            <p:cNvSpPr txBox="1"/>
            <p:nvPr/>
          </p:nvSpPr>
          <p:spPr>
            <a:xfrm>
              <a:off x="6840474" y="3589972"/>
              <a:ext cx="8275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B 第 60、61</a:t>
              </a:r>
              <a:br/>
              <a:r>
                <a:rPr lang="zh-CN" sz="1200" dirty="0">
                  <a:solidFill>
                    <a:srgbClr val="1F2937"/>
                  </a:solidFill>
                  <a:latin typeface="+mn-lt"/>
                  <a:ea typeface="+mn-ea"/>
                  <a:cs typeface="+mn-cs"/>
                </a:rPr>
                <a:t>页</a:t>
              </a:r>
            </a:p>
          </p:txBody>
        </p:sp>
        <p:sp>
          <p:nvSpPr>
            <p:cNvPr id="75" name="TextBox 75"/>
            <p:cNvSpPr txBox="1"/>
            <p:nvPr/>
          </p:nvSpPr>
          <p:spPr>
            <a:xfrm>
              <a:off x="8085392" y="3589972"/>
              <a:ext cx="10408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w = Σαᵢyᵢxᵢ；</a:t>
              </a:r>
              <a:br/>
              <a:r>
                <a:rPr lang="el-GR" sz="1200" dirty="0">
                  <a:solidFill>
                    <a:srgbClr val="1F2937"/>
                  </a:solidFill>
                  <a:latin typeface="+mn-lt"/>
                  <a:ea typeface="+mn-ea"/>
                  <a:cs typeface="+mn-cs"/>
                </a:rPr>
                <a:t>+bΣαᵢyᵢ</a:t>
              </a:r>
            </a:p>
          </p:txBody>
        </p:sp>
        <p:sp>
          <p:nvSpPr>
            <p:cNvPr id="76" name="TextBox 76"/>
            <p:cNvSpPr txBox="1"/>
            <p:nvPr/>
          </p:nvSpPr>
          <p:spPr>
            <a:xfrm>
              <a:off x="9654159" y="3696652"/>
              <a:ext cx="109453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含 φ；符号为 −</a:t>
              </a:r>
            </a:p>
          </p:txBody>
        </p:sp>
        <p:sp>
          <p:nvSpPr>
            <p:cNvPr id="77" name="TextBox 77"/>
            <p:cNvSpPr txBox="1"/>
            <p:nvPr/>
          </p:nvSpPr>
          <p:spPr>
            <a:xfrm>
              <a:off x="11277219" y="3696652"/>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40</a:t>
              </a:r>
            </a:p>
          </p:txBody>
        </p:sp>
        <p:sp>
          <p:nvSpPr>
            <p:cNvPr id="78" name="Rectangle 78"/>
            <p:cNvSpPr/>
            <p:nvPr/>
          </p:nvSpPr>
          <p:spPr>
            <a:xfrm>
              <a:off x="6248400" y="4096702"/>
              <a:ext cx="5410200" cy="9525"/>
            </a:xfrm>
            <a:prstGeom prst="rect">
              <a:avLst/>
            </a:prstGeom>
            <a:solidFill>
              <a:srgbClr val="D9DFEA"/>
            </a:solidFill>
            <a:ln>
              <a:noFill/>
            </a:ln>
          </p:spPr>
        </p:sp>
        <p:sp>
          <p:nvSpPr>
            <p:cNvPr id="79" name="Rectangle 79"/>
            <p:cNvSpPr/>
            <p:nvPr/>
          </p:nvSpPr>
          <p:spPr>
            <a:xfrm>
              <a:off x="6248400" y="4101465"/>
              <a:ext cx="5410200" cy="643890"/>
            </a:xfrm>
            <a:prstGeom prst="rect">
              <a:avLst/>
            </a:prstGeom>
            <a:solidFill>
              <a:srgbClr val="F4F6FB"/>
            </a:solidFill>
            <a:ln>
              <a:noFill/>
            </a:ln>
          </p:spPr>
        </p:sp>
        <p:sp>
          <p:nvSpPr>
            <p:cNvPr id="80" name="TextBox 80"/>
            <p:cNvSpPr txBox="1"/>
            <p:nvPr/>
          </p:nvSpPr>
          <p:spPr>
            <a:xfrm>
              <a:off x="6353747" y="4339590"/>
              <a:ext cx="1054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9</a:t>
              </a:r>
            </a:p>
          </p:txBody>
        </p:sp>
        <p:sp>
          <p:nvSpPr>
            <p:cNvPr id="81" name="TextBox 81"/>
            <p:cNvSpPr txBox="1"/>
            <p:nvPr/>
          </p:nvSpPr>
          <p:spPr>
            <a:xfrm>
              <a:off x="6840474" y="4232910"/>
              <a:ext cx="9418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B 第 78、A 第</a:t>
              </a:r>
              <a:br/>
              <a:r>
                <a:rPr lang="zh-CN" sz="1200" dirty="0">
                  <a:solidFill>
                    <a:srgbClr val="1F2937"/>
                  </a:solidFill>
                  <a:latin typeface="+mn-lt"/>
                  <a:ea typeface="+mn-ea"/>
                  <a:cs typeface="+mn-cs"/>
                </a:rPr>
                <a:t>63 页</a:t>
              </a:r>
            </a:p>
          </p:txBody>
        </p:sp>
        <p:sp>
          <p:nvSpPr>
            <p:cNvPr id="82" name="TextBox 82"/>
            <p:cNvSpPr txBox="1"/>
            <p:nvPr/>
          </p:nvSpPr>
          <p:spPr>
            <a:xfrm>
              <a:off x="8085392" y="4232910"/>
              <a:ext cx="11018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∇wL 多了一个因</a:t>
              </a:r>
              <a:br/>
              <a:r>
                <a:rPr lang="zh-CN" sz="1200" dirty="0">
                  <a:solidFill>
                    <a:srgbClr val="1F2937"/>
                  </a:solidFill>
                  <a:latin typeface="+mn-lt"/>
                  <a:ea typeface="+mn-ea"/>
                  <a:cs typeface="+mn-cs"/>
                </a:rPr>
                <a:t>子</a:t>
              </a:r>
            </a:p>
          </p:txBody>
        </p:sp>
        <p:sp>
          <p:nvSpPr>
            <p:cNvPr id="83" name="TextBox 83"/>
            <p:cNvSpPr txBox="1"/>
            <p:nvPr/>
          </p:nvSpPr>
          <p:spPr>
            <a:xfrm>
              <a:off x="9654159" y="4232910"/>
              <a:ext cx="1185672" cy="448056"/>
            </a:xfrm>
            <a:prstGeom prst="rect">
              <a:avLst/>
            </a:prstGeom>
            <a:noFill/>
            <a:ln>
              <a:noFill/>
            </a:ln>
          </p:spPr>
          <p:txBody>
            <a:bodyPr wrap="none" lIns="0" tIns="0" rIns="0" bIns="0" anchor="t" anchorCtr="0">
              <a:spAutoFit/>
            </a:bodyPr>
            <a:lstStyle/>
            <a:p>
              <a:pPr algn="l">
                <a:lnSpc>
                  <a:spcPts val="1680"/>
                </a:lnSpc>
              </a:pPr>
              <a:r>
                <a:rPr lang="en-US" sz="1200" dirty="0">
                  <a:solidFill>
                    <a:srgbClr val="1F2937"/>
                  </a:solidFill>
                  <a:latin typeface="+mn-lt"/>
                  <a:ea typeface="+mn-ea"/>
                  <a:cs typeface="+mn-cs"/>
                </a:rPr>
                <a:t>w =</a:t>
              </a:r>
              <a:br/>
              <a:r>
                <a:rPr lang="el-GR" sz="1200" dirty="0">
                  <a:solidFill>
                    <a:srgbClr val="1F2937"/>
                  </a:solidFill>
                  <a:latin typeface="+mn-lt"/>
                  <a:ea typeface="+mn-ea"/>
                  <a:cs typeface="+mn-cs"/>
                </a:rPr>
                <a:t>Σ(αᵢ*−αᵢ)φ(xᵢ)</a:t>
              </a:r>
            </a:p>
          </p:txBody>
        </p:sp>
        <p:sp>
          <p:nvSpPr>
            <p:cNvPr id="84" name="TextBox 84"/>
            <p:cNvSpPr txBox="1"/>
            <p:nvPr/>
          </p:nvSpPr>
          <p:spPr>
            <a:xfrm>
              <a:off x="11277219" y="4339590"/>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49</a:t>
              </a:r>
            </a:p>
          </p:txBody>
        </p:sp>
        <p:sp>
          <p:nvSpPr>
            <p:cNvPr id="85" name="Rectangle 85"/>
            <p:cNvSpPr/>
            <p:nvPr/>
          </p:nvSpPr>
          <p:spPr>
            <a:xfrm>
              <a:off x="6248400" y="4740592"/>
              <a:ext cx="5410200" cy="9525"/>
            </a:xfrm>
            <a:prstGeom prst="rect">
              <a:avLst/>
            </a:prstGeom>
            <a:solidFill>
              <a:srgbClr val="D9DFEA"/>
            </a:solidFill>
            <a:ln>
              <a:noFill/>
            </a:ln>
          </p:spPr>
        </p:sp>
        <p:sp>
          <p:nvSpPr>
            <p:cNvPr id="86" name="TextBox 86"/>
            <p:cNvSpPr txBox="1"/>
            <p:nvPr/>
          </p:nvSpPr>
          <p:spPr>
            <a:xfrm>
              <a:off x="6353747" y="4983480"/>
              <a:ext cx="198775"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10</a:t>
              </a:r>
            </a:p>
          </p:txBody>
        </p:sp>
        <p:sp>
          <p:nvSpPr>
            <p:cNvPr id="87" name="TextBox 87"/>
            <p:cNvSpPr txBox="1"/>
            <p:nvPr/>
          </p:nvSpPr>
          <p:spPr>
            <a:xfrm>
              <a:off x="6840474" y="4876800"/>
              <a:ext cx="9418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B 第 79、A 第</a:t>
              </a:r>
              <a:br/>
              <a:r>
                <a:rPr lang="zh-CN" sz="1200" dirty="0">
                  <a:solidFill>
                    <a:srgbClr val="1F2937"/>
                  </a:solidFill>
                  <a:latin typeface="+mn-lt"/>
                  <a:ea typeface="+mn-ea"/>
                  <a:cs typeface="+mn-cs"/>
                </a:rPr>
                <a:t>64 页</a:t>
              </a:r>
            </a:p>
          </p:txBody>
        </p:sp>
        <p:sp>
          <p:nvSpPr>
            <p:cNvPr id="88" name="TextBox 88"/>
            <p:cNvSpPr txBox="1"/>
            <p:nvPr/>
          </p:nvSpPr>
          <p:spPr>
            <a:xfrm>
              <a:off x="8085392" y="4876800"/>
              <a:ext cx="11704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−Σyᵢ(αᵢ*−αᵢ)，</a:t>
              </a:r>
              <a:br/>
              <a:r>
                <a:rPr lang="zh-CN" sz="1200" dirty="0">
                  <a:solidFill>
                    <a:srgbClr val="1F2937"/>
                  </a:solidFill>
                  <a:latin typeface="+mn-lt"/>
                  <a:ea typeface="+mn-ea"/>
                  <a:cs typeface="+mn-cs"/>
                </a:rPr>
                <a:t>单重和</a:t>
              </a:r>
            </a:p>
          </p:txBody>
        </p:sp>
        <p:sp>
          <p:nvSpPr>
            <p:cNvPr id="89" name="TextBox 89"/>
            <p:cNvSpPr txBox="1"/>
            <p:nvPr/>
          </p:nvSpPr>
          <p:spPr>
            <a:xfrm>
              <a:off x="9654159" y="4983480"/>
              <a:ext cx="110154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+Σ…，双重求和</a:t>
              </a:r>
            </a:p>
          </p:txBody>
        </p:sp>
        <p:sp>
          <p:nvSpPr>
            <p:cNvPr id="90" name="TextBox 90"/>
            <p:cNvSpPr txBox="1"/>
            <p:nvPr/>
          </p:nvSpPr>
          <p:spPr>
            <a:xfrm>
              <a:off x="11277219" y="4983480"/>
              <a:ext cx="18989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50</a:t>
              </a:r>
            </a:p>
          </p:txBody>
        </p:sp>
        <p:sp>
          <p:nvSpPr>
            <p:cNvPr id="91" name="Rectangle 91"/>
            <p:cNvSpPr/>
            <p:nvPr/>
          </p:nvSpPr>
          <p:spPr>
            <a:xfrm>
              <a:off x="6248400" y="1954530"/>
              <a:ext cx="5410200" cy="3434715"/>
            </a:xfrm>
            <a:prstGeom prst="rect">
              <a:avLst/>
            </a:prstGeom>
            <a:noFill/>
            <a:ln w="14288">
              <a:solidFill>
                <a:srgbClr val="D9DFEA"/>
              </a:solidFill>
            </a:ln>
          </p:spPr>
        </p:sp>
        <p:sp>
          <p:nvSpPr>
            <p:cNvPr id="92" name="Rectangle 92"/>
            <p:cNvSpPr/>
            <p:nvPr/>
          </p:nvSpPr>
          <p:spPr>
            <a:xfrm>
              <a:off x="6730365" y="1954530"/>
              <a:ext cx="9525" cy="3434715"/>
            </a:xfrm>
            <a:prstGeom prst="rect">
              <a:avLst/>
            </a:prstGeom>
            <a:solidFill>
              <a:srgbClr val="D9DFEA"/>
            </a:solidFill>
            <a:ln>
              <a:noFill/>
            </a:ln>
          </p:spPr>
        </p:sp>
        <p:sp>
          <p:nvSpPr>
            <p:cNvPr id="93" name="Rectangle 93"/>
            <p:cNvSpPr/>
            <p:nvPr/>
          </p:nvSpPr>
          <p:spPr>
            <a:xfrm>
              <a:off x="7975282" y="1954530"/>
              <a:ext cx="9525" cy="3434715"/>
            </a:xfrm>
            <a:prstGeom prst="rect">
              <a:avLst/>
            </a:prstGeom>
            <a:solidFill>
              <a:srgbClr val="D9DFEA"/>
            </a:solidFill>
            <a:ln>
              <a:noFill/>
            </a:ln>
          </p:spPr>
        </p:sp>
        <p:sp>
          <p:nvSpPr>
            <p:cNvPr id="94" name="Rectangle 94"/>
            <p:cNvSpPr/>
            <p:nvPr/>
          </p:nvSpPr>
          <p:spPr>
            <a:xfrm>
              <a:off x="9544050" y="1954530"/>
              <a:ext cx="9525" cy="3434715"/>
            </a:xfrm>
            <a:prstGeom prst="rect">
              <a:avLst/>
            </a:prstGeom>
            <a:solidFill>
              <a:srgbClr val="D9DFEA"/>
            </a:solidFill>
            <a:ln>
              <a:noFill/>
            </a:ln>
          </p:spPr>
        </p:sp>
        <p:sp>
          <p:nvSpPr>
            <p:cNvPr id="95" name="Rectangle 95"/>
            <p:cNvSpPr/>
            <p:nvPr/>
          </p:nvSpPr>
          <p:spPr>
            <a:xfrm>
              <a:off x="11167110" y="1954530"/>
              <a:ext cx="9525" cy="3434715"/>
            </a:xfrm>
            <a:prstGeom prst="rect">
              <a:avLst/>
            </a:prstGeom>
            <a:solidFill>
              <a:srgbClr val="D9DFEA"/>
            </a:solidFill>
            <a:ln>
              <a:noFill/>
            </a:ln>
          </p:spPr>
        </p:sp>
      </p:grpSp>
      <p:grpSp>
        <p:nvGrpSpPr>
          <p:cNvPr id="103" name="takeaway"/>
          <p:cNvGrpSpPr/>
          <p:nvPr/>
        </p:nvGrpSpPr>
        <p:grpSpPr>
          <a:xfrm>
            <a:off x="533400" y="5606415"/>
            <a:ext cx="11125200" cy="756285"/>
            <a:chOff x="533400" y="5606415"/>
            <a:chExt cx="11125200" cy="756285"/>
          </a:xfrm>
        </p:grpSpPr>
        <p:sp>
          <p:nvSpPr>
            <p:cNvPr id="97" name="Rectangle 97"/>
            <p:cNvSpPr/>
            <p:nvPr/>
          </p:nvSpPr>
          <p:spPr>
            <a:xfrm>
              <a:off x="533400" y="5606415"/>
              <a:ext cx="11125200" cy="756285"/>
            </a:xfrm>
            <a:prstGeom prst="roundRect">
              <a:avLst>
                <a:gd name="adj" fmla="val 15113"/>
              </a:avLst>
            </a:prstGeom>
            <a:solidFill>
              <a:srgbClr val="F4F6FB"/>
            </a:solidFill>
            <a:ln>
              <a:noFill/>
            </a:ln>
          </p:spPr>
        </p:sp>
        <p:grpSp>
          <p:nvGrpSpPr>
            <p:cNvPr id="101" name="Group 101"/>
            <p:cNvGrpSpPr/>
            <p:nvPr/>
          </p:nvGrpSpPr>
          <p:grpSpPr>
            <a:xfrm>
              <a:off x="738188" y="5884545"/>
              <a:ext cx="200026" cy="200026"/>
              <a:chOff x="738188" y="5884545"/>
              <a:chExt cx="200026" cy="200026"/>
            </a:xfrm>
          </p:grpSpPr>
          <p:sp>
            <p:nvSpPr>
              <p:cNvPr id="98" name="Freeform 98"/>
              <p:cNvSpPr/>
              <p:nvPr/>
            </p:nvSpPr>
            <p:spPr>
              <a:xfrm>
                <a:off x="738188" y="588454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99" name="Freeform 99"/>
              <p:cNvSpPr/>
              <p:nvPr/>
            </p:nvSpPr>
            <p:spPr>
              <a:xfrm>
                <a:off x="838200" y="595122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00" name="Freeform 100"/>
              <p:cNvSpPr/>
              <p:nvPr/>
            </p:nvSpPr>
            <p:spPr>
              <a:xfrm>
                <a:off x="827088" y="598455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02" name="TextBox 102"/>
            <p:cNvSpPr txBox="1"/>
            <p:nvPr/>
          </p:nvSpPr>
          <p:spPr>
            <a:xfrm>
              <a:off x="1040511" y="5753576"/>
              <a:ext cx="9897110"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另有两处小笔误未单列：A 版第 40 页漏了“若 ξᵢ &gt; 1 则被错误分类”，A 版第 54 页把 SMO 的约束写成 αᵢyᵢ + αᵢyᵢ = c（后</a:t>
              </a:r>
              <a:br/>
              <a:r>
                <a:rPr lang="zh-CN" sz="1420" dirty="0">
                  <a:solidFill>
                    <a:srgbClr val="1F2937"/>
                  </a:solidFill>
                  <a:latin typeface="+mn-lt"/>
                  <a:ea typeface="+mn-ea"/>
                  <a:cs typeface="+mn-cs"/>
                </a:rPr>
                <a:t>一项应是 αⱼyⱼ）。</a:t>
              </a:r>
            </a:p>
          </p:txBody>
        </p:sp>
      </p:grpSp>
      <p:grpSp>
        <p:nvGrpSpPr>
          <p:cNvPr id="106" name="footer"/>
          <p:cNvGrpSpPr/>
          <p:nvPr/>
        </p:nvGrpSpPr>
        <p:grpSpPr>
          <a:xfrm>
            <a:off x="528447" y="6581299"/>
            <a:ext cx="11135106" cy="190690"/>
            <a:chOff x="528447" y="6581299"/>
            <a:chExt cx="11135106" cy="190690"/>
          </a:xfrm>
        </p:grpSpPr>
        <p:sp>
          <p:nvSpPr>
            <p:cNvPr id="104" name="TextBox 104"/>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105" name="TextBox 10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551498" cy="266700"/>
            </a:xfrm>
            <a:prstGeom prst="roundRect">
              <a:avLst>
                <a:gd name="adj" fmla="val 50000"/>
              </a:avLst>
            </a:prstGeom>
            <a:solidFill>
              <a:srgbClr val="E2F3F4"/>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自测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自测题（一）概念与推导</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2" name="c1-card-1"/>
          <p:cNvGrpSpPr/>
          <p:nvPr/>
        </p:nvGrpSpPr>
        <p:grpSpPr>
          <a:xfrm>
            <a:off x="533400" y="1524000"/>
            <a:ext cx="5410200" cy="2257425"/>
            <a:chOff x="533400" y="1524000"/>
            <a:chExt cx="5410200" cy="2257425"/>
          </a:xfrm>
        </p:grpSpPr>
        <p:sp>
          <p:nvSpPr>
            <p:cNvPr id="7" name="Rectangle 7"/>
            <p:cNvSpPr/>
            <p:nvPr/>
          </p:nvSpPr>
          <p:spPr>
            <a:xfrm>
              <a:off x="533400" y="1524000"/>
              <a:ext cx="5410200" cy="2257425"/>
            </a:xfrm>
            <a:prstGeom prst="roundRect">
              <a:avLst>
                <a:gd name="adj" fmla="val 5907"/>
              </a:avLst>
            </a:prstGeom>
            <a:solidFill>
              <a:srgbClr val="F4F6FB"/>
            </a:solidFill>
            <a:ln>
              <a:noFill/>
            </a:ln>
          </p:spPr>
        </p:sp>
        <p:sp>
          <p:nvSpPr>
            <p:cNvPr id="8" name="Rectangle 8"/>
            <p:cNvSpPr/>
            <p:nvPr/>
          </p:nvSpPr>
          <p:spPr>
            <a:xfrm>
              <a:off x="720090" y="1710690"/>
              <a:ext cx="379095" cy="238125"/>
            </a:xfrm>
            <a:prstGeom prst="roundRect">
              <a:avLst>
                <a:gd name="adj" fmla="val 50000"/>
              </a:avLst>
            </a:prstGeom>
            <a:solidFill>
              <a:srgbClr val="E2F3F4"/>
            </a:solidFill>
            <a:ln>
              <a:noFill/>
            </a:ln>
          </p:spPr>
        </p:sp>
        <p:sp>
          <p:nvSpPr>
            <p:cNvPr id="9" name="TextBox 9"/>
            <p:cNvSpPr txBox="1"/>
            <p:nvPr/>
          </p:nvSpPr>
          <p:spPr>
            <a:xfrm>
              <a:off x="809547" y="1743551"/>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Q1</a:t>
              </a:r>
            </a:p>
          </p:txBody>
        </p:sp>
        <p:sp>
          <p:nvSpPr>
            <p:cNvPr id="10" name="TextBox 10"/>
            <p:cNvSpPr txBox="1"/>
            <p:nvPr/>
          </p:nvSpPr>
          <p:spPr>
            <a:xfrm>
              <a:off x="713232" y="2054542"/>
              <a:ext cx="4822460"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为什么“训练误差为 0”不能说明模型学得好？统计学习理论用什</a:t>
              </a:r>
              <a:br/>
              <a:r>
                <a:rPr lang="zh-CN" sz="1350" b="1" dirty="0">
                  <a:solidFill>
                    <a:srgbClr val="1F2937"/>
                  </a:solidFill>
                  <a:latin typeface="+mn-lt"/>
                  <a:ea typeface="+mn-ea"/>
                  <a:cs typeface="+mn-cs"/>
                </a:rPr>
                <a:t>么量补上这个缺口？</a:t>
              </a:r>
            </a:p>
          </p:txBody>
        </p:sp>
        <p:sp>
          <p:nvSpPr>
            <p:cNvPr id="11" name="TextBox 11"/>
            <p:cNvSpPr txBox="1"/>
            <p:nvPr/>
          </p:nvSpPr>
          <p:spPr>
            <a:xfrm>
              <a:off x="713232" y="2612708"/>
              <a:ext cx="4814316" cy="103555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训练误差只是经验风险，真正关心的是期望风险。函数集足</a:t>
              </a:r>
              <a:br/>
              <a:r>
                <a:rPr lang="zh-CN" sz="1350" dirty="0">
                  <a:solidFill>
                    <a:srgbClr val="1F2937"/>
                  </a:solidFill>
                  <a:latin typeface="+mn-lt"/>
                  <a:ea typeface="+mn-ea"/>
                  <a:cs typeface="+mn-cs"/>
                </a:rPr>
                <a:t>够复杂时（如 y = sin(wx)）总能把训练误差压到 0 而期望风险</a:t>
              </a:r>
              <a:br/>
              <a:r>
                <a:rPr lang="zh-CN" sz="1350" dirty="0">
                  <a:solidFill>
                    <a:srgbClr val="1F2937"/>
                  </a:solidFill>
                  <a:latin typeface="+mn-lt"/>
                  <a:ea typeface="+mn-ea"/>
                  <a:cs typeface="+mn-cs"/>
                </a:rPr>
                <a:t>很大。统计学习理论用 VC 维 h 衡量复杂度，给出 R ≤ R_emp</a:t>
              </a:r>
              <a:br/>
              <a:r>
                <a:rPr lang="zh-CN" sz="1350" dirty="0">
                  <a:solidFill>
                    <a:srgbClr val="1F2937"/>
                  </a:solidFill>
                  <a:latin typeface="+mn-lt"/>
                  <a:ea typeface="+mn-ea"/>
                  <a:cs typeface="+mn-cs"/>
                </a:rPr>
                <a:t>+ Φ(h/N)。</a:t>
              </a:r>
            </a:p>
          </p:txBody>
        </p:sp>
      </p:grpSp>
      <p:grpSp>
        <p:nvGrpSpPr>
          <p:cNvPr id="18" name="c1-card-2"/>
          <p:cNvGrpSpPr/>
          <p:nvPr/>
        </p:nvGrpSpPr>
        <p:grpSpPr>
          <a:xfrm>
            <a:off x="533400" y="3950970"/>
            <a:ext cx="5410200" cy="1743075"/>
            <a:chOff x="533400" y="3950970"/>
            <a:chExt cx="5410200" cy="1743075"/>
          </a:xfrm>
        </p:grpSpPr>
        <p:sp>
          <p:nvSpPr>
            <p:cNvPr id="13" name="Rectangle 13"/>
            <p:cNvSpPr/>
            <p:nvPr/>
          </p:nvSpPr>
          <p:spPr>
            <a:xfrm>
              <a:off x="533400" y="3950970"/>
              <a:ext cx="5410200" cy="1743075"/>
            </a:xfrm>
            <a:prstGeom prst="roundRect">
              <a:avLst>
                <a:gd name="adj" fmla="val 7650"/>
              </a:avLst>
            </a:prstGeom>
            <a:solidFill>
              <a:srgbClr val="F4F6FB"/>
            </a:solidFill>
            <a:ln>
              <a:noFill/>
            </a:ln>
          </p:spPr>
        </p:sp>
        <p:sp>
          <p:nvSpPr>
            <p:cNvPr id="14" name="Rectangle 14"/>
            <p:cNvSpPr/>
            <p:nvPr/>
          </p:nvSpPr>
          <p:spPr>
            <a:xfrm>
              <a:off x="720090" y="4137660"/>
              <a:ext cx="379095" cy="238125"/>
            </a:xfrm>
            <a:prstGeom prst="roundRect">
              <a:avLst>
                <a:gd name="adj" fmla="val 50000"/>
              </a:avLst>
            </a:prstGeom>
            <a:solidFill>
              <a:srgbClr val="E2F3F4"/>
            </a:solidFill>
            <a:ln>
              <a:noFill/>
            </a:ln>
          </p:spPr>
        </p:sp>
        <p:sp>
          <p:nvSpPr>
            <p:cNvPr id="15" name="TextBox 15"/>
            <p:cNvSpPr txBox="1"/>
            <p:nvPr/>
          </p:nvSpPr>
          <p:spPr>
            <a:xfrm>
              <a:off x="809547" y="4170521"/>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Q3</a:t>
              </a:r>
            </a:p>
          </p:txBody>
        </p:sp>
        <p:sp>
          <p:nvSpPr>
            <p:cNvPr id="16" name="TextBox 16"/>
            <p:cNvSpPr txBox="1"/>
            <p:nvPr/>
          </p:nvSpPr>
          <p:spPr>
            <a:xfrm>
              <a:off x="713232" y="4482465"/>
              <a:ext cx="401193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为什么解对偶问题而不是原问题？列出三条理由。</a:t>
              </a:r>
            </a:p>
          </p:txBody>
        </p:sp>
        <p:sp>
          <p:nvSpPr>
            <p:cNvPr id="17" name="TextBox 17"/>
            <p:cNvSpPr txBox="1"/>
            <p:nvPr/>
          </p:nvSpPr>
          <p:spPr>
            <a:xfrm>
              <a:off x="713232" y="4782502"/>
              <a:ext cx="4780026"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1. 变量换成 N 个 αᵢ，只剩一条等式加箱约束，且大多数</a:t>
              </a:r>
              <a:br/>
              <a:r>
                <a:rPr lang="zh-CN" sz="1350" dirty="0">
                  <a:solidFill>
                    <a:srgbClr val="1F2937"/>
                  </a:solidFill>
                  <a:latin typeface="+mn-lt"/>
                  <a:ea typeface="+mn-ea"/>
                  <a:cs typeface="+mn-cs"/>
                </a:rPr>
                <a:t>αᵢ 为 0。2. 不等式约束变成等式约束 Σαᵢyᵢ = 0。3. 最关键：</a:t>
              </a:r>
              <a:br/>
              <a:r>
                <a:rPr lang="zh-CN" sz="1350" dirty="0">
                  <a:solidFill>
                    <a:srgbClr val="1F2937"/>
                  </a:solidFill>
                  <a:latin typeface="+mn-lt"/>
                  <a:ea typeface="+mn-ea"/>
                  <a:cs typeface="+mn-cs"/>
                </a:rPr>
                <a:t>对偶目标里样本只以内积出现，换成核函数就推广到非线性。</a:t>
              </a:r>
            </a:p>
          </p:txBody>
        </p:sp>
      </p:grpSp>
      <p:grpSp>
        <p:nvGrpSpPr>
          <p:cNvPr id="24" name="c2-card-1"/>
          <p:cNvGrpSpPr/>
          <p:nvPr/>
        </p:nvGrpSpPr>
        <p:grpSpPr>
          <a:xfrm>
            <a:off x="6248400" y="1524000"/>
            <a:ext cx="5410200" cy="2000250"/>
            <a:chOff x="6248400" y="1524000"/>
            <a:chExt cx="5410200" cy="2000250"/>
          </a:xfrm>
        </p:grpSpPr>
        <p:sp>
          <p:nvSpPr>
            <p:cNvPr id="19" name="Rectangle 19"/>
            <p:cNvSpPr/>
            <p:nvPr/>
          </p:nvSpPr>
          <p:spPr>
            <a:xfrm>
              <a:off x="6248400" y="1524000"/>
              <a:ext cx="5410200" cy="2000250"/>
            </a:xfrm>
            <a:prstGeom prst="roundRect">
              <a:avLst>
                <a:gd name="adj" fmla="val 6667"/>
              </a:avLst>
            </a:prstGeom>
            <a:solidFill>
              <a:srgbClr val="F4F6FB"/>
            </a:solidFill>
            <a:ln>
              <a:noFill/>
            </a:ln>
          </p:spPr>
        </p:sp>
        <p:sp>
          <p:nvSpPr>
            <p:cNvPr id="20" name="Rectangle 20"/>
            <p:cNvSpPr/>
            <p:nvPr/>
          </p:nvSpPr>
          <p:spPr>
            <a:xfrm>
              <a:off x="6435090" y="1710690"/>
              <a:ext cx="379095" cy="238125"/>
            </a:xfrm>
            <a:prstGeom prst="roundRect">
              <a:avLst>
                <a:gd name="adj" fmla="val 50000"/>
              </a:avLst>
            </a:prstGeom>
            <a:solidFill>
              <a:srgbClr val="E2F3F4"/>
            </a:solidFill>
            <a:ln>
              <a:noFill/>
            </a:ln>
          </p:spPr>
        </p:sp>
        <p:sp>
          <p:nvSpPr>
            <p:cNvPr id="21" name="TextBox 21"/>
            <p:cNvSpPr txBox="1"/>
            <p:nvPr/>
          </p:nvSpPr>
          <p:spPr>
            <a:xfrm>
              <a:off x="6524547" y="1743551"/>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Q2</a:t>
              </a:r>
            </a:p>
          </p:txBody>
        </p:sp>
        <p:sp>
          <p:nvSpPr>
            <p:cNvPr id="22" name="TextBox 22"/>
            <p:cNvSpPr txBox="1"/>
            <p:nvPr/>
          </p:nvSpPr>
          <p:spPr>
            <a:xfrm>
              <a:off x="6428232" y="2054542"/>
              <a:ext cx="454942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函数间隔和几何间隔差在哪里？为什么要令 min yᵢ(w·xᵢ +</a:t>
              </a:r>
              <a:br/>
              <a:r>
                <a:rPr lang="zh-CN" sz="1350" b="1" dirty="0">
                  <a:solidFill>
                    <a:srgbClr val="1F2937"/>
                  </a:solidFill>
                  <a:latin typeface="+mn-lt"/>
                  <a:ea typeface="+mn-ea"/>
                  <a:cs typeface="+mn-cs"/>
                </a:rPr>
                <a:t>b) = 1？</a:t>
              </a:r>
            </a:p>
          </p:txBody>
        </p:sp>
        <p:sp>
          <p:nvSpPr>
            <p:cNvPr id="23" name="TextBox 23"/>
            <p:cNvSpPr txBox="1"/>
            <p:nvPr/>
          </p:nvSpPr>
          <p:spPr>
            <a:xfrm>
              <a:off x="6428232" y="2612708"/>
              <a:ext cx="4762881"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函数间隔是 yᵢ(w·xᵢ + b)，几何间隔是它除以 ||w||。(w,</a:t>
              </a:r>
              <a:br/>
              <a:r>
                <a:rPr lang="zh-CN" sz="1350" dirty="0">
                  <a:solidFill>
                    <a:srgbClr val="1F2937"/>
                  </a:solidFill>
                  <a:latin typeface="+mn-lt"/>
                  <a:ea typeface="+mn-ea"/>
                  <a:cs typeface="+mn-cs"/>
                </a:rPr>
                <a:t>b) 同乘 k 后超平面不变但函数间隔放大 k 倍，所以最大化函数</a:t>
              </a:r>
              <a:br/>
              <a:r>
                <a:rPr lang="zh-CN" sz="1350" dirty="0">
                  <a:solidFill>
                    <a:srgbClr val="1F2937"/>
                  </a:solidFill>
                  <a:latin typeface="+mn-lt"/>
                  <a:ea typeface="+mn-ea"/>
                  <a:cs typeface="+mn-cs"/>
                </a:rPr>
                <a:t>间隔无意义。令最小函数间隔为 1 即固定尺度。</a:t>
              </a:r>
            </a:p>
          </p:txBody>
        </p:sp>
      </p:grpSp>
      <p:grpSp>
        <p:nvGrpSpPr>
          <p:cNvPr id="30" name="c2-card-2"/>
          <p:cNvGrpSpPr/>
          <p:nvPr/>
        </p:nvGrpSpPr>
        <p:grpSpPr>
          <a:xfrm>
            <a:off x="6248400" y="3693795"/>
            <a:ext cx="5410200" cy="2000250"/>
            <a:chOff x="6248400" y="3693795"/>
            <a:chExt cx="5410200" cy="2000250"/>
          </a:xfrm>
        </p:grpSpPr>
        <p:sp>
          <p:nvSpPr>
            <p:cNvPr id="25" name="Rectangle 25"/>
            <p:cNvSpPr/>
            <p:nvPr/>
          </p:nvSpPr>
          <p:spPr>
            <a:xfrm>
              <a:off x="6248400" y="3693795"/>
              <a:ext cx="5410200" cy="2000250"/>
            </a:xfrm>
            <a:prstGeom prst="roundRect">
              <a:avLst>
                <a:gd name="adj" fmla="val 6667"/>
              </a:avLst>
            </a:prstGeom>
            <a:solidFill>
              <a:srgbClr val="F4F6FB"/>
            </a:solidFill>
            <a:ln>
              <a:noFill/>
            </a:ln>
          </p:spPr>
        </p:sp>
        <p:sp>
          <p:nvSpPr>
            <p:cNvPr id="26" name="Rectangle 26"/>
            <p:cNvSpPr/>
            <p:nvPr/>
          </p:nvSpPr>
          <p:spPr>
            <a:xfrm>
              <a:off x="6435090" y="3880485"/>
              <a:ext cx="379095" cy="238125"/>
            </a:xfrm>
            <a:prstGeom prst="roundRect">
              <a:avLst>
                <a:gd name="adj" fmla="val 50000"/>
              </a:avLst>
            </a:prstGeom>
            <a:solidFill>
              <a:srgbClr val="E2F3F4"/>
            </a:solidFill>
            <a:ln>
              <a:noFill/>
            </a:ln>
          </p:spPr>
        </p:sp>
        <p:sp>
          <p:nvSpPr>
            <p:cNvPr id="27" name="TextBox 27"/>
            <p:cNvSpPr txBox="1"/>
            <p:nvPr/>
          </p:nvSpPr>
          <p:spPr>
            <a:xfrm>
              <a:off x="6524547" y="391334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Q4</a:t>
              </a:r>
            </a:p>
          </p:txBody>
        </p:sp>
        <p:sp>
          <p:nvSpPr>
            <p:cNvPr id="28" name="TextBox 28"/>
            <p:cNvSpPr txBox="1"/>
            <p:nvPr/>
          </p:nvSpPr>
          <p:spPr>
            <a:xfrm>
              <a:off x="6428232" y="4225290"/>
              <a:ext cx="4854607"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软间隔里 αᵢ = 0、0 &lt; αᵢ &lt; C、αᵢ = C 各对应样本落在哪里？算</a:t>
              </a:r>
              <a:br/>
              <a:r>
                <a:rPr lang="zh-CN" sz="1350" b="1" dirty="0">
                  <a:solidFill>
                    <a:srgbClr val="1F2937"/>
                  </a:solidFill>
                  <a:latin typeface="+mn-lt"/>
                  <a:ea typeface="+mn-ea"/>
                  <a:cs typeface="+mn-cs"/>
                </a:rPr>
                <a:t>b 用哪一类？</a:t>
              </a:r>
            </a:p>
          </p:txBody>
        </p:sp>
        <p:sp>
          <p:nvSpPr>
            <p:cNvPr id="29" name="TextBox 29"/>
            <p:cNvSpPr txBox="1"/>
            <p:nvPr/>
          </p:nvSpPr>
          <p:spPr>
            <a:xfrm>
              <a:off x="6428232" y="4782502"/>
              <a:ext cx="4737164"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αᵢ = 0：边界外侧，非支持向量。0 &lt; αᵢ &lt; C：恰在边界</a:t>
              </a:r>
              <a:br/>
              <a:r>
                <a:rPr lang="zh-CN" sz="1350" dirty="0">
                  <a:solidFill>
                    <a:srgbClr val="1F2937"/>
                  </a:solidFill>
                  <a:latin typeface="+mn-lt"/>
                  <a:ea typeface="+mn-ea"/>
                  <a:cs typeface="+mn-cs"/>
                </a:rPr>
                <a:t>上，ξᵢ = 0。αᵢ = C：ξᵢ &gt; 0，在间隔带内或被分错。算 b 必须</a:t>
              </a:r>
              <a:br/>
              <a:r>
                <a:rPr lang="zh-CN" sz="1350" dirty="0">
                  <a:solidFill>
                    <a:srgbClr val="1F2937"/>
                  </a:solidFill>
                  <a:latin typeface="+mn-lt"/>
                  <a:ea typeface="+mn-ea"/>
                  <a:cs typeface="+mn-cs"/>
                </a:rPr>
                <a:t>用 0 &lt; αᵢ &lt; C 的样本，只有它们的 ξᵢ 确定为 0。</a:t>
              </a:r>
            </a:p>
          </p:txBody>
        </p:sp>
      </p:grpSp>
      <p:grpSp>
        <p:nvGrpSpPr>
          <p:cNvPr id="37" name="takeaway"/>
          <p:cNvGrpSpPr/>
          <p:nvPr/>
        </p:nvGrpSpPr>
        <p:grpSpPr>
          <a:xfrm>
            <a:off x="533400" y="5881688"/>
            <a:ext cx="11125200" cy="481012"/>
            <a:chOff x="533400" y="5881688"/>
            <a:chExt cx="11125200" cy="481012"/>
          </a:xfrm>
        </p:grpSpPr>
        <p:sp>
          <p:nvSpPr>
            <p:cNvPr id="31" name="Rectangle 31"/>
            <p:cNvSpPr/>
            <p:nvPr/>
          </p:nvSpPr>
          <p:spPr>
            <a:xfrm>
              <a:off x="533400" y="5881688"/>
              <a:ext cx="11125200" cy="481012"/>
            </a:xfrm>
            <a:prstGeom prst="roundRect">
              <a:avLst>
                <a:gd name="adj" fmla="val 23762"/>
              </a:avLst>
            </a:prstGeom>
            <a:solidFill>
              <a:srgbClr val="FDEEE7"/>
            </a:solidFill>
            <a:ln>
              <a:noFill/>
            </a:ln>
          </p:spPr>
        </p:sp>
        <p:grpSp>
          <p:nvGrpSpPr>
            <p:cNvPr id="35" name="Group 35"/>
            <p:cNvGrpSpPr/>
            <p:nvPr/>
          </p:nvGrpSpPr>
          <p:grpSpPr>
            <a:xfrm>
              <a:off x="738188" y="6022658"/>
              <a:ext cx="200026" cy="200025"/>
              <a:chOff x="738188" y="6022658"/>
              <a:chExt cx="200026" cy="200025"/>
            </a:xfrm>
          </p:grpSpPr>
          <p:sp>
            <p:nvSpPr>
              <p:cNvPr id="32" name="Freeform 32"/>
              <p:cNvSpPr/>
              <p:nvPr/>
            </p:nvSpPr>
            <p:spPr>
              <a:xfrm>
                <a:off x="738188" y="602265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3" name="Freeform 33"/>
              <p:cNvSpPr/>
              <p:nvPr/>
            </p:nvSpPr>
            <p:spPr>
              <a:xfrm>
                <a:off x="777926" y="606710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4" name="Freeform 34"/>
              <p:cNvSpPr/>
              <p:nvPr/>
            </p:nvSpPr>
            <p:spPr>
              <a:xfrm>
                <a:off x="812642" y="617823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6" name="TextBox 36"/>
            <p:cNvSpPr txBox="1"/>
            <p:nvPr/>
          </p:nvSpPr>
          <p:spPr>
            <a:xfrm>
              <a:off x="1040892" y="6028373"/>
              <a:ext cx="6901548"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第 2、4 题是高频题，答题时要把“尺度可缩放”和“互补松弛条件”这两个依据写出来。</a:t>
              </a:r>
            </a:p>
          </p:txBody>
        </p:sp>
      </p:grpSp>
      <p:grpSp>
        <p:nvGrpSpPr>
          <p:cNvPr id="40" name="footer"/>
          <p:cNvGrpSpPr/>
          <p:nvPr/>
        </p:nvGrpSpPr>
        <p:grpSpPr>
          <a:xfrm>
            <a:off x="528447" y="6581299"/>
            <a:ext cx="11135106" cy="190690"/>
            <a:chOff x="528447" y="6581299"/>
            <a:chExt cx="11135106" cy="190690"/>
          </a:xfrm>
        </p:grpSpPr>
        <p:sp>
          <p:nvSpPr>
            <p:cNvPr id="38" name="TextBox 38"/>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39" name="TextBox 3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56</a:t>
              </a:r>
            </a:p>
          </p:txBody>
        </p:sp>
      </p:grpSp>
    </p:spTree>
  </p:cSld>
  <p:clrMapOvr>
    <a:masterClrMapping/>
  </p:clrMapOvr>
  <p:transition xmlns:p14="http://schemas.microsoft.com/office/powerpoint/2010/main" p14:dur="40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551498" cy="266700"/>
            </a:xfrm>
            <a:prstGeom prst="roundRect">
              <a:avLst>
                <a:gd name="adj" fmla="val 50000"/>
              </a:avLst>
            </a:prstGeom>
            <a:solidFill>
              <a:srgbClr val="E2F3F4"/>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自测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自测题（二）计算与易错</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12" name="c1-card-1"/>
          <p:cNvGrpSpPr/>
          <p:nvPr/>
        </p:nvGrpSpPr>
        <p:grpSpPr>
          <a:xfrm>
            <a:off x="533400" y="1524000"/>
            <a:ext cx="5410200" cy="2000250"/>
            <a:chOff x="533400" y="1524000"/>
            <a:chExt cx="5410200" cy="2000250"/>
          </a:xfrm>
        </p:grpSpPr>
        <p:sp>
          <p:nvSpPr>
            <p:cNvPr id="7" name="Rectangle 7"/>
            <p:cNvSpPr/>
            <p:nvPr/>
          </p:nvSpPr>
          <p:spPr>
            <a:xfrm>
              <a:off x="533400" y="1524000"/>
              <a:ext cx="5410200" cy="2000250"/>
            </a:xfrm>
            <a:prstGeom prst="roundRect">
              <a:avLst>
                <a:gd name="adj" fmla="val 6667"/>
              </a:avLst>
            </a:prstGeom>
            <a:solidFill>
              <a:srgbClr val="F4F6FB"/>
            </a:solidFill>
            <a:ln>
              <a:noFill/>
            </a:ln>
          </p:spPr>
        </p:sp>
        <p:sp>
          <p:nvSpPr>
            <p:cNvPr id="8" name="Rectangle 8"/>
            <p:cNvSpPr/>
            <p:nvPr/>
          </p:nvSpPr>
          <p:spPr>
            <a:xfrm>
              <a:off x="720090" y="1710690"/>
              <a:ext cx="379095" cy="238125"/>
            </a:xfrm>
            <a:prstGeom prst="roundRect">
              <a:avLst>
                <a:gd name="adj" fmla="val 50000"/>
              </a:avLst>
            </a:prstGeom>
            <a:solidFill>
              <a:srgbClr val="E2F3F4"/>
            </a:solidFill>
            <a:ln>
              <a:noFill/>
            </a:ln>
          </p:spPr>
        </p:sp>
        <p:sp>
          <p:nvSpPr>
            <p:cNvPr id="9" name="TextBox 9"/>
            <p:cNvSpPr txBox="1"/>
            <p:nvPr/>
          </p:nvSpPr>
          <p:spPr>
            <a:xfrm>
              <a:off x="809547" y="1743551"/>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Q1</a:t>
              </a:r>
            </a:p>
          </p:txBody>
        </p:sp>
        <p:sp>
          <p:nvSpPr>
            <p:cNvPr id="10" name="TextBox 10"/>
            <p:cNvSpPr txBox="1"/>
            <p:nvPr/>
          </p:nvSpPr>
          <p:spPr>
            <a:xfrm>
              <a:off x="713232" y="2054542"/>
              <a:ext cx="4634294"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已知 x₁ = (3,3) 标 +1、x₂ = (4,3) 标 +1、x₃ = (1,1) 标</a:t>
              </a:r>
              <a:br/>
              <a:r>
                <a:rPr lang="zh-CN" sz="1350" b="1" dirty="0">
                  <a:solidFill>
                    <a:srgbClr val="1F2937"/>
                  </a:solidFill>
                  <a:latin typeface="+mn-lt"/>
                  <a:ea typeface="+mn-ea"/>
                  <a:cs typeface="+mn-cs"/>
                </a:rPr>
                <a:t>−1。求硬间隔最优超平面与间隔宽度，并指出支持向量。</a:t>
              </a:r>
            </a:p>
          </p:txBody>
        </p:sp>
        <p:sp>
          <p:nvSpPr>
            <p:cNvPr id="11" name="TextBox 11"/>
            <p:cNvSpPr txBox="1"/>
            <p:nvPr/>
          </p:nvSpPr>
          <p:spPr>
            <a:xfrm>
              <a:off x="713232" y="2612708"/>
              <a:ext cx="4771454"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最近的异类对是 x₁ 与 x₃，取垂直平分线，w = (a,a)。由</a:t>
              </a:r>
              <a:br/>
              <a:r>
                <a:rPr lang="zh-CN" sz="1350" dirty="0">
                  <a:solidFill>
                    <a:srgbClr val="1F2937"/>
                  </a:solidFill>
                  <a:latin typeface="+mn-lt"/>
                  <a:ea typeface="+mn-ea"/>
                  <a:cs typeface="+mn-cs"/>
                </a:rPr>
                <a:t>6a + b = 1 与 −(2a + b) = 1 得 a = ½、b = −2，间隔 2√2 ≈</a:t>
              </a:r>
              <a:br/>
              <a:r>
                <a:rPr lang="zh-CN" sz="1350" dirty="0">
                  <a:solidFill>
                    <a:srgbClr val="1F2937"/>
                  </a:solidFill>
                  <a:latin typeface="+mn-lt"/>
                  <a:ea typeface="+mn-ea"/>
                  <a:cs typeface="+mn-cs"/>
                </a:rPr>
                <a:t>2.828。x₂ 的函数间隔 1.5 &gt; 1，不是支持向量。</a:t>
              </a:r>
            </a:p>
          </p:txBody>
        </p:sp>
      </p:grpSp>
      <p:grpSp>
        <p:nvGrpSpPr>
          <p:cNvPr id="18" name="c1-card-2"/>
          <p:cNvGrpSpPr/>
          <p:nvPr/>
        </p:nvGrpSpPr>
        <p:grpSpPr>
          <a:xfrm>
            <a:off x="533400" y="3693795"/>
            <a:ext cx="5410200" cy="2000250"/>
            <a:chOff x="533400" y="3693795"/>
            <a:chExt cx="5410200" cy="2000250"/>
          </a:xfrm>
        </p:grpSpPr>
        <p:sp>
          <p:nvSpPr>
            <p:cNvPr id="13" name="Rectangle 13"/>
            <p:cNvSpPr/>
            <p:nvPr/>
          </p:nvSpPr>
          <p:spPr>
            <a:xfrm>
              <a:off x="533400" y="3693795"/>
              <a:ext cx="5410200" cy="2000250"/>
            </a:xfrm>
            <a:prstGeom prst="roundRect">
              <a:avLst>
                <a:gd name="adj" fmla="val 6667"/>
              </a:avLst>
            </a:prstGeom>
            <a:solidFill>
              <a:srgbClr val="F4F6FB"/>
            </a:solidFill>
            <a:ln>
              <a:noFill/>
            </a:ln>
          </p:spPr>
        </p:sp>
        <p:sp>
          <p:nvSpPr>
            <p:cNvPr id="14" name="Rectangle 14"/>
            <p:cNvSpPr/>
            <p:nvPr/>
          </p:nvSpPr>
          <p:spPr>
            <a:xfrm>
              <a:off x="720090" y="3880485"/>
              <a:ext cx="379095" cy="238125"/>
            </a:xfrm>
            <a:prstGeom prst="roundRect">
              <a:avLst>
                <a:gd name="adj" fmla="val 50000"/>
              </a:avLst>
            </a:prstGeom>
            <a:solidFill>
              <a:srgbClr val="E2F3F4"/>
            </a:solidFill>
            <a:ln>
              <a:noFill/>
            </a:ln>
          </p:spPr>
        </p:sp>
        <p:sp>
          <p:nvSpPr>
            <p:cNvPr id="15" name="TextBox 15"/>
            <p:cNvSpPr txBox="1"/>
            <p:nvPr/>
          </p:nvSpPr>
          <p:spPr>
            <a:xfrm>
              <a:off x="809547" y="391334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Q3</a:t>
              </a:r>
            </a:p>
          </p:txBody>
        </p:sp>
        <p:sp>
          <p:nvSpPr>
            <p:cNvPr id="16" name="TextBox 16"/>
            <p:cNvSpPr txBox="1"/>
            <p:nvPr/>
          </p:nvSpPr>
          <p:spPr>
            <a:xfrm>
              <a:off x="713232" y="4225290"/>
              <a:ext cx="4430268"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验证 K(x, z) = (x·z)² 是核函数：写出一个 φ，并用 x =</a:t>
              </a:r>
              <a:br/>
              <a:r>
                <a:rPr lang="zh-CN" sz="1350" b="1" dirty="0">
                  <a:solidFill>
                    <a:srgbClr val="1F2937"/>
                  </a:solidFill>
                  <a:latin typeface="+mn-lt"/>
                  <a:ea typeface="+mn-ea"/>
                  <a:cs typeface="+mn-cs"/>
                </a:rPr>
                <a:t>(1,2)、z = (3,1) 两边各算一遍。</a:t>
              </a:r>
            </a:p>
          </p:txBody>
        </p:sp>
        <p:sp>
          <p:nvSpPr>
            <p:cNvPr id="17" name="TextBox 17"/>
            <p:cNvSpPr txBox="1"/>
            <p:nvPr/>
          </p:nvSpPr>
          <p:spPr>
            <a:xfrm>
              <a:off x="713232" y="4782502"/>
              <a:ext cx="4651438"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取 φ(x) = (x₁², √2 x₁x₂, x₂²)ᵀ。左边 x·z = 5，K =</a:t>
              </a:r>
              <a:br/>
              <a:r>
                <a:rPr lang="zh-CN" sz="1350" dirty="0">
                  <a:solidFill>
                    <a:srgbClr val="1F2937"/>
                  </a:solidFill>
                  <a:latin typeface="+mn-lt"/>
                  <a:ea typeface="+mn-ea"/>
                  <a:cs typeface="+mn-cs"/>
                </a:rPr>
                <a:t>25。右边 φ(x) = (1, 2√2, 4)、φ(z) = (9, 3√2, 1)，内积 =</a:t>
              </a:r>
              <a:br/>
              <a:r>
                <a:rPr lang="zh-CN" sz="1350" dirty="0">
                  <a:solidFill>
                    <a:srgbClr val="1F2937"/>
                  </a:solidFill>
                  <a:latin typeface="+mn-lt"/>
                  <a:ea typeface="+mn-ea"/>
                  <a:cs typeface="+mn-cs"/>
                </a:rPr>
                <a:t>9 + 12 + 4 = 25。展开 (x₁z₁ + x₂z₂)² 即可看出 φ 怎么凑。</a:t>
              </a:r>
            </a:p>
          </p:txBody>
        </p:sp>
      </p:grpSp>
      <p:grpSp>
        <p:nvGrpSpPr>
          <p:cNvPr id="24" name="c2-card-1"/>
          <p:cNvGrpSpPr/>
          <p:nvPr/>
        </p:nvGrpSpPr>
        <p:grpSpPr>
          <a:xfrm>
            <a:off x="6248400" y="1524000"/>
            <a:ext cx="5410200" cy="2000250"/>
            <a:chOff x="6248400" y="1524000"/>
            <a:chExt cx="5410200" cy="2000250"/>
          </a:xfrm>
        </p:grpSpPr>
        <p:sp>
          <p:nvSpPr>
            <p:cNvPr id="19" name="Rectangle 19"/>
            <p:cNvSpPr/>
            <p:nvPr/>
          </p:nvSpPr>
          <p:spPr>
            <a:xfrm>
              <a:off x="6248400" y="1524000"/>
              <a:ext cx="5410200" cy="2000250"/>
            </a:xfrm>
            <a:prstGeom prst="roundRect">
              <a:avLst>
                <a:gd name="adj" fmla="val 6667"/>
              </a:avLst>
            </a:prstGeom>
            <a:solidFill>
              <a:srgbClr val="F4F6FB"/>
            </a:solidFill>
            <a:ln>
              <a:noFill/>
            </a:ln>
          </p:spPr>
        </p:sp>
        <p:sp>
          <p:nvSpPr>
            <p:cNvPr id="20" name="Rectangle 20"/>
            <p:cNvSpPr/>
            <p:nvPr/>
          </p:nvSpPr>
          <p:spPr>
            <a:xfrm>
              <a:off x="6435090" y="1710690"/>
              <a:ext cx="379095" cy="238125"/>
            </a:xfrm>
            <a:prstGeom prst="roundRect">
              <a:avLst>
                <a:gd name="adj" fmla="val 50000"/>
              </a:avLst>
            </a:prstGeom>
            <a:solidFill>
              <a:srgbClr val="E2F3F4"/>
            </a:solidFill>
            <a:ln>
              <a:noFill/>
            </a:ln>
          </p:spPr>
        </p:sp>
        <p:sp>
          <p:nvSpPr>
            <p:cNvPr id="21" name="TextBox 21"/>
            <p:cNvSpPr txBox="1"/>
            <p:nvPr/>
          </p:nvSpPr>
          <p:spPr>
            <a:xfrm>
              <a:off x="6524547" y="1743551"/>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Q2</a:t>
              </a:r>
            </a:p>
          </p:txBody>
        </p:sp>
        <p:sp>
          <p:nvSpPr>
            <p:cNvPr id="22" name="TextBox 22"/>
            <p:cNvSpPr txBox="1"/>
            <p:nvPr/>
          </p:nvSpPr>
          <p:spPr>
            <a:xfrm>
              <a:off x="6428232" y="2054542"/>
              <a:ext cx="4723448"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接上题，用对偶问题算一遍：写出对偶目标，解出 α*，再反解</a:t>
              </a:r>
              <a:br/>
              <a:r>
                <a:rPr lang="zh-CN" sz="1350" b="1" dirty="0">
                  <a:solidFill>
                    <a:srgbClr val="1F2937"/>
                  </a:solidFill>
                  <a:latin typeface="+mn-lt"/>
                  <a:ea typeface="+mn-ea"/>
                  <a:cs typeface="+mn-cs"/>
                </a:rPr>
                <a:t>w* 和 b*。</a:t>
              </a:r>
            </a:p>
          </p:txBody>
        </p:sp>
        <p:sp>
          <p:nvSpPr>
            <p:cNvPr id="23" name="TextBox 23"/>
            <p:cNvSpPr txBox="1"/>
            <p:nvPr/>
          </p:nvSpPr>
          <p:spPr>
            <a:xfrm>
              <a:off x="6428232" y="2612708"/>
              <a:ext cx="4574286"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Gram：18、2、6，约束 α₁ + α₂ − α₃ = 0。设 α₂ = 0 则</a:t>
              </a:r>
              <a:br/>
              <a:r>
                <a:rPr lang="zh-CN" sz="1350" dirty="0">
                  <a:solidFill>
                    <a:srgbClr val="1F2937"/>
                  </a:solidFill>
                  <a:latin typeface="+mn-lt"/>
                  <a:ea typeface="+mn-ea"/>
                  <a:cs typeface="+mn-cs"/>
                </a:rPr>
                <a:t>α₃ = α₁ ≡ α，W(α) = 4α² − 2α，W′ = 0 得 α = ¼。w* = ¼</a:t>
              </a:r>
              <a:br/>
              <a:r>
                <a:rPr lang="zh-CN" sz="1350" dirty="0">
                  <a:solidFill>
                    <a:srgbClr val="1F2937"/>
                  </a:solidFill>
                  <a:latin typeface="+mn-lt"/>
                  <a:ea typeface="+mn-ea"/>
                  <a:cs typeface="+mn-cs"/>
                </a:rPr>
                <a:t>(3,3) − ¼(1,1) = (½,½)，b* = −2。</a:t>
              </a:r>
            </a:p>
          </p:txBody>
        </p:sp>
      </p:grpSp>
      <p:grpSp>
        <p:nvGrpSpPr>
          <p:cNvPr id="30" name="c2-card-2"/>
          <p:cNvGrpSpPr/>
          <p:nvPr/>
        </p:nvGrpSpPr>
        <p:grpSpPr>
          <a:xfrm>
            <a:off x="6248400" y="3693795"/>
            <a:ext cx="5410200" cy="2000250"/>
            <a:chOff x="6248400" y="3693795"/>
            <a:chExt cx="5410200" cy="2000250"/>
          </a:xfrm>
        </p:grpSpPr>
        <p:sp>
          <p:nvSpPr>
            <p:cNvPr id="25" name="Rectangle 25"/>
            <p:cNvSpPr/>
            <p:nvPr/>
          </p:nvSpPr>
          <p:spPr>
            <a:xfrm>
              <a:off x="6248400" y="3693795"/>
              <a:ext cx="5410200" cy="2000250"/>
            </a:xfrm>
            <a:prstGeom prst="roundRect">
              <a:avLst>
                <a:gd name="adj" fmla="val 6667"/>
              </a:avLst>
            </a:prstGeom>
            <a:solidFill>
              <a:srgbClr val="F4F6FB"/>
            </a:solidFill>
            <a:ln>
              <a:noFill/>
            </a:ln>
          </p:spPr>
        </p:sp>
        <p:sp>
          <p:nvSpPr>
            <p:cNvPr id="26" name="Rectangle 26"/>
            <p:cNvSpPr/>
            <p:nvPr/>
          </p:nvSpPr>
          <p:spPr>
            <a:xfrm>
              <a:off x="6435090" y="3880485"/>
              <a:ext cx="379095" cy="238125"/>
            </a:xfrm>
            <a:prstGeom prst="roundRect">
              <a:avLst>
                <a:gd name="adj" fmla="val 50000"/>
              </a:avLst>
            </a:prstGeom>
            <a:solidFill>
              <a:srgbClr val="E2F3F4"/>
            </a:solidFill>
            <a:ln>
              <a:noFill/>
            </a:ln>
          </p:spPr>
        </p:sp>
        <p:sp>
          <p:nvSpPr>
            <p:cNvPr id="27" name="TextBox 27"/>
            <p:cNvSpPr txBox="1"/>
            <p:nvPr/>
          </p:nvSpPr>
          <p:spPr>
            <a:xfrm>
              <a:off x="6524547" y="3913346"/>
              <a:ext cx="200180" cy="190690"/>
            </a:xfrm>
            <a:prstGeom prst="rect">
              <a:avLst/>
            </a:prstGeom>
            <a:noFill/>
            <a:ln>
              <a:noFill/>
            </a:ln>
          </p:spPr>
          <p:txBody>
            <a:bodyPr wrap="none" lIns="0" tIns="0" rIns="0" bIns="0" anchor="t" anchorCtr="0">
              <a:spAutoFit/>
            </a:bodyPr>
            <a:lstStyle/>
            <a:p>
              <a:pPr algn="ctr"/>
              <a:r>
                <a:rPr lang="en-US" sz="980" b="1" dirty="0">
                  <a:solidFill>
                    <a:srgbClr val="0E7C86"/>
                  </a:solidFill>
                  <a:latin typeface="+mn-lt"/>
                  <a:ea typeface="+mn-ea"/>
                  <a:cs typeface="+mn-cs"/>
                </a:rPr>
                <a:t>Q4</a:t>
              </a:r>
            </a:p>
          </p:txBody>
        </p:sp>
        <p:sp>
          <p:nvSpPr>
            <p:cNvPr id="28" name="TextBox 28"/>
            <p:cNvSpPr txBox="1"/>
            <p:nvPr/>
          </p:nvSpPr>
          <p:spPr>
            <a:xfrm>
              <a:off x="6428232" y="4225290"/>
              <a:ext cx="4699873"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x = 1,2,3，y = 1,2,3，线性核，C 足够大。ε 取 0、0.5、1</a:t>
              </a:r>
              <a:br/>
              <a:r>
                <a:rPr lang="zh-CN" sz="1350" b="1" dirty="0">
                  <a:solidFill>
                    <a:srgbClr val="1F2937"/>
                  </a:solidFill>
                  <a:latin typeface="+mn-lt"/>
                  <a:ea typeface="+mn-ea"/>
                  <a:cs typeface="+mn-cs"/>
                </a:rPr>
                <a:t>时 SVR 的解各是什么？</a:t>
              </a:r>
            </a:p>
          </p:txBody>
        </p:sp>
        <p:sp>
          <p:nvSpPr>
            <p:cNvPr id="29" name="TextBox 29"/>
            <p:cNvSpPr txBox="1"/>
            <p:nvPr/>
          </p:nvSpPr>
          <p:spPr>
            <a:xfrm>
              <a:off x="6428232" y="4782502"/>
              <a:ext cx="4702874"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ε = 0：精确过点，f(x) = x。ε = 0.5：最紧的是 x = 1 与</a:t>
              </a:r>
              <a:br/>
              <a:r>
                <a:rPr lang="zh-CN" sz="1350" dirty="0">
                  <a:solidFill>
                    <a:srgbClr val="1F2937"/>
                  </a:solidFill>
                  <a:latin typeface="+mn-lt"/>
                  <a:ea typeface="+mn-ea"/>
                  <a:cs typeface="+mn-cs"/>
                </a:rPr>
                <a:t>x = 3，得 w = 0.5、b = 1。ε = 1：w = 0、b = 2，f ≡ 2。规</a:t>
              </a:r>
              <a:br/>
              <a:r>
                <a:rPr lang="zh-CN" sz="1350" dirty="0">
                  <a:solidFill>
                    <a:srgbClr val="1F2937"/>
                  </a:solidFill>
                  <a:latin typeface="+mn-lt"/>
                  <a:ea typeface="+mn-ea"/>
                  <a:cs typeface="+mn-cs"/>
                </a:rPr>
                <a:t>律：ε 越大，可行的平坦函数越多，最优 ||w|| 越小。</a:t>
              </a:r>
            </a:p>
          </p:txBody>
        </p:sp>
      </p:grpSp>
      <p:grpSp>
        <p:nvGrpSpPr>
          <p:cNvPr id="36" name="takeaway"/>
          <p:cNvGrpSpPr/>
          <p:nvPr/>
        </p:nvGrpSpPr>
        <p:grpSpPr>
          <a:xfrm>
            <a:off x="533400" y="5881688"/>
            <a:ext cx="11125200" cy="481012"/>
            <a:chOff x="533400" y="5881688"/>
            <a:chExt cx="11125200" cy="481012"/>
          </a:xfrm>
        </p:grpSpPr>
        <p:sp>
          <p:nvSpPr>
            <p:cNvPr id="31" name="Rectangle 31"/>
            <p:cNvSpPr/>
            <p:nvPr/>
          </p:nvSpPr>
          <p:spPr>
            <a:xfrm>
              <a:off x="533400" y="5881688"/>
              <a:ext cx="11125200" cy="481012"/>
            </a:xfrm>
            <a:prstGeom prst="roundRect">
              <a:avLst>
                <a:gd name="adj" fmla="val 23762"/>
              </a:avLst>
            </a:prstGeom>
            <a:solidFill>
              <a:srgbClr val="0E7C86"/>
            </a:solidFill>
            <a:ln>
              <a:noFill/>
            </a:ln>
          </p:spPr>
        </p:sp>
        <p:grpSp>
          <p:nvGrpSpPr>
            <p:cNvPr id="34" name="Group 34"/>
            <p:cNvGrpSpPr/>
            <p:nvPr/>
          </p:nvGrpSpPr>
          <p:grpSpPr>
            <a:xfrm>
              <a:off x="738188" y="6022660"/>
              <a:ext cx="200023" cy="200023"/>
              <a:chOff x="738188" y="6022660"/>
              <a:chExt cx="200023" cy="200023"/>
            </a:xfrm>
          </p:grpSpPr>
          <p:sp>
            <p:nvSpPr>
              <p:cNvPr id="32" name="Freeform 32"/>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3" name="Freeform 33"/>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5" name="TextBox 35"/>
            <p:cNvSpPr txBox="1"/>
            <p:nvPr/>
          </p:nvSpPr>
          <p:spPr>
            <a:xfrm>
              <a:off x="1040892" y="6028373"/>
              <a:ext cx="746493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计算题一律先写约束、再写目标、最后验证每个约束是否满足，漏验约束是最常见的失分点。</a:t>
              </a:r>
            </a:p>
          </p:txBody>
        </p:sp>
      </p:grpSp>
      <p:grpSp>
        <p:nvGrpSpPr>
          <p:cNvPr id="39" name="footer"/>
          <p:cNvGrpSpPr/>
          <p:nvPr/>
        </p:nvGrpSpPr>
        <p:grpSpPr>
          <a:xfrm>
            <a:off x="528447" y="6581299"/>
            <a:ext cx="11135106" cy="190690"/>
            <a:chOff x="528447" y="6581299"/>
            <a:chExt cx="11135106" cy="190690"/>
          </a:xfrm>
        </p:grpSpPr>
        <p:sp>
          <p:nvSpPr>
            <p:cNvPr id="37" name="TextBox 37"/>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38" name="TextBox 3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57</a:t>
              </a:r>
            </a:p>
          </p:txBody>
        </p:sp>
      </p:grpSp>
    </p:spTree>
  </p:cSld>
  <p:clrMapOvr>
    <a:masterClrMapping/>
  </p:clrMapOvr>
  <p:transition xmlns:p14="http://schemas.microsoft.com/office/powerpoint/2010/main" p14:dur="400">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402652" cy="909257"/>
            <a:chOff x="520446" y="342900"/>
            <a:chExt cx="1402652" cy="909257"/>
          </a:xfrm>
        </p:grpSpPr>
        <p:sp>
          <p:nvSpPr>
            <p:cNvPr id="2" name="Rectangle 2"/>
            <p:cNvSpPr/>
            <p:nvPr/>
          </p:nvSpPr>
          <p:spPr>
            <a:xfrm>
              <a:off x="533400" y="342900"/>
              <a:ext cx="1389698" cy="266700"/>
            </a:xfrm>
            <a:prstGeom prst="roundRect">
              <a:avLst>
                <a:gd name="adj" fmla="val 50000"/>
              </a:avLst>
            </a:prstGeom>
            <a:solidFill>
              <a:srgbClr val="E2F3F4"/>
            </a:solidFill>
            <a:ln>
              <a:noFill/>
            </a:ln>
          </p:spPr>
        </p:sp>
        <p:sp>
          <p:nvSpPr>
            <p:cNvPr id="3" name="TextBox 3"/>
            <p:cNvSpPr txBox="1"/>
            <p:nvPr/>
          </p:nvSpPr>
          <p:spPr>
            <a:xfrm>
              <a:off x="627064" y="407194"/>
              <a:ext cx="1201417" cy="220028"/>
            </a:xfrm>
            <a:prstGeom prst="rect">
              <a:avLst/>
            </a:prstGeom>
            <a:noFill/>
            <a:ln>
              <a:noFill/>
            </a:ln>
          </p:spPr>
          <p:txBody>
            <a:bodyPr wrap="none" lIns="0" tIns="0" rIns="0" bIns="0" anchor="t" anchorCtr="0">
              <a:spAutoFit/>
            </a:bodyPr>
            <a:lstStyle/>
            <a:p>
              <a:pPr algn="ctr"/>
              <a:r>
                <a:rPr lang="zh-CN" sz="1120" b="1" dirty="0">
                  <a:solidFill>
                    <a:srgbClr val="0E7C86"/>
                  </a:solidFill>
                  <a:latin typeface="+mn-lt"/>
                  <a:ea typeface="+mn-ea"/>
                  <a:cs typeface="+mn-cs"/>
                </a:rPr>
                <a:t>第6章 支持向量机</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本章小结</a:t>
              </a:r>
            </a:p>
          </p:txBody>
        </p:sp>
        <p:sp>
          <p:nvSpPr>
            <p:cNvPr id="5" name="Rectangle 5"/>
            <p:cNvSpPr/>
            <p:nvPr/>
          </p:nvSpPr>
          <p:spPr>
            <a:xfrm>
              <a:off x="533400" y="1181100"/>
              <a:ext cx="609600" cy="38100"/>
            </a:xfrm>
            <a:prstGeom prst="roundRect">
              <a:avLst>
                <a:gd name="adj" fmla="val 50000"/>
              </a:avLst>
            </a:prstGeom>
            <a:gradFill>
              <a:gsLst>
                <a:gs pos="0">
                  <a:srgbClr val="0E7C86"/>
                </a:gs>
                <a:gs pos="100000">
                  <a:srgbClr val="F26B3A"/>
                </a:gs>
              </a:gsLst>
              <a:lin ang="0" scaled="1"/>
            </a:gradFill>
            <a:ln>
              <a:noFill/>
            </a:ln>
          </p:spPr>
        </p:sp>
      </p:grpSp>
      <p:grpSp>
        <p:nvGrpSpPr>
          <p:cNvPr id="28" name="c1-bullets-1"/>
          <p:cNvGrpSpPr/>
          <p:nvPr/>
        </p:nvGrpSpPr>
        <p:grpSpPr>
          <a:xfrm>
            <a:off x="533400" y="1533525"/>
            <a:ext cx="5521035" cy="2019585"/>
            <a:chOff x="533400" y="1533525"/>
            <a:chExt cx="5521035" cy="2019585"/>
          </a:xfrm>
        </p:grpSpPr>
        <p:sp>
          <p:nvSpPr>
            <p:cNvPr id="7" name="Ellipse 7"/>
            <p:cNvSpPr/>
            <p:nvPr/>
          </p:nvSpPr>
          <p:spPr>
            <a:xfrm>
              <a:off x="533400" y="1533525"/>
              <a:ext cx="180975" cy="180975"/>
            </a:xfrm>
            <a:prstGeom prst="ellipse">
              <a:avLst/>
            </a:prstGeom>
            <a:solidFill>
              <a:srgbClr val="0E7C86"/>
            </a:solidFill>
            <a:ln>
              <a:noFill/>
            </a:ln>
          </p:spPr>
        </p:sp>
        <p:sp>
          <p:nvSpPr>
            <p:cNvPr id="8" name="TextBox 8"/>
            <p:cNvSpPr txBox="1"/>
            <p:nvPr/>
          </p:nvSpPr>
          <p:spPr>
            <a:xfrm>
              <a:off x="585307" y="156914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9" name="TextBox 9"/>
            <p:cNvSpPr txBox="1"/>
            <p:nvPr/>
          </p:nvSpPr>
          <p:spPr>
            <a:xfrm>
              <a:off x="803148" y="1545431"/>
              <a:ext cx="44931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小样本下经验风险最小化会过学习，要改用结构风险最小化</a:t>
              </a:r>
            </a:p>
          </p:txBody>
        </p:sp>
        <p:sp>
          <p:nvSpPr>
            <p:cNvPr id="10" name="Ellipse 10"/>
            <p:cNvSpPr/>
            <p:nvPr/>
          </p:nvSpPr>
          <p:spPr>
            <a:xfrm>
              <a:off x="533400" y="1826895"/>
              <a:ext cx="180975" cy="180975"/>
            </a:xfrm>
            <a:prstGeom prst="ellipse">
              <a:avLst/>
            </a:prstGeom>
            <a:solidFill>
              <a:srgbClr val="0E7C86"/>
            </a:solidFill>
            <a:ln>
              <a:noFill/>
            </a:ln>
          </p:spPr>
        </p:sp>
        <p:sp>
          <p:nvSpPr>
            <p:cNvPr id="11" name="TextBox 11"/>
            <p:cNvSpPr txBox="1"/>
            <p:nvPr/>
          </p:nvSpPr>
          <p:spPr>
            <a:xfrm>
              <a:off x="585307" y="1862519"/>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12" name="TextBox 12"/>
            <p:cNvSpPr txBox="1"/>
            <p:nvPr/>
          </p:nvSpPr>
          <p:spPr>
            <a:xfrm>
              <a:off x="803148" y="1837849"/>
              <a:ext cx="525128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令最小函数间隔为 1，最大化间隔就变成 min ½||w||² 这个凸二次规划</a:t>
              </a:r>
            </a:p>
          </p:txBody>
        </p:sp>
        <p:sp>
          <p:nvSpPr>
            <p:cNvPr id="13" name="Ellipse 13"/>
            <p:cNvSpPr/>
            <p:nvPr/>
          </p:nvSpPr>
          <p:spPr>
            <a:xfrm>
              <a:off x="533400" y="2120265"/>
              <a:ext cx="180975" cy="180975"/>
            </a:xfrm>
            <a:prstGeom prst="ellipse">
              <a:avLst/>
            </a:prstGeom>
            <a:solidFill>
              <a:srgbClr val="0E7C86"/>
            </a:solidFill>
            <a:ln>
              <a:noFill/>
            </a:ln>
          </p:spPr>
        </p:sp>
        <p:sp>
          <p:nvSpPr>
            <p:cNvPr id="14" name="TextBox 14"/>
            <p:cNvSpPr txBox="1"/>
            <p:nvPr/>
          </p:nvSpPr>
          <p:spPr>
            <a:xfrm>
              <a:off x="585307" y="215588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15" name="TextBox 15"/>
            <p:cNvSpPr txBox="1"/>
            <p:nvPr/>
          </p:nvSpPr>
          <p:spPr>
            <a:xfrm>
              <a:off x="803148" y="2131219"/>
              <a:ext cx="492860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乘子法加 KKT 把原问题换成只含 α 的对偶，互补松弛给出稀疏性</a:t>
              </a:r>
            </a:p>
          </p:txBody>
        </p:sp>
        <p:sp>
          <p:nvSpPr>
            <p:cNvPr id="16" name="Ellipse 16"/>
            <p:cNvSpPr/>
            <p:nvPr/>
          </p:nvSpPr>
          <p:spPr>
            <a:xfrm>
              <a:off x="533400" y="2413635"/>
              <a:ext cx="180975" cy="180975"/>
            </a:xfrm>
            <a:prstGeom prst="ellipse">
              <a:avLst/>
            </a:prstGeom>
            <a:solidFill>
              <a:srgbClr val="0E7C86"/>
            </a:solidFill>
            <a:ln>
              <a:noFill/>
            </a:ln>
          </p:spPr>
        </p:sp>
        <p:sp>
          <p:nvSpPr>
            <p:cNvPr id="17" name="TextBox 17"/>
            <p:cNvSpPr txBox="1"/>
            <p:nvPr/>
          </p:nvSpPr>
          <p:spPr>
            <a:xfrm>
              <a:off x="585307" y="244830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18" name="TextBox 18"/>
            <p:cNvSpPr txBox="1"/>
            <p:nvPr/>
          </p:nvSpPr>
          <p:spPr>
            <a:xfrm>
              <a:off x="803148" y="2424589"/>
              <a:ext cx="436614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软间隔用 ξ 度量越界、用 C 定惩罚，对偶只多一个上界 C</a:t>
              </a:r>
            </a:p>
          </p:txBody>
        </p:sp>
        <p:sp>
          <p:nvSpPr>
            <p:cNvPr id="19" name="Ellipse 19"/>
            <p:cNvSpPr/>
            <p:nvPr/>
          </p:nvSpPr>
          <p:spPr>
            <a:xfrm>
              <a:off x="533400" y="2706052"/>
              <a:ext cx="180975" cy="180975"/>
            </a:xfrm>
            <a:prstGeom prst="ellipse">
              <a:avLst/>
            </a:prstGeom>
            <a:solidFill>
              <a:srgbClr val="0E7C86"/>
            </a:solidFill>
            <a:ln>
              <a:noFill/>
            </a:ln>
          </p:spPr>
        </p:sp>
        <p:sp>
          <p:nvSpPr>
            <p:cNvPr id="20" name="TextBox 20"/>
            <p:cNvSpPr txBox="1"/>
            <p:nvPr/>
          </p:nvSpPr>
          <p:spPr>
            <a:xfrm>
              <a:off x="585307" y="274167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5</a:t>
              </a:r>
            </a:p>
          </p:txBody>
        </p:sp>
        <p:sp>
          <p:nvSpPr>
            <p:cNvPr id="21" name="TextBox 21"/>
            <p:cNvSpPr txBox="1"/>
            <p:nvPr/>
          </p:nvSpPr>
          <p:spPr>
            <a:xfrm>
              <a:off x="803148" y="2717006"/>
              <a:ext cx="436761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对偶里样本只以内积出现，换成核函数就得到非线性 SVM</a:t>
              </a:r>
            </a:p>
          </p:txBody>
        </p:sp>
        <p:sp>
          <p:nvSpPr>
            <p:cNvPr id="22" name="Ellipse 22"/>
            <p:cNvSpPr/>
            <p:nvPr/>
          </p:nvSpPr>
          <p:spPr>
            <a:xfrm>
              <a:off x="533400" y="2999422"/>
              <a:ext cx="180975" cy="180975"/>
            </a:xfrm>
            <a:prstGeom prst="ellipse">
              <a:avLst/>
            </a:prstGeom>
            <a:solidFill>
              <a:srgbClr val="0E7C86"/>
            </a:solidFill>
            <a:ln>
              <a:noFill/>
            </a:ln>
          </p:spPr>
        </p:sp>
        <p:sp>
          <p:nvSpPr>
            <p:cNvPr id="23" name="TextBox 23"/>
            <p:cNvSpPr txBox="1"/>
            <p:nvPr/>
          </p:nvSpPr>
          <p:spPr>
            <a:xfrm>
              <a:off x="585307" y="303504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6</a:t>
              </a:r>
            </a:p>
          </p:txBody>
        </p:sp>
        <p:sp>
          <p:nvSpPr>
            <p:cNvPr id="24" name="TextBox 24"/>
            <p:cNvSpPr txBox="1"/>
            <p:nvPr/>
          </p:nvSpPr>
          <p:spPr>
            <a:xfrm>
              <a:off x="803148" y="3010376"/>
              <a:ext cx="420423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分解算法只解小 QP，SMO 把工作集缩到 2 并有闭式解</a:t>
              </a:r>
            </a:p>
          </p:txBody>
        </p:sp>
        <p:sp>
          <p:nvSpPr>
            <p:cNvPr id="25" name="Ellipse 25"/>
            <p:cNvSpPr/>
            <p:nvPr/>
          </p:nvSpPr>
          <p:spPr>
            <a:xfrm>
              <a:off x="533400" y="3292792"/>
              <a:ext cx="180975" cy="180975"/>
            </a:xfrm>
            <a:prstGeom prst="ellipse">
              <a:avLst/>
            </a:prstGeom>
            <a:solidFill>
              <a:srgbClr val="0E7C86"/>
            </a:solidFill>
            <a:ln>
              <a:noFill/>
            </a:ln>
          </p:spPr>
        </p:sp>
        <p:sp>
          <p:nvSpPr>
            <p:cNvPr id="26" name="TextBox 26"/>
            <p:cNvSpPr txBox="1"/>
            <p:nvPr/>
          </p:nvSpPr>
          <p:spPr>
            <a:xfrm>
              <a:off x="585307" y="3327463"/>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7</a:t>
              </a:r>
            </a:p>
          </p:txBody>
        </p:sp>
        <p:sp>
          <p:nvSpPr>
            <p:cNvPr id="27" name="TextBox 27"/>
            <p:cNvSpPr txBox="1"/>
            <p:nvPr/>
          </p:nvSpPr>
          <p:spPr>
            <a:xfrm>
              <a:off x="803148" y="3303746"/>
              <a:ext cx="469305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SVR 把约束换成 ε-带；多类靠 one-vs-all 或 one-vs-one 拼</a:t>
              </a:r>
            </a:p>
          </p:txBody>
        </p:sp>
      </p:grpSp>
      <p:grpSp>
        <p:nvGrpSpPr>
          <p:cNvPr id="35" name="c1-card-2"/>
          <p:cNvGrpSpPr/>
          <p:nvPr/>
        </p:nvGrpSpPr>
        <p:grpSpPr>
          <a:xfrm>
            <a:off x="533400" y="3667125"/>
            <a:ext cx="5626418" cy="1712595"/>
            <a:chOff x="533400" y="3667125"/>
            <a:chExt cx="5626418" cy="1712595"/>
          </a:xfrm>
        </p:grpSpPr>
        <p:sp>
          <p:nvSpPr>
            <p:cNvPr id="29" name="Rectangle 29"/>
            <p:cNvSpPr/>
            <p:nvPr/>
          </p:nvSpPr>
          <p:spPr>
            <a:xfrm>
              <a:off x="533400" y="3667125"/>
              <a:ext cx="5626418" cy="1712595"/>
            </a:xfrm>
            <a:prstGeom prst="roundRect">
              <a:avLst>
                <a:gd name="adj" fmla="val 7786"/>
              </a:avLst>
            </a:prstGeom>
            <a:solidFill>
              <a:srgbClr val="0E7C86"/>
            </a:solidFill>
            <a:ln>
              <a:noFill/>
            </a:ln>
          </p:spPr>
        </p:sp>
        <p:sp>
          <p:nvSpPr>
            <p:cNvPr id="30" name="Rectangle 30"/>
            <p:cNvSpPr/>
            <p:nvPr/>
          </p:nvSpPr>
          <p:spPr>
            <a:xfrm>
              <a:off x="714375" y="3848100"/>
              <a:ext cx="458152" cy="238125"/>
            </a:xfrm>
            <a:prstGeom prst="roundRect">
              <a:avLst>
                <a:gd name="adj" fmla="val 50000"/>
              </a:avLst>
            </a:prstGeom>
            <a:solidFill>
              <a:srgbClr val="0B5F67"/>
            </a:solidFill>
            <a:ln>
              <a:noFill/>
            </a:ln>
          </p:spPr>
        </p:sp>
        <p:sp>
          <p:nvSpPr>
            <p:cNvPr id="31" name="TextBox 31"/>
            <p:cNvSpPr txBox="1"/>
            <p:nvPr/>
          </p:nvSpPr>
          <p:spPr>
            <a:xfrm>
              <a:off x="807047" y="3880961"/>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必背</a:t>
              </a:r>
            </a:p>
          </p:txBody>
        </p:sp>
        <p:sp>
          <p:nvSpPr>
            <p:cNvPr id="32" name="TextBox 32"/>
            <p:cNvSpPr txBox="1"/>
            <p:nvPr/>
          </p:nvSpPr>
          <p:spPr>
            <a:xfrm>
              <a:off x="1280350" y="3888581"/>
              <a:ext cx="3793571"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对偶目标与决策函数（0 ≤ αᵢ ≤ C，Σ αᵢyᵢ = 0）</a:t>
              </a:r>
            </a:p>
          </p:txBody>
        </p:sp>
        <mc:AlternateContent xmlns:mc="http://schemas.openxmlformats.org/markup-compatibility/2006">
          <mc:Choice xmlns:a14="http://schemas.microsoft.com/office/drawing/2010/main" Requires="a14">
            <p:sp>
              <p:nvSpPr>
                <p:cNvPr id="33" name="formula334"/>
                <p:cNvSpPr txBox="1">
                  <a:spLocks noGrp="1"/>
                </p:cNvSpPr>
                <p:nvPr/>
              </p:nvSpPr>
              <p:spPr>
                <a:xfrm>
                  <a:off x="714375" y="4183380"/>
                  <a:ext cx="5264468" cy="44005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func>
                          <m:funcPr/>
                          <m:fName>
                            <m:limLow>
                              <m:limLowPr/>
                              <m:e>
                                <m:r>
                                  <m:rPr>
                                    <m:sty m:val="p"/>
                                  </m:rPr>
                                  <a:rPr lang="zh-CN" sz="1050" dirty="0">
                                    <a:solidFill>
                                      <a:srgbClr val="FFFFFF"/>
                                    </a:solidFill>
                                    <a:latin typeface="Cambria Math"/>
                                    <a:ea typeface="Cambria Math"/>
                                    <a:cs typeface="Cambria Math"/>
                                  </a:rPr>
                                  <m:t>max</m:t>
                                </m:r>
                              </m:e>
                              <m:lim>
                                <m:r>
                                  <a:rPr lang="zh-CN" sz="1050" dirty="0">
                                    <a:solidFill>
                                      <a:srgbClr val="FFFFFF"/>
                                    </a:solidFill>
                                    <a:latin typeface="Cambria Math"/>
                                    <a:ea typeface="Cambria Math"/>
                                    <a:cs typeface="Cambria Math"/>
                                  </a:rPr>
                                  <m:t>α</m:t>
                                </m:r>
                              </m:lim>
                            </m:limLow>
                          </m:fName>
                          <m:e>
                            <m:r>
                              <a:rPr lang="zh-CN" sz="1050" dirty="0">
                                <a:solidFill>
                                  <a:srgbClr val="FFFFFF"/>
                                </a:solidFill>
                                <a:latin typeface="Cambria Math"/>
                                <a:ea typeface="Cambria Math"/>
                                <a:cs typeface="Cambria Math"/>
                              </a:rPr>
                              <m:t xml:space="preserve"> </m:t>
                            </m:r>
                            <m:nary>
                              <m:naryPr>
                                <m:chr m:val="∑"/>
                                <m:limLoc m:val="undOvr"/>
                                <m:grow m:val="off"/>
                                <m:subHide m:val="off"/>
                                <m:supHide m:val="off"/>
                                <m:ctrlPr>
                                  <a:rPr lang="zh-CN" sz="1050" dirty="0">
                                    <a:solidFill>
                                      <a:srgbClr val="FFFFFF"/>
                                    </a:solidFill>
                                    <a:latin typeface="Cambria Math"/>
                                    <a:ea typeface="Cambria Math"/>
                                    <a:cs typeface="Cambria Math"/>
                                  </a:rPr>
                                </m:ctrlPr>
                              </m:naryPr>
                              <m:sub>
                                <m:r>
                                  <a:rPr lang="zh-CN" sz="1050" dirty="0">
                                    <a:solidFill>
                                      <a:srgbClr val="FFFFFF"/>
                                    </a:solidFill>
                                    <a:latin typeface="Cambria Math"/>
                                    <a:ea typeface="Cambria Math"/>
                                    <a:cs typeface="Cambria Math"/>
                                  </a:rPr>
                                  <m:t>i</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1</m:t>
                                </m:r>
                              </m:sub>
                              <m:sup>
                                <m:r>
                                  <a:rPr lang="zh-CN" sz="1050" dirty="0">
                                    <a:solidFill>
                                      <a:srgbClr val="FFFFFF"/>
                                    </a:solidFill>
                                    <a:latin typeface="Cambria Math"/>
                                    <a:ea typeface="Cambria Math"/>
                                    <a:cs typeface="Cambria Math"/>
                                  </a:rPr>
                                  <m:t>N</m:t>
                                </m:r>
                              </m:sup>
                              <m:e>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Sub>
                              </m:e>
                            </m:nary>
                          </m:e>
                        </m:func>
                        <m:r>
                          <m:rPr>
                            <m:sty m:val="p"/>
                          </m:rPr>
                          <a:rPr lang="zh-CN" sz="1050" dirty="0">
                            <a:solidFill>
                              <a:srgbClr val="FFFFFF"/>
                            </a:solidFill>
                            <a:latin typeface="Cambria Math"/>
                            <a:ea typeface="Cambria Math"/>
                            <a:cs typeface="Cambria Math"/>
                          </a:rPr>
                          <m:t>−</m:t>
                        </m:r>
                        <m:f>
                          <m:fPr>
                            <m:type m:val="bar"/>
                            <m:ctrlPr>
                              <a:rPr lang="zh-CN" sz="1050" dirty="0">
                                <a:solidFill>
                                  <a:srgbClr val="FFFFFF"/>
                                </a:solidFill>
                                <a:latin typeface="Cambria Math"/>
                                <a:ea typeface="Cambria Math"/>
                                <a:cs typeface="Cambria Math"/>
                              </a:rPr>
                            </m:ctrlPr>
                          </m:fPr>
                          <m:num>
                            <m:r>
                              <a:rPr lang="zh-CN" sz="1050" dirty="0">
                                <a:solidFill>
                                  <a:srgbClr val="FFFFFF"/>
                                </a:solidFill>
                                <a:latin typeface="Cambria Math"/>
                                <a:ea typeface="Cambria Math"/>
                                <a:cs typeface="Cambria Math"/>
                              </a:rPr>
                              <m:t>1</m:t>
                            </m:r>
                          </m:num>
                          <m:den>
                            <m:r>
                              <a:rPr lang="zh-CN" sz="1050" dirty="0">
                                <a:solidFill>
                                  <a:srgbClr val="FFFFFF"/>
                                </a:solidFill>
                                <a:latin typeface="Cambria Math"/>
                                <a:ea typeface="Cambria Math"/>
                                <a:cs typeface="Cambria Math"/>
                              </a:rPr>
                              <m:t>2</m:t>
                            </m:r>
                          </m:den>
                        </m:f>
                        <m:nary>
                          <m:naryPr>
                            <m:chr m:val="∑"/>
                            <m:limLoc m:val="undOvr"/>
                            <m:grow m:val="off"/>
                            <m:subHide m:val="off"/>
                            <m:supHide m:val="on"/>
                            <m:ctrlPr>
                              <a:rPr lang="zh-CN" sz="1050" dirty="0">
                                <a:solidFill>
                                  <a:srgbClr val="FFFFFF"/>
                                </a:solidFill>
                                <a:latin typeface="Cambria Math"/>
                                <a:ea typeface="Cambria Math"/>
                                <a:cs typeface="Cambria Math"/>
                              </a:rPr>
                            </m:ctrlPr>
                          </m:naryPr>
                          <m:sub>
                            <m:r>
                              <a:rPr lang="zh-CN" sz="1050" dirty="0">
                                <a:solidFill>
                                  <a:srgbClr val="FFFFFF"/>
                                </a:solidFill>
                                <a:latin typeface="Cambria Math"/>
                                <a:ea typeface="Cambria Math"/>
                                <a:cs typeface="Cambria Math"/>
                              </a:rPr>
                              <m:t>i</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j</m:t>
                            </m:r>
                          </m:sub>
                          <m:sup/>
                          <m:e>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Sub>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j</m:t>
                                </m:r>
                              </m:sub>
                            </m:sSub>
                            <m:sSub>
                              <m:e>
                                <m:r>
                                  <a:rPr lang="zh-CN" sz="1050" dirty="0">
                                    <a:solidFill>
                                      <a:srgbClr val="FFFFFF"/>
                                    </a:solidFill>
                                    <a:latin typeface="Cambria Math"/>
                                    <a:ea typeface="Cambria Math"/>
                                    <a:cs typeface="Cambria Math"/>
                                  </a:rPr>
                                  <m:t>y</m:t>
                                </m:r>
                              </m:e>
                              <m:sub>
                                <m:r>
                                  <a:rPr lang="zh-CN" sz="1050" dirty="0">
                                    <a:solidFill>
                                      <a:srgbClr val="FFFFFF"/>
                                    </a:solidFill>
                                    <a:latin typeface="Cambria Math"/>
                                    <a:ea typeface="Cambria Math"/>
                                    <a:cs typeface="Cambria Math"/>
                                  </a:rPr>
                                  <m:t>i</m:t>
                                </m:r>
                              </m:sub>
                            </m:sSub>
                            <m:sSub>
                              <m:e>
                                <m:r>
                                  <a:rPr lang="zh-CN" sz="1050" dirty="0">
                                    <a:solidFill>
                                      <a:srgbClr val="FFFFFF"/>
                                    </a:solidFill>
                                    <a:latin typeface="Cambria Math"/>
                                    <a:ea typeface="Cambria Math"/>
                                    <a:cs typeface="Cambria Math"/>
                                  </a:rPr>
                                  <m:t>y</m:t>
                                </m:r>
                              </m:e>
                              <m:sub>
                                <m:r>
                                  <a:rPr lang="zh-CN" sz="1050" dirty="0">
                                    <a:solidFill>
                                      <a:srgbClr val="FFFFFF"/>
                                    </a:solidFill>
                                    <a:latin typeface="Cambria Math"/>
                                    <a:ea typeface="Cambria Math"/>
                                    <a:cs typeface="Cambria Math"/>
                                  </a:rPr>
                                  <m:t>j</m:t>
                                </m:r>
                              </m:sub>
                            </m:sSub>
                            <m:r>
                              <a:rPr lang="zh-CN" sz="1050" dirty="0">
                                <a:solidFill>
                                  <a:srgbClr val="FFFFFF"/>
                                </a:solidFill>
                                <a:latin typeface="Cambria Math"/>
                                <a:ea typeface="Cambria Math"/>
                                <a:cs typeface="Cambria Math"/>
                              </a:rPr>
                              <m:t>K</m:t>
                            </m:r>
                            <m:d>
                              <m:dPr>
                                <m:begChr m:val="("/>
                                <m:sepChr m:val=""/>
                                <m:endChr m:val=")"/>
                                <m:grow m:val="on"/>
                                <m:ctrlPr>
                                  <a:rPr lang="zh-CN" sz="1050" dirty="0">
                                    <a:solidFill>
                                      <a:srgbClr val="FFFFFF"/>
                                    </a:solidFill>
                                    <a:latin typeface="Cambria Math"/>
                                    <a:ea typeface="Cambria Math"/>
                                    <a:cs typeface="Cambria Math"/>
                                  </a:rPr>
                                </m:ctrlPr>
                              </m:dPr>
                              <m:e>
                                <m:sSub>
                                  <m:e>
                                    <m:r>
                                      <a:rPr lang="zh-CN" sz="1050" dirty="0">
                                        <a:solidFill>
                                          <a:srgbClr val="FFFFFF"/>
                                        </a:solidFill>
                                        <a:latin typeface="Cambria Math"/>
                                        <a:ea typeface="Cambria Math"/>
                                        <a:cs typeface="Cambria Math"/>
                                      </a:rPr>
                                      <m:t>x</m:t>
                                    </m:r>
                                  </m:e>
                                  <m:sub>
                                    <m:r>
                                      <a:rPr lang="zh-CN" sz="1050" dirty="0">
                                        <a:solidFill>
                                          <a:srgbClr val="FFFFFF"/>
                                        </a:solidFill>
                                        <a:latin typeface="Cambria Math"/>
                                        <a:ea typeface="Cambria Math"/>
                                        <a:cs typeface="Cambria Math"/>
                                      </a:rPr>
                                      <m:t>i</m:t>
                                    </m:r>
                                  </m:sub>
                                </m:sSub>
                                <m:r>
                                  <m:rPr>
                                    <m:sty m:val="p"/>
                                  </m:rPr>
                                  <a:rPr lang="zh-CN" sz="1050" dirty="0">
                                    <a:solidFill>
                                      <a:srgbClr val="FFFFFF"/>
                                    </a:solidFill>
                                    <a:latin typeface="Cambria Math"/>
                                    <a:ea typeface="Cambria Math"/>
                                    <a:cs typeface="Cambria Math"/>
                                  </a:rPr>
                                  <m:t>,</m:t>
                                </m:r>
                                <m:sSub>
                                  <m:e>
                                    <m:r>
                                      <a:rPr lang="zh-CN" sz="1050" dirty="0">
                                        <a:solidFill>
                                          <a:srgbClr val="FFFFFF"/>
                                        </a:solidFill>
                                        <a:latin typeface="Cambria Math"/>
                                        <a:ea typeface="Cambria Math"/>
                                        <a:cs typeface="Cambria Math"/>
                                      </a:rPr>
                                      <m:t>x</m:t>
                                    </m:r>
                                  </m:e>
                                  <m:sub>
                                    <m:r>
                                      <a:rPr lang="zh-CN" sz="1050" dirty="0">
                                        <a:solidFill>
                                          <a:srgbClr val="FFFFFF"/>
                                        </a:solidFill>
                                        <a:latin typeface="Cambria Math"/>
                                        <a:ea typeface="Cambria Math"/>
                                        <a:cs typeface="Cambria Math"/>
                                      </a:rPr>
                                      <m:t>j</m:t>
                                    </m:r>
                                  </m:sub>
                                </m:sSub>
                              </m:e>
                            </m:d>
                          </m:e>
                        </m:nary>
                      </m:oMath>
                    </m:oMathPara>
                  </a14:m>
                </a:p>
              </p:txBody>
            </p:sp>
          </mc:Choice>
        </mc:AlternateContent>
        <mc:AlternateContent xmlns:mc="http://schemas.openxmlformats.org/markup-compatibility/2006">
          <mc:Choice xmlns:a14="http://schemas.microsoft.com/office/drawing/2010/main" Requires="a14">
            <p:sp>
              <p:nvSpPr>
                <p:cNvPr id="34" name="formula335"/>
                <p:cNvSpPr txBox="1">
                  <a:spLocks noGrp="1"/>
                </p:cNvSpPr>
                <p:nvPr/>
              </p:nvSpPr>
              <p:spPr>
                <a:xfrm>
                  <a:off x="714375" y="4704398"/>
                  <a:ext cx="5264468" cy="46672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050" dirty="0">
                            <a:solidFill>
                              <a:srgbClr val="FFFFFF"/>
                            </a:solidFill>
                            <a:latin typeface="Cambria Math"/>
                            <a:ea typeface="Cambria Math"/>
                            <a:cs typeface="Cambria Math"/>
                          </a:rPr>
                          <m:t>f</m:t>
                        </m:r>
                        <m:d>
                          <m:dPr>
                            <m:begChr m:val="("/>
                            <m:sepChr m:val=""/>
                            <m:endChr m:val=")"/>
                            <m:grow m:val="on"/>
                            <m:ctrlPr>
                              <a:rPr lang="zh-CN" sz="1050" dirty="0">
                                <a:solidFill>
                                  <a:srgbClr val="FFFFFF"/>
                                </a:solidFill>
                                <a:latin typeface="Cambria Math"/>
                                <a:ea typeface="Cambria Math"/>
                                <a:cs typeface="Cambria Math"/>
                              </a:rPr>
                            </m:ctrlPr>
                          </m:dPr>
                          <m:e>
                            <m:r>
                              <a:rPr lang="zh-CN" sz="1050" dirty="0">
                                <a:solidFill>
                                  <a:srgbClr val="FFFFFF"/>
                                </a:solidFill>
                                <a:latin typeface="Cambria Math"/>
                                <a:ea typeface="Cambria Math"/>
                                <a:cs typeface="Cambria Math"/>
                              </a:rPr>
                              <m:t>x</m:t>
                            </m:r>
                          </m:e>
                        </m:d>
                        <m:r>
                          <m:rPr>
                            <m:sty m:val="p"/>
                          </m:rPr>
                          <a:rPr lang="zh-CN" sz="1050" dirty="0">
                            <a:solidFill>
                              <a:srgbClr val="FFFFFF"/>
                            </a:solidFill>
                            <a:latin typeface="Cambria Math"/>
                            <a:ea typeface="Cambria Math"/>
                            <a:cs typeface="Cambria Math"/>
                          </a:rPr>
                          <m:t>=</m:t>
                        </m:r>
                        <m:r>
                          <m:rPr>
                            <m:sty m:val="p"/>
                          </m:rPr>
                          <a:rPr lang="zh-CN" sz="1050" dirty="0">
                            <a:solidFill>
                              <a:srgbClr val="FFFFFF"/>
                            </a:solidFill>
                            <a:latin typeface="Cambria Math"/>
                            <a:ea typeface="Cambria Math"/>
                            <a:cs typeface="Cambria Math"/>
                          </a:rPr>
                          <m:t>sign</m:t>
                        </m:r>
                        <m:d>
                          <m:dPr>
                            <m:begChr m:val="("/>
                            <m:sepChr m:val=""/>
                            <m:endChr m:val=")"/>
                            <m:grow m:val="on"/>
                            <m:ctrlPr>
                              <a:rPr lang="zh-CN" sz="1050" dirty="0">
                                <a:solidFill>
                                  <a:srgbClr val="FFFFFF"/>
                                </a:solidFill>
                                <a:latin typeface="Cambria Math"/>
                                <a:ea typeface="Cambria Math"/>
                                <a:cs typeface="Cambria Math"/>
                              </a:rPr>
                            </m:ctrlPr>
                          </m:dPr>
                          <m:e>
                            <m:nary>
                              <m:naryPr>
                                <m:chr m:val="∑"/>
                                <m:limLoc m:val="undOvr"/>
                                <m:grow m:val="off"/>
                                <m:subHide m:val="off"/>
                                <m:supHide m:val="on"/>
                                <m:ctrlPr>
                                  <a:rPr lang="zh-CN" sz="1050" dirty="0">
                                    <a:solidFill>
                                      <a:srgbClr val="FFFFFF"/>
                                    </a:solidFill>
                                    <a:latin typeface="Cambria Math"/>
                                    <a:ea typeface="Cambria Math"/>
                                    <a:cs typeface="Cambria Math"/>
                                  </a:rPr>
                                </m:ctrlPr>
                              </m:naryPr>
                              <m:sub>
                                <m:r>
                                  <a:rPr lang="zh-CN" sz="1050" dirty="0">
                                    <a:solidFill>
                                      <a:srgbClr val="FFFFFF"/>
                                    </a:solidFill>
                                    <a:latin typeface="Cambria Math"/>
                                    <a:ea typeface="Cambria Math"/>
                                    <a:cs typeface="Cambria Math"/>
                                  </a:rPr>
                                  <m:t>i</m:t>
                                </m:r>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S</m:t>
                                </m:r>
                              </m:sub>
                              <m:sup/>
                              <m:e>
                                <m:sSub>
                                  <m:e>
                                    <m:r>
                                      <a:rPr lang="zh-CN" sz="1050" dirty="0">
                                        <a:solidFill>
                                          <a:srgbClr val="FFFFFF"/>
                                        </a:solidFill>
                                        <a:latin typeface="Cambria Math"/>
                                        <a:ea typeface="Cambria Math"/>
                                        <a:cs typeface="Cambria Math"/>
                                      </a:rPr>
                                      <m:t>α</m:t>
                                    </m:r>
                                  </m:e>
                                  <m:sub>
                                    <m:r>
                                      <a:rPr lang="zh-CN" sz="1050" dirty="0">
                                        <a:solidFill>
                                          <a:srgbClr val="FFFFFF"/>
                                        </a:solidFill>
                                        <a:latin typeface="Cambria Math"/>
                                        <a:ea typeface="Cambria Math"/>
                                        <a:cs typeface="Cambria Math"/>
                                      </a:rPr>
                                      <m:t>i</m:t>
                                    </m:r>
                                  </m:sub>
                                </m:sSub>
                                <m:sSub>
                                  <m:e>
                                    <m:r>
                                      <a:rPr lang="zh-CN" sz="1050" dirty="0">
                                        <a:solidFill>
                                          <a:srgbClr val="FFFFFF"/>
                                        </a:solidFill>
                                        <a:latin typeface="Cambria Math"/>
                                        <a:ea typeface="Cambria Math"/>
                                        <a:cs typeface="Cambria Math"/>
                                      </a:rPr>
                                      <m:t>y</m:t>
                                    </m:r>
                                  </m:e>
                                  <m:sub>
                                    <m:r>
                                      <a:rPr lang="zh-CN" sz="1050" dirty="0">
                                        <a:solidFill>
                                          <a:srgbClr val="FFFFFF"/>
                                        </a:solidFill>
                                        <a:latin typeface="Cambria Math"/>
                                        <a:ea typeface="Cambria Math"/>
                                        <a:cs typeface="Cambria Math"/>
                                      </a:rPr>
                                      <m:t>i</m:t>
                                    </m:r>
                                  </m:sub>
                                </m:sSub>
                                <m:r>
                                  <a:rPr lang="zh-CN" sz="1050" dirty="0">
                                    <a:solidFill>
                                      <a:srgbClr val="FFFFFF"/>
                                    </a:solidFill>
                                    <a:latin typeface="Cambria Math"/>
                                    <a:ea typeface="Cambria Math"/>
                                    <a:cs typeface="Cambria Math"/>
                                  </a:rPr>
                                  <m:t>K</m:t>
                                </m:r>
                                <m:d>
                                  <m:dPr>
                                    <m:begChr m:val="("/>
                                    <m:sepChr m:val=""/>
                                    <m:endChr m:val=")"/>
                                    <m:grow m:val="on"/>
                                    <m:ctrlPr>
                                      <a:rPr lang="zh-CN" sz="1050" dirty="0">
                                        <a:solidFill>
                                          <a:srgbClr val="FFFFFF"/>
                                        </a:solidFill>
                                        <a:latin typeface="Cambria Math"/>
                                        <a:ea typeface="Cambria Math"/>
                                        <a:cs typeface="Cambria Math"/>
                                      </a:rPr>
                                    </m:ctrlPr>
                                  </m:dPr>
                                  <m:e>
                                    <m:sSub>
                                      <m:e>
                                        <m:r>
                                          <a:rPr lang="zh-CN" sz="1050" dirty="0">
                                            <a:solidFill>
                                              <a:srgbClr val="FFFFFF"/>
                                            </a:solidFill>
                                            <a:latin typeface="Cambria Math"/>
                                            <a:ea typeface="Cambria Math"/>
                                            <a:cs typeface="Cambria Math"/>
                                          </a:rPr>
                                          <m:t>x</m:t>
                                        </m:r>
                                      </m:e>
                                      <m:sub>
                                        <m:r>
                                          <a:rPr lang="zh-CN" sz="1050" dirty="0">
                                            <a:solidFill>
                                              <a:srgbClr val="FFFFFF"/>
                                            </a:solidFill>
                                            <a:latin typeface="Cambria Math"/>
                                            <a:ea typeface="Cambria Math"/>
                                            <a:cs typeface="Cambria Math"/>
                                          </a:rPr>
                                          <m:t>i</m:t>
                                        </m:r>
                                      </m:sub>
                                    </m:sSub>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x</m:t>
                                    </m:r>
                                  </m:e>
                                </m:d>
                              </m:e>
                            </m:nary>
                            <m:r>
                              <m:rPr>
                                <m:sty m:val="p"/>
                              </m:rPr>
                              <a:rPr lang="zh-CN" sz="1050" dirty="0">
                                <a:solidFill>
                                  <a:srgbClr val="FFFFFF"/>
                                </a:solidFill>
                                <a:latin typeface="Cambria Math"/>
                                <a:ea typeface="Cambria Math"/>
                                <a:cs typeface="Cambria Math"/>
                              </a:rPr>
                              <m:t>+</m:t>
                            </m:r>
                            <m:r>
                              <a:rPr lang="zh-CN" sz="1050" dirty="0">
                                <a:solidFill>
                                  <a:srgbClr val="FFFFFF"/>
                                </a:solidFill>
                                <a:latin typeface="Cambria Math"/>
                                <a:ea typeface="Cambria Math"/>
                                <a:cs typeface="Cambria Math"/>
                              </a:rPr>
                              <m:t>b</m:t>
                            </m:r>
                          </m:e>
                        </m:d>
                      </m:oMath>
                    </m:oMathPara>
                  </a14:m>
                </a:p>
              </p:txBody>
            </p:sp>
          </mc:Choice>
        </mc:AlternateContent>
      </p:grpSp>
      <p:grpSp>
        <p:nvGrpSpPr>
          <p:cNvPr id="57" name="c2-table-1"/>
          <p:cNvGrpSpPr/>
          <p:nvPr/>
        </p:nvGrpSpPr>
        <p:grpSpPr>
          <a:xfrm>
            <a:off x="6464618" y="1524000"/>
            <a:ext cx="5193982" cy="2287905"/>
            <a:chOff x="6464618" y="1524000"/>
            <a:chExt cx="5193982" cy="2287905"/>
          </a:xfrm>
        </p:grpSpPr>
        <p:sp>
          <p:nvSpPr>
            <p:cNvPr id="36" name="Rectangle 36"/>
            <p:cNvSpPr/>
            <p:nvPr/>
          </p:nvSpPr>
          <p:spPr>
            <a:xfrm>
              <a:off x="6464618" y="1524000"/>
              <a:ext cx="5193982" cy="381000"/>
            </a:xfrm>
            <a:prstGeom prst="rect">
              <a:avLst/>
            </a:prstGeom>
            <a:solidFill>
              <a:srgbClr val="0E7C86"/>
            </a:solidFill>
            <a:ln>
              <a:noFill/>
            </a:ln>
          </p:spPr>
        </p:sp>
        <p:sp>
          <p:nvSpPr>
            <p:cNvPr id="37" name="TextBox 37"/>
            <p:cNvSpPr txBox="1"/>
            <p:nvPr/>
          </p:nvSpPr>
          <p:spPr>
            <a:xfrm>
              <a:off x="7097078"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概念</a:t>
              </a:r>
            </a:p>
          </p:txBody>
        </p:sp>
        <p:sp>
          <p:nvSpPr>
            <p:cNvPr id="38" name="TextBox 38"/>
            <p:cNvSpPr txBox="1"/>
            <p:nvPr/>
          </p:nvSpPr>
          <p:spPr>
            <a:xfrm>
              <a:off x="9623870"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一句话</a:t>
              </a:r>
            </a:p>
          </p:txBody>
        </p:sp>
        <p:sp>
          <p:nvSpPr>
            <p:cNvPr id="39" name="TextBox 39"/>
            <p:cNvSpPr txBox="1"/>
            <p:nvPr/>
          </p:nvSpPr>
          <p:spPr>
            <a:xfrm>
              <a:off x="6559296" y="2023110"/>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支持向量</a:t>
              </a:r>
            </a:p>
          </p:txBody>
        </p:sp>
        <p:sp>
          <p:nvSpPr>
            <p:cNvPr id="40" name="TextBox 40"/>
            <p:cNvSpPr txBox="1"/>
            <p:nvPr/>
          </p:nvSpPr>
          <p:spPr>
            <a:xfrm>
              <a:off x="8117586" y="2023110"/>
              <a:ext cx="24277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αᵢ &gt; 0 的样本，决定超平面的全部信息</a:t>
              </a:r>
            </a:p>
          </p:txBody>
        </p:sp>
        <p:sp>
          <p:nvSpPr>
            <p:cNvPr id="41" name="Rectangle 41"/>
            <p:cNvSpPr/>
            <p:nvPr/>
          </p:nvSpPr>
          <p:spPr>
            <a:xfrm>
              <a:off x="6464618" y="2282190"/>
              <a:ext cx="5193982" cy="9525"/>
            </a:xfrm>
            <a:prstGeom prst="rect">
              <a:avLst/>
            </a:prstGeom>
            <a:solidFill>
              <a:srgbClr val="D9DFEA"/>
            </a:solidFill>
            <a:ln>
              <a:noFill/>
            </a:ln>
          </p:spPr>
        </p:sp>
        <p:sp>
          <p:nvSpPr>
            <p:cNvPr id="42" name="Rectangle 42"/>
            <p:cNvSpPr/>
            <p:nvPr/>
          </p:nvSpPr>
          <p:spPr>
            <a:xfrm>
              <a:off x="6464618" y="2286952"/>
              <a:ext cx="5193982" cy="381000"/>
            </a:xfrm>
            <a:prstGeom prst="rect">
              <a:avLst/>
            </a:prstGeom>
            <a:solidFill>
              <a:srgbClr val="F4F6FB"/>
            </a:solidFill>
            <a:ln>
              <a:noFill/>
            </a:ln>
          </p:spPr>
        </p:sp>
        <p:sp>
          <p:nvSpPr>
            <p:cNvPr id="43" name="TextBox 43"/>
            <p:cNvSpPr txBox="1"/>
            <p:nvPr/>
          </p:nvSpPr>
          <p:spPr>
            <a:xfrm>
              <a:off x="6559296" y="2404110"/>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几何间隔</a:t>
              </a:r>
            </a:p>
          </p:txBody>
        </p:sp>
        <p:sp>
          <p:nvSpPr>
            <p:cNvPr id="44" name="TextBox 44"/>
            <p:cNvSpPr txBox="1"/>
            <p:nvPr/>
          </p:nvSpPr>
          <p:spPr>
            <a:xfrm>
              <a:off x="8117586" y="2404110"/>
              <a:ext cx="247017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2/||w||，最大化它等价于最小化 ½||w||²</a:t>
              </a:r>
            </a:p>
          </p:txBody>
        </p:sp>
        <p:sp>
          <p:nvSpPr>
            <p:cNvPr id="45" name="Rectangle 45"/>
            <p:cNvSpPr/>
            <p:nvPr/>
          </p:nvSpPr>
          <p:spPr>
            <a:xfrm>
              <a:off x="6464618" y="2663190"/>
              <a:ext cx="5193982" cy="9525"/>
            </a:xfrm>
            <a:prstGeom prst="rect">
              <a:avLst/>
            </a:prstGeom>
            <a:solidFill>
              <a:srgbClr val="D9DFEA"/>
            </a:solidFill>
            <a:ln>
              <a:noFill/>
            </a:ln>
          </p:spPr>
        </p:sp>
        <p:sp>
          <p:nvSpPr>
            <p:cNvPr id="46" name="TextBox 46"/>
            <p:cNvSpPr txBox="1"/>
            <p:nvPr/>
          </p:nvSpPr>
          <p:spPr>
            <a:xfrm>
              <a:off x="6559296" y="2785110"/>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互补松弛</a:t>
              </a:r>
            </a:p>
          </p:txBody>
        </p:sp>
        <p:sp>
          <p:nvSpPr>
            <p:cNvPr id="47" name="TextBox 47"/>
            <p:cNvSpPr txBox="1"/>
            <p:nvPr/>
          </p:nvSpPr>
          <p:spPr>
            <a:xfrm>
              <a:off x="8117586" y="2785110"/>
              <a:ext cx="261152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αᵢ 与约束松弛量不同时非零，稀疏性来源</a:t>
              </a:r>
            </a:p>
          </p:txBody>
        </p:sp>
        <p:sp>
          <p:nvSpPr>
            <p:cNvPr id="48" name="Rectangle 48"/>
            <p:cNvSpPr/>
            <p:nvPr/>
          </p:nvSpPr>
          <p:spPr>
            <a:xfrm>
              <a:off x="6464618" y="3045142"/>
              <a:ext cx="5193982" cy="9525"/>
            </a:xfrm>
            <a:prstGeom prst="rect">
              <a:avLst/>
            </a:prstGeom>
            <a:solidFill>
              <a:srgbClr val="D9DFEA"/>
            </a:solidFill>
            <a:ln>
              <a:noFill/>
            </a:ln>
          </p:spPr>
        </p:sp>
        <p:sp>
          <p:nvSpPr>
            <p:cNvPr id="49" name="Rectangle 49"/>
            <p:cNvSpPr/>
            <p:nvPr/>
          </p:nvSpPr>
          <p:spPr>
            <a:xfrm>
              <a:off x="6464618" y="3049905"/>
              <a:ext cx="5193982" cy="381000"/>
            </a:xfrm>
            <a:prstGeom prst="rect">
              <a:avLst/>
            </a:prstGeom>
            <a:solidFill>
              <a:srgbClr val="F4F6FB"/>
            </a:solidFill>
            <a:ln>
              <a:noFill/>
            </a:ln>
          </p:spPr>
        </p:sp>
        <p:sp>
          <p:nvSpPr>
            <p:cNvPr id="50" name="TextBox 50"/>
            <p:cNvSpPr txBox="1"/>
            <p:nvPr/>
          </p:nvSpPr>
          <p:spPr>
            <a:xfrm>
              <a:off x="6559296" y="3167062"/>
              <a:ext cx="709369"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惩罚参数 C</a:t>
              </a:r>
            </a:p>
          </p:txBody>
        </p:sp>
        <p:sp>
          <p:nvSpPr>
            <p:cNvPr id="51" name="TextBox 51"/>
            <p:cNvSpPr txBox="1"/>
            <p:nvPr/>
          </p:nvSpPr>
          <p:spPr>
            <a:xfrm>
              <a:off x="8117586" y="3167062"/>
              <a:ext cx="198958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间隔宽度与越界代价之间的折中</a:t>
              </a:r>
            </a:p>
          </p:txBody>
        </p:sp>
        <p:sp>
          <p:nvSpPr>
            <p:cNvPr id="52" name="Rectangle 52"/>
            <p:cNvSpPr/>
            <p:nvPr/>
          </p:nvSpPr>
          <p:spPr>
            <a:xfrm>
              <a:off x="6464618" y="3426142"/>
              <a:ext cx="5193982" cy="9525"/>
            </a:xfrm>
            <a:prstGeom prst="rect">
              <a:avLst/>
            </a:prstGeom>
            <a:solidFill>
              <a:srgbClr val="D9DFEA"/>
            </a:solidFill>
            <a:ln>
              <a:noFill/>
            </a:ln>
          </p:spPr>
        </p:sp>
        <p:sp>
          <p:nvSpPr>
            <p:cNvPr id="53" name="TextBox 53"/>
            <p:cNvSpPr txBox="1"/>
            <p:nvPr/>
          </p:nvSpPr>
          <p:spPr>
            <a:xfrm>
              <a:off x="6559296" y="3548062"/>
              <a:ext cx="434721"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核函数</a:t>
              </a:r>
            </a:p>
          </p:txBody>
        </p:sp>
        <p:sp>
          <p:nvSpPr>
            <p:cNvPr id="54" name="TextBox 54"/>
            <p:cNvSpPr txBox="1"/>
            <p:nvPr/>
          </p:nvSpPr>
          <p:spPr>
            <a:xfrm>
              <a:off x="8117586" y="3548062"/>
              <a:ext cx="276362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K(x,z) = φ(x)·φ(z)，映射与内积并成一步</a:t>
              </a:r>
            </a:p>
          </p:txBody>
        </p:sp>
        <p:sp>
          <p:nvSpPr>
            <p:cNvPr id="55" name="Rectangle 55"/>
            <p:cNvSpPr/>
            <p:nvPr/>
          </p:nvSpPr>
          <p:spPr>
            <a:xfrm>
              <a:off x="6464618" y="1524000"/>
              <a:ext cx="5193982" cy="2287905"/>
            </a:xfrm>
            <a:prstGeom prst="rect">
              <a:avLst/>
            </a:prstGeom>
            <a:noFill/>
            <a:ln w="14288">
              <a:solidFill>
                <a:srgbClr val="D9DFEA"/>
              </a:solidFill>
            </a:ln>
          </p:spPr>
        </p:sp>
        <p:sp>
          <p:nvSpPr>
            <p:cNvPr id="56" name="Rectangle 56"/>
            <p:cNvSpPr/>
            <p:nvPr/>
          </p:nvSpPr>
          <p:spPr>
            <a:xfrm>
              <a:off x="8018145" y="1524000"/>
              <a:ext cx="9525" cy="2287905"/>
            </a:xfrm>
            <a:prstGeom prst="rect">
              <a:avLst/>
            </a:prstGeom>
            <a:solidFill>
              <a:srgbClr val="D9DFEA"/>
            </a:solidFill>
            <a:ln>
              <a:noFill/>
            </a:ln>
          </p:spPr>
        </p:sp>
      </p:grpSp>
      <p:grpSp>
        <p:nvGrpSpPr>
          <p:cNvPr id="63" name="c2-card-2"/>
          <p:cNvGrpSpPr/>
          <p:nvPr/>
        </p:nvGrpSpPr>
        <p:grpSpPr>
          <a:xfrm>
            <a:off x="6464618" y="3976688"/>
            <a:ext cx="5193982" cy="1403032"/>
            <a:chOff x="6464618" y="3976688"/>
            <a:chExt cx="5193982" cy="1403032"/>
          </a:xfrm>
        </p:grpSpPr>
        <p:sp>
          <p:nvSpPr>
            <p:cNvPr id="58" name="Rectangle 58"/>
            <p:cNvSpPr/>
            <p:nvPr/>
          </p:nvSpPr>
          <p:spPr>
            <a:xfrm>
              <a:off x="6464618" y="3976688"/>
              <a:ext cx="5193982" cy="1403032"/>
            </a:xfrm>
            <a:prstGeom prst="roundRect">
              <a:avLst>
                <a:gd name="adj" fmla="val 9504"/>
              </a:avLst>
            </a:prstGeom>
            <a:solidFill>
              <a:srgbClr val="0E7C86"/>
            </a:solidFill>
            <a:ln>
              <a:noFill/>
            </a:ln>
          </p:spPr>
        </p:sp>
        <p:sp>
          <p:nvSpPr>
            <p:cNvPr id="59" name="Rectangle 59"/>
            <p:cNvSpPr/>
            <p:nvPr/>
          </p:nvSpPr>
          <p:spPr>
            <a:xfrm>
              <a:off x="6645592" y="4157662"/>
              <a:ext cx="582930" cy="238125"/>
            </a:xfrm>
            <a:prstGeom prst="roundRect">
              <a:avLst>
                <a:gd name="adj" fmla="val 50000"/>
              </a:avLst>
            </a:prstGeom>
            <a:solidFill>
              <a:srgbClr val="0B5F67"/>
            </a:solidFill>
            <a:ln>
              <a:noFill/>
            </a:ln>
          </p:spPr>
        </p:sp>
        <p:sp>
          <p:nvSpPr>
            <p:cNvPr id="60" name="TextBox 60"/>
            <p:cNvSpPr txBox="1"/>
            <p:nvPr/>
          </p:nvSpPr>
          <p:spPr>
            <a:xfrm>
              <a:off x="6734213" y="4190524"/>
              <a:ext cx="40568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接下来</a:t>
              </a:r>
            </a:p>
          </p:txBody>
        </p:sp>
        <p:sp>
          <p:nvSpPr>
            <p:cNvPr id="61" name="TextBox 61"/>
            <p:cNvSpPr txBox="1"/>
            <p:nvPr/>
          </p:nvSpPr>
          <p:spPr>
            <a:xfrm>
              <a:off x="7336346" y="4198144"/>
              <a:ext cx="964556"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第 7 章 聚类</a:t>
              </a:r>
            </a:p>
          </p:txBody>
        </p:sp>
        <p:sp>
          <p:nvSpPr>
            <p:cNvPr id="62" name="TextBox 62"/>
            <p:cNvSpPr txBox="1"/>
            <p:nvPr/>
          </p:nvSpPr>
          <p:spPr>
            <a:xfrm>
              <a:off x="6639116" y="4514374"/>
              <a:ext cx="460527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本章到此，有监督学习的线性模型这条线（第 2、3、6 章）就走</a:t>
              </a:r>
              <a:br/>
              <a:r>
                <a:rPr lang="zh-CN" sz="1280" dirty="0">
                  <a:solidFill>
                    <a:srgbClr val="FFFFFF"/>
                  </a:solidFill>
                  <a:latin typeface="+mn-lt"/>
                  <a:ea typeface="+mn-ea"/>
                  <a:cs typeface="+mn-cs"/>
                </a:rPr>
                <a:t>完了。下一章转向无监督学习：没有标签时怎样把样本分成若干</a:t>
              </a:r>
              <a:br/>
              <a:r>
                <a:rPr lang="zh-CN" sz="1280" dirty="0">
                  <a:solidFill>
                    <a:srgbClr val="FFFFFF"/>
                  </a:solidFill>
                  <a:latin typeface="+mn-lt"/>
                  <a:ea typeface="+mn-ea"/>
                  <a:cs typeface="+mn-cs"/>
                </a:rPr>
                <a:t>组，k-means、层次聚类与密度聚类各自的假设是什么。</a:t>
              </a:r>
            </a:p>
          </p:txBody>
        </p:sp>
      </p:grpSp>
      <p:grpSp>
        <p:nvGrpSpPr>
          <p:cNvPr id="69" name="takeaway"/>
          <p:cNvGrpSpPr/>
          <p:nvPr/>
        </p:nvGrpSpPr>
        <p:grpSpPr>
          <a:xfrm>
            <a:off x="533400" y="5659755"/>
            <a:ext cx="11125200" cy="702945"/>
            <a:chOff x="533400" y="5659755"/>
            <a:chExt cx="11125200" cy="702945"/>
          </a:xfrm>
        </p:grpSpPr>
        <p:sp>
          <p:nvSpPr>
            <p:cNvPr id="64" name="Rectangle 64"/>
            <p:cNvSpPr/>
            <p:nvPr/>
          </p:nvSpPr>
          <p:spPr>
            <a:xfrm>
              <a:off x="533400" y="5659755"/>
              <a:ext cx="11125200" cy="702945"/>
            </a:xfrm>
            <a:prstGeom prst="roundRect">
              <a:avLst>
                <a:gd name="adj" fmla="val 16260"/>
              </a:avLst>
            </a:prstGeom>
            <a:solidFill>
              <a:srgbClr val="0E7C86"/>
            </a:solidFill>
            <a:ln>
              <a:noFill/>
            </a:ln>
          </p:spPr>
        </p:sp>
        <p:grpSp>
          <p:nvGrpSpPr>
            <p:cNvPr id="67" name="Group 67"/>
            <p:cNvGrpSpPr/>
            <p:nvPr/>
          </p:nvGrpSpPr>
          <p:grpSpPr>
            <a:xfrm>
              <a:off x="738188" y="5911217"/>
              <a:ext cx="200023" cy="200023"/>
              <a:chOff x="738188" y="5911217"/>
              <a:chExt cx="200023" cy="200023"/>
            </a:xfrm>
          </p:grpSpPr>
          <p:sp>
            <p:nvSpPr>
              <p:cNvPr id="65" name="Freeform 65"/>
              <p:cNvSpPr/>
              <p:nvPr/>
            </p:nvSpPr>
            <p:spPr>
              <a:xfrm>
                <a:off x="738188" y="591121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6" name="Freeform 66"/>
              <p:cNvSpPr/>
              <p:nvPr/>
            </p:nvSpPr>
            <p:spPr>
              <a:xfrm>
                <a:off x="871538" y="597789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8" name="TextBox 68"/>
            <p:cNvSpPr txBox="1"/>
            <p:nvPr/>
          </p:nvSpPr>
          <p:spPr>
            <a:xfrm>
              <a:off x="1041273" y="5805011"/>
              <a:ext cx="1000226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复习时动手做三件事：把第 15、24、45 页的三点例题分别用几何、对偶、SMO 各算一遍；验一个自己造的核函数；用 sklearn 在同一组数</a:t>
              </a:r>
              <a:br/>
              <a:r>
                <a:rPr lang="zh-CN" sz="1280" dirty="0">
                  <a:solidFill>
                    <a:srgbClr val="FFFFFF"/>
                  </a:solidFill>
                  <a:latin typeface="+mn-lt"/>
                  <a:ea typeface="+mn-ea"/>
                  <a:cs typeface="+mn-cs"/>
                </a:rPr>
                <a:t>据上扫 C 与 γ，看支持向量个数怎么变。</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724965"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机器学习 · 第6章 支持向量机</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l_ch06">
  <a:themeElements>
    <a:clrScheme name="ml_ch0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l_ch06">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l_ch0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2026-09-23T03:06:20Z</dcterms:created>
  <dcterms:modified xsi:type="dcterms:W3CDTF">2026-09-23T03:06:20Z</dcterms:modified>
  <cp:category/>
  <cp:contentStatus/>
</cp:coreProperties>
</file>