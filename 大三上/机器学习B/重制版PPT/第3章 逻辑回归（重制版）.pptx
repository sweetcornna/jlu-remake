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l_ch0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l_ch0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ed76a8393bbba7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bbf6a6ee1244e6f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8cf8bc16c11d3a4.png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05250" cy="3437763"/>
            <a:chOff x="666750" y="1619250"/>
            <a:chExt cx="390525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机器学习 · 第三章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逻辑回归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用回归的形式做分类，输出的是概率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分类问题与决策边界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054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Logistic 模型与最大似然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梯度上升与牛顿法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模型评估与性能指标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983290" cy="205359"/>
            <a:chOff x="680466" y="6192202"/>
            <a:chExt cx="498329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9832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自学复习版｜据吉林大学《机器学习》A、B 两版第3章课件合并整理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950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取离散值、决策边界、单位阶跃函数为什么不能用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8917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Logistic 回归模型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634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Sigmoid 函数、几率与 Logit 变换、系数怎么读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最大似然与梯度上升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似然函数、对数似然、梯度推导与手算例题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2717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切线求根、Hessian 矩阵、Fisher scoring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多分类与实践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3629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One-vs-Rest、One-vs-One、Softmax、scikit-learn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模型评估与性能指标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5522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偏差方差、数据集划分、混淆矩阵、F1 与 AUC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说清楚为什么直接用线性回归做分类会出问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写出逻辑回归的模型式、对数似然和参数更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由对数似然推出梯度 (y − h)x，并手算两步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梯度上升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用牛顿法迭代三步求出一个一维模型的最大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似然解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给定混淆矩阵算出准确率、查准率、查全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率、F1 与 AUC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357622" cy="3706177"/>
            <a:chOff x="667512" y="1835468"/>
            <a:chExt cx="5357622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输出是离散标签时，线性回归的那一套还能不能直接用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取离散值就是分类问题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二分类、多分类与常见应用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直接用线性回归做分类会出什么问题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线性分类器与决策边界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单位阶跃函数与硬分类、软分类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19478" cy="909257"/>
            <a:chOff x="520446" y="342900"/>
            <a:chExt cx="66194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分类问题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194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 y 取离散值，问题就从回归变成了分类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822077" cy="308039"/>
            <a:chOff x="525399" y="1550194"/>
            <a:chExt cx="782207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82207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训练集的组织方式和第2章完全一样，唯一的变化是 y 的取值集合由连续变成离散。</a:t>
              </a:r>
            </a:p>
          </p:txBody>
        </p:sp>
      </p:grpSp>
      <p:grpSp>
        <p:nvGrpSpPr>
          <p:cNvPr id="23" name="c1-kv-1"/>
          <p:cNvGrpSpPr/>
          <p:nvPr/>
        </p:nvGrpSpPr>
        <p:grpSpPr>
          <a:xfrm>
            <a:off x="525780" y="1992630"/>
            <a:ext cx="5850255" cy="2053590"/>
            <a:chOff x="525780" y="1992630"/>
            <a:chExt cx="5850255" cy="205359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12990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特征 feature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78380" y="1992630"/>
              <a:ext cx="40841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x⁽ⁱ⁾，第 i 个样本的输入向量，分量记 xⱼ⁽ⁱ⁾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3126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2432685"/>
              <a:ext cx="11823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目标 target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78380" y="2432685"/>
              <a:ext cx="3872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y⁽ⁱ⁾，第 i 个样本的标签，这一章取离散值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527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28727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训练样本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78380" y="2872740"/>
              <a:ext cx="17619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 (x⁽ⁱ⁾, y⁽ⁱ⁾)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1927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33127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训练集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78380" y="3312795"/>
              <a:ext cx="286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{(x⁽ⁱ⁾, y⁽ⁱ⁾)}，i = 1 … 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63283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3752850"/>
              <a:ext cx="15958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假设 hypothesis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78380" y="3752850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h(x)，学出来的那个函数</a:t>
              </a:r>
            </a:p>
          </p:txBody>
        </p:sp>
      </p:grpSp>
      <p:grpSp>
        <p:nvGrpSpPr>
          <p:cNvPr id="44" name="c1-flow-2"/>
          <p:cNvGrpSpPr/>
          <p:nvPr/>
        </p:nvGrpSpPr>
        <p:grpSpPr>
          <a:xfrm>
            <a:off x="669608" y="4399598"/>
            <a:ext cx="5571172" cy="1607820"/>
            <a:chOff x="669608" y="4399598"/>
            <a:chExt cx="5571172" cy="1607820"/>
          </a:xfrm>
        </p:grpSpPr>
        <p:sp>
          <p:nvSpPr>
            <p:cNvPr id="24" name="Freeform 24"/>
            <p:cNvSpPr/>
            <p:nvPr/>
          </p:nvSpPr>
          <p:spPr>
            <a:xfrm>
              <a:off x="2345055" y="4713922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0" y="0"/>
                  </a:moveTo>
                  <a:lnTo>
                    <a:pt x="167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512695" y="46615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291965" y="4713922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460558" y="46615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506855" y="5037772"/>
              <a:ext cx="3895725" cy="531495"/>
            </a:xfrm>
            <a:custGeom>
              <a:avLst/>
              <a:gdLst/>
              <a:ahLst/>
              <a:cxnLst/>
              <a:rect l="l" t="t" r="r" b="b"/>
              <a:pathLst>
                <a:path w="3895725" h="531495">
                  <a:moveTo>
                    <a:pt x="0" y="531495"/>
                  </a:moveTo>
                  <a:lnTo>
                    <a:pt x="0" y="213360"/>
                  </a:lnTo>
                  <a:lnTo>
                    <a:pt x="3895725" y="213360"/>
                  </a:lnTo>
                  <a:lnTo>
                    <a:pt x="38957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350192" y="49329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5402580" y="4932998"/>
              <a:ext cx="9525" cy="531495"/>
            </a:xfrm>
            <a:custGeom>
              <a:avLst/>
              <a:gdLst/>
              <a:ahLst/>
              <a:cxnLst/>
              <a:rect l="l" t="t" r="r" b="b"/>
              <a:pathLst>
                <a:path w="9525" h="531495">
                  <a:moveTo>
                    <a:pt x="0" y="0"/>
                  </a:moveTo>
                  <a:lnTo>
                    <a:pt x="0" y="5314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350192" y="54644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69608" y="4399598"/>
              <a:ext cx="1675447" cy="629603"/>
            </a:xfrm>
            <a:custGeom>
              <a:avLst/>
              <a:gdLst/>
              <a:ahLst/>
              <a:cxnLst/>
              <a:rect l="l" t="t" r="r" b="b"/>
              <a:pathLst>
                <a:path w="1675447" h="629603">
                  <a:moveTo>
                    <a:pt x="133350" y="0"/>
                  </a:moveTo>
                  <a:lnTo>
                    <a:pt x="1675447" y="0"/>
                  </a:lnTo>
                  <a:lnTo>
                    <a:pt x="1542097" y="629603"/>
                  </a:lnTo>
                  <a:lnTo>
                    <a:pt x="0" y="629603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617470" y="4494848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65332" y="4494848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69608" y="5569268"/>
              <a:ext cx="1675447" cy="438150"/>
            </a:xfrm>
            <a:custGeom>
              <a:avLst/>
              <a:gdLst/>
              <a:ahLst/>
              <a:cxnLst/>
              <a:rect l="l" t="t" r="r" b="b"/>
              <a:pathLst>
                <a:path w="1675447" h="438150">
                  <a:moveTo>
                    <a:pt x="133350" y="0"/>
                  </a:moveTo>
                  <a:lnTo>
                    <a:pt x="1675447" y="0"/>
                  </a:lnTo>
                  <a:lnTo>
                    <a:pt x="1542097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565332" y="5569268"/>
              <a:ext cx="1675448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52474" y="4516279"/>
              <a:ext cx="50876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训练集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y)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03613" y="4624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学习算法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50556" y="4624864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 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68674" y="569928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新样本 x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88424" y="5699284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预测的类别 ŷ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273742" y="5034915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308032" y="50615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680835" y="1967865"/>
            <a:ext cx="4977765" cy="1916430"/>
            <a:chOff x="6680835" y="1967865"/>
            <a:chExt cx="4977765" cy="1916430"/>
          </a:xfrm>
        </p:grpSpPr>
        <p:sp>
          <p:nvSpPr>
            <p:cNvPr id="45" name="Rectangle 45"/>
            <p:cNvSpPr/>
            <p:nvPr/>
          </p:nvSpPr>
          <p:spPr>
            <a:xfrm>
              <a:off x="6680835" y="1967865"/>
              <a:ext cx="4977765" cy="1916430"/>
            </a:xfrm>
            <a:prstGeom prst="roundRect">
              <a:avLst>
                <a:gd name="adj" fmla="val 695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90385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81546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1412" y="2212658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 y 的取值集合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896100" y="263652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54215" y="2573655"/>
              <a:ext cx="3326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 取连续实数，是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回归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问题（第2章）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896100" y="297180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54215" y="2908935"/>
              <a:ext cx="38216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 取离散的有限个值，是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分类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问题（本章）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83908" y="3239929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同一批特征 x，换一种 y 就换了一类问题。房价是回归，房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子卖不卖得掉是分类。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680835" y="4073842"/>
            <a:ext cx="4977765" cy="2251710"/>
            <a:chOff x="6680835" y="4073842"/>
            <a:chExt cx="4977765" cy="2251710"/>
          </a:xfrm>
        </p:grpSpPr>
        <p:sp>
          <p:nvSpPr>
            <p:cNvPr id="55" name="Rectangle 55"/>
            <p:cNvSpPr/>
            <p:nvPr/>
          </p:nvSpPr>
          <p:spPr>
            <a:xfrm>
              <a:off x="6680835" y="4073842"/>
              <a:ext cx="4977765" cy="2251710"/>
            </a:xfrm>
            <a:prstGeom prst="roundRect">
              <a:avLst>
                <a:gd name="adj" fmla="val 59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90360" y="4207192"/>
              <a:ext cx="47625" cy="19850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928485" y="428339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10794" y="43191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记号约定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14310" y="4318635"/>
              <a:ext cx="33627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沿用第1章，与原课件的差别写在这里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934200" y="474249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92315" y="4679632"/>
              <a:ext cx="40469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参数向量记 Θ，分量记 θⱼ，模型写成 h_Θ(x)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934200" y="507777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092315" y="5014912"/>
              <a:ext cx="3811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样本数记 N（原课件写 m），特征维数记 n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934200" y="541305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92315" y="5350192"/>
              <a:ext cx="3700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学习率记 η（原课件写 α），与第1章一致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22008" y="5682139"/>
              <a:ext cx="39712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原课件大纲把 Logistic 写成 “Logistics”，正确拼写是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Logistic regression。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分类问题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多分类通常被拆成若干个二分类来做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831658"/>
            <a:chOff x="533400" y="1524000"/>
            <a:chExt cx="5410200" cy="1831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952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分类问题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y ∈ {1, 2, 3, …, M}，称为 M 分类问题；M = 2 时是二分类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（binary classification）。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70605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49855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多分类问题常被转化为多个二分类问题（第五部分展开）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00894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52750"/>
              <a:ext cx="48751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二分类标签有 {0, 1} 和 {−1, +1} 两套写法，本章用 {0, 1}</a:t>
              </a:r>
            </a:p>
          </p:txBody>
        </p:sp>
      </p:grpSp>
      <p:grpSp>
        <p:nvGrpSpPr>
          <p:cNvPr id="42" name="c1-table-2"/>
          <p:cNvGrpSpPr/>
          <p:nvPr/>
        </p:nvGrpSpPr>
        <p:grpSpPr>
          <a:xfrm>
            <a:off x="533400" y="3530918"/>
            <a:ext cx="5410200" cy="2028825"/>
            <a:chOff x="533400" y="3530918"/>
            <a:chExt cx="5410200" cy="2028825"/>
          </a:xfrm>
        </p:grpSpPr>
        <p:sp>
          <p:nvSpPr>
            <p:cNvPr id="18" name="Rectangle 18"/>
            <p:cNvSpPr/>
            <p:nvPr/>
          </p:nvSpPr>
          <p:spPr>
            <a:xfrm>
              <a:off x="533400" y="3530918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79856" y="36552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98510" y="365521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 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99713" y="365521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3412" y="40609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人脸识别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40255" y="406098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人脸图像的像素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04335" y="406098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身份编号或是否为本人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3376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34244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44667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指纹识别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40255" y="446674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指纹图像的特征点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04335" y="44667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身份编号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7434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87251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手写体数字识别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40255" y="487251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手写数字图像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04335" y="4872514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到 9 共 10 类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1492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15397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527827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垃圾邮件检测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40255" y="527827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邮件正文与发件人特征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04335" y="5278279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是垃圾，0 是正常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530918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935480" y="353091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099560" y="353091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rd-1"/>
          <p:cNvGrpSpPr/>
          <p:nvPr/>
        </p:nvGrpSpPr>
        <p:grpSpPr>
          <a:xfrm>
            <a:off x="6248400" y="1524000"/>
            <a:ext cx="5410200" cy="1697355"/>
            <a:chOff x="6248400" y="1524000"/>
            <a:chExt cx="5410200" cy="1697355"/>
          </a:xfrm>
        </p:grpSpPr>
        <p:sp>
          <p:nvSpPr>
            <p:cNvPr id="43" name="Rectangle 43"/>
            <p:cNvSpPr/>
            <p:nvPr/>
          </p:nvSpPr>
          <p:spPr>
            <a:xfrm>
              <a:off x="6248400" y="1524000"/>
              <a:ext cx="5410200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1657350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8905" y="1716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74346" y="1750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29247" y="1756410"/>
              <a:ext cx="2210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垃圾邮件过滤 spam filter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2047" y="2090738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是邮件抽出来的特征，y 是标签。约定 y = 1 为正例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（positive label），y = 0 为反例（negative label）。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3190" y="2646521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哪一类当正例是人为约定。一般把我们关心的、想检出的那一类记为正例，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后面算查全率时这个约定很要紧。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248400" y="3396615"/>
            <a:ext cx="5410200" cy="2163128"/>
            <a:chOff x="6248400" y="3396615"/>
            <a:chExt cx="5410200" cy="2163128"/>
          </a:xfrm>
        </p:grpSpPr>
        <p:sp>
          <p:nvSpPr>
            <p:cNvPr id="51" name="Rectangle 51"/>
            <p:cNvSpPr/>
            <p:nvPr/>
          </p:nvSpPr>
          <p:spPr>
            <a:xfrm>
              <a:off x="6248400" y="3396615"/>
              <a:ext cx="5410200" cy="2163128"/>
            </a:xfrm>
            <a:prstGeom prst="roundRect">
              <a:avLst>
                <a:gd name="adj" fmla="val 61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3529965"/>
              <a:ext cx="47625" cy="18964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8905" y="35890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58344" y="36233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大型数据集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62647" y="3629025"/>
              <a:ext cx="8555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ImageNet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87478" y="40195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43497" y="3963352"/>
              <a:ext cx="3780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WordNet 的词义层次组织的多类图像数据集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87478" y="432149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43497" y="4265295"/>
              <a:ext cx="4802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1400 万张图像，索引了 2.1 万个同义词集合（synset）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87478" y="462438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43497" y="456819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类别数极多时，逐对训练二分类器的代价会变得不可接受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3" name="Rectangle 6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3610"/>
              <a:ext cx="7819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标签用整数编号只是为了记录，1、2、3 之间没有大小关系，不能像回归那样直接对编号做算术。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分类问题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直接拿线性回归做分类：一个离群点就能把边界拽歪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928427" cy="308039"/>
            <a:chOff x="525399" y="1550194"/>
            <a:chExt cx="792842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9284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y = 0/1 当成实数去做最小二乘拟合，再用 0.5 作阈值，看上去可行，但很不稳。</a:t>
              </a:r>
            </a:p>
          </p:txBody>
        </p:sp>
      </p:grpSp>
      <p:grpSp>
        <p:nvGrpSpPr>
          <p:cNvPr id="26" name="c1-graph-1"/>
          <p:cNvGrpSpPr/>
          <p:nvPr/>
        </p:nvGrpSpPr>
        <p:grpSpPr>
          <a:xfrm>
            <a:off x="774363" y="2307908"/>
            <a:ext cx="5178762" cy="3274694"/>
            <a:chOff x="774363" y="2307908"/>
            <a:chExt cx="5178762" cy="3274694"/>
          </a:xfrm>
        </p:grpSpPr>
        <p:sp>
          <p:nvSpPr>
            <p:cNvPr id="9" name="Freeform 9"/>
            <p:cNvSpPr/>
            <p:nvPr/>
          </p:nvSpPr>
          <p:spPr>
            <a:xfrm>
              <a:off x="1022032" y="2572702"/>
              <a:ext cx="3411855" cy="1997392"/>
            </a:xfrm>
            <a:custGeom>
              <a:avLst/>
              <a:gdLst/>
              <a:ahLst/>
              <a:cxnLst/>
              <a:rect l="l" t="t" r="r" b="b"/>
              <a:pathLst>
                <a:path w="3411855" h="1997392">
                  <a:moveTo>
                    <a:pt x="0" y="1997392"/>
                  </a:moveTo>
                  <a:lnTo>
                    <a:pt x="3411855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22032" y="2929890"/>
              <a:ext cx="4874895" cy="1794510"/>
            </a:xfrm>
            <a:custGeom>
              <a:avLst/>
              <a:gdLst/>
              <a:ahLst/>
              <a:cxnLst/>
              <a:rect l="l" t="t" r="r" b="b"/>
              <a:pathLst>
                <a:path w="4874895" h="1794510">
                  <a:moveTo>
                    <a:pt x="0" y="1794510"/>
                  </a:moveTo>
                  <a:lnTo>
                    <a:pt x="4874895" y="0"/>
                  </a:lnTo>
                </a:path>
              </a:pathLst>
            </a:custGeom>
            <a:noFill/>
            <a:ln w="17145">
              <a:solidFill>
                <a:srgbClr val="BBAADD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908685" y="3753802"/>
              <a:ext cx="5044440" cy="9525"/>
            </a:xfrm>
            <a:custGeom>
              <a:avLst/>
              <a:gdLst/>
              <a:ahLst/>
              <a:cxnLst/>
              <a:rect l="l" t="t" r="r" b="b"/>
              <a:pathLst>
                <a:path w="5044440" h="9525">
                  <a:moveTo>
                    <a:pt x="0" y="0"/>
                  </a:moveTo>
                  <a:lnTo>
                    <a:pt x="50444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Ellipse 12"/>
            <p:cNvSpPr/>
            <p:nvPr/>
          </p:nvSpPr>
          <p:spPr>
            <a:xfrm>
              <a:off x="1151572" y="475392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488758" y="475392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826895" y="475392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164080" y="4753928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064192" y="263937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402330" y="263937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739515" y="263937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614988" y="2601278"/>
              <a:ext cx="190500" cy="1905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4363" y="2591276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=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363" y="4924901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= 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40445" y="3510915"/>
              <a:ext cx="4880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阈值 0.5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7995" y="230790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离群点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52447" y="5188267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实线：没有离群点时的拟合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30540" y="5406390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虚线：加入离群点后被拉平，边界右移</a:t>
              </a:r>
            </a:p>
          </p:txBody>
        </p:sp>
      </p:grpSp>
      <p:grpSp>
        <p:nvGrpSpPr>
          <p:cNvPr id="34" name="c2-bullets-1"/>
          <p:cNvGrpSpPr/>
          <p:nvPr/>
        </p:nvGrpSpPr>
        <p:grpSpPr>
          <a:xfrm>
            <a:off x="6456998" y="1992630"/>
            <a:ext cx="5038534" cy="1337310"/>
            <a:chOff x="6456998" y="1992630"/>
            <a:chExt cx="5038534" cy="1337310"/>
          </a:xfrm>
        </p:grpSpPr>
        <p:sp>
          <p:nvSpPr>
            <p:cNvPr id="27" name="TextBox 27"/>
            <p:cNvSpPr txBox="1"/>
            <p:nvPr/>
          </p:nvSpPr>
          <p:spPr>
            <a:xfrm>
              <a:off x="6456998" y="199263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三个说不通的地方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464618" y="23831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04648" y="2346960"/>
              <a:ext cx="4790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输出没有范围限制，可以是 −3 或 2.7，当概率读不通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464618" y="272796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04648" y="269176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平方误差会把判得很对的远处样本当成大误差去修正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464618" y="307276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04648" y="303657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边界位置被离群点左右，训练集稍一变动结论就变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464618" y="3461385"/>
            <a:ext cx="5193982" cy="2152650"/>
            <a:chOff x="6464618" y="3461385"/>
            <a:chExt cx="5193982" cy="2152650"/>
          </a:xfrm>
        </p:grpSpPr>
        <p:sp>
          <p:nvSpPr>
            <p:cNvPr id="35" name="Rectangle 35"/>
            <p:cNvSpPr/>
            <p:nvPr/>
          </p:nvSpPr>
          <p:spPr>
            <a:xfrm>
              <a:off x="6464618" y="3461385"/>
              <a:ext cx="5193982" cy="2152650"/>
            </a:xfrm>
            <a:prstGeom prst="roundRect">
              <a:avLst>
                <a:gd name="adj" fmla="val 619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74168" y="36709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65328" y="37066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75195" y="370617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要架一座桥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6548" y="4067175"/>
              <a:ext cx="4577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线性回归给出的 z = Θᵀx 本身是有用的，它已经带上了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“偏正例还是偏反例” 的信息。缺的是一个把 z 压到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(0, 1) 区间的函数。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7691" y="4969669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这个函数就是第二部分的 Sigmoid 函数。逻辑回归保留了线性部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分，只在输出端加了一层压缩。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104988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课件用四张散点图作对比：同一批数据，线性回归给出的边界与 Logistic 回归、Softmax 回归给出的边界明显不同。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82457" cy="909257"/>
            <a:chOff x="520446" y="342900"/>
            <a:chExt cx="69824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分类问题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824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线性分类器：决策边界是 Θᵀx = 0 这张超平面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graph-1"/>
          <p:cNvGrpSpPr/>
          <p:nvPr/>
        </p:nvGrpSpPr>
        <p:grpSpPr>
          <a:xfrm>
            <a:off x="1185969" y="1805464"/>
            <a:ext cx="4057543" cy="3990498"/>
            <a:chOff x="1185969" y="1805464"/>
            <a:chExt cx="4057543" cy="3990498"/>
          </a:xfrm>
        </p:grpSpPr>
        <p:sp>
          <p:nvSpPr>
            <p:cNvPr id="7" name="Freeform 7"/>
            <p:cNvSpPr/>
            <p:nvPr/>
          </p:nvSpPr>
          <p:spPr>
            <a:xfrm>
              <a:off x="2410778" y="2187892"/>
              <a:ext cx="1655445" cy="3608070"/>
            </a:xfrm>
            <a:custGeom>
              <a:avLst/>
              <a:gdLst/>
              <a:ahLst/>
              <a:cxnLst/>
              <a:rect l="l" t="t" r="r" b="b"/>
              <a:pathLst>
                <a:path w="1655445" h="3608070">
                  <a:moveTo>
                    <a:pt x="0" y="0"/>
                  </a:moveTo>
                  <a:lnTo>
                    <a:pt x="1655445" y="3608070"/>
                  </a:lnTo>
                </a:path>
              </a:pathLst>
            </a:custGeom>
            <a:noFill/>
            <a:ln w="17145">
              <a:solidFill>
                <a:srgbClr val="BBAADD"/>
              </a:solidFill>
              <a:custDash>
                <a:ds d="333333" sp="222222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3830955" y="262794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263390" y="301561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4695825" y="253174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154805" y="359568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804410" y="3305175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479608" y="4079558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129212" y="3886200"/>
              <a:ext cx="114300" cy="1143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558290" y="427291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990725" y="4853940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342072" y="495109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207895" y="398335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774508" y="369284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424112" y="5240655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856548" y="4660582"/>
              <a:ext cx="114300" cy="11430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73109" y="207168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5969" y="555593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19755" y="1805464"/>
              <a:ext cx="4870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Θᵀx = 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54675" y="4813935"/>
              <a:ext cx="94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Θᵀx &gt; 0 判为正例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57208" y="2878455"/>
              <a:ext cx="94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Θᵀx &lt; 0 判为反例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2646998"/>
            <a:chOff x="6248400" y="1524000"/>
            <a:chExt cx="5410200" cy="2646998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2646998"/>
            </a:xfrm>
            <a:prstGeom prst="roundRect">
              <a:avLst>
                <a:gd name="adj" fmla="val 50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238029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0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2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决策边界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75588" y="1767364"/>
              <a:ext cx="17406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decision boundary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3"/>
                <p:cNvSpPr txBox="1">
                  <a:spLocks noGrp="1"/>
                </p:cNvSpPr>
                <p:nvPr/>
              </p:nvSpPr>
              <p:spPr>
                <a:xfrm>
                  <a:off x="6490335" y="2095500"/>
                  <a:ext cx="4964430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z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bi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Ellipse 34"/>
            <p:cNvSpPr/>
            <p:nvPr/>
          </p:nvSpPr>
          <p:spPr>
            <a:xfrm>
              <a:off x="6497955" y="293179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4546" y="2872264"/>
              <a:ext cx="27098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&gt; 0 判为正例，z &lt; 0 判为反例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97955" y="325183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4546" y="3192304"/>
              <a:ext cx="45500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在二维特征平面上它是一条直线，在 n 维特征空间里是一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张超平面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4239" y="3779520"/>
              <a:ext cx="36962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约定 x₀ ≡ 1，截距 θ₀ 就并进了 Θᵀx，写起来省事。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6248400" y="4356735"/>
            <a:ext cx="5410200" cy="756285"/>
            <a:chOff x="6248400" y="4356735"/>
            <a:chExt cx="5410200" cy="756285"/>
          </a:xfrm>
        </p:grpSpPr>
        <p:sp>
          <p:nvSpPr>
            <p:cNvPr id="40" name="Rectangle 40"/>
            <p:cNvSpPr/>
            <p:nvPr/>
          </p:nvSpPr>
          <p:spPr>
            <a:xfrm>
              <a:off x="6248400" y="435673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53188" y="4634867"/>
              <a:ext cx="200023" cy="200023"/>
              <a:chOff x="6453188" y="4634867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453188" y="46348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86538" y="47015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511" y="4503896"/>
              <a:ext cx="44688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 的绝对值也有意义：点离边界越远，|z| 越大，分类的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把握越足。逻辑回归正是把这个 “把握” 折算成了概率。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248400" y="5297805"/>
            <a:ext cx="5410200" cy="1018222"/>
            <a:chOff x="6248400" y="5297805"/>
            <a:chExt cx="5410200" cy="1018222"/>
          </a:xfrm>
        </p:grpSpPr>
        <p:sp>
          <p:nvSpPr>
            <p:cNvPr id="46" name="Rectangle 46"/>
            <p:cNvSpPr/>
            <p:nvPr/>
          </p:nvSpPr>
          <p:spPr>
            <a:xfrm>
              <a:off x="6248400" y="5297805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41129" y="5703688"/>
              <a:ext cx="224134" cy="192560"/>
              <a:chOff x="6441129" y="5703688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553200" y="57740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41129" y="57036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53200" y="58518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755511" y="5444966"/>
              <a:ext cx="446887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边界是关于 x 的线性函数，所以叫线性分类器。数据本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身如果线性不可分，再怎么调 Θ 也分不开，要靠第4章的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神经网络或第6章的核方法。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分类问题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最理想的判别函数是单位阶跃函数，可惜没法优化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graph-1"/>
          <p:cNvGrpSpPr/>
          <p:nvPr/>
        </p:nvGrpSpPr>
        <p:grpSpPr>
          <a:xfrm>
            <a:off x="882968" y="2119312"/>
            <a:ext cx="4723324" cy="3466624"/>
            <a:chOff x="882968" y="2119312"/>
            <a:chExt cx="4723324" cy="3466624"/>
          </a:xfrm>
        </p:grpSpPr>
        <p:sp>
          <p:nvSpPr>
            <p:cNvPr id="7" name="Freeform 7"/>
            <p:cNvSpPr/>
            <p:nvPr/>
          </p:nvSpPr>
          <p:spPr>
            <a:xfrm>
              <a:off x="882968" y="4547235"/>
              <a:ext cx="4546282" cy="9525"/>
            </a:xfrm>
            <a:custGeom>
              <a:avLst/>
              <a:gdLst/>
              <a:ahLst/>
              <a:cxnLst/>
              <a:rect l="l" t="t" r="r" b="b"/>
              <a:pathLst>
                <a:path w="4546282" h="9525">
                  <a:moveTo>
                    <a:pt x="0" y="0"/>
                  </a:moveTo>
                  <a:lnTo>
                    <a:pt x="45462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29915" y="2119312"/>
              <a:ext cx="9525" cy="2925128"/>
            </a:xfrm>
            <a:custGeom>
              <a:avLst/>
              <a:gdLst/>
              <a:ahLst/>
              <a:cxnLst/>
              <a:rect l="l" t="t" r="r" b="b"/>
              <a:pathLst>
                <a:path w="9525" h="2925128">
                  <a:moveTo>
                    <a:pt x="0" y="292512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90612" y="4547235"/>
              <a:ext cx="2001203" cy="9525"/>
            </a:xfrm>
            <a:custGeom>
              <a:avLst/>
              <a:gdLst/>
              <a:ahLst/>
              <a:cxnLst/>
              <a:rect l="l" t="t" r="r" b="b"/>
              <a:pathLst>
                <a:path w="2001203" h="9525">
                  <a:moveTo>
                    <a:pt x="0" y="0"/>
                  </a:moveTo>
                  <a:lnTo>
                    <a:pt x="2001203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68015" y="2364105"/>
              <a:ext cx="2002155" cy="9525"/>
            </a:xfrm>
            <a:custGeom>
              <a:avLst/>
              <a:gdLst/>
              <a:ahLst/>
              <a:cxnLst/>
              <a:rect l="l" t="t" r="r" b="b"/>
              <a:pathLst>
                <a:path w="2002155" h="9525">
                  <a:moveTo>
                    <a:pt x="0" y="0"/>
                  </a:moveTo>
                  <a:lnTo>
                    <a:pt x="2002155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129915" y="2455545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20002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  <a:custDash>
                <a:ds d="333333" sp="222222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5716" y="21912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35716" y="47105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36053" y="46267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3938" y="4038124"/>
              <a:ext cx="7325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= 0 判为反例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10453" y="2695099"/>
              <a:ext cx="7325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= 1 判为正例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80622" y="5424011"/>
              <a:ext cx="12985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z = 0 处跳变，函数不连续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032182" y="1524000"/>
            <a:ext cx="5626418" cy="2468880"/>
            <a:chOff x="6032182" y="1524000"/>
            <a:chExt cx="5626418" cy="2468880"/>
          </a:xfrm>
        </p:grpSpPr>
        <p:sp>
          <p:nvSpPr>
            <p:cNvPr id="19" name="Rectangle 19"/>
            <p:cNvSpPr/>
            <p:nvPr/>
          </p:nvSpPr>
          <p:spPr>
            <a:xfrm>
              <a:off x="6032182" y="1524000"/>
              <a:ext cx="5626418" cy="2468880"/>
            </a:xfrm>
            <a:prstGeom prst="roundRect">
              <a:avLst>
                <a:gd name="adj" fmla="val 54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41708" y="1657350"/>
              <a:ext cx="47625" cy="220218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1258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28677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单位阶跃函数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15391" y="1744504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unit-step function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10"/>
                <p:cNvSpPr txBox="1">
                  <a:spLocks noGrp="1"/>
                </p:cNvSpPr>
                <p:nvPr/>
              </p:nvSpPr>
              <p:spPr>
                <a:xfrm>
                  <a:off x="6251258" y="2040255"/>
                  <a:ext cx="5226368" cy="9001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&lt;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Ellipse 25"/>
            <p:cNvSpPr/>
            <p:nvPr/>
          </p:nvSpPr>
          <p:spPr>
            <a:xfrm>
              <a:off x="6260782" y="309467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6230" y="304276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预测值大于零，判为正例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60782" y="337947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6230" y="33275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预测值小于零，判为反例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60782" y="366522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6230" y="361235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预测值恰为零，无法判别，可任意判别，这是小概率事件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032182" y="4157662"/>
            <a:ext cx="5626418" cy="1448752"/>
            <a:chOff x="6032182" y="4157662"/>
            <a:chExt cx="5626418" cy="1448752"/>
          </a:xfrm>
        </p:grpSpPr>
        <p:sp>
          <p:nvSpPr>
            <p:cNvPr id="32" name="Rectangle 32"/>
            <p:cNvSpPr/>
            <p:nvPr/>
          </p:nvSpPr>
          <p:spPr>
            <a:xfrm>
              <a:off x="6032182" y="4157662"/>
              <a:ext cx="5626418" cy="1448752"/>
            </a:xfrm>
            <a:prstGeom prst="roundRect">
              <a:avLst>
                <a:gd name="adj" fmla="val 9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41708" y="4291012"/>
              <a:ext cx="47625" cy="11820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1258" y="43386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2977" y="43714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17233" y="437816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为什么不能直接拿来训练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60782" y="474726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6230" y="4694396"/>
              <a:ext cx="35798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不连续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，在 z = 0 处跳变，其余各处导数恒为 0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60782" y="503205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6230" y="4979194"/>
              <a:ext cx="3151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梯度处处为零，确定模型参数 Θ 十分困难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45924" y="5260658"/>
              <a:ext cx="5014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需要的是一个形状接近阶跃、但处处可导的替代函数（surrogate function）。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6039326"/>
              <a:ext cx="7341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选替代函数的两条要求：单调、值域落在 (0, 1) 之间，并且导数要好算。Sigmoid 恰好都满足。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分类问题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硬分类给标签，软分类给概率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175809" cy="278702"/>
            <a:chOff x="526161" y="1547336"/>
            <a:chExt cx="517580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同一个垃圾邮件任务，输出形式不同，能做的事情差别很大。</a:t>
              </a:r>
            </a:p>
          </p:txBody>
        </p:sp>
      </p:grpSp>
      <p:grpSp>
        <p:nvGrpSpPr>
          <p:cNvPr id="29" name="c1-compare-1"/>
          <p:cNvGrpSpPr/>
          <p:nvPr/>
        </p:nvGrpSpPr>
        <p:grpSpPr>
          <a:xfrm>
            <a:off x="533400" y="1941195"/>
            <a:ext cx="5626418" cy="1800225"/>
            <a:chOff x="533400" y="1941195"/>
            <a:chExt cx="5626418" cy="180022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2449830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7047" y="2156460"/>
              <a:ext cx="1035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硬分类 hard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5326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476500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是离散的类别标签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83464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778442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1 正例，y = 0 反例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313753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3081338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只回答 “是” 或 “不是”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709988" y="1941195"/>
              <a:ext cx="2449830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719512" y="2074545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33634" y="2156460"/>
              <a:ext cx="1035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软分类 soft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949065" y="253269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05084" y="2476500"/>
              <a:ext cx="1359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是连续的概率值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P(Y|X)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949065" y="309181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05084" y="3035618"/>
              <a:ext cx="8769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∈ [0, 1]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949065" y="339471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05084" y="3338512"/>
              <a:ext cx="1722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回答 “有多大把握是”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031807" y="2526030"/>
              <a:ext cx="630555" cy="63055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78277" y="27808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两种输出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3916680"/>
            <a:ext cx="5626418" cy="1557338"/>
            <a:chOff x="533400" y="3916680"/>
            <a:chExt cx="5626418" cy="1557338"/>
          </a:xfrm>
        </p:grpSpPr>
        <p:sp>
          <p:nvSpPr>
            <p:cNvPr id="30" name="Rectangle 30"/>
            <p:cNvSpPr/>
            <p:nvPr/>
          </p:nvSpPr>
          <p:spPr>
            <a:xfrm>
              <a:off x="533400" y="3916680"/>
              <a:ext cx="5626418" cy="1557338"/>
            </a:xfrm>
            <a:prstGeom prst="roundRect">
              <a:avLst>
                <a:gd name="adj" fmla="val 856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5805" y="410908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5241" y="414337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软分类多出来的三件事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4378" y="452151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90397" y="4465320"/>
              <a:ext cx="3321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按代价调阈值：怕误杀就把 0.5 提到 0.9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4378" y="482441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0397" y="476821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排序：最可能是垃圾的排在最前面人工复核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4378" y="512730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0397" y="5071110"/>
              <a:ext cx="34605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 P-R 曲线和 ROC 曲线，评价与阈值无关</a:t>
              </a:r>
            </a:p>
          </p:txBody>
        </p:sp>
      </p:grpSp>
      <p:grpSp>
        <p:nvGrpSpPr>
          <p:cNvPr id="42" name="c2-image-1"/>
          <p:cNvGrpSpPr/>
          <p:nvPr/>
        </p:nvGrpSpPr>
        <p:grpSpPr>
          <a:xfrm>
            <a:off x="6795135" y="1941195"/>
            <a:ext cx="4533900" cy="2033207"/>
            <a:chOff x="6795135" y="1941195"/>
            <a:chExt cx="4533900" cy="2033207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0" t="7" r="0" b="7"/>
            <a:stretch>
              <a:fillRect/>
            </a:stretch>
          </p:blipFill>
          <p:spPr>
            <a:xfrm>
              <a:off x="7905750" y="1941195"/>
              <a:ext cx="2311718" cy="1733550"/>
            </a:xfrm>
            <a:prstGeom prst="roundRect">
              <a:avLst>
                <a:gd name="adj" fmla="val 7692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6795135" y="3769043"/>
              <a:ext cx="4533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硬分类像只有开和关两挡的拨动开关，软分类像可以停在任意位置的旋钮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464618" y="4127182"/>
            <a:ext cx="5193982" cy="1346835"/>
            <a:chOff x="6464618" y="4127182"/>
            <a:chExt cx="5193982" cy="1346835"/>
          </a:xfrm>
        </p:grpSpPr>
        <p:sp>
          <p:nvSpPr>
            <p:cNvPr id="43" name="Rectangle 43"/>
            <p:cNvSpPr/>
            <p:nvPr/>
          </p:nvSpPr>
          <p:spPr>
            <a:xfrm>
              <a:off x="6464618" y="4127182"/>
              <a:ext cx="5193982" cy="1346835"/>
            </a:xfrm>
            <a:prstGeom prst="roundRect">
              <a:avLst>
                <a:gd name="adj" fmla="val 848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669405" y="4700588"/>
              <a:ext cx="200026" cy="200026"/>
              <a:chOff x="6669405" y="470058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669405" y="47005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69418" y="47672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758305" y="48006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972110" y="4581525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逻辑回归属于软分类。它先算出概率，再由使用者选一个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阈值把概率变成标签，两步是分开的。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0" name="Rectangle 5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892" y="6023610"/>
              <a:ext cx="8782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面试常问的一句话：逻辑回归输出的是概率，不是距离，也不是得分，可以直接与 0.5 之外的任何阈值比较。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886973" cy="3706177"/>
            <a:chOff x="667512" y="1835468"/>
            <a:chExt cx="4886973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12745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Logistic 回归模型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8770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在线性部分外面套一个 Sigmoid，输出就成了概率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124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Sigmoid 函数与它的性质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31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导数的漂亮形式 g′ = g(1 − g)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两个条件概率与紧凑写法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72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几率 Odds 与 Logit 变换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 θⱼ 该怎么读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21863" cy="909257"/>
            <a:chOff x="520446" y="342900"/>
            <a:chExt cx="57218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828" y="407194"/>
              <a:ext cx="2506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Logistic 回归模型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218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Sigmoid 函数把整条实轴压进 (0, 1)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graph-1"/>
          <p:cNvGrpSpPr/>
          <p:nvPr/>
        </p:nvGrpSpPr>
        <p:grpSpPr>
          <a:xfrm>
            <a:off x="852488" y="1918811"/>
            <a:ext cx="5173857" cy="4323398"/>
            <a:chOff x="852488" y="1918811"/>
            <a:chExt cx="5173857" cy="4323398"/>
          </a:xfrm>
        </p:grpSpPr>
        <p:sp>
          <p:nvSpPr>
            <p:cNvPr id="7" name="Freeform 7"/>
            <p:cNvSpPr/>
            <p:nvPr/>
          </p:nvSpPr>
          <p:spPr>
            <a:xfrm>
              <a:off x="852488" y="5636895"/>
              <a:ext cx="5044440" cy="9525"/>
            </a:xfrm>
            <a:custGeom>
              <a:avLst/>
              <a:gdLst/>
              <a:ahLst/>
              <a:cxnLst/>
              <a:rect l="l" t="t" r="r" b="b"/>
              <a:pathLst>
                <a:path w="5044440" h="9525">
                  <a:moveTo>
                    <a:pt x="0" y="0"/>
                  </a:moveTo>
                  <a:lnTo>
                    <a:pt x="50444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47085" y="2002155"/>
              <a:ext cx="9525" cy="3785235"/>
            </a:xfrm>
            <a:custGeom>
              <a:avLst/>
              <a:gdLst/>
              <a:ahLst/>
              <a:cxnLst/>
              <a:rect l="l" t="t" r="r" b="b"/>
              <a:pathLst>
                <a:path w="9525" h="3785235">
                  <a:moveTo>
                    <a:pt x="0" y="37852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22032" y="3870960"/>
              <a:ext cx="4650105" cy="9525"/>
            </a:xfrm>
            <a:custGeom>
              <a:avLst/>
              <a:gdLst/>
              <a:ahLst/>
              <a:cxnLst/>
              <a:rect l="l" t="t" r="r" b="b"/>
              <a:pathLst>
                <a:path w="4650105" h="9525">
                  <a:moveTo>
                    <a:pt x="0" y="0"/>
                  </a:moveTo>
                  <a:lnTo>
                    <a:pt x="46501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022032" y="2105025"/>
              <a:ext cx="4650105" cy="9525"/>
            </a:xfrm>
            <a:custGeom>
              <a:avLst/>
              <a:gdLst/>
              <a:ahLst/>
              <a:cxnLst/>
              <a:rect l="l" t="t" r="r" b="b"/>
              <a:pathLst>
                <a:path w="4650105" h="9525">
                  <a:moveTo>
                    <a:pt x="0" y="0"/>
                  </a:moveTo>
                  <a:lnTo>
                    <a:pt x="46501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1022032" y="2115502"/>
              <a:ext cx="4650105" cy="3509962"/>
            </a:xfrm>
            <a:custGeom>
              <a:avLst/>
              <a:gdLst/>
              <a:ahLst/>
              <a:cxnLst/>
              <a:rect l="l" t="t" r="r" b="b"/>
              <a:pathLst>
                <a:path w="4650105" h="3509962">
                  <a:moveTo>
                    <a:pt x="0" y="3509962"/>
                  </a:moveTo>
                  <a:lnTo>
                    <a:pt x="355282" y="3497580"/>
                  </a:lnTo>
                  <a:lnTo>
                    <a:pt x="749618" y="3458528"/>
                  </a:lnTo>
                  <a:lnTo>
                    <a:pt x="1143000" y="3356610"/>
                  </a:lnTo>
                  <a:lnTo>
                    <a:pt x="1537335" y="3100388"/>
                  </a:lnTo>
                  <a:lnTo>
                    <a:pt x="1930718" y="2572702"/>
                  </a:lnTo>
                  <a:lnTo>
                    <a:pt x="2325052" y="1755457"/>
                  </a:lnTo>
                  <a:lnTo>
                    <a:pt x="2718435" y="937260"/>
                  </a:lnTo>
                  <a:lnTo>
                    <a:pt x="3112770" y="410527"/>
                  </a:lnTo>
                  <a:lnTo>
                    <a:pt x="3506152" y="153352"/>
                  </a:lnTo>
                  <a:lnTo>
                    <a:pt x="3900487" y="52388"/>
                  </a:lnTo>
                  <a:lnTo>
                    <a:pt x="4293870" y="13335"/>
                  </a:lnTo>
                  <a:lnTo>
                    <a:pt x="4650105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30026" y="19188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6917" y="3612356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30026" y="53059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56106" y="57411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75344" y="4330065"/>
              <a:ext cx="12180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g(z) = 1 / (1 + e⁻ᶻ)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22214" y="6080284"/>
              <a:ext cx="7491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z 越大越靠近 1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464618" y="1524000"/>
            <a:ext cx="5193982" cy="1666875"/>
            <a:chOff x="6464618" y="1524000"/>
            <a:chExt cx="5193982" cy="1666875"/>
          </a:xfrm>
        </p:grpSpPr>
        <p:sp>
          <p:nvSpPr>
            <p:cNvPr id="19" name="Rectangle 19"/>
            <p:cNvSpPr/>
            <p:nvPr/>
          </p:nvSpPr>
          <p:spPr>
            <a:xfrm>
              <a:off x="6464618" y="1524000"/>
              <a:ext cx="5193982" cy="166687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74142" y="1657350"/>
              <a:ext cx="47625" cy="140017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83692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6364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50620" y="1744504"/>
              <a:ext cx="2379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Logistic 函数 / Sigmoid 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22"/>
                <p:cNvSpPr txBox="1">
                  <a:spLocks noGrp="1"/>
                </p:cNvSpPr>
                <p:nvPr/>
              </p:nvSpPr>
              <p:spPr>
                <a:xfrm>
                  <a:off x="6683692" y="2040255"/>
                  <a:ext cx="4793932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6678359" y="2652712"/>
              <a:ext cx="443788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形状像字母 S，所以叫 Sigmoid；它是 Logistic 分布的分布函数，所以也叫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Logistic 函数。两个名字指同一个东西。</a:t>
              </a:r>
            </a:p>
          </p:txBody>
        </p:sp>
      </p:grpSp>
      <p:grpSp>
        <p:nvGrpSpPr>
          <p:cNvPr id="38" name="c2-bullets-2"/>
          <p:cNvGrpSpPr/>
          <p:nvPr/>
        </p:nvGrpSpPr>
        <p:grpSpPr>
          <a:xfrm>
            <a:off x="6458141" y="3377089"/>
            <a:ext cx="3972100" cy="1722881"/>
            <a:chOff x="6458141" y="3377089"/>
            <a:chExt cx="3972100" cy="1722881"/>
          </a:xfrm>
        </p:grpSpPr>
        <p:sp>
          <p:nvSpPr>
            <p:cNvPr id="27" name="TextBox 27"/>
            <p:cNvSpPr txBox="1"/>
            <p:nvPr/>
          </p:nvSpPr>
          <p:spPr>
            <a:xfrm>
              <a:off x="6458141" y="33770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主要性质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464618" y="3705225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95313" y="3678079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→ +∞ 时 g(z) → 1，z → −∞ 时 g(z) → 0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464618" y="3998595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95313" y="3971449"/>
              <a:ext cx="3734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&lt; g(z) &lt; 1，值域落在开区间内，可以当概率读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464618" y="4291012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95313" y="4264819"/>
              <a:ext cx="3072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g(0) = 0.5，恰好对应决策边界 Θᵀx = 0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464618" y="4584382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95313" y="4557236"/>
              <a:ext cx="3553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关于点 (0, 0.5) 中心对称，g(−z) = 1 − g(z)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464618" y="4877752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95313" y="485060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处处可导，导数形式良好</a:t>
              </a:r>
            </a:p>
          </p:txBody>
        </p:sp>
      </p:grpSp>
      <p:grpSp>
        <p:nvGrpSpPr>
          <p:cNvPr id="59" name="c2-table-3"/>
          <p:cNvGrpSpPr/>
          <p:nvPr/>
        </p:nvGrpSpPr>
        <p:grpSpPr>
          <a:xfrm>
            <a:off x="6459665" y="5214938"/>
            <a:ext cx="5198935" cy="1026508"/>
            <a:chOff x="6459665" y="5214938"/>
            <a:chExt cx="5198935" cy="1026508"/>
          </a:xfrm>
        </p:grpSpPr>
        <p:sp>
          <p:nvSpPr>
            <p:cNvPr id="39" name="Rectangle 39"/>
            <p:cNvSpPr/>
            <p:nvPr/>
          </p:nvSpPr>
          <p:spPr>
            <a:xfrm>
              <a:off x="6464618" y="5214938"/>
              <a:ext cx="5193982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33758" y="53320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50193" y="53320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33161" y="53320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31226" y="53320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88476" y="53320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71443" y="53320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1313" y="571309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g(z)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37466" y="571309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0.119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20433" y="571309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77683" y="571309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34933" y="571309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0.731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017901" y="571309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0.881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5214938"/>
              <a:ext cx="5193982" cy="762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291388" y="521493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174355" y="521493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057322" y="521493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887902" y="521493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770870" y="5214938"/>
              <a:ext cx="9525" cy="762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9665" y="6050756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常用取值，考试手算时直接引用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11073" cy="909257"/>
            <a:chOff x="520446" y="342900"/>
            <a:chExt cx="79110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828" y="407194"/>
              <a:ext cx="2506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Logistic 回归模型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110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导数 g′(z) = g(z)(1 − g(z))，整章的推导都靠它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4984648" cy="278702"/>
            <a:chOff x="526161" y="1547336"/>
            <a:chExt cx="498464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这个式子让后面所有梯度都化简成一行，值得自己推一遍。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41195"/>
            <a:ext cx="5626418" cy="2226945"/>
            <a:chOff x="533400" y="1941195"/>
            <a:chExt cx="5626418" cy="222694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2226945"/>
            </a:xfrm>
            <a:prstGeom prst="roundRect">
              <a:avLst>
                <a:gd name="adj" fmla="val 59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9602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7344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求导过程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14297" y="217360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四步推完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35"/>
                <p:cNvSpPr txBox="1">
                  <a:spLocks noGrp="1"/>
                </p:cNvSpPr>
                <p:nvPr/>
              </p:nvSpPr>
              <p:spPr>
                <a:xfrm>
                  <a:off x="763905" y="2486025"/>
                  <a:ext cx="520350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dz</m:t>
                            </m:r>
                          </m:den>
                        </m:f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e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z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36"/>
                <p:cNvSpPr txBox="1">
                  <a:spLocks noGrp="1"/>
                </p:cNvSpPr>
                <p:nvPr/>
              </p:nvSpPr>
              <p:spPr>
                <a:xfrm>
                  <a:off x="763905" y="3035618"/>
                  <a:ext cx="5203508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37"/>
                <p:cNvSpPr txBox="1">
                  <a:spLocks noGrp="1"/>
                </p:cNvSpPr>
                <p:nvPr/>
              </p:nvSpPr>
              <p:spPr>
                <a:xfrm>
                  <a:off x="763905" y="3559492"/>
                  <a:ext cx="5203508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z</m:t>
                            </m:r>
                          </m:e>
                        </m:d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4" name="c1-callout-2"/>
          <p:cNvGrpSpPr/>
          <p:nvPr/>
        </p:nvGrpSpPr>
        <p:grpSpPr>
          <a:xfrm>
            <a:off x="533400" y="4344352"/>
            <a:ext cx="5626418" cy="1215390"/>
            <a:chOff x="533400" y="4344352"/>
            <a:chExt cx="5626418" cy="1215390"/>
          </a:xfrm>
        </p:grpSpPr>
        <p:sp>
          <p:nvSpPr>
            <p:cNvPr id="18" name="Rectangle 18"/>
            <p:cNvSpPr/>
            <p:nvPr/>
          </p:nvSpPr>
          <p:spPr>
            <a:xfrm>
              <a:off x="533400" y="4344352"/>
              <a:ext cx="5626418" cy="1215390"/>
            </a:xfrm>
            <a:prstGeom prst="roundRect">
              <a:avLst>
                <a:gd name="adj" fmla="val 940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852035"/>
              <a:ext cx="200026" cy="200025"/>
              <a:chOff x="738188" y="4852035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8520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48964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0076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4732972"/>
              <a:ext cx="45914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第二步的关键一招：把 e⁻ᶻ 写成 (1 + e⁻ᶻ) − 1，分数立刻拆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 1 − g(z)。</a:t>
              </a:r>
            </a:p>
          </p:txBody>
        </p:sp>
      </p:grpSp>
      <p:grpSp>
        <p:nvGrpSpPr>
          <p:cNvPr id="32" name="c2-bullets-1"/>
          <p:cNvGrpSpPr/>
          <p:nvPr/>
        </p:nvGrpSpPr>
        <p:grpSpPr>
          <a:xfrm>
            <a:off x="6457760" y="1964055"/>
            <a:ext cx="5119326" cy="1206055"/>
            <a:chOff x="6457760" y="1964055"/>
            <a:chExt cx="5119326" cy="1206055"/>
          </a:xfrm>
        </p:grpSpPr>
        <p:sp>
          <p:nvSpPr>
            <p:cNvPr id="25" name="TextBox 25"/>
            <p:cNvSpPr txBox="1"/>
            <p:nvPr/>
          </p:nvSpPr>
          <p:spPr>
            <a:xfrm>
              <a:off x="6457760" y="19640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这个性质带来什么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73190" y="234029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29210" y="2284095"/>
              <a:ext cx="4157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导数只用到函数值本身，算过 g(z) 就不必再算指数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73190" y="265080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29210" y="2594610"/>
              <a:ext cx="4947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= 0.5 时导数最大，等于 0.25；g 靠近 0 或 1 时导数趋于 0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73190" y="296227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29210" y="2906077"/>
              <a:ext cx="3384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后一条正是第4章深层网络梯度消失的根源</a:t>
              </a:r>
            </a:p>
          </p:txBody>
        </p:sp>
      </p:grpSp>
      <p:grpSp>
        <p:nvGrpSpPr>
          <p:cNvPr id="59" name="c2-table-2"/>
          <p:cNvGrpSpPr/>
          <p:nvPr/>
        </p:nvGrpSpPr>
        <p:grpSpPr>
          <a:xfrm>
            <a:off x="6459284" y="3291840"/>
            <a:ext cx="5199316" cy="2308479"/>
            <a:chOff x="6459284" y="3291840"/>
            <a:chExt cx="5199316" cy="2308479"/>
          </a:xfrm>
        </p:grpSpPr>
        <p:sp>
          <p:nvSpPr>
            <p:cNvPr id="33" name="Rectangle 33"/>
            <p:cNvSpPr/>
            <p:nvPr/>
          </p:nvSpPr>
          <p:spPr>
            <a:xfrm>
              <a:off x="6464618" y="3291840"/>
              <a:ext cx="519398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39254" y="34161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18371" y="34161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g(z)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48414" y="341614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g′(z)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39254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85200" y="38219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694545" y="3707130"/>
              <a:ext cx="195453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458780" y="38219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409860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4618" y="410337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95718" y="422767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91190" y="4227671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0.731 / 0.269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58780" y="422767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0.197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45043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95718" y="463343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91190" y="4633436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0.881 / 0.119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58780" y="463343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49101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4618" y="491490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5718" y="50392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91190" y="5039201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0.953 / 0.047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58780" y="503920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3291840"/>
              <a:ext cx="519398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706678" y="329184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80258" y="329184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9284" y="5394960"/>
              <a:ext cx="3028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导数在 z = 0 处取到最大值 0.25，两端迅速衰减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3610"/>
              <a:ext cx="6756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易错：g′ 是对 z 求导的结果。对参数 θⱼ 求导还要再乘一次链式因子 ∂z/∂θⱼ = xⱼ。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27051" cy="909257"/>
            <a:chOff x="520446" y="342900"/>
            <a:chExt cx="7527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828" y="407194"/>
              <a:ext cx="2506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Logistic 回归模型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27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逻辑回归模型：h_Θ(x) 就是样本属于正类的概率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531620"/>
            <a:chOff x="533400" y="1524000"/>
            <a:chExt cx="5410200" cy="1531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31620"/>
            </a:xfrm>
            <a:prstGeom prst="roundRect">
              <a:avLst>
                <a:gd name="adj" fmla="val 870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09497" y="1756410"/>
              <a:ext cx="2389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线性部分外面套一个 Sigmoid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54"/>
                <p:cNvSpPr txBox="1">
                  <a:spLocks noGrp="1"/>
                </p:cNvSpPr>
                <p:nvPr/>
              </p:nvSpPr>
              <p:spPr>
                <a:xfrm>
                  <a:off x="725805" y="2067878"/>
                  <a:ext cx="502539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i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sty m:val="bi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m:rPr>
                                    <m:sty m:val="bi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20090" y="2687479"/>
              <a:ext cx="46780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其中 z = Θᵀx = θ₀ + θ₁x₁ + … + θₙxₙ，与第2章的线性回归完全一样。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230880"/>
            <a:ext cx="5410200" cy="2940368"/>
            <a:chOff x="533400" y="3230880"/>
            <a:chExt cx="5410200" cy="2940368"/>
          </a:xfrm>
        </p:grpSpPr>
        <p:sp>
          <p:nvSpPr>
            <p:cNvPr id="14" name="Rectangle 14"/>
            <p:cNvSpPr/>
            <p:nvPr/>
          </p:nvSpPr>
          <p:spPr>
            <a:xfrm>
              <a:off x="533400" y="3230880"/>
              <a:ext cx="5410200" cy="2940368"/>
            </a:xfrm>
            <a:prstGeom prst="roundRect">
              <a:avLst>
                <a:gd name="adj" fmla="val 45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364230"/>
              <a:ext cx="47625" cy="267366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42328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7344" y="34575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概率假设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14297" y="346329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两个类别的条件概率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55"/>
                <p:cNvSpPr txBox="1">
                  <a:spLocks noGrp="1"/>
                </p:cNvSpPr>
                <p:nvPr/>
              </p:nvSpPr>
              <p:spPr>
                <a:xfrm>
                  <a:off x="763905" y="3774758"/>
                  <a:ext cx="498729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m:rPr>
                                    <m:sty m:val="bi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56"/>
                <p:cNvSpPr txBox="1">
                  <a:spLocks noGrp="1"/>
                </p:cNvSpPr>
                <p:nvPr/>
              </p:nvSpPr>
              <p:spPr>
                <a:xfrm>
                  <a:off x="763905" y="4324350"/>
                  <a:ext cx="498729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m:rPr>
                                    <m:sty m:val="bi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m:rPr>
                                    <m:sty m:val="bi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2341245"/>
            <a:chOff x="6248400" y="1524000"/>
            <a:chExt cx="5410200" cy="2341245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2341245"/>
            </a:xfrm>
            <a:prstGeom prst="roundRect">
              <a:avLst>
                <a:gd name="adj" fmla="val 56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1657350"/>
              <a:ext cx="47625" cy="20745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8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2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紧凑写法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29297" y="175641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两式合成一式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2047" y="2090738"/>
              <a:ext cx="42572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二分类 y ∈ {0, 1} 时，上面两个式子可以写成一个：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57"/>
                <p:cNvSpPr txBox="1">
                  <a:spLocks noGrp="1"/>
                </p:cNvSpPr>
                <p:nvPr/>
              </p:nvSpPr>
              <p:spPr>
                <a:xfrm>
                  <a:off x="6478905" y="2370772"/>
                  <a:ext cx="498729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m:rPr>
                                <m:sty m:val="bi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473190" y="2818924"/>
              <a:ext cx="45559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 y = 1，第二个因子的指数为 0 变成 1，只剩 h；代 y = 0 同理只剩 1 −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3190" y="3289459"/>
              <a:ext cx="47266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这一步是下一节写似然函数的前提，指数上的 y 会在取对数后掉下来变成系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248400" y="4039552"/>
            <a:ext cx="5410200" cy="978218"/>
            <a:chOff x="6248400" y="4039552"/>
            <a:chExt cx="5410200" cy="978218"/>
          </a:xfrm>
        </p:grpSpPr>
        <p:sp>
          <p:nvSpPr>
            <p:cNvPr id="32" name="Rectangle 32"/>
            <p:cNvSpPr/>
            <p:nvPr/>
          </p:nvSpPr>
          <p:spPr>
            <a:xfrm>
              <a:off x="6248400" y="4039552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453188" y="4429127"/>
              <a:ext cx="200023" cy="200023"/>
              <a:chOff x="6453188" y="4429127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53188" y="44291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86538" y="4495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755892" y="4186238"/>
              <a:ext cx="433425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模型输出的是概率，判别还需要一个阈值：h_Θ(x) ≥ 0.5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判为正例，等价于 Θᵀx ≥ 0，与第7页的决策边界是同一条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线。</a:t>
              </a:r>
            </a:p>
          </p:txBody>
        </p:sp>
      </p:grpSp>
      <p:grpSp>
        <p:nvGrpSpPr>
          <p:cNvPr id="44" name="c2-callout-3"/>
          <p:cNvGrpSpPr/>
          <p:nvPr/>
        </p:nvGrpSpPr>
        <p:grpSpPr>
          <a:xfrm>
            <a:off x="6248400" y="5193030"/>
            <a:ext cx="5410200" cy="978218"/>
            <a:chOff x="6248400" y="5193030"/>
            <a:chExt cx="5410200" cy="978218"/>
          </a:xfrm>
        </p:grpSpPr>
        <p:sp>
          <p:nvSpPr>
            <p:cNvPr id="38" name="Rectangle 38"/>
            <p:cNvSpPr/>
            <p:nvPr/>
          </p:nvSpPr>
          <p:spPr>
            <a:xfrm>
              <a:off x="6248400" y="519303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441129" y="5577958"/>
              <a:ext cx="224134" cy="192560"/>
              <a:chOff x="6441129" y="5577958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53200" y="56483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441129" y="55779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53200" y="57261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755892" y="5338762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这里假设每个样本的标签服从参数为 h_Θ(x) 的伯努利分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布，样本之间相互独立。独立性假设在下一节写连乘时才真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正被用到。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45070" cy="909257"/>
            <a:chOff x="520446" y="342900"/>
            <a:chExt cx="77450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828" y="407194"/>
              <a:ext cx="2506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Logistic 回归模型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450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几率 Odds 与 Logit 变换：模型其实在做线性回归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222182"/>
            <a:chOff x="533400" y="1524000"/>
            <a:chExt cx="5626418" cy="22221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22182"/>
            </a:xfrm>
            <a:prstGeom prst="roundRect">
              <a:avLst>
                <a:gd name="adj" fmla="val 60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5548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3607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几率 odds（发生比、几率比）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一个事件发生和不发生的比率，p 是该事件发生的概率。概率取值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[0, 1]，几率取值 [0, +∞)。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76"/>
                <p:cNvSpPr txBox="1">
                  <a:spLocks noGrp="1"/>
                </p:cNvSpPr>
                <p:nvPr/>
              </p:nvSpPr>
              <p:spPr>
                <a:xfrm>
                  <a:off x="752475" y="2567940"/>
                  <a:ext cx="5226368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odds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7141" y="3154680"/>
              <a:ext cx="5099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例：随机挑一天，挑中星期日的几率是 (1/7)/(6/7) = 1/6，不挑中的几率是 6。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7141" y="3401378"/>
              <a:ext cx="5085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两组比较用几率比 OR：A 发生时 B 的几率 a/b，A 未发生时 c/d，OR = ad/bc。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3910965"/>
            <a:ext cx="5626418" cy="1525905"/>
            <a:chOff x="533400" y="3910965"/>
            <a:chExt cx="5626418" cy="1525905"/>
          </a:xfrm>
        </p:grpSpPr>
        <p:sp>
          <p:nvSpPr>
            <p:cNvPr id="17" name="Rectangle 17"/>
            <p:cNvSpPr/>
            <p:nvPr/>
          </p:nvSpPr>
          <p:spPr>
            <a:xfrm>
              <a:off x="533400" y="3910965"/>
              <a:ext cx="5626418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67552" y="4028123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 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79084" y="4028123"/>
              <a:ext cx="909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几率 p/(1−p)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15472" y="40281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对数几率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49536" y="441007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72917" y="44100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64944" y="441007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−1.386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6691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673918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49536" y="479107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89532" y="47910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256722" y="4683442"/>
              <a:ext cx="189357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59302" y="47910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05015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49536" y="517207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89532" y="51720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03816" y="51720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1.386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910965"/>
              <a:ext cx="5626418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216468" y="391096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242435" y="391096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2159318"/>
            <a:chOff x="6464618" y="1524000"/>
            <a:chExt cx="5193982" cy="2159318"/>
          </a:xfrm>
        </p:grpSpPr>
        <p:sp>
          <p:nvSpPr>
            <p:cNvPr id="38" name="Rectangle 38"/>
            <p:cNvSpPr/>
            <p:nvPr/>
          </p:nvSpPr>
          <p:spPr>
            <a:xfrm>
              <a:off x="6464618" y="1524000"/>
              <a:ext cx="5193982" cy="2159318"/>
            </a:xfrm>
            <a:prstGeom prst="roundRect">
              <a:avLst>
                <a:gd name="adj" fmla="val 61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1657350"/>
              <a:ext cx="47625" cy="189261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83692" y="1704975"/>
              <a:ext cx="157543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8357" y="1737836"/>
              <a:ext cx="14661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Logit Transformation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66951" y="174450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对几率取对数，右边就是线性的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77"/>
                <p:cNvSpPr txBox="1">
                  <a:spLocks noGrp="1"/>
                </p:cNvSpPr>
                <p:nvPr/>
              </p:nvSpPr>
              <p:spPr>
                <a:xfrm>
                  <a:off x="6683692" y="2040255"/>
                  <a:ext cx="4793932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m:rPr>
                                    <m:sty m:val="bi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;Θ</m:t>
                                </m:r>
                              </m:e>
                            </m:d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m:rPr>
                                    <m:sty m:val="bi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;Θ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sty m:val="bi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78"/>
                <p:cNvSpPr txBox="1">
                  <a:spLocks noGrp="1"/>
                </p:cNvSpPr>
                <p:nvPr/>
              </p:nvSpPr>
              <p:spPr>
                <a:xfrm>
                  <a:off x="6683692" y="2558415"/>
                  <a:ext cx="4793932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den>
                            </m:f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bi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5" name="TextBox 45"/>
            <p:cNvSpPr txBox="1"/>
            <p:nvPr/>
          </p:nvSpPr>
          <p:spPr>
            <a:xfrm>
              <a:off x="6678359" y="3145155"/>
              <a:ext cx="460457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左边叫对数几率（log odds，也叫 logit），是样本作为正例的相对可能性的对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464618" y="3848100"/>
            <a:ext cx="5193982" cy="1587818"/>
            <a:chOff x="6464618" y="3848100"/>
            <a:chExt cx="5193982" cy="1587818"/>
          </a:xfrm>
        </p:grpSpPr>
        <p:sp>
          <p:nvSpPr>
            <p:cNvPr id="47" name="Rectangle 47"/>
            <p:cNvSpPr/>
            <p:nvPr/>
          </p:nvSpPr>
          <p:spPr>
            <a:xfrm>
              <a:off x="6464618" y="3848100"/>
              <a:ext cx="5193982" cy="1587818"/>
            </a:xfrm>
            <a:prstGeom prst="roundRect">
              <a:avLst>
                <a:gd name="adj" fmla="val 71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669405" y="4542475"/>
              <a:ext cx="200023" cy="200023"/>
              <a:chOff x="6669405" y="4542475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669405" y="45424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802755" y="46091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972491" y="4319111"/>
              <a:ext cx="421513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所以逻辑回归是拿线性模型去拟合对数几率，这才是 “对数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几率回归” 这个中文名的来历。回归的对象不是 y，而是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ln[p/(1−p)]。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3" name="Rectangle 5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8444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更正：B 版课件把正例的几率写成 1/e^{−Θᵀx}，数值上没错但形式绕；A 版写作 e^{Θᵀx}，本讲义采用后者。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94689" cy="909257"/>
            <a:chOff x="520446" y="342900"/>
            <a:chExt cx="82946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828" y="407194"/>
              <a:ext cx="2506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Logistic 回归模型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94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例题：系数 θⱼ 读作 “xⱼ 每增加 1，对数几率增加 θⱼ”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359216" cy="264033"/>
            <a:chOff x="526542" y="1545907"/>
            <a:chExt cx="835921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359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设垃圾邮件模型 Θ = (−3, 0.8, 1.6)，x₁ 是正文中的链接数，x₂ 是是否出现 “免费” 二字（0 或 1）。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38338"/>
            <a:ext cx="3237319" cy="1596009"/>
            <a:chOff x="533400" y="1938338"/>
            <a:chExt cx="3237319" cy="1596009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196834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z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2223135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−3 + 0.8×3 + 1.6×1 = 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5217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算概率与几率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776538"/>
              <a:ext cx="2823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1/(1+e⁻¹) = 0.731，odds = e¹ = 2.718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0751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3328988"/>
              <a:ext cx="1784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0.731 &gt; 0.5，判为垃圾邮件</a:t>
              </a:r>
            </a:p>
          </p:txBody>
        </p:sp>
      </p:grpSp>
      <p:grpSp>
        <p:nvGrpSpPr>
          <p:cNvPr id="61" name="c1-table-2"/>
          <p:cNvGrpSpPr/>
          <p:nvPr/>
        </p:nvGrpSpPr>
        <p:grpSpPr>
          <a:xfrm>
            <a:off x="533400" y="3696652"/>
            <a:ext cx="5410200" cy="1906905"/>
            <a:chOff x="533400" y="3696652"/>
            <a:chExt cx="5410200" cy="1906905"/>
          </a:xfrm>
        </p:grpSpPr>
        <p:sp>
          <p:nvSpPr>
            <p:cNvPr id="23" name="Rectangle 23"/>
            <p:cNvSpPr/>
            <p:nvPr/>
          </p:nvSpPr>
          <p:spPr>
            <a:xfrm>
              <a:off x="533400" y="3696652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3442" y="38138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邮件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88865" y="3813810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(x₁, x₂)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83766" y="38138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03770" y="3813810"/>
              <a:ext cx="5096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h_Θ(x)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01602" y="38138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8078" y="419481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81273" y="4194810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(3, 1)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07966" y="41948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58923" y="41948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0.731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62500" y="4087178"/>
              <a:ext cx="117157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01602" y="41948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垃圾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4538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4586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45767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81273" y="4576762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(4, 1)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07966" y="45767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958923" y="457676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0.858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01602" y="45767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垃圾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8358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49577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81273" y="4957762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(3, 0)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969095" y="49577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58923" y="495776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01602" y="49577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2168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52216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8078" y="53387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81273" y="5338762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969095" y="533876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−3.0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958923" y="533876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0.047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762500" y="5231130"/>
              <a:ext cx="117157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01602" y="53387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3696652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502092" y="369665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2692718" y="369665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3558540" y="369665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4748212" y="369665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rd-1"/>
          <p:cNvGrpSpPr/>
          <p:nvPr/>
        </p:nvGrpSpPr>
        <p:grpSpPr>
          <a:xfrm>
            <a:off x="6248400" y="1928812"/>
            <a:ext cx="5410200" cy="1733550"/>
            <a:chOff x="6248400" y="1928812"/>
            <a:chExt cx="5410200" cy="1733550"/>
          </a:xfrm>
        </p:grpSpPr>
        <p:sp>
          <p:nvSpPr>
            <p:cNvPr id="62" name="Rectangle 62"/>
            <p:cNvSpPr/>
            <p:nvPr/>
          </p:nvSpPr>
          <p:spPr>
            <a:xfrm>
              <a:off x="6248400" y="1928812"/>
              <a:ext cx="5410200" cy="1733550"/>
            </a:xfrm>
            <a:prstGeom prst="roundRect">
              <a:avLst>
                <a:gd name="adj" fmla="val 769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29375" y="210978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10846" y="21426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系数的含义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68730" y="214931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加法在对数几率上，乘法在几率上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38900" y="251841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94348" y="2465546"/>
              <a:ext cx="43052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多一个链接，对数几率增加 0.8，几率乘以 e⁰·⁸ ≈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2.23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38900" y="280320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94348" y="2751296"/>
              <a:ext cx="32283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出现 “免费” 二字，几率乘以 e¹·⁶ ≈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4.95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438900" y="30880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94348" y="3036094"/>
              <a:ext cx="3304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截距 θ₀ = −3 是各特征全取 0 时的对数几率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24041" y="3317558"/>
              <a:ext cx="47760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 A 与 C：只差一个 “免费”，几率从 0.549 变成 2.718，正好 4.95 倍。</a:t>
              </a:r>
            </a:p>
          </p:txBody>
        </p:sp>
      </p:grpSp>
      <p:grpSp>
        <p:nvGrpSpPr>
          <p:cNvPr id="84" name="c2-card-2"/>
          <p:cNvGrpSpPr/>
          <p:nvPr/>
        </p:nvGrpSpPr>
        <p:grpSpPr>
          <a:xfrm>
            <a:off x="6248400" y="3827145"/>
            <a:ext cx="5410200" cy="1776412"/>
            <a:chOff x="6248400" y="3827145"/>
            <a:chExt cx="5410200" cy="1776412"/>
          </a:xfrm>
        </p:grpSpPr>
        <p:sp>
          <p:nvSpPr>
            <p:cNvPr id="74" name="Rectangle 74"/>
            <p:cNvSpPr/>
            <p:nvPr/>
          </p:nvSpPr>
          <p:spPr>
            <a:xfrm>
              <a:off x="6248400" y="3827145"/>
              <a:ext cx="5410200" cy="1776412"/>
            </a:xfrm>
            <a:prstGeom prst="roundRect">
              <a:avLst>
                <a:gd name="adj" fmla="val 75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57925" y="3960495"/>
              <a:ext cx="47625" cy="15097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67475" y="400812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60147" y="40409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477000" y="440055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32448" y="4347686"/>
              <a:ext cx="3700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不是概率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：θⱼ 改变的是对数几率，不是概率本身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477000" y="468534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32448" y="463343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量纲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：不归一化就不能比较哪个系数更重要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477000" y="497014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632448" y="4918234"/>
              <a:ext cx="31490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符号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：θⱼ &gt; 0 推向正例，θⱼ &lt; 0 推向反例</a:t>
              </a:r>
            </a:p>
          </p:txBody>
        </p:sp>
      </p:grpSp>
      <p:grpSp>
        <p:nvGrpSpPr>
          <p:cNvPr id="9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5" name="Rectangle 8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1041273" y="6039326"/>
              <a:ext cx="5798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医学统计里报告的 “优势比 OR = 2.23” 就是 e^{θⱼ}，与这里是同一个量。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1461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828" y="407194"/>
              <a:ext cx="2506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Logistic 回归模型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名字、优点与和线性回归的对照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161" y="1547336"/>
            <a:ext cx="4985004" cy="1657922"/>
            <a:chOff x="526161" y="1547336"/>
            <a:chExt cx="4985004" cy="165792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逻辑回归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00619" y="1547336"/>
              <a:ext cx="335076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logistic regression 的音译，最常见的叫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法，本讲义用它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2121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223694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对数几率回归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00619" y="2236946"/>
              <a:ext cx="32605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周志华《机器学习》的译名，点明了回归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的对象是对数几率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108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92655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对数线性模型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00619" y="2926556"/>
              <a:ext cx="29870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强调 ln[p/(1−p)] 是 x 的线性函数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334702"/>
            <a:ext cx="4977765" cy="3023235"/>
            <a:chOff x="533400" y="3334702"/>
            <a:chExt cx="4977765" cy="3023235"/>
          </a:xfrm>
        </p:grpSpPr>
        <p:sp>
          <p:nvSpPr>
            <p:cNvPr id="16" name="Rectangle 16"/>
            <p:cNvSpPr/>
            <p:nvPr/>
          </p:nvSpPr>
          <p:spPr>
            <a:xfrm>
              <a:off x="533400" y="3334702"/>
              <a:ext cx="4977765" cy="3023235"/>
            </a:xfrm>
            <a:prstGeom prst="roundRect">
              <a:avLst>
                <a:gd name="adj" fmla="val 44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468052"/>
              <a:ext cx="47625" cy="27565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3538538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5990" y="3574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对数几率回归的优点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39719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391144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无需事先假设数据的分布，避开了假设不准带来的问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2955" y="456342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9546" y="4502944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得到的是类别的近似概率预测，不只是一个标签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2955" y="4883467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9546" y="482298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目标函数是任意阶可导的凸函数，可直接套用现有数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值优化算法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5810250" y="1524000"/>
            <a:ext cx="5848350" cy="3937158"/>
            <a:chOff x="5810250" y="1524000"/>
            <a:chExt cx="5848350" cy="3937158"/>
          </a:xfrm>
        </p:grpSpPr>
        <p:sp>
          <p:nvSpPr>
            <p:cNvPr id="27" name="Rectangle 27"/>
            <p:cNvSpPr/>
            <p:nvPr/>
          </p:nvSpPr>
          <p:spPr>
            <a:xfrm>
              <a:off x="5815965" y="1524000"/>
              <a:ext cx="584263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09538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1089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线性回归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9022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逻辑回归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21312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6234" y="2085022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回归，y 连续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85566" y="2085022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分类，y 离散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15965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21312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06234" y="2515552"/>
              <a:ext cx="563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Θᵀx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85566" y="2515552"/>
              <a:ext cx="831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g(Θᵀx)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21312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输出范围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06234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整条实轴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85566" y="2946082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开区间 (0, 1)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32394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324421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21312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概率假设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06234" y="337566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| x ~ 正态分布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85566" y="33756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| x ~ 伯努利分布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6699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21312" y="38061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06234" y="3806190"/>
              <a:ext cx="1025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均方误差 MSE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85566" y="380619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对数似然（等价于交叉熵）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41005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15965" y="410527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21312" y="42357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06234" y="4235768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正规方程或梯度下降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85566" y="423576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梯度上升或牛顿法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45300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21312" y="466629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更新式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110412" y="4544378"/>
              <a:ext cx="225933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06234" y="4666298"/>
              <a:ext cx="1463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θⱼ += η(y − Θᵀx)xⱼ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389745" y="4544378"/>
              <a:ext cx="225933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485566" y="4666298"/>
              <a:ext cx="17302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θⱼ += η(y − g(Θᵀx))xⱼ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815965" y="1524000"/>
              <a:ext cx="5842635" cy="344138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096125" y="152400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75458" y="1524000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10250" y="5041106"/>
              <a:ext cx="54947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最后一行就是课件里的 “似曾相识？殊途同归？”，两者更新式形式完全一样，只有 h 的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定义不同</a:t>
              </a:r>
            </a:p>
          </p:txBody>
        </p:sp>
      </p:grpSp>
      <p:grpSp>
        <p:nvGrpSpPr>
          <p:cNvPr id="74" name="c2-callout-2"/>
          <p:cNvGrpSpPr/>
          <p:nvPr/>
        </p:nvGrpSpPr>
        <p:grpSpPr>
          <a:xfrm>
            <a:off x="5815965" y="5601652"/>
            <a:ext cx="5842635" cy="756285"/>
            <a:chOff x="5815965" y="5601652"/>
            <a:chExt cx="5842635" cy="756285"/>
          </a:xfrm>
        </p:grpSpPr>
        <p:sp>
          <p:nvSpPr>
            <p:cNvPr id="68" name="Rectangle 68"/>
            <p:cNvSpPr/>
            <p:nvPr/>
          </p:nvSpPr>
          <p:spPr>
            <a:xfrm>
              <a:off x="5815965" y="5601652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020753" y="5879783"/>
              <a:ext cx="200026" cy="200026"/>
              <a:chOff x="6020753" y="5879783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020753" y="58797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120765" y="59464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109653" y="59797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323076" y="5749766"/>
              <a:ext cx="482955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名字里带 “回归” 是因为它在拟合对数几率这个连续量，做的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事情却是分类。这个命名是历史遗留，记住就好。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367528" cy="3706177"/>
            <a:chOff x="667512" y="1835468"/>
            <a:chExt cx="5367528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最大似然估计与梯度上升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参数怎么定：让训练集出现的概率最大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似然与概率的区别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963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似然函数 L(Θ) 与对数似然 ℓ(Θ)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梯度推导，结果是 (y − h)x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随机梯度上升算法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手算例题与完全可分的陷阱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最大似然估计与梯度上升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似然与概率：问的东西正好相反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557141" cy="264033"/>
            <a:chOff x="526542" y="1545907"/>
            <a:chExt cx="455714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两个词在日常英语里可以互换，统计学里用法截然不同。</a:t>
              </a:r>
            </a:p>
          </p:txBody>
        </p:sp>
      </p:grpSp>
      <p:grpSp>
        <p:nvGrpSpPr>
          <p:cNvPr id="29" name="c1-compare-1"/>
          <p:cNvGrpSpPr/>
          <p:nvPr/>
        </p:nvGrpSpPr>
        <p:grpSpPr>
          <a:xfrm>
            <a:off x="533400" y="1928812"/>
            <a:ext cx="5627370" cy="2425065"/>
            <a:chOff x="533400" y="1928812"/>
            <a:chExt cx="5627370" cy="242506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2585085" cy="2425065"/>
            </a:xfrm>
            <a:prstGeom prst="roundRect">
              <a:avLst>
                <a:gd name="adj" fmla="val 54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21583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5998" y="2130266"/>
              <a:ext cx="1370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 probability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48412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432209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参数已知，问随机变量的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301180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959894"/>
              <a:ext cx="18986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“XXX 的概率” 中 XXX 只能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是事件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354044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3487579"/>
              <a:ext cx="18011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例：正反对称的硬币抛十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次，十次全正面的概率是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多少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575685" y="1928812"/>
              <a:ext cx="2585085" cy="2425065"/>
            </a:xfrm>
            <a:prstGeom prst="roundRect">
              <a:avLst>
                <a:gd name="adj" fmla="val 54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85210" y="2062162"/>
              <a:ext cx="47625" cy="21583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88283" y="2130266"/>
              <a:ext cx="12260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 likelihood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804285" y="248412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59733" y="2432209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输出结果已知，问未知参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数的可能取值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804285" y="301180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59733" y="2959894"/>
              <a:ext cx="18986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“XXX 的似然” 中 XXX 只能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是参数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804285" y="354044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59733" y="3487579"/>
              <a:ext cx="18011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例：一枚硬币抛十次得到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某结果，它正反对称的似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然是多少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166110" y="2960370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21164" y="308514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区别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4518660"/>
            <a:ext cx="5626418" cy="1160145"/>
            <a:chOff x="533400" y="4518660"/>
            <a:chExt cx="5626418" cy="1160145"/>
          </a:xfrm>
        </p:grpSpPr>
        <p:sp>
          <p:nvSpPr>
            <p:cNvPr id="30" name="Rectangle 30"/>
            <p:cNvSpPr/>
            <p:nvPr/>
          </p:nvSpPr>
          <p:spPr>
            <a:xfrm>
              <a:off x="533400" y="4518660"/>
              <a:ext cx="562641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65201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2475" y="46996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147" y="47324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联系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18450" y="47391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数值上相等，含义不同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5998" y="5055394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关于参数 θ 的似然函数在数值上等于给定参数后数据出现的概率，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L(θ | data) = P(data | θ)，但两者不是同一个函数。</a:t>
              </a:r>
            </a:p>
          </p:txBody>
        </p:sp>
      </p:grpSp>
      <p:grpSp>
        <p:nvGrpSpPr>
          <p:cNvPr id="44" name="c2-bullets-1"/>
          <p:cNvGrpSpPr/>
          <p:nvPr/>
        </p:nvGrpSpPr>
        <p:grpSpPr>
          <a:xfrm>
            <a:off x="6458141" y="1949291"/>
            <a:ext cx="3802990" cy="1137094"/>
            <a:chOff x="6458141" y="1949291"/>
            <a:chExt cx="3802990" cy="1137094"/>
          </a:xfrm>
        </p:grpSpPr>
        <p:sp>
          <p:nvSpPr>
            <p:cNvPr id="37" name="TextBox 37"/>
            <p:cNvSpPr txBox="1"/>
            <p:nvPr/>
          </p:nvSpPr>
          <p:spPr>
            <a:xfrm>
              <a:off x="6458141" y="194929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用似然函数时要记住的三件事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74142" y="230314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29591" y="225123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有意义的是似然的相对大小，单个数值没有含义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74142" y="259651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29591" y="254365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乘以任意正常数仍是似然，不必满足归一化条件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74142" y="288988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9591" y="283702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最大值不一定唯一，也不一定存在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464618" y="3201352"/>
            <a:ext cx="5193982" cy="1843088"/>
            <a:chOff x="6464618" y="3201352"/>
            <a:chExt cx="5193982" cy="1843088"/>
          </a:xfrm>
        </p:grpSpPr>
        <p:sp>
          <p:nvSpPr>
            <p:cNvPr id="45" name="Rectangle 45"/>
            <p:cNvSpPr/>
            <p:nvPr/>
          </p:nvSpPr>
          <p:spPr>
            <a:xfrm>
              <a:off x="6464618" y="3201352"/>
              <a:ext cx="5193982" cy="1843088"/>
            </a:xfrm>
            <a:prstGeom prst="roundRect">
              <a:avLst>
                <a:gd name="adj" fmla="val 72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4142" y="3334702"/>
              <a:ext cx="47625" cy="157638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83692" y="338232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61112" y="341518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最大似然估计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47826" y="3421856"/>
              <a:ext cx="31624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MLE，maximum likelihood estimation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77216" y="3738086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似然函数取到最大值，表示相应的参数能使统计模型最为合理。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做法是先写出似然函数（概率密度或概率质量函数的连乘），整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理之后求最大值。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78359" y="4505325"/>
              <a:ext cx="44112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实际一般取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对数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再求最大值：对数单调增，最大值点相同，而连乘变成了连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加。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6464618" y="5208270"/>
            <a:ext cx="5193982" cy="470535"/>
            <a:chOff x="6464618" y="5208270"/>
            <a:chExt cx="5193982" cy="470535"/>
          </a:xfrm>
        </p:grpSpPr>
        <p:sp>
          <p:nvSpPr>
            <p:cNvPr id="53" name="Rectangle 53"/>
            <p:cNvSpPr/>
            <p:nvPr/>
          </p:nvSpPr>
          <p:spPr>
            <a:xfrm>
              <a:off x="6464618" y="5208270"/>
              <a:ext cx="5193982" cy="470535"/>
            </a:xfrm>
            <a:prstGeom prst="roundRect">
              <a:avLst>
                <a:gd name="adj" fmla="val 242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669405" y="5343525"/>
              <a:ext cx="200026" cy="200025"/>
              <a:chOff x="6669405" y="5343525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669405" y="53435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09144" y="53879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43859" y="54991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972491" y="535447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一句话记法：概率是由因推果，似然是由果推因。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6039326"/>
              <a:ext cx="5716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更正：两版课件都把 likelihood 误拼为 likehood，正确拼写是 likelihood。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最大似然估计与梯度上升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写出似然函数，取对数就是交叉熵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107882"/>
            <a:chOff x="533400" y="1524000"/>
            <a:chExt cx="5410200" cy="21078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07882"/>
            </a:xfrm>
            <a:prstGeom prst="roundRect">
              <a:avLst>
                <a:gd name="adj" fmla="val 63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411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0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3228" y="1744504"/>
              <a:ext cx="2415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个样本独立产生，似然是连乘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97"/>
                <p:cNvSpPr txBox="1">
                  <a:spLocks noGrp="1"/>
                </p:cNvSpPr>
                <p:nvPr/>
              </p:nvSpPr>
              <p:spPr>
                <a:xfrm>
                  <a:off x="752475" y="2040255"/>
                  <a:ext cx="501015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sSup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;Θ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98"/>
                <p:cNvSpPr txBox="1">
                  <a:spLocks noGrp="1"/>
                </p:cNvSpPr>
                <p:nvPr/>
              </p:nvSpPr>
              <p:spPr>
                <a:xfrm>
                  <a:off x="752475" y="2655570"/>
                  <a:ext cx="501015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m:rPr>
                                                <m:sty m:val="bi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m:rPr>
                                                <m:sty m:val="bi"/>
                                              </m:r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20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47141" y="3287078"/>
              <a:ext cx="3368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把上一页的紧凑写法代进去即可，目标是 max L(Θ)。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28447" y="3796665"/>
            <a:ext cx="5415153" cy="1789461"/>
            <a:chOff x="528447" y="3796665"/>
            <a:chExt cx="5415153" cy="1789461"/>
          </a:xfrm>
        </p:grpSpPr>
        <p:sp>
          <p:nvSpPr>
            <p:cNvPr id="16" name="Rectangle 16"/>
            <p:cNvSpPr/>
            <p:nvPr/>
          </p:nvSpPr>
          <p:spPr>
            <a:xfrm>
              <a:off x="533400" y="3796665"/>
              <a:ext cx="541020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3242" y="391477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 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71500" y="391477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 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76786" y="3914775"/>
              <a:ext cx="1519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该样本的损失 −log 似然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6856" y="42957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59314" y="42957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37066" y="42957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5548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5596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36856" y="46767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59314" y="467677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139440" y="4569142"/>
              <a:ext cx="279463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37066" y="46767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2.303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9368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36856" y="5058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59314" y="505872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37066" y="505872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96665"/>
              <a:ext cx="541020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826895" y="379666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125152" y="379666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447" y="5395436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预测越离谱惩罚涨得越快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1399222"/>
            <a:chOff x="6248400" y="1524000"/>
            <a:chExt cx="5410200" cy="1399222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1399222"/>
            </a:xfrm>
            <a:prstGeom prst="roundRect">
              <a:avLst>
                <a:gd name="adj" fmla="val 953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293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179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20128" y="17445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取对数，连乘变连加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ormula99"/>
                <p:cNvSpPr txBox="1">
                  <a:spLocks noGrp="1"/>
                </p:cNvSpPr>
                <p:nvPr/>
              </p:nvSpPr>
              <p:spPr>
                <a:xfrm>
                  <a:off x="6429375" y="2040255"/>
                  <a:ext cx="5048250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0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0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 m:val="on"/>
                                <m:ctrl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sSub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m:rPr>
                                                <m:sty m:val="bi"/>
                                              </m:rPr>
                                              <a:rPr lang="zh-CN" sz="10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05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05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i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m:rPr>
                                    <m:sty m:val="p"/>
                                  </m:rPr>
                                  <a:rPr lang="zh-CN" sz="10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0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0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0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0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0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Θ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05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e>
                                                <m:r>
                                                  <m:rPr>
                                                    <m:sty m:val="bi"/>
                                                  </m:rPr>
                                                  <a:rPr lang="zh-CN" sz="105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x</m:t>
                                                </m:r>
                                              </m:e>
                                              <m:sup>
                                                <m:d>
                                                  <m:dPr>
                                                    <m:begChr m:val="("/>
                                                    <m:sepChr m:val=""/>
                                                    <m:endChr m:val=")"/>
                                                    <m:grow m:val="on"/>
                                                    <m:ctrlPr>
                                                      <a:rPr lang="zh-CN" sz="1050" dirty="0">
                                                        <a:solidFill>
                                                          <a:srgbClr val="FFFFFF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zh-CN" sz="1050" dirty="0">
                                                        <a:solidFill>
                                                          <a:srgbClr val="FFFFFF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i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3" name="TextBox 43"/>
            <p:cNvSpPr txBox="1"/>
            <p:nvPr/>
          </p:nvSpPr>
          <p:spPr>
            <a:xfrm>
              <a:off x="6424041" y="2578418"/>
              <a:ext cx="3513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优化目标改成 max ℓ(Θ)，与 max L(Θ) 的最优解相同。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3088005"/>
            <a:ext cx="5410200" cy="1687830"/>
            <a:chOff x="6248400" y="3088005"/>
            <a:chExt cx="5410200" cy="1687830"/>
          </a:xfrm>
        </p:grpSpPr>
        <p:sp>
          <p:nvSpPr>
            <p:cNvPr id="45" name="Rectangle 45"/>
            <p:cNvSpPr/>
            <p:nvPr/>
          </p:nvSpPr>
          <p:spPr>
            <a:xfrm>
              <a:off x="6248400" y="3088005"/>
              <a:ext cx="5410200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3221355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7475" y="326898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2044" y="33018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换个角度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83006" y="3309461"/>
              <a:ext cx="18022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−ℓ(Θ) 就是交叉熵损失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0998" y="3625691"/>
              <a:ext cx="47922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ℓ 取负号再除以 N，得到的正是第1章表里的交叉熵损失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（cross-entropy loss）。最大化对数似然与最小化交叉熵是同一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件事的两种说法。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77000" y="444912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32448" y="4396264"/>
              <a:ext cx="4165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单样本 y = 1 时损失为 −log h，y = 0 时为 −log(1 − h)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6248400" y="4941570"/>
            <a:ext cx="5410200" cy="702945"/>
            <a:chOff x="6248400" y="4941570"/>
            <a:chExt cx="5410200" cy="702945"/>
          </a:xfrm>
        </p:grpSpPr>
        <p:sp>
          <p:nvSpPr>
            <p:cNvPr id="54" name="Rectangle 54"/>
            <p:cNvSpPr/>
            <p:nvPr/>
          </p:nvSpPr>
          <p:spPr>
            <a:xfrm>
              <a:off x="6248400" y="4941570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5193032"/>
              <a:ext cx="200023" cy="200023"/>
              <a:chOff x="6453188" y="5193032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51930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86538" y="52597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6273" y="5085874"/>
              <a:ext cx="44102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ℓ(Θ) 是关于 Θ 的凹函数（−ℓ 是凸函数），所以驻点就是全局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最优，不存在局部最优的困扰。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6039326"/>
              <a:ext cx="80941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连乘用到了样本独立同分布的假设。N 稍大时连乘的结果会小到浮点数下溢，这是必须取对数的现实理由。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最大似然估计与梯度上升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梯度上升：往上坡方向走，所以是加号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888808"/>
            <a:chOff x="533400" y="1524000"/>
            <a:chExt cx="5193982" cy="18888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888808"/>
            </a:xfrm>
            <a:prstGeom prst="roundRect">
              <a:avLst>
                <a:gd name="adj" fmla="val 706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32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更新式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42847" y="17564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与梯度下降只差一个符号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16"/>
                <p:cNvSpPr txBox="1">
                  <a:spLocks noGrp="1"/>
                </p:cNvSpPr>
                <p:nvPr/>
              </p:nvSpPr>
              <p:spPr>
                <a:xfrm>
                  <a:off x="725805" y="2067878"/>
                  <a:ext cx="4809172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:=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Θ+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η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sub>
                        </m:sSub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20090" y="2573179"/>
              <a:ext cx="45488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第1章的梯度下降是最小化 J(Θ)，沿负梯度走，取减号；这里是最大化 ℓ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(Θ)，沿正梯度走，取</a:t>
              </a:r>
              <a:r>
                <a:rPr lang="zh-CN" sz="11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加号</a:t>
              </a: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0090" y="3044666"/>
              <a:ext cx="46495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两者可以互换：定义 J(Θ) = −ℓ(Θ)，再用梯度下降，结果完全一样。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587115"/>
            <a:ext cx="5193982" cy="952500"/>
            <a:chOff x="533400" y="3587115"/>
            <a:chExt cx="5193982" cy="952500"/>
          </a:xfrm>
        </p:grpSpPr>
        <p:sp>
          <p:nvSpPr>
            <p:cNvPr id="15" name="Rectangle 15"/>
            <p:cNvSpPr/>
            <p:nvPr/>
          </p:nvSpPr>
          <p:spPr>
            <a:xfrm>
              <a:off x="533400" y="3587115"/>
              <a:ext cx="5193982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20465"/>
              <a:ext cx="47625" cy="685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7795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345" y="38138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136708"/>
              <a:ext cx="4838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 α 表示学习率，本讲义沿用第1章的 η，含义相同。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4714875"/>
            <a:ext cx="5193982" cy="729615"/>
            <a:chOff x="533400" y="4714875"/>
            <a:chExt cx="5193982" cy="729615"/>
          </a:xfrm>
        </p:grpSpPr>
        <p:sp>
          <p:nvSpPr>
            <p:cNvPr id="21" name="Rectangle 21"/>
            <p:cNvSpPr/>
            <p:nvPr/>
          </p:nvSpPr>
          <p:spPr>
            <a:xfrm>
              <a:off x="533400" y="471487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6129" y="4975978"/>
              <a:ext cx="224134" cy="192560"/>
              <a:chOff x="726129" y="4975978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50463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129" y="49759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1241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892" y="4860608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符号弄反会让对数似然一路下降。检查办法：每若干轮打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印一次 ℓ(Θ)，最大化时它必须单调上升。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032182" y="1524000"/>
            <a:ext cx="5626418" cy="3920490"/>
            <a:chOff x="6032182" y="1524000"/>
            <a:chExt cx="5626418" cy="3920490"/>
          </a:xfrm>
        </p:grpSpPr>
        <p:sp>
          <p:nvSpPr>
            <p:cNvPr id="28" name="Rectangle 28"/>
            <p:cNvSpPr/>
            <p:nvPr/>
          </p:nvSpPr>
          <p:spPr>
            <a:xfrm>
              <a:off x="6032182" y="1524000"/>
              <a:ext cx="5626418" cy="3920490"/>
            </a:xfrm>
            <a:prstGeom prst="roundRect">
              <a:avLst>
                <a:gd name="adj" fmla="val 34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41708" y="1657350"/>
              <a:ext cx="47625" cy="36537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62688" y="171640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5" y="17506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单样本梯度推导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3130" y="175641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只看一个样本时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117"/>
                <p:cNvSpPr txBox="1">
                  <a:spLocks noGrp="1"/>
                </p:cNvSpPr>
                <p:nvPr/>
              </p:nvSpPr>
              <p:spPr>
                <a:xfrm>
                  <a:off x="6262688" y="2067878"/>
                  <a:ext cx="5203508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∂ℓ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bi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r>
                                          <a:rPr lang="zh-CN" sz="11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bi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den>
                        </m:f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sty m:val="bi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118"/>
                <p:cNvSpPr txBox="1">
                  <a:spLocks noGrp="1"/>
                </p:cNvSpPr>
                <p:nvPr/>
              </p:nvSpPr>
              <p:spPr>
                <a:xfrm>
                  <a:off x="6262688" y="2540318"/>
                  <a:ext cx="520350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</m:den>
                            </m:f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119"/>
                <p:cNvSpPr txBox="1">
                  <a:spLocks noGrp="1"/>
                </p:cNvSpPr>
                <p:nvPr/>
              </p:nvSpPr>
              <p:spPr>
                <a:xfrm>
                  <a:off x="6262688" y="3038475"/>
                  <a:ext cx="5203508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</m:d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bi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d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6" name="TextBox 36"/>
            <p:cNvSpPr txBox="1"/>
            <p:nvPr/>
          </p:nvSpPr>
          <p:spPr>
            <a:xfrm>
              <a:off x="6256972" y="3467576"/>
              <a:ext cx="47906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第二个等号用了 g′ = g(1 − g) 和链式法则 ∂z/∂θⱼ = xⱼ；第三个等号展开后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yg 两项抵消。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8" name="Rectangle 3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6023610"/>
              <a:ext cx="8546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梯度的含义很直白：(y − h) 是这个样本上的预测偏差，xⱼ 是它在第 j 维的取值。预测得准就几乎不更新。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最大似然估计与梯度上升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随机梯度上升：每次只用一个样本更新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703070"/>
            <a:chOff x="533400" y="1524000"/>
            <a:chExt cx="4977765" cy="17030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03070"/>
            </a:xfrm>
            <a:prstGeom prst="roundRect">
              <a:avLst>
                <a:gd name="adj" fmla="val 783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3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参数更新式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121"/>
                <p:cNvSpPr txBox="1">
                  <a:spLocks noGrp="1"/>
                </p:cNvSpPr>
                <p:nvPr/>
              </p:nvSpPr>
              <p:spPr>
                <a:xfrm>
                  <a:off x="742950" y="2085975"/>
                  <a:ext cx="455866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:=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η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  <m:sSub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sup>
                        </m:sSub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1" name="TextBox 11"/>
            <p:cNvSpPr txBox="1"/>
            <p:nvPr/>
          </p:nvSpPr>
          <p:spPr>
            <a:xfrm>
              <a:off x="736473" y="2583656"/>
              <a:ext cx="42476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批量版本把括号外面加一个 Σᵢ₌₁ᴺ，每轮扫完全部样本再更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新一次。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417570"/>
            <a:ext cx="4977765" cy="2884170"/>
            <a:chOff x="533400" y="3417570"/>
            <a:chExt cx="4977765" cy="2884170"/>
          </a:xfrm>
        </p:grpSpPr>
        <p:sp>
          <p:nvSpPr>
            <p:cNvPr id="13" name="Rectangle 13"/>
            <p:cNvSpPr/>
            <p:nvPr/>
          </p:nvSpPr>
          <p:spPr>
            <a:xfrm>
              <a:off x="533400" y="3417570"/>
              <a:ext cx="4977765" cy="2884170"/>
            </a:xfrm>
            <a:prstGeom prst="roundRect">
              <a:avLst>
                <a:gd name="adj" fmla="val 46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550920"/>
              <a:ext cx="47625" cy="2617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62712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3359" y="36628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殊途同归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65922" y="3662362"/>
              <a:ext cx="23814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和线性回归的 LMS 比一比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0862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023360"/>
              <a:ext cx="29660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线性回归：h_Θ(x⁽ⁱ⁾) = Θᵀx⁽ⁱ⁾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4215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358640"/>
              <a:ext cx="3234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逻辑回归：h_Θ(x⁽ⁱ⁾) = g(Θᵀx⁽ⁱ⁾) =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1/(1+e^{−Θᵀx⁽ⁱ⁾})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573" y="4975384"/>
              <a:ext cx="42638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更新式一字不差，只有 h 的定义不同。这不是巧合，两者都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属于指数族分布的广义线性模型。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5815965" y="1524000"/>
            <a:ext cx="5842635" cy="2791778"/>
            <a:chOff x="5815965" y="1524000"/>
            <a:chExt cx="5842635" cy="2791778"/>
          </a:xfrm>
        </p:grpSpPr>
        <p:sp>
          <p:nvSpPr>
            <p:cNvPr id="24" name="Rectangle 24"/>
            <p:cNvSpPr/>
            <p:nvPr/>
          </p:nvSpPr>
          <p:spPr>
            <a:xfrm>
              <a:off x="5815965" y="1524000"/>
              <a:ext cx="584263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44362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批量梯度上升的完整骨架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44362" y="1935956"/>
              <a:ext cx="4291330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numpy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as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np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sigmoid(z):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1.0 / (1.0 + np.exp(-z))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fit(X, y, eta=0.1, n_iter=500):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= np.c_[np.ones(len(X)), X]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补上 x0 = 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theta = np.zeros(X.shape[1])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_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range(n_iter):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 = sigmoid(X @ theta)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当前预测概率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grad = X.T @ (y - h)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梯度就是 (y-h) 加权求和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theta += eta * grad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上升，所以是加号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theta</a:t>
              </a:r>
            </a:p>
          </p:txBody>
        </p:sp>
      </p:grpSp>
      <p:grpSp>
        <p:nvGrpSpPr>
          <p:cNvPr id="48" name="c2-table-2"/>
          <p:cNvGrpSpPr/>
          <p:nvPr/>
        </p:nvGrpSpPr>
        <p:grpSpPr>
          <a:xfrm>
            <a:off x="5815965" y="4506278"/>
            <a:ext cx="5842635" cy="1795462"/>
            <a:chOff x="5815965" y="4506278"/>
            <a:chExt cx="5842635" cy="1795462"/>
          </a:xfrm>
        </p:grpSpPr>
        <p:sp>
          <p:nvSpPr>
            <p:cNvPr id="28" name="Rectangle 28"/>
            <p:cNvSpPr/>
            <p:nvPr/>
          </p:nvSpPr>
          <p:spPr>
            <a:xfrm>
              <a:off x="5815965" y="4506278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54419" y="46420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57084" y="46420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每步样本数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18674" y="46420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23788" y="5090636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批量 BGD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59230" y="5090636"/>
              <a:ext cx="7392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 N 个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45106" y="5090636"/>
              <a:ext cx="1890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方向准，N 大时每步很慢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53997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15965" y="540448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23788" y="5539264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 SGD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9230" y="5539264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 1 个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45106" y="55392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单步快，路径抖动，适合在线学习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58483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25490" y="5862638"/>
              <a:ext cx="161734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23788" y="59878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小批量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59230" y="5987891"/>
              <a:ext cx="762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 m 个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45106" y="5987891"/>
              <a:ext cx="2201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实践默认，m 常取 32 到 256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4506278"/>
              <a:ext cx="584263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446645" y="450627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732520" y="4506278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最大似然估计与梯度上升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例题：手算两步梯度上升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308331" cy="264033"/>
            <a:chOff x="526542" y="1545907"/>
            <a:chExt cx="630833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308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训练集 4 个样本，一个特征 x₁，补上 x₀ ≡ 1。取 η = 0.1，初值 Θ = (0, 0)。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28812"/>
            <a:ext cx="5410200" cy="2000250"/>
            <a:chOff x="533400" y="1928812"/>
            <a:chExt cx="5410200" cy="20002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414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50400" y="20502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5318" y="20502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91404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1386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9601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40927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93477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41386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96010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40927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93477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41386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96010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40927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93477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242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5290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41386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96010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40927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93477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28812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043112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233738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31995" y="1928812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steps-2"/>
          <p:cNvGrpSpPr/>
          <p:nvPr/>
        </p:nvGrpSpPr>
        <p:grpSpPr>
          <a:xfrm>
            <a:off x="533400" y="4108132"/>
            <a:ext cx="2490140" cy="1102520"/>
            <a:chOff x="533400" y="4108132"/>
            <a:chExt cx="2490140" cy="1102520"/>
          </a:xfrm>
        </p:grpSpPr>
        <p:sp>
          <p:nvSpPr>
            <p:cNvPr id="40" name="Rectangle 40"/>
            <p:cNvSpPr/>
            <p:nvPr/>
          </p:nvSpPr>
          <p:spPr>
            <a:xfrm>
              <a:off x="666750" y="4251008"/>
              <a:ext cx="19050" cy="5829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533400" y="41081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7024" y="4181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33400" y="469106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7024" y="4764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5642" y="4140518"/>
              <a:ext cx="997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 算 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6785" y="4407694"/>
              <a:ext cx="1790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全为 0，四个 h 都是 0.5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5642" y="472344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算梯度并更新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6785" y="4990624"/>
              <a:ext cx="2076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 (0, 2)，Θ 变为 (0, 0.2)</a:t>
              </a:r>
            </a:p>
          </p:txBody>
        </p:sp>
      </p:grpSp>
      <p:grpSp>
        <p:nvGrpSpPr>
          <p:cNvPr id="93" name="c2-table-1"/>
          <p:cNvGrpSpPr/>
          <p:nvPr/>
        </p:nvGrpSpPr>
        <p:grpSpPr>
          <a:xfrm>
            <a:off x="6243447" y="1928812"/>
            <a:ext cx="5415153" cy="2663857"/>
            <a:chOff x="6243447" y="1928812"/>
            <a:chExt cx="5415153" cy="2663857"/>
          </a:xfrm>
        </p:grpSpPr>
        <p:sp>
          <p:nvSpPr>
            <p:cNvPr id="50" name="Rectangle 50"/>
            <p:cNvSpPr/>
            <p:nvPr/>
          </p:nvSpPr>
          <p:spPr>
            <a:xfrm>
              <a:off x="6248400" y="1928812"/>
              <a:ext cx="5410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7100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64501" y="2050256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 = θ₀+θ₁x₁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49956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43138" y="2050256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 − h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752820" y="2050256"/>
              <a:ext cx="620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(y−h)x₁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78244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79431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44715" y="24503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30999" y="24503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−0.5000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08795" y="24503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78244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79431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44715" y="28503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0.5498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630999" y="28503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−0.5498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767332" y="28503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−0.5498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578244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79431" y="32504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44715" y="32504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0.5987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672462" y="32504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0.4013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808795" y="32504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0.8026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35242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48400" y="35290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578244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79431" y="36504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644715" y="36504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0.6457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672462" y="36504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0.3543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808795" y="36504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1.0629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39243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471006" y="4050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662357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852030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630999" y="40505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−0.2942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808795" y="40505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1.3157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1928812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7000875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8407718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938117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46321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243447" y="4401979"/>
              <a:ext cx="39272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 步在 Θ = (0, 0.2) 上重算，更新后 Θ = (−0.0294, 0.3316)</a:t>
              </a:r>
            </a:p>
          </p:txBody>
        </p:sp>
      </p:grpSp>
      <p:grpSp>
        <p:nvGrpSpPr>
          <p:cNvPr id="99" name="c2-callout-2"/>
          <p:cNvGrpSpPr/>
          <p:nvPr/>
        </p:nvGrpSpPr>
        <p:grpSpPr>
          <a:xfrm>
            <a:off x="6248400" y="4724400"/>
            <a:ext cx="5410200" cy="729615"/>
            <a:chOff x="6248400" y="4724400"/>
            <a:chExt cx="5410200" cy="729615"/>
          </a:xfrm>
        </p:grpSpPr>
        <p:sp>
          <p:nvSpPr>
            <p:cNvPr id="94" name="Rectangle 94"/>
            <p:cNvSpPr/>
            <p:nvPr/>
          </p:nvSpPr>
          <p:spPr>
            <a:xfrm>
              <a:off x="6248400" y="472440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6453188" y="4989195"/>
              <a:ext cx="200026" cy="200026"/>
              <a:chOff x="6453188" y="4989195"/>
              <a:chExt cx="200026" cy="200026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6453188" y="49891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6519863" y="50669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6755892" y="4870132"/>
              <a:ext cx="43256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对数似然 −2.7726 → −2.4418 → −2.2825，确实在上升。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以上各步已用 Python 逐位复核。</a:t>
              </a:r>
            </a:p>
          </p:txBody>
        </p:sp>
      </p:grpSp>
      <p:grpSp>
        <p:nvGrpSpPr>
          <p:cNvPr id="106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100" name="Rectangle 100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1040892" y="5779770"/>
              <a:ext cx="98549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本例的数据完全线性可分，对数似然没有有限的极大值点：迭代 20000 轮后 Θ 会涨到 (−17.0, 11.5)，ℓ 仍在逼近 0。实践中靠加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L₂ 正则项或提前停止收住。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最大似然估计与梯度上升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训练的三个实际问题：学习率、特征缩放、正则化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3505200" cy="2626995"/>
            <a:chOff x="533400" y="1524000"/>
            <a:chExt cx="3505200" cy="2626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626995"/>
            </a:xfrm>
            <a:prstGeom prst="roundRect">
              <a:avLst>
                <a:gd name="adj" fmla="val 5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60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6295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843" y="1769269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学习率 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太大不收敛，太小走不动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65070"/>
              <a:ext cx="2463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10 倍量级试 0.1、0.01、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86100"/>
              <a:ext cx="2644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 ℓ(Θ) 随轮数的曲线：合适时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单调上升并逐渐变平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7699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707130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上下震荡说明 η 偏大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341495"/>
            <a:ext cx="3505200" cy="1059180"/>
            <a:chOff x="533400" y="4341495"/>
            <a:chExt cx="3505200" cy="1059180"/>
          </a:xfrm>
        </p:grpSpPr>
        <p:sp>
          <p:nvSpPr>
            <p:cNvPr id="19" name="Rectangle 19"/>
            <p:cNvSpPr/>
            <p:nvPr/>
          </p:nvSpPr>
          <p:spPr>
            <a:xfrm>
              <a:off x="533400" y="4341495"/>
              <a:ext cx="3505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771073"/>
              <a:ext cx="200026" cy="200025"/>
              <a:chOff x="738188" y="4771073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7710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48155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49266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490085"/>
              <a:ext cx="2625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用批量梯度时可以把梯度除以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N，这样 η 的合适范围与样本数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无关。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4343400" y="1524000"/>
            <a:ext cx="3505200" cy="2626995"/>
            <a:chOff x="4343400" y="1524000"/>
            <a:chExt cx="3505200" cy="2626995"/>
          </a:xfrm>
        </p:grpSpPr>
        <p:sp>
          <p:nvSpPr>
            <p:cNvPr id="26" name="Rectangle 26"/>
            <p:cNvSpPr/>
            <p:nvPr/>
          </p:nvSpPr>
          <p:spPr>
            <a:xfrm>
              <a:off x="4343400" y="1524000"/>
              <a:ext cx="3505200" cy="2626995"/>
            </a:xfrm>
            <a:prstGeom prst="roundRect">
              <a:avLst>
                <a:gd name="adj" fmla="val 5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52925" y="1657350"/>
              <a:ext cx="47625" cy="2360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9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7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特征缩放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83430" y="211074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量纲差一个数量级就够呛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4596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54880" y="246507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各维取值范围悬殊时，等高线被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拉成细长的峡谷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4596765" y="31489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54880" y="308610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梯度方向几乎垂直于峡谷轴线，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来回折返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4596765" y="37699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754880" y="370713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做法是标准化：减均值除标准差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4343400" y="4341495"/>
            <a:ext cx="3505200" cy="1059180"/>
            <a:chOff x="4343400" y="4341495"/>
            <a:chExt cx="3505200" cy="1059180"/>
          </a:xfrm>
        </p:grpSpPr>
        <p:sp>
          <p:nvSpPr>
            <p:cNvPr id="38" name="Rectangle 38"/>
            <p:cNvSpPr/>
            <p:nvPr/>
          </p:nvSpPr>
          <p:spPr>
            <a:xfrm>
              <a:off x="4343400" y="4341495"/>
              <a:ext cx="3505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4548188" y="4771073"/>
              <a:ext cx="200026" cy="200026"/>
              <a:chOff x="4548188" y="4771073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548188" y="47710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648200" y="48377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637088" y="48710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4850130" y="4490085"/>
              <a:ext cx="2682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牛顿法对特征缩放不敏感，因为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Hessian 已经把尺度信息吸收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56" name="c3-card-1"/>
          <p:cNvGrpSpPr/>
          <p:nvPr/>
        </p:nvGrpSpPr>
        <p:grpSpPr>
          <a:xfrm>
            <a:off x="8153400" y="1524000"/>
            <a:ext cx="3505200" cy="2005965"/>
            <a:chOff x="8153400" y="1524000"/>
            <a:chExt cx="3505200" cy="2005965"/>
          </a:xfrm>
        </p:grpSpPr>
        <p:sp>
          <p:nvSpPr>
            <p:cNvPr id="45" name="Rectangle 45"/>
            <p:cNvSpPr/>
            <p:nvPr/>
          </p:nvSpPr>
          <p:spPr>
            <a:xfrm>
              <a:off x="8153400" y="1524000"/>
              <a:ext cx="3505200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62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40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8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正则化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44000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数据可分时必须加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8406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64880" y="2129790"/>
              <a:ext cx="2266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目标改成 ℓ(Θ) − λ·Σθⱼ²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8406765" y="25279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64880" y="2465070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越大，参数被压得越小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8406765" y="28632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564880" y="2800350"/>
              <a:ext cx="2463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scikit-learn 默认就带 L₂ 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则，参数 C = 1/λ</a:t>
              </a:r>
            </a:p>
          </p:txBody>
        </p:sp>
      </p:grpSp>
      <p:grpSp>
        <p:nvGrpSpPr>
          <p:cNvPr id="62" name="c3-callout-2"/>
          <p:cNvGrpSpPr/>
          <p:nvPr/>
        </p:nvGrpSpPr>
        <p:grpSpPr>
          <a:xfrm>
            <a:off x="8153400" y="3720465"/>
            <a:ext cx="3505200" cy="1680210"/>
            <a:chOff x="8153400" y="3720465"/>
            <a:chExt cx="3505200" cy="1680210"/>
          </a:xfrm>
        </p:grpSpPr>
        <p:sp>
          <p:nvSpPr>
            <p:cNvPr id="57" name="Rectangle 57"/>
            <p:cNvSpPr/>
            <p:nvPr/>
          </p:nvSpPr>
          <p:spPr>
            <a:xfrm>
              <a:off x="8153400" y="3720465"/>
              <a:ext cx="3505200" cy="1680210"/>
            </a:xfrm>
            <a:prstGeom prst="roundRect">
              <a:avLst>
                <a:gd name="adj" fmla="val 680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358188" y="4460560"/>
              <a:ext cx="200023" cy="200023"/>
              <a:chOff x="8358188" y="4460560"/>
              <a:chExt cx="200023" cy="2000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358188" y="44605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491538" y="45272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8660130" y="4179570"/>
              <a:ext cx="2625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截距项 θ₀ 通常不参与正则化，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否则模型会被迫把基准概率往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0.5 拉。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3" name="Rectangle 6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补充页：源课件没有讲这三件事，但自己写代码训练逻辑回归时，出问题多半就出在这里。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98264" cy="3351847"/>
            <a:chOff x="667512" y="1835468"/>
            <a:chExt cx="43982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牛顿法求解极大值点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用二阶信息一步跨到位，比梯度上升快得多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牛顿迭代法求方程的根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506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ℓ′(Θ) = 0 转成求根问题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83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向量情形与 Hessian 矩阵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952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Fisher scoring 与适用范围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牛顿法求解极大值点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牛顿迭代法：用切线的零点逼近方程的根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892908" cy="264033"/>
            <a:chOff x="526542" y="1545907"/>
            <a:chExt cx="589290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892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要解 f(x) = 0。在当前点作切线，切线与 x 轴的交点就是下一个迭代点。</a:t>
              </a:r>
            </a:p>
          </p:txBody>
        </p:sp>
      </p:grpSp>
      <p:grpSp>
        <p:nvGrpSpPr>
          <p:cNvPr id="21" name="c1-graph-1"/>
          <p:cNvGrpSpPr/>
          <p:nvPr/>
        </p:nvGrpSpPr>
        <p:grpSpPr>
          <a:xfrm>
            <a:off x="1003935" y="2069782"/>
            <a:ext cx="4576762" cy="1749267"/>
            <a:chOff x="1003935" y="2069782"/>
            <a:chExt cx="4576762" cy="1749267"/>
          </a:xfrm>
        </p:grpSpPr>
        <p:sp>
          <p:nvSpPr>
            <p:cNvPr id="9" name="Freeform 9"/>
            <p:cNvSpPr/>
            <p:nvPr/>
          </p:nvSpPr>
          <p:spPr>
            <a:xfrm>
              <a:off x="1003935" y="3083242"/>
              <a:ext cx="4576762" cy="9525"/>
            </a:xfrm>
            <a:custGeom>
              <a:avLst/>
              <a:gdLst/>
              <a:ahLst/>
              <a:cxnLst/>
              <a:rect l="l" t="t" r="r" b="b"/>
              <a:pathLst>
                <a:path w="4576762" h="9525">
                  <a:moveTo>
                    <a:pt x="0" y="0"/>
                  </a:moveTo>
                  <a:lnTo>
                    <a:pt x="45767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28738" y="2136458"/>
              <a:ext cx="3819525" cy="958215"/>
            </a:xfrm>
            <a:custGeom>
              <a:avLst/>
              <a:gdLst/>
              <a:ahLst/>
              <a:cxnLst/>
              <a:rect l="l" t="t" r="r" b="b"/>
              <a:pathLst>
                <a:path w="3819525" h="958215">
                  <a:moveTo>
                    <a:pt x="0" y="958215"/>
                  </a:moveTo>
                  <a:lnTo>
                    <a:pt x="395288" y="946785"/>
                  </a:lnTo>
                  <a:lnTo>
                    <a:pt x="827722" y="921067"/>
                  </a:lnTo>
                  <a:lnTo>
                    <a:pt x="1260158" y="878205"/>
                  </a:lnTo>
                  <a:lnTo>
                    <a:pt x="1693545" y="812483"/>
                  </a:lnTo>
                  <a:lnTo>
                    <a:pt x="2125980" y="719138"/>
                  </a:lnTo>
                  <a:lnTo>
                    <a:pt x="2559368" y="594360"/>
                  </a:lnTo>
                  <a:lnTo>
                    <a:pt x="2991802" y="432435"/>
                  </a:lnTo>
                  <a:lnTo>
                    <a:pt x="3424238" y="227647"/>
                  </a:lnTo>
                  <a:lnTo>
                    <a:pt x="3819525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601402" y="2069782"/>
              <a:ext cx="1654492" cy="1050608"/>
            </a:xfrm>
            <a:custGeom>
              <a:avLst/>
              <a:gdLst/>
              <a:ahLst/>
              <a:cxnLst/>
              <a:rect l="l" t="t" r="r" b="b"/>
              <a:pathLst>
                <a:path w="1654492" h="1050608">
                  <a:moveTo>
                    <a:pt x="1654492" y="0"/>
                  </a:moveTo>
                  <a:lnTo>
                    <a:pt x="0" y="1050608"/>
                  </a:lnTo>
                </a:path>
              </a:pathLst>
            </a:custGeom>
            <a:noFill/>
            <a:ln w="17145">
              <a:solidFill>
                <a:srgbClr val="BBAADD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73655" y="2775585"/>
              <a:ext cx="1167765" cy="335280"/>
            </a:xfrm>
            <a:custGeom>
              <a:avLst/>
              <a:gdLst/>
              <a:ahLst/>
              <a:cxnLst/>
              <a:rect l="l" t="t" r="r" b="b"/>
              <a:pathLst>
                <a:path w="1167765" h="335280">
                  <a:moveTo>
                    <a:pt x="1167765" y="0"/>
                  </a:moveTo>
                  <a:lnTo>
                    <a:pt x="0" y="335280"/>
                  </a:lnTo>
                </a:path>
              </a:pathLst>
            </a:custGeom>
            <a:noFill/>
            <a:ln w="17145">
              <a:solidFill>
                <a:srgbClr val="BBAADD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60458" y="2891790"/>
              <a:ext cx="9525" cy="100012"/>
            </a:xfrm>
            <a:custGeom>
              <a:avLst/>
              <a:gdLst/>
              <a:ahLst/>
              <a:cxnLst/>
              <a:rect l="l" t="t" r="r" b="b"/>
              <a:pathLst>
                <a:path w="9525" h="100012">
                  <a:moveTo>
                    <a:pt x="0" y="10001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5186362" y="2205990"/>
              <a:ext cx="9525" cy="785813"/>
            </a:xfrm>
            <a:custGeom>
              <a:avLst/>
              <a:gdLst/>
              <a:ahLst/>
              <a:cxnLst/>
              <a:rect l="l" t="t" r="r" b="b"/>
              <a:pathLst>
                <a:path w="9525" h="785813">
                  <a:moveTo>
                    <a:pt x="0" y="78581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98342" y="2137886"/>
              <a:ext cx="4615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y = f(x)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17851" y="314277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02423" y="314277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28968" y="314277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64068" y="3142774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36597" y="3515201"/>
              <a:ext cx="2003806" cy="3038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118"/>
                </a:lnSpc>
              </a:pPr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浅色直线是切线，它与 x 轴的交点就是下一</a:t>
              </a:r>
              <a:br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 xₖ₊₁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955732"/>
            <a:ext cx="5410200" cy="1748790"/>
            <a:chOff x="533400" y="3955732"/>
            <a:chExt cx="5410200" cy="1748790"/>
          </a:xfrm>
        </p:grpSpPr>
        <p:sp>
          <p:nvSpPr>
            <p:cNvPr id="22" name="Rectangle 22"/>
            <p:cNvSpPr/>
            <p:nvPr/>
          </p:nvSpPr>
          <p:spPr>
            <a:xfrm>
              <a:off x="533400" y="3955732"/>
              <a:ext cx="5410200" cy="1748790"/>
            </a:xfrm>
            <a:prstGeom prst="roundRect">
              <a:avLst>
                <a:gd name="adj" fmla="val 762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4375" y="413670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8944" y="416956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28"/>
                <p:cNvSpPr txBox="1">
                  <a:spLocks noGrp="1"/>
                </p:cNvSpPr>
                <p:nvPr/>
              </p:nvSpPr>
              <p:spPr>
                <a:xfrm>
                  <a:off x="714375" y="4455795"/>
                  <a:ext cx="504825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f'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709041" y="5042535"/>
              <a:ext cx="472459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来历：过点 (xₖ, f(xₖ)) 的切线是 y = f(xₖ) + f′(xₖ)(x − xₖ)，令 y = 0 解出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就是上式。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6248400" y="1928812"/>
            <a:ext cx="5410200" cy="3775710"/>
            <a:chOff x="6248400" y="1928812"/>
            <a:chExt cx="5410200" cy="3775710"/>
          </a:xfrm>
        </p:grpSpPr>
        <p:sp>
          <p:nvSpPr>
            <p:cNvPr id="28" name="Rectangle 28"/>
            <p:cNvSpPr/>
            <p:nvPr/>
          </p:nvSpPr>
          <p:spPr>
            <a:xfrm>
              <a:off x="6248400" y="1928812"/>
              <a:ext cx="5410200" cy="3775710"/>
            </a:xfrm>
            <a:prstGeom prst="roundRect">
              <a:avLst>
                <a:gd name="adj" fmla="val 35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2062162"/>
              <a:ext cx="47625" cy="35090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67475" y="210978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3246" y="21426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09626" y="2149316"/>
              <a:ext cx="11278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用牛顿法算 √2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0998" y="2465546"/>
              <a:ext cx="43370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f(x) = x² − 2，f′(x) = 2x，迭代式化简为 xₖ₊₁ = (xₖ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2/xₖ)/2。从 x₀ = 2 出发：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7475" y="2972752"/>
              <a:ext cx="501015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71858" y="30899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35053" y="30899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16896" y="30899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与真值的差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1858" y="34718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9097" y="3471862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2.000000000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37044" y="347186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6×10⁻¹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7475" y="3730942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7475" y="3735705"/>
              <a:ext cx="501015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71858" y="38528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89097" y="3852862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1.500000000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37044" y="385286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9×10⁻²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7475" y="4111942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71858" y="42338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89097" y="4233862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1.416666667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37044" y="423386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2×10⁻³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7475" y="4493895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7475" y="4498658"/>
              <a:ext cx="501015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71858" y="4615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89097" y="4615815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1.414215686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37044" y="461581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2×10⁻⁶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7475" y="4874895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71858" y="49968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89097" y="4996815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1.414213562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13362" y="4996815"/>
              <a:ext cx="724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小于 10⁻¹⁵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7475" y="2972752"/>
              <a:ext cx="501015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64730" y="297275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668828" y="297275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62141" y="5359718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正确位数大致每步翻倍，这就是二阶收敛。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65177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f′(xₖ) 接近 0 时分母很小，迭代点会跳到很远的地方，这是牛顿法失效的典型情形。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81998" cy="909257"/>
            <a:chOff x="520446" y="342900"/>
            <a:chExt cx="53819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牛顿法求解极大值点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819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求极大值点就是求 ℓ′(Θ) = 0 的根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llout-1"/>
          <p:cNvGrpSpPr/>
          <p:nvPr/>
        </p:nvGrpSpPr>
        <p:grpSpPr>
          <a:xfrm>
            <a:off x="533400" y="1524000"/>
            <a:ext cx="5410200" cy="978218"/>
            <a:chOff x="533400" y="1524000"/>
            <a:chExt cx="5410200" cy="9782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38188" y="1912620"/>
              <a:ext cx="200026" cy="200025"/>
              <a:chOff x="738188" y="1912620"/>
              <a:chExt cx="200026" cy="2000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38188" y="19126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77926" y="19570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12642" y="20681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40892" y="1669732"/>
              <a:ext cx="439426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令 f(Θ) = ℓ′(Θ)，求极大值点就变成了求 f 的根，直接套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上一页的公式；Θ 是向量时一阶导换成梯度，二阶导换成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Hessian。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671762"/>
            <a:ext cx="5410200" cy="1226820"/>
            <a:chOff x="533400" y="2671762"/>
            <a:chExt cx="5410200" cy="1226820"/>
          </a:xfrm>
        </p:grpSpPr>
        <p:sp>
          <p:nvSpPr>
            <p:cNvPr id="14" name="Rectangle 14"/>
            <p:cNvSpPr/>
            <p:nvPr/>
          </p:nvSpPr>
          <p:spPr>
            <a:xfrm>
              <a:off x="533400" y="2671762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090" y="285845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4659" y="289131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一维情形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149"/>
                <p:cNvSpPr txBox="1">
                  <a:spLocks noGrp="1"/>
                </p:cNvSpPr>
                <p:nvPr/>
              </p:nvSpPr>
              <p:spPr>
                <a:xfrm>
                  <a:off x="720090" y="3180398"/>
                  <a:ext cx="503682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:=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ℓ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'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ℓ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''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4" name="c1-card-3"/>
          <p:cNvGrpSpPr/>
          <p:nvPr/>
        </p:nvGrpSpPr>
        <p:grpSpPr>
          <a:xfrm>
            <a:off x="533400" y="4068128"/>
            <a:ext cx="5410200" cy="1640205"/>
            <a:chOff x="533400" y="4068128"/>
            <a:chExt cx="5410200" cy="1640205"/>
          </a:xfrm>
        </p:grpSpPr>
        <p:sp>
          <p:nvSpPr>
            <p:cNvPr id="19" name="Rectangle 19"/>
            <p:cNvSpPr/>
            <p:nvPr/>
          </p:nvSpPr>
          <p:spPr>
            <a:xfrm>
              <a:off x="533400" y="4068128"/>
              <a:ext cx="5410200" cy="1640205"/>
            </a:xfrm>
            <a:prstGeom prst="roundRect">
              <a:avLst>
                <a:gd name="adj" fmla="val 813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4254818"/>
              <a:ext cx="818198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8652" y="4287679"/>
              <a:ext cx="662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 为向量时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150"/>
                <p:cNvSpPr txBox="1">
                  <a:spLocks noGrp="1"/>
                </p:cNvSpPr>
                <p:nvPr/>
              </p:nvSpPr>
              <p:spPr>
                <a:xfrm>
                  <a:off x="720090" y="4576762"/>
                  <a:ext cx="503682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Θ:=Θ−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sub>
                        </m:sSub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51"/>
                <p:cNvSpPr txBox="1">
                  <a:spLocks noGrp="1"/>
                </p:cNvSpPr>
                <p:nvPr/>
              </p:nvSpPr>
              <p:spPr>
                <a:xfrm>
                  <a:off x="720090" y="5041582"/>
                  <a:ext cx="503682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∂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kv-1"/>
          <p:cNvGrpSpPr/>
          <p:nvPr/>
        </p:nvGrpSpPr>
        <p:grpSpPr>
          <a:xfrm>
            <a:off x="6241542" y="1545907"/>
            <a:ext cx="5417058" cy="1949006"/>
            <a:chOff x="6241542" y="1545907"/>
            <a:chExt cx="5417058" cy="1949006"/>
          </a:xfrm>
        </p:grpSpPr>
        <p:sp>
          <p:nvSpPr>
            <p:cNvPr id="25" name="TextBox 25"/>
            <p:cNvSpPr txBox="1"/>
            <p:nvPr/>
          </p:nvSpPr>
          <p:spPr>
            <a:xfrm>
              <a:off x="6241542" y="1545907"/>
              <a:ext cx="568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∇ℓ(Θ)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70330" y="1545907"/>
              <a:ext cx="330555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ℓ(Θ) 对各个 θᵢ 的偏导数组成的向量，长度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n+1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20859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41542" y="219265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70330" y="2192655"/>
              <a:ext cx="342557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Hessian 矩阵，二阶偏导数组成的方阵，大小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(n+1)×(n+1)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7327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41542" y="2838450"/>
              <a:ext cx="1534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Newton-Raphson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70330" y="28384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这套迭代格式的正式名称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31251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1542" y="3230880"/>
              <a:ext cx="1345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Fisher scoring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0330" y="323088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把它用于最大化逻辑回归对数似然时的叫法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248400" y="3611880"/>
            <a:ext cx="5410200" cy="2096452"/>
            <a:chOff x="6248400" y="3611880"/>
            <a:chExt cx="5410200" cy="2096452"/>
          </a:xfrm>
        </p:grpSpPr>
        <p:sp>
          <p:nvSpPr>
            <p:cNvPr id="37" name="Rectangle 37"/>
            <p:cNvSpPr/>
            <p:nvPr/>
          </p:nvSpPr>
          <p:spPr>
            <a:xfrm>
              <a:off x="6248400" y="3611880"/>
              <a:ext cx="5410200" cy="2096452"/>
            </a:xfrm>
            <a:prstGeom prst="roundRect">
              <a:avLst>
                <a:gd name="adj" fmla="val 63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3745230"/>
              <a:ext cx="47625" cy="18297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3190" y="379857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39408" y="383143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逻辑回归的具体形式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10322" y="3833812"/>
              <a:ext cx="2093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梯度与 Hessian 都有闭式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ormula152"/>
                <p:cNvSpPr txBox="1">
                  <a:spLocks noGrp="1"/>
                </p:cNvSpPr>
                <p:nvPr/>
              </p:nvSpPr>
              <p:spPr>
                <a:xfrm>
                  <a:off x="6473190" y="4137660"/>
                  <a:ext cx="4998720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ℓ=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m:rPr>
                                <m:sty m:val="bi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SX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3" name="TextBox 43"/>
            <p:cNvSpPr txBox="1"/>
            <p:nvPr/>
          </p:nvSpPr>
          <p:spPr>
            <a:xfrm>
              <a:off x="6467475" y="4563904"/>
              <a:ext cx="45986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 是对角矩阵，第 i 个对角元为 h⁽ⁱ⁾(1 − h⁽ⁱ⁾)。H 负定，所以 ℓ 是凹函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数，驻点即全局最大。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67475" y="5032534"/>
              <a:ext cx="3789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这个写法在统计软件里叫迭代重加权最小二乘（IRLS）。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6" name="Rectangle 4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8373"/>
              <a:ext cx="92550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牛顿法每步都在当前点用一条抛物线去近似 ℓ，然后直接跳到抛物线的顶点；梯度法只用斜率，不知道该迈多大步。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牛顿法求解极大值点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例题：牛顿法三步求出最大似然解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64978" cy="264033"/>
            <a:chOff x="526542" y="1545907"/>
            <a:chExt cx="736497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64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只含截距的模型 h = g(θ)。4 个样本里有 1 个正例，理论解是 θ* = ln(1/3) ≈ −1.098612。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28812"/>
            <a:ext cx="5626418" cy="1776412"/>
            <a:chOff x="533400" y="1928812"/>
            <a:chExt cx="5626418" cy="177641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776412"/>
            </a:xfrm>
            <a:prstGeom prst="roundRect">
              <a:avLst>
                <a:gd name="adj" fmla="val 75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5097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5843" y="21426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先写出两个导数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449354"/>
              <a:ext cx="46215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对数似然 ℓ(θ) = 1·log g(θ) + 3·log(1 − g(θ)) = θ − 4 log(1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eᶿ)，于是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59"/>
                <p:cNvSpPr txBox="1">
                  <a:spLocks noGrp="1"/>
                </p:cNvSpPr>
                <p:nvPr/>
              </p:nvSpPr>
              <p:spPr>
                <a:xfrm>
                  <a:off x="752475" y="2956560"/>
                  <a:ext cx="5226368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ℓ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4g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ℓ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''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47141" y="3359468"/>
              <a:ext cx="43854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ℓ′ = 0 给出 g(θ*) = 1/4，即正例的比例，这正是直觉上该有的答案。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3869055"/>
            <a:ext cx="5626418" cy="1733550"/>
            <a:chOff x="533400" y="3869055"/>
            <a:chExt cx="5626418" cy="1733550"/>
          </a:xfrm>
        </p:grpSpPr>
        <p:sp>
          <p:nvSpPr>
            <p:cNvPr id="17" name="Rectangle 17"/>
            <p:cNvSpPr/>
            <p:nvPr/>
          </p:nvSpPr>
          <p:spPr>
            <a:xfrm>
              <a:off x="533400" y="3869055"/>
              <a:ext cx="5626418" cy="1733550"/>
            </a:xfrm>
            <a:prstGeom prst="roundRect">
              <a:avLst>
                <a:gd name="adj" fmla="val 659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636772"/>
              <a:ext cx="200023" cy="200023"/>
              <a:chOff x="738188" y="4636772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6367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1538" y="47034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1273" y="4529614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只有截距时，最大似然解就是样本中正例的频率。任何逻辑回归代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码都可以用这个特例自查。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464618" y="1928812"/>
            <a:ext cx="5193982" cy="1906905"/>
            <a:chOff x="6464618" y="1928812"/>
            <a:chExt cx="5193982" cy="1906905"/>
          </a:xfrm>
        </p:grpSpPr>
        <p:sp>
          <p:nvSpPr>
            <p:cNvPr id="23" name="Rectangle 23"/>
            <p:cNvSpPr/>
            <p:nvPr/>
          </p:nvSpPr>
          <p:spPr>
            <a:xfrm>
              <a:off x="6464618" y="1928812"/>
              <a:ext cx="5193982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29936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75911" y="204597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48853" y="2045970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g(θₖ)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61911" y="204597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ℓ′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52523" y="204597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ℓ″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29936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46569" y="242697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19699" y="242697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71440" y="242697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−1.0000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62053" y="242697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−1.0000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2687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64618" y="2691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29936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07697" y="280892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−1.000000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19699" y="2808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0.2689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71440" y="2808923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−0.0758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62053" y="2808923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−0.7864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3068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29936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07697" y="318992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−1.096339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19699" y="3189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71440" y="3189923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−0.0017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62053" y="3189923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−0.7509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449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3453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29936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098030" y="3463290"/>
              <a:ext cx="133159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407697" y="357187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−1.098611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19699" y="357187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71440" y="357187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−0.0000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862053" y="357187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−0.7500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1928812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08374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43343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47261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61466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steps-2"/>
          <p:cNvGrpSpPr/>
          <p:nvPr/>
        </p:nvGrpSpPr>
        <p:grpSpPr>
          <a:xfrm>
            <a:off x="6464618" y="4010025"/>
            <a:ext cx="3244386" cy="1596009"/>
            <a:chOff x="6464618" y="4010025"/>
            <a:chExt cx="3244386" cy="1596009"/>
          </a:xfrm>
        </p:grpSpPr>
        <p:sp>
          <p:nvSpPr>
            <p:cNvPr id="61" name="Rectangle 61"/>
            <p:cNvSpPr/>
            <p:nvPr/>
          </p:nvSpPr>
          <p:spPr>
            <a:xfrm>
              <a:off x="6597968" y="41529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6464618" y="40100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58241" y="4083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464618" y="456247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58241" y="46362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64618" y="511587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58241" y="51896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77241" y="4040029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78384" y="429482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θ₁ = 0 − (−1)/(−1) = −1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77241" y="4593431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78384" y="4848225"/>
              <a:ext cx="28306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θ₂ = −1 − (−0.0758)/(−0.7864) = −1.0963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77241" y="5146834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78384" y="5400675"/>
              <a:ext cx="2286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θ₃ = −1.0963 − 0.0023 = −1.09861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5" name="Rectangle 7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1273" y="6039326"/>
              <a:ext cx="70583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同一个问题用 η = 0.1 的梯度上升要迭代上百轮才能达到同样精度。结果已用 Python 复核。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牛顿法求解极大值点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牛顿法与梯度上升怎么选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5842635" cy="2840355"/>
            <a:chOff x="533400" y="1524000"/>
            <a:chExt cx="5842635" cy="2840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446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120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梯度上升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0496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牛顿法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用到的信息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19288" y="20540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一阶导（梯度）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97668" y="2054066"/>
              <a:ext cx="16140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一阶加二阶（Hessian）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每步代价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19288" y="2459831"/>
              <a:ext cx="472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97668" y="2459831"/>
              <a:ext cx="21091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O(Nn² + n³)，要解线性方程组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收敛速度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19288" y="286559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线性，需要几百到几千轮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07180" y="2750820"/>
              <a:ext cx="225933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97668" y="286559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二阶，通常十轮以内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271361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η 的依赖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19288" y="32713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必须手工调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97668" y="32713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没有学习率可调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36771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特征缩放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19288" y="367712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不做就走得很慢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97668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基本不受影响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538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95859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4082891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参数量 n 大时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19288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仍然可用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107180" y="3968115"/>
              <a:ext cx="2259330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197668" y="4082891"/>
              <a:ext cx="1127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n³ 的代价吃不消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584263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81451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09289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llout-2"/>
          <p:cNvGrpSpPr/>
          <p:nvPr/>
        </p:nvGrpSpPr>
        <p:grpSpPr>
          <a:xfrm>
            <a:off x="533400" y="4539615"/>
            <a:ext cx="5842635" cy="978218"/>
            <a:chOff x="533400" y="4539615"/>
            <a:chExt cx="5842635" cy="978218"/>
          </a:xfrm>
        </p:grpSpPr>
        <p:sp>
          <p:nvSpPr>
            <p:cNvPr id="43" name="Rectangle 43"/>
            <p:cNvSpPr/>
            <p:nvPr/>
          </p:nvSpPr>
          <p:spPr>
            <a:xfrm>
              <a:off x="533400" y="4539615"/>
              <a:ext cx="5842635" cy="978218"/>
            </a:xfrm>
            <a:prstGeom prst="roundRect">
              <a:avLst>
                <a:gd name="adj" fmla="val 1168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4928237"/>
              <a:ext cx="200023" cy="200023"/>
              <a:chOff x="738188" y="492823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49282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49949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4685348"/>
              <a:ext cx="484003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课件的结论：牛顿法比批量梯度下降法快，当参数量 n 不大时比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较有效。n 很大时用拟牛顿法（L-BFGS），只存梯度的历史来近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似 H⁻¹。</a:t>
              </a:r>
            </a:p>
          </p:txBody>
        </p:sp>
      </p:grpSp>
      <p:grpSp>
        <p:nvGrpSpPr>
          <p:cNvPr id="52" name="c2-code-1"/>
          <p:cNvGrpSpPr/>
          <p:nvPr/>
        </p:nvGrpSpPr>
        <p:grpSpPr>
          <a:xfrm>
            <a:off x="6680835" y="1524000"/>
            <a:ext cx="4977765" cy="1308735"/>
            <a:chOff x="6680835" y="1524000"/>
            <a:chExt cx="4977765" cy="1308735"/>
          </a:xfrm>
        </p:grpSpPr>
        <p:sp>
          <p:nvSpPr>
            <p:cNvPr id="49" name="Rectangle 49"/>
            <p:cNvSpPr/>
            <p:nvPr/>
          </p:nvSpPr>
          <p:spPr>
            <a:xfrm>
              <a:off x="6680835" y="1524000"/>
              <a:ext cx="4977765" cy="1308735"/>
            </a:xfrm>
            <a:prstGeom prst="roundRect">
              <a:avLst>
                <a:gd name="adj" fmla="val 72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09232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牛顿法一步的写法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09422" y="1935194"/>
              <a:ext cx="2803525" cy="813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 = sigmoid(X @ theta)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grad = X.T @ (y - h)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梯度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 = np.diag(h * (1 - h))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对角权重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 = -X.T @ S @ X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Hessian，负定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theta -= np.linalg.solve(H, grad)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680835" y="3007995"/>
            <a:ext cx="4977765" cy="2509838"/>
            <a:chOff x="6680835" y="3007995"/>
            <a:chExt cx="4977765" cy="2509838"/>
          </a:xfrm>
        </p:grpSpPr>
        <p:sp>
          <p:nvSpPr>
            <p:cNvPr id="53" name="Rectangle 53"/>
            <p:cNvSpPr/>
            <p:nvPr/>
          </p:nvSpPr>
          <p:spPr>
            <a:xfrm>
              <a:off x="6680835" y="3007995"/>
              <a:ext cx="4977765" cy="2509838"/>
            </a:xfrm>
            <a:prstGeom prst="roundRect">
              <a:avLst>
                <a:gd name="adj" fmla="val 53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90360" y="3141345"/>
              <a:ext cx="47625" cy="22431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11340" y="32004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8780" y="32346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两个坑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919912" y="361283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75932" y="355663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奇异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：数据完全可分时 h 趋于 0 或 1，S 趋于零矩阵，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不可逆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919912" y="417290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75932" y="411670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远离最优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：初值太差时牛顿法可能跑飞，实践里先跑几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轮梯度上升再切过去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2" name="Rectangle 6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6023610"/>
              <a:ext cx="8511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scikit-learn 的 LogisticRegression 默认求解器是 lbfgs，属于拟牛顿法，就是这一路思想的工程实现。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35186" cy="3351847"/>
            <a:chOff x="667512" y="1835468"/>
            <a:chExt cx="583518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多分类与动手实践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8252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两个二分类的拼装办法，以及一个直接输出 k 类概率的模型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162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One-vs-Rest 一对其余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90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One-vs-One 一对一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14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Softmax 回归与数值例题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在鸢尾花数据集上跑一遍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85209" cy="909257"/>
            <a:chOff x="520446" y="342900"/>
            <a:chExt cx="54852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多分类与动手实践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852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把多分类拆成二分类：OvR 与 OvO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flow-1"/>
          <p:cNvGrpSpPr/>
          <p:nvPr/>
        </p:nvGrpSpPr>
        <p:grpSpPr>
          <a:xfrm>
            <a:off x="666750" y="1584960"/>
            <a:ext cx="5359717" cy="1811656"/>
            <a:chOff x="666750" y="1584960"/>
            <a:chExt cx="5359717" cy="1811656"/>
          </a:xfrm>
        </p:grpSpPr>
        <p:sp>
          <p:nvSpPr>
            <p:cNvPr id="7" name="Freeform 7"/>
            <p:cNvSpPr/>
            <p:nvPr/>
          </p:nvSpPr>
          <p:spPr>
            <a:xfrm>
              <a:off x="2275522" y="186118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37448" y="18087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471612" y="2137410"/>
              <a:ext cx="1875472" cy="107632"/>
            </a:xfrm>
            <a:custGeom>
              <a:avLst/>
              <a:gdLst/>
              <a:ahLst/>
              <a:cxnLst/>
              <a:rect l="l" t="t" r="r" b="b"/>
              <a:pathLst>
                <a:path w="1875472" h="107632">
                  <a:moveTo>
                    <a:pt x="0" y="0"/>
                  </a:moveTo>
                  <a:lnTo>
                    <a:pt x="0" y="105727"/>
                  </a:lnTo>
                  <a:lnTo>
                    <a:pt x="1875472" y="105727"/>
                  </a:lnTo>
                  <a:lnTo>
                    <a:pt x="1875472" y="10763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94698" y="22450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71612" y="2137410"/>
              <a:ext cx="1875472" cy="782002"/>
            </a:xfrm>
            <a:custGeom>
              <a:avLst/>
              <a:gdLst/>
              <a:ahLst/>
              <a:cxnLst/>
              <a:rect l="l" t="t" r="r" b="b"/>
              <a:pathLst>
                <a:path w="1875472" h="782002">
                  <a:moveTo>
                    <a:pt x="0" y="0"/>
                  </a:moveTo>
                  <a:lnTo>
                    <a:pt x="0" y="443865"/>
                  </a:lnTo>
                  <a:lnTo>
                    <a:pt x="1875472" y="443865"/>
                  </a:lnTo>
                  <a:lnTo>
                    <a:pt x="1875472" y="78200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94698" y="29194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47085" y="2047875"/>
              <a:ext cx="1875472" cy="197167"/>
            </a:xfrm>
            <a:custGeom>
              <a:avLst/>
              <a:gdLst/>
              <a:ahLst/>
              <a:cxnLst/>
              <a:rect l="l" t="t" r="r" b="b"/>
              <a:pathLst>
                <a:path w="1875472" h="197167">
                  <a:moveTo>
                    <a:pt x="0" y="0"/>
                  </a:moveTo>
                  <a:lnTo>
                    <a:pt x="0" y="150495"/>
                  </a:lnTo>
                  <a:lnTo>
                    <a:pt x="1875472" y="150495"/>
                  </a:lnTo>
                  <a:lnTo>
                    <a:pt x="1875472" y="1971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70170" y="22450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150995" y="253555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312920" y="24841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1435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347085" y="2827020"/>
              <a:ext cx="1875472" cy="197167"/>
            </a:xfrm>
            <a:custGeom>
              <a:avLst/>
              <a:gdLst/>
              <a:ahLst/>
              <a:cxnLst/>
              <a:rect l="l" t="t" r="r" b="b"/>
              <a:pathLst>
                <a:path w="1875472" h="197167">
                  <a:moveTo>
                    <a:pt x="0" y="197167"/>
                  </a:moveTo>
                  <a:lnTo>
                    <a:pt x="0" y="46672"/>
                  </a:lnTo>
                  <a:lnTo>
                    <a:pt x="1875472" y="46672"/>
                  </a:lnTo>
                  <a:lnTo>
                    <a:pt x="187547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70170" y="27222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66750" y="1584960"/>
              <a:ext cx="1608772" cy="552450"/>
            </a:xfrm>
            <a:custGeom>
              <a:avLst/>
              <a:gdLst/>
              <a:ahLst/>
              <a:cxnLst/>
              <a:rect l="l" t="t" r="r" b="b"/>
              <a:pathLst>
                <a:path w="1608772" h="552450">
                  <a:moveTo>
                    <a:pt x="133350" y="0"/>
                  </a:moveTo>
                  <a:lnTo>
                    <a:pt x="1608772" y="0"/>
                  </a:lnTo>
                  <a:lnTo>
                    <a:pt x="1475422" y="552450"/>
                  </a:lnTo>
                  <a:lnTo>
                    <a:pt x="0" y="5524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542222" y="1675448"/>
              <a:ext cx="16087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542222" y="2349818"/>
              <a:ext cx="16087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542222" y="3024188"/>
              <a:ext cx="160877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17695" y="2349818"/>
              <a:ext cx="1608772" cy="37242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02912" y="1698307"/>
              <a:ext cx="537400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类数据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/ B / 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66250" y="1787842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对其余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66250" y="2462212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对其余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66250" y="3137535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对其余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1819" y="246221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取概率最大的一类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3712845"/>
            <a:ext cx="5626418" cy="2387918"/>
            <a:chOff x="533400" y="3712845"/>
            <a:chExt cx="5626418" cy="2387918"/>
          </a:xfrm>
        </p:grpSpPr>
        <p:sp>
          <p:nvSpPr>
            <p:cNvPr id="30" name="Rectangle 30"/>
            <p:cNvSpPr/>
            <p:nvPr/>
          </p:nvSpPr>
          <p:spPr>
            <a:xfrm>
              <a:off x="533400" y="3712845"/>
              <a:ext cx="5626418" cy="2387918"/>
            </a:xfrm>
            <a:prstGeom prst="roundRect">
              <a:avLst>
                <a:gd name="adj" fmla="val 55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3846195"/>
              <a:ext cx="47625" cy="212121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2475" y="3893820"/>
              <a:ext cx="10267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2587" y="3926681"/>
              <a:ext cx="8865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One-vs-Rest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87093" y="3933349"/>
              <a:ext cx="22283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一对其余，也叫 One-vs-All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5998" y="4250531"/>
              <a:ext cx="50360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把一个多分类的问题变成多个二分类的问题：训练第 j 个分类器时，把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j 类当正例，其余全部当反例。k 个类别训练 k 个分类器。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464618" y="1524000"/>
            <a:ext cx="5193982" cy="1403032"/>
            <a:chOff x="6464618" y="1524000"/>
            <a:chExt cx="5193982" cy="1403032"/>
          </a:xfrm>
        </p:grpSpPr>
        <p:sp>
          <p:nvSpPr>
            <p:cNvPr id="37" name="Rectangle 37"/>
            <p:cNvSpPr/>
            <p:nvPr/>
          </p:nvSpPr>
          <p:spPr>
            <a:xfrm>
              <a:off x="6464618" y="1524000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83692" y="1704975"/>
              <a:ext cx="98012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4849" y="1737836"/>
              <a:ext cx="8387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One-vs-One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72591" y="17445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77216" y="2061686"/>
              <a:ext cx="43533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每次只选两类数据训练一个二分类器，k 个类别要训练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k(k−1)/2 个。预测时每个分类器投一票，得票最多的类别胜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出。</a:t>
              </a:r>
            </a:p>
          </p:txBody>
        </p:sp>
      </p:grpSp>
      <p:grpSp>
        <p:nvGrpSpPr>
          <p:cNvPr id="70" name="c2-table-2"/>
          <p:cNvGrpSpPr/>
          <p:nvPr/>
        </p:nvGrpSpPr>
        <p:grpSpPr>
          <a:xfrm>
            <a:off x="6464618" y="3091815"/>
            <a:ext cx="5193982" cy="1906905"/>
            <a:chOff x="6464618" y="3091815"/>
            <a:chExt cx="5193982" cy="1906905"/>
          </a:xfrm>
        </p:grpSpPr>
        <p:sp>
          <p:nvSpPr>
            <p:cNvPr id="44" name="Rectangle 44"/>
            <p:cNvSpPr/>
            <p:nvPr/>
          </p:nvSpPr>
          <p:spPr>
            <a:xfrm>
              <a:off x="6464618" y="3091815"/>
              <a:ext cx="5193982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18757" y="320897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45149" y="3208973"/>
              <a:ext cx="949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One-vs-Rest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96728" y="3208973"/>
              <a:ext cx="898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One-vs-One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59296" y="359092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分类器个数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02296" y="3590925"/>
              <a:ext cx="1247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k（k=10 时 10 个）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27311" y="3590925"/>
              <a:ext cx="1791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k(k−1)/2（k=10 时 45 个）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38500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64618" y="3854768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59296" y="39719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每个的训练集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02296" y="39719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全部样本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27311" y="397192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只有那两类的样本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42310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59296" y="43538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类别不平衡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617142" y="4245292"/>
              <a:ext cx="200691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702296" y="43538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正例远少于反例，明显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642158" y="4245292"/>
              <a:ext cx="200691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727311" y="43538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两类样本量相当，轻微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46129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64618" y="4617720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59296" y="47348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总训练开销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02296" y="47348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分类器少但每个都大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727311" y="47348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分类器多但每个都小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64618" y="3091815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602855" y="309181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627870" y="309181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callout-3"/>
          <p:cNvGrpSpPr/>
          <p:nvPr/>
        </p:nvGrpSpPr>
        <p:grpSpPr>
          <a:xfrm>
            <a:off x="6464618" y="5163502"/>
            <a:ext cx="5193982" cy="937260"/>
            <a:chOff x="6464618" y="5163502"/>
            <a:chExt cx="5193982" cy="937260"/>
          </a:xfrm>
        </p:grpSpPr>
        <p:sp>
          <p:nvSpPr>
            <p:cNvPr id="71" name="Rectangle 71"/>
            <p:cNvSpPr/>
            <p:nvPr/>
          </p:nvSpPr>
          <p:spPr>
            <a:xfrm>
              <a:off x="6464618" y="5163502"/>
              <a:ext cx="5193982" cy="937260"/>
            </a:xfrm>
            <a:prstGeom prst="roundRect">
              <a:avLst>
                <a:gd name="adj" fmla="val 12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669405" y="5532120"/>
              <a:ext cx="200026" cy="200026"/>
              <a:chOff x="6669405" y="5532120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669405" y="55321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769418" y="55987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758305" y="56321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972491" y="5308759"/>
              <a:ext cx="429641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两种拆法都可能出现矛盾区域：某个样本被多个分类器同时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认领或者都不认领。用概率大小或票数来裁决。Softmax 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根上避开了这个问题。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83688" cy="909257"/>
            <a:chOff x="520446" y="342900"/>
            <a:chExt cx="64836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多分类与动手实践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836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Softmax 回归：一次给出 k 个类别的概率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474466" cy="264033"/>
            <a:chOff x="526542" y="1545907"/>
            <a:chExt cx="647446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474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输入数据有 k 个类别，即 yᵢ ∈ {1, 2, …, k}，直接估算样本归属每一类的概率。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28812"/>
            <a:ext cx="5410200" cy="2338388"/>
            <a:chOff x="533400" y="1928812"/>
            <a:chExt cx="5410200" cy="233838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338388"/>
            </a:xfrm>
            <a:prstGeom prst="roundRect">
              <a:avLst>
                <a:gd name="adj" fmla="val 570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70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80350" y="214931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每类一组参数，指数后归一化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66"/>
                <p:cNvSpPr txBox="1">
                  <a:spLocks noGrp="1"/>
                </p:cNvSpPr>
                <p:nvPr/>
              </p:nvSpPr>
              <p:spPr>
                <a:xfrm>
                  <a:off x="714375" y="2445068"/>
                  <a:ext cx="504825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∣</m:t>
                            </m:r>
                            <m:sSub>
                              <m:e>
                                <m:r>
                                  <m:rPr>
                                    <m:sty m:val="bi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sSub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  <m:sup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bSup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sup>
                            </m:sSup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  <m:e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sSub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l</m:t>
                                        </m:r>
                                      </m:sub>
                                      <m:sup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bSup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Ellipse 14"/>
            <p:cNvSpPr/>
            <p:nvPr/>
          </p:nvSpPr>
          <p:spPr>
            <a:xfrm>
              <a:off x="723900" y="316515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9348" y="3112294"/>
              <a:ext cx="46134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分子取指数保证为正，分母是全部 k 项之和，保证 k 个概率相加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 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369284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9348" y="3640931"/>
              <a:ext cx="3553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2 时它退化成逻辑回归，两者不是两个模型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041" y="3921443"/>
              <a:ext cx="4149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输出是一个长度为 k 的概率向量 h_Θ(xᵢ)，第 j 个分量就是上式。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431982"/>
            <a:ext cx="5410200" cy="1230630"/>
            <a:chOff x="533400" y="4431982"/>
            <a:chExt cx="5410200" cy="1230630"/>
          </a:xfrm>
        </p:grpSpPr>
        <p:sp>
          <p:nvSpPr>
            <p:cNvPr id="20" name="Rectangle 20"/>
            <p:cNvSpPr/>
            <p:nvPr/>
          </p:nvSpPr>
          <p:spPr>
            <a:xfrm>
              <a:off x="533400" y="4431982"/>
              <a:ext cx="5410200" cy="1230630"/>
            </a:xfrm>
            <a:prstGeom prst="roundRect">
              <a:avLst>
                <a:gd name="adj" fmla="val 928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4943593"/>
              <a:ext cx="224134" cy="192560"/>
              <a:chOff x="726129" y="4943593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0139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49435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0917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1273" y="4841081"/>
              <a:ext cx="44752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实现时先把 k 个 z 同时减去它们的最大值再取指数，否则 z 稍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大就会指数溢出。结果不变，因为分子分母同乘了一个常数。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248400" y="1928812"/>
            <a:ext cx="5410200" cy="2866072"/>
            <a:chOff x="6248400" y="1928812"/>
            <a:chExt cx="5410200" cy="2866072"/>
          </a:xfrm>
        </p:grpSpPr>
        <p:sp>
          <p:nvSpPr>
            <p:cNvPr id="27" name="Rectangle 27"/>
            <p:cNvSpPr/>
            <p:nvPr/>
          </p:nvSpPr>
          <p:spPr>
            <a:xfrm>
              <a:off x="6248400" y="1928812"/>
              <a:ext cx="5410200" cy="2866072"/>
            </a:xfrm>
            <a:prstGeom prst="roundRect">
              <a:avLst>
                <a:gd name="adj" fmla="val 46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2062162"/>
              <a:ext cx="47625" cy="25993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67475" y="210978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246" y="21426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09626" y="2149316"/>
              <a:ext cx="2239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三类，z = (2.0, 1.0, 0.1)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7475" y="2445068"/>
              <a:ext cx="5010150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72288" y="25622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83568" y="25622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23315" y="2562225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e^{zⱼ}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79418" y="25622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86947" y="2943225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48584" y="294322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34977" y="294322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7.3891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984105" y="2835592"/>
              <a:ext cx="148399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526411" y="294322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0.659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7475" y="3203258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7475" y="3208020"/>
              <a:ext cx="501015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86947" y="3325178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48584" y="332517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34977" y="332517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2.7183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26411" y="332517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0.242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7475" y="3584258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86947" y="3706178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48584" y="370617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34977" y="370617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1.1052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26411" y="3706178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0.099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7475" y="3965258"/>
              <a:ext cx="501015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67475" y="3970020"/>
              <a:ext cx="501015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72288" y="40881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26327" y="40881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96105" y="408813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11.2125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26411" y="408813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7475" y="2445068"/>
              <a:ext cx="501015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564755" y="244506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566785" y="244506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969818" y="244506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62141" y="4450080"/>
              <a:ext cx="46804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z 相差 1 时概率相差约 e ≈ 2.7 倍，判为第 1 类。计算已用 Python 复核。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6248400" y="4959668"/>
            <a:ext cx="5410200" cy="702945"/>
            <a:chOff x="6248400" y="4959668"/>
            <a:chExt cx="5410200" cy="702945"/>
          </a:xfrm>
        </p:grpSpPr>
        <p:sp>
          <p:nvSpPr>
            <p:cNvPr id="65" name="Rectangle 65"/>
            <p:cNvSpPr/>
            <p:nvPr/>
          </p:nvSpPr>
          <p:spPr>
            <a:xfrm>
              <a:off x="6248400" y="495966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453188" y="5211130"/>
              <a:ext cx="200023" cy="200023"/>
              <a:chOff x="6453188" y="5211130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453188" y="52111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586538" y="52778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756273" y="5104924"/>
              <a:ext cx="45077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Softmax 保留了 z 的相对大小信息：两个 z 的差决定概率的比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值，与它们的绝对数值无关。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1" name="Rectangle 7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1273" y="6039326"/>
              <a:ext cx="6774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第4章神经网络的输出层用的就是 Softmax 加交叉熵，这一页的式子会原样再出现一次。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多分类与动手实践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实践：在鸢尾花数据集上跑一遍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3108960"/>
            <a:chOff x="533400" y="1524000"/>
            <a:chExt cx="4977765" cy="31089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108960"/>
            </a:xfrm>
            <a:prstGeom prst="roundRect">
              <a:avLst>
                <a:gd name="adj" fmla="val 42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422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1051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Iris 鸢尾花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4034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150 行，每行 1 个样本，5 个字段：4 个属性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1 个分类信息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5082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属性：花萼长度、花萼宽度、花瓣长度、花瓣宽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度，单位都是 cm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371850"/>
              <a:ext cx="4177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类别：Iris Setosa（山鸢尾）、Iris Versicolour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（杂色鸢尾）、Iris Virginica（维吉尼亚鸢尾）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573" y="3989546"/>
              <a:ext cx="42882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每类各 50 个样本，Setosa 与另外两类线性可分，另外两类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之间有重叠。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823460"/>
            <a:ext cx="4977765" cy="1059180"/>
            <a:chOff x="533400" y="4823460"/>
            <a:chExt cx="4977765" cy="1059180"/>
          </a:xfrm>
        </p:grpSpPr>
        <p:sp>
          <p:nvSpPr>
            <p:cNvPr id="20" name="Rectangle 20"/>
            <p:cNvSpPr/>
            <p:nvPr/>
          </p:nvSpPr>
          <p:spPr>
            <a:xfrm>
              <a:off x="533400" y="482346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249346"/>
              <a:ext cx="224134" cy="192560"/>
              <a:chOff x="726129" y="5249346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3197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2493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3975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972050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课件的实验代码在同一批数据上既训练又预测，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得到的准确率偏高。正式做实验必须先划分训练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集和测试集。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5815965" y="1524000"/>
            <a:ext cx="5842635" cy="2967990"/>
            <a:chOff x="5815965" y="1524000"/>
            <a:chExt cx="5842635" cy="2967990"/>
          </a:xfrm>
        </p:grpSpPr>
        <p:sp>
          <p:nvSpPr>
            <p:cNvPr id="27" name="Rectangle 27"/>
            <p:cNvSpPr/>
            <p:nvPr/>
          </p:nvSpPr>
          <p:spPr>
            <a:xfrm>
              <a:off x="5815965" y="1524000"/>
              <a:ext cx="5842635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44362" y="1675924"/>
              <a:ext cx="13895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scikit-learn 五步模板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44362" y="1935956"/>
              <a:ext cx="3849497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sklearn.datasets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load_iris</a:t>
              </a:r>
              <a:br/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sklearn.model_selection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train_test_split</a:t>
              </a:r>
              <a:br/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sklearn.linear_model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LogisticRegression</a:t>
              </a:r>
              <a:br/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from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sklearn.metrics 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classification_report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X, y = load_iris(return_X_y=</a:t>
              </a:r>
              <a:r>
                <a:rPr lang="en-US" sz="98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Xtr, Xte, ytr, yte = train_test_split(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X, y, test_size=0.3, stratify=y, random_state=0)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lr = LogisticRegression(max_iter=1000)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默认带 L2 正则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lr.fit(Xtr, ytr) 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训练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y_hat = lr.predict(Xte)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预测类别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y_prob = lr.predict_proba(Xte)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预测概率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print(classification_report(yte, y_hat))</a:t>
              </a:r>
            </a:p>
          </p:txBody>
        </p:sp>
      </p:grpSp>
      <p:grpSp>
        <p:nvGrpSpPr>
          <p:cNvPr id="39" name="c2-kv-2"/>
          <p:cNvGrpSpPr/>
          <p:nvPr/>
        </p:nvGrpSpPr>
        <p:grpSpPr>
          <a:xfrm>
            <a:off x="5808345" y="4707255"/>
            <a:ext cx="5850255" cy="1173480"/>
            <a:chOff x="5808345" y="4707255"/>
            <a:chExt cx="5850255" cy="1173480"/>
          </a:xfrm>
        </p:grpSpPr>
        <p:sp>
          <p:nvSpPr>
            <p:cNvPr id="31" name="TextBox 31"/>
            <p:cNvSpPr txBox="1"/>
            <p:nvPr/>
          </p:nvSpPr>
          <p:spPr>
            <a:xfrm>
              <a:off x="5808345" y="4707255"/>
              <a:ext cx="7785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predict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93318" y="47072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返回类别标签，内部就是取概率最大的一类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50272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08345" y="5147310"/>
              <a:ext cx="14782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predict_proba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3318" y="514731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返回每类的概率，是软分类的输出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54673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08345" y="5587365"/>
              <a:ext cx="11283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stratify=y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3318" y="55873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分层采样，保证各类比例在两个子集里一致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回头看线性回归的概率解释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同一套最大似然推导，换个噪声假设就得到最小二乘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误差项服从正态分布的假设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写出似然函数并取对数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963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最大化 ℓ(Θ) 等价于最小化 J(Θ)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回头看线性回归的概率解释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最小二乘为什么是很自然的算法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875876" cy="308039"/>
            <a:chOff x="525399" y="1550194"/>
            <a:chExt cx="587587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87587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第2章直接给出了均方误差这个目标函数，这里补上它的来历。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67865"/>
            <a:ext cx="5410200" cy="2157412"/>
            <a:chOff x="533400" y="1967865"/>
            <a:chExt cx="5410200" cy="215741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2157412"/>
            </a:xfrm>
            <a:prstGeom prst="roundRect">
              <a:avLst>
                <a:gd name="adj" fmla="val 61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89071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335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建模假设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5922" y="221265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观测值等于真实值加随机噪声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72"/>
                <p:cNvSpPr txBox="1">
                  <a:spLocks noGrp="1"/>
                </p:cNvSpPr>
                <p:nvPr/>
              </p:nvSpPr>
              <p:spPr>
                <a:xfrm>
                  <a:off x="781050" y="2548890"/>
                  <a:ext cx="4953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Ellipse 15"/>
            <p:cNvSpPr/>
            <p:nvPr/>
          </p:nvSpPr>
          <p:spPr>
            <a:xfrm>
              <a:off x="786765" y="31127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4990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误差项是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随机噪声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，不是模型误差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4480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38518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 ε⁽ⁱ⁾ 独立同分布，均值为 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573" y="3716179"/>
              <a:ext cx="46137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均值为 0 是合理的：若均值不为 0，把它并进截距 θ₀ 即可。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315778"/>
            <a:ext cx="5410200" cy="1755458"/>
            <a:chOff x="533400" y="4315778"/>
            <a:chExt cx="5410200" cy="1755458"/>
          </a:xfrm>
        </p:grpSpPr>
        <p:sp>
          <p:nvSpPr>
            <p:cNvPr id="21" name="Rectangle 21"/>
            <p:cNvSpPr/>
            <p:nvPr/>
          </p:nvSpPr>
          <p:spPr>
            <a:xfrm>
              <a:off x="533400" y="4315778"/>
              <a:ext cx="5410200" cy="1755458"/>
            </a:xfrm>
            <a:prstGeom prst="roundRect">
              <a:avLst>
                <a:gd name="adj" fmla="val 75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449128"/>
              <a:ext cx="47625" cy="148875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525328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1705" y="456104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由假设推出条件分布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73"/>
                <p:cNvSpPr txBox="1">
                  <a:spLocks noGrp="1"/>
                </p:cNvSpPr>
                <p:nvPr/>
              </p:nvSpPr>
              <p:spPr>
                <a:xfrm>
                  <a:off x="781050" y="4877752"/>
                  <a:ext cx="49530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rad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42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e>
                                                <m:r>
                                                  <a:rPr lang="zh-CN" sz="1420" dirty="0">
                                                    <a:solidFill>
                                                      <a:srgbClr val="1F2937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ε</m:t>
                                                </m:r>
                                              </m:e>
                                              <m:sup>
                                                <m:d>
                                                  <m:dPr>
                                                    <m:begChr m:val="("/>
                                                    <m:sepChr m:val=""/>
                                                    <m:endChr m:val=")"/>
                                                    <m:grow m:val="on"/>
                                                    <m:ctrlP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zh-CN" sz="1420" dirty="0">
                                                        <a:solidFill>
                                                          <a:srgbClr val="1F2937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i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sSup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σ</m:t>
                                        </m:r>
                                      </m:e>
                                      <m:sup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74"/>
                <p:cNvSpPr txBox="1">
                  <a:spLocks noGrp="1"/>
                </p:cNvSpPr>
                <p:nvPr/>
              </p:nvSpPr>
              <p:spPr>
                <a:xfrm>
                  <a:off x="781050" y="5461635"/>
                  <a:ext cx="4953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∣</m:t>
                        </m:r>
                        <m:sSup>
                          <m:e>
                            <m:r>
                              <m:rPr>
                                <m:sty m:val="bi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;Θ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bi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</m: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3" name="c2-card-1"/>
          <p:cNvGrpSpPr/>
          <p:nvPr/>
        </p:nvGrpSpPr>
        <p:grpSpPr>
          <a:xfrm>
            <a:off x="6248400" y="1967865"/>
            <a:ext cx="5410200" cy="2019300"/>
            <a:chOff x="6248400" y="1967865"/>
            <a:chExt cx="5410200" cy="2019300"/>
          </a:xfrm>
        </p:grpSpPr>
        <p:sp>
          <p:nvSpPr>
            <p:cNvPr id="28" name="Rectangle 28"/>
            <p:cNvSpPr/>
            <p:nvPr/>
          </p:nvSpPr>
          <p:spPr>
            <a:xfrm>
              <a:off x="6248400" y="1967865"/>
              <a:ext cx="5410200" cy="2019300"/>
            </a:xfrm>
            <a:prstGeom prst="roundRect">
              <a:avLst>
                <a:gd name="adj" fmla="val 660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57950" y="217741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22555" y="221313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写出似然并取对数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175"/>
                <p:cNvSpPr txBox="1">
                  <a:spLocks noGrp="1"/>
                </p:cNvSpPr>
                <p:nvPr/>
              </p:nvSpPr>
              <p:spPr>
                <a:xfrm>
                  <a:off x="6457950" y="2529840"/>
                  <a:ext cx="4991100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rad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den>
                            </m:f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e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28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p>
                                                  <m:e>
                                                    <m:r>
                                                      <a:rPr lang="zh-CN" sz="1280" dirty="0">
                                                        <a:solidFill>
                                                          <a:srgbClr val="FFFFFF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y</m:t>
                                                    </m:r>
                                                  </m:e>
                                                  <m:sup>
                                                    <m:d>
                                                      <m:dPr>
                                                        <m:begChr m:val="("/>
                                                        <m:sepChr m:val=""/>
                                                        <m:endChr m:val=")"/>
                                                        <m:grow m:val="on"/>
                                                        <m:ctrlPr>
                                                          <a:rPr lang="zh-CN" sz="1280" dirty="0">
                                                            <a:solidFill>
                                                              <a:srgbClr val="FFFFFF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zh-CN" sz="1280" dirty="0">
                                                            <a:solidFill>
                                                              <a:srgbClr val="FFFFFF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i</m:t>
                                                        </m:r>
                                                      </m:e>
                                                    </m:d>
                                                  </m:sup>
                                                </m:sSup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zh-CN" sz="128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−</m:t>
                                                </m:r>
                                                <m:sSup>
                                                  <m:e>
                                                    <m:r>
                                                      <m:rPr>
                                                        <m:sty m:val="p"/>
                                                      </m:rPr>
                                                      <a:rPr lang="zh-CN" sz="1280" dirty="0">
                                                        <a:solidFill>
                                                          <a:srgbClr val="FFFFFF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Θ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zh-CN" sz="1280" dirty="0">
                                                        <a:solidFill>
                                                          <a:srgbClr val="FFFFFF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T</m:t>
                                                    </m:r>
                                                  </m:sup>
                                                </m:sSup>
                                                <m:sSup>
                                                  <m:e>
                                                    <m:r>
                                                      <m:rPr>
                                                        <m:sty m:val="bi"/>
                                                      </m:rPr>
                                                      <a:rPr lang="zh-CN" sz="1280" dirty="0">
                                                        <a:solidFill>
                                                          <a:srgbClr val="FFFFFF"/>
                                                        </a:solidFill>
                                                        <a:latin typeface="Cambria Math"/>
                                                        <a:ea typeface="Cambria Math"/>
                                                        <a:cs typeface="Cambria Math"/>
                                                      </a:rPr>
                                                      <m:t>x</m:t>
                                                    </m:r>
                                                  </m:e>
                                                  <m:sup>
                                                    <m:d>
                                                      <m:dPr>
                                                        <m:begChr m:val="("/>
                                                        <m:sepChr m:val=""/>
                                                        <m:endChr m:val=")"/>
                                                        <m:grow m:val="on"/>
                                                        <m:ctrlPr>
                                                          <a:rPr lang="zh-CN" sz="1280" dirty="0">
                                                            <a:solidFill>
                                                              <a:srgbClr val="FFFFFF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zh-CN" sz="1280" dirty="0">
                                                            <a:solidFill>
                                                              <a:srgbClr val="FFFFFF"/>
                                                            </a:solidFill>
                                                            <a:latin typeface="Cambria Math"/>
                                                            <a:ea typeface="Cambria Math"/>
                                                            <a:cs typeface="Cambria Math"/>
                                                          </a:rPr>
                                                          <m:t>i</m:t>
                                                        </m:r>
                                                      </m:e>
                                                    </m:d>
                                                  </m:sup>
                                                </m:sSup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  <m:sSup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σ</m:t>
                                            </m:r>
                                          </m:e>
                                          <m:sup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176"/>
                <p:cNvSpPr txBox="1">
                  <a:spLocks noGrp="1"/>
                </p:cNvSpPr>
                <p:nvPr/>
              </p:nvSpPr>
              <p:spPr>
                <a:xfrm>
                  <a:off x="6457950" y="3191828"/>
                  <a:ext cx="4991100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</m:e>
                                </m:rad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den>
                            </m:f>
                          </m:e>
                        </m:fun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sSup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c2-callout-2"/>
          <p:cNvGrpSpPr/>
          <p:nvPr/>
        </p:nvGrpSpPr>
        <p:grpSpPr>
          <a:xfrm>
            <a:off x="6248400" y="4177665"/>
            <a:ext cx="5410200" cy="1893570"/>
            <a:chOff x="6248400" y="4177665"/>
            <a:chExt cx="5410200" cy="1893570"/>
          </a:xfrm>
        </p:grpSpPr>
        <p:sp>
          <p:nvSpPr>
            <p:cNvPr id="34" name="Rectangle 34"/>
            <p:cNvSpPr/>
            <p:nvPr/>
          </p:nvSpPr>
          <p:spPr>
            <a:xfrm>
              <a:off x="6248400" y="4177665"/>
              <a:ext cx="5410200" cy="1893570"/>
            </a:xfrm>
            <a:prstGeom prst="roundRect">
              <a:avLst>
                <a:gd name="adj" fmla="val 603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53188" y="5024440"/>
              <a:ext cx="200023" cy="200023"/>
              <a:chOff x="6453188" y="5024440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53188" y="50244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86538" y="50911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755130" y="4743450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第一项与 Θ 无关，第二项前面是负号。所以最大化 ℓ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(Θ) 就是最小化那个求和式，而它正是第2章的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J(Θ)。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72784" cy="909257"/>
            <a:chOff x="520446" y="342900"/>
            <a:chExt cx="7672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2610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5455" y="407194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回头看线性回归的概率解释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72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结论：最小二乘回归对应着关于 Θ 的最大似然估计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740218"/>
            <a:chOff x="533400" y="1524000"/>
            <a:chExt cx="5193982" cy="17402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740218"/>
            </a:xfrm>
            <a:prstGeom prst="roundRect">
              <a:avLst>
                <a:gd name="adj" fmla="val 7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7351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等价关系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81"/>
                <p:cNvSpPr txBox="1">
                  <a:spLocks noGrp="1"/>
                </p:cNvSpPr>
                <p:nvPr/>
              </p:nvSpPr>
              <p:spPr>
                <a:xfrm>
                  <a:off x="763905" y="2050732"/>
                  <a:ext cx="4771072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⟺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y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p>
                                        <m: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sSup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2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20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58190" y="2689384"/>
              <a:ext cx="45417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 σ² 不出现在最优的 Θ 里：噪声方差多大，都不改变最小二乘解的位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置。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439478"/>
            <a:ext cx="5193982" cy="2211705"/>
            <a:chOff x="533400" y="3439478"/>
            <a:chExt cx="5193982" cy="2211705"/>
          </a:xfrm>
        </p:grpSpPr>
        <p:sp>
          <p:nvSpPr>
            <p:cNvPr id="14" name="Rectangle 14"/>
            <p:cNvSpPr/>
            <p:nvPr/>
          </p:nvSpPr>
          <p:spPr>
            <a:xfrm>
              <a:off x="533400" y="3439478"/>
              <a:ext cx="5193982" cy="2211705"/>
            </a:xfrm>
            <a:prstGeom prst="roundRect">
              <a:avLst>
                <a:gd name="adj" fmla="val 6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572828"/>
              <a:ext cx="47625" cy="19450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63188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7344" y="366617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课件原话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14297" y="367188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概率假设并非必需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006215"/>
              <a:ext cx="439426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probabilistic assumptions are by no means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necessary for least-squares to be a perfectly good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 rational procedure, and there are other natural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assumptions that can also be used to justify it.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8190" y="5076349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意思是：最小二乘本身就是个合理的做法，正态假设只是为它提供了一种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解释，并不是它成立的前提。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026848" y="1524000"/>
            <a:ext cx="5631752" cy="2708529"/>
            <a:chOff x="6026848" y="1524000"/>
            <a:chExt cx="5631752" cy="2708529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510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35748" y="164830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噪声或标签的分布假设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98723" y="164830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最大似然导出的目标函数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32195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线性回归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82840" y="2054066"/>
              <a:ext cx="15405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| x ~ 正态分布 N(Θᵀx,</a:t>
              </a:r>
              <a:br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σ²)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417368" y="1939290"/>
              <a:ext cx="2231708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507855" y="2154079"/>
              <a:ext cx="9570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均方误差 MSE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32182" y="25307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32182" y="2535555"/>
              <a:ext cx="562641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32195" y="27598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逻辑回归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82840" y="2659856"/>
              <a:ext cx="11706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| x ~ 伯努利分布</a:t>
              </a:r>
              <a:br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B(h_Θ(x))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417368" y="2545080"/>
              <a:ext cx="2231708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507855" y="27598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交叉熵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31365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32195" y="3265646"/>
              <a:ext cx="10072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Softmax 回归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82840" y="326564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| x ~ 多项分布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07855" y="326564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多类交叉熵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35423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32182" y="354711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32195" y="36714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泊松回归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82840" y="367141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| x ~ 泊松分布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07855" y="367141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泊松对数似然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1524000"/>
              <a:ext cx="5626418" cy="24288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78065" y="1524000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403080" y="1524000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26848" y="4027170"/>
              <a:ext cx="4668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换一个分布假设就换一个损失函数，这四个模型统称广义线性模型（GLM）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032182" y="4366260"/>
            <a:ext cx="5626418" cy="1284922"/>
            <a:chOff x="6032182" y="4366260"/>
            <a:chExt cx="5626418" cy="1284922"/>
          </a:xfrm>
        </p:grpSpPr>
        <p:sp>
          <p:nvSpPr>
            <p:cNvPr id="50" name="Rectangle 50"/>
            <p:cNvSpPr/>
            <p:nvPr/>
          </p:nvSpPr>
          <p:spPr>
            <a:xfrm>
              <a:off x="6032182" y="4366260"/>
              <a:ext cx="5626418" cy="1284922"/>
            </a:xfrm>
            <a:prstGeom prst="roundRect">
              <a:avLst>
                <a:gd name="adj" fmla="val 889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236970" y="4909187"/>
              <a:ext cx="200023" cy="200023"/>
              <a:chOff x="6236970" y="4909187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236970" y="49091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370320" y="49758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539674" y="4666298"/>
              <a:ext cx="46428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这一页的价值在于：均方误差和交叉熵不是两个凭空挑出来的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公式，它们都是同一条最大似然原理在不同分布假设下的产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3610"/>
              <a:ext cx="103473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反过来想：如果噪声不是正态而是拉普拉斯分布，最大似然导出的就是平均绝对误差 MAE，这解释了 MAE 为什么对离群点更稳。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336792" cy="3706177"/>
            <a:chOff x="667512" y="1835468"/>
            <a:chExt cx="6336792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模型评估方法与性能评价指标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训练完了怎么判断它好不好，以及好在哪里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偏差、方差与噪声的分解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过拟合与欠拟合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留出法、交叉验证、自助法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混淆矩阵与四个基本计数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3227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准确率、查准率、查全率、F1、AUC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模型评估方法与性能评价指标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泛化误差拆成三块：偏差、方差、噪声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102090" cy="293370"/>
            <a:chOff x="525780" y="1548765"/>
            <a:chExt cx="91020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102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评估方法用于评估模型的泛化能力，性能指标用于评价单个模型性能的高低，两者解决的是不同问题。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54530"/>
            <a:ext cx="5193982" cy="2387918"/>
            <a:chOff x="533400" y="1954530"/>
            <a:chExt cx="5193982" cy="238791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193982" cy="2387918"/>
            </a:xfrm>
            <a:prstGeom prst="roundRect">
              <a:avLst>
                <a:gd name="adj" fmla="val 55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212121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593" y="21940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分解式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84"/>
                <p:cNvSpPr txBox="1">
                  <a:spLocks noGrp="1"/>
                </p:cNvSpPr>
                <p:nvPr/>
              </p:nvSpPr>
              <p:spPr>
                <a:xfrm>
                  <a:off x="775335" y="2507932"/>
                  <a:ext cx="4748212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bias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i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i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Ellipse 14"/>
            <p:cNvSpPr/>
            <p:nvPr/>
          </p:nvSpPr>
          <p:spPr>
            <a:xfrm>
              <a:off x="782955" y="306514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004661"/>
              <a:ext cx="23657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偏差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刻画学习器的拟合能力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38518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324701"/>
              <a:ext cx="21745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方差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体现学习器的稳定性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37052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3644741"/>
              <a:ext cx="439674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噪声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是当前任务期望泛化误差的下界，体现问题本身的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难度</a:t>
              </a:r>
            </a:p>
          </p:txBody>
        </p:sp>
      </p:grpSp>
      <p:grpSp>
        <p:nvGrpSpPr>
          <p:cNvPr id="26" name="c1-kv-2"/>
          <p:cNvGrpSpPr/>
          <p:nvPr/>
        </p:nvGrpSpPr>
        <p:grpSpPr>
          <a:xfrm>
            <a:off x="526161" y="4551521"/>
            <a:ext cx="5201221" cy="1771270"/>
            <a:chOff x="526161" y="4551521"/>
            <a:chExt cx="5201221" cy="1771270"/>
          </a:xfrm>
        </p:grpSpPr>
        <p:sp>
          <p:nvSpPr>
            <p:cNvPr id="21" name="TextBox 21"/>
            <p:cNvSpPr txBox="1"/>
            <p:nvPr/>
          </p:nvSpPr>
          <p:spPr>
            <a:xfrm>
              <a:off x="526161" y="4551521"/>
              <a:ext cx="411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Bias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92009" y="4551521"/>
              <a:ext cx="380161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模型预测结果与实际结果之间的平均差异。高偏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差的模型对训练数据拟合不足，捕捉不到数据的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复杂性，例如用线性模型去拟合非线性的分布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3930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161" y="5508784"/>
              <a:ext cx="8533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Variance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92009" y="5508784"/>
              <a:ext cx="380161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模型对训练数据的敏感性和波动性，衡量在不同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训练集上预测结果的变化程度。高方差的模型对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噪声过于敏感，在新数据上表现差</a:t>
              </a:r>
            </a:p>
          </p:txBody>
        </p:sp>
      </p:grpSp>
      <p:grpSp>
        <p:nvGrpSpPr>
          <p:cNvPr id="47" name="c2-compare-1"/>
          <p:cNvGrpSpPr/>
          <p:nvPr/>
        </p:nvGrpSpPr>
        <p:grpSpPr>
          <a:xfrm>
            <a:off x="6032182" y="1954530"/>
            <a:ext cx="5626418" cy="2175510"/>
            <a:chOff x="6032182" y="1954530"/>
            <a:chExt cx="5626418" cy="2175510"/>
          </a:xfrm>
        </p:grpSpPr>
        <p:sp>
          <p:nvSpPr>
            <p:cNvPr id="27" name="Rectangle 27"/>
            <p:cNvSpPr/>
            <p:nvPr/>
          </p:nvSpPr>
          <p:spPr>
            <a:xfrm>
              <a:off x="6032182" y="1954530"/>
              <a:ext cx="2432685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41708" y="2087880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66879" y="218170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高偏差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81738" y="258032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38329" y="252079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训练误差和测试误差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都高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81738" y="31718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38329" y="311229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模型太简单，欠拟合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81738" y="349186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38329" y="343233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对策：换更复杂的模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型、加特征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225915" y="1954530"/>
              <a:ext cx="2432685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235440" y="2087880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60611" y="218170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高方差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475470" y="2580323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632061" y="252079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训练误差很低而测试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误差高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9475470" y="31718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632061" y="311229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模型太复杂，过拟合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9475470" y="349186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32061" y="343233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对策：加数据、加正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则、减特征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511540" y="2708910"/>
              <a:ext cx="666750" cy="6667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56879" y="29765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两种失败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032182" y="4314825"/>
            <a:ext cx="5626418" cy="1952625"/>
            <a:chOff x="6032182" y="4314825"/>
            <a:chExt cx="5626418" cy="1952625"/>
          </a:xfrm>
        </p:grpSpPr>
        <p:sp>
          <p:nvSpPr>
            <p:cNvPr id="48" name="Rectangle 48"/>
            <p:cNvSpPr/>
            <p:nvPr/>
          </p:nvSpPr>
          <p:spPr>
            <a:xfrm>
              <a:off x="6032182" y="4314825"/>
              <a:ext cx="5626418" cy="1952625"/>
            </a:xfrm>
            <a:prstGeom prst="roundRect">
              <a:avLst>
                <a:gd name="adj" fmla="val 682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36018" y="4518660"/>
              <a:ext cx="1144905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06896" y="4554379"/>
              <a:ext cx="1003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偏差-方差权衡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87984" y="4559141"/>
              <a:ext cx="22926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bias-variance tradeoff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8779" y="4910614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降低偏差往往会抬高方差，反之亦然。训练模型时追求的是在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两者之间找到一个平衡点，以取得更好的泛化性能。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29922" y="5498782"/>
              <a:ext cx="47365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噪声那一项谁也压不下去，它决定了任何模型在这个任务上能达到的上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限。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模型评估方法与性能评价指标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误差随模型复杂度先降后升，最低点就是要找的位置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graph-1"/>
          <p:cNvGrpSpPr/>
          <p:nvPr/>
        </p:nvGrpSpPr>
        <p:grpSpPr>
          <a:xfrm>
            <a:off x="1134428" y="1918811"/>
            <a:ext cx="4762500" cy="4419600"/>
            <a:chOff x="1134428" y="1918811"/>
            <a:chExt cx="4762500" cy="4419600"/>
          </a:xfrm>
        </p:grpSpPr>
        <p:sp>
          <p:nvSpPr>
            <p:cNvPr id="7" name="Freeform 7"/>
            <p:cNvSpPr/>
            <p:nvPr/>
          </p:nvSpPr>
          <p:spPr>
            <a:xfrm>
              <a:off x="1134428" y="563689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208722" y="2002155"/>
              <a:ext cx="9525" cy="3688080"/>
            </a:xfrm>
            <a:custGeom>
              <a:avLst/>
              <a:gdLst/>
              <a:ahLst/>
              <a:cxnLst/>
              <a:rect l="l" t="t" r="r" b="b"/>
              <a:pathLst>
                <a:path w="9525" h="3688080">
                  <a:moveTo>
                    <a:pt x="0" y="36880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233738" y="2680335"/>
              <a:ext cx="9525" cy="2913698"/>
            </a:xfrm>
            <a:custGeom>
              <a:avLst/>
              <a:gdLst/>
              <a:ahLst/>
              <a:cxnLst/>
              <a:rect l="l" t="t" r="r" b="b"/>
              <a:pathLst>
                <a:path w="9525" h="2913698">
                  <a:moveTo>
                    <a:pt x="0" y="291369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359218" y="2441258"/>
              <a:ext cx="4312920" cy="2947035"/>
            </a:xfrm>
            <a:custGeom>
              <a:avLst/>
              <a:gdLst/>
              <a:ahLst/>
              <a:cxnLst/>
              <a:rect l="l" t="t" r="r" b="b"/>
              <a:pathLst>
                <a:path w="4312920" h="2947035">
                  <a:moveTo>
                    <a:pt x="0" y="0"/>
                  </a:moveTo>
                  <a:lnTo>
                    <a:pt x="524828" y="631508"/>
                  </a:lnTo>
                  <a:lnTo>
                    <a:pt x="1086803" y="1260158"/>
                  </a:lnTo>
                  <a:lnTo>
                    <a:pt x="1762125" y="1888808"/>
                  </a:lnTo>
                  <a:lnTo>
                    <a:pt x="2437448" y="2372677"/>
                  </a:lnTo>
                  <a:lnTo>
                    <a:pt x="3112770" y="2663190"/>
                  </a:lnTo>
                  <a:lnTo>
                    <a:pt x="3788092" y="2856548"/>
                  </a:lnTo>
                  <a:lnTo>
                    <a:pt x="4312920" y="2947035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59218" y="2266950"/>
              <a:ext cx="4312920" cy="1821180"/>
            </a:xfrm>
            <a:custGeom>
              <a:avLst/>
              <a:gdLst/>
              <a:ahLst/>
              <a:cxnLst/>
              <a:rect l="l" t="t" r="r" b="b"/>
              <a:pathLst>
                <a:path w="4312920" h="1821180">
                  <a:moveTo>
                    <a:pt x="0" y="0"/>
                  </a:moveTo>
                  <a:lnTo>
                    <a:pt x="412433" y="708660"/>
                  </a:lnTo>
                  <a:lnTo>
                    <a:pt x="862012" y="1289685"/>
                  </a:lnTo>
                  <a:lnTo>
                    <a:pt x="1424940" y="1676400"/>
                  </a:lnTo>
                  <a:lnTo>
                    <a:pt x="1874520" y="1821180"/>
                  </a:lnTo>
                  <a:lnTo>
                    <a:pt x="2325052" y="1676400"/>
                  </a:lnTo>
                  <a:lnTo>
                    <a:pt x="2887980" y="1289685"/>
                  </a:lnTo>
                  <a:lnTo>
                    <a:pt x="3563302" y="708660"/>
                  </a:lnTo>
                  <a:lnTo>
                    <a:pt x="4012882" y="418147"/>
                  </a:lnTo>
                  <a:lnTo>
                    <a:pt x="4312920" y="246697"/>
                  </a:lnTo>
                </a:path>
              </a:pathLst>
            </a:custGeom>
            <a:noFill/>
            <a:ln w="17145">
              <a:solidFill>
                <a:srgbClr val="BBAA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809376" y="554783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训练误差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09376" y="211216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测试误差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82292" y="588692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欠拟合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14037" y="588692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过拟合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53004" y="2209324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最佳复杂度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6237" y="1918811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↑ 误差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19436" y="6176486"/>
              <a:ext cx="655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模型复杂度 →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464618" y="1524000"/>
            <a:ext cx="5193982" cy="1954530"/>
            <a:chOff x="6464618" y="1524000"/>
            <a:chExt cx="5193982" cy="1954530"/>
          </a:xfrm>
        </p:grpSpPr>
        <p:sp>
          <p:nvSpPr>
            <p:cNvPr id="20" name="Rectangle 20"/>
            <p:cNvSpPr/>
            <p:nvPr/>
          </p:nvSpPr>
          <p:spPr>
            <a:xfrm>
              <a:off x="6464618" y="1524000"/>
              <a:ext cx="5193982" cy="1954530"/>
            </a:xfrm>
            <a:prstGeom prst="roundRect">
              <a:avLst>
                <a:gd name="adj" fmla="val 68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4142" y="1657350"/>
              <a:ext cx="47625" cy="168783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95122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86562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78814" y="1756410"/>
              <a:ext cx="1675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过拟合 overfitting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88264" y="2090738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模型对训练数据拟合程度过当的情况。当某个模型过度地学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习训练数据中的细节和噪音，以至于模型在新的数据上表现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很差。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89408" y="2903696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课件的树叶例子：训练样本的叶子都有锯齿边缘，模型就认为没有锯齿的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不是树叶，这是过拟合；只认颜色是绿的就判为树叶，这是欠拟合。</a:t>
              </a:r>
            </a:p>
          </p:txBody>
        </p:sp>
      </p:grpSp>
      <p:grpSp>
        <p:nvGrpSpPr>
          <p:cNvPr id="54" name="c2-table-2"/>
          <p:cNvGrpSpPr/>
          <p:nvPr/>
        </p:nvGrpSpPr>
        <p:grpSpPr>
          <a:xfrm>
            <a:off x="6464618" y="3653790"/>
            <a:ext cx="5193982" cy="1623060"/>
            <a:chOff x="6464618" y="3653790"/>
            <a:chExt cx="5193982" cy="1623060"/>
          </a:xfrm>
        </p:grpSpPr>
        <p:sp>
          <p:nvSpPr>
            <p:cNvPr id="28" name="Rectangle 28"/>
            <p:cNvSpPr/>
            <p:nvPr/>
          </p:nvSpPr>
          <p:spPr>
            <a:xfrm>
              <a:off x="6464618" y="3653790"/>
              <a:ext cx="519398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83451" y="37780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79499" y="37780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训练误差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21546" y="37780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测试误差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722966" y="37780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诊断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64630" y="4183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欠拟合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05660" y="41838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47708" y="41838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00322" y="41838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模型太简单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44605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446532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4630" y="45896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刚好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05660" y="45896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47708" y="45896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109835" y="4474845"/>
              <a:ext cx="153924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00322" y="458962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复杂度合适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48663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4630" y="49953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过拟合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30273" y="4995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967788" y="4880610"/>
              <a:ext cx="1123950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47708" y="499538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00322" y="49953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学了噪声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3653790"/>
              <a:ext cx="519398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810500" y="365379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953500" y="365379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095548" y="365379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llout-3"/>
          <p:cNvGrpSpPr/>
          <p:nvPr/>
        </p:nvGrpSpPr>
        <p:grpSpPr>
          <a:xfrm>
            <a:off x="6464618" y="5452110"/>
            <a:ext cx="5193982" cy="729615"/>
            <a:chOff x="6464618" y="5452110"/>
            <a:chExt cx="5193982" cy="729615"/>
          </a:xfrm>
        </p:grpSpPr>
        <p:sp>
          <p:nvSpPr>
            <p:cNvPr id="55" name="Rectangle 55"/>
            <p:cNvSpPr/>
            <p:nvPr/>
          </p:nvSpPr>
          <p:spPr>
            <a:xfrm>
              <a:off x="6464618" y="5452110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657347" y="5713213"/>
              <a:ext cx="224134" cy="192560"/>
              <a:chOff x="6657347" y="5713213"/>
              <a:chExt cx="224134" cy="1925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769418" y="57835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657347" y="57132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69418" y="58613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72110" y="5597842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训练误差单调下降，所以它永远不能用来选模型。选模型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必须看没参与训练的那部分数据上的误差。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模型评估方法与性能评价指标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样本集划分：训练、验证、测试各管一件事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5410200" cy="2337435"/>
            <a:chOff x="533400" y="1524000"/>
            <a:chExt cx="5410200" cy="2337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870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7086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1147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常见比例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8122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训练集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S_training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42732" y="2076450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用于学习的数据集合，调整模型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39246" y="218313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 ~ 80%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81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86038"/>
              <a:ext cx="5410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714625"/>
              <a:ext cx="94830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验证集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S_validation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42732" y="2714625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用于设置和调整超参数的数据集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9246" y="2821305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 ~ 20%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194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3459480"/>
              <a:ext cx="11143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测试集 S_test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49768" y="3233738"/>
              <a:ext cx="2577465" cy="6191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42732" y="3352800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评估完整训练模型性能的一组数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39246" y="345948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 ~ 30%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410200" cy="23374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935480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1995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2"/>
          <p:cNvGrpSpPr/>
          <p:nvPr/>
        </p:nvGrpSpPr>
        <p:grpSpPr>
          <a:xfrm>
            <a:off x="533400" y="4042410"/>
            <a:ext cx="5410200" cy="1594485"/>
            <a:chOff x="533400" y="4042410"/>
            <a:chExt cx="5410200" cy="1594485"/>
          </a:xfrm>
        </p:grpSpPr>
        <p:sp>
          <p:nvSpPr>
            <p:cNvPr id="28" name="Rectangle 28"/>
            <p:cNvSpPr/>
            <p:nvPr/>
          </p:nvSpPr>
          <p:spPr>
            <a:xfrm>
              <a:off x="533400" y="404241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17576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9620" y="42405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1060" y="42748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铁律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52931" y="4275296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评估测试集性能之后，不能进一步调优模型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7240" y="467868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3831" y="4619149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一旦根据测试集的分数回头改模型，测试集就参与了训练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7240" y="499681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3831" y="493633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这时报出来的分数会偏高，不再代表泛化能力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3524" y="525018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超参数的挑选是验证集的活，测试集只用一次。</a:t>
              </a:r>
            </a:p>
          </p:txBody>
        </p:sp>
      </p:grpSp>
      <p:grpSp>
        <p:nvGrpSpPr>
          <p:cNvPr id="44" name="c2-kv-1"/>
          <p:cNvGrpSpPr/>
          <p:nvPr/>
        </p:nvGrpSpPr>
        <p:grpSpPr>
          <a:xfrm>
            <a:off x="6241161" y="1547336"/>
            <a:ext cx="5417439" cy="962597"/>
            <a:chOff x="6241161" y="1547336"/>
            <a:chExt cx="5417439" cy="962597"/>
          </a:xfrm>
        </p:grpSpPr>
        <p:sp>
          <p:nvSpPr>
            <p:cNvPr id="39" name="TextBox 39"/>
            <p:cNvSpPr txBox="1"/>
            <p:nvPr/>
          </p:nvSpPr>
          <p:spPr>
            <a:xfrm>
              <a:off x="6241161" y="15473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52691" y="1547336"/>
              <a:ext cx="42611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模型内部由训练算法定出来的量，如 Θ 的各个分量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18507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1161" y="19635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超参数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52691" y="1963579"/>
              <a:ext cx="4288536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训练前人为设定的量，如学习率 η、正则系数 λ、迭代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轮数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248400" y="2634615"/>
            <a:ext cx="5410200" cy="3001328"/>
            <a:chOff x="6248400" y="2634615"/>
            <a:chExt cx="5410200" cy="3001328"/>
          </a:xfrm>
        </p:grpSpPr>
        <p:sp>
          <p:nvSpPr>
            <p:cNvPr id="45" name="Rectangle 45"/>
            <p:cNvSpPr/>
            <p:nvPr/>
          </p:nvSpPr>
          <p:spPr>
            <a:xfrm>
              <a:off x="6248400" y="2634615"/>
              <a:ext cx="5410200" cy="3001328"/>
            </a:xfrm>
            <a:prstGeom prst="roundRect">
              <a:avLst>
                <a:gd name="adj" fmla="val 44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2767965"/>
              <a:ext cx="47625" cy="273462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84620" y="283273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6058" y="286702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怎么看训练曲线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34681" y="286750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两条曲线的岔口就是该停的地方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92240" y="327088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48831" y="321135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横轴是训练轮数，纵轴是损失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92240" y="358902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48831" y="352853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训练集的损失一路下降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92240" y="390715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48831" y="384667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验证集的损失先降后升，拐点之后就是过拟合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78524" y="4160520"/>
              <a:ext cx="4728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在拐点处停下来叫提前停止（early stopping），是最省事的正则化手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8" name="Rectangle 5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11704"/>
              <a:ext cx="102532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版课件把留出法的第二个子集写作 test，B 版写作 validation。严格说超参数调优用的是验证集，本讲义按 B 版写法。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模型评估方法与性能评价指标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三种划分办法：留出法、交叉验证、自助法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3505200" cy="2347912"/>
            <a:chOff x="533400" y="1524000"/>
            <a:chExt cx="3505200" cy="23479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347912"/>
            </a:xfrm>
            <a:prstGeom prst="roundRect">
              <a:avLst>
                <a:gd name="adj" fmla="val 56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8121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留出法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0947" y="1756410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hold-out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14693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09073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直接把数据集划成互斥的两部分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44887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39268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分层采样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，保持各类比例一致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275177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2695575"/>
              <a:ext cx="1603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训练集占 2/3 ~ 4/5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305371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2997518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验证集样本数一般要大于 30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8190" y="3297079"/>
              <a:ext cx="27139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一次划分的结果不稳，通常重复若干次取平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均。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047172"/>
            <a:ext cx="3505200" cy="1276350"/>
            <a:chOff x="533400" y="4047172"/>
            <a:chExt cx="3505200" cy="1276350"/>
          </a:xfrm>
        </p:grpSpPr>
        <p:sp>
          <p:nvSpPr>
            <p:cNvPr id="22" name="Rectangle 22"/>
            <p:cNvSpPr/>
            <p:nvPr/>
          </p:nvSpPr>
          <p:spPr>
            <a:xfrm>
              <a:off x="533400" y="4047172"/>
              <a:ext cx="3505200" cy="1276350"/>
            </a:xfrm>
            <a:prstGeom prst="roundRect">
              <a:avLst>
                <a:gd name="adj" fmla="val 895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4581643"/>
              <a:ext cx="224134" cy="192560"/>
              <a:chOff x="726129" y="4581643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46520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45816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47297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892" y="4342448"/>
              <a:ext cx="25854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划分比例是个矛盾：训练集留多了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评估不准，留少了模型本身就训不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好。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4343400" y="1524000"/>
            <a:ext cx="3505200" cy="2141220"/>
            <a:chOff x="4343400" y="1524000"/>
            <a:chExt cx="3505200" cy="2141220"/>
          </a:xfrm>
        </p:grpSpPr>
        <p:sp>
          <p:nvSpPr>
            <p:cNvPr id="29" name="Rectangle 29"/>
            <p:cNvSpPr/>
            <p:nvPr/>
          </p:nvSpPr>
          <p:spPr>
            <a:xfrm>
              <a:off x="4343400" y="1524000"/>
              <a:ext cx="3505200" cy="2141220"/>
            </a:xfrm>
            <a:prstGeom prst="roundRect">
              <a:avLst>
                <a:gd name="adj" fmla="val 62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52925" y="1657350"/>
              <a:ext cx="47625" cy="187452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7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5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交叉验证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24297" y="1756410"/>
              <a:ext cx="2141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k-fold cross validation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4582478" y="214693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8497" y="2090738"/>
              <a:ext cx="2960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分成 K 个互斥的子集，同样分层采样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4582478" y="244887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38497" y="2392680"/>
              <a:ext cx="24176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每轮用 K−1 份训练，1 份验证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4582478" y="275177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38497" y="2695575"/>
              <a:ext cx="2454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轮流 K 次，取 K 次结果的均值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4582478" y="305371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738497" y="2997518"/>
              <a:ext cx="996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常取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= 10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68190" y="3297079"/>
              <a:ext cx="31472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等于样本数时叫留一法（leave-one-out）。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4343400" y="3839528"/>
            <a:ext cx="3505200" cy="1483995"/>
            <a:chOff x="4343400" y="3839528"/>
            <a:chExt cx="3505200" cy="1483995"/>
          </a:xfrm>
        </p:grpSpPr>
        <p:sp>
          <p:nvSpPr>
            <p:cNvPr id="44" name="Rectangle 44"/>
            <p:cNvSpPr/>
            <p:nvPr/>
          </p:nvSpPr>
          <p:spPr>
            <a:xfrm>
              <a:off x="4343400" y="3839528"/>
              <a:ext cx="3505200" cy="1483995"/>
            </a:xfrm>
            <a:prstGeom prst="roundRect">
              <a:avLst>
                <a:gd name="adj" fmla="val 770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4548188" y="4481513"/>
              <a:ext cx="200026" cy="200026"/>
              <a:chOff x="4548188" y="4481513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4548188" y="44815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648200" y="45481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637088" y="45815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4850892" y="4238625"/>
              <a:ext cx="261118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留一法的评估最接近用全部数据训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练的结果，但要训练 N 次，数据量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一大就跑不动。</a:t>
              </a:r>
            </a:p>
          </p:txBody>
        </p:sp>
      </p:grpSp>
      <p:grpSp>
        <p:nvGrpSpPr>
          <p:cNvPr id="65" name="c3-card-1"/>
          <p:cNvGrpSpPr/>
          <p:nvPr/>
        </p:nvGrpSpPr>
        <p:grpSpPr>
          <a:xfrm>
            <a:off x="8153400" y="1524000"/>
            <a:ext cx="3505200" cy="2398395"/>
            <a:chOff x="8153400" y="1524000"/>
            <a:chExt cx="3505200" cy="2398395"/>
          </a:xfrm>
        </p:grpSpPr>
        <p:sp>
          <p:nvSpPr>
            <p:cNvPr id="51" name="Rectangle 51"/>
            <p:cNvSpPr/>
            <p:nvPr/>
          </p:nvSpPr>
          <p:spPr>
            <a:xfrm>
              <a:off x="8153400" y="1524000"/>
              <a:ext cx="3505200" cy="2398395"/>
            </a:xfrm>
            <a:prstGeom prst="roundRect">
              <a:avLst>
                <a:gd name="adj" fmla="val 5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162925" y="1657350"/>
              <a:ext cx="47625" cy="213169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383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71345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自助法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00947" y="1756410"/>
              <a:ext cx="1330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bootstrapping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8392478" y="214693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548497" y="209073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可重复采样，即有放回的采样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8392478" y="244887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48497" y="2392680"/>
              <a:ext cx="26681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采 N 次得到训练集，约有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1/3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本没被采到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8392478" y="300894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548497" y="29527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这部分没采到的正好当测试集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8392478" y="331089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48497" y="32546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适用数据集规模较小时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78190" y="355425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对集成学习有利，但会引入估计偏差。</a:t>
              </a:r>
            </a:p>
          </p:txBody>
        </p:sp>
      </p:grpSp>
      <p:grpSp>
        <p:nvGrpSpPr>
          <p:cNvPr id="72" name="c3-callout-2"/>
          <p:cNvGrpSpPr/>
          <p:nvPr/>
        </p:nvGrpSpPr>
        <p:grpSpPr>
          <a:xfrm>
            <a:off x="8153400" y="4096702"/>
            <a:ext cx="3505200" cy="1226820"/>
            <a:chOff x="8153400" y="4096702"/>
            <a:chExt cx="3505200" cy="1226820"/>
          </a:xfrm>
        </p:grpSpPr>
        <p:sp>
          <p:nvSpPr>
            <p:cNvPr id="66" name="Rectangle 66"/>
            <p:cNvSpPr/>
            <p:nvPr/>
          </p:nvSpPr>
          <p:spPr>
            <a:xfrm>
              <a:off x="8153400" y="4096702"/>
              <a:ext cx="3505200" cy="1226820"/>
            </a:xfrm>
            <a:prstGeom prst="roundRect">
              <a:avLst>
                <a:gd name="adj" fmla="val 931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8358188" y="4610100"/>
              <a:ext cx="200026" cy="200025"/>
              <a:chOff x="8358188" y="4610100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58188" y="46101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97926" y="46545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432642" y="47656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8660892" y="4243388"/>
              <a:ext cx="2602611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1/3 的来历：某个样本在 N 次采样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中一次都没被采中的概率是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(1−1/N)ᴺ，N 大时趋于 1/e ≈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0.368。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3" name="Rectangle 7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892" y="6023610"/>
              <a:ext cx="6138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数据多用留出法，数据中等用 10 折交叉验证，数据很少用自助法或留一法。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模型评估方法与性能评价指标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混淆矩阵：一切分类指标都由这四个数算出来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5632133" cy="1758792"/>
            <a:chOff x="527685" y="1524000"/>
            <a:chExt cx="5632133" cy="175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203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真实情况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78442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预测为正例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91062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预测为反例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43150" y="2021205"/>
              <a:ext cx="1893570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31020" y="2150745"/>
              <a:ext cx="919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TP 真正例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256722" y="2021205"/>
              <a:ext cx="1893570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43640" y="2150745"/>
              <a:ext cx="919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FN 假反例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945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99360"/>
              <a:ext cx="562641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343150" y="2508885"/>
              <a:ext cx="1893570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31020" y="2638425"/>
              <a:ext cx="919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 假正例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256722" y="2508885"/>
              <a:ext cx="1893570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43640" y="2638425"/>
              <a:ext cx="919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TN 真反例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1463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328862" y="1524000"/>
              <a:ext cx="9525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242435" y="1524000"/>
              <a:ext cx="9525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3062764"/>
              <a:ext cx="4150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混淆矩阵 confusion matrix，也叫列联表 contingency table</a:t>
              </a:r>
            </a:p>
          </p:txBody>
        </p:sp>
      </p:grpSp>
      <p:grpSp>
        <p:nvGrpSpPr>
          <p:cNvPr id="39" name="c1-kv-2"/>
          <p:cNvGrpSpPr/>
          <p:nvPr/>
        </p:nvGrpSpPr>
        <p:grpSpPr>
          <a:xfrm>
            <a:off x="525780" y="3453765"/>
            <a:ext cx="5634038" cy="1613535"/>
            <a:chOff x="525780" y="3453765"/>
            <a:chExt cx="5634038" cy="1613535"/>
          </a:xfrm>
        </p:grpSpPr>
        <p:sp>
          <p:nvSpPr>
            <p:cNvPr id="28" name="TextBox 28"/>
            <p:cNvSpPr txBox="1"/>
            <p:nvPr/>
          </p:nvSpPr>
          <p:spPr>
            <a:xfrm>
              <a:off x="525780" y="345376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2982" y="3453765"/>
              <a:ext cx="3700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 positives 真阳性：正例被判为正例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7738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5780" y="389382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2982" y="3893820"/>
              <a:ext cx="4417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 negatives 假阴性：正例被判为反例，漏报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2138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5780" y="43338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2982" y="4333875"/>
              <a:ext cx="4366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 positives 假阳性：反例被判为正例，误报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6539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5780" y="477393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2982" y="4773930"/>
              <a:ext cx="37509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 negatives 真阴性：反例被判为反例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464618" y="1524000"/>
            <a:ext cx="5193982" cy="1916430"/>
            <a:chOff x="6464618" y="1524000"/>
            <a:chExt cx="5193982" cy="1916430"/>
          </a:xfrm>
        </p:grpSpPr>
        <p:sp>
          <p:nvSpPr>
            <p:cNvPr id="40" name="Rectangle 40"/>
            <p:cNvSpPr/>
            <p:nvPr/>
          </p:nvSpPr>
          <p:spPr>
            <a:xfrm>
              <a:off x="6464618" y="1524000"/>
              <a:ext cx="5193982" cy="1916430"/>
            </a:xfrm>
            <a:prstGeom prst="roundRect">
              <a:avLst>
                <a:gd name="adj" fmla="val 695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7416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5647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记忆办法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59992" y="1768792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第二个字母说预测，第一个字母说对错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79883" y="21926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37998" y="2129790"/>
              <a:ext cx="2174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/ N 是模型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预测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的类别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79883" y="25279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37998" y="2465070"/>
              <a:ext cx="2174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/ F 是这次预测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对不对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7691" y="2797016"/>
              <a:ext cx="44183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 FN 读作 “预测为反例而且预测错了”，它实际上是一个正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464618" y="3630930"/>
            <a:ext cx="5193982" cy="1917382"/>
            <a:chOff x="6464618" y="3630930"/>
            <a:chExt cx="5193982" cy="1917382"/>
          </a:xfrm>
        </p:grpSpPr>
        <p:sp>
          <p:nvSpPr>
            <p:cNvPr id="50" name="Rectangle 50"/>
            <p:cNvSpPr/>
            <p:nvPr/>
          </p:nvSpPr>
          <p:spPr>
            <a:xfrm>
              <a:off x="6464618" y="3630930"/>
              <a:ext cx="5193982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4142" y="3764280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712268" y="38404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03428" y="38761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13295" y="387572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原课件的中文标注有误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04648" y="4236720"/>
              <a:ext cx="4520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版课件第 49 页把 FN 标成真阴性、TN 标成假阳性、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 标成假阴性，三处都错位了。正确对应见左侧术语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表：FN 是假阴性，TN 是真阴性，FP 是假阳性。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05791" y="5139214"/>
              <a:ext cx="2419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同页表头的 Fasle 应为 False。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8" name="Rectangle 5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991225"/>
              <a:ext cx="8615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哪一类当正例由任务定。换一个约定，同一个模型的 TP 和 TN 会互换，查准率查全率跟着全变。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82546" cy="909257"/>
            <a:chOff x="520446" y="342900"/>
            <a:chExt cx="79825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模型评估方法与性能评价指标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825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例题：1000 封邮件的准确率、查准率、查全率与 F1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637890" cy="264033"/>
            <a:chOff x="526542" y="1545907"/>
            <a:chExt cx="963789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637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 封是垃圾邮件（正例），模型检出 120 封、其中 80 封确实是垃圾，于是 TP = 80、FN = 20、FP = 40、TN = 860。</a:t>
              </a:r>
            </a:p>
          </p:txBody>
        </p:sp>
      </p:grpSp>
      <p:grpSp>
        <p:nvGrpSpPr>
          <p:cNvPr id="52" name="c1-table-1"/>
          <p:cNvGrpSpPr/>
          <p:nvPr/>
        </p:nvGrpSpPr>
        <p:grpSpPr>
          <a:xfrm>
            <a:off x="533400" y="1928812"/>
            <a:ext cx="5842635" cy="2669858"/>
            <a:chOff x="533400" y="1928812"/>
            <a:chExt cx="5842635" cy="26698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207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1561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1864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4546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1137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准确率 Accuracy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97836" y="2426970"/>
              <a:ext cx="749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(TP+TN)/N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17074" y="242697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940/1000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92461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0.940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808923"/>
              <a:ext cx="11441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查准率 Precision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97836" y="2808923"/>
              <a:ext cx="832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TP/(TP+FP)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17074" y="2808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80/120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217795" y="2701290"/>
              <a:ext cx="114966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92461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0.667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68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189923"/>
              <a:ext cx="8991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查全率 Recall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97836" y="3189923"/>
              <a:ext cx="832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TP/(TP+FN)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17074" y="3189923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80/100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17795" y="3082290"/>
              <a:ext cx="114966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592461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449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453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8078" y="35718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97836" y="3571875"/>
              <a:ext cx="1242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2TP/(2TP+FP+FN)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17074" y="357187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160/220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92461" y="3571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0.727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830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3952875"/>
              <a:ext cx="1270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特异性 Specificity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97836" y="3952875"/>
              <a:ext cx="832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TN/(TN+FP)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17074" y="3952875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860/900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92461" y="3952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0.956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21671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8078" y="4333875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假正例率 FPR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97836" y="4333875"/>
              <a:ext cx="832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FP/(FP+TN)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17074" y="433387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40/900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92461" y="4333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928812"/>
              <a:ext cx="584263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2398395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91763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203508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1-callout-2"/>
          <p:cNvGrpSpPr/>
          <p:nvPr/>
        </p:nvGrpSpPr>
        <p:grpSpPr>
          <a:xfrm>
            <a:off x="533400" y="4763452"/>
            <a:ext cx="5842635" cy="937260"/>
            <a:chOff x="533400" y="4763452"/>
            <a:chExt cx="5842635" cy="937260"/>
          </a:xfrm>
        </p:grpSpPr>
        <p:sp>
          <p:nvSpPr>
            <p:cNvPr id="53" name="Rectangle 53"/>
            <p:cNvSpPr/>
            <p:nvPr/>
          </p:nvSpPr>
          <p:spPr>
            <a:xfrm>
              <a:off x="533400" y="4763452"/>
              <a:ext cx="5842635" cy="937260"/>
            </a:xfrm>
            <a:prstGeom prst="roundRect">
              <a:avLst>
                <a:gd name="adj" fmla="val 121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26129" y="5128378"/>
              <a:ext cx="224134" cy="192560"/>
              <a:chOff x="726129" y="5128378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38200" y="51987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6129" y="51283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52765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4907756"/>
              <a:ext cx="491210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把 1000 封全判为正常邮件，准确率仍有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0.900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，只低 4 个百分点，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查全率却是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。正反例悬殊时准确率几乎不含信息量，要看 F1 或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AUC。</a:t>
              </a:r>
            </a:p>
          </p:txBody>
        </p:sp>
      </p:grpSp>
      <p:grpSp>
        <p:nvGrpSpPr>
          <p:cNvPr id="62" name="c2-image-1"/>
          <p:cNvGrpSpPr/>
          <p:nvPr/>
        </p:nvGrpSpPr>
        <p:grpSpPr>
          <a:xfrm>
            <a:off x="6856032" y="1928812"/>
            <a:ext cx="4627372" cy="1820894"/>
            <a:chOff x="6856032" y="1928812"/>
            <a:chExt cx="4627372" cy="1820894"/>
          </a:xfrm>
        </p:grpSpPr>
        <p:pic>
          <p:nvPicPr>
            <p:cNvPr id="60" name="Image 60"/>
            <p:cNvPicPr>
              <a:picLocks noChangeAspect="1"/>
            </p:cNvPicPr>
            <p:nvPr/>
          </p:nvPicPr>
          <p:blipFill>
            <a:blip r:embed="rId2"/>
            <a:srcRect l="8" t="0" r="7" b="0"/>
            <a:stretch>
              <a:fillRect/>
            </a:stretch>
          </p:blipFill>
          <p:spPr>
            <a:xfrm>
              <a:off x="8144828" y="1928812"/>
              <a:ext cx="2050732" cy="1538288"/>
            </a:xfrm>
            <a:prstGeom prst="roundRect">
              <a:avLst>
                <a:gd name="adj" fmla="val 8668"/>
              </a:avLst>
            </a:prstGeom>
          </p:spPr>
        </p:pic>
        <p:sp>
          <p:nvSpPr>
            <p:cNvPr id="61" name="TextBox 61"/>
            <p:cNvSpPr txBox="1"/>
            <p:nvPr/>
          </p:nvSpPr>
          <p:spPr>
            <a:xfrm>
              <a:off x="6856032" y="3559016"/>
              <a:ext cx="46273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网里捞上来的东西有多少是鱼，是查准率；水里的鱼有多少被捞上来，是查全率</a:t>
              </a:r>
            </a:p>
          </p:txBody>
        </p:sp>
      </p:grpSp>
      <p:grpSp>
        <p:nvGrpSpPr>
          <p:cNvPr id="80" name="c2-table-2"/>
          <p:cNvGrpSpPr/>
          <p:nvPr/>
        </p:nvGrpSpPr>
        <p:grpSpPr>
          <a:xfrm>
            <a:off x="6680835" y="3895725"/>
            <a:ext cx="4977765" cy="1330642"/>
            <a:chOff x="6680835" y="3895725"/>
            <a:chExt cx="4977765" cy="1330642"/>
          </a:xfrm>
        </p:grpSpPr>
        <p:sp>
          <p:nvSpPr>
            <p:cNvPr id="63" name="Rectangle 63"/>
            <p:cNvSpPr/>
            <p:nvPr/>
          </p:nvSpPr>
          <p:spPr>
            <a:xfrm>
              <a:off x="6680835" y="3895725"/>
              <a:ext cx="497776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80910" y="40128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04682" y="401288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更看重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17480" y="40128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75514" y="44872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推荐系统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183880" y="4286250"/>
              <a:ext cx="1076325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269034" y="4487228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查准率 P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364409" y="4393882"/>
              <a:ext cx="20109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担心用户不胜其烦，结果尽可能是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用户真正感兴趣的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680835" y="48396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680835" y="484441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75514" y="496252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重大疾病筛查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183880" y="4853940"/>
              <a:ext cx="107632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269034" y="4962525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查全率 R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364409" y="4962525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不可遗漏，漏诊的代价远大于误诊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680835" y="3895725"/>
              <a:ext cx="4977765" cy="13306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169592" y="3895725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264968" y="3895725"/>
              <a:ext cx="9525" cy="13306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1" name="Rectangle 8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1273" y="6039326"/>
              <a:ext cx="8978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 还有两种等价写法：1/F1 = (1/P + 1/R)/2，以及 F1 = 2TP/(样本总数 + TP − TN)，本例三种算法都得 0.727。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92689" cy="909257"/>
            <a:chOff x="520446" y="342900"/>
            <a:chExt cx="67926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 · 模型评估方法与性能评价指标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92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与阈值无关的评价：P-R 曲线、ROC 与 AUC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graph-1"/>
          <p:cNvGrpSpPr/>
          <p:nvPr/>
        </p:nvGrpSpPr>
        <p:grpSpPr>
          <a:xfrm>
            <a:off x="1019175" y="1704022"/>
            <a:ext cx="4105275" cy="2168842"/>
            <a:chOff x="1019175" y="1704022"/>
            <a:chExt cx="4105275" cy="2168842"/>
          </a:xfrm>
        </p:grpSpPr>
        <p:sp>
          <p:nvSpPr>
            <p:cNvPr id="7" name="Freeform 7"/>
            <p:cNvSpPr/>
            <p:nvPr/>
          </p:nvSpPr>
          <p:spPr>
            <a:xfrm>
              <a:off x="1019175" y="3464242"/>
              <a:ext cx="4105275" cy="9525"/>
            </a:xfrm>
            <a:custGeom>
              <a:avLst/>
              <a:gdLst/>
              <a:ahLst/>
              <a:cxnLst/>
              <a:rect l="l" t="t" r="r" b="b"/>
              <a:pathLst>
                <a:path w="4105275" h="9525">
                  <a:moveTo>
                    <a:pt x="0" y="0"/>
                  </a:moveTo>
                  <a:lnTo>
                    <a:pt x="41052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30618" y="1830705"/>
              <a:ext cx="9525" cy="1626870"/>
            </a:xfrm>
            <a:custGeom>
              <a:avLst/>
              <a:gdLst/>
              <a:ahLst/>
              <a:cxnLst/>
              <a:rect l="l" t="t" r="r" b="b"/>
              <a:pathLst>
                <a:path w="9525" h="1626870">
                  <a:moveTo>
                    <a:pt x="0" y="162687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168718" y="1864042"/>
              <a:ext cx="3707130" cy="1584008"/>
            </a:xfrm>
            <a:custGeom>
              <a:avLst/>
              <a:gdLst/>
              <a:ahLst/>
              <a:cxnLst/>
              <a:rect l="l" t="t" r="r" b="b"/>
              <a:pathLst>
                <a:path w="3707130" h="1584008">
                  <a:moveTo>
                    <a:pt x="0" y="1584008"/>
                  </a:moveTo>
                  <a:lnTo>
                    <a:pt x="37071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130618" y="1846898"/>
              <a:ext cx="3745230" cy="1518285"/>
            </a:xfrm>
            <a:custGeom>
              <a:avLst/>
              <a:gdLst/>
              <a:ahLst/>
              <a:cxnLst/>
              <a:rect l="l" t="t" r="r" b="b"/>
              <a:pathLst>
                <a:path w="3745230" h="1518285">
                  <a:moveTo>
                    <a:pt x="0" y="1518285"/>
                  </a:moveTo>
                  <a:lnTo>
                    <a:pt x="0" y="808672"/>
                  </a:lnTo>
                  <a:lnTo>
                    <a:pt x="1243965" y="808672"/>
                  </a:lnTo>
                  <a:lnTo>
                    <a:pt x="1243965" y="0"/>
                  </a:lnTo>
                  <a:lnTo>
                    <a:pt x="3745230" y="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86579" y="1973104"/>
              <a:ext cx="2806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ROC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70566" y="262794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随机猜测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55645" y="3574732"/>
              <a:ext cx="329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FPR 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3052" y="1704022"/>
              <a:ext cx="329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↑ TPR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32332" y="3696652"/>
              <a:ext cx="17780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曲线下面积 AUC = 5/6 ≈ 0.833</a:t>
              </a:r>
            </a:p>
          </p:txBody>
        </p:sp>
      </p:grpSp>
      <p:grpSp>
        <p:nvGrpSpPr>
          <p:cNvPr id="45" name="c1-table-2"/>
          <p:cNvGrpSpPr/>
          <p:nvPr/>
        </p:nvGrpSpPr>
        <p:grpSpPr>
          <a:xfrm>
            <a:off x="527685" y="4019550"/>
            <a:ext cx="4996658" cy="1585437"/>
            <a:chOff x="527685" y="4019550"/>
            <a:chExt cx="4996658" cy="1585437"/>
          </a:xfrm>
        </p:grpSpPr>
        <p:sp>
          <p:nvSpPr>
            <p:cNvPr id="17" name="Rectangle 17"/>
            <p:cNvSpPr/>
            <p:nvPr/>
          </p:nvSpPr>
          <p:spPr>
            <a:xfrm>
              <a:off x="533400" y="4019550"/>
              <a:ext cx="497776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3918" y="41500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74166" y="4150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70456" y="4150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66746" y="4150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63036" y="4150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60278" y="41500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2374" y="45805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预测得分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43113" y="458057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39403" y="458057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35693" y="458057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31983" y="458057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29226" y="458057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87489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487965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2374" y="50111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真实类别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40040" y="501110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36329" y="501110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32620" y="501110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28910" y="501110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26152" y="501110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019550"/>
              <a:ext cx="4977765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524000" y="401955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320290" y="401955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116580" y="401955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912870" y="401955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710112" y="401955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7685" y="5384959"/>
              <a:ext cx="4996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阈值从 0.9 逐步降到 0.2，每降一次算一组 (FPR, TPR)，连起来就是左图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5815965" y="1524000"/>
            <a:ext cx="5842635" cy="2066925"/>
            <a:chOff x="5815965" y="1524000"/>
            <a:chExt cx="5842635" cy="2066925"/>
          </a:xfrm>
        </p:grpSpPr>
        <p:sp>
          <p:nvSpPr>
            <p:cNvPr id="46" name="Rectangle 46"/>
            <p:cNvSpPr/>
            <p:nvPr/>
          </p:nvSpPr>
          <p:spPr>
            <a:xfrm>
              <a:off x="5815965" y="1524000"/>
              <a:ext cx="5842635" cy="2066925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25490" y="1657350"/>
              <a:ext cx="47625" cy="18002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57900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52058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16434" y="1767364"/>
              <a:ext cx="19969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手算这 5 个样本的 AUC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50661" y="2119789"/>
              <a:ext cx="505498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AUC 等于随机取一个正例和一个反例、正例得分更高的概率。本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例共 2×3 = 6 个正反例对，只有 (c, b) 这一对排反了，所以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AUC = 5/6 ≈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0.833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51804" y="2978468"/>
              <a:ext cx="50185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也可以按左图的阶梯算面积：0.333×0.5 + 0.667×1 = 0.833，两种算法一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致。</a:t>
              </a:r>
            </a:p>
          </p:txBody>
        </p:sp>
      </p:grpSp>
      <p:grpSp>
        <p:nvGrpSpPr>
          <p:cNvPr id="65" name="c2-kv-2"/>
          <p:cNvGrpSpPr/>
          <p:nvPr/>
        </p:nvGrpSpPr>
        <p:grpSpPr>
          <a:xfrm>
            <a:off x="5808726" y="3799999"/>
            <a:ext cx="5849874" cy="1543622"/>
            <a:chOff x="5808726" y="3799999"/>
            <a:chExt cx="5849874" cy="1543622"/>
          </a:xfrm>
        </p:grpSpPr>
        <p:sp>
          <p:nvSpPr>
            <p:cNvPr id="54" name="TextBox 54"/>
            <p:cNvSpPr txBox="1"/>
            <p:nvPr/>
          </p:nvSpPr>
          <p:spPr>
            <a:xfrm>
              <a:off x="5808726" y="3799999"/>
              <a:ext cx="406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ROC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43129" y="3799999"/>
              <a:ext cx="46254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横轴 FPR，纵轴 TPR，阈值从高到低扫一遍画出的曲线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41052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808726" y="4221956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AUC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43129" y="4221956"/>
              <a:ext cx="40425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ROC 曲线下的面积。0.5 是随机猜测，1 是完美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45272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808726" y="4642961"/>
              <a:ext cx="8103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P-R 曲线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43129" y="4642961"/>
              <a:ext cx="4302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按得分从高到低依次判为正例，逐点算 P 与 R 画成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15965" y="4949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808726" y="5064919"/>
              <a:ext cx="406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MCC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43129" y="5064919"/>
              <a:ext cx="48906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(TP·TN − FP·FN) 除以 √(PP·PN·AP·AN)，取值 −1 到 1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6" name="Rectangle 6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511" y="6004084"/>
              <a:ext cx="90487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两条曲线有包含关系时外面那条更好，交叉时比面积。更正：MCC 式中 AN = FP + TN，A 版写作 TP + TN。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自测题（一）模型与推导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175809" cy="278702"/>
            <a:chOff x="526161" y="1547336"/>
            <a:chExt cx="517580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先自己写出答案，再对照。带计算的题请把每一步都写出来。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768792"/>
            <a:chOff x="533400" y="1941195"/>
            <a:chExt cx="5410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7525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为什么不直接用单位阶跃函数做判别，而要换成 Sigmoid？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792730"/>
              <a:ext cx="47885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单位阶跃函数不连续，在 z = 0 处跳变，其余各点导数恒为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0，梯度类优化方法无法确定参数 Θ。Sigmoid 形状接近阶跃且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处处可导，导数还有 g′ = g(1−g) 这个便于计算的形式。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86200"/>
            <a:ext cx="5410200" cy="1768792"/>
            <a:chOff x="533400" y="3886200"/>
            <a:chExt cx="5410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533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434840"/>
              <a:ext cx="4711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ℓ(Θ) = Σ[y log h + (1−y) log(1−h)] 推出 ∂ℓ/∂θⱼ。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737735"/>
              <a:ext cx="458285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先对 h 求导得 (y/g − (1−y)/(1−g))·∂g/∂θⱼ，再用 g′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g(1−g) 和 ∂z/∂θⱼ = xⱼ，化简得 (y(1−g) − (1−y)g)xⱼ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(y − h_Θ(x))xⱼ。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511618"/>
            <a:chOff x="6248400" y="1941195"/>
            <a:chExt cx="5410200" cy="151161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9345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Logit 变换，并说明 “对数几率回归” 这个名字的来历。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2792730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ln[ h_Θ(x)/(1 − h_Θ(x)) ] = Θᵀx。左边是样本为正例的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对数几率，模型用线性函数去拟合它，所以叫对数几率回归。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629025"/>
            <a:ext cx="5410200" cy="2025968"/>
            <a:chOff x="6248400" y="3629025"/>
            <a:chExt cx="5410200" cy="2025968"/>
          </a:xfrm>
        </p:grpSpPr>
        <p:sp>
          <p:nvSpPr>
            <p:cNvPr id="27" name="Rectangle 27"/>
            <p:cNvSpPr/>
            <p:nvPr/>
          </p:nvSpPr>
          <p:spPr>
            <a:xfrm>
              <a:off x="6248400" y="3629025"/>
              <a:ext cx="5410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382143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385572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177665"/>
              <a:ext cx="5025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梯度上升的更新式为什么是加号，而第1章的梯度下降是减号？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480560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这里最大化对数似然 ℓ(Θ)，要沿梯度正方向走；第1章最小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 J(Θ)，沿负梯度走。令 J(Θ) = −ℓ(Θ) 后两者完全一致。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题是本章最常考的推导题，g′ = g(1−g) 这一步一定要写出来。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自测题（二）计算与评估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000250"/>
            <a:chOff x="533400" y="1524000"/>
            <a:chExt cx="5410200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35568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 Θ = (−3, 0.8, 1.6)，样本 x = (1, 3, 1)。求 z、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h_Θ(x) 与几率，并判别。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47285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= −3 + 2.4 + 1.6 = 1；h = 1/(1+e⁻¹) = 0.731；几率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e¹ = 2.718。h &gt; 0.5，判为正例。x₁ 再加 1 时几率乘以 e⁰·⁸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2.23。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93795"/>
            <a:ext cx="5410200" cy="2000250"/>
            <a:chOff x="533400" y="3693795"/>
            <a:chExt cx="54102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533400" y="3693795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88048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91334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4225290"/>
              <a:ext cx="479674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TP = 80，FN = 20，FP = 40，TN = 860，求 Accuracy、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P、R、F1。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782502"/>
              <a:ext cx="46257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Accuracy = 940/1000 = 0.940；Precision = 80/120 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0.667；Recall = 80/100 = 0.800；F1 ≈ 0.727。注意全判为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反例时准确率仍有 0.900，所以准确率在这里不可靠。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000250"/>
            <a:chOff x="6248400" y="1524000"/>
            <a:chExt cx="54102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8232" y="2054542"/>
              <a:ext cx="45177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四个样本 x₁ = 0, 1, 2, 3，标签 y = 0, 0, 1, 1，Θ = (0,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0)，η = 0.1。做一步梯度上升。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28232" y="2612708"/>
              <a:ext cx="456571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全为 0 故 h 全为 0.5。∂ℓ/∂θ₀ = Σ(y−h)·1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−0.5−0.5+0.5+0.5 = 0；∂ℓ/∂θ₁ = Σ(y−h)x₁ = 0 − 0.5 + 1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+ 1.5 = 2。更新后 Θ = (0, 0.2)。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93795"/>
            <a:ext cx="5410200" cy="2000250"/>
            <a:chOff x="6248400" y="3693795"/>
            <a:chExt cx="5410200" cy="2000250"/>
          </a:xfrm>
        </p:grpSpPr>
        <p:sp>
          <p:nvSpPr>
            <p:cNvPr id="25" name="Rectangle 25"/>
            <p:cNvSpPr/>
            <p:nvPr/>
          </p:nvSpPr>
          <p:spPr>
            <a:xfrm>
              <a:off x="6248400" y="3693795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388048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391334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422529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牛顿法与梯度上升相比，快在哪里，代价是什么？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4525328"/>
              <a:ext cx="474573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牛顿法用二阶导数（Hessian）确定步长，收敛是二阶的，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通常十轮以内到位，且不用调学习率。代价是每步要算并求解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(n+1)×(n+1) 的 Hessian，复杂度含 n³ 项，参数量大时吃不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消；数据完全可分时 Hessian 还会趋于奇异。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1" name="Rectangle 3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6028373"/>
              <a:ext cx="6852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 题的陷阱在最后一句：类别不平衡时先看查全率和 F1，不要被高准确率骗过去。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第3章 逻辑回归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3525"/>
            <a:ext cx="5342782" cy="2019585"/>
            <a:chOff x="533400" y="1533525"/>
            <a:chExt cx="5342782" cy="201958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4734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分类的判据是 y 取离散值；直接用线性回归拟合 0/1 标签不稳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45094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Sigmoid 把 Θᵀx 压进 (0,1)，g′ = g(1−g) 支撑起全章推导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43130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h_Θ(x) = g(Θᵀx) 读作正类概率，决策边界仍是 Θᵀx = 0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4705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Logit 变换说明模型拟合的是对数几率，θⱼ 是几率的对数增量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48104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参数由最大似然定出，ℓ(Θ) 取负号即交叉熵，梯度是 (y − h)x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99942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5307" y="30350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3148" y="3010376"/>
              <a:ext cx="50730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牛顿法用 Hessian 加速，n 不大时十轮内收敛，叫 Fisher scoring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29279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5307" y="33274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3148" y="3303746"/>
              <a:ext cx="47317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评估先分数据再看指标，混淆矩阵四个数算出 P、R、F1、AUC</a:t>
              </a:r>
            </a:p>
          </p:txBody>
        </p:sp>
      </p:grpSp>
      <p:grpSp>
        <p:nvGrpSpPr>
          <p:cNvPr id="41" name="c1-card-2"/>
          <p:cNvGrpSpPr/>
          <p:nvPr/>
        </p:nvGrpSpPr>
        <p:grpSpPr>
          <a:xfrm>
            <a:off x="533400" y="3667125"/>
            <a:ext cx="5842635" cy="1883092"/>
            <a:chOff x="533400" y="3667125"/>
            <a:chExt cx="5842635" cy="1883092"/>
          </a:xfrm>
        </p:grpSpPr>
        <p:sp>
          <p:nvSpPr>
            <p:cNvPr id="29" name="Rectangle 29"/>
            <p:cNvSpPr/>
            <p:nvPr/>
          </p:nvSpPr>
          <p:spPr>
            <a:xfrm>
              <a:off x="533400" y="3667125"/>
              <a:ext cx="5842635" cy="1883092"/>
            </a:xfrm>
            <a:prstGeom prst="roundRect">
              <a:avLst>
                <a:gd name="adj" fmla="val 7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800475"/>
              <a:ext cx="47625" cy="16163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384810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4642" y="388096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24148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188619"/>
              <a:ext cx="4982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混淆矩阵标注错位：FN 假阴性、TN 真阴性、FP 假阳性（41 页）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52628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473416"/>
              <a:ext cx="44063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FPR = FP/(FP+TN)，A 版写成 FP/(TP+FP)（第 42 页）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481107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4758214"/>
              <a:ext cx="39231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MCC 的 AN = FP+TN，A 版写成 TP+TN（第 43 页）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62000" y="509587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7448" y="5043964"/>
              <a:ext cx="52270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likehood 应为 likelihood，Logistics 应为 Logistic（第 18、4 页）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6680835" y="1524000"/>
            <a:ext cx="4977765" cy="2474595"/>
            <a:chOff x="6680835" y="1524000"/>
            <a:chExt cx="4977765" cy="2474595"/>
          </a:xfrm>
        </p:grpSpPr>
        <p:sp>
          <p:nvSpPr>
            <p:cNvPr id="42" name="Rectangle 42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313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49575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75514" y="2023110"/>
              <a:ext cx="541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Sigmoid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0901" y="2023110"/>
              <a:ext cx="2964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g(z) = 1/(1+e⁻ᶻ)，值域 (0,1)，g′ = g(1−g)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80835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75514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对数几率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70901" y="2404110"/>
              <a:ext cx="2933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ln[p/(1−p)] = Θᵀx，逻辑回归真正在拟合的量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75514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梯度上升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70901" y="2785110"/>
              <a:ext cx="2751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θⱼ += η(y − h)xⱼ，与线性回归的 LMS 同形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80835" y="3049905"/>
              <a:ext cx="497776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75514" y="3167062"/>
              <a:ext cx="83843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查准率 / 查全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70901" y="3260408"/>
              <a:ext cx="34393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TP/(TP+FP) 与 TP/(TP+FN)，分母一看预测一看真实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680835" y="36128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5514" y="37347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AUC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70901" y="37347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随机一正一反，正例得分更高的概率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680835" y="1524000"/>
              <a:ext cx="4977765" cy="2474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871460" y="1524000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6680835" y="4163378"/>
            <a:ext cx="4977765" cy="1386840"/>
            <a:chOff x="6680835" y="4163378"/>
            <a:chExt cx="4977765" cy="1386840"/>
          </a:xfrm>
        </p:grpSpPr>
        <p:sp>
          <p:nvSpPr>
            <p:cNvPr id="64" name="Rectangle 64"/>
            <p:cNvSpPr/>
            <p:nvPr/>
          </p:nvSpPr>
          <p:spPr>
            <a:xfrm>
              <a:off x="6680835" y="4163378"/>
              <a:ext cx="4977765" cy="1386840"/>
            </a:xfrm>
            <a:prstGeom prst="roundRect">
              <a:avLst>
                <a:gd name="adj" fmla="val 961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861810" y="434435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950431" y="437721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55333" y="4684871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第4章把这个 Sigmoid 搬进神经元并堆成多层：逻辑回归就是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只有一个输出单元的单层网络，本章的梯度推导会原样出现在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反向传播的最后一层。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9" name="Rectangle 6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6039326"/>
              <a:ext cx="9797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复习时默写三样东西：Sigmoid 的导数、对数似然的梯度、混淆矩阵四个指标的分母。再把第 22、27、42 页三道例题重算一遍。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机器学习 · 第3章 逻辑回归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l_ch03">
  <a:themeElements>
    <a:clrScheme name="ml_ch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l_ch0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_ch0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2026-09-19T10:10:55Z</dcterms:created>
  <dcterms:modified xsi:type="dcterms:W3CDTF">2026-09-19T10:10:55Z</dcterms:modified>
  <cp:category/>
  <cp:contentStatus/>
</cp:coreProperties>
</file>