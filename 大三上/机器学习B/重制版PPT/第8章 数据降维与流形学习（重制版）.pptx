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a1ff4acaad0da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6a6f379bc700e7c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d65ae3469557bd.png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第八章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数据降维与流形学习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从高维观测里找出真正起作用的少数几个变量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PCA 与方差贡献率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81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LDA、SVD 与 MDS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36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核 PCA 与流形学习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表征学习与自编码器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83290" cy="205359"/>
            <a:chOff x="680466" y="6192202"/>
            <a:chExt cx="498329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832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自学复习版｜据吉林大学《机器学习》A、B 两版第8章课件合并整理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735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165" y="407194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维数灾难、降维的动机、特征选择与特征提取、方法分类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6079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主成分分析 PCA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最大方差与最小重构误差两种推导、算法步骤、贡献率、手算例题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其他线性方法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67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LDA 的 Fisher 准则、SVD 与低秩近似、推荐打分、经典 MDS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核主成分分析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7587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线性方法的不足、核技巧、Gram 矩阵的特征分解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98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流形的定义、ISOMAP、LLE、拉普拉斯特征映射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表征学习与自编码器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自监督表征学习、自编码器、去噪与卷积自编码器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手算二维数据的 PCA：协方差矩阵、特征分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解、投影和贡献率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025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LDA 的 Fisher 准则，并用 w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Sw⁻¹(m₁ − m₂) 求投影方向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SVD 与特征值分解的关系，用前几个奇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异值做低秩近似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 ISOMAP、LLE、LE 各自保持的几何性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质和各自的弱点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画出自编码器的结构，写出它的重构损失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136392" cy="3351847"/>
            <a:chOff x="667512" y="1835468"/>
            <a:chExt cx="31363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数据降维概述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维数越高，样本越稀，计算越贵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维数灾难是什么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降维的定义与动机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特征选择与特征提取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降维方法怎么分类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数据降维概述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维数灾难：维数一高，样本就稀疏得不够用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899779" cy="293370"/>
            <a:chOff x="525780" y="1548765"/>
            <a:chExt cx="889977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899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版把它定义为“随着维数增加，计算量呈指数倍增长”的现象；右边两组实测数字说明它从哪里来。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54530"/>
            <a:ext cx="5085398" cy="2175510"/>
            <a:chOff x="533400" y="1954530"/>
            <a:chExt cx="5085398" cy="217551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085398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31300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维数灾难 Curse of Dimensionality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在涉及向量计算的问题中，随着维数的增加，计算量呈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指数倍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增长的一种现象。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18039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12086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很多机器学习问题里，每条数据的特征维度都很高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4985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43804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直接用原始数据，训练会非常慢，还会损害模型的泛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化性能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311015"/>
            <a:ext cx="5085398" cy="2043112"/>
            <a:chOff x="533400" y="4311015"/>
            <a:chExt cx="5085398" cy="2043112"/>
          </a:xfrm>
        </p:grpSpPr>
        <p:sp>
          <p:nvSpPr>
            <p:cNvPr id="20" name="Rectangle 20"/>
            <p:cNvSpPr/>
            <p:nvPr/>
          </p:nvSpPr>
          <p:spPr>
            <a:xfrm>
              <a:off x="533400" y="4311015"/>
              <a:ext cx="5085398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444365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9620" y="45091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1060" y="45434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直观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52931" y="4543901"/>
              <a:ext cx="1693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把每一维切成 10 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381" y="4887754"/>
              <a:ext cx="4477893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一维要 10 个格子，二维要 100 个，三维要 1000 个。想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让每个格子里都有样本，所需样本数随维数指数增长。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4 页那三幅方块图（一排、一面、一整块）画的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就是这件事。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918264" y="1954530"/>
            <a:ext cx="5740336" cy="2401824"/>
            <a:chOff x="5918264" y="1954530"/>
            <a:chExt cx="5740336" cy="2401824"/>
          </a:xfrm>
        </p:grpSpPr>
        <p:sp>
          <p:nvSpPr>
            <p:cNvPr id="27" name="Rectangle 27"/>
            <p:cNvSpPr/>
            <p:nvPr/>
          </p:nvSpPr>
          <p:spPr>
            <a:xfrm>
              <a:off x="5923598" y="1954530"/>
              <a:ext cx="573500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00123" y="2083118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维数 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5796" y="2083118"/>
              <a:ext cx="22047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圈住 10% 体积的小立方体边长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93580" y="208311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最远与最近点距离的相对差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7111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9951" y="25069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29570" y="25069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23598" y="279844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923598" y="2803208"/>
              <a:ext cx="573500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0465" y="29317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9951" y="293179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9570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923598" y="322326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93819" y="3356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965632" y="3237548"/>
              <a:ext cx="2504122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89951" y="335661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85146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923598" y="364712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923598" y="3651885"/>
              <a:ext cx="573500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7173" y="3780472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89951" y="378047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488805" y="3661410"/>
              <a:ext cx="2160270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385146" y="37804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923598" y="1954530"/>
              <a:ext cx="573500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51345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74518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18264" y="4150995"/>
              <a:ext cx="4595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单位立方体内均匀取 200 个点，用 Python 实测；边长 = 0.1 的 d 次方根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5923598" y="4495800"/>
            <a:ext cx="5735002" cy="1858328"/>
            <a:chOff x="5923598" y="4495800"/>
            <a:chExt cx="5735002" cy="1858328"/>
          </a:xfrm>
        </p:grpSpPr>
        <p:sp>
          <p:nvSpPr>
            <p:cNvPr id="55" name="Rectangle 55"/>
            <p:cNvSpPr/>
            <p:nvPr/>
          </p:nvSpPr>
          <p:spPr>
            <a:xfrm>
              <a:off x="5923598" y="4495800"/>
              <a:ext cx="5735002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933122" y="4629150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59818" y="46939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51258" y="47282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43129" y="4728686"/>
              <a:ext cx="1573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“近邻”已经不近了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52579" y="5072539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100 时，想圈住 10% 的样本，小立方体每条边要占全长的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98%，所谓“局部”几乎就是全部。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52579" y="5661184"/>
              <a:ext cx="49738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最远点与最近点的距离差不多一样远（相对差只剩 0.17），依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赖距离的方法（k 近邻、聚类、核方法）随之失效。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数据降维概述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降维是什么，为什么要降维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降维把样本从高维空间映射到低维空间；它和信息论中的有损压缩相似，完全无损的降维不存在。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54530"/>
            <a:ext cx="5626418" cy="1662112"/>
            <a:chOff x="533400" y="1954530"/>
            <a:chExt cx="5626418" cy="16621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28576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 Dimensionality Reduction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把训练数据中的样本（实例）从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高维空间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转换到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低维空间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9298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87035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按映射形式分为线性降维和非线性降维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2499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19039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非线性降维又分为基于核函数的方法和基于流形的方法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801428"/>
            <a:ext cx="5626418" cy="2405062"/>
            <a:chOff x="533400" y="3801428"/>
            <a:chExt cx="5626418" cy="2405062"/>
          </a:xfrm>
        </p:grpSpPr>
        <p:sp>
          <p:nvSpPr>
            <p:cNvPr id="20" name="Rectangle 20"/>
            <p:cNvSpPr/>
            <p:nvPr/>
          </p:nvSpPr>
          <p:spPr>
            <a:xfrm>
              <a:off x="533400" y="3801428"/>
              <a:ext cx="5626418" cy="2405062"/>
            </a:xfrm>
            <a:prstGeom prst="roundRect">
              <a:avLst>
                <a:gd name="adj" fmla="val 5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934778"/>
              <a:ext cx="47625" cy="21383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0052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5543" y="4040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76744" y="4045744"/>
              <a:ext cx="253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一组人脸图像只有 3 个自由度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397216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64×64 的灰度人脸图是 4096 维向量。同一张脸在不同条件下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拍的图只随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左右转头、上下点头、光照方向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三个量变化，这些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图落在 4096 维空间里的一个三维流形上（A 版第 3 页）。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239" y="5256848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降维要找的就是这三个量，其余 4093 维都是冗余。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6457379" y="1977866"/>
            <a:ext cx="5008879" cy="2535175"/>
            <a:chOff x="6457379" y="1977866"/>
            <a:chExt cx="5008879" cy="2535175"/>
          </a:xfrm>
        </p:grpSpPr>
        <p:sp>
          <p:nvSpPr>
            <p:cNvPr id="28" name="TextBox 28"/>
            <p:cNvSpPr txBox="1"/>
            <p:nvPr/>
          </p:nvSpPr>
          <p:spPr>
            <a:xfrm>
              <a:off x="6457379" y="1977866"/>
              <a:ext cx="26053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降维的动机（A、B 两版合并）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464618" y="234696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08838" y="231695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减少存储空间和计算时间，降低算法运算成本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464618" y="2675572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8838" y="264556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原始观察空间中的样本有极大的信息冗余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464618" y="300513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8838" y="297513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去除噪声，提高模型性能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464618" y="333470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08838" y="330469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高维样本会让分类器设计陷入维数灾难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64618" y="3663315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8838" y="3633311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数据可视化（降到 2 维或 3 维）、特征提取、分类与聚类等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任务需要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464618" y="426434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08838" y="423433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常用于文本处理、人脸识别、图像识别、自然语言处理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4642485"/>
            <a:ext cx="5193982" cy="1564958"/>
            <a:chOff x="6464618" y="4642485"/>
            <a:chExt cx="5193982" cy="1564958"/>
          </a:xfrm>
        </p:grpSpPr>
        <p:sp>
          <p:nvSpPr>
            <p:cNvPr id="42" name="Rectangle 42"/>
            <p:cNvSpPr/>
            <p:nvPr/>
          </p:nvSpPr>
          <p:spPr>
            <a:xfrm>
              <a:off x="6464618" y="4642485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477583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6552" y="48463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713" y="4882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7961" y="4885849"/>
              <a:ext cx="3323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降维后的变量“不相关”，不一定“独立”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9314" y="5238274"/>
              <a:ext cx="453199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6 页说降维能“确保变量之间彼此独立”。PCA 这类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方法只保证新变量两两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不相关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（协方差为 0）；不相关推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不出独立，数据服从多元高斯分布时两者才等价。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数据降维概述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特征越多越好吗：特征选择与特征提取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63682" cy="308039"/>
            <a:chOff x="525399" y="1550194"/>
            <a:chExt cx="108636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636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特征多带来信息，也带来维数灾难。实际做法是先尽可能多地收集可能有用的特征，再按需要做特征（维数）约简。</a:t>
              </a:r>
            </a:p>
          </p:txBody>
        </p:sp>
      </p:grpSp>
      <p:grpSp>
        <p:nvGrpSpPr>
          <p:cNvPr id="29" name="c1-flow-1"/>
          <p:cNvGrpSpPr/>
          <p:nvPr/>
        </p:nvGrpSpPr>
        <p:grpSpPr>
          <a:xfrm>
            <a:off x="666750" y="2296478"/>
            <a:ext cx="5143500" cy="1628774"/>
            <a:chOff x="666750" y="2296478"/>
            <a:chExt cx="5143500" cy="1628774"/>
          </a:xfrm>
        </p:grpSpPr>
        <p:sp>
          <p:nvSpPr>
            <p:cNvPr id="9" name="Freeform 9"/>
            <p:cNvSpPr/>
            <p:nvPr/>
          </p:nvSpPr>
          <p:spPr>
            <a:xfrm>
              <a:off x="2203132" y="251555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65058" y="24631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07168" y="251555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69092" y="24631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35418" y="2734628"/>
              <a:ext cx="9525" cy="456247"/>
            </a:xfrm>
            <a:custGeom>
              <a:avLst/>
              <a:gdLst/>
              <a:ahLst/>
              <a:cxnLst/>
              <a:rect l="l" t="t" r="r" b="b"/>
              <a:pathLst>
                <a:path w="9525" h="456247">
                  <a:moveTo>
                    <a:pt x="0" y="0"/>
                  </a:moveTo>
                  <a:lnTo>
                    <a:pt x="0" y="4562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3030" y="31908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03132" y="3610928"/>
              <a:ext cx="1965960" cy="9525"/>
            </a:xfrm>
            <a:custGeom>
              <a:avLst/>
              <a:gdLst/>
              <a:ahLst/>
              <a:cxnLst/>
              <a:rect l="l" t="t" r="r" b="b"/>
              <a:pathLst>
                <a:path w="1965960" h="9525">
                  <a:moveTo>
                    <a:pt x="0" y="0"/>
                  </a:moveTo>
                  <a:lnTo>
                    <a:pt x="19659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69092" y="35585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2296478"/>
              <a:ext cx="153638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69832" y="2296478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73868" y="2296478"/>
              <a:ext cx="153638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" y="3295650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73868" y="339185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8156" y="24264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增加特征数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01239" y="24264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增加信息量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4321" y="24264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提高准确性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1260" y="341233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增加训练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分类器的难度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90478" y="35218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维数灾难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24200" y="33947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62490" y="34213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349115"/>
            <a:ext cx="5410200" cy="1906905"/>
            <a:chOff x="533400" y="4349115"/>
            <a:chExt cx="5410200" cy="1906905"/>
          </a:xfrm>
        </p:grpSpPr>
        <p:sp>
          <p:nvSpPr>
            <p:cNvPr id="30" name="Rectangle 30"/>
            <p:cNvSpPr/>
            <p:nvPr/>
          </p:nvSpPr>
          <p:spPr>
            <a:xfrm>
              <a:off x="533400" y="4349115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2950" y="45586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158" y="45943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3978" y="459390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同一件事的两面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330" y="4954905"/>
              <a:ext cx="4777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特征多，信息就多，准确率可能更高；可特征多了，训练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分类器需要的样本和计算都急剧增加。A 版第 6 页的解决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办法：选取尽可能多的、可能有用的特征，然后根据需要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进行特征/维数约简。</a:t>
              </a:r>
            </a:p>
          </p:txBody>
        </p:sp>
      </p:grpSp>
      <p:grpSp>
        <p:nvGrpSpPr>
          <p:cNvPr id="56" name="c2-compare-1"/>
          <p:cNvGrpSpPr/>
          <p:nvPr/>
        </p:nvGrpSpPr>
        <p:grpSpPr>
          <a:xfrm>
            <a:off x="6248400" y="1967865"/>
            <a:ext cx="5410200" cy="3131820"/>
            <a:chOff x="6248400" y="1967865"/>
            <a:chExt cx="5410200" cy="3131820"/>
          </a:xfrm>
        </p:grpSpPr>
        <p:sp>
          <p:nvSpPr>
            <p:cNvPr id="36" name="Rectangle 36"/>
            <p:cNvSpPr/>
            <p:nvPr/>
          </p:nvSpPr>
          <p:spPr>
            <a:xfrm>
              <a:off x="6248400" y="1967865"/>
              <a:ext cx="2495550" cy="313182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2101215"/>
              <a:ext cx="47625" cy="28651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88430" y="2202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特征选择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6193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556510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依据某一标准，从已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有特征中挑出性质最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突出的一部分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35261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346329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保留下来的仍是原始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特征，含义清楚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4147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4084320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例：按与标签的相关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系数排序，保留前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63050" y="1967865"/>
              <a:ext cx="2495550" cy="313182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72575" y="2101215"/>
              <a:ext cx="47625" cy="2865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03080" y="2202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特征提取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416415" y="26193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74530" y="2556510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对已有特征做某种变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换，得到新的约简特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416415" y="35261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574530" y="346329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新特征是原特征的组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合，含义可能模糊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416415" y="4147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74530" y="4084320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本章的 PCA、LDA、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流形学习都属于这一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791575" y="33718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61915" y="34680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248400" y="5290185"/>
            <a:ext cx="5410200" cy="965835"/>
            <a:chOff x="6248400" y="5290185"/>
            <a:chExt cx="5410200" cy="965835"/>
          </a:xfrm>
        </p:grpSpPr>
        <p:sp>
          <p:nvSpPr>
            <p:cNvPr id="57" name="Rectangle 57"/>
            <p:cNvSpPr/>
            <p:nvPr/>
          </p:nvSpPr>
          <p:spPr>
            <a:xfrm>
              <a:off x="6248400" y="5290185"/>
              <a:ext cx="5410200" cy="965835"/>
            </a:xfrm>
            <a:prstGeom prst="roundRect">
              <a:avLst>
                <a:gd name="adj" fmla="val 1183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673090"/>
              <a:ext cx="200026" cy="200026"/>
              <a:chOff x="6453188" y="567309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6730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53200" y="57397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42088" y="57731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130" y="5530215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实验数据分析、数据可视化（通常降到 2 维或 3 维）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也需要维数约简。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数据降维概述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降维方法按两个维度分类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一是用不用样本的类别标签，二是映射是线性的还是非线性的。本章按后一种分类组织。</a:t>
              </a:r>
            </a:p>
          </p:txBody>
        </p:sp>
      </p:grpSp>
      <p:grpSp>
        <p:nvGrpSpPr>
          <p:cNvPr id="53" name="c1-tree-1"/>
          <p:cNvGrpSpPr/>
          <p:nvPr/>
        </p:nvGrpSpPr>
        <p:grpSpPr>
          <a:xfrm>
            <a:off x="533400" y="2019300"/>
            <a:ext cx="6167438" cy="4278630"/>
            <a:chOff x="533400" y="2019300"/>
            <a:chExt cx="6167438" cy="4278630"/>
          </a:xfrm>
        </p:grpSpPr>
        <p:sp>
          <p:nvSpPr>
            <p:cNvPr id="9" name="Freeform 9"/>
            <p:cNvSpPr/>
            <p:nvPr/>
          </p:nvSpPr>
          <p:spPr>
            <a:xfrm>
              <a:off x="2794635" y="2199322"/>
              <a:ext cx="419100" cy="734378"/>
            </a:xfrm>
            <a:custGeom>
              <a:avLst/>
              <a:gdLst/>
              <a:ahLst/>
              <a:cxnLst/>
              <a:rect l="l" t="t" r="r" b="b"/>
              <a:pathLst>
                <a:path w="419100" h="734378">
                  <a:moveTo>
                    <a:pt x="0" y="734378"/>
                  </a:moveTo>
                  <a:lnTo>
                    <a:pt x="209550" y="73437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94635" y="2688908"/>
              <a:ext cx="419100" cy="244792"/>
            </a:xfrm>
            <a:custGeom>
              <a:avLst/>
              <a:gdLst/>
              <a:ahLst/>
              <a:cxnLst/>
              <a:rect l="l" t="t" r="r" b="b"/>
              <a:pathLst>
                <a:path w="419100" h="244792">
                  <a:moveTo>
                    <a:pt x="0" y="244792"/>
                  </a:moveTo>
                  <a:lnTo>
                    <a:pt x="209550" y="2447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794635" y="2933700"/>
              <a:ext cx="419100" cy="245745"/>
            </a:xfrm>
            <a:custGeom>
              <a:avLst/>
              <a:gdLst/>
              <a:ahLst/>
              <a:cxnLst/>
              <a:rect l="l" t="t" r="r" b="b"/>
              <a:pathLst>
                <a:path w="419100" h="245745">
                  <a:moveTo>
                    <a:pt x="0" y="0"/>
                  </a:moveTo>
                  <a:lnTo>
                    <a:pt x="209550" y="0"/>
                  </a:lnTo>
                  <a:lnTo>
                    <a:pt x="209550" y="245745"/>
                  </a:lnTo>
                  <a:lnTo>
                    <a:pt x="419100" y="2457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94635" y="2933700"/>
              <a:ext cx="419100" cy="735330"/>
            </a:xfrm>
            <a:custGeom>
              <a:avLst/>
              <a:gdLst/>
              <a:ahLst/>
              <a:cxnLst/>
              <a:rect l="l" t="t" r="r" b="b"/>
              <a:pathLst>
                <a:path w="419100" h="735330">
                  <a:moveTo>
                    <a:pt x="0" y="0"/>
                  </a:moveTo>
                  <a:lnTo>
                    <a:pt x="209550" y="0"/>
                  </a:lnTo>
                  <a:lnTo>
                    <a:pt x="209550" y="735330"/>
                  </a:lnTo>
                  <a:lnTo>
                    <a:pt x="419100" y="73533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690110" y="4158615"/>
              <a:ext cx="419100" cy="244792"/>
            </a:xfrm>
            <a:custGeom>
              <a:avLst/>
              <a:gdLst/>
              <a:ahLst/>
              <a:cxnLst/>
              <a:rect l="l" t="t" r="r" b="b"/>
              <a:pathLst>
                <a:path w="419100" h="244792">
                  <a:moveTo>
                    <a:pt x="0" y="244792"/>
                  </a:moveTo>
                  <a:lnTo>
                    <a:pt x="209550" y="2447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90110" y="4403408"/>
              <a:ext cx="419100" cy="244792"/>
            </a:xfrm>
            <a:custGeom>
              <a:avLst/>
              <a:gdLst/>
              <a:ahLst/>
              <a:cxnLst/>
              <a:rect l="l" t="t" r="r" b="b"/>
              <a:pathLst>
                <a:path w="419100" h="244792">
                  <a:moveTo>
                    <a:pt x="0" y="0"/>
                  </a:moveTo>
                  <a:lnTo>
                    <a:pt x="209550" y="0"/>
                  </a:lnTo>
                  <a:lnTo>
                    <a:pt x="209550" y="244792"/>
                  </a:lnTo>
                  <a:lnTo>
                    <a:pt x="419100" y="2447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90110" y="5137785"/>
              <a:ext cx="419100" cy="245745"/>
            </a:xfrm>
            <a:custGeom>
              <a:avLst/>
              <a:gdLst/>
              <a:ahLst/>
              <a:cxnLst/>
              <a:rect l="l" t="t" r="r" b="b"/>
              <a:pathLst>
                <a:path w="419100" h="245745">
                  <a:moveTo>
                    <a:pt x="0" y="245745"/>
                  </a:moveTo>
                  <a:lnTo>
                    <a:pt x="209550" y="24574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690110" y="5383530"/>
              <a:ext cx="419100" cy="244792"/>
            </a:xfrm>
            <a:custGeom>
              <a:avLst/>
              <a:gdLst/>
              <a:ahLst/>
              <a:cxnLst/>
              <a:rect l="l" t="t" r="r" b="b"/>
              <a:pathLst>
                <a:path w="419100" h="244792">
                  <a:moveTo>
                    <a:pt x="0" y="0"/>
                  </a:moveTo>
                  <a:lnTo>
                    <a:pt x="209550" y="0"/>
                  </a:lnTo>
                  <a:lnTo>
                    <a:pt x="209550" y="244792"/>
                  </a:lnTo>
                  <a:lnTo>
                    <a:pt x="419100" y="2447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90110" y="611790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94635" y="4403408"/>
              <a:ext cx="419100" cy="857250"/>
            </a:xfrm>
            <a:custGeom>
              <a:avLst/>
              <a:gdLst/>
              <a:ahLst/>
              <a:cxnLst/>
              <a:rect l="l" t="t" r="r" b="b"/>
              <a:pathLst>
                <a:path w="419100" h="857250">
                  <a:moveTo>
                    <a:pt x="0" y="857250"/>
                  </a:moveTo>
                  <a:lnTo>
                    <a:pt x="209550" y="8572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794635" y="5260658"/>
              <a:ext cx="419100" cy="122873"/>
            </a:xfrm>
            <a:custGeom>
              <a:avLst/>
              <a:gdLst/>
              <a:ahLst/>
              <a:cxnLst/>
              <a:rect l="l" t="t" r="r" b="b"/>
              <a:pathLst>
                <a:path w="419100" h="122873">
                  <a:moveTo>
                    <a:pt x="0" y="0"/>
                  </a:moveTo>
                  <a:lnTo>
                    <a:pt x="209550" y="0"/>
                  </a:lnTo>
                  <a:lnTo>
                    <a:pt x="209550" y="122873"/>
                  </a:lnTo>
                  <a:lnTo>
                    <a:pt x="419100" y="1228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94635" y="5260658"/>
              <a:ext cx="419100" cy="857250"/>
            </a:xfrm>
            <a:custGeom>
              <a:avLst/>
              <a:gdLst/>
              <a:ahLst/>
              <a:cxnLst/>
              <a:rect l="l" t="t" r="r" b="b"/>
              <a:pathLst>
                <a:path w="419100" h="857250">
                  <a:moveTo>
                    <a:pt x="0" y="0"/>
                  </a:moveTo>
                  <a:lnTo>
                    <a:pt x="209550" y="0"/>
                  </a:lnTo>
                  <a:lnTo>
                    <a:pt x="209550" y="857250"/>
                  </a:lnTo>
                  <a:lnTo>
                    <a:pt x="419100" y="8572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378268" y="2933700"/>
              <a:ext cx="419100" cy="1163955"/>
            </a:xfrm>
            <a:custGeom>
              <a:avLst/>
              <a:gdLst/>
              <a:ahLst/>
              <a:cxnLst/>
              <a:rect l="l" t="t" r="r" b="b"/>
              <a:pathLst>
                <a:path w="419100" h="1163955">
                  <a:moveTo>
                    <a:pt x="0" y="1163955"/>
                  </a:moveTo>
                  <a:lnTo>
                    <a:pt x="209550" y="11639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378268" y="4097655"/>
              <a:ext cx="419100" cy="1163002"/>
            </a:xfrm>
            <a:custGeom>
              <a:avLst/>
              <a:gdLst/>
              <a:ahLst/>
              <a:cxnLst/>
              <a:rect l="l" t="t" r="r" b="b"/>
              <a:pathLst>
                <a:path w="419100" h="1163002">
                  <a:moveTo>
                    <a:pt x="0" y="0"/>
                  </a:moveTo>
                  <a:lnTo>
                    <a:pt x="209550" y="0"/>
                  </a:lnTo>
                  <a:lnTo>
                    <a:pt x="209550" y="1163002"/>
                  </a:lnTo>
                  <a:lnTo>
                    <a:pt x="419100" y="11630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13735" y="2019300"/>
              <a:ext cx="147732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13735" y="2509838"/>
              <a:ext cx="147732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13735" y="2999422"/>
              <a:ext cx="147732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213735" y="3389948"/>
              <a:ext cx="147732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97368" y="2754630"/>
              <a:ext cx="997268" cy="360045"/>
            </a:xfrm>
            <a:prstGeom prst="roundRect">
              <a:avLst>
                <a:gd name="adj" fmla="val 2645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109210" y="3978592"/>
              <a:ext cx="159162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09210" y="4369118"/>
              <a:ext cx="159162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213735" y="4223385"/>
              <a:ext cx="1477328" cy="360045"/>
            </a:xfrm>
            <a:prstGeom prst="roundRect">
              <a:avLst>
                <a:gd name="adj" fmla="val 2645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09210" y="4958715"/>
              <a:ext cx="159162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09210" y="5349240"/>
              <a:ext cx="159162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13735" y="5203508"/>
              <a:ext cx="1477328" cy="360045"/>
            </a:xfrm>
            <a:prstGeom prst="roundRect">
              <a:avLst>
                <a:gd name="adj" fmla="val 2645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09210" y="5937885"/>
              <a:ext cx="159162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213735" y="5937885"/>
              <a:ext cx="1477328" cy="360045"/>
            </a:xfrm>
            <a:prstGeom prst="roundRect">
              <a:avLst>
                <a:gd name="adj" fmla="val 2645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797368" y="4981575"/>
              <a:ext cx="997268" cy="558165"/>
            </a:xfrm>
            <a:prstGeom prst="roundRect">
              <a:avLst>
                <a:gd name="adj" fmla="val 1706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917632"/>
              <a:ext cx="844868" cy="360045"/>
            </a:xfrm>
            <a:prstGeom prst="roundRect">
              <a:avLst>
                <a:gd name="adj" fmla="val 2645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02889" y="2115502"/>
              <a:ext cx="1152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主成分分析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02889" y="2605088"/>
              <a:ext cx="1314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 线性判别分析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02889" y="3095625"/>
              <a:ext cx="1152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奇异值分解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02889" y="3486150"/>
              <a:ext cx="110185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 多维尺度变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86522" y="28498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线性降维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98364" y="4074795"/>
              <a:ext cx="12051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 PCA（KPCA）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98364" y="4465320"/>
              <a:ext cx="108661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主曲线、SOM、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GTM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02889" y="4319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传统非线性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98364" y="5053965"/>
              <a:ext cx="1393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ISOMAP、LLE、LE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98364" y="5445442"/>
              <a:ext cx="98755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HLLE、LTSA、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MVU…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02889" y="5299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流形学习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98364" y="6034088"/>
              <a:ext cx="1288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自编码器（B 版）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302889" y="60340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神经网络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86522" y="5077778"/>
              <a:ext cx="6217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非线性降</a:t>
              </a:r>
              <a:br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554" y="4013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降维方法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7005638" y="1954530"/>
            <a:ext cx="4652962" cy="1933575"/>
            <a:chOff x="7005638" y="1954530"/>
            <a:chExt cx="4652962" cy="1933575"/>
          </a:xfrm>
        </p:grpSpPr>
        <p:sp>
          <p:nvSpPr>
            <p:cNvPr id="54" name="Rectangle 54"/>
            <p:cNvSpPr/>
            <p:nvPr/>
          </p:nvSpPr>
          <p:spPr>
            <a:xfrm>
              <a:off x="7005638" y="1954530"/>
              <a:ext cx="465296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720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是否用标签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5553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10984" y="26222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93086" y="2515552"/>
              <a:ext cx="2420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PCA、SVD、MDS、KPCA、ISOMAP、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LLE、LE、自编码器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05638" y="3023235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05638" y="3027998"/>
              <a:ext cx="465296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10984" y="31594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有监督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93086" y="315944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05638" y="3453765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10984" y="358997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半监督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93086" y="358997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同时利用少量有标签和大量无标签样本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005638" y="1954530"/>
              <a:ext cx="4652962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582978" y="195453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rd-2"/>
          <p:cNvGrpSpPr/>
          <p:nvPr/>
        </p:nvGrpSpPr>
        <p:grpSpPr>
          <a:xfrm>
            <a:off x="7005638" y="4073842"/>
            <a:ext cx="4652962" cy="2156460"/>
            <a:chOff x="7005638" y="4073842"/>
            <a:chExt cx="4652962" cy="2156460"/>
          </a:xfrm>
        </p:grpSpPr>
        <p:sp>
          <p:nvSpPr>
            <p:cNvPr id="69" name="Rectangle 69"/>
            <p:cNvSpPr/>
            <p:nvPr/>
          </p:nvSpPr>
          <p:spPr>
            <a:xfrm>
              <a:off x="7005638" y="4073842"/>
              <a:ext cx="4652962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015162" y="4207192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247572" y="42776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38733" y="43133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区分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48981" y="431720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传统非线性降维与流形学习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255192" y="47291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11784" y="4669631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传统非线性降维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：通过非线性变换把高维数据映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射到低维空间，不一定假设数据嵌在低维流形上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255192" y="53206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11784" y="5261134"/>
              <a:ext cx="38016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：明确假设数据分布在某个流形上，通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常要求数据在流形的局部区域内有良好的线性结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5081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主成分分析 PCA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旋转坐标轴，让前几根轴装下尽可能多的方差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平移 + 旋转重建坐标系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13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最大方差推导（B 版）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17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最小重构误差推导（A 版）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手算一个二维例子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0743" cy="909257"/>
            <a:chOff x="520446" y="342900"/>
            <a:chExt cx="83207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07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的思想：平移、旋转坐标轴，让方差集中到前几维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202260" cy="278702"/>
            <a:chOff x="526161" y="1547336"/>
            <a:chExt cx="920226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2022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n 个特征 × m 个样本的数据表 X 变成 k 个新特征 × m 个样本的 Y（k &lt; n），新特征是旧特征的线性组合。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41195"/>
            <a:ext cx="4977765" cy="1272540"/>
            <a:chOff x="533400" y="1941195"/>
            <a:chExt cx="4977765" cy="127254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405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对重构和降维的两个要求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3905" y="249555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9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4702" y="2507932"/>
              <a:ext cx="3984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重构后不同维度之间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不相关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（正交，协方差为 0）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279844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83" y="2836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4702" y="2810827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降维后所得维度的值尽可能分散（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方差最大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grpSp>
        <p:nvGrpSpPr>
          <p:cNvPr id="34" name="c1-steps-2"/>
          <p:cNvGrpSpPr/>
          <p:nvPr/>
        </p:nvGrpSpPr>
        <p:grpSpPr>
          <a:xfrm>
            <a:off x="533400" y="3398520"/>
            <a:ext cx="3847394" cy="1693069"/>
            <a:chOff x="533400" y="3398520"/>
            <a:chExt cx="3847394" cy="1693069"/>
          </a:xfrm>
        </p:grpSpPr>
        <p:sp>
          <p:nvSpPr>
            <p:cNvPr id="21" name="Rectangle 21"/>
            <p:cNvSpPr/>
            <p:nvPr/>
          </p:nvSpPr>
          <p:spPr>
            <a:xfrm>
              <a:off x="666750" y="354139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33400" y="33985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34723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398526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024" y="4059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5720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024" y="4645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34299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36980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把坐标原点移到数据的均值处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4016692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找第一根轴 c₁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42848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数据集中方差最大的方向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642" y="4604385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找第二根轴 c₂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4871561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c₁ 正交的方向里方差最大的；更高维时依此继续</a:t>
              </a:r>
            </a:p>
          </p:txBody>
        </p:sp>
      </p:grpSp>
      <p:grpSp>
        <p:nvGrpSpPr>
          <p:cNvPr id="36" name="c1-text-3"/>
          <p:cNvGrpSpPr/>
          <p:nvPr/>
        </p:nvGrpSpPr>
        <p:grpSpPr>
          <a:xfrm>
            <a:off x="527685" y="5279231"/>
            <a:ext cx="4705350" cy="441008"/>
            <a:chOff x="527685" y="5279231"/>
            <a:chExt cx="4705350" cy="441008"/>
          </a:xfrm>
        </p:grpSpPr>
        <p:sp>
          <p:nvSpPr>
            <p:cNvPr id="35" name="TextBox 35"/>
            <p:cNvSpPr txBox="1"/>
            <p:nvPr/>
          </p:nvSpPr>
          <p:spPr>
            <a:xfrm>
              <a:off x="527685" y="5279231"/>
              <a:ext cx="470535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根轴的单位向量称为第 i 个主成分（PC）；例子中第一个 PC 是 c₁，第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二个是 c₂。</a:t>
              </a:r>
            </a:p>
          </p:txBody>
        </p:sp>
      </p:grpSp>
      <p:grpSp>
        <p:nvGrpSpPr>
          <p:cNvPr id="78" name="c2-graph-1"/>
          <p:cNvGrpSpPr/>
          <p:nvPr/>
        </p:nvGrpSpPr>
        <p:grpSpPr>
          <a:xfrm>
            <a:off x="6182678" y="2337435"/>
            <a:ext cx="5191087" cy="3011804"/>
            <a:chOff x="6182678" y="2337435"/>
            <a:chExt cx="5191087" cy="3011804"/>
          </a:xfrm>
        </p:grpSpPr>
        <p:sp>
          <p:nvSpPr>
            <p:cNvPr id="37" name="Freeform 37"/>
            <p:cNvSpPr/>
            <p:nvPr/>
          </p:nvSpPr>
          <p:spPr>
            <a:xfrm>
              <a:off x="6249352" y="5119688"/>
              <a:ext cx="4938712" cy="9525"/>
            </a:xfrm>
            <a:custGeom>
              <a:avLst/>
              <a:gdLst/>
              <a:ahLst/>
              <a:cxnLst/>
              <a:rect l="l" t="t" r="r" b="b"/>
              <a:pathLst>
                <a:path w="4938712" h="9525">
                  <a:moveTo>
                    <a:pt x="0" y="0"/>
                  </a:moveTo>
                  <a:lnTo>
                    <a:pt x="493871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1188065" y="5072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230302" y="2518410"/>
              <a:ext cx="9525" cy="2582228"/>
            </a:xfrm>
            <a:custGeom>
              <a:avLst/>
              <a:gdLst/>
              <a:ahLst/>
              <a:cxnLst/>
              <a:rect l="l" t="t" r="r" b="b"/>
              <a:pathLst>
                <a:path w="9525" h="2582228">
                  <a:moveTo>
                    <a:pt x="0" y="258222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182678" y="24231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027795" y="2838450"/>
              <a:ext cx="1354455" cy="882967"/>
            </a:xfrm>
            <a:custGeom>
              <a:avLst/>
              <a:gdLst/>
              <a:ahLst/>
              <a:cxnLst/>
              <a:rect l="l" t="t" r="r" b="b"/>
              <a:pathLst>
                <a:path w="1354455" h="882967">
                  <a:moveTo>
                    <a:pt x="0" y="882967"/>
                  </a:moveTo>
                  <a:lnTo>
                    <a:pt x="135445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56532" y="278701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0"/>
                  </a:moveTo>
                  <a:lnTo>
                    <a:pt x="52388" y="91440"/>
                  </a:lnTo>
                  <a:lnTo>
                    <a:pt x="0" y="12382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642032" y="3168968"/>
              <a:ext cx="359093" cy="546735"/>
            </a:xfrm>
            <a:custGeom>
              <a:avLst/>
              <a:gdLst/>
              <a:ahLst/>
              <a:cxnLst/>
              <a:rect l="l" t="t" r="r" b="b"/>
              <a:pathLst>
                <a:path w="359093" h="546735">
                  <a:moveTo>
                    <a:pt x="359093" y="5467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589645" y="3089910"/>
              <a:ext cx="92393" cy="105728"/>
            </a:xfrm>
            <a:custGeom>
              <a:avLst/>
              <a:gdLst/>
              <a:ahLst/>
              <a:cxnLst/>
              <a:rect l="l" t="t" r="r" b="b"/>
              <a:pathLst>
                <a:path w="92393" h="105728">
                  <a:moveTo>
                    <a:pt x="0" y="0"/>
                  </a:moveTo>
                  <a:lnTo>
                    <a:pt x="92393" y="53340"/>
                  </a:lnTo>
                  <a:lnTo>
                    <a:pt x="12383" y="10572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579042" y="44396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836218" y="456438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860030" y="432720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158162" y="451104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982902" y="396240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333422" y="422148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309610" y="391382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678228" y="42110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630602" y="386429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596312" y="352996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028748" y="392811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8894445" y="344328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332595" y="383857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273540" y="348138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9244965" y="315753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9618345" y="345852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577388" y="312705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940290" y="340995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817418" y="293941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0050780" y="30299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068878" y="277749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331768" y="29089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6220778" y="5110162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1292840" y="5110162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6220778" y="239458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9002078" y="3722370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0468928" y="2767012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8569642" y="3064192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230966" y="5173027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77940" y="233743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02800" y="2494598"/>
              <a:ext cx="990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c₁（第一主成分）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61096" y="29013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23998" y="384524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9" name="Rectangle 7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3610"/>
              <a:ext cx="6957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PCA 只做平移和旋转，不拉伸也不弯曲；降维就是旋转之后只保留前 k 根轴上的坐标。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推导准备：数据表的记号与中心化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383780" cy="293370"/>
            <a:chOff x="525780" y="1548765"/>
            <a:chExt cx="73837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383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版的数据表把特征放在行、样本放在列，后面 Y = PX 的写法都以这个约定为准。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54530"/>
            <a:ext cx="5735002" cy="2556510"/>
            <a:chOff x="533400" y="1954530"/>
            <a:chExt cx="5735002" cy="255651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735002" cy="2556510"/>
            </a:xfrm>
            <a:prstGeom prst="roundRect">
              <a:avLst>
                <a:gd name="adj" fmla="val 5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2898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2718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个特征 × m 个样本的数据表 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5"/>
                <p:cNvSpPr txBox="1">
                  <a:spLocks noGrp="1"/>
                </p:cNvSpPr>
                <p:nvPr/>
              </p:nvSpPr>
              <p:spPr>
                <a:xfrm>
                  <a:off x="775335" y="2526030"/>
                  <a:ext cx="5289232" cy="8505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82955" y="35528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493294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行 xᵢ = (xᵢ₁, xᵢ₂, …, xᵢₘ) ∈ Rᵐ：第 i 个特征在全部样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本上的取值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414432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4084796"/>
              <a:ext cx="46910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列 eⱼ = (x₁ⱼ, x₂ⱼ, …, xₙⱼ)ᵀ ∈ Rⁿ：第 j 个样本点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695825"/>
            <a:ext cx="5735002" cy="1293495"/>
            <a:chOff x="533400" y="4695825"/>
            <a:chExt cx="5735002" cy="1293495"/>
          </a:xfrm>
        </p:grpSpPr>
        <p:sp>
          <p:nvSpPr>
            <p:cNvPr id="20" name="Rectangle 20"/>
            <p:cNvSpPr/>
            <p:nvPr/>
          </p:nvSpPr>
          <p:spPr>
            <a:xfrm>
              <a:off x="533400" y="4695825"/>
              <a:ext cx="5735002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82917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89966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7644" y="49353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记号提醒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0588" y="4940141"/>
              <a:ext cx="14917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版的 xᵢ 是样本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5291614"/>
              <a:ext cx="50820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版把第 i 个样本记作 xᵢ（i = 1, …, N），每个样本是 p 维列向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量。本讲 PCA 部分沿用 B 版的写法，LDA 以后各节沿用 A 版。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573202" y="1954530"/>
            <a:ext cx="5085398" cy="2019300"/>
            <a:chOff x="6573202" y="1954530"/>
            <a:chExt cx="5085398" cy="2019300"/>
          </a:xfrm>
        </p:grpSpPr>
        <p:sp>
          <p:nvSpPr>
            <p:cNvPr id="27" name="Rectangle 27"/>
            <p:cNvSpPr/>
            <p:nvPr/>
          </p:nvSpPr>
          <p:spPr>
            <a:xfrm>
              <a:off x="6573202" y="1954530"/>
              <a:ext cx="5085398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582728" y="2087880"/>
              <a:ext cx="47625" cy="17526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15138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5346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15594" y="219789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中心化：每个特征减去自己的均值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6"/>
                <p:cNvSpPr txBox="1">
                  <a:spLocks noGrp="1"/>
                </p:cNvSpPr>
                <p:nvPr/>
              </p:nvSpPr>
              <p:spPr>
                <a:xfrm>
                  <a:off x="6815138" y="2526030"/>
                  <a:ext cx="4639628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←</m:t>
                        </m:r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6807898" y="3276124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中心化以后每一行的均值都是 0，坐标原点移到了数据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中心，后面方差和协方差的公式里就不必再减均值。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573202" y="4158615"/>
            <a:ext cx="5085398" cy="1830705"/>
            <a:chOff x="6573202" y="4158615"/>
            <a:chExt cx="5085398" cy="1830705"/>
          </a:xfrm>
        </p:grpSpPr>
        <p:sp>
          <p:nvSpPr>
            <p:cNvPr id="35" name="Rectangle 35"/>
            <p:cNvSpPr/>
            <p:nvPr/>
          </p:nvSpPr>
          <p:spPr>
            <a:xfrm>
              <a:off x="6573202" y="4158615"/>
              <a:ext cx="5085398" cy="1830705"/>
            </a:xfrm>
            <a:prstGeom prst="roundRect">
              <a:avLst>
                <a:gd name="adj" fmla="val 7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82728" y="4291965"/>
              <a:ext cx="47625" cy="15640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15138" y="43624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05346" y="43981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15594" y="440293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均值的下标写错了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07898" y="4754404"/>
              <a:ext cx="441477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12 页写“xᵢ = xᵢ − μᵢ，其中 μⱼ 为所有数据点在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 j 上的均值”，前后下标不一致。应统一为 μᵢ，即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i 个特征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在所有样本上的均值。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67873" cy="909257"/>
            <a:chOff x="520446" y="342900"/>
            <a:chExt cx="9567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67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推导①：旋转就是左乘 P，目标是让 Y 的协方差矩阵变成对角阵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35505"/>
            <a:chOff x="533400" y="1524000"/>
            <a:chExt cx="5410200" cy="21355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5505"/>
            </a:xfrm>
            <a:prstGeom prst="roundRect">
              <a:avLst>
                <a:gd name="adj" fmla="val 62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88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旋转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5174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坐标变换 Y = PX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64414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的每一行是一个新的基向量。X 的每一列（一个样本）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被变换到以 P 的行向量为基的空间中，得到 Y 的对应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850005"/>
            <a:ext cx="5410200" cy="2059305"/>
            <a:chOff x="533400" y="3850005"/>
            <a:chExt cx="5410200" cy="2059305"/>
          </a:xfrm>
        </p:grpSpPr>
        <p:sp>
          <p:nvSpPr>
            <p:cNvPr id="15" name="Rectangle 15"/>
            <p:cNvSpPr/>
            <p:nvPr/>
          </p:nvSpPr>
          <p:spPr>
            <a:xfrm>
              <a:off x="533400" y="3850005"/>
              <a:ext cx="5410200" cy="2059305"/>
            </a:xfrm>
            <a:prstGeom prst="roundRect">
              <a:avLst>
                <a:gd name="adj" fmla="val 64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83355"/>
              <a:ext cx="47625" cy="17926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0595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0952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4094798"/>
              <a:ext cx="2756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要求①：降维后每一维尽量分散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2"/>
                <p:cNvSpPr txBox="1">
                  <a:spLocks noGrp="1"/>
                </p:cNvSpPr>
                <p:nvPr/>
              </p:nvSpPr>
              <p:spPr>
                <a:xfrm>
                  <a:off x="781050" y="4431030"/>
                  <a:ext cx="495300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3430" y="5179695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第二个等号用到了中心化：X 的每行均值为 0，Y = PX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每行均值也为 0。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2494598"/>
            <a:chOff x="6248400" y="1524000"/>
            <a:chExt cx="5410200" cy="2494598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494598"/>
            </a:xfrm>
            <a:prstGeom prst="roundRect">
              <a:avLst>
                <a:gd name="adj" fmla="val 53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2278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协方差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39000" y="1768792"/>
              <a:ext cx="2555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要求②：不同维度之间不相关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3"/>
                <p:cNvSpPr txBox="1">
                  <a:spLocks noGrp="1"/>
                </p:cNvSpPr>
                <p:nvPr/>
              </p:nvSpPr>
              <p:spPr>
                <a:xfrm>
                  <a:off x="6496050" y="2105025"/>
                  <a:ext cx="495300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ik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jk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88430" y="28536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两个要求合在一起，就是变换后的协方差矩阵：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4"/>
                <p:cNvSpPr txBox="1">
                  <a:spLocks noGrp="1"/>
                </p:cNvSpPr>
                <p:nvPr/>
              </p:nvSpPr>
              <p:spPr>
                <a:xfrm>
                  <a:off x="6496050" y="3164205"/>
                  <a:ext cx="4953000" cy="625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Var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Cov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Cov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Var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callout-2"/>
          <p:cNvGrpSpPr/>
          <p:nvPr/>
        </p:nvGrpSpPr>
        <p:grpSpPr>
          <a:xfrm>
            <a:off x="6248400" y="4209098"/>
            <a:ext cx="5410200" cy="1700212"/>
            <a:chOff x="6248400" y="4209098"/>
            <a:chExt cx="5410200" cy="1700212"/>
          </a:xfrm>
        </p:grpSpPr>
        <p:sp>
          <p:nvSpPr>
            <p:cNvPr id="32" name="Rectangle 32"/>
            <p:cNvSpPr/>
            <p:nvPr/>
          </p:nvSpPr>
          <p:spPr>
            <a:xfrm>
              <a:off x="6248400" y="4209098"/>
              <a:ext cx="5410200" cy="1700212"/>
            </a:xfrm>
            <a:prstGeom prst="roundRect">
              <a:avLst>
                <a:gd name="adj" fmla="val 672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53188" y="4958717"/>
              <a:ext cx="200023" cy="200023"/>
              <a:chOff x="6453188" y="495871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49587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86538" y="50253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55130" y="4815840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目标：找一个 P，使 D 除对角线外全为 0，并且对角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元素从上到下按从大到小排列。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01954" cy="909257"/>
            <a:chOff x="520446" y="342900"/>
            <a:chExt cx="72019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019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推导②：D = PCPᵀ，问题化成对称矩阵的对角化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067878"/>
            <a:chOff x="533400" y="1524000"/>
            <a:chExt cx="5193982" cy="20678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067878"/>
            </a:xfrm>
            <a:prstGeom prst="roundRect">
              <a:avLst>
                <a:gd name="adj" fmla="val 6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11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变换前后两个协方差矩阵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736782" cy="9229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PX</m:t>
                                </m:r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PX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d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PC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148012"/>
              <a:ext cx="40060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是原数据 X 的协方差矩阵，n×n，实对称。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82378"/>
            <a:ext cx="5193982" cy="2271712"/>
            <a:chOff x="533400" y="3782378"/>
            <a:chExt cx="5193982" cy="2271712"/>
          </a:xfrm>
        </p:grpSpPr>
        <p:sp>
          <p:nvSpPr>
            <p:cNvPr id="15" name="Rectangle 15"/>
            <p:cNvSpPr/>
            <p:nvPr/>
          </p:nvSpPr>
          <p:spPr>
            <a:xfrm>
              <a:off x="533400" y="3782378"/>
              <a:ext cx="5193982" cy="2271712"/>
            </a:xfrm>
            <a:prstGeom prst="roundRect">
              <a:avLst>
                <a:gd name="adj" fmla="val 587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399192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5259" y="40276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优化目标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27822" y="40271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换一种说法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388168"/>
              <a:ext cx="4558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寻找矩阵 P，使 PCPᵀ 是对角矩阵且对角元素从大到小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排列。P 的前 k 行就是要找的基，用它们乘 X，数据就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n 维降到 k 维并满足前面两个要求。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032182" y="1524000"/>
            <a:ext cx="5626418" cy="2432685"/>
            <a:chOff x="6032182" y="1524000"/>
            <a:chExt cx="5626418" cy="2432685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2432685"/>
            </a:xfrm>
            <a:prstGeom prst="roundRect">
              <a:avLst>
                <a:gd name="adj" fmla="val 54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1708" y="1657350"/>
              <a:ext cx="47625" cy="21659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7983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6118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线性代数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64705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实对称矩阵一定能正交对角化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2212" y="2129790"/>
              <a:ext cx="4892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有 n 个两两正交的单位特征向量 e₁, …, eₙ。按列排成 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(e₁ e₂ ⋯ eₙ)，则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8"/>
                <p:cNvSpPr txBox="1">
                  <a:spLocks noGrp="1"/>
                </p:cNvSpPr>
                <p:nvPr/>
              </p:nvSpPr>
              <p:spPr>
                <a:xfrm>
                  <a:off x="6279832" y="2726055"/>
                  <a:ext cx="516921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CE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=Λ=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diag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272212" y="322707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P = Eᵀ（特征向量作 P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），PCPᵀ = Λ 正是要的对角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阵。特征值从大到小排好，取前 k 行即可。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032182" y="4147185"/>
            <a:ext cx="5626418" cy="1906905"/>
            <a:chOff x="6032182" y="4147185"/>
            <a:chExt cx="5626418" cy="1906905"/>
          </a:xfrm>
        </p:grpSpPr>
        <p:sp>
          <p:nvSpPr>
            <p:cNvPr id="30" name="Rectangle 30"/>
            <p:cNvSpPr/>
            <p:nvPr/>
          </p:nvSpPr>
          <p:spPr>
            <a:xfrm>
              <a:off x="6032182" y="4147185"/>
              <a:ext cx="5626418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41708" y="4280535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79832" y="43567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0041" y="43924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9908" y="4391978"/>
              <a:ext cx="2224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的特征向量应该排成行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2212" y="4752975"/>
              <a:ext cx="49015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17 页把特征向量按列组成 P，写成 PᵀCP = Λ；可第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13、16 页用的是 Y = PX、D = PCPᵀ，那里 P 的每一行才是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一个基向量。两处的 P 互为转置，按 Y = PX 的约定应写 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(e₁, …, eₙ)ᵀ。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8529" cy="909257"/>
            <a:chOff x="520446" y="342900"/>
            <a:chExt cx="7558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8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另一种推导（A 版）：用一条直线最好地代表数据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56069" cy="264033"/>
            <a:chOff x="526542" y="1545907"/>
            <a:chExt cx="695606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56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不问“方差多大”，改问“用什么去近似数据，误差平方和最小”，最后得到同一个答案。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5305177" cy="2536126"/>
            <a:chOff x="533400" y="1938338"/>
            <a:chExt cx="5305177" cy="2536126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375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11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909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64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用一个点代表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4616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最小化 J₀(x₀) = Σ‖xᵢ − x₀‖²，解得 x₀ = m = (1/N)Σxᵢ，就是样本均值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用一条直线代表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480460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 x = m + a·e 过均值 m，e 是单位方向向量，a 是点到 m 的带符号距离；样本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近似为 m + aᵢe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26850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 aᵢ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522345"/>
              <a:ext cx="4891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J₁ 对 aᵢ 求偏导并令其为 0，得 aᵢ = eᵀ(xᵢ − m)，正是 xᵢ − m 在 e 上的投影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82095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再求 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075748"/>
              <a:ext cx="469792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代回得 J₁(e) = −eᵀSe + Σ‖xᵢ − m‖²。后一项与 e 无关，所以最小化 J₁ 等价于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最大化 eᵀSe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635818"/>
            <a:ext cx="5410200" cy="1564005"/>
            <a:chOff x="533400" y="4635818"/>
            <a:chExt cx="5410200" cy="1564005"/>
          </a:xfrm>
        </p:grpSpPr>
        <p:sp>
          <p:nvSpPr>
            <p:cNvPr id="27" name="Rectangle 27"/>
            <p:cNvSpPr/>
            <p:nvPr/>
          </p:nvSpPr>
          <p:spPr>
            <a:xfrm>
              <a:off x="533400" y="4635818"/>
              <a:ext cx="5410200" cy="1564005"/>
            </a:xfrm>
            <a:prstGeom prst="roundRect">
              <a:avLst>
                <a:gd name="adj" fmla="val 85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769168"/>
              <a:ext cx="47625" cy="12973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81679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044" y="48496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散度矩阵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8006" y="4856321"/>
              <a:ext cx="1351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scatter matrix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43"/>
                <p:cNvSpPr txBox="1">
                  <a:spLocks noGrp="1"/>
                </p:cNvSpPr>
                <p:nvPr/>
              </p:nvSpPr>
              <p:spPr>
                <a:xfrm>
                  <a:off x="752475" y="5152072"/>
                  <a:ext cx="501015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3" name="TextBox 33"/>
            <p:cNvSpPr txBox="1"/>
            <p:nvPr/>
          </p:nvSpPr>
          <p:spPr>
            <a:xfrm>
              <a:off x="745998" y="5788819"/>
              <a:ext cx="47044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它是协方差矩阵的 N 倍（或 N − 1 倍），特征向量完全相同。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44"/>
              <p:cNvSpPr txBox="1">
                <a:spLocks noGrp="1"/>
              </p:cNvSpPr>
              <p:nvPr/>
            </p:nvSpPr>
            <p:spPr>
              <a:xfrm>
                <a:off x="6248400" y="1928812"/>
                <a:ext cx="5410200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,⋯,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bi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4" name="c2-card-2"/>
          <p:cNvGrpSpPr/>
          <p:nvPr/>
        </p:nvGrpSpPr>
        <p:grpSpPr>
          <a:xfrm>
            <a:off x="6248400" y="2627948"/>
            <a:ext cx="5410200" cy="1754505"/>
            <a:chOff x="6248400" y="2627948"/>
            <a:chExt cx="5410200" cy="1754505"/>
          </a:xfrm>
        </p:grpSpPr>
        <p:sp>
          <p:nvSpPr>
            <p:cNvPr id="36" name="Rectangle 36"/>
            <p:cNvSpPr/>
            <p:nvPr/>
          </p:nvSpPr>
          <p:spPr>
            <a:xfrm>
              <a:off x="6248400" y="2627948"/>
              <a:ext cx="5410200" cy="1754505"/>
            </a:xfrm>
            <a:prstGeom prst="roundRect">
              <a:avLst>
                <a:gd name="adj" fmla="val 7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2761298"/>
              <a:ext cx="47625" cy="14878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7475" y="28089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0147" y="28417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展开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3451" y="2848451"/>
              <a:ext cx="3335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J₁ 为什么能化成那个样子（A 版第 14 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0998" y="3164681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把平方展开，用 ‖e‖ = 1：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45"/>
                <p:cNvSpPr txBox="1">
                  <a:spLocks noGrp="1"/>
                </p:cNvSpPr>
                <p:nvPr/>
              </p:nvSpPr>
              <p:spPr>
                <a:xfrm>
                  <a:off x="6467475" y="3429000"/>
                  <a:ext cx="5010150" cy="471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bi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p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bi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460998" y="4002881"/>
              <a:ext cx="5026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aᵢ = eᵀ(xᵢ − m)，前两项合成 −Σ[eᵀ(xᵢ − m)]² = −eᵀSe。</a:t>
              </a:r>
            </a:p>
          </p:txBody>
        </p:sp>
      </p:grpSp>
      <p:grpSp>
        <p:nvGrpSpPr>
          <p:cNvPr id="52" name="c2-card-3"/>
          <p:cNvGrpSpPr/>
          <p:nvPr/>
        </p:nvGrpSpPr>
        <p:grpSpPr>
          <a:xfrm>
            <a:off x="6248400" y="4547235"/>
            <a:ext cx="5410200" cy="1652588"/>
            <a:chOff x="6248400" y="4547235"/>
            <a:chExt cx="5410200" cy="1652588"/>
          </a:xfrm>
        </p:grpSpPr>
        <p:sp>
          <p:nvSpPr>
            <p:cNvPr id="45" name="Rectangle 45"/>
            <p:cNvSpPr/>
            <p:nvPr/>
          </p:nvSpPr>
          <p:spPr>
            <a:xfrm>
              <a:off x="6248400" y="4547235"/>
              <a:ext cx="5410200" cy="1652588"/>
            </a:xfrm>
            <a:prstGeom prst="roundRect">
              <a:avLst>
                <a:gd name="adj" fmla="val 80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680585"/>
              <a:ext cx="47625" cy="13858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7475" y="472821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44894" y="476107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拉格朗日乘子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31608" y="4767739"/>
              <a:ext cx="2394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在约束 eᵀe = 1 下最大化 eᵀSe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46"/>
                <p:cNvSpPr txBox="1">
                  <a:spLocks noGrp="1"/>
                </p:cNvSpPr>
                <p:nvPr/>
              </p:nvSpPr>
              <p:spPr>
                <a:xfrm>
                  <a:off x="6467475" y="5063490"/>
                  <a:ext cx="501015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bi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bi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m:rPr>
                                <m:sty m:val="bi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2S</m:t>
                        </m:r>
                        <m:r>
                          <m:rPr>
                            <m:sty m:val="bi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2λ</m:t>
                        </m:r>
                        <m:r>
                          <m:rPr>
                            <m:sty m:val="bi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1" name="TextBox 51"/>
            <p:cNvSpPr txBox="1"/>
            <p:nvPr/>
          </p:nvSpPr>
          <p:spPr>
            <a:xfrm>
              <a:off x="6460998" y="5577364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Se = λe，e 是 S 的特征向量；此时 eᵀSe = λ，所以取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最大特征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值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对应的那个。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2602" cy="909257"/>
            <a:chOff x="520446" y="342900"/>
            <a:chExt cx="7992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2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推广到 d 维：最小重构误差与最大投影方差是一回事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386965"/>
            <a:chOff x="533400" y="1524000"/>
            <a:chExt cx="5626418" cy="2386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1127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把数据投影到过均值的 d 维超平面上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3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518064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≪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4"/>
                <p:cNvSpPr txBox="1">
                  <a:spLocks noGrp="1"/>
                </p:cNvSpPr>
                <p:nvPr/>
              </p:nvSpPr>
              <p:spPr>
                <a:xfrm>
                  <a:off x="775335" y="2530792"/>
                  <a:ext cx="518064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limLoc m:val="undOvr"/>
                                        <m:grow m:val="off"/>
                                        <m:subHide m:val="off"/>
                                        <m:supHide m:val="off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d</m:t>
                                        </m:r>
                                      </m:sup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a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ik</m:t>
                                            </m:r>
                                          </m:sub>
                                        </m:sSub>
                                        <m:sSub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213259"/>
              <a:ext cx="49918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可以证明，使 J 最小的 d 个方向就是散度矩阵 S 最大的 d 个特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征值对应的特征向量（A 版第 16 页）。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95750"/>
            <a:ext cx="5626418" cy="2156460"/>
            <a:chOff x="533400" y="4095750"/>
            <a:chExt cx="5626418" cy="2156460"/>
          </a:xfrm>
        </p:grpSpPr>
        <p:sp>
          <p:nvSpPr>
            <p:cNvPr id="16" name="Rectangle 16"/>
            <p:cNvSpPr/>
            <p:nvPr/>
          </p:nvSpPr>
          <p:spPr>
            <a:xfrm>
              <a:off x="533400" y="4095750"/>
              <a:ext cx="5626418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2910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2995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43353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43400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两种推导殊途同归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69153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版让投影后的方差最大，A 版让低维近似的误差平方和最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小，两者都得出：取协方差（散度）矩阵最大的几个特征值对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应的特征向量。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5554504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原因是总散度 Σ‖xᵢ − m‖² 是定值，它等于“投影后保留的方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差”加“丢掉的重构误差”，一项变大，另一项就变小。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6417818" y="1524000"/>
            <a:ext cx="5288534" cy="2624614"/>
            <a:chOff x="6417818" y="1524000"/>
            <a:chExt cx="5288534" cy="2624614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5560" t="0" r="5560" b="0"/>
            <a:stretch>
              <a:fillRect/>
            </a:stretch>
          </p:blipFill>
          <p:spPr>
            <a:xfrm>
              <a:off x="7521892" y="1524000"/>
              <a:ext cx="3079432" cy="2309812"/>
            </a:xfrm>
            <a:prstGeom prst="roundRect">
              <a:avLst>
                <a:gd name="adj" fmla="val 5773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6417818" y="3928586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灯从正上方照下：把长条物体横过来，影子（投影）最长，保留的形状信息最多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464618" y="4309110"/>
            <a:ext cx="5193982" cy="1944052"/>
            <a:chOff x="6464618" y="4309110"/>
            <a:chExt cx="5193982" cy="1944052"/>
          </a:xfrm>
        </p:grpSpPr>
        <p:sp>
          <p:nvSpPr>
            <p:cNvPr id="27" name="Rectangle 27"/>
            <p:cNvSpPr/>
            <p:nvPr/>
          </p:nvSpPr>
          <p:spPr>
            <a:xfrm>
              <a:off x="6464618" y="4309110"/>
              <a:ext cx="5193982" cy="1944052"/>
            </a:xfrm>
            <a:prstGeom prst="roundRect">
              <a:avLst>
                <a:gd name="adj" fmla="val 6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4442460"/>
              <a:ext cx="47625" cy="16773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6552" y="4512945"/>
              <a:ext cx="1017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7653" y="4548664"/>
              <a:ext cx="875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版第 17 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0884" y="4552474"/>
              <a:ext cx="12743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PCA: Visually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9314" y="490394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数据点被放进一个旋转过的正交坐标系里表示：原点是数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据的均值，坐标轴由散度矩阵的特征向量给出。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77838" cy="909257"/>
            <a:chOff x="520446" y="342900"/>
            <a:chExt cx="50778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778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算法步骤（A、B 两版合并）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6060506" cy="2867502"/>
            <a:chOff x="533400" y="1533525"/>
            <a:chExt cx="6060506" cy="28675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3614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每个特征减去自己的均值；样本按列排成 X，每行一维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52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9826"/>
              <a:ext cx="4514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(1/m)XXᵀ（B 版算法 1 与例题的写法；B 版推导用 1/(m−1)）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特征分解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006566"/>
              <a:ext cx="4657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C 的特征值与单位特征向量，特征值从大到小排列 λ₁ ≥ λ₂ ≥ ⋯ ≥ λₙ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26130"/>
              <a:ext cx="778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取前 k 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93306"/>
              <a:ext cx="5190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k 个特征值对应的特征向量 p₁, …, pₖ 作为行，组成 k×n 的转换矩阵 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128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80999"/>
              <a:ext cx="56471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PX 即为降维后的 k×m 数据。A 版写成 Y = VᵀX，V 的列是特征向量，是同一件事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569142"/>
            <a:ext cx="5951220" cy="1226820"/>
            <a:chOff x="533400" y="4569142"/>
            <a:chExt cx="5951220" cy="1226820"/>
          </a:xfrm>
        </p:grpSpPr>
        <p:sp>
          <p:nvSpPr>
            <p:cNvPr id="29" name="Rectangle 29"/>
            <p:cNvSpPr/>
            <p:nvPr/>
          </p:nvSpPr>
          <p:spPr>
            <a:xfrm>
              <a:off x="533400" y="4569142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02492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76154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7344" y="47958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实际计算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14297" y="4801552"/>
              <a:ext cx="2609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程序里常用 SVD 代替第 2、3 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047" y="5135880"/>
              <a:ext cx="52343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对中心化后的 X 做奇异值分解 X = UΣVᵀ（第 03 节），U 的前 k 列就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是主方向，特征值 λᵢ = σᵢ²/m。不必显式算出 XXᵀ，数值上更稳定。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524000"/>
            <a:ext cx="4869180" cy="1483995"/>
            <a:chOff x="6789420" y="1524000"/>
            <a:chExt cx="4869180" cy="1483995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9894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1992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1136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03617" y="1756410"/>
              <a:ext cx="1856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1/m 还是 1/(m−1)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13067" y="2090738"/>
              <a:ext cx="42742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版推导用 1/(m−1)（无偏估计），算法与例题用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1/m。系数只把所有特征值同乘一个常数，特征向量、主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成分方向和方差贡献率都不变。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789420" y="3183255"/>
            <a:ext cx="4869180" cy="2613660"/>
            <a:chOff x="6789420" y="3183255"/>
            <a:chExt cx="4869180" cy="2613660"/>
          </a:xfrm>
        </p:grpSpPr>
        <p:sp>
          <p:nvSpPr>
            <p:cNvPr id="43" name="Rectangle 43"/>
            <p:cNvSpPr/>
            <p:nvPr/>
          </p:nvSpPr>
          <p:spPr>
            <a:xfrm>
              <a:off x="6789420" y="3183255"/>
              <a:ext cx="4869180" cy="2613660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98945" y="3316605"/>
              <a:ext cx="47625" cy="23469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19925" y="3375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11365" y="3409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重构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3617" y="3415665"/>
              <a:ext cx="3235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降维后如何重构（A 版第 18 页的问题）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13067" y="374904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的行是两两正交的单位向量，所以把 Y 映回原空间只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要左乘 Pᵀ，再加回均值：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formula60"/>
                <p:cNvSpPr txBox="1">
                  <a:spLocks noGrp="1"/>
                </p:cNvSpPr>
                <p:nvPr/>
              </p:nvSpPr>
              <p:spPr>
                <a:xfrm>
                  <a:off x="7019925" y="4287202"/>
                  <a:ext cx="444627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0" name="TextBox 50"/>
            <p:cNvSpPr txBox="1"/>
            <p:nvPr/>
          </p:nvSpPr>
          <p:spPr>
            <a:xfrm>
              <a:off x="7013067" y="4738687"/>
              <a:ext cx="42485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n 时 PᵀP = I，重构无损；k &lt; n 时丢掉的是后 n − k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个方向上的分量，误差平方和 = m·(λₖ₊₁ + ⋯ + λₙ)（协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方差按 1/m 算）。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主成分与方差贡献率：k 取多大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4590098"/>
            <a:chOff x="533400" y="1524000"/>
            <a:chExt cx="5410200" cy="45900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590098"/>
            </a:xfrm>
            <a:prstGeom prst="roundRect">
              <a:avLst>
                <a:gd name="adj" fmla="val 2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2339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主成分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061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principal component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3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953000" cy="6953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1m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  <m:e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km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920365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变换后方差最大的变量 y₁ 称为原始数据 X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第一主成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，yₖ 为第 k 主成分。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538061"/>
              <a:ext cx="473532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版第 10 页把第 i 根轴的单位向量叫第 i 个主成分，第 19 页把投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影后的变量 yᵢ 叫主成分。前者是方向（主轴），后者是数据在这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个方向上的坐标，读题时按上下文区分。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248400" y="1524000"/>
            <a:ext cx="5410200" cy="2090738"/>
            <a:chOff x="6248400" y="1524000"/>
            <a:chExt cx="5410200" cy="2090738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2090738"/>
            </a:xfrm>
            <a:prstGeom prst="roundRect">
              <a:avLst>
                <a:gd name="adj" fmla="val 6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57925" y="1657350"/>
              <a:ext cx="47625" cy="18240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贡献率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9000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方差贡献率与累计方差贡献率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64"/>
                <p:cNvSpPr txBox="1">
                  <a:spLocks noGrp="1"/>
                </p:cNvSpPr>
                <p:nvPr/>
              </p:nvSpPr>
              <p:spPr>
                <a:xfrm>
                  <a:off x="6496050" y="2105025"/>
                  <a:ext cx="495300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6488430" y="2885122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yₖ 的方差就是 λₖ，所以贡献率就是第 k 个方向装下的方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差占总方差的比例。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248400" y="3805238"/>
            <a:ext cx="5410200" cy="782955"/>
            <a:chOff x="6248400" y="3805238"/>
            <a:chExt cx="5410200" cy="782955"/>
          </a:xfrm>
        </p:grpSpPr>
        <p:sp>
          <p:nvSpPr>
            <p:cNvPr id="24" name="Rectangle 24"/>
            <p:cNvSpPr/>
            <p:nvPr/>
          </p:nvSpPr>
          <p:spPr>
            <a:xfrm>
              <a:off x="6248400" y="380523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453188" y="4096703"/>
              <a:ext cx="200026" cy="200025"/>
              <a:chOff x="6453188" y="409670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453188" y="4096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92926" y="4141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27642" y="4252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755130" y="3953828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通常取 k 使累计方差贡献率达到规定的百分比以上，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如 70%～80%。</a:t>
              </a:r>
            </a:p>
          </p:txBody>
        </p:sp>
      </p:grpSp>
      <p:grpSp>
        <p:nvGrpSpPr>
          <p:cNvPr id="37" name="c2-card-3"/>
          <p:cNvGrpSpPr/>
          <p:nvPr/>
        </p:nvGrpSpPr>
        <p:grpSpPr>
          <a:xfrm>
            <a:off x="6248400" y="4778692"/>
            <a:ext cx="5410200" cy="1335405"/>
            <a:chOff x="6248400" y="4778692"/>
            <a:chExt cx="5410200" cy="1335405"/>
          </a:xfrm>
        </p:grpSpPr>
        <p:sp>
          <p:nvSpPr>
            <p:cNvPr id="31" name="Rectangle 31"/>
            <p:cNvSpPr/>
            <p:nvPr/>
          </p:nvSpPr>
          <p:spPr>
            <a:xfrm>
              <a:off x="6248400" y="4778692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491204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498824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5557" y="50239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为什么能这样算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7642" y="50234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旋转不改变总方差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5384482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总方差 = 协方差矩阵的迹 = 所有特征值之和。PCA 只旋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转坐标轴，总方差不变，只是重新分配到各个方向上。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2551" cy="909257"/>
            <a:chOff x="520446" y="342900"/>
            <a:chExt cx="88025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25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PCA ①：求协方差矩阵和特征值（B 版第 21–22 页）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085398" cy="1808798"/>
            <a:chOff x="533400" y="1524000"/>
            <a:chExt cx="5085398" cy="18087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1808798"/>
            </a:xfrm>
            <a:prstGeom prst="roundRect">
              <a:avLst>
                <a:gd name="adj" fmla="val 7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20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466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PCA 把五个二维点降到一维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7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66248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2672715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每列一个样本，m = 5。两行的均值：(−1 − 1 + 0 + 2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0)/5 = 0，(−2 + 0 + 0 + 1 + 1)/5 = 0，已经中心化。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508058"/>
            <a:ext cx="5085398" cy="2676525"/>
            <a:chOff x="533400" y="3508058"/>
            <a:chExt cx="5085398" cy="2676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508058"/>
              <a:ext cx="5085398" cy="2676525"/>
            </a:xfrm>
            <a:prstGeom prst="roundRect">
              <a:avLst>
                <a:gd name="adj" fmla="val 4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41408"/>
              <a:ext cx="47625" cy="24098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700462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967" y="373475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08570" y="3740468"/>
              <a:ext cx="2423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协方差矩阵（按课件取 1/m）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78"/>
                <p:cNvSpPr txBox="1">
                  <a:spLocks noGrp="1"/>
                </p:cNvSpPr>
                <p:nvPr/>
              </p:nvSpPr>
              <p:spPr>
                <a:xfrm>
                  <a:off x="763905" y="4051935"/>
                  <a:ext cx="4662488" cy="4457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7047" y="4606290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XXᵀ 的 (1,1) 元 = 1 + 1 + 0 + 4 + 0 = 6，(1,2) 元 = 2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+ 0 + 2 + 0 = 4。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923598" y="1524000"/>
            <a:ext cx="5735002" cy="2139315"/>
            <a:chOff x="5923598" y="1524000"/>
            <a:chExt cx="5735002" cy="2139315"/>
          </a:xfrm>
        </p:grpSpPr>
        <p:sp>
          <p:nvSpPr>
            <p:cNvPr id="23" name="Rectangle 23"/>
            <p:cNvSpPr/>
            <p:nvPr/>
          </p:nvSpPr>
          <p:spPr>
            <a:xfrm>
              <a:off x="5923598" y="1524000"/>
              <a:ext cx="5735002" cy="2139315"/>
            </a:xfrm>
            <a:prstGeom prst="roundRect">
              <a:avLst>
                <a:gd name="adj" fmla="val 62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933122" y="1657350"/>
              <a:ext cx="47625" cy="18726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54102" y="1716405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41164" y="1750695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8767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解特征方程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79"/>
                <p:cNvSpPr txBox="1">
                  <a:spLocks noGrp="1"/>
                </p:cNvSpPr>
                <p:nvPr/>
              </p:nvSpPr>
              <p:spPr>
                <a:xfrm>
                  <a:off x="6154102" y="2067878"/>
                  <a:ext cx="5312092" cy="8258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147244" y="3003232"/>
              <a:ext cx="4811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6/5 − λ = ±4/5，得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λ₁ = 2，λ₂ = 2/5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 (λ − 2)(λ − 2/5)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923598" y="3838575"/>
            <a:ext cx="5735002" cy="2346008"/>
            <a:chOff x="5923598" y="3838575"/>
            <a:chExt cx="5735002" cy="2346008"/>
          </a:xfrm>
        </p:grpSpPr>
        <p:sp>
          <p:nvSpPr>
            <p:cNvPr id="31" name="Rectangle 31"/>
            <p:cNvSpPr/>
            <p:nvPr/>
          </p:nvSpPr>
          <p:spPr>
            <a:xfrm>
              <a:off x="5923598" y="3838575"/>
              <a:ext cx="5735002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33122" y="3971925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54102" y="4030980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1164" y="406527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98767" y="407098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求特征向量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162675" y="446055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18694" y="4404360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2：(C − 2I)(a, b)ᵀ = 0 ⇒ −4a/5 + 4b/5 = 0 ⇒ a = b，取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1)ᵀ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162675" y="502062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18694" y="4964430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λ₂ = 2/5：(C − 0.4I)(a, b)ᵀ = 0 ⇒ 4a/5 + 4b/5 = 0 ⇒ a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−b，取 (−1, 1)ᵀ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47244" y="5524500"/>
              <a:ext cx="49771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特征向量是通解，乘任意非零实数仍是特征向量。单位化后为 (1/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√2, 1/√2)ᵀ 和 (−1/√2, 1/√2)ᵀ。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18956" cy="909257"/>
            <a:chOff x="520446" y="342900"/>
            <a:chExt cx="105189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189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PCA ②：验证对角化，再投影到第一主成分（B 版第 23–24 页）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635568"/>
            <a:chOff x="533400" y="1524000"/>
            <a:chExt cx="5842635" cy="26355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35568"/>
            </a:xfrm>
            <a:prstGeom prst="roundRect">
              <a:avLst>
                <a:gd name="adj" fmla="val 5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688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238" y="176355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8194" y="1767364"/>
              <a:ext cx="32533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单位特征向量按行排成 P，验证对角化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86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5396865" cy="9229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7"/>
                <p:cNvSpPr txBox="1">
                  <a:spLocks noGrp="1"/>
                </p:cNvSpPr>
                <p:nvPr/>
              </p:nvSpPr>
              <p:spPr>
                <a:xfrm>
                  <a:off x="775335" y="3110865"/>
                  <a:ext cx="5396865" cy="8258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PC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4344352"/>
            <a:ext cx="5842635" cy="1532572"/>
            <a:chOff x="533400" y="4344352"/>
            <a:chExt cx="5842635" cy="1532572"/>
          </a:xfrm>
        </p:grpSpPr>
        <p:sp>
          <p:nvSpPr>
            <p:cNvPr id="15" name="Rectangle 15"/>
            <p:cNvSpPr/>
            <p:nvPr/>
          </p:nvSpPr>
          <p:spPr>
            <a:xfrm>
              <a:off x="533400" y="4344352"/>
              <a:ext cx="5842635" cy="1532572"/>
            </a:xfrm>
            <a:prstGeom prst="roundRect">
              <a:avLst>
                <a:gd name="adj" fmla="val 87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477702"/>
              <a:ext cx="47625" cy="12658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548188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0238" y="458390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5 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48194" y="4588669"/>
              <a:ext cx="21699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 的第一行乘数据矩阵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88"/>
                <p:cNvSpPr txBox="1">
                  <a:spLocks noGrp="1"/>
                </p:cNvSpPr>
                <p:nvPr/>
              </p:nvSpPr>
              <p:spPr>
                <a:xfrm>
                  <a:off x="775335" y="4916805"/>
                  <a:ext cx="5396865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 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1"/>
          <p:cNvGrpSpPr/>
          <p:nvPr/>
        </p:nvGrpSpPr>
        <p:grpSpPr>
          <a:xfrm>
            <a:off x="6680835" y="1524000"/>
            <a:ext cx="4977765" cy="1933575"/>
            <a:chOff x="6680835" y="1524000"/>
            <a:chExt cx="4977765" cy="1933575"/>
          </a:xfrm>
        </p:grpSpPr>
        <p:sp>
          <p:nvSpPr>
            <p:cNvPr id="22" name="Rectangle 22"/>
            <p:cNvSpPr/>
            <p:nvPr/>
          </p:nvSpPr>
          <p:spPr>
            <a:xfrm>
              <a:off x="6680835" y="1524000"/>
              <a:ext cx="4977765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90360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2277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1393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4179" y="17673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三个数都对得上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30390" y="21793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86981" y="2119789"/>
              <a:ext cx="44012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的方差 = (9/2 + 1/2 + 0 + 9/2 + 1/2)/5 = 2 = λ₁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930390" y="24993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86981" y="2439829"/>
              <a:ext cx="4209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第一主成分的方差贡献率 = 2/(2 + 2/5)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83.3%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930390" y="28194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86981" y="2759869"/>
              <a:ext cx="40540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若协方差改用 1/(m−1) = 1/4，特征值变成 2.5 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0.5，方向与贡献率不变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680835" y="3642360"/>
            <a:ext cx="4977765" cy="1293495"/>
            <a:chOff x="6680835" y="3642360"/>
            <a:chExt cx="4977765" cy="1293495"/>
          </a:xfrm>
        </p:grpSpPr>
        <p:sp>
          <p:nvSpPr>
            <p:cNvPr id="34" name="Rectangle 34"/>
            <p:cNvSpPr/>
            <p:nvPr/>
          </p:nvSpPr>
          <p:spPr>
            <a:xfrm>
              <a:off x="6680835" y="3642360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377571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2770" y="384619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9028" y="3881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小笔误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66101" y="3886676"/>
              <a:ext cx="11094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24 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15531" y="4238149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原文写“可以验证协方差矩阵 P 的对角化”，被对角化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的是协方差矩阵 C，P 是转换矩阵。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680835" y="5121592"/>
            <a:ext cx="4977765" cy="756285"/>
            <a:chOff x="6680835" y="5121592"/>
            <a:chExt cx="4977765" cy="756285"/>
          </a:xfrm>
        </p:grpSpPr>
        <p:sp>
          <p:nvSpPr>
            <p:cNvPr id="41" name="Rectangle 41"/>
            <p:cNvSpPr/>
            <p:nvPr/>
          </p:nvSpPr>
          <p:spPr>
            <a:xfrm>
              <a:off x="6680835" y="512159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885623" y="5399725"/>
              <a:ext cx="200023" cy="200023"/>
              <a:chOff x="6885623" y="5399725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85623" y="53997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018973" y="5466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87946" y="5268754"/>
              <a:ext cx="410819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课件第 25 页的投影图就是下一页左边这张：五个点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都沿垂线落到直线 y = x 上。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98215" cy="909257"/>
            <a:chOff x="520446" y="342900"/>
            <a:chExt cx="58982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982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PCA ③：投影、重构与丢掉的误差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891540" y="1993582"/>
            <a:ext cx="4776178" cy="3412808"/>
            <a:chOff x="891540" y="1993582"/>
            <a:chExt cx="4776178" cy="3412808"/>
          </a:xfrm>
        </p:grpSpPr>
        <p:sp>
          <p:nvSpPr>
            <p:cNvPr id="7" name="Freeform 7"/>
            <p:cNvSpPr/>
            <p:nvPr/>
          </p:nvSpPr>
          <p:spPr>
            <a:xfrm>
              <a:off x="920115" y="3586162"/>
              <a:ext cx="4541520" cy="9525"/>
            </a:xfrm>
            <a:custGeom>
              <a:avLst/>
              <a:gdLst/>
              <a:ahLst/>
              <a:cxnLst/>
              <a:rect l="l" t="t" r="r" b="b"/>
              <a:pathLst>
                <a:path w="4541520" h="9525">
                  <a:moveTo>
                    <a:pt x="0" y="0"/>
                  </a:moveTo>
                  <a:lnTo>
                    <a:pt x="454152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461635" y="3538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117408"/>
              <a:ext cx="9525" cy="3260408"/>
            </a:xfrm>
            <a:custGeom>
              <a:avLst/>
              <a:gdLst/>
              <a:ahLst/>
              <a:cxnLst/>
              <a:rect l="l" t="t" r="r" b="b"/>
              <a:pathLst>
                <a:path w="9525" h="3260408">
                  <a:moveTo>
                    <a:pt x="0" y="32604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90875" y="20221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77328" y="2055495"/>
              <a:ext cx="3294698" cy="3288982"/>
            </a:xfrm>
            <a:custGeom>
              <a:avLst/>
              <a:gdLst/>
              <a:ahLst/>
              <a:cxnLst/>
              <a:rect l="l" t="t" r="r" b="b"/>
              <a:pathLst>
                <a:path w="3294698" h="3288982">
                  <a:moveTo>
                    <a:pt x="0" y="3288982"/>
                  </a:moveTo>
                  <a:lnTo>
                    <a:pt x="329469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47888" y="4758690"/>
              <a:ext cx="284798" cy="283845"/>
            </a:xfrm>
            <a:custGeom>
              <a:avLst/>
              <a:gdLst/>
              <a:ahLst/>
              <a:cxnLst/>
              <a:rect l="l" t="t" r="r" b="b"/>
              <a:pathLst>
                <a:path w="284798" h="283845">
                  <a:moveTo>
                    <a:pt x="284798" y="28384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540318" y="3640455"/>
              <a:ext cx="279083" cy="283845"/>
            </a:xfrm>
            <a:custGeom>
              <a:avLst/>
              <a:gdLst/>
              <a:ahLst/>
              <a:cxnLst/>
              <a:rect l="l" t="t" r="r" b="b"/>
              <a:pathLst>
                <a:path w="279083" h="283845">
                  <a:moveTo>
                    <a:pt x="0" y="0"/>
                  </a:moveTo>
                  <a:lnTo>
                    <a:pt x="279083" y="28384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410075" y="2495550"/>
              <a:ext cx="283845" cy="284797"/>
            </a:xfrm>
            <a:custGeom>
              <a:avLst/>
              <a:gdLst/>
              <a:ahLst/>
              <a:cxnLst/>
              <a:rect l="l" t="t" r="r" b="b"/>
              <a:pathLst>
                <a:path w="283845" h="284797">
                  <a:moveTo>
                    <a:pt x="283845" y="28479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3292792" y="2887028"/>
              <a:ext cx="283845" cy="280988"/>
            </a:xfrm>
            <a:custGeom>
              <a:avLst/>
              <a:gdLst/>
              <a:ahLst/>
              <a:cxnLst/>
              <a:rect l="l" t="t" r="r" b="b"/>
              <a:pathLst>
                <a:path w="283845" h="280988">
                  <a:moveTo>
                    <a:pt x="0" y="0"/>
                  </a:moveTo>
                  <a:lnTo>
                    <a:pt x="283845" y="28098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Ellipse 16"/>
            <p:cNvSpPr/>
            <p:nvPr/>
          </p:nvSpPr>
          <p:spPr>
            <a:xfrm>
              <a:off x="891540" y="357663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66410" y="357663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28975" y="5387340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228975" y="1993582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454468" y="534828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775835" y="203263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060258" y="467010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811780" y="39176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190875" y="353853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321492" y="240792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569970" y="316039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419350" y="5030152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419350" y="351948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681538" y="2767012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171825" y="2767012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65109" y="4999672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−2)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31746" y="3276600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0)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85185" y="3754755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56798" y="2924175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0858" y="2510790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3450" y="2266950"/>
              <a:ext cx="924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第一主方向 y = x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6243066" y="1524000"/>
            <a:ext cx="5415534" cy="2826639"/>
            <a:chOff x="6243066" y="1524000"/>
            <a:chExt cx="5415534" cy="2826639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985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253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原坐标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6009" y="1652588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一维坐标 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32836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重构点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7587" y="1652588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7475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9650" y="207645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−2)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09064" y="2076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−3/√2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2249" y="207645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(−1.5, −1.5)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32503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4753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4075" y="2501265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09064" y="25012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−1/√2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2249" y="250126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(−0.5, −0.5)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32503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4753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48499" y="292608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8676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28797" y="292608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2135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74753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48499" y="334994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53488" y="334994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3/√2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51099" y="334994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(1.5, 1.5)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32503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74753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48499" y="3774757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53488" y="3774757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1/√2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51099" y="3774757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(0.5, 0.5)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032503" y="377475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1524000"/>
              <a:ext cx="5410200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000875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19150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27354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680382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243066" y="4145280"/>
              <a:ext cx="3848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重构点 = y·(1/√2, 1/√2)ᵀ，即蓝点在直线上的垂足（橙点）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248400" y="4489132"/>
            <a:ext cx="5410200" cy="1819275"/>
            <a:chOff x="6248400" y="4489132"/>
            <a:chExt cx="5410200" cy="1819275"/>
          </a:xfrm>
        </p:grpSpPr>
        <p:sp>
          <p:nvSpPr>
            <p:cNvPr id="82" name="Rectangle 82"/>
            <p:cNvSpPr/>
            <p:nvPr/>
          </p:nvSpPr>
          <p:spPr>
            <a:xfrm>
              <a:off x="6248400" y="4489132"/>
              <a:ext cx="5410200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57925" y="4622482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484620" y="468725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76060" y="47215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067931" y="4722971"/>
              <a:ext cx="20857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丢掉的误差恰好是 m·λ₂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77381" y="5065871"/>
              <a:ext cx="46131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误差平方和 = 4 × 0.5 = 2.0，正好等于 m·λ₂ = 5 × 2/5；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保留的方差 λ₁ 和丢掉的 λ₂ 加起来就是总方差 tr C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12/5。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78524" y="5922645"/>
              <a:ext cx="410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每个误差都是点到直线 y = x 的距离的平方：|x − y|²/2。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846" y="407194"/>
              <a:ext cx="2765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主成分分析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的优缺点：好算、好用，但它不看标签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ompare-1"/>
          <p:cNvGrpSpPr/>
          <p:nvPr/>
        </p:nvGrpSpPr>
        <p:grpSpPr>
          <a:xfrm>
            <a:off x="533400" y="1524000"/>
            <a:ext cx="6059804" cy="4339590"/>
            <a:chOff x="533400" y="1524000"/>
            <a:chExt cx="6059804" cy="4339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4339590"/>
            </a:xfrm>
            <a:prstGeom prst="roundRect">
              <a:avLst>
                <a:gd name="adj" fmla="val 4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0728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只用方差衡量信息量，不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受数据集以外的因素影响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各主成分两两正交，消除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原始成分间相互影响的因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33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4045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计算简单，主要运算是特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征值分解，易于实现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3243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61485"/>
              <a:ext cx="1948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无监督学习，除 k 之外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没有需要调的参数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72852" y="1524000"/>
              <a:ext cx="2820352" cy="4339590"/>
            </a:xfrm>
            <a:prstGeom prst="roundRect">
              <a:avLst>
                <a:gd name="adj" fmla="val 4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82378" y="1657350"/>
              <a:ext cx="47625" cy="40728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12882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26218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84332" y="211264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主成分的含义有一定模糊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性，不如原始特征好解释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26218" y="2796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84332" y="273367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方差小的非主成分也可能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含有区分样本的重要信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息，丢掉会影响后续处理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026218" y="37033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84332" y="364045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只能找线性子空间，弯曲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的数据结构抓不住（第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04 节）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401378" y="35318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71718" y="36280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898005" y="1524000"/>
            <a:ext cx="4760595" cy="2527935"/>
            <a:chOff x="6898005" y="1524000"/>
            <a:chExt cx="4760595" cy="2527935"/>
          </a:xfrm>
        </p:grpSpPr>
        <p:sp>
          <p:nvSpPr>
            <p:cNvPr id="30" name="Rectangle 30"/>
            <p:cNvSpPr/>
            <p:nvPr/>
          </p:nvSpPr>
          <p:spPr>
            <a:xfrm>
              <a:off x="6898005" y="1524000"/>
              <a:ext cx="4760595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4565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2701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适用范围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0528" y="1768792"/>
              <a:ext cx="11718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19 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8035" y="2129790"/>
              <a:ext cx="4006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对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椭球状分布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的样本集效果很好，学到的主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方向就是椭球的主轴方向。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8035" y="2750820"/>
              <a:ext cx="4015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找的是最能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所有样本的方向，这个方向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未必有利：两类样本是两个平行的长椭圆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时，主方向沿着椭圆的长轴，两类投影后全叠在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一起。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898005" y="4242435"/>
            <a:ext cx="4760595" cy="1621155"/>
            <a:chOff x="6898005" y="4242435"/>
            <a:chExt cx="4760595" cy="1621155"/>
          </a:xfrm>
        </p:grpSpPr>
        <p:sp>
          <p:nvSpPr>
            <p:cNvPr id="38" name="Rectangle 38"/>
            <p:cNvSpPr/>
            <p:nvPr/>
          </p:nvSpPr>
          <p:spPr>
            <a:xfrm>
              <a:off x="6898005" y="4242435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437578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45655" y="44519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23061" y="44877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引出下一节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2450" y="448722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有标签时，换一个目标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8035" y="4848225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下一节 LDA 的例题里，PCA 选的方向让两类投影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几乎重叠（Fisher 准则 J = 0.12），LDA 选的方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J = 1.125，两类完全分开。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其他线性降维方法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有标签时找最能分开两类的方向，只有距离时就保持距离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982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LDA：类间远、类内紧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087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SVD：任意矩阵的“特征分解”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06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SVD 给电影打分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23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MDS：保持两两距离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 的目标：投影后两类离得远、各自抱得紧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916179" cy="293370"/>
            <a:chOff x="525780" y="1548765"/>
            <a:chExt cx="1091617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916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线性判别分析（Linear Discriminant Analysis）[Fukunaga, 1991]，又称 Fisher 判别分析，是有监督的线性降维方法。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4977765" cy="1795462"/>
            <a:chOff x="533400" y="1954530"/>
            <a:chExt cx="4977765" cy="179546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1795462"/>
            </a:xfrm>
            <a:prstGeom prst="roundRect">
              <a:avLst>
                <a:gd name="adj" fmla="val 74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5287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644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降维目的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588" y="21978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最能把两类分开的投影直线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寻找一条投影直线，使投影后两类样本的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均值之差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影样本的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总类内散度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的比值最大。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求解方法：经过推导，原问题转化为关于总类内散度矩阵和总类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间散度矩阵的广义特征值问题。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935730"/>
            <a:ext cx="4977765" cy="1564958"/>
            <a:chOff x="533400" y="3935730"/>
            <a:chExt cx="4977765" cy="1564958"/>
          </a:xfrm>
        </p:grpSpPr>
        <p:sp>
          <p:nvSpPr>
            <p:cNvPr id="17" name="Rectangle 17"/>
            <p:cNvSpPr/>
            <p:nvPr/>
          </p:nvSpPr>
          <p:spPr>
            <a:xfrm>
              <a:off x="533400" y="3935730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6908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4139565"/>
              <a:ext cx="12639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700" y="4175284"/>
              <a:ext cx="1136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版第 21–22 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6364" y="41790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为什么不直接投到坐标轴上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530566"/>
              <a:ext cx="418033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红、绿两类都是斜着的长条。直接投影到 x₁ 轴或 x₂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轴，两类会有重叠，分类效果下降；LDA 算出的直线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上，两类中心距离最大，每类内部最集中。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6326505" y="2109311"/>
            <a:ext cx="4987277" cy="3312319"/>
            <a:chOff x="6326505" y="2109311"/>
            <a:chExt cx="4987277" cy="3312319"/>
          </a:xfrm>
        </p:grpSpPr>
        <p:sp>
          <p:nvSpPr>
            <p:cNvPr id="24" name="Freeform 24"/>
            <p:cNvSpPr/>
            <p:nvPr/>
          </p:nvSpPr>
          <p:spPr>
            <a:xfrm>
              <a:off x="6355080" y="4973955"/>
              <a:ext cx="4721542" cy="9525"/>
            </a:xfrm>
            <a:custGeom>
              <a:avLst/>
              <a:gdLst/>
              <a:ahLst/>
              <a:cxnLst/>
              <a:rect l="l" t="t" r="r" b="b"/>
              <a:pathLst>
                <a:path w="4721542" h="9525">
                  <a:moveTo>
                    <a:pt x="0" y="0"/>
                  </a:moveTo>
                  <a:lnTo>
                    <a:pt x="47215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1076622" y="4926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668452" y="2328862"/>
              <a:ext cx="9525" cy="3008948"/>
            </a:xfrm>
            <a:custGeom>
              <a:avLst/>
              <a:gdLst/>
              <a:ahLst/>
              <a:cxnLst/>
              <a:rect l="l" t="t" r="r" b="b"/>
              <a:pathLst>
                <a:path w="9525" h="3008948">
                  <a:moveTo>
                    <a:pt x="0" y="300894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620828" y="22336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702742" y="2833688"/>
              <a:ext cx="1036320" cy="2071688"/>
            </a:xfrm>
            <a:custGeom>
              <a:avLst/>
              <a:gdLst/>
              <a:ahLst/>
              <a:cxnLst/>
              <a:rect l="l" t="t" r="r" b="b"/>
              <a:pathLst>
                <a:path w="1036320" h="2071688">
                  <a:moveTo>
                    <a:pt x="0" y="2071688"/>
                  </a:moveTo>
                  <a:lnTo>
                    <a:pt x="103632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7849552" y="2765108"/>
              <a:ext cx="951547" cy="9525"/>
            </a:xfrm>
            <a:custGeom>
              <a:avLst/>
              <a:gdLst/>
              <a:ahLst/>
              <a:cxnLst/>
              <a:rect l="l" t="t" r="r" b="b"/>
              <a:pathLst>
                <a:path w="951547" h="9525">
                  <a:moveTo>
                    <a:pt x="0" y="0"/>
                  </a:moveTo>
                  <a:lnTo>
                    <a:pt x="951547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7806690" y="2833688"/>
              <a:ext cx="1036320" cy="2071688"/>
            </a:xfrm>
            <a:custGeom>
              <a:avLst/>
              <a:gdLst/>
              <a:ahLst/>
              <a:cxnLst/>
              <a:rect l="l" t="t" r="r" b="b"/>
              <a:pathLst>
                <a:path w="1036320" h="2071688">
                  <a:moveTo>
                    <a:pt x="1036320" y="0"/>
                  </a:moveTo>
                  <a:lnTo>
                    <a:pt x="0" y="2071688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6744652" y="497395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9525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8356282" y="2833688"/>
              <a:ext cx="1036320" cy="2071688"/>
            </a:xfrm>
            <a:custGeom>
              <a:avLst/>
              <a:gdLst/>
              <a:ahLst/>
              <a:cxnLst/>
              <a:rect l="l" t="t" r="r" b="b"/>
              <a:pathLst>
                <a:path w="1036320" h="2071688">
                  <a:moveTo>
                    <a:pt x="0" y="2071688"/>
                  </a:moveTo>
                  <a:lnTo>
                    <a:pt x="103632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9503092" y="2765108"/>
              <a:ext cx="951547" cy="9525"/>
            </a:xfrm>
            <a:custGeom>
              <a:avLst/>
              <a:gdLst/>
              <a:ahLst/>
              <a:cxnLst/>
              <a:rect l="l" t="t" r="r" b="b"/>
              <a:pathLst>
                <a:path w="951547" h="9525">
                  <a:moveTo>
                    <a:pt x="0" y="0"/>
                  </a:moveTo>
                  <a:lnTo>
                    <a:pt x="951547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9460230" y="2833688"/>
              <a:ext cx="1036320" cy="2071688"/>
            </a:xfrm>
            <a:custGeom>
              <a:avLst/>
              <a:gdLst/>
              <a:ahLst/>
              <a:cxnLst/>
              <a:rect l="l" t="t" r="r" b="b"/>
              <a:pathLst>
                <a:path w="1036320" h="2071688">
                  <a:moveTo>
                    <a:pt x="1036320" y="0"/>
                  </a:moveTo>
                  <a:lnTo>
                    <a:pt x="0" y="207168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8398192" y="497395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9525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7834312" y="2287905"/>
              <a:ext cx="1554480" cy="3107055"/>
            </a:xfrm>
            <a:custGeom>
              <a:avLst/>
              <a:gdLst/>
              <a:ahLst/>
              <a:cxnLst/>
              <a:rect l="l" t="t" r="r" b="b"/>
              <a:pathLst>
                <a:path w="1554480" h="3107055">
                  <a:moveTo>
                    <a:pt x="0" y="3107055"/>
                  </a:moveTo>
                  <a:lnTo>
                    <a:pt x="155448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665970" y="3324225"/>
              <a:ext cx="762953" cy="381953"/>
            </a:xfrm>
            <a:custGeom>
              <a:avLst/>
              <a:gdLst/>
              <a:ahLst/>
              <a:cxnLst/>
              <a:rect l="l" t="t" r="r" b="b"/>
              <a:pathLst>
                <a:path w="762953" h="381953">
                  <a:moveTo>
                    <a:pt x="0" y="0"/>
                  </a:moveTo>
                  <a:lnTo>
                    <a:pt x="762953" y="3819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407015" y="3664268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84773"/>
                  </a:moveTo>
                  <a:lnTo>
                    <a:pt x="0" y="84773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326505" y="4964430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181398" y="4964430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658928" y="534733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658928" y="220503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816215" y="5402580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387840" y="226123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639300" y="330612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521315" y="374808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601778" y="4907280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706678" y="2698432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810625" y="2698432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706678" y="4907280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255318" y="4907280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360218" y="2698432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0464165" y="2698432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360218" y="4907280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113409" y="511349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27330" y="210931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35868" y="321040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类 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12493" y="4206716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类 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78274" y="3351371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∝ (2, −1)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74327" y="2191226"/>
              <a:ext cx="7487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2x₁ − x₂ = 5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04084"/>
              <a:ext cx="93292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右图是本节例题的数据：两类都是向右上倾斜的平行四边形。红线是 LDA 给出的分界，投影方向 w 与它垂直。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5758" cy="909257"/>
            <a:chOff x="520446" y="342900"/>
            <a:chExt cx="63657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57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 推导①：把“远”和“紧”写成 w 的函数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672715"/>
            <a:chOff x="533400" y="1524000"/>
            <a:chExt cx="5410200" cy="2672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72715"/>
            </a:xfrm>
            <a:prstGeom prst="roundRect">
              <a:avLst>
                <a:gd name="adj" fmla="val 49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60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类中心、投影后的类中心与散度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投影函数 y = wᵀx；Dᵢ 是类别 i 的样本集，含 nᵢ 个样本，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Yᵢ 是它投影后的集合。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01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496443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acc>
                              <m:accPr>
                                <m:chr m:val="˜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02"/>
                <p:cNvSpPr txBox="1">
                  <a:spLocks noGrp="1"/>
                </p:cNvSpPr>
                <p:nvPr/>
              </p:nvSpPr>
              <p:spPr>
                <a:xfrm>
                  <a:off x="775335" y="3376612"/>
                  <a:ext cx="496443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acc>
                              <m:accPr>
                                <m:chr m:val="˜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acc>
                                          <m:accPr>
                                            <m:chr m:val="˜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m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4381500"/>
            <a:ext cx="5410200" cy="1925955"/>
            <a:chOff x="533400" y="4381500"/>
            <a:chExt cx="5410200" cy="1925955"/>
          </a:xfrm>
        </p:grpSpPr>
        <p:sp>
          <p:nvSpPr>
            <p:cNvPr id="16" name="Rectangle 16"/>
            <p:cNvSpPr/>
            <p:nvPr/>
          </p:nvSpPr>
          <p:spPr>
            <a:xfrm>
              <a:off x="533400" y="4381500"/>
              <a:ext cx="5410200" cy="1925955"/>
            </a:xfrm>
            <a:prstGeom prst="roundRect">
              <a:avLst>
                <a:gd name="adj" fmla="val 6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7235" y="45853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44" y="46210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22488" y="4625816"/>
              <a:ext cx="10755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Fisher 准则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03"/>
                <p:cNvSpPr txBox="1">
                  <a:spLocks noGrp="1"/>
                </p:cNvSpPr>
                <p:nvPr/>
              </p:nvSpPr>
              <p:spPr>
                <a:xfrm>
                  <a:off x="737235" y="4953952"/>
                  <a:ext cx="500253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acc>
                                          <m:accPr>
                                            <m:chr m:val="˜"/>
                                            <m:ctrlPr>
                                              <a:rPr lang="zh-CN" sz="15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m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acc>
                                          <m:accPr>
                                            <m:chr m:val="˜"/>
                                            <m:ctrlPr>
                                              <a:rPr lang="zh-CN" sz="15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m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e>
                                <m:acc>
                                  <m:accPr>
                                    <m:chr m:val="˜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Sup>
                              <m:e>
                                <m:acc>
                                  <m:accPr>
                                    <m:chr m:val="˜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29996" y="560974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分子是两类中心投影后距离的平方，越大越好；分母是两类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各自的散度之和，越小越好。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711642"/>
            <a:chOff x="6248400" y="1524000"/>
            <a:chExt cx="5410200" cy="171164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711642"/>
            </a:xfrm>
            <a:prstGeom prst="roundRect">
              <a:avLst>
                <a:gd name="adj" fmla="val 77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44494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0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3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类内散度矩阵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60386" y="17673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投影前各类的分散程度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04"/>
                <p:cNvSpPr txBox="1">
                  <a:spLocks noGrp="1"/>
                </p:cNvSpPr>
                <p:nvPr/>
              </p:nvSpPr>
              <p:spPr>
                <a:xfrm>
                  <a:off x="6490335" y="2095500"/>
                  <a:ext cx="496443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83096" y="2809399"/>
              <a:ext cx="4015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类中的点越紧地围绕 mᵢ，Sᵢ 的元素越接近 0。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420428"/>
            <a:ext cx="5410200" cy="2887028"/>
            <a:chOff x="6248400" y="3420428"/>
            <a:chExt cx="5410200" cy="2887028"/>
          </a:xfrm>
        </p:grpSpPr>
        <p:sp>
          <p:nvSpPr>
            <p:cNvPr id="31" name="Rectangle 31"/>
            <p:cNvSpPr/>
            <p:nvPr/>
          </p:nvSpPr>
          <p:spPr>
            <a:xfrm>
              <a:off x="6248400" y="3420428"/>
              <a:ext cx="5410200" cy="2887028"/>
            </a:xfrm>
            <a:prstGeom prst="roundRect">
              <a:avLst>
                <a:gd name="adj" fmla="val 4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553778"/>
              <a:ext cx="47625" cy="262032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0335" y="36242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0543" y="36599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1744" y="3664744"/>
              <a:ext cx="18147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分母化成 w 的二次型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05"/>
                <p:cNvSpPr txBox="1">
                  <a:spLocks noGrp="1"/>
                </p:cNvSpPr>
                <p:nvPr/>
              </p:nvSpPr>
              <p:spPr>
                <a:xfrm>
                  <a:off x="6490335" y="3992880"/>
                  <a:ext cx="496443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acc>
                              <m:accPr>
                                <m:chr m:val="˜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acc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bi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bi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106"/>
                <p:cNvSpPr txBox="1">
                  <a:spLocks noGrp="1"/>
                </p:cNvSpPr>
                <p:nvPr/>
              </p:nvSpPr>
              <p:spPr>
                <a:xfrm>
                  <a:off x="6490335" y="4619625"/>
                  <a:ext cx="49644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acc>
                              <m:accPr>
                                <m:chr m:val="˜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Sup>
                          <m:e>
                            <m:acc>
                              <m:accPr>
                                <m:chr m:val="˜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8963" cy="909257"/>
            <a:chOff x="520446" y="342900"/>
            <a:chExt cx="93689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89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 推导②：Rayleigh 商求极值，得到 w = Sw⁻¹(m₁ − m₂)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3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˜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˜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24"/>
              <p:cNvSpPr txBox="1">
                <a:spLocks noGrp="1"/>
              </p:cNvSpPr>
              <p:nvPr/>
            </p:nvSpPr>
            <p:spPr>
              <a:xfrm>
                <a:off x="533400" y="202311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bi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sub>
                          </m:sSub>
                          <m:r>
                            <m:rPr>
                              <m:sty m:val="bi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2" name="c1-steps-3"/>
          <p:cNvGrpSpPr/>
          <p:nvPr/>
        </p:nvGrpSpPr>
        <p:grpSpPr>
          <a:xfrm>
            <a:off x="533400" y="2722245"/>
            <a:ext cx="5104511" cy="2107406"/>
            <a:chOff x="533400" y="2722245"/>
            <a:chExt cx="5104511" cy="2107406"/>
          </a:xfrm>
        </p:grpSpPr>
        <p:sp>
          <p:nvSpPr>
            <p:cNvPr id="9" name="Rectangle 9"/>
            <p:cNvSpPr/>
            <p:nvPr/>
          </p:nvSpPr>
          <p:spPr>
            <a:xfrm>
              <a:off x="666750" y="286512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7222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796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89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828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10337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1762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75367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归一化分母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3020854"/>
              <a:ext cx="4362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放大任何倍 J 都不变，w 就定不下来，所以先令 wᵀ·Sw·w =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340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拉格朗日乘子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608546"/>
              <a:ext cx="4669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c(w) = wᵀSB w − λ(wᵀSw w − 1)，求导 2SB w − 2λSw w = 0，得 SB w =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λSw 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4134802"/>
              <a:ext cx="90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左乘 Sw⁻¹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4401979"/>
              <a:ext cx="46911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Sw 可逆，Sw⁻¹SB w = λw：λ 是 Sw⁻¹SB 的特征值，w 是对应的特征向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量（Fisher linear discrimination）</a:t>
              </a:r>
            </a:p>
          </p:txBody>
        </p:sp>
      </p:grpSp>
      <p:grpSp>
        <p:nvGrpSpPr>
          <p:cNvPr id="29" name="c1-card-4"/>
          <p:cNvGrpSpPr/>
          <p:nvPr/>
        </p:nvGrpSpPr>
        <p:grpSpPr>
          <a:xfrm>
            <a:off x="533400" y="4998720"/>
            <a:ext cx="5410200" cy="1226820"/>
            <a:chOff x="533400" y="4998720"/>
            <a:chExt cx="5410200" cy="1226820"/>
          </a:xfrm>
        </p:grpSpPr>
        <p:sp>
          <p:nvSpPr>
            <p:cNvPr id="23" name="Rectangle 23"/>
            <p:cNvSpPr/>
            <p:nvPr/>
          </p:nvSpPr>
          <p:spPr>
            <a:xfrm>
              <a:off x="533400" y="499872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513207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519112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9343" y="52254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取哪个特征值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80997" y="5230178"/>
              <a:ext cx="218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的最大值就是最大特征值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5564505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SB w = λSw w 两边左乘 wᵀ，得 wᵀSB w = λ·wᵀSw w，即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J(w) = λ。所以要取 Sw⁻¹SB 最大的特征值对应的特征向量。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2511742"/>
            <a:chOff x="6248400" y="1524000"/>
            <a:chExt cx="5410200" cy="251174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511742"/>
            </a:xfrm>
            <a:prstGeom prst="roundRect">
              <a:avLst>
                <a:gd name="adj" fmla="val 5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2450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62597" y="17564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闭式解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2090738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 w = (m₁ − m₂)(m₁ − m₂)ᵀw，而 (m₁ − m₂)ᵀw 是一个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数，记作 c，所以 SB w 总是沿 (m₁ − m₂) 方向。代入上式得 c</a:t>
              </a:r>
            </a:p>
            <a:p>
              <a:pPr algn="l" marL="145732" indent="-145732">
                <a:lnSpc>
                  <a:spcPts val="2025"/>
                </a:lnSpc>
                <a:buClr>
                  <a:srgbClr val="1F2937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Sw⁻¹(m₁ − m₂) = λw。只关心 w 的方向，不关心大小：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25"/>
                <p:cNvSpPr txBox="1">
                  <a:spLocks noGrp="1"/>
                </p:cNvSpPr>
                <p:nvPr/>
              </p:nvSpPr>
              <p:spPr>
                <a:xfrm>
                  <a:off x="6478905" y="2885122"/>
                  <a:ext cx="498729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7" name="TextBox 37"/>
            <p:cNvSpPr txBox="1"/>
            <p:nvPr/>
          </p:nvSpPr>
          <p:spPr>
            <a:xfrm>
              <a:off x="6472047" y="3374708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只需要两类样本的均值和类内散度，这就是 Fisher 于 1936 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提出的线性判别分析。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4210050"/>
            <a:ext cx="5410200" cy="2014538"/>
            <a:chOff x="6248400" y="4210050"/>
            <a:chExt cx="5410200" cy="2014538"/>
          </a:xfrm>
        </p:grpSpPr>
        <p:sp>
          <p:nvSpPr>
            <p:cNvPr id="39" name="Rectangle 39"/>
            <p:cNvSpPr/>
            <p:nvPr/>
          </p:nvSpPr>
          <p:spPr>
            <a:xfrm>
              <a:off x="6248400" y="4210050"/>
              <a:ext cx="5410200" cy="2014538"/>
            </a:xfrm>
            <a:prstGeom prst="roundRect">
              <a:avLst>
                <a:gd name="adj" fmla="val 6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4343400"/>
              <a:ext cx="47625" cy="17478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44024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0345" y="44367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62597" y="4442460"/>
              <a:ext cx="2307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类的情形（A 版第 27 页）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126"/>
                <p:cNvSpPr txBox="1">
                  <a:spLocks noGrp="1"/>
                </p:cNvSpPr>
                <p:nvPr/>
              </p:nvSpPr>
              <p:spPr>
                <a:xfrm>
                  <a:off x="6478905" y="4754880"/>
                  <a:ext cx="4987290" cy="471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m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sup>
                          <m:e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472047" y="5334952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目标函数形式不变，解取 Sw⁻¹SB 最大的几个特征值对应的特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征向量，最多 c − 1 个。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42570" cy="909257"/>
            <a:chOff x="520446" y="342900"/>
            <a:chExt cx="73425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425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LDA ①：两类各 4 个样本，求最佳投影方向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64958"/>
            <a:chOff x="533400" y="1524000"/>
            <a:chExt cx="5626418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88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形状相同、只沿 x₁ 错开 3 的两类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4759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1：(0, 0)、(2, 4)、(4, 4)、(2, 0)；类 2：(3, 0)、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4)、(7, 4)、(5, 0)。求 Fisher 投影方向（数据是本讲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义自编的，见上一节第 22 页右图）。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283268"/>
            <a:ext cx="5073396" cy="2853118"/>
            <a:chOff x="533400" y="3283268"/>
            <a:chExt cx="5073396" cy="2853118"/>
          </a:xfrm>
        </p:grpSpPr>
        <p:sp>
          <p:nvSpPr>
            <p:cNvPr id="14" name="Rectangle 14"/>
            <p:cNvSpPr/>
            <p:nvPr/>
          </p:nvSpPr>
          <p:spPr>
            <a:xfrm>
              <a:off x="666750" y="3426142"/>
              <a:ext cx="19050" cy="23040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2832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357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042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978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7463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820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5883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662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31708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597592"/>
              <a:ext cx="3751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 = (2, 2)ᵀ，m₂ = (5, 2)ᵀ，m₁ − m₂ = (−3, 0)ᵀ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9371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类内散度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217670"/>
              <a:ext cx="4568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1 的偏差为 (−2, −2)、(0, 2)、(2, 2)、(0, −2)，S₁ = [8 8; 8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16]；类 2 偏差完全相同，S₂ = S₁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47791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合并求逆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059680"/>
              <a:ext cx="4660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= [16 16; 16 32]，det = 512 − 256 = 256，Sw⁻¹ = (1/256)[32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−16; −16 16] = [1/8 −1/16; −1/16 1/16]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56211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投影方向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5901690"/>
              <a:ext cx="3688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Sw⁻¹(m₁ − m₂) = (−3/8, 3/16)ᵀ ∝ (2, −1)ᵀ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464618" y="1524000"/>
            <a:ext cx="5193982" cy="1933575"/>
            <a:chOff x="6464618" y="1524000"/>
            <a:chExt cx="5193982" cy="1933575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投影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7961" y="1767364"/>
              <a:ext cx="2746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(2, −1) 投影，y = 2x₁ − x₂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4172" y="21793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0764" y="2119789"/>
              <a:ext cx="22032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1：0, 0, 4, 4，均值 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4172" y="24993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0764" y="2439829"/>
              <a:ext cx="2413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2：6, 6, 10, 10，均值 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9314" y="2759869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两类投影区间 [0, 4] 与 [6, 10] 完全分开，取两均值的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中点 5 作阈值：2x₁ − x₂ &lt; 5 判为类 1。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3642360"/>
            <a:ext cx="5193982" cy="1613535"/>
            <a:chOff x="6464618" y="3642360"/>
            <a:chExt cx="5193982" cy="1613535"/>
          </a:xfrm>
        </p:grpSpPr>
        <p:sp>
          <p:nvSpPr>
            <p:cNvPr id="43" name="Rectangle 43"/>
            <p:cNvSpPr/>
            <p:nvPr/>
          </p:nvSpPr>
          <p:spPr>
            <a:xfrm>
              <a:off x="6464618" y="3642360"/>
              <a:ext cx="5193982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377571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7713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07961" y="3886676"/>
              <a:ext cx="15328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的两种算法一致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4172" y="429863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70764" y="4238149"/>
              <a:ext cx="46167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直接算：J = (2 − 8)² / (16 + 16) = 36/32 = 1.125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14172" y="46186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70764" y="4558189"/>
              <a:ext cx="42705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Sw⁻¹SB 的非零特征值 = (m₁ − m₂)ᵀSw⁻¹(m₁ − m₂)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9 × 1/8 = 1.125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464618" y="5441632"/>
            <a:ext cx="5193982" cy="756285"/>
            <a:chOff x="6464618" y="5441632"/>
            <a:chExt cx="5193982" cy="756285"/>
          </a:xfrm>
        </p:grpSpPr>
        <p:sp>
          <p:nvSpPr>
            <p:cNvPr id="53" name="Rectangle 53"/>
            <p:cNvSpPr/>
            <p:nvPr/>
          </p:nvSpPr>
          <p:spPr>
            <a:xfrm>
              <a:off x="6464618" y="544163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69405" y="5719763"/>
              <a:ext cx="200026" cy="200026"/>
              <a:chOff x="6669405" y="5719763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669405" y="57197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9418" y="5786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58305" y="58197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1729" y="5588794"/>
              <a:ext cx="405409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与 w 的长度无关，所以用 (2, −1) 还是单位向量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−1)/√5 算，结果一样。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9117" cy="909257"/>
            <a:chOff x="520446" y="342900"/>
            <a:chExt cx="58691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91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LDA ②：换几个方向比一比 J(w)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27685" y="1524000"/>
            <a:ext cx="6281737" cy="2873217"/>
            <a:chOff x="527685" y="1524000"/>
            <a:chExt cx="6281737" cy="287321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64389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4778" y="17621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投影方向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33413" y="1762125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 1 投影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93558" y="1762125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 2 投影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4462" y="1655445"/>
              <a:ext cx="316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均值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80266" y="1655445"/>
              <a:ext cx="62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类内散度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46370" y="176212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298382"/>
              <a:ext cx="979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轴 (1, 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9595" y="229838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0, 2, 4, 2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49740" y="229838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3, 5, 7, 5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2437" y="22983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03330" y="2298382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+ 8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73534" y="22983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5927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59746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728912"/>
              <a:ext cx="979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轴 (0, 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9595" y="272891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0, 4, 4, 0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49740" y="272891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0, 4, 4, 0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2437" y="2728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14480" y="272891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+ 16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02655" y="2606992"/>
              <a:ext cx="79724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1232" y="2728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0232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159442"/>
              <a:ext cx="102831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主方向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(0.73, 0.68)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57032" y="3159442"/>
              <a:ext cx="6446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0, 4.2,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5.7, 1.5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75266" y="3159442"/>
              <a:ext cx="728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2.2, 6.4,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7.8, 3.6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9163" y="32661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52656" y="3159442"/>
              <a:ext cx="477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19.7 +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02655" y="3037522"/>
              <a:ext cx="797242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73534" y="326612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6661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67093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3802380"/>
              <a:ext cx="1006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 (2, −1)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89595" y="3802380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0, 0, 4, 4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60890" y="380238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6, 6, 10, 10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8012" y="38023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14480" y="380238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+ 16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02655" y="3680460"/>
              <a:ext cx="7972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73534" y="38023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1.125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276022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909762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03942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231005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984432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8836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4177189"/>
              <a:ext cx="28607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各方向未归一化；J 与方向向量的长度无关</a:t>
              </a:r>
            </a:p>
          </p:txBody>
        </p:sp>
      </p:grpSp>
      <p:grpSp>
        <p:nvGrpSpPr>
          <p:cNvPr id="60" name="c1-card-2"/>
          <p:cNvGrpSpPr/>
          <p:nvPr/>
        </p:nvGrpSpPr>
        <p:grpSpPr>
          <a:xfrm>
            <a:off x="533400" y="4538662"/>
            <a:ext cx="6276022" cy="1293495"/>
            <a:chOff x="533400" y="4538662"/>
            <a:chExt cx="6276022" cy="1293495"/>
          </a:xfrm>
        </p:grpSpPr>
        <p:sp>
          <p:nvSpPr>
            <p:cNvPr id="54" name="Rectangle 54"/>
            <p:cNvSpPr/>
            <p:nvPr/>
          </p:nvSpPr>
          <p:spPr>
            <a:xfrm>
              <a:off x="533400" y="4538662"/>
              <a:ext cx="6276022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2925" y="467201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5335" y="4742498"/>
              <a:ext cx="135445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1432" y="4778216"/>
              <a:ext cx="1242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PCA 方向怎么来的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236851" y="4782026"/>
              <a:ext cx="253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不看标签，把 8 个点放在一起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8096" y="5133499"/>
              <a:ext cx="55418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个点的均值 (3.5, 2)，协方差矩阵（1/N）为 [4.25 2; 2 4]，特征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 6.13 与 2.12，第一主方向 (0.73, 0.68)，与 x₁ 轴约成 43°。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7114222" y="1524000"/>
            <a:ext cx="4544378" cy="2747962"/>
            <a:chOff x="7114222" y="1524000"/>
            <a:chExt cx="4544378" cy="2747962"/>
          </a:xfrm>
        </p:grpSpPr>
        <p:sp>
          <p:nvSpPr>
            <p:cNvPr id="61" name="Rectangle 61"/>
            <p:cNvSpPr/>
            <p:nvPr/>
          </p:nvSpPr>
          <p:spPr>
            <a:xfrm>
              <a:off x="7114222" y="1524000"/>
              <a:ext cx="4544378" cy="2747962"/>
            </a:xfrm>
            <a:prstGeom prst="roundRect">
              <a:avLst>
                <a:gd name="adj" fmla="val 485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18058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08266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18514" y="1767364"/>
              <a:ext cx="3102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最佳方向不是“连接两个中心”的方向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10818" y="2119789"/>
              <a:ext cx="390982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两类中心只在 x₁ 方向上错开，可最佳方向不是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 轴。两类都向右上倾斜，沿 (2, −1) 投影正好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把倾斜“抵消”掉，每一类都收缩成两个点。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10818" y="2982754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 轴上两类投影 [0, 4] 与 [3, 7] 交叠；x₂ 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上两类完全重合。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10818" y="3574256"/>
              <a:ext cx="39729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PCA 选的是整体最长的方向，两类投影严重交叠，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只有 0.121。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7114222" y="4456748"/>
            <a:ext cx="4544378" cy="1374458"/>
            <a:chOff x="7114222" y="4456748"/>
            <a:chExt cx="4544378" cy="1374458"/>
          </a:xfrm>
        </p:grpSpPr>
        <p:sp>
          <p:nvSpPr>
            <p:cNvPr id="69" name="Rectangle 69"/>
            <p:cNvSpPr/>
            <p:nvPr/>
          </p:nvSpPr>
          <p:spPr>
            <a:xfrm>
              <a:off x="7114222" y="4456748"/>
              <a:ext cx="4544378" cy="1374458"/>
            </a:xfrm>
            <a:prstGeom prst="roundRect">
              <a:avLst>
                <a:gd name="adj" fmla="val 831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06952" y="5040748"/>
              <a:ext cx="224134" cy="192560"/>
              <a:chOff x="7306952" y="5040748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419023" y="51111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306952" y="50407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419023" y="5188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621334" y="4782026"/>
              <a:ext cx="354914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教训：降维是为了分类时，要用标签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（LDA）；只为了压缩和可视化时，PCA 就够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96184" cy="909257"/>
            <a:chOff x="520446" y="342900"/>
            <a:chExt cx="2996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655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 与 LDA 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11125200" cy="3283268"/>
            <a:chOff x="533400" y="1524000"/>
            <a:chExt cx="11125200" cy="32832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0498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24875" y="1658779"/>
              <a:ext cx="1383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PCA 主成分分析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90817" y="1658779"/>
              <a:ext cx="15749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LDA 线性判别分析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是否用标签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9758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否，无监督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1281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是，有监督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优化目标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9758" y="259699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投影后方差最大，等价于重构误差最小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06602" y="2471738"/>
              <a:ext cx="4542472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1281" y="2596991"/>
              <a:ext cx="3089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类间距离与类内散度之比 J(w) 最大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9260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30656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39758" y="3065621"/>
              <a:ext cx="2158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 C 的特征分解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1281" y="3065621"/>
              <a:ext cx="43190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Sw⁻¹SB 的特征分解；两类时 w = Sw⁻¹(m₁ − m₂)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956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0042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353520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能降到的维数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39758" y="3535204"/>
              <a:ext cx="8842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 k ≤ 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1281" y="3535204"/>
              <a:ext cx="2442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c − 1 维（c 为类别数）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8642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04" y="40038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典型用途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39758" y="400383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数据压缩、去噪、可视化、预处理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1281" y="400383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分类前的特征提取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3329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33768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04" y="4473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典型风险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39758" y="447341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丢掉方差小但对分类有用的方向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01281" y="4473416"/>
              <a:ext cx="42111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样本数少于维数时 Sw 奇异，需要正则化或先降维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283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30792" y="1524000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92315" y="1524000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2" name="Rectangle 4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753576"/>
              <a:ext cx="995121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两者可以接力：先用 PCA 去掉方差为 0 的方向，让 Sw 变成可逆，再在降维后的空间里做 LDA。人脸识别里的 Fisherface 就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是这么做的。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2316" cy="909257"/>
            <a:chOff x="520446" y="342900"/>
            <a:chExt cx="73723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23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SVD：任意矩阵都能分解成“旋转 · 伸缩 · 旋转”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00184" cy="308039"/>
            <a:chOff x="525399" y="1550194"/>
            <a:chExt cx="98001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001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奇异值分解可以看作特征值分解的推广，特征值分解是它的特例。矩阵不是方阵时同样适用，应用很广。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67865"/>
            <a:ext cx="5410200" cy="4316730"/>
            <a:chOff x="533400" y="1967865"/>
            <a:chExt cx="5410200" cy="431673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316730"/>
            </a:xfrm>
            <a:prstGeom prst="roundRect">
              <a:avLst>
                <a:gd name="adj" fmla="val 30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40500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39343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m×n 矩阵 A，秩为 r，总可以分解为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29"/>
                <p:cNvSpPr txBox="1">
                  <a:spLocks noGrp="1"/>
                </p:cNvSpPr>
                <p:nvPr/>
              </p:nvSpPr>
              <p:spPr>
                <a:xfrm>
                  <a:off x="781050" y="2548890"/>
                  <a:ext cx="4953000" cy="9848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sSub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/>
                                    <m:e/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/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⋱</m:t>
                                      </m:r>
                                    </m:e>
                                    <m:e/>
                                    <m:e/>
                                  </m:mr>
                                  <m:mr>
                                    <m:e/>
                                    <m:e/>
                                    <m:e>
                                      <m:sSub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r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/>
                                    <m:e/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86765" y="3716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53790"/>
              <a:ext cx="30163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U（m×m）、V（n×n）是正交矩阵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051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989070"/>
              <a:ext cx="4518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 ≥ σ₂ ≥ ⋯ ≥ σᵣ &gt; 0 是非零奇异值，从大到小排列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387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324350"/>
              <a:ext cx="3810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的列叫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左奇异向量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，V 的列叫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右奇异向量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967865"/>
            <a:ext cx="5410200" cy="2219325"/>
            <a:chOff x="6248400" y="1967865"/>
            <a:chExt cx="5410200" cy="2219325"/>
          </a:xfrm>
        </p:grpSpPr>
        <p:sp>
          <p:nvSpPr>
            <p:cNvPr id="22" name="Rectangle 22"/>
            <p:cNvSpPr/>
            <p:nvPr/>
          </p:nvSpPr>
          <p:spPr>
            <a:xfrm>
              <a:off x="6248400" y="1967865"/>
              <a:ext cx="5410200" cy="2219325"/>
            </a:xfrm>
            <a:prstGeom prst="roundRect">
              <a:avLst>
                <a:gd name="adj" fmla="val 6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2101215"/>
              <a:ext cx="47625" cy="1952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2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怎么求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39000" y="2212658"/>
              <a:ext cx="2336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奇异值来自 AᵀA 的特征值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30"/>
                <p:cNvSpPr txBox="1">
                  <a:spLocks noGrp="1"/>
                </p:cNvSpPr>
                <p:nvPr/>
              </p:nvSpPr>
              <p:spPr>
                <a:xfrm>
                  <a:off x="6496050" y="2548890"/>
                  <a:ext cx="4953000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88430" y="3171825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是 n×n 的半正定对称矩阵，特征值都 ≥ 0，它的单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位特征向量就是右奇异向量 vᵢ。同理，AAᵀ 的单位特征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向量是左奇异向量 uᵢ，非零特征值与 AᵀA 相同。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4377690"/>
            <a:ext cx="5410200" cy="1906905"/>
            <a:chOff x="6248400" y="4377690"/>
            <a:chExt cx="5410200" cy="1906905"/>
          </a:xfrm>
        </p:grpSpPr>
        <p:sp>
          <p:nvSpPr>
            <p:cNvPr id="30" name="Rectangle 30"/>
            <p:cNvSpPr/>
            <p:nvPr/>
          </p:nvSpPr>
          <p:spPr>
            <a:xfrm>
              <a:off x="6248400" y="4377690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451104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4587240"/>
              <a:ext cx="1017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7151" y="4622959"/>
              <a:ext cx="875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A 版第 36 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00" y="4622482"/>
              <a:ext cx="1661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“伪特征值”的说法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4983480"/>
              <a:ext cx="46443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可以看作矩阵 A 的“平方”，奇异值是“平方”阵特征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根的开方，所以奇异值可以看作 A 的“伪特征值”；左奇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异向量可以看作 A 的“行特征向量”，右奇异向量可以看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作“列特征向量”。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06347" cy="909257"/>
            <a:chOff x="520446" y="342900"/>
            <a:chExt cx="53063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063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AV = UΣ 看奇异向量之间的关系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847975"/>
            <a:chOff x="533400" y="1524000"/>
            <a:chExt cx="5410200" cy="2847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47975"/>
            </a:xfrm>
            <a:prstGeom prst="roundRect">
              <a:avLst>
                <a:gd name="adj" fmla="val 46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812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4406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34–35 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35"/>
                <p:cNvSpPr txBox="1">
                  <a:spLocks noGrp="1"/>
                </p:cNvSpPr>
                <p:nvPr/>
              </p:nvSpPr>
              <p:spPr>
                <a:xfrm>
                  <a:off x="775335" y="2095500"/>
                  <a:ext cx="49644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AV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257413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把两边按列、按行展开：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36"/>
                <p:cNvSpPr txBox="1">
                  <a:spLocks noGrp="1"/>
                </p:cNvSpPr>
                <p:nvPr/>
              </p:nvSpPr>
              <p:spPr>
                <a:xfrm>
                  <a:off x="775335" y="2869882"/>
                  <a:ext cx="4964430" cy="6877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b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68096" y="3674269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把第 i 个右奇异向量映成第 i 个左奇异向量的 σᵢ 倍；i &gt;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时 Avᵢ = 0。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556760"/>
            <a:ext cx="5410200" cy="1792605"/>
            <a:chOff x="533400" y="4556760"/>
            <a:chExt cx="5410200" cy="1792605"/>
          </a:xfrm>
        </p:grpSpPr>
        <p:sp>
          <p:nvSpPr>
            <p:cNvPr id="17" name="Rectangle 17"/>
            <p:cNvSpPr/>
            <p:nvPr/>
          </p:nvSpPr>
          <p:spPr>
            <a:xfrm>
              <a:off x="533400" y="4556760"/>
              <a:ext cx="5410200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690110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476059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940" y="479631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与特征分解的关系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30184" y="4801076"/>
              <a:ext cx="1191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两个“平方”阵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5152549"/>
              <a:ext cx="47754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= V(ΣᵀΣ)Vᵀ，AAᵀ = U(ΣΣᵀ)Uᵀ：正是这两个对称阵的特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征分解。A 本身对称半正定时，SVD 就是特征值分解。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435542"/>
            <a:chOff x="6248400" y="1524000"/>
            <a:chExt cx="5410200" cy="2435542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435542"/>
            </a:xfrm>
            <a:prstGeom prst="roundRect">
              <a:avLst>
                <a:gd name="adj" fmla="val 54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21688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03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70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18426" y="1767364"/>
              <a:ext cx="29021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[1 1; 2 2]（A 版第 39 页）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4546" y="2119789"/>
              <a:ext cx="426148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MᵀM = [5 5; 5 5]，特征值 10 和 0，所以 σ₁ = √10 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3.162，σ₂ = 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7955" y="27708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4546" y="2711291"/>
              <a:ext cx="3994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= (1, 1)ᵀ/√2，u₁ = Mv₁/σ₁ = (1, 2)ᵀ/√5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7955" y="30908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4546" y="3031331"/>
              <a:ext cx="45664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一项就够：σ₁u₁v₁ᵀ = √10 · (1, 2)ᵀ(1, 1)/√10 = 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4239" y="3347085"/>
              <a:ext cx="4706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 MATLAB 算出的 U、V 两列都带负号，乘起来结果相同。第二个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奇异值为 0 说明 M 把平面压到了一条直线上。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4145280"/>
            <a:ext cx="5410200" cy="2205038"/>
            <a:chOff x="6248400" y="4145280"/>
            <a:chExt cx="5410200" cy="2205038"/>
          </a:xfrm>
        </p:grpSpPr>
        <p:sp>
          <p:nvSpPr>
            <p:cNvPr id="37" name="Rectangle 37"/>
            <p:cNvSpPr/>
            <p:nvPr/>
          </p:nvSpPr>
          <p:spPr>
            <a:xfrm>
              <a:off x="6248400" y="4145280"/>
              <a:ext cx="541020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27863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0335" y="4349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0543" y="4384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1744" y="43886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三处笔误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48006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4740116"/>
              <a:ext cx="433362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37 页写“uᵢ：n×1 向量，vᵢ：m×1 向量”，维数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写反了。A 是 m×n 时，uᵢ 是 m×1，vᵢ 是 n×1（第 34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页是对的）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7955" y="56635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4546" y="5603081"/>
              <a:ext cx="47456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34 页末式 (u₁σ₁, ⋯, u₂σᵣ, 0) 中的 u₂σᵣ 应为 uᵣσᵣ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7955" y="59836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4546" y="5923121"/>
              <a:ext cx="35891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38 页“A ≈ Aσ₁u₁v₁ᵀ + ⋯”多写了一个 A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59792" cy="909257"/>
            <a:chOff x="520446" y="342900"/>
            <a:chExt cx="45597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597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低秩近似：只留前 t 个奇异值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39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40"/>
              <p:cNvSpPr txBox="1">
                <a:spLocks noGrp="1"/>
              </p:cNvSpPr>
              <p:nvPr/>
            </p:nvSpPr>
            <p:spPr>
              <a:xfrm>
                <a:off x="533400" y="207645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5" name="c1-bullets-3"/>
          <p:cNvGrpSpPr/>
          <p:nvPr/>
        </p:nvGrpSpPr>
        <p:grpSpPr>
          <a:xfrm>
            <a:off x="539115" y="2653665"/>
            <a:ext cx="5126355" cy="1554480"/>
            <a:chOff x="539115" y="2653665"/>
            <a:chExt cx="5126355" cy="1554480"/>
          </a:xfrm>
        </p:grpSpPr>
        <p:sp>
          <p:nvSpPr>
            <p:cNvPr id="9" name="Ellipse 9"/>
            <p:cNvSpPr/>
            <p:nvPr/>
          </p:nvSpPr>
          <p:spPr>
            <a:xfrm>
              <a:off x="539115" y="27165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2653665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 σᵢuᵢvᵢᵀ 是一个秩 1 矩阵；σᵢ 代表这一对“行列特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征”的重要程度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33470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328422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奇异值通常下降得非常快，前几项就装下了矩阵的大部分信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9115" y="3977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3914775"/>
              <a:ext cx="2953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存储量从 m·n 降到 t(m + n + 1)</a:t>
              </a:r>
            </a:p>
          </p:txBody>
        </p:sp>
      </p:grpSp>
      <p:grpSp>
        <p:nvGrpSpPr>
          <p:cNvPr id="22" name="c1-card-4"/>
          <p:cNvGrpSpPr/>
          <p:nvPr/>
        </p:nvGrpSpPr>
        <p:grpSpPr>
          <a:xfrm>
            <a:off x="533400" y="4339590"/>
            <a:ext cx="5410200" cy="1908810"/>
            <a:chOff x="533400" y="4339590"/>
            <a:chExt cx="5410200" cy="1908810"/>
          </a:xfrm>
        </p:grpSpPr>
        <p:sp>
          <p:nvSpPr>
            <p:cNvPr id="16" name="Rectangle 16"/>
            <p:cNvSpPr/>
            <p:nvPr/>
          </p:nvSpPr>
          <p:spPr>
            <a:xfrm>
              <a:off x="533400" y="4339590"/>
              <a:ext cx="5410200" cy="1908810"/>
            </a:xfrm>
            <a:prstGeom prst="roundRect">
              <a:avLst>
                <a:gd name="adj" fmla="val 6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472940"/>
              <a:ext cx="47625" cy="164211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5491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45848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2078" y="4584382"/>
              <a:ext cx="1897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Eckart–Young 定理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945380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在所有秩不超过 t 的矩阵中，Aₜ 与 A 之差的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Frobenius 范数最小，误差平方和 = σₜ₊₁² + ⋯ + σᵣ²。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截断 SVD 是“最好的”低秩近似。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2912745"/>
            <a:chOff x="6248400" y="1524000"/>
            <a:chExt cx="5410200" cy="291274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2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3760" y="1768792"/>
              <a:ext cx="35819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25×15 的方框图像（A 版第 40–41 页）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644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黑白图写成 25×15 的 0/1 矩阵（1 为白，0 为黑），共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375 个元素。它只有 3 种不同的列：全白列、上下两段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白的列、上中下三段白的列，所以秩 = 3。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01765" y="3099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3036570"/>
              <a:ext cx="4871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 σ₁ = 14.72，σ₂ = 5.22，σ₃ = 3.31，其余为 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3434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3371850"/>
              <a:ext cx="4316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累计能量（平方和占比）85.0%、95.7%、100%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3707130"/>
              <a:ext cx="456485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3 项之和精确重建原图，只需 3 × (25 + 15 + 1)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4627245"/>
            <a:ext cx="5410200" cy="1621155"/>
            <a:chOff x="6248400" y="4627245"/>
            <a:chExt cx="5410200" cy="1621155"/>
          </a:xfrm>
        </p:grpSpPr>
        <p:sp>
          <p:nvSpPr>
            <p:cNvPr id="35" name="Rectangle 35"/>
            <p:cNvSpPr/>
            <p:nvPr/>
          </p:nvSpPr>
          <p:spPr>
            <a:xfrm>
              <a:off x="6248400" y="462724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76059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48367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48725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减噪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7078" y="4872038"/>
              <a:ext cx="11718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42 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5233035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同一张图加上噪声后，奇异值为 14.15、4.67、3.00、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0.21、0.19、…、0.05：前三个仍然很大，其余都很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小。只保留前 3 项重建，大部分噪声就被丢掉了。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2104" cy="909257"/>
            <a:chOff x="520446" y="342900"/>
            <a:chExt cx="5952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2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用于推荐 ①：会员 × 电影评分矩阵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5" name="c1-table-1"/>
          <p:cNvGrpSpPr/>
          <p:nvPr/>
        </p:nvGrpSpPr>
        <p:grpSpPr>
          <a:xfrm>
            <a:off x="528447" y="1524000"/>
            <a:ext cx="11130153" cy="4664106"/>
            <a:chOff x="528447" y="1524000"/>
            <a:chExt cx="11130153" cy="46641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72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342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582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1995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东成西就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3247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大话西游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4499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八星报喜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751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午夜凶铃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208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8255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林中小屋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7046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寂静岭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1728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0190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6752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8004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9256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0508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1760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3012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264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555605" y="1933575"/>
              <a:ext cx="109347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30773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1728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20190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小小宝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6752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8004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9256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508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1760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3012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4264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5516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1728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20190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流氓兔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6752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8004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9256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508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760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3012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4264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5516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1728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520190" y="32456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霹*雳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6752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8004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49256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0508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1760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3012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4264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05516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1728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520190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中原不败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26752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38004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9256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0508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1760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3012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94264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05516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1728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520190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26752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38004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9256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0508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1760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330565" y="3933825"/>
              <a:ext cx="109347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664270" y="4045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3.875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94264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5516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21728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520190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荒村少年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26752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38004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49256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60508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71760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3012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94264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05516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21728" y="4845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520190" y="48458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憨豆豆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326752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438004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49256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60508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71760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83012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94264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05516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33400" y="51196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21728" y="5245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520190" y="52458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怪大叔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326752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438004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49256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660508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71760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83012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94264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055162" y="52458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533400" y="5519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533400" y="55245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821728" y="5645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520190" y="5645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美味僵尸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326752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438004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549256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60508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71760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83012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94264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055162" y="5645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533400" y="1524000"/>
              <a:ext cx="11125200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1418272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275367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386619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497871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609123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720375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831627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942879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1054131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528447" y="5997416"/>
              <a:ext cx="108554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 位会员给 8 部电影打 1～5 分（A 版第 43 页）。标色两格是要预测的评分，先用估计值 3.75、3.875 占位。矩阵里没有写“类型”，SVD 要自己从数字里发现“喜剧/恐怖”这个隐含因素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3840" cy="909257"/>
            <a:chOff x="520446" y="342900"/>
            <a:chExt cx="82838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3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用于推荐 ②：奇异值与右奇异向量（影片的特征）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834966" cy="2694147"/>
            <a:chOff x="533400" y="1533525"/>
            <a:chExt cx="4834966" cy="2694147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75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79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090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58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AᵀA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3887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是 10×8，AᵀA 是 8×8 对称阵（A 版第 44 页），第一行为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126, 115, 133, 121, 90, 95, 84, 88（95 由 94.875 取整）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3593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627471"/>
              <a:ext cx="3969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879.7、130.8、12.17、6.45、3.92、2.10、0.74、0.19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3830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29.66、11.44、3.49、2.54、…，课件取 29.7、11.4、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3.5、2.5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740468"/>
              <a:ext cx="778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取前 2 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007644"/>
              <a:ext cx="4421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前两个奇异值的平方和占全部的 97.5%，信息集中在前两个特征上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396740"/>
            <a:ext cx="4760595" cy="1741170"/>
            <a:chOff x="533400" y="4396740"/>
            <a:chExt cx="4760595" cy="1741170"/>
          </a:xfrm>
        </p:grpSpPr>
        <p:sp>
          <p:nvSpPr>
            <p:cNvPr id="25" name="Rectangle 25"/>
            <p:cNvSpPr/>
            <p:nvPr/>
          </p:nvSpPr>
          <p:spPr>
            <a:xfrm>
              <a:off x="533400" y="4396740"/>
              <a:ext cx="4760595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530090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5891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345" y="4623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47597" y="4629150"/>
              <a:ext cx="298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45 页的 v₂ 与第 46 页的表不一致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4963478"/>
              <a:ext cx="4051363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45 页列出 v₂ = (0.39, 0.34, 0.28, 0.40,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−0.31, −0.36, −0.34, −0.36)。实算为 (0.389,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0.342, 0.287, 0.403, −0.312, −0.370, −0.344,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−0.366)，两位小数应写成右表（第 46 页）的样子。</a:t>
              </a:r>
            </a:p>
          </p:txBody>
        </p:sp>
      </p:grpSp>
      <p:grpSp>
        <p:nvGrpSpPr>
          <p:cNvPr id="95" name="c2-table-1"/>
          <p:cNvGrpSpPr/>
          <p:nvPr/>
        </p:nvGrpSpPr>
        <p:grpSpPr>
          <a:xfrm>
            <a:off x="5593461" y="1524000"/>
            <a:ext cx="6065139" cy="4118229"/>
            <a:chOff x="5593461" y="1524000"/>
            <a:chExt cx="6065139" cy="4118229"/>
          </a:xfrm>
        </p:grpSpPr>
        <p:sp>
          <p:nvSpPr>
            <p:cNvPr id="32" name="Rectangle 32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671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177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0504" y="1648301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v₁（29.7）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93044" y="1648301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v₂（11.4）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2093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67121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485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6643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39183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1243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98795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67121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7485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东成西就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66643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39183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81243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67121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47485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大话西游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66643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39183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81243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98795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67121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47485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八星报喜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66643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39183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81243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98795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67121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47485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午夜凶铃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66643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97720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881243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598795" y="3953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598795" y="395859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67121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47485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66643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97720" y="40828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881243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3.49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598795" y="4359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67121" y="4488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47485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林中小屋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66643" y="4488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597720" y="44886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881243" y="4488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598795" y="4765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598795" y="477012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867121" y="4894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47485" y="48944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寂静岭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66643" y="48944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597720" y="48944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−0.37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881243" y="48944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598795" y="1524000"/>
              <a:ext cx="6059805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6442710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89717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916971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442258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93461" y="5250180"/>
              <a:ext cx="567804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v₁ 各分量都在 0.33～0.40，与平均分同步，可看作影片本身的精彩程度；v₂ 喜剧为正、恐怖为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负，可看作影片类型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7121" cy="909257"/>
            <a:chOff x="520446" y="342900"/>
            <a:chExt cx="86271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71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用于推荐 ③：左奇异向量（会员的特征）与预测打分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3" name="c1-table-1"/>
          <p:cNvGrpSpPr/>
          <p:nvPr/>
        </p:nvGrpSpPr>
        <p:grpSpPr>
          <a:xfrm>
            <a:off x="528066" y="1524000"/>
            <a:ext cx="4765929" cy="4743069"/>
            <a:chOff x="528066" y="1524000"/>
            <a:chExt cx="4765929" cy="47430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79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80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68535" y="16483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25785" y="16483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3919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911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5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89756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7006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99506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911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5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小小宝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89756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47006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9506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7911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95412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流氓兔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89756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47006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9506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7911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95412" y="3271361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霹*雳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89756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47006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99506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5480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7911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95412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中原不败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89756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47006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99506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9538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395859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7911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954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89756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05543" y="40828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99506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3595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7911" y="4488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95412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荒村少年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89756" y="4488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05543" y="44886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99506" y="4488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7653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77012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7911" y="4894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95412" y="48944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憨豆豆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789756" y="48944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605543" y="48944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99506" y="48944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1711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7911" y="53001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95412" y="53001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怪大叔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789756" y="530018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605543" y="53001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99506" y="530018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55768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33400" y="558165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57911" y="57059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95412" y="57059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美味僵尸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789756" y="57059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605543" y="57059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599506" y="57059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33400" y="1524000"/>
              <a:ext cx="4760595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1290638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52793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38518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424243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8066" y="6061710"/>
              <a:ext cx="3798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u₁ 可看作会员的打分习惯，u₂ 可看作会员对影片类型的偏好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formula145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i1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i2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94" name="c2-steps-2"/>
          <p:cNvGrpSpPr/>
          <p:nvPr/>
        </p:nvGrpSpPr>
        <p:grpSpPr>
          <a:xfrm>
            <a:off x="5598795" y="2089785"/>
            <a:ext cx="5792384" cy="1106329"/>
            <a:chOff x="5598795" y="2089785"/>
            <a:chExt cx="5792384" cy="1106329"/>
          </a:xfrm>
        </p:grpSpPr>
        <p:sp>
          <p:nvSpPr>
            <p:cNvPr id="85" name="Rectangle 85"/>
            <p:cNvSpPr/>
            <p:nvPr/>
          </p:nvSpPr>
          <p:spPr>
            <a:xfrm>
              <a:off x="5732145" y="2232660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5598795" y="20897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692419" y="21636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5598795" y="2676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692419" y="2750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11037" y="21212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 × 寂静岭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12180" y="2389346"/>
              <a:ext cx="5130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29.7 × (0.34 × 0.36) + 11.4 × (0.23 × (−0.37)) = 3.635 − 0.970 = 2.67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011037" y="270795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 × 咒怨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12180" y="2976086"/>
              <a:ext cx="5378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29.7 × (0.32 × 0.37) + 11.4 × ((−0.33) × (−0.37)) = 3.516 + 1.392 = 4.91</a:t>
              </a:r>
            </a:p>
          </p:txBody>
        </p:sp>
      </p:grpSp>
      <p:grpSp>
        <p:nvGrpSpPr>
          <p:cNvPr id="101" name="c2-card-3"/>
          <p:cNvGrpSpPr/>
          <p:nvPr/>
        </p:nvGrpSpPr>
        <p:grpSpPr>
          <a:xfrm>
            <a:off x="5598795" y="3365182"/>
            <a:ext cx="6059805" cy="1741170"/>
            <a:chOff x="5598795" y="3365182"/>
            <a:chExt cx="6059805" cy="1741170"/>
          </a:xfrm>
        </p:grpSpPr>
        <p:sp>
          <p:nvSpPr>
            <p:cNvPr id="95" name="Rectangle 95"/>
            <p:cNvSpPr/>
            <p:nvPr/>
          </p:nvSpPr>
          <p:spPr>
            <a:xfrm>
              <a:off x="5598795" y="3365182"/>
              <a:ext cx="6059805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5608320" y="3498532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829300" y="355758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920740" y="35918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412992" y="3596640"/>
              <a:ext cx="1839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至尊宝那一格不是 2.6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822442" y="3930968"/>
              <a:ext cx="543153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48、50 页写 2.6。按页面上的两位小数算是 2.665，约为 2.7；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用未取整的奇异值和奇异向量算秩 2 近似是 2.71。第二格课件写 4.9，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 4.94。结论不变：至尊宝不爱看《寂静岭》，魂飞魄散很爱看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《咒怨》。</a:t>
              </a:r>
            </a:p>
          </p:txBody>
        </p:sp>
      </p:grpSp>
      <p:grpSp>
        <p:nvGrpSpPr>
          <p:cNvPr id="107" name="c2-callout-4"/>
          <p:cNvGrpSpPr/>
          <p:nvPr/>
        </p:nvGrpSpPr>
        <p:grpSpPr>
          <a:xfrm>
            <a:off x="5598795" y="5280660"/>
            <a:ext cx="6059805" cy="944880"/>
            <a:chOff x="5598795" y="5280660"/>
            <a:chExt cx="6059805" cy="944880"/>
          </a:xfrm>
        </p:grpSpPr>
        <p:sp>
          <p:nvSpPr>
            <p:cNvPr id="102" name="Rectangle 102"/>
            <p:cNvSpPr/>
            <p:nvPr/>
          </p:nvSpPr>
          <p:spPr>
            <a:xfrm>
              <a:off x="5598795" y="5280660"/>
              <a:ext cx="6059805" cy="944880"/>
            </a:xfrm>
            <a:prstGeom prst="roundRect">
              <a:avLst>
                <a:gd name="adj" fmla="val 1209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5803583" y="5653090"/>
              <a:ext cx="200023" cy="200023"/>
              <a:chOff x="5803583" y="5653090"/>
              <a:chExt cx="200023" cy="200023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5803583" y="56530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5936933" y="5719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6106287" y="5534978"/>
              <a:ext cx="50886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σ₁ 项是“打分习惯 × 影片精彩程度”，给出客观分；σ₂ 项是“类型偏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 × 影片类型”，同号加分、异号减分。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6253" cy="909257"/>
            <a:chOff x="520446" y="342900"/>
            <a:chExt cx="65662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62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MDS：降维后两点之间的距离要和原来一样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496801" cy="308039"/>
            <a:chOff x="525399" y="1550194"/>
            <a:chExt cx="849680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4968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多维尺度变换（Multidimensional Scaling）[Cox, 1994] 是一种无监督的维数约简方法。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5193982" cy="2242185"/>
            <a:chOff x="533400" y="1967865"/>
            <a:chExt cx="5193982" cy="22421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5922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保持两两距离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约简后低维空间中任意两点间的距离，应该与它们在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原高维空间中的距离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相同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19468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输入可以只是一张两两距离（相异度）表 δᵢⱼ，原始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空间甚至可以不是欧氏空间；输出是低维欧氏空间里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的坐标 zᵢ，两点距离记 dᵢⱼ。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400550"/>
            <a:ext cx="5193982" cy="1956435"/>
            <a:chOff x="533400" y="4400550"/>
            <a:chExt cx="5193982" cy="1956435"/>
          </a:xfrm>
        </p:grpSpPr>
        <p:sp>
          <p:nvSpPr>
            <p:cNvPr id="17" name="Rectangle 17"/>
            <p:cNvSpPr/>
            <p:nvPr/>
          </p:nvSpPr>
          <p:spPr>
            <a:xfrm>
              <a:off x="533400" y="4400550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53390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6101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46458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2078" y="464534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两条路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50692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50063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一般情形：定义准则函数衡量低维距离对原距离的重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建误差，用梯度下降法求解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56902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562737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特殊情形：原距离是欧氏距离时，可以推导出解析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解，这就是经典 MDS（下一页）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032182" y="1967865"/>
            <a:ext cx="5626418" cy="2731770"/>
            <a:chOff x="6032182" y="1967865"/>
            <a:chExt cx="5626418" cy="2731770"/>
          </a:xfrm>
        </p:grpSpPr>
        <p:sp>
          <p:nvSpPr>
            <p:cNvPr id="27" name="Rectangle 27"/>
            <p:cNvSpPr/>
            <p:nvPr/>
          </p:nvSpPr>
          <p:spPr>
            <a:xfrm>
              <a:off x="6032182" y="1967865"/>
              <a:ext cx="5626418" cy="2731770"/>
            </a:xfrm>
            <a:prstGeom prst="roundRect">
              <a:avLst>
                <a:gd name="adj" fmla="val 48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2101215"/>
              <a:ext cx="47625" cy="24650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79832" y="2177415"/>
              <a:ext cx="1017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0933" y="2213134"/>
              <a:ext cx="875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 版第 78 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03783" y="2212658"/>
              <a:ext cx="1910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 的三个准则函数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49"/>
                <p:cNvSpPr txBox="1">
                  <a:spLocks noGrp="1"/>
                </p:cNvSpPr>
                <p:nvPr/>
              </p:nvSpPr>
              <p:spPr>
                <a:xfrm>
                  <a:off x="6279832" y="2548890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δ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50"/>
                <p:cNvSpPr txBox="1">
                  <a:spLocks noGrp="1"/>
                </p:cNvSpPr>
                <p:nvPr/>
              </p:nvSpPr>
              <p:spPr>
                <a:xfrm>
                  <a:off x="6279832" y="3209925"/>
                  <a:ext cx="5169218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δ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δ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51"/>
                <p:cNvSpPr txBox="1">
                  <a:spLocks noGrp="1"/>
                </p:cNvSpPr>
                <p:nvPr/>
              </p:nvSpPr>
              <p:spPr>
                <a:xfrm>
                  <a:off x="6279832" y="3905250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δ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4" name="c2-kv-2"/>
          <p:cNvGrpSpPr/>
          <p:nvPr/>
        </p:nvGrpSpPr>
        <p:grpSpPr>
          <a:xfrm>
            <a:off x="6024562" y="4914900"/>
            <a:ext cx="5634038" cy="1173480"/>
            <a:chOff x="6024562" y="4914900"/>
            <a:chExt cx="5634038" cy="1173480"/>
          </a:xfrm>
        </p:grpSpPr>
        <p:sp>
          <p:nvSpPr>
            <p:cNvPr id="36" name="TextBox 36"/>
            <p:cNvSpPr txBox="1"/>
            <p:nvPr/>
          </p:nvSpPr>
          <p:spPr>
            <a:xfrm>
              <a:off x="6024562" y="4914900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Jee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6065" y="49149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看绝对误差，大距离的误差占主导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52349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24562" y="5354955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Jff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6065" y="5354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看相对误差，小距离也同样重视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56749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24562" y="5795010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Jef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6065" y="5795010"/>
              <a:ext cx="3253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两者折中，Sammon 映射用的就是它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3631" cy="909257"/>
            <a:chOff x="520446" y="342900"/>
            <a:chExt cx="80536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36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MDS：从距离矩阵反推内积矩阵，再做特征分解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314071" cy="278702"/>
            <a:chOff x="526161" y="1547336"/>
            <a:chExt cx="93140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314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n 个点两两之间的距离 dᵢⱼ，求 d 维空间中的 n 个点，使它们的距离与原距离一致（A 版第 79–85 页）。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50720"/>
            <a:ext cx="5196967" cy="2695098"/>
            <a:chOff x="533400" y="1950720"/>
            <a:chExt cx="5196967" cy="2695098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195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93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831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展开距离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50281"/>
              <a:ext cx="4474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dᵢⱼ² = ‖xᵢ − xⱼ‖² = xᵢᵀxᵢ − 2xᵢᵀxⱼ + xⱼᵀxⱼ：距离只由内积决定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5698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定中心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837021"/>
              <a:ext cx="22358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平移不改变距离，不妨设 Σxᵢ =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565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双中心化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24714"/>
              <a:ext cx="4783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用中心矩阵 H = I − 11ᵀ/n 左右各乘一次平方距离矩阵，xᵢᵀxᵢ 这类平方项被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消掉，只剩内积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9509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特征分解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18146"/>
              <a:ext cx="47337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内积矩阵 B 对称半正定，B = UΛUᵀ；取最大的 d 个特征值和对应特征向量，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按特征值的平方根缩放，就是坐标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814888"/>
            <a:ext cx="5410200" cy="1483995"/>
            <a:chOff x="533400" y="4814888"/>
            <a:chExt cx="5410200" cy="1483995"/>
          </a:xfrm>
        </p:grpSpPr>
        <p:sp>
          <p:nvSpPr>
            <p:cNvPr id="27" name="Rectangle 27"/>
            <p:cNvSpPr/>
            <p:nvPr/>
          </p:nvSpPr>
          <p:spPr>
            <a:xfrm>
              <a:off x="533400" y="4814888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94823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5007292"/>
              <a:ext cx="862012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9751" y="5041583"/>
              <a:ext cx="709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H 在做什么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33360" y="5046345"/>
              <a:ext cx="1968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中心矩阵 H = I − 11ᵀ/n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5380673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对任意向量 v，Hv 就是把 v 的每个分量减去它们的平均值。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HSH 相当于把平方距离矩阵的行、列各减一次均值，所以叫“双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中心化”。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941195"/>
            <a:ext cx="5410200" cy="2205990"/>
            <a:chOff x="6248400" y="1941195"/>
            <a:chExt cx="5410200" cy="2205990"/>
          </a:xfrm>
        </p:grpSpPr>
        <p:sp>
          <p:nvSpPr>
            <p:cNvPr id="34" name="Rectangle 34"/>
            <p:cNvSpPr/>
            <p:nvPr/>
          </p:nvSpPr>
          <p:spPr>
            <a:xfrm>
              <a:off x="6248400" y="1941195"/>
              <a:ext cx="5410200" cy="2205990"/>
            </a:xfrm>
            <a:prstGeom prst="roundRect">
              <a:avLst>
                <a:gd name="adj" fmla="val 60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2074545"/>
              <a:ext cx="47625" cy="19392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8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2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关键等式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9297" y="2173605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平方距离矩阵 → 内积矩阵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160"/>
                <p:cNvSpPr txBox="1">
                  <a:spLocks noGrp="1"/>
                </p:cNvSpPr>
                <p:nvPr/>
              </p:nvSpPr>
              <p:spPr>
                <a:xfrm>
                  <a:off x="6478905" y="2486025"/>
                  <a:ext cx="49872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HSH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61"/>
                <p:cNvSpPr txBox="1">
                  <a:spLocks noGrp="1"/>
                </p:cNvSpPr>
                <p:nvPr/>
              </p:nvSpPr>
              <p:spPr>
                <a:xfrm>
                  <a:off x="6478905" y="3035618"/>
                  <a:ext cx="498729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Sup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矩阵，每行一个点的坐标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472047" y="3487102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这样得到的点两两内积等于 B（取满秩时严格相等），两两距离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也就与原距离一致。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4322445"/>
            <a:ext cx="5410200" cy="1975485"/>
            <a:chOff x="6248400" y="4322445"/>
            <a:chExt cx="5410200" cy="1975485"/>
          </a:xfrm>
        </p:grpSpPr>
        <p:sp>
          <p:nvSpPr>
            <p:cNvPr id="43" name="Rectangle 43"/>
            <p:cNvSpPr/>
            <p:nvPr/>
          </p:nvSpPr>
          <p:spPr>
            <a:xfrm>
              <a:off x="6248400" y="4322445"/>
              <a:ext cx="5410200" cy="1975485"/>
            </a:xfrm>
            <a:prstGeom prst="roundRect">
              <a:avLst>
                <a:gd name="adj" fmla="val 6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4455795"/>
              <a:ext cx="47625" cy="17087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8905" y="4514850"/>
              <a:ext cx="105822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43084" y="4549140"/>
              <a:ext cx="928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 PCA 的关系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44574" y="45548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欧氏距离时两者等价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2047" y="4889183"/>
              <a:ext cx="46943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dᵢⱼ = ‖xᵢ − xⱼ‖₂ 时，B = XᵀX 与协方差阵 XXᵀ 有相同的非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零特征值，经典 MDS 给出的坐标就是主成分得分（A 版第 85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页末）。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3190" y="5702141"/>
              <a:ext cx="4308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版第 80–83 页的证明里 dᵢⱼ 表示距离的平方，读的时候留意。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42923" cy="909257"/>
            <a:chOff x="520446" y="342900"/>
            <a:chExt cx="79429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其他线性降维方法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429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经典 MDS：只给距离表，还原一个 3×4 的矩形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card-1"/>
          <p:cNvGrpSpPr/>
          <p:nvPr/>
        </p:nvGrpSpPr>
        <p:grpSpPr>
          <a:xfrm>
            <a:off x="533400" y="1524000"/>
            <a:ext cx="4869180" cy="3148012"/>
            <a:chOff x="533400" y="1524000"/>
            <a:chExt cx="4869180" cy="31480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3148012"/>
            </a:xfrm>
            <a:prstGeom prst="roundRect">
              <a:avLst>
                <a:gd name="adj" fmla="val 4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813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四个点两两距离如下，求二维坐标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52475" y="2040255"/>
              <a:ext cx="446913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02010" y="21574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95455" y="21574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88900" y="21574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3298" y="21574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7613" y="25393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9389" y="2539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2834" y="2539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36279" y="2539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0677" y="2539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2475" y="2798445"/>
              <a:ext cx="44691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2803208"/>
              <a:ext cx="446913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07613" y="29203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49389" y="2920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42834" y="2920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36279" y="2920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30677" y="2920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2475" y="3179445"/>
              <a:ext cx="44691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07613" y="33013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49389" y="3301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42834" y="3301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36279" y="3301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30677" y="330136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52475" y="3561398"/>
              <a:ext cx="446913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2475" y="3566160"/>
              <a:ext cx="446913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07613" y="368331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49389" y="368331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42834" y="368331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36279" y="368331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30677" y="368331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52475" y="2040255"/>
              <a:ext cx="446913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641158" y="204025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535555" y="204025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29000" y="204025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323398" y="204025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5998" y="4049554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相邻边 3 和 4，对角线 5：显然是矩形的四个顶点，看 MDS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能不能自己算出来。</a:t>
              </a:r>
            </a:p>
          </p:txBody>
        </p:sp>
      </p:grpSp>
      <p:grpSp>
        <p:nvGrpSpPr>
          <p:cNvPr id="55" name="c1-card-2"/>
          <p:cNvGrpSpPr/>
          <p:nvPr/>
        </p:nvGrpSpPr>
        <p:grpSpPr>
          <a:xfrm>
            <a:off x="533400" y="4836795"/>
            <a:ext cx="4869180" cy="1340168"/>
            <a:chOff x="533400" y="4836795"/>
            <a:chExt cx="4869180" cy="1340168"/>
          </a:xfrm>
        </p:grpSpPr>
        <p:sp>
          <p:nvSpPr>
            <p:cNvPr id="49" name="Rectangle 49"/>
            <p:cNvSpPr/>
            <p:nvPr/>
          </p:nvSpPr>
          <p:spPr>
            <a:xfrm>
              <a:off x="533400" y="4836795"/>
              <a:ext cx="4869180" cy="1340168"/>
            </a:xfrm>
            <a:prstGeom prst="roundRect">
              <a:avLst>
                <a:gd name="adj" fmla="val 9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4970145"/>
              <a:ext cx="47625" cy="10734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2475" y="5017770"/>
              <a:ext cx="75247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992" y="5050631"/>
              <a:ext cx="58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1–2 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12773" y="505729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平方，再双中心化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168"/>
                <p:cNvSpPr txBox="1">
                  <a:spLocks noGrp="1"/>
                </p:cNvSpPr>
                <p:nvPr/>
              </p:nvSpPr>
              <p:spPr>
                <a:xfrm>
                  <a:off x="752475" y="5353050"/>
                  <a:ext cx="4469130" cy="6267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HSH</m:t>
                        </m: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73" name="c2-steps-1"/>
          <p:cNvGrpSpPr/>
          <p:nvPr/>
        </p:nvGrpSpPr>
        <p:grpSpPr>
          <a:xfrm>
            <a:off x="5707380" y="1533525"/>
            <a:ext cx="5968460" cy="2342769"/>
            <a:chOff x="5707380" y="1533525"/>
            <a:chExt cx="5968460" cy="2342769"/>
          </a:xfrm>
        </p:grpSpPr>
        <p:sp>
          <p:nvSpPr>
            <p:cNvPr id="56" name="Rectangle 56"/>
            <p:cNvSpPr/>
            <p:nvPr/>
          </p:nvSpPr>
          <p:spPr>
            <a:xfrm>
              <a:off x="5840730" y="1676400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707380" y="28327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01004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707380" y="33861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01004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0003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1146" y="1818322"/>
              <a:ext cx="4682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16，λ₂ = 9，λ₃ = λ₄ = 0。秩为 2，说明这四个点本来就在一个平面上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20003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21146" y="2371725"/>
              <a:ext cx="489127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 = (−1, −1, 1, 1)ᵀ/2，u₂ = (−1, 1, −1, 1)ᵀ/2；验算 τ(D)u₁ 的第一个分量：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(−6.25 − 1.75 − 1.75 − 6.25)/2 = −8 = 16 × (−1/2)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20003" y="2863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21146" y="3118485"/>
              <a:ext cx="5096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(√16·u₁, √9·u₂)，四点为 (−2, −1.5)、(−2, 1.5)、(2, −1.5)、(2, 1.5)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20003" y="3416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21146" y="3670935"/>
              <a:ext cx="5554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两两距离恰为 3、4、5，矩形被还原，只差一个平移和旋转（MDS 本来就定不下这两样）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5707380" y="4037648"/>
            <a:ext cx="5951220" cy="702945"/>
            <a:chOff x="5707380" y="4037648"/>
            <a:chExt cx="5951220" cy="702945"/>
          </a:xfrm>
        </p:grpSpPr>
        <p:sp>
          <p:nvSpPr>
            <p:cNvPr id="74" name="Rectangle 74"/>
            <p:cNvSpPr/>
            <p:nvPr/>
          </p:nvSpPr>
          <p:spPr>
            <a:xfrm>
              <a:off x="5707380" y="4037648"/>
              <a:ext cx="595122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912168" y="4289108"/>
              <a:ext cx="200026" cy="200025"/>
              <a:chOff x="5912168" y="4289108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912168" y="42891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951906" y="43335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986622" y="44446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215253" y="4182904"/>
              <a:ext cx="4930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只取 d = 1 时得到 −2, −2, 2, 2：MDS 先保留“最长的那个方向”（长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 的边），与 PCA 的第一主成分一致。</a:t>
              </a:r>
            </a:p>
          </p:txBody>
        </p:sp>
      </p:grpSp>
      <p:grpSp>
        <p:nvGrpSpPr>
          <p:cNvPr id="87" name="c2-card-3"/>
          <p:cNvGrpSpPr/>
          <p:nvPr/>
        </p:nvGrpSpPr>
        <p:grpSpPr>
          <a:xfrm>
            <a:off x="5707380" y="4905375"/>
            <a:ext cx="5951220" cy="1271588"/>
            <a:chOff x="5707380" y="4905375"/>
            <a:chExt cx="5951220" cy="1271588"/>
          </a:xfrm>
        </p:grpSpPr>
        <p:sp>
          <p:nvSpPr>
            <p:cNvPr id="81" name="Rectangle 81"/>
            <p:cNvSpPr/>
            <p:nvPr/>
          </p:nvSpPr>
          <p:spPr>
            <a:xfrm>
              <a:off x="5707380" y="4905375"/>
              <a:ext cx="5951220" cy="1271588"/>
            </a:xfrm>
            <a:prstGeom prst="roundRect">
              <a:avLst>
                <a:gd name="adj" fmla="val 10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5716905" y="5038725"/>
              <a:ext cx="47625" cy="10048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926455" y="50863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19127" y="51192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92430" y="5125879"/>
              <a:ext cx="2197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特征值为什么恰好是 16 和 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919978" y="5443061"/>
              <a:ext cx="5084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原矩形中心化后四个顶点是 (±1.5, ±2)。B = XᵀX 的非零特征值等于各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坐标轴上的平方和：4 × 2² = 16，4 × 1.5² = 9。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446715" cy="3351847"/>
            <a:chOff x="667512" y="1835468"/>
            <a:chExt cx="544671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4467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线性方法的不足与核 PCA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947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数据是弯的，就先映射到高维，再在那里做 PCA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线性降维抓不住弯曲结构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非线性降维方法一览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14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KPCA：只用核函数的 PCA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手算一个一维例子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166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095" y="407194"/>
              <a:ext cx="3368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线性方法的不足与核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线性降维的不足：数据不是特征的简单线性组合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bullets-1"/>
          <p:cNvGrpSpPr/>
          <p:nvPr/>
        </p:nvGrpSpPr>
        <p:grpSpPr>
          <a:xfrm>
            <a:off x="533400" y="1545907"/>
            <a:ext cx="5090795" cy="2208371"/>
            <a:chOff x="533400" y="1545907"/>
            <a:chExt cx="5090795" cy="2208371"/>
          </a:xfrm>
        </p:grpSpPr>
        <p:sp>
          <p:nvSpPr>
            <p:cNvPr id="7" name="Freeform 7"/>
            <p:cNvSpPr/>
            <p:nvPr/>
          </p:nvSpPr>
          <p:spPr>
            <a:xfrm>
              <a:off x="533400" y="157924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762" y="154590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原始数据无法表示为特征的简单线性组合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9620" y="18735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4405" y="1810226"/>
              <a:ext cx="46697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一维的螺旋线（Helix）嵌在三维空间里，PCA 找不到一条直线来表示它（A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版第 52 页）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32600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762" y="229362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真实数据中的有用信息不能由线性特征表示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9620" y="262128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4405" y="255793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如何获取并表示多姿态人脸的姿态信息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9620" y="284988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4405" y="278653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如何找出运动视频序列中某个动作对应的帧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309562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762" y="306228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线性插值会“穿墙”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9620" y="338994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405" y="3326606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两张人脸图在像素空间里做线性插值，中间是两张脸的叠影；沿图像流形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走，得到的才是真实的转头过程（A 版第 54 页）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885248"/>
            <a:ext cx="5410200" cy="1483995"/>
            <a:chOff x="533400" y="3885248"/>
            <a:chExt cx="5410200" cy="1483995"/>
          </a:xfrm>
        </p:grpSpPr>
        <p:sp>
          <p:nvSpPr>
            <p:cNvPr id="22" name="Rectangle 22"/>
            <p:cNvSpPr/>
            <p:nvPr/>
          </p:nvSpPr>
          <p:spPr>
            <a:xfrm>
              <a:off x="533400" y="3885248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018598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407765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7344" y="41119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流形假设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4297" y="411670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后面所有非线性方法的出发点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4451032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图像、语音这类高维数据，往往落在一个维数低得多的弯曲“曲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面”（流形）附近。线性方法只能找平的子空间，所以要换工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543550"/>
            <a:ext cx="5410200" cy="729615"/>
            <a:chOff x="533400" y="5543550"/>
            <a:chExt cx="5410200" cy="729615"/>
          </a:xfrm>
        </p:grpSpPr>
        <p:sp>
          <p:nvSpPr>
            <p:cNvPr id="29" name="Rectangle 29"/>
            <p:cNvSpPr/>
            <p:nvPr/>
          </p:nvSpPr>
          <p:spPr>
            <a:xfrm>
              <a:off x="533400" y="554355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808347"/>
              <a:ext cx="200023" cy="200023"/>
              <a:chOff x="738188" y="5808347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8083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8750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690235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右边是一个最小的例子：半圆上等间隔的 5 个点，本质上是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一维的（弧长），可它不在任何一条直线上。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7576185" y="1546860"/>
            <a:ext cx="2754630" cy="1755458"/>
            <a:chOff x="7576185" y="1546860"/>
            <a:chExt cx="2754630" cy="1755458"/>
          </a:xfrm>
        </p:grpSpPr>
        <p:sp>
          <p:nvSpPr>
            <p:cNvPr id="35" name="Freeform 35"/>
            <p:cNvSpPr/>
            <p:nvPr/>
          </p:nvSpPr>
          <p:spPr>
            <a:xfrm>
              <a:off x="9889808" y="2419350"/>
              <a:ext cx="253365" cy="617220"/>
            </a:xfrm>
            <a:custGeom>
              <a:avLst/>
              <a:gdLst/>
              <a:ahLst/>
              <a:cxnLst/>
              <a:rect l="l" t="t" r="r" b="b"/>
              <a:pathLst>
                <a:path w="253365" h="617220">
                  <a:moveTo>
                    <a:pt x="253365" y="61722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85898" y="1977390"/>
              <a:ext cx="617220" cy="255270"/>
            </a:xfrm>
            <a:custGeom>
              <a:avLst/>
              <a:gdLst/>
              <a:ahLst/>
              <a:cxnLst/>
              <a:rect l="l" t="t" r="r" b="b"/>
              <a:pathLst>
                <a:path w="617220" h="255270">
                  <a:moveTo>
                    <a:pt x="617220" y="2552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03882" y="1977390"/>
              <a:ext cx="617220" cy="255270"/>
            </a:xfrm>
            <a:custGeom>
              <a:avLst/>
              <a:gdLst/>
              <a:ahLst/>
              <a:cxnLst/>
              <a:rect l="l" t="t" r="r" b="b"/>
              <a:pathLst>
                <a:path w="617220" h="255270">
                  <a:moveTo>
                    <a:pt x="617220" y="0"/>
                  </a:moveTo>
                  <a:lnTo>
                    <a:pt x="0" y="25527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63828" y="2419350"/>
              <a:ext cx="253365" cy="617220"/>
            </a:xfrm>
            <a:custGeom>
              <a:avLst/>
              <a:gdLst/>
              <a:ahLst/>
              <a:cxnLst/>
              <a:rect l="l" t="t" r="r" b="b"/>
              <a:pathLst>
                <a:path w="253365" h="617220">
                  <a:moveTo>
                    <a:pt x="253365" y="0"/>
                  </a:moveTo>
                  <a:lnTo>
                    <a:pt x="0" y="61722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852410" y="3168968"/>
              <a:ext cx="2202180" cy="9525"/>
            </a:xfrm>
            <a:custGeom>
              <a:avLst/>
              <a:gdLst/>
              <a:ahLst/>
              <a:cxnLst/>
              <a:rect l="l" t="t" r="r" b="b"/>
              <a:pathLst>
                <a:path w="2202180" h="9525">
                  <a:moveTo>
                    <a:pt x="220218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10064115" y="3035618"/>
              <a:ext cx="266700" cy="2667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702165" y="2153602"/>
              <a:ext cx="266700" cy="2667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820150" y="1789748"/>
              <a:ext cx="266700" cy="2667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938135" y="2153602"/>
              <a:ext cx="266700" cy="2667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576185" y="3035618"/>
              <a:ext cx="266700" cy="2667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118773" y="311277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6823" y="22307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74808" y="186690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92793" y="22307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30843" y="311277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77262" y="3089910"/>
              <a:ext cx="75342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89975" y="3119914"/>
              <a:ext cx="7270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欧氏距离 2.00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37158" y="1546860"/>
              <a:ext cx="2432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沿弧走：4 × 0.765 = 3.06（弧长 π ≈ 3.14）</a:t>
              </a:r>
            </a:p>
          </p:txBody>
        </p:sp>
      </p:grpSp>
      <p:grpSp>
        <p:nvGrpSpPr>
          <p:cNvPr id="72" name="c2-table-2"/>
          <p:cNvGrpSpPr/>
          <p:nvPr/>
        </p:nvGrpSpPr>
        <p:grpSpPr>
          <a:xfrm>
            <a:off x="6243066" y="3866198"/>
            <a:ext cx="5415534" cy="1496949"/>
            <a:chOff x="6243066" y="3866198"/>
            <a:chExt cx="5415534" cy="1496949"/>
          </a:xfrm>
        </p:grpSpPr>
        <p:sp>
          <p:nvSpPr>
            <p:cNvPr id="54" name="Rectangle 54"/>
            <p:cNvSpPr/>
            <p:nvPr/>
          </p:nvSpPr>
          <p:spPr>
            <a:xfrm>
              <a:off x="6248400" y="3866198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32931" y="39904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13801" y="39904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一维坐标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7881" y="39904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相邻间隔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45704" y="439626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20015" y="4396264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0.71, 0, −0.71, −1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720262" y="4281488"/>
              <a:ext cx="19288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823785" y="4396264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0.29, 0.71, 0.71, 0.29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46729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48400" y="467772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95157" y="4802029"/>
              <a:ext cx="5885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71237" y="4802029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1.53, 0.77, 0, −0.77, −1.53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720262" y="4687252"/>
              <a:ext cx="19288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823785" y="4802029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0.77, 0.77, 0.77, 0.77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866198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25678" y="38661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705975" y="38661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3066" y="5157788"/>
              <a:ext cx="402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PCA 把两端压扁了；ISOMAP（第 05 节）沿着弧展开，间隔均匀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8058" cy="909257"/>
            <a:chOff x="520446" y="342900"/>
            <a:chExt cx="69280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166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095" y="407194"/>
              <a:ext cx="3368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线性方法的不足与核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80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非线性降维方法一览，以及 KPCA 的基本想法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27685" y="1524000"/>
            <a:ext cx="5091113" cy="4113372"/>
            <a:chOff x="527685" y="1524000"/>
            <a:chExt cx="5091113" cy="41133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51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39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265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传统非线性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63078" y="1982152"/>
              <a:ext cx="221837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61375" y="2108359"/>
              <a:ext cx="1502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核主成分分析 KPCA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9750" y="2108359"/>
              <a:ext cx="1261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Scholkopf 1998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508539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传统非线性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1375" y="2670334"/>
              <a:ext cx="1936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主曲线 Principal Curves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99750" y="2556986"/>
              <a:ext cx="1191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Hastie 1989；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Tibshirani 1992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9276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2323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传统非线性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1375" y="3232309"/>
              <a:ext cx="1302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自组织映射 SOM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99750" y="3232309"/>
              <a:ext cx="11159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Kohonen 1995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139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6158"/>
              <a:ext cx="508539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传统非线性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1375" y="3680936"/>
              <a:ext cx="1610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产生式拓扑映射 GTM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99750" y="3680936"/>
              <a:ext cx="978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Bishop 1998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9002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1305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61375" y="4130516"/>
              <a:ext cx="17295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保距特征映射 ISOMAP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99750" y="4130516"/>
              <a:ext cx="1339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Tenenbaum 2000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3865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43412"/>
              <a:ext cx="508539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61375" y="4579144"/>
              <a:ext cx="1401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局部线性嵌入 LLE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99750" y="4579144"/>
              <a:ext cx="1013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Roweis 2000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88727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50277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61375" y="5027771"/>
              <a:ext cx="1646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拉普拉斯特征映射 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99750" y="5027771"/>
              <a:ext cx="934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Belkin 2001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5085398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74879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987165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685" y="5417344"/>
              <a:ext cx="3168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版第 56 页；本节讲 KPCA，第 05 节讲后三种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5923598" y="1524000"/>
            <a:ext cx="5735002" cy="2912745"/>
            <a:chOff x="5923598" y="1524000"/>
            <a:chExt cx="5735002" cy="2912745"/>
          </a:xfrm>
        </p:grpSpPr>
        <p:sp>
          <p:nvSpPr>
            <p:cNvPr id="47" name="Rectangle 47"/>
            <p:cNvSpPr/>
            <p:nvPr/>
          </p:nvSpPr>
          <p:spPr>
            <a:xfrm>
              <a:off x="5923598" y="1524000"/>
              <a:ext cx="5735002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933122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7124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5355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基本想法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57073" y="1768792"/>
              <a:ext cx="26625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Kernel PCA（A 版第 57 页）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63628" y="2129790"/>
              <a:ext cx="4996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用非线性映射 φ 把数据送到高维特征空间 F，在 F 里做普通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的线性 PCA。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63628" y="275082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算法里只出现内积 φ(x)ᵀφ(z)，用核函数 k(x, z) 代替，不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必显式写出 φ。这就是第 6 章 SVM 用过的核技巧。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176962" y="3434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35078" y="3371850"/>
              <a:ext cx="28578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 PCA 相当于 k(x, y) = x·y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176962" y="37699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35078" y="3707130"/>
              <a:ext cx="4920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k(x, y) = (x·y)ᵈ 或 RBF 核，F 里的直线等高线映回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输入空间就成了曲线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923598" y="4627245"/>
            <a:ext cx="5735002" cy="1621155"/>
            <a:chOff x="5923598" y="4627245"/>
            <a:chExt cx="5735002" cy="1621155"/>
          </a:xfrm>
        </p:grpSpPr>
        <p:sp>
          <p:nvSpPr>
            <p:cNvPr id="59" name="Rectangle 59"/>
            <p:cNvSpPr/>
            <p:nvPr/>
          </p:nvSpPr>
          <p:spPr>
            <a:xfrm>
              <a:off x="5923598" y="4627245"/>
              <a:ext cx="573500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933122" y="476059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171248" y="4836795"/>
              <a:ext cx="1017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42348" y="4872514"/>
              <a:ext cx="875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版第 63 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95198" y="487203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两个核的效果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63628" y="5233035"/>
              <a:ext cx="5063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二维数据中一类被另一类围在中间（或两类是同心圆环），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 PCA 无法分开；用多项式核或 RBF 核映射后，两类在前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两个核主成分上分成了两堆。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8611" cy="909257"/>
            <a:chOff x="520446" y="342900"/>
            <a:chExt cx="76986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166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095" y="407194"/>
              <a:ext cx="3368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线性方法的不足与核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86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KPCA 推导①：特征向量一定落在样本张成的空间里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363152"/>
            <a:chOff x="533400" y="1524000"/>
            <a:chExt cx="5410200" cy="2363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63152"/>
            </a:xfrm>
            <a:prstGeom prst="roundRect">
              <a:avLst>
                <a:gd name="adj" fmla="val 56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964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1718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58 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72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设散度矩阵 S = Σxᵢxᵢᵀ，v 是它的特征向量（λ ≠ 0）：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72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95300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bSup>
                                <m:r>
                                  <m:rPr>
                                    <m:sty m:val="bi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157538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xᵢᵀv 是一个数，所以 v 是全部样本的线性组合，系数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αᵢ = xᵢᵀv/λ。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77652"/>
            <a:ext cx="5410200" cy="1994535"/>
            <a:chOff x="533400" y="4077652"/>
            <a:chExt cx="5410200" cy="1994535"/>
          </a:xfrm>
        </p:grpSpPr>
        <p:sp>
          <p:nvSpPr>
            <p:cNvPr id="16" name="Rectangle 16"/>
            <p:cNvSpPr/>
            <p:nvPr/>
          </p:nvSpPr>
          <p:spPr>
            <a:xfrm>
              <a:off x="533400" y="4077652"/>
              <a:ext cx="5410200" cy="1994535"/>
            </a:xfrm>
            <a:prstGeom prst="roundRect">
              <a:avLst>
                <a:gd name="adj" fmla="val 66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11002"/>
              <a:ext cx="47625" cy="17278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28720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43229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特征空间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5922" y="4322445"/>
              <a:ext cx="31911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映射后的散度矩阵（A 版第 59 页）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683442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设映射后的数据 φ(xᵢ) 已经中心化：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73"/>
                <p:cNvSpPr txBox="1">
                  <a:spLocks noGrp="1"/>
                </p:cNvSpPr>
                <p:nvPr/>
              </p:nvSpPr>
              <p:spPr>
                <a:xfrm>
                  <a:off x="781050" y="4993958"/>
                  <a:ext cx="4953000" cy="5972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steps-1"/>
          <p:cNvGrpSpPr/>
          <p:nvPr/>
        </p:nvGrpSpPr>
        <p:grpSpPr>
          <a:xfrm>
            <a:off x="6248400" y="1533525"/>
            <a:ext cx="5457622" cy="2529173"/>
            <a:chOff x="6248400" y="1533525"/>
            <a:chExt cx="5457622" cy="2529173"/>
          </a:xfrm>
        </p:grpSpPr>
        <p:sp>
          <p:nvSpPr>
            <p:cNvPr id="24" name="Rectangle 24"/>
            <p:cNvSpPr/>
            <p:nvPr/>
          </p:nvSpPr>
          <p:spPr>
            <a:xfrm>
              <a:off x="6381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34861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023" y="1861661"/>
              <a:ext cx="3875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(Σᵢ φ(xᵢ)φ(xᵢ)ᵀ)(Σₖ αₖφ(xₖ)) = λ Σₖ αₖφ(xₖ)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9880" y="2218372"/>
              <a:ext cx="158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两边左乘 φ(xₗ)ᵀ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023" y="2512219"/>
              <a:ext cx="50449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l = 1, …, N 各得一个等式，式中只剩 φ(xᵢ)ᵀφ(xⱼ) 这样的内积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9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写成矩阵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023" y="3162776"/>
              <a:ext cx="4322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Kᵢⱼ = φ(xᵢ)ᵀφ(xⱼ)，N 个等式合起来就是 K²α = λKα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9880" y="3520440"/>
              <a:ext cx="1013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约掉一个 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023" y="3813334"/>
              <a:ext cx="3994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Kα = λα：系数向量 α 是 Gram 矩阵 K 的特征向量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4241482"/>
            <a:ext cx="5410200" cy="1830705"/>
            <a:chOff x="6248400" y="4241482"/>
            <a:chExt cx="5410200" cy="1830705"/>
          </a:xfrm>
        </p:grpSpPr>
        <p:sp>
          <p:nvSpPr>
            <p:cNvPr id="42" name="Rectangle 42"/>
            <p:cNvSpPr/>
            <p:nvPr/>
          </p:nvSpPr>
          <p:spPr>
            <a:xfrm>
              <a:off x="6248400" y="4241482"/>
              <a:ext cx="5410200" cy="1830705"/>
            </a:xfrm>
            <a:prstGeom prst="roundRect">
              <a:avLst>
                <a:gd name="adj" fmla="val 728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57950" y="4451032"/>
              <a:ext cx="897255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33341" y="4486751"/>
              <a:ext cx="7464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Gram 矩阵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61885" y="4486275"/>
              <a:ext cx="2298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Kernel or Gram matrix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174"/>
                <p:cNvSpPr txBox="1">
                  <a:spLocks noGrp="1"/>
                </p:cNvSpPr>
                <p:nvPr/>
              </p:nvSpPr>
              <p:spPr>
                <a:xfrm>
                  <a:off x="6457950" y="4822508"/>
                  <a:ext cx="49911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ϕ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6450330" y="5342572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特征空间的维数可能极高甚至无穷，但 K 永远只是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N×N。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24706" cy="909257"/>
            <a:chOff x="520446" y="342900"/>
            <a:chExt cx="59247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166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095" y="407194"/>
              <a:ext cx="3368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线性方法的不足与核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247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KPCA 推导②与算法：α 要按 1/√λ 缩放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070735"/>
            <a:chOff x="533400" y="1524000"/>
            <a:chExt cx="5410200" cy="2070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70735"/>
            </a:xfrm>
            <a:prstGeom prst="roundRect">
              <a:avLst>
                <a:gd name="adj" fmla="val 64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40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3211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必须是单位向量（A 版第 61 页）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8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953000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/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ϕ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79"/>
                <p:cNvSpPr txBox="1">
                  <a:spLocks noGrp="1"/>
                </p:cNvSpPr>
                <p:nvPr/>
              </p:nvSpPr>
              <p:spPr>
                <a:xfrm>
                  <a:off x="781050" y="2800350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785235"/>
            <a:ext cx="5410200" cy="2324100"/>
            <a:chOff x="533400" y="3785235"/>
            <a:chExt cx="5410200" cy="2324100"/>
          </a:xfrm>
        </p:grpSpPr>
        <p:sp>
          <p:nvSpPr>
            <p:cNvPr id="15" name="Rectangle 15"/>
            <p:cNvSpPr/>
            <p:nvPr/>
          </p:nvSpPr>
          <p:spPr>
            <a:xfrm>
              <a:off x="533400" y="3785235"/>
              <a:ext cx="5410200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18585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9947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0305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4030028"/>
              <a:ext cx="2351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步应除以 √λ，不是 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391025"/>
              <a:ext cx="46634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62 页 Step 3 写“αˡ ← αˡ/λₗ”。由上式，求出单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位特征向量后应除以 </a:t>
              </a:r>
              <a:r>
                <a:rPr lang="el-GR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√λₗ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才满足 αᵀα = 1/λ。除以 λₗ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得到的 w 长度是 1/√λₗ，不是单位向量：下一页例题里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‖w‖² 会变成 1/20 = 0.05。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6248400" y="1533525"/>
            <a:ext cx="5050409" cy="2764440"/>
            <a:chOff x="6248400" y="1533525"/>
            <a:chExt cx="5050409" cy="2764440"/>
          </a:xfrm>
        </p:grpSpPr>
        <p:sp>
          <p:nvSpPr>
            <p:cNvPr id="22" name="Rectangle 22"/>
            <p:cNvSpPr/>
            <p:nvPr/>
          </p:nvSpPr>
          <p:spPr>
            <a:xfrm>
              <a:off x="6381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37204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9880" y="1567815"/>
              <a:ext cx="999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Gram 矩阵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023" y="1861661"/>
              <a:ext cx="4637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Kᵢⱼ = k(xᵢ, xⱼ)，i, j = 1, …, N。数据在特征空间里没有中心化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时，改用 HKH，H = I − 11ᵀ/N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特征分解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023" y="2746534"/>
              <a:ext cx="41151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K 的特征值与单位特征向量 (λₗ, αˡ)，l = 1, …, 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9880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023" y="3397091"/>
              <a:ext cx="3942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αˡ ← αˡ/√λₗ，于是 wˡ = Σₖ αˡₖ φ(xₖ) 是单位向量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9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023" y="4048601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测试样本 x 在第 l 个主方向上的坐标见下式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180"/>
              <p:cNvSpPr txBox="1">
                <a:spLocks noGrp="1"/>
              </p:cNvSpPr>
              <p:nvPr/>
            </p:nvSpPr>
            <p:spPr>
              <a:xfrm>
                <a:off x="6248400" y="4475798"/>
                <a:ext cx="5410200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p>
                          </m:sSub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p>
                          </m:sSub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m:rPr>
                                  <m:sty m:val="bi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6" name="c2-callout-3"/>
          <p:cNvGrpSpPr/>
          <p:nvPr/>
        </p:nvGrpSpPr>
        <p:grpSpPr>
          <a:xfrm>
            <a:off x="6248400" y="5326380"/>
            <a:ext cx="5410200" cy="782955"/>
            <a:chOff x="6248400" y="5326380"/>
            <a:chExt cx="5410200" cy="782955"/>
          </a:xfrm>
        </p:grpSpPr>
        <p:sp>
          <p:nvSpPr>
            <p:cNvPr id="41" name="Rectangle 41"/>
            <p:cNvSpPr/>
            <p:nvPr/>
          </p:nvSpPr>
          <p:spPr>
            <a:xfrm>
              <a:off x="6248400" y="532638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617845"/>
              <a:ext cx="200026" cy="200026"/>
              <a:chOff x="6453188" y="5617845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6178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19863" y="56956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5130" y="5474970"/>
              <a:ext cx="3987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全程只用到核函数的值，从来不需要显式写出 φ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（So, we never need φ explicitly）。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64908" cy="909257"/>
            <a:chOff x="520446" y="342900"/>
            <a:chExt cx="88649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1661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095" y="407194"/>
              <a:ext cx="3368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线性方法的不足与核 PCA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649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KPCA：一维四个点，多项式核 k(x, z) = (xz + 1)²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085398" cy="2616518"/>
            <a:chOff x="533400" y="1524000"/>
            <a:chExt cx="5085398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616518"/>
            </a:xfrm>
            <a:prstGeom prst="roundRect">
              <a:avLst>
                <a:gd name="adj" fmla="val 50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98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41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−2, −1, 1, 2，求前两个核主成分上的坐标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83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628198" cy="8505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25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410902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K₁₂ = ((−2)(−1) + 1)² = 9，K₁₃ = ((−2)(1)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+ 1)² = 1。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331018"/>
            <a:ext cx="5085398" cy="1632585"/>
            <a:chOff x="533400" y="4331018"/>
            <a:chExt cx="5085398" cy="1632585"/>
          </a:xfrm>
        </p:grpSpPr>
        <p:sp>
          <p:nvSpPr>
            <p:cNvPr id="15" name="Rectangle 15"/>
            <p:cNvSpPr/>
            <p:nvPr/>
          </p:nvSpPr>
          <p:spPr>
            <a:xfrm>
              <a:off x="533400" y="4331018"/>
              <a:ext cx="5085398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464368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54056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308" y="45762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中心化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4000" y="457581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特征空间里减均值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84"/>
                <p:cNvSpPr txBox="1">
                  <a:spLocks noGrp="1"/>
                </p:cNvSpPr>
                <p:nvPr/>
              </p:nvSpPr>
              <p:spPr>
                <a:xfrm>
                  <a:off x="781050" y="4912042"/>
                  <a:ext cx="4628198" cy="7610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HKH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5.75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5.75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1.75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10.25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steps-1"/>
          <p:cNvGrpSpPr/>
          <p:nvPr/>
        </p:nvGrpSpPr>
        <p:grpSpPr>
          <a:xfrm>
            <a:off x="5923598" y="1533525"/>
            <a:ext cx="5261736" cy="3468339"/>
            <a:chOff x="5923598" y="1533525"/>
            <a:chExt cx="5261736" cy="3468339"/>
          </a:xfrm>
        </p:grpSpPr>
        <p:sp>
          <p:nvSpPr>
            <p:cNvPr id="22" name="Rectangle 22"/>
            <p:cNvSpPr/>
            <p:nvPr/>
          </p:nvSpPr>
          <p:spPr>
            <a:xfrm>
              <a:off x="6056948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923598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722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923598" y="330422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7221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923598" y="41900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7221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35078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36220" y="1861661"/>
              <a:ext cx="2272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HKH 的特征值为 20、9、0、0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5078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第一主成分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6220" y="2512219"/>
              <a:ext cx="483285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单位特征向量 (−2, −1, 1, 2)ᵀ/√10，除以 √20 得 α¹ = (−0.141,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−0.071, 0.071, 0.141)ᵀ；四点坐标 = HKH·α¹ = (−2.83, −1.41,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1.41, 2.83)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5078" y="333851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第二主成分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6220" y="3632359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单位特征向量 (−1, 1, 1, −1)ᵀ/2，除以 √9 得 α² = (−1, 1, 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−1)ᵀ/6；四点坐标 = (−1.5, 1.5, 1.5, −1.5)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5078" y="422433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显式核验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6220" y="4518184"/>
              <a:ext cx="484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这个核对应 φ(x) = (1, √2x, x²)。中心化后散度矩阵的特征值也是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20、9、0，第一主方向就是 √2x 那一维，第二主方向是 x² 那一维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5923598" y="5180648"/>
            <a:ext cx="5735002" cy="782955"/>
            <a:chOff x="5923598" y="5180648"/>
            <a:chExt cx="5735002" cy="782955"/>
          </a:xfrm>
        </p:grpSpPr>
        <p:sp>
          <p:nvSpPr>
            <p:cNvPr id="40" name="Rectangle 40"/>
            <p:cNvSpPr/>
            <p:nvPr/>
          </p:nvSpPr>
          <p:spPr>
            <a:xfrm>
              <a:off x="5923598" y="5180648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128385" y="5472115"/>
              <a:ext cx="200023" cy="200023"/>
              <a:chOff x="6128385" y="547211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128385" y="54721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61735" y="5538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430328" y="5329238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第二个核主成分按 x² 的大小把 ±1 和 ±2 分开了，这是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 PCA 在一维数据上做不到的。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13465" cy="3351847"/>
            <a:chOff x="667512" y="1835468"/>
            <a:chExt cx="471346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035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假设高维数据落在一个低维流形上，把它“摊平”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流形与流形学习的定义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68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ISOMAP：保持全局测地距离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84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LLE：保持局部线性重构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69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LE：近的点投影后仍然近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什么是流形：局部看像欧氏空间的弯曲空间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253615"/>
            <a:chOff x="533400" y="1524000"/>
            <a:chExt cx="5626418" cy="2253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53615"/>
            </a:xfrm>
            <a:prstGeom prst="roundRect">
              <a:avLst>
                <a:gd name="adj" fmla="val 5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69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直观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8740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流形（A 版第 66 页）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流形是线性子空间的一种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非线性推广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3982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拓扑学角度：局部区域线性，与低维欧氏空间拓扑同胚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194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59869"/>
              <a:ext cx="35222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微分几何角度：有重叠 chart 的光滑过渡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13944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07990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黎曼流形：以光滑的方式在每一点的切空间上指定了欧氏内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积的微分流形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962400"/>
            <a:ext cx="5626418" cy="2107882"/>
            <a:chOff x="533400" y="3962400"/>
            <a:chExt cx="5626418" cy="2107882"/>
          </a:xfrm>
        </p:grpSpPr>
        <p:sp>
          <p:nvSpPr>
            <p:cNvPr id="20" name="Rectangle 20"/>
            <p:cNvSpPr/>
            <p:nvPr/>
          </p:nvSpPr>
          <p:spPr>
            <a:xfrm>
              <a:off x="533400" y="3962400"/>
              <a:ext cx="5626418" cy="2107882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095750"/>
              <a:ext cx="47625" cy="18411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1662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7644" y="42019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数学定义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0588" y="4206716"/>
              <a:ext cx="11094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67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558189"/>
              <a:ext cx="491972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M 是一个 Hausdorff 拓扑空间。若对每一点 p ∈ M，都有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的一个开邻域 U 和 Rᵈ 的一个开子集同胚，则称 M 为 d 维拓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扑流形，简称 d 维流形。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239" y="5417820"/>
              <a:ext cx="4698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同胚把 U 里的点 z 对应到 Rᵈ 中的坐标 x，x 称为 z 的局部坐标。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2156460"/>
            <a:chOff x="6464618" y="1524000"/>
            <a:chExt cx="5193982" cy="2156460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7961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地球表面是二维流形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9314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站在任何一处，脚下一小块都像一张平面地图（局部同胚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R²）；可整个球面不撕开就摊不平成一张地图。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9314" y="2711291"/>
              <a:ext cx="45410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66 页的三个例子：瑞士卷（Swiss roll）、S 形曲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面（S-curve）、鱼缸面（Fishbowl），都是嵌在三维空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间里的二维流形。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865245"/>
            <a:ext cx="5193982" cy="2205038"/>
            <a:chOff x="6464618" y="3865245"/>
            <a:chExt cx="5193982" cy="2205038"/>
          </a:xfrm>
        </p:grpSpPr>
        <p:sp>
          <p:nvSpPr>
            <p:cNvPr id="36" name="Rectangle 36"/>
            <p:cNvSpPr/>
            <p:nvPr/>
          </p:nvSpPr>
          <p:spPr>
            <a:xfrm>
              <a:off x="6464618" y="3865245"/>
              <a:ext cx="5193982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3998595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06552" y="4069080"/>
              <a:ext cx="1017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7653" y="4104799"/>
              <a:ext cx="875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版第 68 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30884" y="410956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相关数学概念与参考书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4172" y="45215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0764" y="4461034"/>
              <a:ext cx="37006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拓扑、Hausdorff 空间、坐标卡、微分结构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4172" y="484155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0764" y="478107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光滑函数、光滑映射、切向量、切空间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4172" y="516159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0764" y="5101114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陈省身、陈维桓《微分几何讲义》；陈维桓《微分流形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初步》；Berger、Gostiaux《Differential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Geometry: Manifolds, Curves and Surfaces》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流形学习要做什么：由观察样本反推隐含变量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2476500"/>
            <a:chOff x="533400" y="1524000"/>
            <a:chExt cx="5626418" cy="2476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094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69 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流形学习是一种非线性的维数约简方法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43982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高维观察数据的变化模式，本质上由少数几个隐含变量决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定。例如人脸采样由光线亮度、人与相机的距离、头部姿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势、面部表情等因素决定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3623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3027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从认知心理学的角度，心理学家认为人的认知过程基于认知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流形和拓扑连续性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185285"/>
            <a:ext cx="5626418" cy="2156460"/>
            <a:chOff x="533400" y="4185285"/>
            <a:chExt cx="5626418" cy="2156460"/>
          </a:xfrm>
        </p:grpSpPr>
        <p:sp>
          <p:nvSpPr>
            <p:cNvPr id="19" name="Rectangle 19"/>
            <p:cNvSpPr/>
            <p:nvPr/>
          </p:nvSpPr>
          <p:spPr>
            <a:xfrm>
              <a:off x="533400" y="4185285"/>
              <a:ext cx="5626418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318635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43891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7644" y="44248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数学定义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762976"/>
              <a:ext cx="46047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70 页（de Silva &amp; Tenenbaum, NIPS 2002）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5101114"/>
              <a:ext cx="497382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 ⊂ Rᵈ 是一个低维流形，f 是从 Y 到 Rᴰ 的光滑嵌入，D &gt;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d。数据集 {yᵢ} 是随机生成的，经过 f 映射为观察空间的数据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{xᵢ = f(yᵢ)}。流形学习就是在给定观察样本集 {xᵢ} 的条件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重构 f 和 {yᵢ}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flow-1"/>
          <p:cNvGrpSpPr/>
          <p:nvPr/>
        </p:nvGrpSpPr>
        <p:grpSpPr>
          <a:xfrm>
            <a:off x="6828472" y="1684020"/>
            <a:ext cx="4466272" cy="2451735"/>
            <a:chOff x="6828472" y="1684020"/>
            <a:chExt cx="4466272" cy="2451735"/>
          </a:xfrm>
        </p:grpSpPr>
        <p:sp>
          <p:nvSpPr>
            <p:cNvPr id="26" name="Freeform 26"/>
            <p:cNvSpPr/>
            <p:nvPr/>
          </p:nvSpPr>
          <p:spPr>
            <a:xfrm>
              <a:off x="9062085" y="2287905"/>
              <a:ext cx="9525" cy="215265"/>
            </a:xfrm>
            <a:custGeom>
              <a:avLst/>
              <a:gdLst/>
              <a:ahLst/>
              <a:cxnLst/>
              <a:rect l="l" t="t" r="r" b="b"/>
              <a:pathLst>
                <a:path w="9525" h="215265">
                  <a:moveTo>
                    <a:pt x="0" y="0"/>
                  </a:moveTo>
                  <a:lnTo>
                    <a:pt x="0" y="215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009698" y="2503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062085" y="3211830"/>
              <a:ext cx="9525" cy="215265"/>
            </a:xfrm>
            <a:custGeom>
              <a:avLst/>
              <a:gdLst/>
              <a:ahLst/>
              <a:cxnLst/>
              <a:rect l="l" t="t" r="r" b="b"/>
              <a:pathLst>
                <a:path w="9525" h="215265">
                  <a:moveTo>
                    <a:pt x="0" y="0"/>
                  </a:moveTo>
                  <a:lnTo>
                    <a:pt x="0" y="215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009698" y="34270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828472" y="1684020"/>
              <a:ext cx="4466272" cy="603885"/>
            </a:xfrm>
            <a:custGeom>
              <a:avLst/>
              <a:gdLst/>
              <a:ahLst/>
              <a:cxnLst/>
              <a:rect l="l" t="t" r="r" b="b"/>
              <a:pathLst>
                <a:path w="4466272" h="603885">
                  <a:moveTo>
                    <a:pt x="133350" y="0"/>
                  </a:moveTo>
                  <a:lnTo>
                    <a:pt x="4466272" y="0"/>
                  </a:lnTo>
                  <a:lnTo>
                    <a:pt x="4332922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28472" y="2607945"/>
              <a:ext cx="4466272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28472" y="3531870"/>
              <a:ext cx="4466272" cy="603885"/>
            </a:xfrm>
            <a:custGeom>
              <a:avLst/>
              <a:gdLst/>
              <a:ahLst/>
              <a:cxnLst/>
              <a:rect l="l" t="t" r="r" b="b"/>
              <a:pathLst>
                <a:path w="4466272" h="603885">
                  <a:moveTo>
                    <a:pt x="133350" y="0"/>
                  </a:moveTo>
                  <a:lnTo>
                    <a:pt x="4466272" y="0"/>
                  </a:lnTo>
                  <a:lnTo>
                    <a:pt x="4332922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349" y="1799272"/>
              <a:ext cx="18714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高维数据空间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/ observation space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17789" y="2723198"/>
              <a:ext cx="1688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非线性降维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保持一定的几何拓扑关系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2519" y="3647122"/>
              <a:ext cx="21991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低维嵌入空间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embedding / coordinate space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464618" y="4481512"/>
            <a:ext cx="5193982" cy="1861185"/>
            <a:chOff x="6464618" y="4481512"/>
            <a:chExt cx="5193982" cy="1861185"/>
          </a:xfrm>
        </p:grpSpPr>
        <p:sp>
          <p:nvSpPr>
            <p:cNvPr id="37" name="Rectangle 37"/>
            <p:cNvSpPr/>
            <p:nvPr/>
          </p:nvSpPr>
          <p:spPr>
            <a:xfrm>
              <a:off x="6464618" y="4481512"/>
              <a:ext cx="5193982" cy="1861185"/>
            </a:xfrm>
            <a:prstGeom prst="roundRect">
              <a:avLst>
                <a:gd name="adj" fmla="val 614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69405" y="5311140"/>
              <a:ext cx="200026" cy="200026"/>
              <a:chOff x="6669405" y="531114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53111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69418" y="53778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58305" y="54111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71729" y="5049679"/>
              <a:ext cx="41803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保持哪种几何关系，就决定了是哪种方法：测地距离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（ISOMAP）、邻域线性重构关系（LLE）、邻域相似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度（LE）。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经典流形学习方法一览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85277" cy="264033"/>
            <a:chOff x="526542" y="1545907"/>
            <a:chExt cx="83852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85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下表据 A 版第 72 页。本讲重点介绍前三种：ISOMAP、LLE、LE（A 版第 74 页列出了三篇原始论文）。</a:t>
              </a:r>
            </a:p>
          </p:txBody>
        </p:sp>
      </p:grpSp>
      <p:grpSp>
        <p:nvGrpSpPr>
          <p:cNvPr id="64" name="c1-table-1"/>
          <p:cNvGrpSpPr/>
          <p:nvPr/>
        </p:nvGrpSpPr>
        <p:grpSpPr>
          <a:xfrm>
            <a:off x="533400" y="1928812"/>
            <a:ext cx="11125200" cy="3432810"/>
            <a:chOff x="533400" y="1928812"/>
            <a:chExt cx="11125200" cy="34328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69326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方法简称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1300" y="2045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所保持的几何属性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7463" y="2045970"/>
              <a:ext cx="940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全局/局部关系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75926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计算复杂度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42925" y="2319338"/>
              <a:ext cx="242887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551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6004" y="2426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点对测地距离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0980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17277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2701290"/>
              <a:ext cx="242887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0892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76004" y="2808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局部线性重构关系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0980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58628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082290"/>
              <a:ext cx="242887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1899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76004" y="3189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局部邻域相似度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0980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58628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57187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HLLE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76004" y="3571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局部等距性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0980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58628" y="3571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3952875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LTSA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76004" y="3952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局部坐标表示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8352" y="3952875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 + 局部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58628" y="3952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21671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4333875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MVU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76004" y="4333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局部距离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18352" y="4333875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 + 局部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17277" y="4333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非常高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5939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47158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Logmap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76004" y="47158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测地距离与方向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0980" y="4715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17277" y="47158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非常低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9749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4979670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8078" y="5096828"/>
              <a:ext cx="10811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Diffusion Maps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76004" y="5096828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diffusion 距离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40980" y="5096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87953" y="5096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928812"/>
              <a:ext cx="1112520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297656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5894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0591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5" name="Rectangle 6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5805011"/>
              <a:ext cx="9083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原始论文：ISOMAP 为 Tenenbaum 等，Science 2000；LLE 为 Roweis &amp; Saul，Science 2000；LE 为 Belkin &amp; Niyogi，Neural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Computation 2003。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8319" cy="909257"/>
            <a:chOff x="520446" y="342900"/>
            <a:chExt cx="57683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83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经典方法分类结构图（A 版第 73 页）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533400" y="1605915"/>
            <a:ext cx="6925627" cy="4675822"/>
            <a:chOff x="533400" y="1605915"/>
            <a:chExt cx="6925627" cy="4675822"/>
          </a:xfrm>
        </p:grpSpPr>
        <p:sp>
          <p:nvSpPr>
            <p:cNvPr id="7" name="Freeform 7"/>
            <p:cNvSpPr/>
            <p:nvPr/>
          </p:nvSpPr>
          <p:spPr>
            <a:xfrm>
              <a:off x="5079682" y="1765935"/>
              <a:ext cx="419100" cy="725805"/>
            </a:xfrm>
            <a:custGeom>
              <a:avLst/>
              <a:gdLst/>
              <a:ahLst/>
              <a:cxnLst/>
              <a:rect l="l" t="t" r="r" b="b"/>
              <a:pathLst>
                <a:path w="419100" h="725805">
                  <a:moveTo>
                    <a:pt x="0" y="725805"/>
                  </a:moveTo>
                  <a:lnTo>
                    <a:pt x="209550" y="7258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079682" y="2249805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241935"/>
                  </a:moveTo>
                  <a:lnTo>
                    <a:pt x="209550" y="2419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079682" y="2491740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0"/>
                  </a:moveTo>
                  <a:lnTo>
                    <a:pt x="209550" y="0"/>
                  </a:lnTo>
                  <a:lnTo>
                    <a:pt x="209550" y="241935"/>
                  </a:lnTo>
                  <a:lnTo>
                    <a:pt x="419100" y="2419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79682" y="2491740"/>
              <a:ext cx="419100" cy="725805"/>
            </a:xfrm>
            <a:custGeom>
              <a:avLst/>
              <a:gdLst/>
              <a:ahLst/>
              <a:cxnLst/>
              <a:rect l="l" t="t" r="r" b="b"/>
              <a:pathLst>
                <a:path w="419100" h="725805">
                  <a:moveTo>
                    <a:pt x="0" y="0"/>
                  </a:moveTo>
                  <a:lnTo>
                    <a:pt x="209550" y="0"/>
                  </a:lnTo>
                  <a:lnTo>
                    <a:pt x="209550" y="725805"/>
                  </a:lnTo>
                  <a:lnTo>
                    <a:pt x="419100" y="7258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079682" y="370141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483870"/>
                  </a:moveTo>
                  <a:lnTo>
                    <a:pt x="209550" y="4838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79682" y="418528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079682" y="418528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0"/>
                  </a:moveTo>
                  <a:lnTo>
                    <a:pt x="209550" y="0"/>
                  </a:lnTo>
                  <a:lnTo>
                    <a:pt x="209550" y="483870"/>
                  </a:lnTo>
                  <a:lnTo>
                    <a:pt x="419100" y="4838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94610" y="2491740"/>
              <a:ext cx="419100" cy="846772"/>
            </a:xfrm>
            <a:custGeom>
              <a:avLst/>
              <a:gdLst/>
              <a:ahLst/>
              <a:cxnLst/>
              <a:rect l="l" t="t" r="r" b="b"/>
              <a:pathLst>
                <a:path w="419100" h="846772">
                  <a:moveTo>
                    <a:pt x="0" y="846772"/>
                  </a:moveTo>
                  <a:lnTo>
                    <a:pt x="209550" y="84677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94610" y="3338512"/>
              <a:ext cx="419100" cy="846772"/>
            </a:xfrm>
            <a:custGeom>
              <a:avLst/>
              <a:gdLst/>
              <a:ahLst/>
              <a:cxnLst/>
              <a:rect l="l" t="t" r="r" b="b"/>
              <a:pathLst>
                <a:path w="419100" h="846772">
                  <a:moveTo>
                    <a:pt x="0" y="0"/>
                  </a:moveTo>
                  <a:lnTo>
                    <a:pt x="209550" y="0"/>
                  </a:lnTo>
                  <a:lnTo>
                    <a:pt x="209550" y="846772"/>
                  </a:lnTo>
                  <a:lnTo>
                    <a:pt x="419100" y="84677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94610" y="515302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483870"/>
                  </a:moveTo>
                  <a:lnTo>
                    <a:pt x="209550" y="4838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594610" y="56368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594610" y="563689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0"/>
                  </a:moveTo>
                  <a:lnTo>
                    <a:pt x="209550" y="0"/>
                  </a:lnTo>
                  <a:lnTo>
                    <a:pt x="209550" y="483870"/>
                  </a:lnTo>
                  <a:lnTo>
                    <a:pt x="419100" y="4838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229678" y="3338512"/>
              <a:ext cx="419100" cy="1148715"/>
            </a:xfrm>
            <a:custGeom>
              <a:avLst/>
              <a:gdLst/>
              <a:ahLst/>
              <a:cxnLst/>
              <a:rect l="l" t="t" r="r" b="b"/>
              <a:pathLst>
                <a:path w="419100" h="1148715">
                  <a:moveTo>
                    <a:pt x="0" y="1148715"/>
                  </a:moveTo>
                  <a:lnTo>
                    <a:pt x="209550" y="11487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29678" y="4487228"/>
              <a:ext cx="419100" cy="1149667"/>
            </a:xfrm>
            <a:custGeom>
              <a:avLst/>
              <a:gdLst/>
              <a:ahLst/>
              <a:cxnLst/>
              <a:rect l="l" t="t" r="r" b="b"/>
              <a:pathLst>
                <a:path w="419100" h="1149667">
                  <a:moveTo>
                    <a:pt x="0" y="0"/>
                  </a:moveTo>
                  <a:lnTo>
                    <a:pt x="209550" y="0"/>
                  </a:lnTo>
                  <a:lnTo>
                    <a:pt x="209550" y="1149667"/>
                  </a:lnTo>
                  <a:lnTo>
                    <a:pt x="419100" y="11496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98782" y="160591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98782" y="208978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98782" y="257365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98782" y="305752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13710" y="2331720"/>
              <a:ext cx="2065972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98782" y="354139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98782" y="402526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98782" y="4509135"/>
              <a:ext cx="196024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13710" y="4025265"/>
              <a:ext cx="2065972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648778" y="3178492"/>
              <a:ext cx="945832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13710" y="4993005"/>
              <a:ext cx="206597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13710" y="5476875"/>
              <a:ext cx="206597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13710" y="5960745"/>
              <a:ext cx="206597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48778" y="5476875"/>
              <a:ext cx="945832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27208"/>
              <a:ext cx="696278" cy="320992"/>
            </a:xfrm>
            <a:prstGeom prst="roundRect">
              <a:avLst>
                <a:gd name="adj" fmla="val 2967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89080" y="1697831"/>
              <a:ext cx="1595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欧氏距离：PCA、经典 MDS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89080" y="2181701"/>
              <a:ext cx="11504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测地距离：ISOMAP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89080" y="2665571"/>
              <a:ext cx="9702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核：KPCA、MVU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89080" y="3149441"/>
              <a:ext cx="1616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扩散距离：Diffusion maps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04007" y="24236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全谱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9080" y="3633311"/>
              <a:ext cx="899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重构权重：LLE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89080" y="4117181"/>
              <a:ext cx="1218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近邻图拉普拉斯：LE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89080" y="4601051"/>
              <a:ext cx="1546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局部切空间：HLLE、LTSA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04007" y="41171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稀疏谱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39074" y="32704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凸方法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04007" y="5084921"/>
              <a:ext cx="17299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加权欧氏距离：Sammon 映射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04007" y="5568791"/>
              <a:ext cx="1427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局部线性模型对齐：LLC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04007" y="605266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神经网络：自编码器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39074" y="55687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非凸方法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3697" y="44200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降维</a:t>
              </a:r>
            </a:p>
          </p:txBody>
        </p:sp>
      </p:grpSp>
      <p:grpSp>
        <p:nvGrpSpPr>
          <p:cNvPr id="63" name="c2-kv-1"/>
          <p:cNvGrpSpPr/>
          <p:nvPr/>
        </p:nvGrpSpPr>
        <p:grpSpPr>
          <a:xfrm>
            <a:off x="7755255" y="1548765"/>
            <a:ext cx="3903345" cy="3305175"/>
            <a:chOff x="7755255" y="1548765"/>
            <a:chExt cx="3903345" cy="3305175"/>
          </a:xfrm>
        </p:grpSpPr>
        <p:sp>
          <p:nvSpPr>
            <p:cNvPr id="52" name="TextBox 52"/>
            <p:cNvSpPr txBox="1"/>
            <p:nvPr/>
          </p:nvSpPr>
          <p:spPr>
            <a:xfrm>
              <a:off x="7755255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凸方法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97290" y="1548765"/>
              <a:ext cx="2682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目标函数没有局部最优，可以一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次求出全局解，通常归结为特征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值问题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762875" y="243268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55255" y="25527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全谱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97290" y="2552700"/>
              <a:ext cx="26536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要对稠密的 N×N 矩阵（距离矩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阵、核矩阵）做特征分解，N 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时很慢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762875" y="3436620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55255" y="355663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稀疏谱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97290" y="3556635"/>
              <a:ext cx="2682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只用近邻关系，矩阵是稀疏的，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可以用稀疏特征值算法，快得多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762875" y="415861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55255" y="4278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非凸方法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97290" y="4278630"/>
              <a:ext cx="2682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要用梯度下降等迭代法优化，可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能陷入局部最优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7762875" y="4985385"/>
            <a:ext cx="3895725" cy="1059180"/>
            <a:chOff x="7762875" y="4985385"/>
            <a:chExt cx="3895725" cy="1059180"/>
          </a:xfrm>
        </p:grpSpPr>
        <p:sp>
          <p:nvSpPr>
            <p:cNvPr id="64" name="Rectangle 64"/>
            <p:cNvSpPr/>
            <p:nvPr/>
          </p:nvSpPr>
          <p:spPr>
            <a:xfrm>
              <a:off x="7762875" y="4985385"/>
              <a:ext cx="389572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967663" y="5414963"/>
              <a:ext cx="200026" cy="200025"/>
              <a:chOff x="7967663" y="541496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967663" y="54149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007401" y="54594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042117" y="55705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269605" y="5133975"/>
              <a:ext cx="2882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本章的 PCA、MDS、KPCA、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ISOMAP、LLE、LE 全是凸方法；B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版讲的自编码器属于非凸方法。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7870" cy="909257"/>
            <a:chOff x="520446" y="342900"/>
            <a:chExt cx="7307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7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ISOMAP：用测地距离代替欧氏距离，再做 MDS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613535"/>
            <a:chOff x="533400" y="1524000"/>
            <a:chExt cx="5410200" cy="16135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276" y="176355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代表性算法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0146" y="1767364"/>
              <a:ext cx="3513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 等距映射 [Tenenbaum, 2000]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全局测地距离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：测地距离反映数据在流形上的真实距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711291"/>
              <a:ext cx="48645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基于线性算法 MDS，只是把“测地距离”作为数据差异度量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322320"/>
            <a:ext cx="5410200" cy="1613535"/>
            <a:chOff x="533400" y="3322320"/>
            <a:chExt cx="5410200" cy="1613535"/>
          </a:xfrm>
        </p:grpSpPr>
        <p:sp>
          <p:nvSpPr>
            <p:cNvPr id="17" name="Rectangle 17"/>
            <p:cNvSpPr/>
            <p:nvPr/>
          </p:nvSpPr>
          <p:spPr>
            <a:xfrm>
              <a:off x="533400" y="3322320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455670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5261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7644" y="35618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测地距离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60588" y="3566636"/>
              <a:ext cx="11094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88 页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39785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391810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测地线：流形上连接两个点的最短曲线。球面上的测地线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就是大圆弧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2955" y="45700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546" y="450961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测地距离：测地线的长度</a:t>
              </a:r>
            </a:p>
          </p:txBody>
        </p:sp>
      </p:grpSp>
      <p:grpSp>
        <p:nvGrpSpPr>
          <p:cNvPr id="37" name="c1-flow-3"/>
          <p:cNvGrpSpPr/>
          <p:nvPr/>
        </p:nvGrpSpPr>
        <p:grpSpPr>
          <a:xfrm>
            <a:off x="666750" y="5420678"/>
            <a:ext cx="5143500" cy="603885"/>
            <a:chOff x="666750" y="5420678"/>
            <a:chExt cx="5143500" cy="603885"/>
          </a:xfrm>
        </p:grpSpPr>
        <p:sp>
          <p:nvSpPr>
            <p:cNvPr id="27" name="Freeform 27"/>
            <p:cNvSpPr/>
            <p:nvPr/>
          </p:nvSpPr>
          <p:spPr>
            <a:xfrm>
              <a:off x="2203132" y="572166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365058" y="56692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007168" y="572166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169092" y="56692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5420678"/>
              <a:ext cx="153638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69832" y="5420678"/>
              <a:ext cx="1536382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73868" y="5420678"/>
              <a:ext cx="153638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5931" y="5534978"/>
              <a:ext cx="9189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欧氏距离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vs. 测地距离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75204" y="5534978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近似测地距离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11065" y="5534978"/>
              <a:ext cx="661035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MDS 得到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降维嵌入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6387465" y="1524000"/>
            <a:ext cx="5132070" cy="3278982"/>
            <a:chOff x="6387465" y="1524000"/>
            <a:chExt cx="5132070" cy="3278982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7105650" y="1524000"/>
              <a:ext cx="3695700" cy="2771775"/>
            </a:xfrm>
            <a:prstGeom prst="roundRect">
              <a:avLst>
                <a:gd name="adj" fmla="val 4810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6387465" y="4390549"/>
              <a:ext cx="51320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卷起来的地毯上，蚂蚁只能沿表面爬（测地距离），钢针却能直接穿过好几层（欧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氏距离）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4963478"/>
            <a:ext cx="5410200" cy="1359218"/>
            <a:chOff x="6248400" y="4963478"/>
            <a:chExt cx="5410200" cy="1359218"/>
          </a:xfrm>
        </p:grpSpPr>
        <p:sp>
          <p:nvSpPr>
            <p:cNvPr id="41" name="Rectangle 41"/>
            <p:cNvSpPr/>
            <p:nvPr/>
          </p:nvSpPr>
          <p:spPr>
            <a:xfrm>
              <a:off x="6248400" y="4963478"/>
              <a:ext cx="5410200" cy="1359218"/>
            </a:xfrm>
            <a:prstGeom prst="roundRect">
              <a:avLst>
                <a:gd name="adj" fmla="val 840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41129" y="5538906"/>
              <a:ext cx="224134" cy="192560"/>
              <a:chOff x="6441129" y="553890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53200" y="56092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41129" y="55389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53200" y="56870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511" y="541258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两点在三维空间里可能很近，在流形上却可能很远。用欧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氏距离做 MDS，瑞士卷相邻两层的点会被当成邻居。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87232" cy="909257"/>
            <a:chOff x="520446" y="342900"/>
            <a:chExt cx="67872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872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 算法流程：近邻图 → 最短路 → MDS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794375" cy="2901791"/>
            <a:chOff x="533400" y="1533525"/>
            <a:chExt cx="5794375" cy="290179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75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090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找近邻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2931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计算每个点的近邻点（用 K 近邻或 ε 邻域）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9826"/>
              <a:ext cx="53098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在样本集上定义一个赋权无向图 G：如果 Xᵢ 和 Xⱼ 互为近邻点，则连边，权值为两点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的欧氏距离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53098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计算图中任意两点间的最短距离（Dijkstra 或 Floyd 算法），得到距离矩阵 D_G，用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它近似测地距离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74046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007644"/>
              <a:ext cx="53809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S = (D_G 各元素的平方)，H = (δᵢⱼ − 1/N)，τ(D) = −HSH/2；低维嵌入取 τ(D) 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大到第 d 大的特征值对应的特征向量（按特征值的平方根缩放）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604385"/>
            <a:ext cx="6059805" cy="1272540"/>
            <a:chOff x="533400" y="4604385"/>
            <a:chExt cx="6059805" cy="1272540"/>
          </a:xfrm>
        </p:grpSpPr>
        <p:sp>
          <p:nvSpPr>
            <p:cNvPr id="25" name="Rectangle 25"/>
            <p:cNvSpPr/>
            <p:nvPr/>
          </p:nvSpPr>
          <p:spPr>
            <a:xfrm>
              <a:off x="533400" y="4604385"/>
              <a:ext cx="605980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737735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7967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344" y="48310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邻域参数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14297" y="4835842"/>
              <a:ext cx="2285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K（或 ε）太小、太大都不行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2478" y="522636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8497" y="5170170"/>
              <a:ext cx="5515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太小：图不连通，两个连通块之间的最短路是无穷大，MDS 做不下去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55292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5473065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太大：近邻边“短路”，跨过流形的相邻卷层，图距离退化成欧氏距离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898005" y="1524000"/>
            <a:ext cx="4760595" cy="2310765"/>
            <a:chOff x="6898005" y="1524000"/>
            <a:chExt cx="4760595" cy="2310765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2310765"/>
            </a:xfrm>
            <a:prstGeom prst="roundRect">
              <a:avLst>
                <a:gd name="adj" fmla="val 57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07530" y="1657350"/>
              <a:ext cx="47625" cy="20440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8510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3948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渐近收敛定理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45602" y="1756410"/>
              <a:ext cx="3053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图距离逼近测地距离（A 版第 90 页）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21652" y="2090738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Bernstein、de Silva、Langford、Tenenbaum 证明：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假设采样点是随机均匀抽取的，给定 λ₁, λ₂, μ &gt; 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只要样本集充分大且适当选择 K，不等式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192"/>
                <p:cNvSpPr txBox="1">
                  <a:spLocks noGrp="1"/>
                </p:cNvSpPr>
                <p:nvPr/>
              </p:nvSpPr>
              <p:spPr>
                <a:xfrm>
                  <a:off x="7128510" y="2885122"/>
                  <a:ext cx="433768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graph distance</m:t>
                            </m:r>
                          </m:num>
                          <m:den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geodesic distance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7121652" y="3430905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至少以概率 1 − μ 成立。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898005" y="4009072"/>
            <a:ext cx="4760595" cy="1866900"/>
            <a:chOff x="6898005" y="4009072"/>
            <a:chExt cx="4760595" cy="1866900"/>
          </a:xfrm>
        </p:grpSpPr>
        <p:sp>
          <p:nvSpPr>
            <p:cNvPr id="44" name="Rectangle 44"/>
            <p:cNvSpPr/>
            <p:nvPr/>
          </p:nvSpPr>
          <p:spPr>
            <a:xfrm>
              <a:off x="6898005" y="4009072"/>
              <a:ext cx="4760595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4142422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8510" y="42014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19950" y="42357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2202" y="4241482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慢在第 3 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21652" y="4575810"/>
              <a:ext cx="41542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算法是 O(N³)，要存 N×N 的稠密矩阵；MDS 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要对它做特征分解。这是 ISOMAP “计算复杂度非常高”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的原因。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6897" cy="909257"/>
            <a:chOff x="520446" y="342900"/>
            <a:chExt cx="4886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6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ISOMAP：半圆上的五个点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27860"/>
            <a:chOff x="533400" y="1524000"/>
            <a:chExt cx="4760595" cy="1927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990975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单位半圆上按 0°、45°、90°、135°、180° 取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P1～P5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ε = 0.8 的邻域建图，再用 ISOMAP 降到一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维。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27685" y="3642360"/>
            <a:ext cx="4766310" cy="2539842"/>
            <a:chOff x="527685" y="3642360"/>
            <a:chExt cx="4766310" cy="2539842"/>
          </a:xfrm>
        </p:grpSpPr>
        <p:sp>
          <p:nvSpPr>
            <p:cNvPr id="14" name="Rectangle 14"/>
            <p:cNvSpPr/>
            <p:nvPr/>
          </p:nvSpPr>
          <p:spPr>
            <a:xfrm>
              <a:off x="533400" y="3642360"/>
              <a:ext cx="476059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8484" y="37780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8218" y="37780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欧氏距离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72625" y="37780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图距离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4718" y="37780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真实弧长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7938" y="4226719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P1–P2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55914" y="422671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0.765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94164" y="422671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0.765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2414" y="422671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348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53961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938" y="4675346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P1–P3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55914" y="467534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94164" y="467534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1.531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32414" y="467534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1.571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9844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7938" y="5123974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P1–P4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55914" y="512397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1.848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4164" y="512397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2.296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32414" y="512397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2.356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4330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43782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7938" y="5572601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P1–P5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90675" y="5447348"/>
              <a:ext cx="121920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55914" y="55726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27972" y="5447348"/>
              <a:ext cx="12192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94164" y="55726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3.061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32414" y="55726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642360"/>
              <a:ext cx="476059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576388" y="36423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813685" y="36423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51935" y="36423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596217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图距离与真实弧长之比为 0.97，欧氏距离只有 0.64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5598795" y="1533525"/>
            <a:ext cx="6064621" cy="3233071"/>
            <a:chOff x="5598795" y="1533525"/>
            <a:chExt cx="6064621" cy="3233071"/>
          </a:xfrm>
        </p:grpSpPr>
        <p:sp>
          <p:nvSpPr>
            <p:cNvPr id="48" name="Rectangle 48"/>
            <p:cNvSpPr/>
            <p:nvPr/>
          </p:nvSpPr>
          <p:spPr>
            <a:xfrm>
              <a:off x="5732145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598795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598795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98795" y="39557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027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1418" y="1861661"/>
              <a:ext cx="5304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相邻点弦长 2sin22.5° = 0.765 &lt; 0.8，隔一个点的距离 1.414 &gt; 0.8，所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以图是一条链 P1–P2–P3–P4–P5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0275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1418" y="2746534"/>
              <a:ext cx="5651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沿链相加：P1 到 P5 的图距离 = 4 × 0.765 = 3.06，而欧氏距离只有 2.00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0275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双中心化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1418" y="3397091"/>
              <a:ext cx="52717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对图距离做经典 MDS：τ(D) 的特征值为 5.86、0、0、0、0，只有一个非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零，说明图距离本身就是一维的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0275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1418" y="4282916"/>
              <a:ext cx="5328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(1.53, 0.77, 0, −0.77, −1.53)，相邻间隔全是 0.765，正好等于弦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长，半圆被“拉直”了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5598795" y="4945380"/>
            <a:ext cx="6059805" cy="1192530"/>
            <a:chOff x="5598795" y="4945380"/>
            <a:chExt cx="6059805" cy="1192530"/>
          </a:xfrm>
        </p:grpSpPr>
        <p:sp>
          <p:nvSpPr>
            <p:cNvPr id="66" name="Rectangle 66"/>
            <p:cNvSpPr/>
            <p:nvPr/>
          </p:nvSpPr>
          <p:spPr>
            <a:xfrm>
              <a:off x="5598795" y="4945380"/>
              <a:ext cx="6059805" cy="1192530"/>
            </a:xfrm>
            <a:prstGeom prst="roundRect">
              <a:avLst>
                <a:gd name="adj" fmla="val 95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5803583" y="5441633"/>
              <a:ext cx="200026" cy="200025"/>
              <a:chOff x="5803583" y="5441633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803583" y="54416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843321" y="54860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5878037" y="55972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105525" y="5160645"/>
              <a:ext cx="5015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若直接用欧氏距离做 MDS（即 PCA），得到 (1, 0.71, 0,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−0.71, −1)：顺序没乱，但两端间隔 0.29、中间 0.71，两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端被压扁了。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3616" cy="909257"/>
            <a:chOff x="520446" y="342900"/>
            <a:chExt cx="45436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36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 的前提、实验与特点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5695625" cy="2544604"/>
            <a:chOff x="527685" y="1524000"/>
            <a:chExt cx="5695625" cy="2544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48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实验数据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77730" y="1659731"/>
              <a:ext cx="1763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ISOMAP 找到的坐标轴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534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人脸图像（A 版第 91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67190" y="2108359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左右转头、上下点头；第三个维度对应光照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手部图像（第 92 页）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67190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手腕转动、手指伸展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150891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手写数字“2”（第 93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7190" y="33456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底部圈的形状、顶部弧的形状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5460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3848576"/>
              <a:ext cx="5695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投影后的坐标在降维空间里沿直线插值（第 94 页），对应的图像是连续、自然的变化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214812"/>
            <a:ext cx="5626418" cy="1335405"/>
            <a:chOff x="533400" y="4214812"/>
            <a:chExt cx="5626418" cy="1335405"/>
          </a:xfrm>
        </p:grpSpPr>
        <p:sp>
          <p:nvSpPr>
            <p:cNvPr id="23" name="Rectangle 23"/>
            <p:cNvSpPr/>
            <p:nvPr/>
          </p:nvSpPr>
          <p:spPr>
            <a:xfrm>
              <a:off x="533400" y="4214812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34816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4243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258" y="44600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2078" y="44596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学到的坐标有物理含义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4820602"/>
              <a:ext cx="4977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这些坐标轴不是人事先规定的，是 ISOMAP 从成千上万个像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素里自己找出来的，说明它找到的正是数据真正的自由度。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456998" y="1548765"/>
            <a:ext cx="5201602" cy="2617470"/>
            <a:chOff x="6456998" y="1548765"/>
            <a:chExt cx="5201602" cy="2617470"/>
          </a:xfrm>
        </p:grpSpPr>
        <p:sp>
          <p:nvSpPr>
            <p:cNvPr id="30" name="TextBox 30"/>
            <p:cNvSpPr txBox="1"/>
            <p:nvPr/>
          </p:nvSpPr>
          <p:spPr>
            <a:xfrm>
              <a:off x="645699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前提假设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9033" y="154876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数据所在的低维流形与欧氏空间的一个子集整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体等距；该欧氏空间的子集是一个凸集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1507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6998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思想核心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9033" y="227076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较近点对之间的测地距离用欧氏距离代替；较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远点对之间的测地距离用最短路径来逼近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872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56998" y="2992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适用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9033" y="29927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适于学习内部平坦的低维流形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33127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6998" y="34328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9033" y="343281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不适于学习有较大内在曲率的流形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7528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6998" y="38728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9033" y="38728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计算点对间的最短路径比较耗时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464618" y="4297680"/>
            <a:ext cx="5193982" cy="1252538"/>
            <a:chOff x="6464618" y="4297680"/>
            <a:chExt cx="5193982" cy="1252538"/>
          </a:xfrm>
        </p:grpSpPr>
        <p:sp>
          <p:nvSpPr>
            <p:cNvPr id="45" name="Rectangle 45"/>
            <p:cNvSpPr/>
            <p:nvPr/>
          </p:nvSpPr>
          <p:spPr>
            <a:xfrm>
              <a:off x="6464618" y="4297680"/>
              <a:ext cx="5193982" cy="1252538"/>
            </a:xfrm>
            <a:prstGeom prst="roundRect">
              <a:avLst>
                <a:gd name="adj" fmla="val 91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57347" y="4819768"/>
              <a:ext cx="224134" cy="192560"/>
              <a:chOff x="6657347" y="4819768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69418" y="48901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7347" y="48197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69418" y="4967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1348" y="4680585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“凸集”这个前提很要紧：流形上有洞时，绕洞走的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最短路比真实距离长，嵌入会变形。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4670" cy="909257"/>
            <a:chOff x="520446" y="342900"/>
            <a:chExt cx="71046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46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 的优缺点与改进（A 版第 96–98 页）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341245"/>
            <a:chOff x="533400" y="1524000"/>
            <a:chExt cx="5410200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940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 - summary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继承了 MDS 与 PCA 的特点：保证渐近收敛到真实结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构；多项式时间；不需要迭代；能发现任意维数的流形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数据来自一个采样充分的单一簇时效果好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086100"/>
              <a:ext cx="2653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自由参数少（主要是 K 或 ε）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421380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对“保持度量”有良好的理论基础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055745"/>
            <a:ext cx="5410200" cy="2005965"/>
            <a:chOff x="533400" y="4055745"/>
            <a:chExt cx="5410200" cy="2005965"/>
          </a:xfrm>
        </p:grpSpPr>
        <p:sp>
          <p:nvSpPr>
            <p:cNvPr id="21" name="Rectangle 21"/>
            <p:cNvSpPr/>
            <p:nvPr/>
          </p:nvSpPr>
          <p:spPr>
            <a:xfrm>
              <a:off x="533400" y="4055745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189095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2652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1258" y="4301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2078" y="4300538"/>
              <a:ext cx="2301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Problems with ISOMAP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7244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66153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嵌入偏向于保持远距离点对的间隔，可能导致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局部几何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结构变形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53454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52825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数据分布在多个簇上时投影效果不好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56807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561784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算法本身数值稳定，但大数据集上计算代价很高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2475548"/>
            <a:chOff x="6248400" y="1524000"/>
            <a:chExt cx="5410200" cy="2475548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07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8969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解决的问题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6223" y="2221706"/>
              <a:ext cx="1553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Conformal Isomap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4086" y="2108359"/>
              <a:ext cx="30284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能学习某些弯曲流形的结构（放宽“整体等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距”）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6223" y="2897029"/>
              <a:ext cx="1499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Landmark Isomap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04086" y="2783681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只对一小部分地标点做全局计算，近似大规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模问题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6223" y="3572351"/>
              <a:ext cx="1271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k/2 近 + k/2 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04086" y="3459004"/>
              <a:ext cx="3020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k/2 个最近的点和 k/2 个最远的点来重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构距离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9150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6248400" y="4190048"/>
            <a:ext cx="5410200" cy="1871662"/>
            <a:chOff x="6248400" y="4190048"/>
            <a:chExt cx="5410200" cy="1871662"/>
          </a:xfrm>
        </p:grpSpPr>
        <p:sp>
          <p:nvSpPr>
            <p:cNvPr id="48" name="Rectangle 48"/>
            <p:cNvSpPr/>
            <p:nvPr/>
          </p:nvSpPr>
          <p:spPr>
            <a:xfrm>
              <a:off x="6248400" y="4190048"/>
              <a:ext cx="5410200" cy="1871662"/>
            </a:xfrm>
            <a:prstGeom prst="roundRect">
              <a:avLst>
                <a:gd name="adj" fmla="val 610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5025392"/>
              <a:ext cx="200023" cy="200023"/>
              <a:chOff x="6453188" y="5025392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0253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86538" y="50920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130" y="4744402"/>
              <a:ext cx="43681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ISOMAP 是“全局”方法，远近距离都要保；下一种方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 LLE 只管局部，于是快了很多，也换来了别的问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3208" cy="909257"/>
            <a:chOff x="520446" y="342900"/>
            <a:chExt cx="78632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32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LLE：每个点由邻居线性重构，嵌入后保持重构权重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005965"/>
            <a:chOff x="533400" y="1524000"/>
            <a:chExt cx="5410200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991" y="176926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代表性算法 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5480" y="1768792"/>
              <a:ext cx="331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 局部线性嵌入 [Roweis, 2000]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显式利用“局部线性”的假设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保持局部邻域几何结构：重构权重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权重对样本集的几何变换（平移、旋转、缩放）具有不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变性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5780" y="3745230"/>
            <a:ext cx="5417820" cy="1737360"/>
            <a:chOff x="525780" y="3745230"/>
            <a:chExt cx="5417820" cy="1737360"/>
          </a:xfrm>
        </p:grpSpPr>
        <p:sp>
          <p:nvSpPr>
            <p:cNvPr id="19" name="TextBox 19"/>
            <p:cNvSpPr txBox="1"/>
            <p:nvPr/>
          </p:nvSpPr>
          <p:spPr>
            <a:xfrm>
              <a:off x="525780" y="37452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前提假设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74523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采样数据所在的低维流形在局部是线性的；每个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采样点都可以用它的近邻样本线性重构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472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467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6862" y="446722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低维空间中保持每个邻域中的重构权值不变；在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嵌入映射为局部线性的条件下最小化重构误差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0692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51892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最终形式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6862" y="51892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化为稀疏矩阵的特征值分解问题</a:t>
              </a:r>
            </a:p>
          </p:txBody>
        </p:sp>
      </p:grpSp>
      <p:grpSp>
        <p:nvGrpSpPr>
          <p:cNvPr id="42" name="c2-flow-1"/>
          <p:cNvGrpSpPr/>
          <p:nvPr/>
        </p:nvGrpSpPr>
        <p:grpSpPr>
          <a:xfrm>
            <a:off x="6627495" y="1733550"/>
            <a:ext cx="4652962" cy="2725102"/>
            <a:chOff x="6627495" y="1733550"/>
            <a:chExt cx="4652962" cy="2725102"/>
          </a:xfrm>
        </p:grpSpPr>
        <p:sp>
          <p:nvSpPr>
            <p:cNvPr id="28" name="Freeform 28"/>
            <p:cNvSpPr/>
            <p:nvPr/>
          </p:nvSpPr>
          <p:spPr>
            <a:xfrm>
              <a:off x="8953500" y="236220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01112" y="2676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953500" y="340995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901112" y="3724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27495" y="1733550"/>
              <a:ext cx="465296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27495" y="2781300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27495" y="3829050"/>
              <a:ext cx="465296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4833" y="1849279"/>
              <a:ext cx="1637335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选邻居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 Xᵢ 找 K 个近邻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5679" y="2897029"/>
              <a:ext cx="22156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求权重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用邻居线性重构 Xᵢ，解出 Wᵢⱼ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93812" y="3944779"/>
              <a:ext cx="191937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求嵌入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固定 Wᵢⱼ，求低维坐标 Yᵢ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82075" y="2479358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05316" y="2506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只看高维坐标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82075" y="3527108"/>
              <a:ext cx="76866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05316" y="3553778"/>
              <a:ext cx="732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只用权重 W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857750"/>
            <a:ext cx="5410200" cy="1059180"/>
            <a:chOff x="6248400" y="4857750"/>
            <a:chExt cx="5410200" cy="1059180"/>
          </a:xfrm>
        </p:grpSpPr>
        <p:sp>
          <p:nvSpPr>
            <p:cNvPr id="43" name="Rectangle 43"/>
            <p:cNvSpPr/>
            <p:nvPr/>
          </p:nvSpPr>
          <p:spPr>
            <a:xfrm>
              <a:off x="6248400" y="485775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287328"/>
              <a:ext cx="200026" cy="200026"/>
              <a:chOff x="6453188" y="528732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2873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354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3873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5006340"/>
              <a:ext cx="4387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102 页是 Roweis 原文的示意图：三步分别对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 Select neighbors、Reconstruct with linear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weights、Map to embedded coordinates。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12944" cy="909257"/>
            <a:chOff x="520446" y="342900"/>
            <a:chExt cx="41129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129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 求解①：求重构权重 W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96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  <m:sup/>
                                    <m:e>
                                      <m:sSub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ij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2364581"/>
            <a:ext cx="5166106" cy="500824"/>
            <a:chOff x="526923" y="2364581"/>
            <a:chExt cx="5166106" cy="50082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364581"/>
              <a:ext cx="51661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只允许 xᵢ 的 K 个近邻参与重构（非近邻的 wᵢⱼ = 0），每个点的权重之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和为 1。</a:t>
              </a:r>
            </a:p>
          </p:txBody>
        </p:sp>
      </p:grpSp>
      <p:grpSp>
        <p:nvGrpSpPr>
          <p:cNvPr id="18" name="c1-card-3"/>
          <p:cNvGrpSpPr/>
          <p:nvPr/>
        </p:nvGrpSpPr>
        <p:grpSpPr>
          <a:xfrm>
            <a:off x="533400" y="3005138"/>
            <a:ext cx="5410200" cy="3243262"/>
            <a:chOff x="533400" y="3005138"/>
            <a:chExt cx="5410200" cy="3243262"/>
          </a:xfrm>
        </p:grpSpPr>
        <p:sp>
          <p:nvSpPr>
            <p:cNvPr id="10" name="Rectangle 10"/>
            <p:cNvSpPr/>
            <p:nvPr/>
          </p:nvSpPr>
          <p:spPr>
            <a:xfrm>
              <a:off x="533400" y="3005138"/>
              <a:ext cx="5410200" cy="3243262"/>
            </a:xfrm>
            <a:prstGeom prst="roundRect">
              <a:avLst>
                <a:gd name="adj" fmla="val 41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138488"/>
              <a:ext cx="47625" cy="29765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21468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7308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闭式解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4000" y="3249930"/>
              <a:ext cx="3145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 Gram 矩阵（A 版第 104 页）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97"/>
                <p:cNvSpPr txBox="1">
                  <a:spLocks noGrp="1"/>
                </p:cNvSpPr>
                <p:nvPr/>
              </p:nvSpPr>
              <p:spPr>
                <a:xfrm>
                  <a:off x="781050" y="3586162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98"/>
                <p:cNvSpPr txBox="1">
                  <a:spLocks noGrp="1"/>
                </p:cNvSpPr>
                <p:nvPr/>
              </p:nvSpPr>
              <p:spPr>
                <a:xfrm>
                  <a:off x="781050" y="4062412"/>
                  <a:ext cx="495300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/>
                              <m:e>
                                <m:sSub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G</m:t>
                                            </m:r>
                                          </m:e>
                                          <m:sup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jk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  <m:sup/>
                              <m:e>
                                <m:sSub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G</m:t>
                                            </m:r>
                                          </m:e>
                                          <m:sup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lm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3430" y="4842510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ηⱼ、ηₖ 是 xᵢ 的近邻点。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956435"/>
            <a:chOff x="6248400" y="1524000"/>
            <a:chExt cx="5410200" cy="19564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推导补充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80923" y="1768792"/>
              <a:ext cx="2090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为什么是 G 的逆的行和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12979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 Σⱼwᵢⱼ = 1，xᵢ − Σⱼwᵢⱼηⱼ = Σⱼwᵢⱼ(xᵢ − ηⱼ)，所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以误差 = wᵀGⁱw。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75082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在约束 1ᵀw = 1 下用拉格朗日乘子，得 Gⁱw = μ1，w 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(Gⁱ)⁻¹1；再归一化使分量和为 1，就是左边的公式。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670935"/>
            <a:ext cx="5410200" cy="2577465"/>
            <a:chOff x="6248400" y="3670935"/>
            <a:chExt cx="5410200" cy="2577465"/>
          </a:xfrm>
        </p:grpSpPr>
        <p:sp>
          <p:nvSpPr>
            <p:cNvPr id="27" name="Rectangle 27"/>
            <p:cNvSpPr/>
            <p:nvPr/>
          </p:nvSpPr>
          <p:spPr>
            <a:xfrm>
              <a:off x="6248400" y="3670935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804285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38804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78359" y="39162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数值问题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0923" y="3915728"/>
              <a:ext cx="12885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113 页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43395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4276725"/>
              <a:ext cx="4368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W 用到的“协方差矩阵”Gⁱ 可能病态，需要正则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化：Gⁱ ← Gⁱ + εI（ε 常取 10⁻³·tr Gⁱ）。近邻数 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大于输入维数时 Gⁱ 一定奇异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52463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518350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最小的几个特征值容易受数值精度影响，还可能混在一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58674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5804535"/>
              <a:ext cx="4312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但算法用的是稀疏矩阵，所以比 ISOMAP 快得多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66507" cy="909257"/>
            <a:chOff x="520446" y="342900"/>
            <a:chExt cx="5466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66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 求解②：固定 W，求低维坐标 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05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  <m:sup/>
                                    <m:e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ij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06"/>
              <p:cNvSpPr txBox="1">
                <a:spLocks noGrp="1"/>
              </p:cNvSpPr>
              <p:nvPr/>
            </p:nvSpPr>
            <p:spPr>
              <a:xfrm>
                <a:off x="533400" y="2306955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4" name="c1-kv-3"/>
          <p:cNvGrpSpPr/>
          <p:nvPr/>
        </p:nvGrpSpPr>
        <p:grpSpPr>
          <a:xfrm>
            <a:off x="526161" y="3112294"/>
            <a:ext cx="5633657" cy="968311"/>
            <a:chOff x="526161" y="3112294"/>
            <a:chExt cx="5633657" cy="968311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31122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中心化约束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214" y="311229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去掉平移的自由度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4185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353425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单位协方差约束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9214" y="3534251"/>
              <a:ext cx="377456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去掉缩放的自由度，也排除所有 yᵢ 都取 0 的平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凡解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207"/>
              <p:cNvSpPr txBox="1">
                <a:spLocks noGrp="1"/>
              </p:cNvSpPr>
              <p:nvPr/>
            </p:nvSpPr>
            <p:spPr>
              <a:xfrm>
                <a:off x="533400" y="4210050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Sup>
                            <m:e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bSup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5"/>
          <p:cNvGrpSpPr/>
          <p:nvPr/>
        </p:nvGrpSpPr>
        <p:grpSpPr>
          <a:xfrm>
            <a:off x="533400" y="4993005"/>
            <a:ext cx="5626418" cy="1293495"/>
            <a:chOff x="533400" y="4993005"/>
            <a:chExt cx="5626418" cy="1293495"/>
          </a:xfrm>
        </p:grpSpPr>
        <p:sp>
          <p:nvSpPr>
            <p:cNvPr id="16" name="Rectangle 16"/>
            <p:cNvSpPr/>
            <p:nvPr/>
          </p:nvSpPr>
          <p:spPr>
            <a:xfrm>
              <a:off x="533400" y="4993005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512635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51968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52325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5236369"/>
              <a:ext cx="22115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ISOMAP 取的方向相反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5587841"/>
              <a:ext cx="49287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ISOMAP（MDS）取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的特征值，LLE 取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的：前者在最大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化保留的内积，后者在最小化重构误差。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1293495"/>
            <a:chOff x="6464618" y="1524000"/>
            <a:chExt cx="5193982" cy="129349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293495"/>
            </a:xfrm>
            <a:prstGeom prst="roundRect">
              <a:avLst>
                <a:gd name="adj" fmla="val 1030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684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96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9861" y="1767364"/>
              <a:ext cx="16614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版第 105–106 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214" y="2119789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问题最终化为求 M 的特征值分解（My = λy）。低维嵌入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M 的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最小的第 2 到第 d + 1 个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特征向量。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002280"/>
            <a:ext cx="5193982" cy="3283268"/>
            <a:chOff x="6464618" y="3002280"/>
            <a:chExt cx="5193982" cy="3283268"/>
          </a:xfrm>
        </p:grpSpPr>
        <p:sp>
          <p:nvSpPr>
            <p:cNvPr id="29" name="Rectangle 29"/>
            <p:cNvSpPr/>
            <p:nvPr/>
          </p:nvSpPr>
          <p:spPr>
            <a:xfrm>
              <a:off x="6464618" y="3002280"/>
              <a:ext cx="5193982" cy="3283268"/>
            </a:xfrm>
            <a:prstGeom prst="roundRect">
              <a:avLst>
                <a:gd name="adj" fmla="val 40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3135630"/>
              <a:ext cx="47625" cy="301656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06552" y="320611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63258" y="32418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为什么丢掉最小的那个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6198" y="3246596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 1 向量是平凡解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9314" y="3598069"/>
              <a:ext cx="450494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每行和为 1，所以 (I − W)1 = 0，M1 = 0：全 1 向量是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的特征向量，特征值为 0。它把所有点放在同一个坐标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上，违反中心化约束，也不含任何信息。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11653" cy="909257"/>
            <a:chOff x="520446" y="342900"/>
            <a:chExt cx="5211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11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LLE ①：求一个点的重构权重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ard-1"/>
          <p:cNvGrpSpPr/>
          <p:nvPr/>
        </p:nvGrpSpPr>
        <p:grpSpPr>
          <a:xfrm>
            <a:off x="533400" y="1524000"/>
            <a:ext cx="5410200" cy="4375785"/>
            <a:chOff x="533400" y="1524000"/>
            <a:chExt cx="5410200" cy="43757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75785"/>
            </a:xfrm>
            <a:prstGeom prst="roundRect">
              <a:avLst>
                <a:gd name="adj" fmla="val 30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1090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984" y="17692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情形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408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= (0, 0)，近邻 η₁ = (−1, 0.5)、η₂ = (1, 0.5)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2592705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81050" y="24498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4674" y="2523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1003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4674" y="3174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9862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4674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48720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674" y="4945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92530" y="24841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差向量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93673" y="2777966"/>
              <a:ext cx="3450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− η₁ = (1, −0.5)，xᵢ − η₂ = (−1, −0.5)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2530" y="3134678"/>
              <a:ext cx="999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Gram 矩阵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3673" y="3428524"/>
              <a:ext cx="40850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[1.25 −0.75; −0.75 1.25]，det = 1，G⁻¹ = [1.25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0.75; 0.75 1.25]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2530" y="402050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3673" y="4313396"/>
              <a:ext cx="4190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G⁻¹ 两行的行和都是 2，总和 4，w = (2/4, 2/4) = (0.5,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2530" y="49063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3673" y="5199221"/>
              <a:ext cx="4337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重构点 0.5η₁ + 0.5η₂ = (0, 0.5)，误差 0.5：xᵢ 不在两个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邻居的连线上，重构不可能精确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3389948"/>
            <a:chOff x="6248400" y="1524000"/>
            <a:chExt cx="5410200" cy="3389948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3389948"/>
            </a:xfrm>
            <a:prstGeom prst="roundRect">
              <a:avLst>
                <a:gd name="adj" fmla="val 3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3123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8984" y="17692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情形 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3760" y="1768792"/>
              <a:ext cx="4216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近邻 η₁ = (−1, 0)、η₂ = (2, 0)，与 xᵢ 共线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29400" y="225742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496050" y="21145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9674" y="2188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6050" y="30003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89674" y="30741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6050" y="38852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9674" y="3959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07530" y="214884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奇异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8673" y="2442686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差向量 (1, 0) 与 (−2, 0)，G = [1 −2; −2 4]，det = 0，不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能直接求逆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7530" y="30346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8673" y="3327559"/>
              <a:ext cx="3833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+ εI，ε = 10⁻³ × tr G = 0.005，解得 w ≈ (0.667,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0.333)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7530" y="39195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8673" y="4213384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(2/3)(−1, 0) + (1/3)(2, 0) = (0, 0)，零误差。约束问题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的真解就是 (2/3, 1/3)，正则化只是让矩阵可逆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5104448"/>
            <a:ext cx="5410200" cy="795338"/>
            <a:chOff x="6248400" y="5104448"/>
            <a:chExt cx="5410200" cy="795338"/>
          </a:xfrm>
        </p:grpSpPr>
        <p:sp>
          <p:nvSpPr>
            <p:cNvPr id="49" name="Rectangle 49"/>
            <p:cNvSpPr/>
            <p:nvPr/>
          </p:nvSpPr>
          <p:spPr>
            <a:xfrm>
              <a:off x="6248400" y="5104448"/>
              <a:ext cx="5410200" cy="795338"/>
            </a:xfrm>
            <a:prstGeom prst="roundRect">
              <a:avLst>
                <a:gd name="adj" fmla="val 1437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41129" y="5398888"/>
              <a:ext cx="224134" cy="192560"/>
              <a:chOff x="6441129" y="539888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53200" y="54692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41129" y="53988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5547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5259705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邻居数多于输入维数（比如二维数据取 K = 3）时，G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必然奇异，一定要正则化。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11653" cy="909257"/>
            <a:chOff x="520446" y="342900"/>
            <a:chExt cx="5211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11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LLE ②：半圆五点的一维嵌入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100303" cy="308039"/>
            <a:chOff x="525399" y="1550194"/>
            <a:chExt cx="710030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100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与第 50 页同一批点、同一个 ε = 0.8 邻域，对比 LLE 和 ISOMAP 的结果。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5410200" cy="2361248"/>
            <a:chOff x="533400" y="1967865"/>
            <a:chExt cx="5410200" cy="236124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361248"/>
            </a:xfrm>
            <a:prstGeom prst="roundRect">
              <a:avLst>
                <a:gd name="adj" fmla="val 56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0945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953" y="221313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3528" y="2212658"/>
              <a:ext cx="1058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权重矩阵 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中间三点各有两个邻居，按对称性 w = (0.5, 0.5)；两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端点只有一个邻居，w = 1。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10"/>
                <p:cNvSpPr txBox="1">
                  <a:spLocks noGrp="1"/>
                </p:cNvSpPr>
                <p:nvPr/>
              </p:nvSpPr>
              <p:spPr>
                <a:xfrm>
                  <a:off x="781050" y="3169920"/>
                  <a:ext cx="4953000" cy="9315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rd-2"/>
          <p:cNvGrpSpPr/>
          <p:nvPr/>
        </p:nvGrpSpPr>
        <p:grpSpPr>
          <a:xfrm>
            <a:off x="533400" y="4519612"/>
            <a:ext cx="5410200" cy="1741170"/>
            <a:chOff x="533400" y="4519612"/>
            <a:chExt cx="5410200" cy="1741170"/>
          </a:xfrm>
        </p:grpSpPr>
        <p:sp>
          <p:nvSpPr>
            <p:cNvPr id="17" name="Rectangle 17"/>
            <p:cNvSpPr/>
            <p:nvPr/>
          </p:nvSpPr>
          <p:spPr>
            <a:xfrm>
              <a:off x="533400" y="4519612"/>
              <a:ext cx="5410200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652962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729162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5953" y="476488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53528" y="4764405"/>
              <a:ext cx="20426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(I − W)ᵀ(I − W)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11"/>
                <p:cNvSpPr txBox="1">
                  <a:spLocks noGrp="1"/>
                </p:cNvSpPr>
                <p:nvPr/>
              </p:nvSpPr>
              <p:spPr>
                <a:xfrm>
                  <a:off x="781050" y="5100638"/>
                  <a:ext cx="4953000" cy="9315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0.25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1.5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1.25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steps-1"/>
          <p:cNvGrpSpPr/>
          <p:nvPr/>
        </p:nvGrpSpPr>
        <p:grpSpPr>
          <a:xfrm>
            <a:off x="6248400" y="1977390"/>
            <a:ext cx="5156073" cy="2112931"/>
            <a:chOff x="6248400" y="1977390"/>
            <a:chExt cx="5156073" cy="2112931"/>
          </a:xfrm>
        </p:grpSpPr>
        <p:sp>
          <p:nvSpPr>
            <p:cNvPr id="24" name="Rectangle 24"/>
            <p:cNvSpPr/>
            <p:nvPr/>
          </p:nvSpPr>
          <p:spPr>
            <a:xfrm>
              <a:off x="638175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48400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6279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32785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9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023" y="2304574"/>
              <a:ext cx="4201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的特征值（升序）为 0、0.079、1.04、3.17、4.21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2662238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023" y="2955131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对应全 1 向量，把所有点放在一起，没有信息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9880" y="331279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2 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023" y="3606641"/>
              <a:ext cx="474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对应的特征向量按最大分量为 1 缩放：y = (−1, −0.78, 0, 0.78,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269105"/>
            <a:ext cx="5410200" cy="1991678"/>
            <a:chOff x="6248400" y="4269105"/>
            <a:chExt cx="5410200" cy="1991678"/>
          </a:xfrm>
        </p:grpSpPr>
        <p:sp>
          <p:nvSpPr>
            <p:cNvPr id="38" name="Rectangle 38"/>
            <p:cNvSpPr/>
            <p:nvPr/>
          </p:nvSpPr>
          <p:spPr>
            <a:xfrm>
              <a:off x="6248400" y="4269105"/>
              <a:ext cx="5410200" cy="1991678"/>
            </a:xfrm>
            <a:prstGeom prst="roundRect">
              <a:avLst>
                <a:gd name="adj" fmla="val 669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57950" y="44786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4208" y="45143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0900" y="451389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保住了顺序，没保住距离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0330" y="4874895"/>
              <a:ext cx="47682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顺序完全正确（与弧长坐标的相关系数 0.98），可两端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间隔只有 0.22，中间是 0.78。LLE 保持的是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局部重构关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系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，不保证距离；要保距离得用 ISOMAP（第 50 页间隔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全是 0.765）。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58090" cy="909257"/>
            <a:chOff x="520446" y="342900"/>
            <a:chExt cx="385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5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 的实验结果与优缺点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626418" cy="3155632"/>
            <a:chOff x="533400" y="1524000"/>
            <a:chExt cx="5626418" cy="3155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5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22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295959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瑞士卷、S 形曲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面、球面（A 版第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107–108 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9053" y="2221706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三维中卷起来的曲面被展开到平面上，表示位置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的颜色连续过渡；闭合的球面展开后发生重叠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698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874645"/>
              <a:ext cx="562641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884170"/>
              <a:ext cx="1668780" cy="8829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3123724"/>
              <a:ext cx="113339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邻域参数 K（第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 页）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9053" y="3010376"/>
              <a:ext cx="347548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5 时展开失败，点挤成几条线；K = 8～20 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果都较好；K = 30、40 时展开变形，K = 60 时近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邻跨过相邻的卷层，颜色全混在一起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7728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912394"/>
              <a:ext cx="11508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人脸与嘴唇图像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110–111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9053" y="41390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嵌入坐标对应表情和姿态的连续变化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524000"/>
              <a:ext cx="5626418" cy="31556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216468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1-callout-2"/>
          <p:cNvGrpSpPr/>
          <p:nvPr/>
        </p:nvGrpSpPr>
        <p:grpSpPr>
          <a:xfrm>
            <a:off x="533400" y="4870132"/>
            <a:ext cx="5626418" cy="782955"/>
            <a:chOff x="533400" y="4870132"/>
            <a:chExt cx="5626418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870132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161598"/>
              <a:ext cx="200026" cy="200025"/>
              <a:chOff x="738188" y="516159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1615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2060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3171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018722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太小，邻域连不成片；K 太大，邻域跨过流形的不同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层，局部线性的假设就不成立了。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384935"/>
            <a:chOff x="6464618" y="1524000"/>
            <a:chExt cx="5193982" cy="1384935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165735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13295" y="1768792"/>
              <a:ext cx="12885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112 页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21297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可以学习任意维的局部线性的低维流形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246507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归结为稀疏矩阵特征值计算，计算复杂度相对较小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3099435"/>
            <a:ext cx="5193982" cy="2553652"/>
            <a:chOff x="6464618" y="3099435"/>
            <a:chExt cx="5193982" cy="2553652"/>
          </a:xfrm>
        </p:grpSpPr>
        <p:sp>
          <p:nvSpPr>
            <p:cNvPr id="40" name="Rectangle 40"/>
            <p:cNvSpPr/>
            <p:nvPr/>
          </p:nvSpPr>
          <p:spPr>
            <a:xfrm>
              <a:off x="6464618" y="3099435"/>
              <a:ext cx="5193982" cy="2553652"/>
            </a:xfrm>
            <a:prstGeom prst="roundRect">
              <a:avLst>
                <a:gd name="adj" fmla="val 5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232785"/>
              <a:ext cx="47625" cy="22869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33089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3428" y="33447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3295" y="33442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三个限制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7983" y="37680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6098" y="37052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所学习的流形只能是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不闭合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的（球面、圆环不行）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7983" y="41033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098" y="404050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要求样本在流形上是稠密采样的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7983" y="44386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6098" y="4375785"/>
              <a:ext cx="3491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对样本中的噪声和邻域参数 K 比较敏感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拉普拉斯特征映射：高维里近的点，低维里也要近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005965"/>
            <a:chOff x="533400" y="1524000"/>
            <a:chExt cx="5193982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991" y="176926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代表性算法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953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LE（Laplacian Eigenmap）[Belkin, 2001]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650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基本思想：在高维空间中离得很近的点，投影到低维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空间中的像也应该离得很近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861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求解方法：求解图拉普拉斯算子的广义特征值问题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720465"/>
            <a:ext cx="5193982" cy="2146935"/>
            <a:chOff x="533400" y="3720465"/>
            <a:chExt cx="5193982" cy="2146935"/>
          </a:xfrm>
        </p:grpSpPr>
        <p:sp>
          <p:nvSpPr>
            <p:cNvPr id="17" name="Rectangle 17"/>
            <p:cNvSpPr/>
            <p:nvPr/>
          </p:nvSpPr>
          <p:spPr>
            <a:xfrm>
              <a:off x="533400" y="3720465"/>
              <a:ext cx="5193982" cy="2146935"/>
            </a:xfrm>
            <a:prstGeom prst="roundRect">
              <a:avLst>
                <a:gd name="adj" fmla="val 62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53815"/>
              <a:ext cx="47625" cy="18802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9300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4507" y="39657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拉普拉斯算子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50720" y="3965258"/>
              <a:ext cx="2903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流形上的版本（A 版第 116 页）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326255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M 是光滑的黎曼流形，f 是 M 上的光滑函数，∇f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f 的梯度，则线性映射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215"/>
                <p:cNvSpPr txBox="1">
                  <a:spLocks noGrp="1"/>
                </p:cNvSpPr>
                <p:nvPr/>
              </p:nvSpPr>
              <p:spPr>
                <a:xfrm>
                  <a:off x="781050" y="4922520"/>
                  <a:ext cx="473678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Δ: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div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773430" y="5423535"/>
              <a:ext cx="4079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 M 上的拉普拉斯算子，div 是散度算子。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032182" y="1524000"/>
            <a:ext cx="5626418" cy="4343400"/>
            <a:chOff x="6032182" y="1524000"/>
            <a:chExt cx="5626418" cy="4343400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4343400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41708" y="1657350"/>
              <a:ext cx="47625" cy="40767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7983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723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图上的版本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06628" y="1768792"/>
              <a:ext cx="3509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图上的拉普拉斯算子（A 版第 117 页）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2212" y="2129790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是一个图，v 是它的顶点，dᵥ 是 v 的度（A 版写作“自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由度”），w(u, v) 是连接顶点 u、v 的边的权值。令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216"/>
                <p:cNvSpPr txBox="1">
                  <a:spLocks noGrp="1"/>
                </p:cNvSpPr>
                <p:nvPr/>
              </p:nvSpPr>
              <p:spPr>
                <a:xfrm>
                  <a:off x="6279832" y="2726055"/>
                  <a:ext cx="5169218" cy="9505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adjacent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otherwise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17"/>
                <p:cNvSpPr txBox="1">
                  <a:spLocks noGrp="1"/>
                </p:cNvSpPr>
                <p:nvPr/>
              </p:nvSpPr>
              <p:spPr>
                <a:xfrm>
                  <a:off x="6279832" y="3770948"/>
                  <a:ext cx="516921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272212" y="4253865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是对角矩阵，对角元素为 Σᵤ w(u, v)（对与 v 相连的 u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求和），称 L 为图 G 上的（归一化）拉普拉斯算子。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35186" cy="909257"/>
            <a:chOff x="520446" y="342900"/>
            <a:chExt cx="43351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351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 算法流程与它在优化什么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01056" cy="3074099"/>
            <a:chOff x="533400" y="1533525"/>
            <a:chExt cx="5401056" cy="307409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040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83762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9114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建近邻图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704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图的顶点为样本点，离得很近的两点用边相连（K 近邻或 ε 邻域）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4965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个点和第 j 个点不相连时权值为 0，否则 Wᵢⱼ = 1（也常用热核 Wᵢⱼ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exp(−‖xᵢ − xⱼ‖²/t)）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02942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广义特征问题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309938"/>
              <a:ext cx="4988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D 为对角矩阵，Dᵢᵢ = Σⱼ Wⱼᵢ；L = D − W 是近邻图上的拉普拉斯矩阵。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 Lf = λDf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8714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取嵌入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151948"/>
              <a:ext cx="4866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λ = 0 对应的常向量，取第 2 到第 d + 1 小的广义特征值对应的特征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向量作为低维坐标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783455"/>
            <a:ext cx="5626418" cy="1564958"/>
            <a:chOff x="533400" y="4783455"/>
            <a:chExt cx="5626418" cy="1564958"/>
          </a:xfrm>
        </p:grpSpPr>
        <p:sp>
          <p:nvSpPr>
            <p:cNvPr id="25" name="Rectangle 25"/>
            <p:cNvSpPr/>
            <p:nvPr/>
          </p:nvSpPr>
          <p:spPr>
            <a:xfrm>
              <a:off x="533400" y="4783455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91680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498729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741" y="50230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约束的作用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03464" y="5026819"/>
              <a:ext cx="16380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 yᵀDy =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096" y="5379244"/>
              <a:ext cx="487464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没有约束时 y = 0 就能让目标为 0。全 1 向量满足 L1 = 0，也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是平凡解，要丢掉；D 加权使度大的点（处在稠密区域）更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“重”。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4824412"/>
            <a:chOff x="6464618" y="1524000"/>
            <a:chExt cx="5193982" cy="4824412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4824412"/>
            </a:xfrm>
            <a:prstGeom prst="roundRect">
              <a:avLst>
                <a:gd name="adj" fmla="val 27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45577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7961" y="17673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20"/>
                <p:cNvSpPr txBox="1">
                  <a:spLocks noGrp="1"/>
                </p:cNvSpPr>
                <p:nvPr/>
              </p:nvSpPr>
              <p:spPr>
                <a:xfrm>
                  <a:off x="6706552" y="2095500"/>
                  <a:ext cx="474821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s.t. 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699314" y="2777966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Wᵢⱼ 大（两点原本很近）时，yᵢ 与 yⱼ 离得远会被重罚，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这就是“近的点投影后也要近”。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99314" y="3369469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用拉格朗日乘子求导得 Ly = λDy，而目标值恰好等于 λ，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所以取小的特征值。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35186" cy="909257"/>
            <a:chOff x="520446" y="342900"/>
            <a:chExt cx="43351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351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LE：四个点连成一条链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193982" cy="1523048"/>
            <a:chOff x="533400" y="1524000"/>
            <a:chExt cx="5193982" cy="15230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23048"/>
            </a:xfrm>
            <a:prstGeom prst="roundRect">
              <a:avLst>
                <a:gd name="adj" fmla="val 87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6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4000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个点依次相连 1–2–3–4，边权都取 1，求一维嵌入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489710" y="2445068"/>
              <a:ext cx="874395" cy="9525"/>
            </a:xfrm>
            <a:custGeom>
              <a:avLst/>
              <a:gdLst/>
              <a:ahLst/>
              <a:cxnLst/>
              <a:rect l="l" t="t" r="r" b="b"/>
              <a:pathLst>
                <a:path w="874395" h="9525">
                  <a:moveTo>
                    <a:pt x="0" y="0"/>
                  </a:moveTo>
                  <a:lnTo>
                    <a:pt x="874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87955" y="2445068"/>
              <a:ext cx="922973" cy="9525"/>
            </a:xfrm>
            <a:custGeom>
              <a:avLst/>
              <a:gdLst/>
              <a:ahLst/>
              <a:cxnLst/>
              <a:rect l="l" t="t" r="r" b="b"/>
              <a:pathLst>
                <a:path w="922973" h="9525">
                  <a:moveTo>
                    <a:pt x="0" y="0"/>
                  </a:moveTo>
                  <a:lnTo>
                    <a:pt x="9229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34778" y="2445068"/>
              <a:ext cx="874395" cy="9525"/>
            </a:xfrm>
            <a:custGeom>
              <a:avLst/>
              <a:gdLst/>
              <a:ahLst/>
              <a:cxnLst/>
              <a:rect l="l" t="t" r="r" b="b"/>
              <a:pathLst>
                <a:path w="874395" h="9525">
                  <a:moveTo>
                    <a:pt x="0" y="0"/>
                  </a:moveTo>
                  <a:lnTo>
                    <a:pt x="874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75385" y="2292668"/>
              <a:ext cx="304800" cy="3048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373630" y="2292668"/>
              <a:ext cx="304800" cy="3048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620452" y="2292668"/>
              <a:ext cx="304800" cy="3048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818698" y="2292668"/>
              <a:ext cx="304800" cy="30480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84738" y="23845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82983" y="23845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9805" y="23845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28050" y="23845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227"/>
              <p:cNvSpPr txBox="1">
                <a:spLocks noGrp="1"/>
              </p:cNvSpPr>
              <p:nvPr/>
            </p:nvSpPr>
            <p:spPr>
              <a:xfrm>
                <a:off x="533400" y="3211830"/>
                <a:ext cx="5193982" cy="671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diag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6" name="c1-text-3"/>
          <p:cNvGrpSpPr/>
          <p:nvPr/>
        </p:nvGrpSpPr>
        <p:grpSpPr>
          <a:xfrm>
            <a:off x="528066" y="4065270"/>
            <a:ext cx="4492562" cy="205359"/>
            <a:chOff x="528066" y="4065270"/>
            <a:chExt cx="4492562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528066" y="4065270"/>
              <a:ext cx="44925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是链的邻接矩阵：相邻两点为 1，其余为 0；D 的对角元是各点的度。</a:t>
              </a:r>
            </a:p>
          </p:txBody>
        </p:sp>
      </p:grpSp>
      <p:grpSp>
        <p:nvGrpSpPr>
          <p:cNvPr id="34" name="c1-card-4"/>
          <p:cNvGrpSpPr/>
          <p:nvPr/>
        </p:nvGrpSpPr>
        <p:grpSpPr>
          <a:xfrm>
            <a:off x="533400" y="4393882"/>
            <a:ext cx="5193982" cy="1930718"/>
            <a:chOff x="533400" y="4393882"/>
            <a:chExt cx="5193982" cy="1930718"/>
          </a:xfrm>
        </p:grpSpPr>
        <p:sp>
          <p:nvSpPr>
            <p:cNvPr id="27" name="Rectangle 27"/>
            <p:cNvSpPr/>
            <p:nvPr/>
          </p:nvSpPr>
          <p:spPr>
            <a:xfrm>
              <a:off x="533400" y="4393882"/>
              <a:ext cx="5193982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27232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5748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147" y="46077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18450" y="4615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代回原式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931569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Lf = (0.5, 0.5, −0.5, −0.5)ᵀ，λDf = 0.5 × (1, 1, −1,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−1)ᵀ，两者相等。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5459254"/>
              <a:ext cx="45483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fᵀD1 = 1 + 1 − 1 − 1 = 0，f 与丢掉的常向量关于 D 正交；fᵀLf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1.5 = λ · fᵀDf = 0.5 × 3，目标值确实等于 λ（按 fᵀDf = 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归一化后）。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6032182" y="1533525"/>
            <a:ext cx="4909155" cy="1596962"/>
            <a:chOff x="6032182" y="1533525"/>
            <a:chExt cx="4909155" cy="1596962"/>
          </a:xfrm>
        </p:grpSpPr>
        <p:sp>
          <p:nvSpPr>
            <p:cNvPr id="35" name="Rectangle 35"/>
            <p:cNvSpPr/>
            <p:nvPr/>
          </p:nvSpPr>
          <p:spPr>
            <a:xfrm>
              <a:off x="6165532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32182" y="20869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80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2182" y="263937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4806" y="15644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广义特征值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5948" y="1818322"/>
              <a:ext cx="4495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det(L − λD) = λ(λ − 2)(2λ − 1)(2λ − 3) = 0，得 λ = 0、1/2、3/2、2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4806" y="211693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45948" y="2371725"/>
              <a:ext cx="2145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(1, 1, 1, 1)ᵀ，常向量，丢掉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806" y="267033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1/2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5948" y="2925128"/>
              <a:ext cx="2752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(1, 0.5, −0.5, −1)ᵀ，这就是一维嵌入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032182" y="3291840"/>
            <a:ext cx="5626418" cy="702945"/>
            <a:chOff x="6032182" y="3291840"/>
            <a:chExt cx="5626418" cy="702945"/>
          </a:xfrm>
        </p:grpSpPr>
        <p:sp>
          <p:nvSpPr>
            <p:cNvPr id="49" name="Rectangle 49"/>
            <p:cNvSpPr/>
            <p:nvPr/>
          </p:nvSpPr>
          <p:spPr>
            <a:xfrm>
              <a:off x="6032182" y="3291840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36970" y="3543302"/>
              <a:ext cx="200023" cy="200023"/>
              <a:chOff x="6236970" y="3543302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236970" y="35433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70320" y="3609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40056" y="3436144"/>
              <a:ext cx="46134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链的顺序被保住了；间隔是 0.5、1、0.5，端点的度小，在 D 加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权下被放在离邻居更近的位置。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6032182" y="4158615"/>
            <a:ext cx="5626418" cy="2165985"/>
            <a:chOff x="6032182" y="4158615"/>
            <a:chExt cx="5626418" cy="2165985"/>
          </a:xfrm>
        </p:grpSpPr>
        <p:sp>
          <p:nvSpPr>
            <p:cNvPr id="55" name="Rectangle 55"/>
            <p:cNvSpPr/>
            <p:nvPr/>
          </p:nvSpPr>
          <p:spPr>
            <a:xfrm>
              <a:off x="6032182" y="4158615"/>
              <a:ext cx="5626418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1708" y="4291965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1258" y="43395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2977" y="43724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17233" y="4380071"/>
              <a:ext cx="18790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 D，直接解 Lf = λf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44780" y="4696301"/>
              <a:ext cx="4914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特征值为 0、2 − √2、2、2 + √2，第二小的特征向量 f = (1, 0.41,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−0.41, −1)，间隔 0.59、0.83、0.59。顺序一样，端点离邻居稍远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648624" cy="909257"/>
            <a:chOff x="520446" y="342900"/>
            <a:chExt cx="36486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6486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 的实验结果与优缺点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able-1"/>
          <p:cNvGrpSpPr/>
          <p:nvPr/>
        </p:nvGrpSpPr>
        <p:grpSpPr>
          <a:xfrm>
            <a:off x="533400" y="1524000"/>
            <a:ext cx="5626418" cy="2026920"/>
            <a:chOff x="533400" y="1524000"/>
            <a:chExt cx="5626418" cy="2026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5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22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35488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横条与竖条图像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 版第 119 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9053" y="2108359"/>
              <a:ext cx="34917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 的二维表示里横条图和竖条图各占一片、基本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分开；用前两个主方向做 PCA，两类混在一起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62641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138049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Brown 语料库最常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 300 个词（第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120–121 页）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9053" y="2783681"/>
              <a:ext cx="34267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词在谱空间里按语法功能聚成簇：一簇全是动词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不定式，一簇是介词，一簇多是情态动词和助动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词，句法结构被很好地保持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626418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16468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5" name="c1-callout-2"/>
          <p:cNvGrpSpPr/>
          <p:nvPr/>
        </p:nvGrpSpPr>
        <p:grpSpPr>
          <a:xfrm>
            <a:off x="533400" y="3741420"/>
            <a:ext cx="5626418" cy="1649730"/>
            <a:chOff x="533400" y="3741420"/>
            <a:chExt cx="5626418" cy="1649730"/>
          </a:xfrm>
        </p:grpSpPr>
        <p:sp>
          <p:nvSpPr>
            <p:cNvPr id="19" name="Rectangle 19"/>
            <p:cNvSpPr/>
            <p:nvPr/>
          </p:nvSpPr>
          <p:spPr>
            <a:xfrm>
              <a:off x="533400" y="3741420"/>
              <a:ext cx="5626418" cy="1649730"/>
            </a:xfrm>
            <a:prstGeom prst="roundRect">
              <a:avLst>
                <a:gd name="adj" fmla="val 692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466273"/>
              <a:ext cx="200026" cy="200026"/>
              <a:chOff x="738188" y="446627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4662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4532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45662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32339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第二个实验的输入不是图像而是词的上下文统计，说明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 只要能建近邻图就能用。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2291715"/>
            <a:chOff x="6464618" y="1524000"/>
            <a:chExt cx="5193982" cy="229171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3295" y="1768792"/>
              <a:ext cx="12885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122 页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6098" y="212979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局部非线性方法，与谱图理论有很紧密的联系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7983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6098" y="24650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通过求解稀疏矩阵的特征值问题，解析地求出整体最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优解，效率非常高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30861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使原空间中离得很近的点在低维空间也离得很近，可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以用于聚类（谱聚类就是这个思路）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4006215"/>
            <a:ext cx="5193982" cy="1384935"/>
            <a:chOff x="6464618" y="4006215"/>
            <a:chExt cx="5193982" cy="1384935"/>
          </a:xfrm>
        </p:grpSpPr>
        <p:sp>
          <p:nvSpPr>
            <p:cNvPr id="38" name="Rectangle 38"/>
            <p:cNvSpPr/>
            <p:nvPr/>
          </p:nvSpPr>
          <p:spPr>
            <a:xfrm>
              <a:off x="6464618" y="4006215"/>
              <a:ext cx="5193982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4139565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12268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342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3295" y="4251008"/>
              <a:ext cx="1125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LLE 类似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7983" y="46748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6098" y="46120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同样对算法参数和数据采样密度较敏感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7983" y="50101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6098" y="4947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不能有效保持流形的全局几何结构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10481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谱聚类的第一步就是 LE：先用近邻图拉普拉斯矩阵最小的几个特征向量把样本嵌入低维空间，再在那里做 k-means。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7665" cy="909257"/>
            <a:chOff x="520446" y="342900"/>
            <a:chExt cx="52476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76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ISOMAP、LLE、LE 三种方法对比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3368040"/>
            <a:chOff x="533400" y="1524000"/>
            <a:chExt cx="11125200" cy="3368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808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34714" y="1659731"/>
              <a:ext cx="672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ISOMAP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21442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89642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保持的性质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1446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全局测地距离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36120" y="21083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局部线性重构权重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51748" y="21083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局部邻域相似度（近的点仍近）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核心矩阵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1446" y="2556986"/>
              <a:ext cx="2761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稠密的 N×N 双中心化距离矩阵 τ(D)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36120" y="2556986"/>
              <a:ext cx="22322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稀疏的 M = (I − W)ᵀ(I − W)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51748" y="2556986"/>
              <a:ext cx="1546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稀疏的图拉普拉斯 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取哪些特征向量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21446" y="3005614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d 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6120" y="3005614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最小的第 2～d + 1 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1748" y="3005614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广义特征值最小的第 2～d + 1 个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5675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21446" y="3454241"/>
              <a:ext cx="24757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非常高（全对最短路 + 稠密特征分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36120" y="356758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1748" y="356758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1305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本章例题的结果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21446" y="4130516"/>
              <a:ext cx="2778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半圆等间隔展开（间隔全为 0.765）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36120" y="41305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顺序对，两端被压缩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1748" y="41305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链顺序对，端点靠近邻居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主要弱点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21446" y="457914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流形有洞、曲率大或多簇时变形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36120" y="4579144"/>
              <a:ext cx="2807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只能学不闭合流形；对噪声和 K 敏感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51748" y="457914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不能保持全局几何结构；对参数敏感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30886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3535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3916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200828" cy="533400"/>
            <a:chOff x="533400" y="5829300"/>
            <a:chExt cx="11200828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1069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经验：要保距离、数据量不大，用 ISOMAP；数据量大、只关心局部邻接关系，用 LLE 或 LE。三者都要先选好 K 或 ε。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6105" cy="909257"/>
            <a:chOff x="520446" y="342900"/>
            <a:chExt cx="74461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61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流形学习小结与研究难点（A 版第 123–124 页）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2989898"/>
            <a:chOff x="533400" y="1524000"/>
            <a:chExt cx="5410200" cy="29898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98989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231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非参数：不需要对流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形的很多参数作假设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41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81764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非线性：基于流形内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在几何结构，体现现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实数据的本质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6042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544729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求解简单：化为优化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问题，通常用特征值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分解，不需要迭代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1524000"/>
              <a:ext cx="2495550" cy="298989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57575" y="1657350"/>
              <a:ext cx="47625" cy="27231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82746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97605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4196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要求观察数据存在流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形结构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97605" y="2741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4196" y="2681764"/>
              <a:ext cx="17547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需要调节较多参数，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k-NN 的邻域参数 k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97605" y="333279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196" y="327326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对采样的稠密性、均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匀性以及噪声敏感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76575" y="28565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46915" y="29537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698682"/>
            <a:ext cx="5410200" cy="1564958"/>
            <a:chOff x="533400" y="4698682"/>
            <a:chExt cx="5410200" cy="1564958"/>
          </a:xfrm>
        </p:grpSpPr>
        <p:sp>
          <p:nvSpPr>
            <p:cNvPr id="28" name="Rectangle 28"/>
            <p:cNvSpPr/>
            <p:nvPr/>
          </p:nvSpPr>
          <p:spPr>
            <a:xfrm>
              <a:off x="533400" y="4698682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3203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9025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543" y="49382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76744" y="494299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常见的用法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294471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维数很高时，先用 PCA 把数据降到几十维，去掉一部分噪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声、减少近邻搜索的开销，再做流形学习。邻域参数 K 从小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往大试，看嵌入是否稳定。</a:t>
              </a:r>
            </a:p>
          </p:txBody>
        </p:sp>
      </p:grpSp>
      <p:grpSp>
        <p:nvGrpSpPr>
          <p:cNvPr id="56" name="c2-bullets-1"/>
          <p:cNvGrpSpPr/>
          <p:nvPr/>
        </p:nvGrpSpPr>
        <p:grpSpPr>
          <a:xfrm>
            <a:off x="6241161" y="1547336"/>
            <a:ext cx="4540567" cy="2581847"/>
            <a:chOff x="6241161" y="1547336"/>
            <a:chExt cx="4540567" cy="2581847"/>
          </a:xfrm>
        </p:grpSpPr>
        <p:sp>
          <p:nvSpPr>
            <p:cNvPr id="35" name="TextBox 35"/>
            <p:cNvSpPr txBox="1"/>
            <p:nvPr/>
          </p:nvSpPr>
          <p:spPr>
            <a:xfrm>
              <a:off x="6241161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研究难点与未来方向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187356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6745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39294" y="188642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如何进行统一有效的定量化评估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46532" y="223361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0936" y="2165032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真实数据 vs. 人工数据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46532" y="247745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0936" y="24098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理论分析依据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46532" y="2722245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0936" y="265366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评估指标：一致性、收敛率、稳定性、复杂度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293560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6745" y="29759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39294" y="2948464"/>
              <a:ext cx="3589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如何求解测试数据的 out-of-sample 问题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46532" y="3295650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30936" y="322707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新样本来了不想重算整个特征分解：线性近似、回归方法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48400" y="350901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6745" y="3549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39294" y="352186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如何确定低维目标空间的维数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48400" y="383857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06745" y="38789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39294" y="385048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如何进行监督式推广，应用于分类问题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248400" y="4258628"/>
            <a:ext cx="5410200" cy="2005012"/>
            <a:chOff x="6248400" y="4258628"/>
            <a:chExt cx="5410200" cy="2005012"/>
          </a:xfrm>
        </p:grpSpPr>
        <p:sp>
          <p:nvSpPr>
            <p:cNvPr id="57" name="Rectangle 57"/>
            <p:cNvSpPr/>
            <p:nvPr/>
          </p:nvSpPr>
          <p:spPr>
            <a:xfrm>
              <a:off x="6248400" y="4258628"/>
              <a:ext cx="5410200" cy="2005012"/>
            </a:xfrm>
            <a:prstGeom prst="roundRect">
              <a:avLst>
                <a:gd name="adj" fmla="val 66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4391978"/>
              <a:ext cx="47625" cy="17383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90335" y="4462462"/>
              <a:ext cx="126968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7926" y="4498181"/>
              <a:ext cx="1135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out-of-sample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7079" y="450294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为什么新样本是个难题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83096" y="4854416"/>
              <a:ext cx="47033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ISOMAP、LLE、LE 只给出训练样本的低维坐标，没有显式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的映射函数 f。新样本来了，要么把它加进去整个重算，要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么用线性近似或回归去拟合 f。PCA、KPCA 没有这个问题，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它们有现成的投影公式。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表征学习与自编码器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70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让神经网络自己学出压缩表示（B 版）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表征学习的三种类型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自编码器的结构与损失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去噪自编码器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卷积自编码器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表征学习与自编码器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表征学习：让模型自己从原始数据里学特征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422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表征学习 Representation Learning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也称特征学习，是机器学习中的一种技术，目标是从原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始数据中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自动发现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特定任务所需的表征或特征。</a:t>
              </a:r>
            </a:p>
          </p:txBody>
        </p:sp>
      </p:grpSp>
      <p:grpSp>
        <p:nvGrpSpPr>
          <p:cNvPr id="30" name="c1-flow-2"/>
          <p:cNvGrpSpPr/>
          <p:nvPr/>
        </p:nvGrpSpPr>
        <p:grpSpPr>
          <a:xfrm>
            <a:off x="666750" y="3330892"/>
            <a:ext cx="5143500" cy="1534478"/>
            <a:chOff x="666750" y="3330892"/>
            <a:chExt cx="5143500" cy="1534478"/>
          </a:xfrm>
        </p:grpSpPr>
        <p:sp>
          <p:nvSpPr>
            <p:cNvPr id="14" name="Freeform 14"/>
            <p:cNvSpPr/>
            <p:nvPr/>
          </p:nvSpPr>
          <p:spPr>
            <a:xfrm>
              <a:off x="2203132" y="354996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365058" y="3497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007168" y="354996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69092" y="3497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203132" y="4550092"/>
              <a:ext cx="280988" cy="9525"/>
            </a:xfrm>
            <a:custGeom>
              <a:avLst/>
              <a:gdLst/>
              <a:ahLst/>
              <a:cxnLst/>
              <a:rect l="l" t="t" r="r" b="b"/>
              <a:pathLst>
                <a:path w="280988" h="9525">
                  <a:moveTo>
                    <a:pt x="0" y="0"/>
                  </a:moveTo>
                  <a:lnTo>
                    <a:pt x="2809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84120" y="44977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66750" y="3330892"/>
              <a:ext cx="1536382" cy="438150"/>
            </a:xfrm>
            <a:custGeom>
              <a:avLst/>
              <a:gdLst/>
              <a:ahLst/>
              <a:cxnLst/>
              <a:rect l="l" t="t" r="r" b="b"/>
              <a:pathLst>
                <a:path w="1536382" h="438150">
                  <a:moveTo>
                    <a:pt x="133350" y="0"/>
                  </a:moveTo>
                  <a:lnTo>
                    <a:pt x="1536382" y="0"/>
                  </a:lnTo>
                  <a:lnTo>
                    <a:pt x="140303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469832" y="333089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73868" y="333089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66750" y="4331018"/>
              <a:ext cx="1536382" cy="438150"/>
            </a:xfrm>
            <a:custGeom>
              <a:avLst/>
              <a:gdLst/>
              <a:ahLst/>
              <a:cxnLst/>
              <a:rect l="l" t="t" r="r" b="b"/>
              <a:pathLst>
                <a:path w="1536382" h="438150">
                  <a:moveTo>
                    <a:pt x="133350" y="0"/>
                  </a:moveTo>
                  <a:lnTo>
                    <a:pt x="1536382" y="0"/>
                  </a:lnTo>
                  <a:lnTo>
                    <a:pt x="140303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88895" y="4235768"/>
              <a:ext cx="310229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56627" y="34609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15082" y="34609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人工特征提取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6635" y="34609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56627" y="44610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2888" y="4351496"/>
              <a:ext cx="117525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特征提取 + 分类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（一个网络）</a:t>
              </a:r>
            </a:p>
          </p:txBody>
        </p:sp>
      </p:grpSp>
      <p:grpSp>
        <p:nvGrpSpPr>
          <p:cNvPr id="32" name="c1-text-3"/>
          <p:cNvGrpSpPr/>
          <p:nvPr/>
        </p:nvGrpSpPr>
        <p:grpSpPr>
          <a:xfrm>
            <a:off x="526923" y="5262086"/>
            <a:ext cx="5141722" cy="500824"/>
            <a:chOff x="526923" y="5262086"/>
            <a:chExt cx="5141722" cy="500824"/>
          </a:xfrm>
        </p:grpSpPr>
        <p:sp>
          <p:nvSpPr>
            <p:cNvPr id="31" name="TextBox 31"/>
            <p:cNvSpPr txBox="1"/>
            <p:nvPr/>
          </p:nvSpPr>
          <p:spPr>
            <a:xfrm>
              <a:off x="526923" y="5262086"/>
              <a:ext cx="514172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上行是传统机器学习，下行是深度学习（B 版第 28 页）：特征不再由人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设计，而是和分类器一起学出来。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2022158"/>
            <a:chOff x="6248400" y="1524000"/>
            <a:chExt cx="5410200" cy="2022158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897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6404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监督信息从哪来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622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监督表征学习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95501" y="21083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使用人工标记的数据来学习表征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42125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6223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无监督表征学习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95501" y="2556986"/>
              <a:ext cx="30934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使用未标记的数据来学习表征，如 PCA、自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3107055"/>
              <a:ext cx="18202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自监督表征学习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95501" y="323230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从数据自身构造监督信息来学习表征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82915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tree-2"/>
          <p:cNvGrpSpPr/>
          <p:nvPr/>
        </p:nvGrpSpPr>
        <p:grpSpPr>
          <a:xfrm>
            <a:off x="6248400" y="3838575"/>
            <a:ext cx="5410200" cy="2422207"/>
            <a:chOff x="6248400" y="3838575"/>
            <a:chExt cx="5410200" cy="2422207"/>
          </a:xfrm>
        </p:grpSpPr>
        <p:sp>
          <p:nvSpPr>
            <p:cNvPr id="49" name="Freeform 49"/>
            <p:cNvSpPr/>
            <p:nvPr/>
          </p:nvSpPr>
          <p:spPr>
            <a:xfrm>
              <a:off x="8727758" y="399954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727758" y="45243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727758" y="5049202"/>
              <a:ext cx="419100" cy="525780"/>
            </a:xfrm>
            <a:custGeom>
              <a:avLst/>
              <a:gdLst/>
              <a:ahLst/>
              <a:cxnLst/>
              <a:rect l="l" t="t" r="r" b="b"/>
              <a:pathLst>
                <a:path w="419100" h="525780">
                  <a:moveTo>
                    <a:pt x="0" y="525780"/>
                  </a:moveTo>
                  <a:lnTo>
                    <a:pt x="209550" y="5257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727758" y="557498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727758" y="5574982"/>
              <a:ext cx="419100" cy="524828"/>
            </a:xfrm>
            <a:custGeom>
              <a:avLst/>
              <a:gdLst/>
              <a:ahLst/>
              <a:cxnLst/>
              <a:rect l="l" t="t" r="r" b="b"/>
              <a:pathLst>
                <a:path w="419100" h="524828">
                  <a:moveTo>
                    <a:pt x="0" y="0"/>
                  </a:moveTo>
                  <a:lnTo>
                    <a:pt x="209550" y="0"/>
                  </a:lnTo>
                  <a:lnTo>
                    <a:pt x="209550" y="524828"/>
                  </a:lnTo>
                  <a:lnTo>
                    <a:pt x="419100" y="5248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092315" y="3999548"/>
              <a:ext cx="419100" cy="787718"/>
            </a:xfrm>
            <a:custGeom>
              <a:avLst/>
              <a:gdLst/>
              <a:ahLst/>
              <a:cxnLst/>
              <a:rect l="l" t="t" r="r" b="b"/>
              <a:pathLst>
                <a:path w="419100" h="787718">
                  <a:moveTo>
                    <a:pt x="0" y="787718"/>
                  </a:moveTo>
                  <a:lnTo>
                    <a:pt x="209550" y="78771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092315" y="4524375"/>
              <a:ext cx="419100" cy="262890"/>
            </a:xfrm>
            <a:custGeom>
              <a:avLst/>
              <a:gdLst/>
              <a:ahLst/>
              <a:cxnLst/>
              <a:rect l="l" t="t" r="r" b="b"/>
              <a:pathLst>
                <a:path w="419100" h="262890">
                  <a:moveTo>
                    <a:pt x="0" y="262890"/>
                  </a:moveTo>
                  <a:lnTo>
                    <a:pt x="209550" y="2628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092315" y="4787265"/>
              <a:ext cx="419100" cy="787717"/>
            </a:xfrm>
            <a:custGeom>
              <a:avLst/>
              <a:gdLst/>
              <a:ahLst/>
              <a:cxnLst/>
              <a:rect l="l" t="t" r="r" b="b"/>
              <a:pathLst>
                <a:path w="419100" h="787717">
                  <a:moveTo>
                    <a:pt x="0" y="0"/>
                  </a:moveTo>
                  <a:lnTo>
                    <a:pt x="209550" y="0"/>
                  </a:lnTo>
                  <a:lnTo>
                    <a:pt x="209550" y="787717"/>
                  </a:lnTo>
                  <a:lnTo>
                    <a:pt x="419100" y="78771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46858" y="3838575"/>
              <a:ext cx="25117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511415" y="3838575"/>
              <a:ext cx="1217295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146858" y="4364355"/>
              <a:ext cx="25117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11415" y="4364355"/>
              <a:ext cx="1217295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146858" y="4889182"/>
              <a:ext cx="25117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146858" y="5414010"/>
              <a:ext cx="25117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146858" y="5939790"/>
              <a:ext cx="25117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511415" y="5414010"/>
              <a:ext cx="1217295" cy="320992"/>
            </a:xfrm>
            <a:prstGeom prst="roundRect">
              <a:avLst>
                <a:gd name="adj" fmla="val 29674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4626292"/>
              <a:ext cx="843915" cy="320992"/>
            </a:xfrm>
            <a:prstGeom prst="roundRect">
              <a:avLst>
                <a:gd name="adj" fmla="val 2967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37154" y="3931444"/>
              <a:ext cx="1456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 AE、VAE、GAN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01712" y="39314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基于生成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37154" y="4456271"/>
              <a:ext cx="16502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Mask、多视图间、固有关系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01712" y="44562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基于自预测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237154" y="4981099"/>
              <a:ext cx="210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PIRL、SimCLR、MoCo（直接对比）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37154" y="5506879"/>
              <a:ext cx="2207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DeepCluster、SeLA、SwAV（聚类）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37154" y="6031706"/>
              <a:ext cx="1770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BYOL、SimSiam（知识蒸馏）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1712" y="550687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基于对比学习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38697" y="47191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自监督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表征学习与自编码器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自编码器：先压缩再还原，瓶颈层就是降维结果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082447" cy="308039"/>
            <a:chOff x="525399" y="1550194"/>
            <a:chExt cx="1108244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0824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AutoEncoder（Hinton &amp; Salakhutdinov, Science 2006）。输出层与输入层同维，训练目标是让输出尽量还原输入。</a:t>
              </a:r>
            </a:p>
          </p:txBody>
        </p:sp>
      </p:grpSp>
      <p:grpSp>
        <p:nvGrpSpPr>
          <p:cNvPr id="31" name="c1-flow-1"/>
          <p:cNvGrpSpPr/>
          <p:nvPr/>
        </p:nvGrpSpPr>
        <p:grpSpPr>
          <a:xfrm>
            <a:off x="666750" y="2353628"/>
            <a:ext cx="5684520" cy="1184529"/>
            <a:chOff x="666750" y="2353628"/>
            <a:chExt cx="5684520" cy="1184529"/>
          </a:xfrm>
        </p:grpSpPr>
        <p:sp>
          <p:nvSpPr>
            <p:cNvPr id="9" name="Freeform 9"/>
            <p:cNvSpPr/>
            <p:nvPr/>
          </p:nvSpPr>
          <p:spPr>
            <a:xfrm>
              <a:off x="1590675" y="27774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52600" y="2725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80348" y="27774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42272" y="2725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70972" y="27774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32898" y="2725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160645" y="27774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322570" y="2725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28712" y="2996565"/>
              <a:ext cx="4760595" cy="525780"/>
            </a:xfrm>
            <a:custGeom>
              <a:avLst/>
              <a:gdLst/>
              <a:ahLst/>
              <a:cxnLst/>
              <a:rect l="l" t="t" r="r" b="b"/>
              <a:pathLst>
                <a:path w="4760595" h="525780">
                  <a:moveTo>
                    <a:pt x="4760595" y="0"/>
                  </a:moveTo>
                  <a:lnTo>
                    <a:pt x="4760595" y="209550"/>
                  </a:lnTo>
                  <a:lnTo>
                    <a:pt x="4760595" y="525780"/>
                  </a:lnTo>
                  <a:lnTo>
                    <a:pt x="0" y="52578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076325" y="29965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66750" y="2558415"/>
              <a:ext cx="923925" cy="438150"/>
            </a:xfrm>
            <a:custGeom>
              <a:avLst/>
              <a:gdLst/>
              <a:ahLst/>
              <a:cxnLst/>
              <a:rect l="l" t="t" r="r" b="b"/>
              <a:pathLst>
                <a:path w="923925" h="438150">
                  <a:moveTo>
                    <a:pt x="133350" y="0"/>
                  </a:moveTo>
                  <a:lnTo>
                    <a:pt x="923925" y="0"/>
                  </a:lnTo>
                  <a:lnTo>
                    <a:pt x="79057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857375" y="2462212"/>
              <a:ext cx="92392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47048" y="2353628"/>
              <a:ext cx="923925" cy="847725"/>
            </a:xfrm>
            <a:prstGeom prst="roundRect">
              <a:avLst>
                <a:gd name="adj" fmla="val 1123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37672" y="2462212"/>
              <a:ext cx="92392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427345" y="2558415"/>
              <a:ext cx="923925" cy="438150"/>
            </a:xfrm>
            <a:custGeom>
              <a:avLst/>
              <a:gdLst/>
              <a:ahLst/>
              <a:cxnLst/>
              <a:rect l="l" t="t" r="r" b="b"/>
              <a:pathLst>
                <a:path w="923925" h="438150">
                  <a:moveTo>
                    <a:pt x="133350" y="0"/>
                  </a:moveTo>
                  <a:lnTo>
                    <a:pt x="923925" y="0"/>
                  </a:lnTo>
                  <a:lnTo>
                    <a:pt x="79057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6689" y="268843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68068" y="2578894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58693" y="2469356"/>
              <a:ext cx="50063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瓶颈 z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低维表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9318" y="2578894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解码器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89897" y="268843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 x′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97530" y="3306128"/>
              <a:ext cx="82200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43231" y="3332798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要求 x ≈ x′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777615"/>
            <a:ext cx="5951220" cy="2579370"/>
            <a:chOff x="533400" y="3777615"/>
            <a:chExt cx="5951220" cy="2579370"/>
          </a:xfrm>
        </p:grpSpPr>
        <p:sp>
          <p:nvSpPr>
            <p:cNvPr id="32" name="Rectangle 32"/>
            <p:cNvSpPr/>
            <p:nvPr/>
          </p:nvSpPr>
          <p:spPr>
            <a:xfrm>
              <a:off x="533400" y="3777615"/>
              <a:ext cx="5951220" cy="2579370"/>
            </a:xfrm>
            <a:prstGeom prst="roundRect">
              <a:avLst>
                <a:gd name="adj" fmla="val 51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910965"/>
              <a:ext cx="47625" cy="23126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39871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3359" y="40228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重构损失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65922" y="4022408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 个训练样本上最小化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29"/>
                <p:cNvSpPr txBox="1">
                  <a:spLocks noGrp="1"/>
                </p:cNvSpPr>
                <p:nvPr/>
              </p:nvSpPr>
              <p:spPr>
                <a:xfrm>
                  <a:off x="781050" y="4358640"/>
                  <a:ext cx="5494020" cy="700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AE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g</m:t>
                                            </m:r>
                                          </m:e>
                                          <m:sub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ϕ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e>
                                                <m:r>
                                                  <m:rPr>
                                                    <m:sty m:val="bi"/>
                                                  </m:rPr>
                                                  <a:rPr lang="zh-CN" sz="158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zh-CN" sz="158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773430" y="5178742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不需要任何标签，监督信号就是输入本身，所以它是自监督学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习的一种。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789420" y="1967865"/>
            <a:ext cx="4869180" cy="2291715"/>
            <a:chOff x="6789420" y="1967865"/>
            <a:chExt cx="4869180" cy="2291715"/>
          </a:xfrm>
        </p:grpSpPr>
        <p:sp>
          <p:nvSpPr>
            <p:cNvPr id="40" name="Rectangle 40"/>
            <p:cNvSpPr/>
            <p:nvPr/>
          </p:nvSpPr>
          <p:spPr>
            <a:xfrm>
              <a:off x="6789420" y="1967865"/>
              <a:ext cx="486918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98945" y="210121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3707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2727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38098" y="2212658"/>
              <a:ext cx="1521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32–34 页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42785" y="26365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0900" y="257365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编码器把输入压成节点最少的一层（瓶颈，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Bottleneck），得到输入的压缩低维表示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42785" y="32575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00900" y="31946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解码器再把它还原成与输入同维的输出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42785" y="35928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0900" y="3529965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34 页的例子：输入 6 个节点 x₁～x₆（加偏置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+1），隐层 3 个节点，输出 6 个节点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789420" y="4450080"/>
            <a:ext cx="4869180" cy="1906905"/>
            <a:chOff x="6789420" y="4450080"/>
            <a:chExt cx="4869180" cy="1906905"/>
          </a:xfrm>
        </p:grpSpPr>
        <p:sp>
          <p:nvSpPr>
            <p:cNvPr id="52" name="Rectangle 52"/>
            <p:cNvSpPr/>
            <p:nvPr/>
          </p:nvSpPr>
          <p:spPr>
            <a:xfrm>
              <a:off x="6789420" y="4450080"/>
              <a:ext cx="486918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98945" y="458343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37070" y="4659630"/>
              <a:ext cx="111442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98835" y="4695349"/>
              <a:ext cx="990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 PCA 的关系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58175" y="4694872"/>
              <a:ext cx="2067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线性自编码器就是 PCA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29450" y="505587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只有一个线性隐层、用平方误差训练的自编码器，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学到的子空间与 PCA 前 k 个主成分张成的子空间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相同；加上非线性激活和多层结构，就成了非线性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表征学习与自编码器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自编码器实例与去噪自编码器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156460"/>
            <a:chOff x="533400" y="1524000"/>
            <a:chExt cx="4977765" cy="2156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223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MNIST 手写数字（B 版第 35–36 页）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2164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28×28 的灰度手写数字，每张展开成 784 维向量（数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据集见 yann.lecun.com/exdb/mnist）。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435165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训练自编码器后比较重构图：第 10 个 epoch 时重构图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模糊、笔画粘连；第 90 个 epoch 时已能清楚还原各个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数字。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865245"/>
            <a:ext cx="4977765" cy="2398395"/>
            <a:chOff x="533400" y="3865245"/>
            <a:chExt cx="4977765" cy="2398395"/>
          </a:xfrm>
        </p:grpSpPr>
        <p:sp>
          <p:nvSpPr>
            <p:cNvPr id="15" name="Rectangle 15"/>
            <p:cNvSpPr/>
            <p:nvPr/>
          </p:nvSpPr>
          <p:spPr>
            <a:xfrm>
              <a:off x="533400" y="3865245"/>
              <a:ext cx="4977765" cy="2398395"/>
            </a:xfrm>
            <a:prstGeom prst="roundRect">
              <a:avLst>
                <a:gd name="adj" fmla="val 5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98595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069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4104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6744" y="410956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自编码器存在过拟合的风险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461034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隐层足够大时，网络可以只学会“原样复制”输入，重构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误差很小，却没学到有用的特征。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815965" y="1524000"/>
            <a:ext cx="5842635" cy="3446145"/>
            <a:chOff x="5815965" y="1524000"/>
            <a:chExt cx="5842635" cy="3446145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3446145"/>
            </a:xfrm>
            <a:prstGeom prst="roundRect">
              <a:avLst>
                <a:gd name="adj" fmla="val 3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25490" y="1657350"/>
              <a:ext cx="47625" cy="31794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5790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3925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解决办法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50661" y="2100739"/>
              <a:ext cx="4885011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去噪自编码器 Denoising AutoEncoder（Vincent 等，ICML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2008）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50661" y="2683669"/>
              <a:ext cx="50369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在输入中加入随机噪声（或随机把一部分输入置 0），让网络从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被破坏的输入还原出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干净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的输入：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32"/>
                <p:cNvSpPr txBox="1">
                  <a:spLocks noGrp="1"/>
                </p:cNvSpPr>
                <p:nvPr/>
              </p:nvSpPr>
              <p:spPr>
                <a:xfrm>
                  <a:off x="6057900" y="3251835"/>
                  <a:ext cx="5396865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DAE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g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ϕ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e>
                                                <m:acc>
                                                  <m:accPr>
                                                    <m:chr m:val="˜"/>
                                                    <m:ctrl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m:rPr>
                                                        <m:sty m:val="bi"/>
                                                      </m:r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x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p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050661" y="4000976"/>
              <a:ext cx="503694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编码器的输入是加噪后的样本（公式里带波浪号的 x），损失里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的目标仍是干净的 x。原样复制不再是最优解，网络必须学会去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掉噪声，得到的特征更稳健。</a:t>
              </a:r>
            </a:p>
          </p:txBody>
        </p:sp>
      </p:grpSp>
      <p:grpSp>
        <p:nvGrpSpPr>
          <p:cNvPr id="45" name="c2-flow-2"/>
          <p:cNvGrpSpPr/>
          <p:nvPr/>
        </p:nvGrpSpPr>
        <p:grpSpPr>
          <a:xfrm>
            <a:off x="5949315" y="5408295"/>
            <a:ext cx="5575935" cy="603885"/>
            <a:chOff x="5949315" y="5408295"/>
            <a:chExt cx="5575935" cy="603885"/>
          </a:xfrm>
        </p:grpSpPr>
        <p:sp>
          <p:nvSpPr>
            <p:cNvPr id="31" name="Freeform 31"/>
            <p:cNvSpPr/>
            <p:nvPr/>
          </p:nvSpPr>
          <p:spPr>
            <a:xfrm>
              <a:off x="7142798" y="57102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304722" y="5657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603932" y="57102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765858" y="5657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064115" y="571023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26040" y="5657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949315" y="5408295"/>
              <a:ext cx="1193482" cy="603885"/>
            </a:xfrm>
            <a:custGeom>
              <a:avLst/>
              <a:gdLst/>
              <a:ahLst/>
              <a:cxnLst/>
              <a:rect l="l" t="t" r="r" b="b"/>
              <a:pathLst>
                <a:path w="1193482" h="603885">
                  <a:moveTo>
                    <a:pt x="133350" y="0"/>
                  </a:moveTo>
                  <a:lnTo>
                    <a:pt x="1193482" y="0"/>
                  </a:lnTo>
                  <a:lnTo>
                    <a:pt x="1060132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409498" y="5497830"/>
              <a:ext cx="119443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870632" y="5497830"/>
              <a:ext cx="1194435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330815" y="5408295"/>
              <a:ext cx="1194435" cy="603885"/>
            </a:xfrm>
            <a:custGeom>
              <a:avLst/>
              <a:gdLst/>
              <a:ahLst/>
              <a:cxnLst/>
              <a:rect l="l" t="t" r="r" b="b"/>
              <a:pathLst>
                <a:path w="1194435" h="603885">
                  <a:moveTo>
                    <a:pt x="133350" y="0"/>
                  </a:moveTo>
                  <a:lnTo>
                    <a:pt x="1194435" y="0"/>
                  </a:lnTo>
                  <a:lnTo>
                    <a:pt x="1061085" y="603885"/>
                  </a:lnTo>
                  <a:lnTo>
                    <a:pt x="0" y="60388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8484" y="5523548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x + 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39075" y="562641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8666" y="562641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抽象特征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29506" y="5523548"/>
              <a:ext cx="7970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 → 输出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09301" cy="909257"/>
            <a:chOff x="520446" y="342900"/>
            <a:chExt cx="91093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表征学习与自编码器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09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卷积自编码器：用卷积层代替全连接层（B 版第 39–40 页）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686811" cy="308039"/>
            <a:chOff x="525399" y="1550194"/>
            <a:chExt cx="968681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6868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Masci 等，ICANN 2011。编码器用步长为 2 的卷积逐层缩小图像，解码器用反卷积逐层放大回原尺寸。</a:t>
              </a:r>
            </a:p>
          </p:txBody>
        </p:sp>
      </p:grpSp>
      <p:grpSp>
        <p:nvGrpSpPr>
          <p:cNvPr id="55" name="c1-flow-1"/>
          <p:cNvGrpSpPr/>
          <p:nvPr/>
        </p:nvGrpSpPr>
        <p:grpSpPr>
          <a:xfrm>
            <a:off x="666750" y="2141220"/>
            <a:ext cx="10858500" cy="1605914"/>
            <a:chOff x="666750" y="2141220"/>
            <a:chExt cx="10858500" cy="1605914"/>
          </a:xfrm>
        </p:grpSpPr>
        <p:sp>
          <p:nvSpPr>
            <p:cNvPr id="9" name="Freeform 9"/>
            <p:cNvSpPr/>
            <p:nvPr/>
          </p:nvSpPr>
          <p:spPr>
            <a:xfrm>
              <a:off x="2254568" y="2455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16492" y="2403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08132" y="2455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70058" y="2403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962650" y="2455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24575" y="2403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817168" y="2455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979092" y="2403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670732" y="2455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832658" y="2403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731818" y="2769870"/>
              <a:ext cx="9525" cy="242888"/>
            </a:xfrm>
            <a:custGeom>
              <a:avLst/>
              <a:gdLst/>
              <a:ahLst/>
              <a:cxnLst/>
              <a:rect l="l" t="t" r="r" b="b"/>
              <a:pathLst>
                <a:path w="9525" h="242888">
                  <a:moveTo>
                    <a:pt x="0" y="0"/>
                  </a:moveTo>
                  <a:lnTo>
                    <a:pt x="0" y="2428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679430" y="30127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775508" y="343185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670732" y="3379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921942" y="343185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817168" y="3379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067425" y="343185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62650" y="3379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212908" y="343185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108132" y="3379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359342" y="343185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254568" y="3379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66750" y="2141220"/>
              <a:ext cx="1587818" cy="628650"/>
            </a:xfrm>
            <a:custGeom>
              <a:avLst/>
              <a:gdLst/>
              <a:ahLst/>
              <a:cxnLst/>
              <a:rect l="l" t="t" r="r" b="b"/>
              <a:pathLst>
                <a:path w="1587818" h="628650">
                  <a:moveTo>
                    <a:pt x="133350" y="0"/>
                  </a:moveTo>
                  <a:lnTo>
                    <a:pt x="1587818" y="0"/>
                  </a:lnTo>
                  <a:lnTo>
                    <a:pt x="1454468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521268" y="2141220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74832" y="2141220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29350" y="2141220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83868" y="2141220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937432" y="2141220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937432" y="3117532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83868" y="3117532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29350" y="3117532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374832" y="3117532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521268" y="3117532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66750" y="3117532"/>
              <a:ext cx="1587818" cy="628650"/>
            </a:xfrm>
            <a:custGeom>
              <a:avLst/>
              <a:gdLst/>
              <a:ahLst/>
              <a:cxnLst/>
              <a:rect l="l" t="t" r="r" b="b"/>
              <a:pathLst>
                <a:path w="1587818" h="628650">
                  <a:moveTo>
                    <a:pt x="133350" y="0"/>
                  </a:moveTo>
                  <a:lnTo>
                    <a:pt x="1587818" y="0"/>
                  </a:lnTo>
                  <a:lnTo>
                    <a:pt x="1454468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40778" y="2256949"/>
              <a:ext cx="6388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28×28×1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26207" y="2256949"/>
              <a:ext cx="7769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Conv1 s=2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14×14×32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80724" y="2256949"/>
              <a:ext cx="7769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Conv2 s=2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7×7×64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34290" y="2256949"/>
              <a:ext cx="7769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Conv3 s=2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3×3×128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78215" y="2256949"/>
              <a:ext cx="5981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Flatten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97756" y="2256949"/>
              <a:ext cx="4681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 → h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46524" y="3233261"/>
              <a:ext cx="3705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57895" y="3233261"/>
              <a:ext cx="6388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Reshape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3×3×128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3378" y="3233261"/>
              <a:ext cx="6388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DeConv3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7×7×64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05108" y="3233261"/>
              <a:ext cx="72821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DeConv2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14×14×32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95295" y="3233261"/>
              <a:ext cx="6388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DeConv1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28×28×1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0778" y="3233261"/>
              <a:ext cx="63881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28×28×1</a:t>
              </a:r>
            </a:p>
          </p:txBody>
        </p:sp>
      </p:grpSp>
      <p:grpSp>
        <p:nvGrpSpPr>
          <p:cNvPr id="64" name="c1-kv-2"/>
          <p:cNvGrpSpPr/>
          <p:nvPr/>
        </p:nvGrpSpPr>
        <p:grpSpPr>
          <a:xfrm>
            <a:off x="525780" y="4135755"/>
            <a:ext cx="11132820" cy="1173480"/>
            <a:chOff x="525780" y="4135755"/>
            <a:chExt cx="11132820" cy="1173480"/>
          </a:xfrm>
        </p:grpSpPr>
        <p:sp>
          <p:nvSpPr>
            <p:cNvPr id="56" name="TextBox 56"/>
            <p:cNvSpPr txBox="1"/>
            <p:nvPr/>
          </p:nvSpPr>
          <p:spPr>
            <a:xfrm>
              <a:off x="525780" y="41357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编码器（上行）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162175" y="4135755"/>
              <a:ext cx="802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三个步长为 2 的卷积层把 28×28 缩到 3×3，展平成 1152 维，再经全连接层压到 h = 10 维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4557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5780" y="457581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解码器（下行）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62175" y="4575810"/>
              <a:ext cx="7304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全连接层升回 1152 维，重排成 3×3×128，再用三个反卷积层逐级放大回 28×28×1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48958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5780" y="50158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为什么用卷积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162175" y="50158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参数比全连接少得多，并且保留了图像的空间结构（相邻像素之间的关系）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5" name="Rectangle 6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728335"/>
              <a:ext cx="9664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尺寸核对：7×7 用 3×3 卷积核、步长 2、不补零，得 (7 − 3)/2 + 1 = 3；3×3×128 = 1152。整个网络把 784 维压到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 维再还原；第 40 页比较了第 10 与第 90 个 epoch 的重构图，后者清楚得多。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 · 表征学习与自编码器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本讲对原课件的更正汇总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33400" y="1524000"/>
            <a:ext cx="11125200" cy="3851910"/>
            <a:chOff x="533400" y="1524000"/>
            <a:chExt cx="11125200" cy="3851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7524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1952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8497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1312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1115" y="2054066"/>
              <a:ext cx="772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6 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3270" y="205406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降维能确保变量之间彼此独立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1417" y="2054066"/>
              <a:ext cx="3501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只能保证不相关；高斯分布时两者才等价（第 5 页）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1115" y="2459831"/>
              <a:ext cx="855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12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3270" y="2459831"/>
              <a:ext cx="2408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= xᵢ − μᵢ，μⱼ 为特征 j 上的均值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1417" y="2459831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下标统一为 μᵢ（第 10 页）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1115" y="2865596"/>
              <a:ext cx="855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17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03270" y="2865596"/>
              <a:ext cx="2125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特征向量按列组成 P，PᵀCP = 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31417" y="2865596"/>
              <a:ext cx="3404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Y = PX 配套时特征向量应作 P 的行（第 12 页）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1115" y="3271361"/>
              <a:ext cx="855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24 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03270" y="3271361"/>
              <a:ext cx="1853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验证协方差矩阵 P 的对角化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1417" y="3271361"/>
              <a:ext cx="2664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被对角化的是协方差矩阵 C（第 18 页）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01115" y="3677126"/>
              <a:ext cx="1488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34、37、38 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3270" y="3677126"/>
              <a:ext cx="3340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u₂σᵣ；uᵢ 为 n×1、vᵢ 为 m×1；A ≈ Aσ₁u₁v₁ᵀ + 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1417" y="3677126"/>
              <a:ext cx="38860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uᵣσᵣ；uᵢ 为 m×1、vᵢ 为 n×1；去掉多余的 A（第 29 页）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958590"/>
              <a:ext cx="11125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182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01115" y="4182904"/>
              <a:ext cx="855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45 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03270" y="4082891"/>
              <a:ext cx="3638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 = (0.39, 0.34, 0.28, 0.40, −0.31, −0.36, −0.34,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−0.36)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1417" y="4082891"/>
              <a:ext cx="38305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(0.39, 0.34, 0.29, 0.40, −0.31, −0.37, −0.34, −0.37)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32 页）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5596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4688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01115" y="4688681"/>
              <a:ext cx="1172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48、50 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03270" y="4688681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至尊宝对《寂静岭》的预测评分 2.6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40930" y="4573905"/>
              <a:ext cx="420814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31417" y="4688681"/>
              <a:ext cx="313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两位小数算得 2.67，精确值 2.71（第 33 页）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9653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97014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412" y="5094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01115" y="5094446"/>
              <a:ext cx="855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62 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03270" y="5094446"/>
              <a:ext cx="1661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KPCA 归一化 αˡ ← αˡ/λₗ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40930" y="4979670"/>
              <a:ext cx="420814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31417" y="5094446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αˡ ← αˡ/√λₗ，否则 w 不是单位向量（第 41 页）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11125200" cy="38519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196340" y="1524000"/>
              <a:ext cx="9525" cy="3851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198495" y="1524000"/>
              <a:ext cx="9525" cy="3851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426642" y="1524000"/>
              <a:ext cx="9525" cy="3851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2" name="Rectangle 6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5779770"/>
              <a:ext cx="98635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每条都已在所在页注明，数值类的都用 Python 复核过。未单列的两处：A 版第 117 页把顶点的度写作“自由度”（第 59 页）；PCA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 1/m 与 1/(m−1) 两种写法并存，不影响结论（第 15 页）。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9141" cy="909257"/>
            <a:chOff x="520446" y="342900"/>
            <a:chExt cx="52291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922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61" y="407194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91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自测题（一）：PCA、LDA 与 SVD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944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二维数据的协方差矩阵 C = [3 1; 1 3]，求两个主成分方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向和第一主成分的方差贡献率。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 λ₁ = 4、λ₂ = 2，方向分别为 (1, 1)ᵀ/√2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1)ᵀ/√2；贡献率 4/(4 + 2) = 66.7%。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223135"/>
            <a:chOff x="533400" y="365188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两类问题中 Sw = [2 0; 0 8]，m₁ − m₂ = (2, 4)ᵀ，求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Fisher 投影方向 w。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Sw⁻¹ = diag(1/2, 1/8)，w = Sw⁻¹(m₁ − m₂)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0.5)ᵀ ∝ (2, 1)ᵀ。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1439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某数据协方差矩阵的特征值为 5、3、1.5、0.3、0.2，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要求累计方差贡献率 ≥ 80%，k 至少取几？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总和 10。前 1 个 50%，前 2 个 (5 + 3)/10 = 80%，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k = 2。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223135"/>
            <a:chOff x="6248400" y="365188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734401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 A 的奇异值为 10、3、1、0.5。用秩 2 近似时保留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了多少“能量”（奇异值平方和的比例）？误差的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Frobenius 范数平方是多少？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514540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(100 + 9)/(100 + 9 + 1 + 0.25) = 109/110.25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98.9%；误差平方和 = 1² + 0.5² = 1.25。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922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61" y="407194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自测题（二）：核方法、流形学习与自编码器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408872"/>
            <a:chOff x="533400" y="1524000"/>
            <a:chExt cx="3505200" cy="24088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9652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PCA 之前要先中心化？不中心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化会怎样？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87286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协方差公式假设各维均值为 0。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不中心化时 XXᵀ/m 是二阶原点矩，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第一主方向会被拉向“数据均值所在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的方向”，不再是方差最大的方向。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18610"/>
            <a:ext cx="3505200" cy="2137410"/>
            <a:chOff x="533400" y="4118610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695349"/>
              <a:ext cx="28697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 和 LE 为什么都要丢掉最小特征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值对应的特征向量？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286851"/>
              <a:ext cx="28728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两者最小特征值都是 0，对应全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常向量（M1 = 0、L1 = 0），它把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所有点映到同一处，不含信息。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98287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KPCA 中，Gram 矩阵的单位特征向量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 为什么还要除以 √λ？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要让特征空间的主方向 w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Σαᵢφ(xᵢ) 是单位向量：‖w‖²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αᵀKα = λαᵀα = 1，所以 αᵀα = 1/λ。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28237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去噪自编码器为什么能避免“原样复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制输入”？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015389"/>
              <a:ext cx="28999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编码器看到的是加噪输入，损失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的目标却是干净输入，原样复制会把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噪声也复制出来，误差不再最小；网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络只能去学数据的真实结构。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4732020"/>
            <a:chOff x="8153400" y="1524000"/>
            <a:chExt cx="3505200" cy="473202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4732020"/>
            </a:xfrm>
            <a:prstGeom prst="roundRect">
              <a:avLst>
                <a:gd name="adj" fmla="val 380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156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 与经典 MDS 的区别在哪？K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取得太大会出什么问题？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692241"/>
              <a:ext cx="291795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只差距离的定义：ISOMAP 用近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邻图上的最短路近似测地距离。K 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大时近邻边会“短路”，跨过流形的不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同卷层，图距离退化成欧氏距离。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686496" cy="909257"/>
            <a:chOff x="520446" y="342900"/>
            <a:chExt cx="16864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735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165" y="407194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第8章 降维与流形学习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c1-table-1"/>
          <p:cNvGrpSpPr/>
          <p:nvPr/>
        </p:nvGrpSpPr>
        <p:grpSpPr>
          <a:xfrm>
            <a:off x="533400" y="1524000"/>
            <a:ext cx="11125200" cy="3813810"/>
            <a:chOff x="533400" y="1524000"/>
            <a:chExt cx="11125200" cy="3813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58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954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保持什么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2692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求解的核心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3132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取哪些特征向量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5416" y="202311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方差最大，等价于重构误差最小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78159" y="2023110"/>
              <a:ext cx="2846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 C 的特征分解；用累计贡献率定 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421" y="202311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k 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04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5416" y="2404110"/>
              <a:ext cx="1957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类间距离与类内散度之比 J(w)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78159" y="2404110"/>
              <a:ext cx="3193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Sw⁻¹SB 的特征分解；两类时 w = Sw⁻¹(m₁ − m₂)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421" y="2404110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最大的，至多 c − 1 个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785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416" y="2785110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最佳秩 t 近似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78159" y="2785110"/>
              <a:ext cx="239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UΣVᵀ，σᵢ 是 AᵀA 特征值的平方根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421" y="2785110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t 个奇异值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167062"/>
              <a:ext cx="630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MDS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5416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两两距离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78159" y="3167062"/>
              <a:ext cx="2739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−HSH/2 = XᵀX；欧氏距离时等价于 PCA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421" y="316706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d 个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548062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KPCA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85416" y="3548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特征空间里的方差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78159" y="3548062"/>
              <a:ext cx="2703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Kα = λα，α 按 1/√λ 缩放，投影只用核函数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3421" y="354806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k 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3930015"/>
              <a:ext cx="551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ISOMAP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85416" y="39300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全局测地距离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78159" y="3930015"/>
              <a:ext cx="2452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近邻图最短路近似测地距离，再做 MDS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3421" y="3930015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 d 个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431101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85416" y="43110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局部线性重构权重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78159" y="4311015"/>
              <a:ext cx="2412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 W，再分解 M = (I − W)ᵀ(I − W)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98268" y="4203382"/>
              <a:ext cx="26508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3421" y="4311015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最小的第 2～d + 1 个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570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57485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8078" y="469201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85416" y="4692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近的点投影后仍然近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78159" y="4692015"/>
              <a:ext cx="14658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广义特征问题 Lf = λDf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98268" y="4584382"/>
              <a:ext cx="26508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083421" y="4692015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最小的第 2～d + 1 个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952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8078" y="5073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185416" y="507396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可还原性（重构误差最小）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78159" y="507396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编码—瓶颈—解码，梯度下降训练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83421" y="50739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不做特征分解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1524000"/>
              <a:ext cx="1112520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08597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97871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983980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7" name="Rectangle 67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1273" y="5805011"/>
              <a:ext cx="10002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降维方法的区别在于“保持什么”：方差（PCA）、类别可分性（LDA）、距离（MDS、ISOMAP）、局部重构（LLE）、邻近关系（LE）、可还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原性（自编码器）。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第8章 数据降维与流形学习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8">
  <a:themeElements>
    <a:clrScheme name="ml_ch0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2026-09-23T10:30:28Z</dcterms:created>
  <dcterms:modified xsi:type="dcterms:W3CDTF">2026-09-23T10:30:28Z</dcterms:modified>
  <cp:category/>
  <cp:contentStatus/>
</cp:coreProperties>
</file>