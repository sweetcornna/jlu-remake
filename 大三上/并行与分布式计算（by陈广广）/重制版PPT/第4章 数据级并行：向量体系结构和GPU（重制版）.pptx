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fe340a921e74c1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53c5b2ab7e54cb9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bf786738a9ea9e5.png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72100" cy="4077843"/>
            <a:chOff x="666750" y="1619250"/>
            <a:chExt cx="5372100" cy="407784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第4章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372100" cy="14592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数据级并行：向量体系</a:t>
              </a:r>
              <a:br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结构和GPU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78714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410718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一条指令处理一批数据，硬件该怎样造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6167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561522"/>
              <a:ext cx="1787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SIMD 与 SPMD 的由来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9072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8520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向量计算方式与链接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519779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51425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编队与执行时间估算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48830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433060"/>
              <a:ext cx="1834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GPU 架构与 CUDA 执行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自学复习版｜据吉林大学《并行与分布式计算》第4章课件整理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696110"/>
            <a:chOff x="521970" y="1515428"/>
            <a:chExt cx="6287453" cy="469611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9532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数据级并行与 SIMD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26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SPMD 放到 SISD、MIMD 上的代价，SIMD 的设计思路，向量机与 GPU 两条路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向量的计算方式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横向、纵向、纵横分组三种算法，数据相关与功能切换次数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1878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RV64V 与链接技术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向量寄存器、存取单元、功能单元、多车道、链接例题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向量执行时间评估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3352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kN + b 近似、编队与钟鸣、DAXPY 编队实例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1471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与 GPGPU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5056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发展历程、晶体管分配、名词、SIMT、架构演进、层次化抽象模型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50449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60927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645467"/>
              <a:ext cx="1743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程序的执行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962174"/>
              <a:ext cx="5363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kernel 调用、线程层次、存储层次、warp 调度与分化、编译与虚拟化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637722"/>
            <a:chOff x="7114222" y="1524000"/>
            <a:chExt cx="4544378" cy="46377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3772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7102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SPMD 程序在 SISD、MIMD、SIMD 上运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行时取指译码的开销差别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D = A×(B+C) 写出横向、纵向、分组三种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算法并数出相关和切换次数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(1+L+1)+(N−1) 算出串行、并行、链接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三种执行方式的拍数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把一串向量指令划分成编队，用 m×N 估算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说出线程、线程块、网格与 CUDA 核、SM、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的对应关系和各级存储的作用范围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52787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52158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warp 的发射方式以及分支分化、访存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分化的代价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690360" cy="3351847"/>
            <a:chOff x="667512" y="1835468"/>
            <a:chExt cx="66903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数据级并行从哪里来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大量数据做同一种变换时，传统处理器把取指和译码重复做了太多遍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公牛还是小鸡：两条路线之争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9174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分类中的 SIMD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76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SPMD 在 SISD 和 MIMD 上的代价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035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器件与向量机、GPU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7179" cy="909257"/>
            <a:chOff x="520446" y="342900"/>
            <a:chExt cx="96171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71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两头公牛还是 1024 只小鸡：少数强处理器与大量弱处理器之争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649855"/>
            <a:chOff x="533400" y="1524000"/>
            <a:chExt cx="5842635" cy="2649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49855"/>
            </a:xfrm>
            <a:prstGeom prst="roundRect">
              <a:avLst>
                <a:gd name="adj" fmla="val 503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5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两段名言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512711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“如果要耕种一块地，你会选择两头强壮的公牛，还是 1024 只小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鸡？”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1139" y="2688907"/>
              <a:ext cx="5044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Seymour Cray，超级计算机之父，Cray 系列向量超级计算机的设计者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973229"/>
              <a:ext cx="51631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“我们把这些算法称为数据并行算法，因为它们的并行来自对大型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数据集的同时操作，而不是来自多个控制线程。”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139" y="3561398"/>
              <a:ext cx="4972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W. Daniel Hillis 和 Guy L. Steele；Hillis 设计的 Connection Machine 有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65536 个 1 位处理器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6161" y="4382929"/>
            <a:ext cx="5849874" cy="699707"/>
            <a:chOff x="526161" y="4382929"/>
            <a:chExt cx="5849874" cy="699707"/>
          </a:xfrm>
        </p:grpSpPr>
        <p:sp>
          <p:nvSpPr>
            <p:cNvPr id="15" name="TextBox 15"/>
            <p:cNvSpPr txBox="1"/>
            <p:nvPr/>
          </p:nvSpPr>
          <p:spPr>
            <a:xfrm>
              <a:off x="526161" y="438292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公牛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9096" y="438292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少数几个功能强大的向量处理器，每个一次处理一整串数据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6882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48039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小鸡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9096" y="480393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大量简单处理器，每个只管一小份数据，靠数量取胜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212080"/>
            <a:ext cx="5842635" cy="1018222"/>
            <a:chOff x="533400" y="5212080"/>
            <a:chExt cx="5842635" cy="1018222"/>
          </a:xfrm>
        </p:grpSpPr>
        <p:sp>
          <p:nvSpPr>
            <p:cNvPr id="21" name="Rectangle 21"/>
            <p:cNvSpPr/>
            <p:nvPr/>
          </p:nvSpPr>
          <p:spPr>
            <a:xfrm>
              <a:off x="533400" y="5212080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621657"/>
              <a:ext cx="200023" cy="200023"/>
              <a:chOff x="738188" y="5621657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6216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56883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359241"/>
              <a:ext cx="48836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争论的焦点：选两个功能强大的向量处理器，还是选多个简单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的处理器。本章两条路线都讲，前半讲向量体系结构，后半讲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680835" y="1524000"/>
            <a:ext cx="4977765" cy="4047649"/>
            <a:chOff x="6680835" y="1524000"/>
            <a:chExt cx="4977765" cy="4047649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16662" t="0" r="16663" b="0"/>
            <a:stretch>
              <a:fillRect/>
            </a:stretch>
          </p:blipFill>
          <p:spPr>
            <a:xfrm>
              <a:off x="6680835" y="1524000"/>
              <a:ext cx="4977765" cy="3732848"/>
            </a:xfrm>
            <a:prstGeom prst="roundRect">
              <a:avLst>
                <a:gd name="adj" fmla="val 3572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656259" y="535162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两头公牛拉一张大犁，一群小鸡各拉一张小犁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3125" cy="909257"/>
            <a:chOff x="520446" y="342900"/>
            <a:chExt cx="72431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31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分类回顾：数据级并行落在 SIMD 这一格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8447" y="1524000"/>
            <a:ext cx="11130153" cy="2170461"/>
            <a:chOff x="528447" y="1524000"/>
            <a:chExt cx="11130153" cy="2170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77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745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控制部件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6396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9436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主存模块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4133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关键特性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313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023110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88807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34640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3571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3341" y="2023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一条指令一次处理一个数据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15718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单处理器系统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2296478"/>
              <a:ext cx="98202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404110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88807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34640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3571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48188" y="2296478"/>
              <a:ext cx="376332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33341" y="2404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各处理器在同一控制部件下同步执行同一条指令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5718" y="2404110"/>
              <a:ext cx="3084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并行处理机、阵列处理机、超级向量处理机、GPU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2785110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88807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34640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3571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3341" y="2785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一条数据流依次流过多个处理单元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15718" y="278511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少见，有文献把流水线计算机、脉动阵列归入此类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3167062"/>
              <a:ext cx="379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88807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34640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35718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3341" y="316706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作业、任务、指令等各级都能并行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5718" y="31670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多处理机系统、多计算机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11125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52971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53079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42138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53390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1627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3503771"/>
              <a:ext cx="3471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原课件第3页的表；四类结构的连线图见第1章 Flynn 分类页</a:t>
              </a:r>
            </a:p>
          </p:txBody>
        </p:sp>
      </p:grpSp>
      <p:grpSp>
        <p:nvGrpSpPr>
          <p:cNvPr id="63" name="c1-card-2"/>
          <p:cNvGrpSpPr/>
          <p:nvPr/>
        </p:nvGrpSpPr>
        <p:grpSpPr>
          <a:xfrm>
            <a:off x="533400" y="3821430"/>
            <a:ext cx="11125200" cy="1902142"/>
            <a:chOff x="533400" y="3821430"/>
            <a:chExt cx="11125200" cy="1902142"/>
          </a:xfrm>
        </p:grpSpPr>
        <p:sp>
          <p:nvSpPr>
            <p:cNvPr id="53" name="Rectangle 53"/>
            <p:cNvSpPr/>
            <p:nvPr/>
          </p:nvSpPr>
          <p:spPr>
            <a:xfrm>
              <a:off x="533400" y="3821430"/>
              <a:ext cx="11125200" cy="1902142"/>
            </a:xfrm>
            <a:prstGeom prst="roundRect">
              <a:avLst>
                <a:gd name="adj" fmla="val 70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3954780"/>
              <a:ext cx="47625" cy="16354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2475" y="40024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5147" y="40352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62000" y="439483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17448" y="4341971"/>
              <a:ext cx="1009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的关键特性原写“各处理器以异步的形式执行同一条指令”。SIMD 只有一个控制部件，各处理单元在它控制下同步（锁步）执行，表中已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改为“同步”。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62000" y="492252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7448" y="4870609"/>
              <a:ext cx="8081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MISD 原写“被证明不可能，至少是不实际”。这类结构只是少见，第1章把脉动阵列、流式计算归入 MISD。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62000" y="520731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17448" y="5155406"/>
              <a:ext cx="703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SIMD 的英文拼作 Single Struction Stream，应为 Single Instruction Stream。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88941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本章只讲 SIMD 这一格：一条指令流同时驱动多条数据流，利用的是数据级并行（Data-Level Parallelism，DLP）。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矩阵运算、三维渲染、图像处理：同一种变换作用在大量数据上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066" y="1524000"/>
            <a:ext cx="5631752" cy="2778061"/>
            <a:chOff x="528066" y="1524000"/>
            <a:chExt cx="5631752" cy="27780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8391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9154" y="165163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大量的数据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44912" y="16516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施加的同一种变换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096452"/>
              <a:ext cx="1042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科学计算：矩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阵运算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82914" y="2216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矩阵的每个元素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5534" y="2096452"/>
              <a:ext cx="150533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C[i][j] = A[i][j] +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B[i][j]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89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53665"/>
              <a:ext cx="5626418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9013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三维渲染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82914" y="2781300"/>
              <a:ext cx="15567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模型的成千上万个顶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5534" y="2781300"/>
              <a:ext cx="194252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每个顶点乘同一个 4×4 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换矩阵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327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35861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图像处理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82914" y="358616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一幅图的每个像素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5534" y="346614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同一个亮度调整或滤波公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4984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79282" y="1524000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91902" y="1524000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066" y="4096702"/>
              <a:ext cx="3198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原课件第4页的三个场景；右两列是补充的具体例子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435792"/>
            <a:ext cx="5626418" cy="978218"/>
            <a:chOff x="533400" y="4435792"/>
            <a:chExt cx="5626418" cy="978218"/>
          </a:xfrm>
        </p:grpSpPr>
        <p:sp>
          <p:nvSpPr>
            <p:cNvPr id="28" name="Rectangle 28"/>
            <p:cNvSpPr/>
            <p:nvPr/>
          </p:nvSpPr>
          <p:spPr>
            <a:xfrm>
              <a:off x="533400" y="4435792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825367"/>
              <a:ext cx="200023" cy="200023"/>
              <a:chOff x="738188" y="4825367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8253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4892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582478"/>
              <a:ext cx="441140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共性是对大量数据施加同种变换，这就是数据级并行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（DLP）。各份数据之间互不依赖，谁先算谁后算结果都一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1483995"/>
            <a:chOff x="6464618" y="1524000"/>
            <a:chExt cx="5193982" cy="1483995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5122" y="1716405"/>
              <a:ext cx="54578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4972" y="1750695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SPMD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48347" y="1756410"/>
              <a:ext cx="2670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Program Multiple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8264" y="2090738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从软件的角度，我们期待的编程模型是 SPMD：只写一份程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序，让它在很多份数据上各跑一遍，每个执行实体用自己的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编号取自己那份数据。</a:t>
              </a:r>
            </a:p>
          </p:txBody>
        </p:sp>
      </p:grpSp>
      <p:grpSp>
        <p:nvGrpSpPr>
          <p:cNvPr id="44" name="c2-code-2"/>
          <p:cNvGrpSpPr/>
          <p:nvPr/>
        </p:nvGrpSpPr>
        <p:grpSpPr>
          <a:xfrm>
            <a:off x="6464618" y="3183255"/>
            <a:ext cx="5193982" cy="1640205"/>
            <a:chOff x="6464618" y="3183255"/>
            <a:chExt cx="5193982" cy="1640205"/>
          </a:xfrm>
        </p:grpSpPr>
        <p:sp>
          <p:nvSpPr>
            <p:cNvPr id="41" name="Rectangle 41"/>
            <p:cNvSpPr/>
            <p:nvPr/>
          </p:nvSpPr>
          <p:spPr>
            <a:xfrm>
              <a:off x="6464618" y="3183255"/>
              <a:ext cx="5193982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93015" y="3335179"/>
              <a:ext cx="1724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SPMD 写法与等价的串行循环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92634" y="3596640"/>
              <a:ext cx="2610993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SPMD：每个执行实体拿到自己的编号 id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y[id] = f(x[id]);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等价的串行写法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y[i] = f(x[i]);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10317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SPMD 说的是程序怎么写，SIMD 说的是硬件怎么执行。同一份 SPMD 程序可以放到 SISD、MIMD 或 SIMD 上跑，代价各不相同。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9817" cy="909257"/>
            <a:chOff x="520446" y="342900"/>
            <a:chExt cx="79198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SPMD 程序放到单核或多核上：一个耗时，一个耗电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8066" y="1541145"/>
            <a:ext cx="3425335" cy="205359"/>
            <a:chOff x="528066" y="1541145"/>
            <a:chExt cx="3425335" cy="205359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541145"/>
              <a:ext cx="3425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单核单线程串行执行：把 MD 拆成多次 SD，变成 SISD</a:t>
              </a:r>
            </a:p>
          </p:txBody>
        </p:sp>
      </p:grpSp>
      <p:grpSp>
        <p:nvGrpSpPr>
          <p:cNvPr id="26" name="c1-cells-2"/>
          <p:cNvGrpSpPr/>
          <p:nvPr/>
        </p:nvGrpSpPr>
        <p:grpSpPr>
          <a:xfrm>
            <a:off x="528447" y="1869758"/>
            <a:ext cx="5415153" cy="356235"/>
            <a:chOff x="528447" y="1869758"/>
            <a:chExt cx="5415153" cy="356235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198739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62965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9006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98282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4324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33600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69641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67965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4959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03282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39324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38600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74641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73918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09959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08282" y="1869758"/>
              <a:ext cx="63531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45276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d7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2390775"/>
            <a:ext cx="5410200" cy="2934652"/>
            <a:chOff x="533400" y="2390775"/>
            <a:chExt cx="5410200" cy="2934652"/>
          </a:xfrm>
        </p:grpSpPr>
        <p:sp>
          <p:nvSpPr>
            <p:cNvPr id="27" name="Rectangle 27"/>
            <p:cNvSpPr/>
            <p:nvPr/>
          </p:nvSpPr>
          <p:spPr>
            <a:xfrm>
              <a:off x="533400" y="2390775"/>
              <a:ext cx="5410200" cy="2934652"/>
            </a:xfrm>
            <a:prstGeom prst="roundRect">
              <a:avLst>
                <a:gd name="adj" fmla="val 45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2524125"/>
              <a:ext cx="47625" cy="26679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25717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147" y="26046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耗时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291226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一条流水线，数据排队通过，8 个数据要 8 轮。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3197066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每一轮都要重新取指、译码同一条指令，共 8 次。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3481864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流水线、超标量只能让相邻几条指令重叠，挡不住这 8 次重复的取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指译码。</a:t>
              </a:r>
            </a:p>
          </p:txBody>
        </p:sp>
      </p:grpSp>
      <p:grpSp>
        <p:nvGrpSpPr>
          <p:cNvPr id="36" name="c2-text-1"/>
          <p:cNvGrpSpPr/>
          <p:nvPr/>
        </p:nvGrpSpPr>
        <p:grpSpPr>
          <a:xfrm>
            <a:off x="6243066" y="1541145"/>
            <a:ext cx="3943906" cy="205359"/>
            <a:chOff x="6243066" y="1541145"/>
            <a:chExt cx="3943906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243066" y="1541145"/>
              <a:ext cx="39439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多核多线程并行执行：把 SP 的每条指令复制多份，变成 MIMD</a:t>
              </a:r>
            </a:p>
          </p:txBody>
        </p:sp>
      </p:grpSp>
      <p:grpSp>
        <p:nvGrpSpPr>
          <p:cNvPr id="57" name="c2-cells-2"/>
          <p:cNvGrpSpPr/>
          <p:nvPr/>
        </p:nvGrpSpPr>
        <p:grpSpPr>
          <a:xfrm>
            <a:off x="6243447" y="1869758"/>
            <a:ext cx="2178558" cy="1862137"/>
            <a:chOff x="6243447" y="1869758"/>
            <a:chExt cx="2178558" cy="1862137"/>
          </a:xfrm>
        </p:grpSpPr>
        <p:sp>
          <p:nvSpPr>
            <p:cNvPr id="37" name="TextBox 37"/>
            <p:cNvSpPr txBox="1"/>
            <p:nvPr/>
          </p:nvSpPr>
          <p:spPr>
            <a:xfrm>
              <a:off x="6243447" y="198739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77965" y="1869758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57834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499985" y="1869758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79854" y="19873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43447" y="2489359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77965" y="2371725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57834" y="24893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99985" y="2371725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79854" y="24893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43447" y="299132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77965" y="2873692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57834" y="2991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99985" y="2873692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79854" y="2991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3447" y="3493294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77965" y="3375660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57834" y="349329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99985" y="3375660"/>
              <a:ext cx="92202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79854" y="349329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d7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6248400" y="3896678"/>
            <a:ext cx="5410200" cy="1428750"/>
            <a:chOff x="6248400" y="3896678"/>
            <a:chExt cx="5410200" cy="1428750"/>
          </a:xfrm>
        </p:grpSpPr>
        <p:sp>
          <p:nvSpPr>
            <p:cNvPr id="58" name="Rectangle 58"/>
            <p:cNvSpPr/>
            <p:nvPr/>
          </p:nvSpPr>
          <p:spPr>
            <a:xfrm>
              <a:off x="6248400" y="389667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030028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7475" y="40776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0147" y="41105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耗电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0998" y="44181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条流水线同时干，时间缩到 2 轮。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0998" y="4702969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 4 个核各有一套取指译码部件，做的是同一件事，取指译码仍是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次。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5" name="Rectangle 6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5805011"/>
              <a:ext cx="994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原课件第6–7页的思考题，设同一条指令作用在 d0–d7 上。两种做法都没用上“这些数据做的是同一件事”：同一条指令其实只需取指、译码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传统标量流水线里，取指和译码占了大半段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80311" cy="308039"/>
            <a:chOff x="525399" y="1550194"/>
            <a:chExt cx="768031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803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原课件第8页让读者在 ARM Cortex-A53 结构图中找出前端（取指、译码）部分。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666750" y="2258378"/>
            <a:ext cx="5684520" cy="847725"/>
            <a:chOff x="666750" y="2258378"/>
            <a:chExt cx="5684520" cy="847725"/>
          </a:xfrm>
        </p:grpSpPr>
        <p:sp>
          <p:nvSpPr>
            <p:cNvPr id="9" name="Freeform 9"/>
            <p:cNvSpPr/>
            <p:nvPr/>
          </p:nvSpPr>
          <p:spPr>
            <a:xfrm>
              <a:off x="1590675" y="268224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52600" y="26298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80348" y="268224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42272" y="26298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70972" y="268224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32898" y="26298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160645" y="268224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322570" y="26298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2258378"/>
              <a:ext cx="923925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57375" y="2366962"/>
              <a:ext cx="923925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47048" y="2366962"/>
              <a:ext cx="92392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37672" y="2258378"/>
              <a:ext cx="923925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7345" y="2366962"/>
              <a:ext cx="92392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8396" y="2374106"/>
              <a:ext cx="50063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F1–F4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8388" y="2483644"/>
              <a:ext cx="459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D1–D3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9973" y="2483644"/>
              <a:ext cx="3380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4342" y="2374106"/>
              <a:ext cx="370586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Ex1–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20270" y="2483644"/>
              <a:ext cx="3380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3587115"/>
            <a:ext cx="5951220" cy="2697480"/>
            <a:chOff x="533400" y="3587115"/>
            <a:chExt cx="5951220" cy="2697480"/>
          </a:xfrm>
        </p:grpSpPr>
        <p:sp>
          <p:nvSpPr>
            <p:cNvPr id="28" name="Rectangle 28"/>
            <p:cNvSpPr/>
            <p:nvPr/>
          </p:nvSpPr>
          <p:spPr>
            <a:xfrm>
              <a:off x="533400" y="3587115"/>
              <a:ext cx="595122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8977" y="37218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3803" y="37218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图中包含的单元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223" y="42838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取指与预测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50910" y="4170521"/>
              <a:ext cx="4239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地址生成与 TLB、指令 cache、混合分支预测器、间接跳转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063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71106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8467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50910" y="4846796"/>
              <a:ext cx="3528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早期译码、13 项指令队列、主译码、后期译码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1549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54087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整数执行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50910" y="5295424"/>
              <a:ext cx="42476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整数寄存器堆、发射、2 条 ALU 流水、乘加、除法、load、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流水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8302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83501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23" y="59707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50910" y="5970746"/>
              <a:ext cx="4516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NEON 寄存器堆、乘除开方流水、浮点 ALU 流水（F1–F5）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587115"/>
              <a:ext cx="595122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838325" y="358711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1"/>
          <p:cNvGrpSpPr/>
          <p:nvPr/>
        </p:nvGrpSpPr>
        <p:grpSpPr>
          <a:xfrm>
            <a:off x="6789420" y="1967865"/>
            <a:ext cx="4869180" cy="2844165"/>
            <a:chOff x="6789420" y="1967865"/>
            <a:chExt cx="4869180" cy="2844165"/>
          </a:xfrm>
        </p:grpSpPr>
        <p:sp>
          <p:nvSpPr>
            <p:cNvPr id="47" name="Rectangle 47"/>
            <p:cNvSpPr/>
            <p:nvPr/>
          </p:nvSpPr>
          <p:spPr>
            <a:xfrm>
              <a:off x="6789420" y="1967865"/>
              <a:ext cx="4869180" cy="2844165"/>
            </a:xfrm>
            <a:prstGeom prst="roundRect">
              <a:avLst>
                <a:gd name="adj" fmla="val 468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98970" y="21774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68477" y="22131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传统器件的问题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04685" y="26174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62800" y="2554605"/>
              <a:ext cx="4063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标量 CPU 的取指、译码逻辑复杂，开销不低：图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中整数通路标出的 11 个阶段里，取指占 4 个，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译码占 3 个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04685" y="352425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62800" y="3461385"/>
              <a:ext cx="4053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SPMD 任务，不论在 SISD 还是 MIMD（多核）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器件上运行，取指、译码都有冗余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04685" y="414528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62800" y="408241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于是问题变成：针对 SPMD 场景，怎样设计一种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新型器件？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789420" y="5002530"/>
            <a:ext cx="4869180" cy="1316355"/>
            <a:chOff x="6789420" y="5002530"/>
            <a:chExt cx="4869180" cy="1316355"/>
          </a:xfrm>
        </p:grpSpPr>
        <p:sp>
          <p:nvSpPr>
            <p:cNvPr id="57" name="Rectangle 57"/>
            <p:cNvSpPr/>
            <p:nvPr/>
          </p:nvSpPr>
          <p:spPr>
            <a:xfrm>
              <a:off x="6789420" y="500253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98945" y="513588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37070" y="5212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27278" y="5247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29450" y="5589270"/>
              <a:ext cx="3463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原课件标题写“取址”，这里说的是取指令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（instruction fetch），应为“取指”。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4290" cy="909257"/>
            <a:chOff x="520446" y="342900"/>
            <a:chExt cx="61642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42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器件：一套取指译码，带多个 ALU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793432" y="1706880"/>
            <a:ext cx="4970145" cy="2492121"/>
            <a:chOff x="793432" y="1706880"/>
            <a:chExt cx="4970145" cy="2492121"/>
          </a:xfrm>
        </p:grpSpPr>
        <p:sp>
          <p:nvSpPr>
            <p:cNvPr id="7" name="Freeform 7"/>
            <p:cNvSpPr/>
            <p:nvPr/>
          </p:nvSpPr>
          <p:spPr>
            <a:xfrm>
              <a:off x="1463040" y="2952750"/>
              <a:ext cx="425768" cy="9525"/>
            </a:xfrm>
            <a:custGeom>
              <a:avLst/>
              <a:gdLst/>
              <a:ahLst/>
              <a:cxnLst/>
              <a:rect l="l" t="t" r="r" b="b"/>
              <a:pathLst>
                <a:path w="425768" h="9525">
                  <a:moveTo>
                    <a:pt x="0" y="0"/>
                  </a:moveTo>
                  <a:lnTo>
                    <a:pt x="4257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8808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33650" y="2084070"/>
              <a:ext cx="954405" cy="708660"/>
            </a:xfrm>
            <a:custGeom>
              <a:avLst/>
              <a:gdLst/>
              <a:ahLst/>
              <a:cxnLst/>
              <a:rect l="l" t="t" r="r" b="b"/>
              <a:pathLst>
                <a:path w="954405" h="708660">
                  <a:moveTo>
                    <a:pt x="0" y="708660"/>
                  </a:moveTo>
                  <a:lnTo>
                    <a:pt x="9544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59480" y="202692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53665" y="2685098"/>
              <a:ext cx="719138" cy="182880"/>
            </a:xfrm>
            <a:custGeom>
              <a:avLst/>
              <a:gdLst/>
              <a:ahLst/>
              <a:cxnLst/>
              <a:rect l="l" t="t" r="r" b="b"/>
              <a:pathLst>
                <a:path w="719138" h="182880">
                  <a:moveTo>
                    <a:pt x="0" y="182880"/>
                  </a:moveTo>
                  <a:lnTo>
                    <a:pt x="7191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61372" y="263842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2860"/>
                  </a:moveTo>
                  <a:lnTo>
                    <a:pt x="22860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53665" y="3030855"/>
              <a:ext cx="719138" cy="169545"/>
            </a:xfrm>
            <a:custGeom>
              <a:avLst/>
              <a:gdLst/>
              <a:ahLst/>
              <a:cxnLst/>
              <a:rect l="l" t="t" r="r" b="b"/>
              <a:pathLst>
                <a:path w="719138" h="169545">
                  <a:moveTo>
                    <a:pt x="0" y="0"/>
                  </a:moveTo>
                  <a:lnTo>
                    <a:pt x="719138" y="1695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61372" y="3153728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68580"/>
                  </a:moveTo>
                  <a:lnTo>
                    <a:pt x="0" y="92392"/>
                  </a:lnTo>
                  <a:lnTo>
                    <a:pt x="219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33650" y="3112770"/>
              <a:ext cx="954405" cy="708660"/>
            </a:xfrm>
            <a:custGeom>
              <a:avLst/>
              <a:gdLst/>
              <a:ahLst/>
              <a:cxnLst/>
              <a:rect l="l" t="t" r="r" b="b"/>
              <a:pathLst>
                <a:path w="954405" h="708660">
                  <a:moveTo>
                    <a:pt x="0" y="0"/>
                  </a:moveTo>
                  <a:lnTo>
                    <a:pt x="954405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59480" y="378333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189095" y="1866900"/>
              <a:ext cx="433388" cy="9525"/>
            </a:xfrm>
            <a:custGeom>
              <a:avLst/>
              <a:gdLst/>
              <a:ahLst/>
              <a:cxnLst/>
              <a:rect l="l" t="t" r="r" b="b"/>
              <a:pathLst>
                <a:path w="433388" h="9525">
                  <a:moveTo>
                    <a:pt x="0" y="0"/>
                  </a:moveTo>
                  <a:lnTo>
                    <a:pt x="4333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22482" y="1819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093845" y="1819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189095" y="2581275"/>
              <a:ext cx="433388" cy="9525"/>
            </a:xfrm>
            <a:custGeom>
              <a:avLst/>
              <a:gdLst/>
              <a:ahLst/>
              <a:cxnLst/>
              <a:rect l="l" t="t" r="r" b="b"/>
              <a:pathLst>
                <a:path w="433388" h="9525">
                  <a:moveTo>
                    <a:pt x="0" y="0"/>
                  </a:moveTo>
                  <a:lnTo>
                    <a:pt x="4333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622482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093845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189095" y="3295650"/>
              <a:ext cx="433388" cy="9525"/>
            </a:xfrm>
            <a:custGeom>
              <a:avLst/>
              <a:gdLst/>
              <a:ahLst/>
              <a:cxnLst/>
              <a:rect l="l" t="t" r="r" b="b"/>
              <a:pathLst>
                <a:path w="433388" h="9525">
                  <a:moveTo>
                    <a:pt x="0" y="0"/>
                  </a:moveTo>
                  <a:lnTo>
                    <a:pt x="4333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622482" y="32480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93845" y="32480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189095" y="4038600"/>
              <a:ext cx="433388" cy="9525"/>
            </a:xfrm>
            <a:custGeom>
              <a:avLst/>
              <a:gdLst/>
              <a:ahLst/>
              <a:cxnLst/>
              <a:rect l="l" t="t" r="r" b="b"/>
              <a:pathLst>
                <a:path w="433388" h="9525">
                  <a:moveTo>
                    <a:pt x="0" y="0"/>
                  </a:moveTo>
                  <a:lnTo>
                    <a:pt x="4333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622482" y="3990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093845" y="3990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93432" y="2792730"/>
              <a:ext cx="6696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84058" y="2792730"/>
              <a:ext cx="6696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465195" y="1706880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65195" y="2421255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465195" y="3135630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465195" y="3878580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717732" y="1706880"/>
              <a:ext cx="104584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17732" y="2421255"/>
              <a:ext cx="104584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17732" y="3135630"/>
              <a:ext cx="104584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17732" y="3878580"/>
              <a:ext cx="104584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4903" y="287845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 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74575" y="287845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 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49396" y="179260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49396" y="250698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49396" y="322135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49396" y="396430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01419" y="1792605"/>
              <a:ext cx="87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寄存器 tid0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01419" y="2506980"/>
              <a:ext cx="87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寄存器 tid1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01419" y="3221355"/>
              <a:ext cx="87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寄存器 tid2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01419" y="3964305"/>
              <a:ext cx="87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寄存器 tid3</a:t>
              </a:r>
            </a:p>
          </p:txBody>
        </p:sp>
      </p:grpSp>
      <p:grpSp>
        <p:nvGrpSpPr>
          <p:cNvPr id="51" name="c1-text-2"/>
          <p:cNvGrpSpPr/>
          <p:nvPr/>
        </p:nvGrpSpPr>
        <p:grpSpPr>
          <a:xfrm>
            <a:off x="526923" y="4593431"/>
            <a:ext cx="5109210" cy="500824"/>
            <a:chOff x="526923" y="4593431"/>
            <a:chExt cx="5109210" cy="500824"/>
          </a:xfrm>
        </p:grpSpPr>
        <p:sp>
          <p:nvSpPr>
            <p:cNvPr id="50" name="TextBox 50"/>
            <p:cNvSpPr txBox="1"/>
            <p:nvPr/>
          </p:nvSpPr>
          <p:spPr>
            <a:xfrm>
              <a:off x="526923" y="4593431"/>
              <a:ext cx="510921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译码后的同一条指令广播给 4 个 ALU，每个 ALU 用自己寄存器里的数据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执行（原课件第10页“一种设计”）</a:t>
              </a:r>
            </a:p>
          </p:txBody>
        </p:sp>
      </p:grpSp>
      <p:grpSp>
        <p:nvGrpSpPr>
          <p:cNvPr id="60" name="c2-kv-1"/>
          <p:cNvGrpSpPr/>
          <p:nvPr/>
        </p:nvGrpSpPr>
        <p:grpSpPr>
          <a:xfrm>
            <a:off x="6240780" y="1548765"/>
            <a:ext cx="5417820" cy="1173480"/>
            <a:chOff x="6240780" y="1548765"/>
            <a:chExt cx="5417820" cy="1173480"/>
          </a:xfrm>
        </p:grpSpPr>
        <p:sp>
          <p:nvSpPr>
            <p:cNvPr id="52" name="TextBox 52"/>
            <p:cNvSpPr txBox="1"/>
            <p:nvPr/>
          </p:nvSpPr>
          <p:spPr>
            <a:xfrm>
              <a:off x="624078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更少的取指和译码部件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04860" y="15487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更少的器件，更低的能耗和时间开销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0780" y="1988820"/>
              <a:ext cx="105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更多的 ALU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04860" y="19888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一次流水能处理更多数据，速度更快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0780" y="2428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更多的数据寄存器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04860" y="24288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一次存下更多数据，减少访存延迟</a:t>
              </a:r>
            </a:p>
          </p:txBody>
        </p:sp>
      </p:grpSp>
      <p:grpSp>
        <p:nvGrpSpPr>
          <p:cNvPr id="83" name="c2-table-2"/>
          <p:cNvGrpSpPr/>
          <p:nvPr/>
        </p:nvGrpSpPr>
        <p:grpSpPr>
          <a:xfrm>
            <a:off x="6242685" y="2853690"/>
            <a:ext cx="5415915" cy="2091214"/>
            <a:chOff x="6242685" y="2853690"/>
            <a:chExt cx="5415915" cy="2091214"/>
          </a:xfrm>
        </p:grpSpPr>
        <p:sp>
          <p:nvSpPr>
            <p:cNvPr id="61" name="Rectangle 61"/>
            <p:cNvSpPr/>
            <p:nvPr/>
          </p:nvSpPr>
          <p:spPr>
            <a:xfrm>
              <a:off x="6248400" y="285369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84974" y="29894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81542" y="29894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取指译码次数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43591" y="29894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执行时间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56223" y="3438049"/>
              <a:ext cx="787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 单核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08938" y="34380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98673" y="34380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7461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375094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56223" y="3886676"/>
              <a:ext cx="854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 4 核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08938" y="38866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46059" y="388667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41957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56223" y="4335304"/>
              <a:ext cx="1294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16 个 ALU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287702" y="4210050"/>
              <a:ext cx="183356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103711" y="43353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140315" y="4210050"/>
              <a:ext cx="150876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793446" y="43353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285369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273415" y="28536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126028" y="28536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42685" y="4724876"/>
              <a:ext cx="4504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粗算：1024 个数据各执行 1 条指令，每条 1 个单位时间，不计访存</a:t>
              </a:r>
            </a:p>
          </p:txBody>
        </p:sp>
      </p:grpSp>
      <p:grpSp>
        <p:nvGrpSpPr>
          <p:cNvPr id="8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4" name="Rectangle 8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040130" y="5991225"/>
              <a:ext cx="10104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SIMD 的做法：取指、译码一次，把同一条指令交给多个 ALU 同时执行，省下的晶体管和功耗都换成了运算单元。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21160" cy="909257"/>
            <a:chOff x="520446" y="342900"/>
            <a:chExt cx="59211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数据级并行从哪里来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211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向量体系结构“窄而深”，GPU“宽而浅”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ompare-1"/>
          <p:cNvGrpSpPr/>
          <p:nvPr/>
        </p:nvGrpSpPr>
        <p:grpSpPr>
          <a:xfrm>
            <a:off x="533400" y="1524000"/>
            <a:ext cx="5410200" cy="3829050"/>
            <a:chOff x="533400" y="1524000"/>
            <a:chExt cx="5410200" cy="3829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38290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623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663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指令流水线深，ALU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宽度窄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729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一条指令流过流水线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后处理很多数据，掩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盖不必要的流水线时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9890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926205"/>
              <a:ext cx="1634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代表：Cray 系列、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RV64V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1524000"/>
              <a:ext cx="2495550" cy="3829050"/>
            </a:xfrm>
            <a:prstGeom prst="roundRect">
              <a:avLst>
                <a:gd name="adj" fmla="val 534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49980" y="175831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663315" y="21755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21430" y="2112645"/>
              <a:ext cx="1663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指令流水线浅，ALU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宽度宽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663315" y="27965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1430" y="2733675"/>
              <a:ext cx="1729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流水本身比较简单，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直接对更多数据并行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计算，同一时刻处理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更多数据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63315" y="39890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21430" y="3926205"/>
              <a:ext cx="1663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代表：NVIDIA、AMD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GPU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076575" y="32766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46915" y="33728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242685" y="1524000"/>
            <a:ext cx="5415915" cy="3873341"/>
            <a:chOff x="6242685" y="1524000"/>
            <a:chExt cx="5415915" cy="3873341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78036" y="1773079"/>
              <a:ext cx="17812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RV64V（H&amp;P 图 4.1）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04185" y="1659731"/>
              <a:ext cx="17828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多线程 SIMD 处理器（图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6223" y="24484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13461" y="2335054"/>
              <a:ext cx="1866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个向量寄存器，每个存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一整段向量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0418" y="2335054"/>
              <a:ext cx="1662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条 SIMD 车道，每条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1K×32 位寄存器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8698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87464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6223" y="31237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做运算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13461" y="3010376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个流水化功能单元：浮点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加减、乘、除、整数、逻辑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40418" y="3010376"/>
              <a:ext cx="18580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每条车道一个 ALU，16 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同时执行同一条指令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5461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37990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13461" y="3799046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一个向量取数/存数单元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40418" y="368569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每条车道一个存取单元，经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地址合并单元访存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221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226242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44743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13461" y="447436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标量处理器发出向量指令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40418" y="4361021"/>
              <a:ext cx="17035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 调度器管理 64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线程的 PC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00875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32783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42685" y="4977289"/>
              <a:ext cx="51960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原课件第12页的两张结构图（Hennessy、Patterson《计算机体系结构：量化研究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方法》第4章）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2" name="Rectangle 5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728335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两条路线都是一条指令对应多份数据：向量机把多份数据摊在时间上（深流水线逐个流过），GPU 把多份数据摊在空间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上（多个 ALU 同时算）。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53610" cy="3351847"/>
            <a:chOff x="667512" y="1835468"/>
            <a:chExt cx="495361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向量与三种计算方式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43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 D = A×(B+C)，按行算、按列算还是分段算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向量与向量运算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横向计算：标量处理器的一般做法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纵向计算：两条向量指令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纵横分组计算：按寄存器长度分段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向量与三种计算方式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向量：一串同类型的数据，运算大多按分量各做各的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903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b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3" name="c1-table-2"/>
          <p:cNvGrpSpPr/>
          <p:nvPr/>
        </p:nvGrpSpPr>
        <p:grpSpPr>
          <a:xfrm>
            <a:off x="527685" y="2618422"/>
            <a:ext cx="5956935" cy="3000852"/>
            <a:chOff x="527685" y="2618422"/>
            <a:chExt cx="5956935" cy="3000852"/>
          </a:xfrm>
        </p:grpSpPr>
        <p:sp>
          <p:nvSpPr>
            <p:cNvPr id="8" name="Rectangle 8"/>
            <p:cNvSpPr/>
            <p:nvPr/>
          </p:nvSpPr>
          <p:spPr>
            <a:xfrm>
              <a:off x="533400" y="2618422"/>
              <a:ext cx="595122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35405" y="275748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83218" y="275748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46320" y="275748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324516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向量加法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3190" y="3245168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4752" y="324516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7, 9)ᵀ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890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593782"/>
              <a:ext cx="595122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73284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标量乘法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3190" y="3732848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3·x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34752" y="373284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6, 9)ᵀ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076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4220528"/>
              <a:ext cx="156686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按元素乘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（Hadamard 积）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3190" y="4353878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x∘y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4752" y="4220528"/>
              <a:ext cx="2129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(1×4, 2×5, 3×6)ᵀ = (4,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18)ᵀ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8310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835842"/>
              <a:ext cx="595122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497490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数量积（点乘）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63190" y="4974908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x·y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34752" y="4974908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1×4 + 2×5 + 3×6 = 32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618422"/>
              <a:ext cx="5951220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51748" y="2618422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23310" y="2618422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5399246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原课件第15页的例子，结果已用脚本复核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789420" y="1524000"/>
            <a:ext cx="4869180" cy="1316355"/>
            <a:chOff x="6789420" y="1524000"/>
            <a:chExt cx="4869180" cy="1316355"/>
          </a:xfrm>
        </p:grpSpPr>
        <p:sp>
          <p:nvSpPr>
            <p:cNvPr id="34" name="Rectangle 34"/>
            <p:cNvSpPr/>
            <p:nvPr/>
          </p:nvSpPr>
          <p:spPr>
            <a:xfrm>
              <a:off x="6789420" y="152400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9894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向量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29450" y="211074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在向量体系结构中，把 x、y 这样的一串同类型数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据称为向量。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789420" y="3030855"/>
            <a:ext cx="4869180" cy="2544128"/>
            <a:chOff x="6789420" y="3030855"/>
            <a:chExt cx="4869180" cy="2544128"/>
          </a:xfrm>
        </p:grpSpPr>
        <p:sp>
          <p:nvSpPr>
            <p:cNvPr id="40" name="Rectangle 40"/>
            <p:cNvSpPr/>
            <p:nvPr/>
          </p:nvSpPr>
          <p:spPr>
            <a:xfrm>
              <a:off x="6789420" y="3030855"/>
              <a:ext cx="4869180" cy="2544128"/>
            </a:xfrm>
            <a:prstGeom prst="roundRect">
              <a:avLst>
                <a:gd name="adj" fmla="val 524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98970" y="3240405"/>
              <a:ext cx="1758315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39313" y="3276124"/>
              <a:ext cx="1677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向量运算与 SIMD 对得上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1350" y="3617595"/>
              <a:ext cx="4263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加法、标量乘、按元素乘都是每个分量做同一种运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算，分量之间互不依赖，正是 SIMD 期待的“一条指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令，多份数据”。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2493" y="452104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数量积最后要把各分量的乘积加起来，这一步分量之间有依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赖，要用归约（reduction）逐级相加。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5908" cy="909257"/>
            <a:chOff x="520446" y="342900"/>
            <a:chExt cx="90459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向量与三种计算方式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59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横向计算：一个元素算完再算下一个，相关和切换随 N 增长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66918" cy="308039"/>
            <a:chOff x="525399" y="1550194"/>
            <a:chExt cx="576691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66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例：计算 D = A×(B+C)，A、B、C、D 都是长度为 N 的向量。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3561685" cy="1878615"/>
            <a:chOff x="533400" y="1977390"/>
            <a:chExt cx="3561685" cy="1878615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先算第 1 个元素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134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← a₁×(b₁+c₁)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662238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再算第 2 个元素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955131"/>
              <a:ext cx="220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d₂ ← a₂×(b₂+c₂)，依此类推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127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组成循环程序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06641"/>
              <a:ext cx="3149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循环体两步：kᵢ ← bᵢ + cᵢ，dᵢ ← kᵢ × aᵢ</a:t>
              </a:r>
            </a:p>
          </p:txBody>
        </p:sp>
      </p:grpSp>
      <p:grpSp>
        <p:nvGrpSpPr>
          <p:cNvPr id="26" name="c1-code-2"/>
          <p:cNvGrpSpPr/>
          <p:nvPr/>
        </p:nvGrpSpPr>
        <p:grpSpPr>
          <a:xfrm>
            <a:off x="533400" y="4033838"/>
            <a:ext cx="5410200" cy="1313498"/>
            <a:chOff x="533400" y="4033838"/>
            <a:chExt cx="5410200" cy="1313498"/>
          </a:xfrm>
        </p:grpSpPr>
        <p:sp>
          <p:nvSpPr>
            <p:cNvPr id="23" name="Rectangle 23"/>
            <p:cNvSpPr/>
            <p:nvPr/>
          </p:nvSpPr>
          <p:spPr>
            <a:xfrm>
              <a:off x="533400" y="4033838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418576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035" y="4448651"/>
              <a:ext cx="277088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k = b[i] + c[i];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加法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d[i] = k * a[i];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乘法要等 k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1" name="c2-cells-1"/>
          <p:cNvGrpSpPr/>
          <p:nvPr/>
        </p:nvGrpSpPr>
        <p:grpSpPr>
          <a:xfrm>
            <a:off x="6242685" y="1967865"/>
            <a:ext cx="5415915" cy="1009650"/>
            <a:chOff x="6242685" y="1967865"/>
            <a:chExt cx="5415915" cy="1009650"/>
          </a:xfrm>
        </p:grpSpPr>
        <p:sp>
          <p:nvSpPr>
            <p:cNvPr id="27" name="TextBox 27"/>
            <p:cNvSpPr txBox="1"/>
            <p:nvPr/>
          </p:nvSpPr>
          <p:spPr>
            <a:xfrm>
              <a:off x="6242685" y="2107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加法部件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950392" y="1967865"/>
              <a:ext cx="6724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3838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2858" y="1967865"/>
              <a:ext cx="67246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296275" y="1967865"/>
              <a:ext cx="6724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39720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68740" y="1967865"/>
              <a:ext cx="67246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641205" y="1967865"/>
              <a:ext cx="6724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84650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313670" y="1967865"/>
              <a:ext cx="67246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986135" y="1967865"/>
              <a:ext cx="6724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273116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2685" y="26979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乘法部件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50392" y="2558415"/>
              <a:ext cx="67246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2858" y="2558415"/>
              <a:ext cx="67246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66303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296275" y="2558415"/>
              <a:ext cx="67246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68740" y="2558415"/>
              <a:ext cx="67246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12185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641205" y="2558415"/>
              <a:ext cx="67246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13670" y="2558415"/>
              <a:ext cx="67246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57115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986135" y="2558415"/>
              <a:ext cx="6724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73116" y="2697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53" name="c2-text-2"/>
          <p:cNvGrpSpPr/>
          <p:nvPr/>
        </p:nvGrpSpPr>
        <p:grpSpPr>
          <a:xfrm>
            <a:off x="6241923" y="3188494"/>
            <a:ext cx="2942285" cy="249364"/>
            <a:chOff x="6241923" y="3188494"/>
            <a:chExt cx="2942285" cy="249364"/>
          </a:xfrm>
        </p:grpSpPr>
        <p:sp>
          <p:nvSpPr>
            <p:cNvPr id="52" name="TextBox 52"/>
            <p:cNvSpPr txBox="1"/>
            <p:nvPr/>
          </p:nvSpPr>
          <p:spPr>
            <a:xfrm>
              <a:off x="6241923" y="318849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每格是一步操作，加法和乘法交替进行</a:t>
              </a:r>
            </a:p>
          </p:txBody>
        </p:sp>
      </p:grpSp>
      <p:grpSp>
        <p:nvGrpSpPr>
          <p:cNvPr id="59" name="c2-kv-3"/>
          <p:cNvGrpSpPr/>
          <p:nvPr/>
        </p:nvGrpSpPr>
        <p:grpSpPr>
          <a:xfrm>
            <a:off x="6240780" y="3603308"/>
            <a:ext cx="5417820" cy="1015364"/>
            <a:chOff x="6240780" y="3603308"/>
            <a:chExt cx="5417820" cy="1015364"/>
          </a:xfrm>
        </p:grpSpPr>
        <p:sp>
          <p:nvSpPr>
            <p:cNvPr id="54" name="TextBox 54"/>
            <p:cNvSpPr txBox="1"/>
            <p:nvPr/>
          </p:nvSpPr>
          <p:spPr>
            <a:xfrm>
              <a:off x="6240780" y="3603308"/>
              <a:ext cx="1282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数据相关 N 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63840" y="3603308"/>
              <a:ext cx="3215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每个元素里乘法都要等加法的结果 k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9233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0780" y="4043362"/>
              <a:ext cx="124777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功能切换约 2N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3840" y="4043362"/>
              <a:ext cx="35490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加、乘、加、乘…每做一次就换一次功能部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</p:grpSp>
      <p:grpSp>
        <p:nvGrpSpPr>
          <p:cNvPr id="65" name="c2-card-4"/>
          <p:cNvGrpSpPr/>
          <p:nvPr/>
        </p:nvGrpSpPr>
        <p:grpSpPr>
          <a:xfrm>
            <a:off x="6248400" y="4750118"/>
            <a:ext cx="5410200" cy="1602105"/>
            <a:chOff x="6248400" y="4750118"/>
            <a:chExt cx="5410200" cy="1602105"/>
          </a:xfrm>
        </p:grpSpPr>
        <p:sp>
          <p:nvSpPr>
            <p:cNvPr id="60" name="Rectangle 60"/>
            <p:cNvSpPr/>
            <p:nvPr/>
          </p:nvSpPr>
          <p:spPr>
            <a:xfrm>
              <a:off x="6248400" y="4750118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488346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96050" y="49596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86258" y="4995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8430" y="5336858"/>
              <a:ext cx="4615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这是在标量处理器上计算向量的一般方式。相关和切换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的次数都随 N 线性增长，硬件开销过大，不适合向量处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理机的并行处理。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向量与三种计算方式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纵向计算：先整条向量做加法，再整条向量做乘法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ells-1"/>
          <p:cNvGrpSpPr/>
          <p:nvPr/>
        </p:nvGrpSpPr>
        <p:grpSpPr>
          <a:xfrm>
            <a:off x="527685" y="1524000"/>
            <a:ext cx="5632133" cy="979170"/>
            <a:chOff x="527685" y="1524000"/>
            <a:chExt cx="5632133" cy="97917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56874"/>
              <a:ext cx="672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 = B + C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06830" y="1524000"/>
              <a:ext cx="97059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8865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77428" y="1524000"/>
              <a:ext cx="97059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9463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48025" y="1524000"/>
              <a:ext cx="97059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41013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18622" y="1524000"/>
              <a:ext cx="97059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55146" y="1656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89220" y="1524000"/>
              <a:ext cx="97059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8506" y="1656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685" y="2230279"/>
              <a:ext cx="672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 = K × 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06830" y="2096452"/>
              <a:ext cx="970598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98865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77428" y="2096452"/>
              <a:ext cx="970598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69463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48025" y="2096452"/>
              <a:ext cx="970598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41013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18622" y="2096452"/>
              <a:ext cx="970598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55146" y="2230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89220" y="2096452"/>
              <a:ext cx="970598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18506" y="22302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末项</a:t>
              </a:r>
            </a:p>
          </p:txBody>
        </p:sp>
      </p:grpSp>
      <p:grpSp>
        <p:nvGrpSpPr>
          <p:cNvPr id="31" name="c1-text-2"/>
          <p:cNvGrpSpPr/>
          <p:nvPr/>
        </p:nvGrpSpPr>
        <p:grpSpPr>
          <a:xfrm>
            <a:off x="527304" y="2708910"/>
            <a:ext cx="5251094" cy="234696"/>
            <a:chOff x="527304" y="2708910"/>
            <a:chExt cx="5251094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2708910"/>
              <a:ext cx="5251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按列从上到下计算：加法部件先把 N 个 k 全部算完，乘法部件再算 N 个 d</a:t>
              </a:r>
            </a:p>
          </p:txBody>
        </p:sp>
      </p:grpSp>
      <p:grpSp>
        <p:nvGrpSpPr>
          <p:cNvPr id="35" name="c1-code-3"/>
          <p:cNvGrpSpPr/>
          <p:nvPr/>
        </p:nvGrpSpPr>
        <p:grpSpPr>
          <a:xfrm>
            <a:off x="533400" y="3081338"/>
            <a:ext cx="5626418" cy="907732"/>
            <a:chOff x="533400" y="3081338"/>
            <a:chExt cx="5626418" cy="907732"/>
          </a:xfrm>
        </p:grpSpPr>
        <p:sp>
          <p:nvSpPr>
            <p:cNvPr id="32" name="Rectangle 32"/>
            <p:cNvSpPr/>
            <p:nvPr/>
          </p:nvSpPr>
          <p:spPr>
            <a:xfrm>
              <a:off x="533400" y="3081338"/>
              <a:ext cx="562641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797" y="323326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两条向量指令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035" y="3496151"/>
              <a:ext cx="255752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K = B + C     ; 向量加法：N 个元素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 = K × A     ; 向量乘法：N 个元素</a:t>
              </a:r>
            </a:p>
          </p:txBody>
        </p:sp>
      </p:grpSp>
      <p:grpSp>
        <p:nvGrpSpPr>
          <p:cNvPr id="41" name="c1-kv-4"/>
          <p:cNvGrpSpPr/>
          <p:nvPr/>
        </p:nvGrpSpPr>
        <p:grpSpPr>
          <a:xfrm>
            <a:off x="526161" y="4198144"/>
            <a:ext cx="5633657" cy="699707"/>
            <a:chOff x="526161" y="4198144"/>
            <a:chExt cx="5633657" cy="699707"/>
          </a:xfrm>
        </p:grpSpPr>
        <p:sp>
          <p:nvSpPr>
            <p:cNvPr id="36" name="TextBox 36"/>
            <p:cNvSpPr txBox="1"/>
            <p:nvPr/>
          </p:nvSpPr>
          <p:spPr>
            <a:xfrm>
              <a:off x="526161" y="4198144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数据相关 1 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39671" y="4198144"/>
              <a:ext cx="26712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第二条指令要用第一条的结果 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5034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161" y="4619149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功能切换 1 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39671" y="461914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加法部件做完整条向量，才换乘法部件</a:t>
              </a:r>
            </a:p>
          </p:txBody>
        </p:sp>
      </p:grpSp>
      <p:grpSp>
        <p:nvGrpSpPr>
          <p:cNvPr id="48" name="c1-callout-5"/>
          <p:cNvGrpSpPr/>
          <p:nvPr/>
        </p:nvGrpSpPr>
        <p:grpSpPr>
          <a:xfrm>
            <a:off x="533400" y="5027295"/>
            <a:ext cx="5626418" cy="1230630"/>
            <a:chOff x="533400" y="5027295"/>
            <a:chExt cx="5626418" cy="1230630"/>
          </a:xfrm>
        </p:grpSpPr>
        <p:sp>
          <p:nvSpPr>
            <p:cNvPr id="42" name="Rectangle 42"/>
            <p:cNvSpPr/>
            <p:nvPr/>
          </p:nvSpPr>
          <p:spPr>
            <a:xfrm>
              <a:off x="533400" y="5027295"/>
              <a:ext cx="5626418" cy="1230630"/>
            </a:xfrm>
            <a:prstGeom prst="roundRect">
              <a:avLst>
                <a:gd name="adj" fmla="val 928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542598"/>
              <a:ext cx="200026" cy="200026"/>
              <a:chOff x="738188" y="554259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5425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609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6426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411629"/>
              <a:ext cx="47303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中间结果 K 要整条存下来，等乘法指令来取，这正是下一页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分组计算要解决的地方。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464618" y="1524000"/>
            <a:ext cx="5193982" cy="924878"/>
            <a:chOff x="6464618" y="1524000"/>
            <a:chExt cx="5193982" cy="924878"/>
          </a:xfrm>
        </p:grpSpPr>
        <p:sp>
          <p:nvSpPr>
            <p:cNvPr id="49" name="Rectangle 49"/>
            <p:cNvSpPr/>
            <p:nvPr/>
          </p:nvSpPr>
          <p:spPr>
            <a:xfrm>
              <a:off x="6464618" y="1524000"/>
              <a:ext cx="5193982" cy="924878"/>
            </a:xfrm>
            <a:prstGeom prst="roundRect">
              <a:avLst>
                <a:gd name="adj" fmla="val 144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1657350"/>
              <a:ext cx="47625" cy="6581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99314" y="1751171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纵向计算适合向量处理机：一条向量指令就处理 N 个元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素，相关和切换次数与 N 无关，硬件开销小。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6464618" y="2634615"/>
            <a:ext cx="5193982" cy="1290638"/>
            <a:chOff x="6464618" y="2634615"/>
            <a:chExt cx="5193982" cy="1290638"/>
          </a:xfrm>
        </p:grpSpPr>
        <p:sp>
          <p:nvSpPr>
            <p:cNvPr id="53" name="Rectangle 53"/>
            <p:cNvSpPr/>
            <p:nvPr/>
          </p:nvSpPr>
          <p:spPr>
            <a:xfrm>
              <a:off x="6464618" y="2634615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51048" y="2766060"/>
              <a:ext cx="71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55711" y="2766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30131" y="2766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功能切换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48378" y="2766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指令条数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69964" y="319563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横向（标量循环）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01101" y="319563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70517" y="3195638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2000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27220" y="3195638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 条运算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4899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3494722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9964" y="362616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纵向（向量指令）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8162" y="3504248"/>
              <a:ext cx="105537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634374" y="36261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231630" y="3504248"/>
              <a:ext cx="105537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708794" y="36261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98950" y="3626168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条向量指令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2634615"/>
              <a:ext cx="5193982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43875" y="263461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217342" y="263461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291762" y="263461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card-3"/>
          <p:cNvGrpSpPr/>
          <p:nvPr/>
        </p:nvGrpSpPr>
        <p:grpSpPr>
          <a:xfrm>
            <a:off x="6464618" y="4110038"/>
            <a:ext cx="5193982" cy="2147888"/>
            <a:chOff x="6464618" y="4110038"/>
            <a:chExt cx="5193982" cy="2147888"/>
          </a:xfrm>
        </p:grpSpPr>
        <p:sp>
          <p:nvSpPr>
            <p:cNvPr id="75" name="Rectangle 75"/>
            <p:cNvSpPr/>
            <p:nvPr/>
          </p:nvSpPr>
          <p:spPr>
            <a:xfrm>
              <a:off x="6464618" y="4110038"/>
              <a:ext cx="5193982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4142" y="4243388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706552" y="431387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92811" y="43495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新问题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99314" y="468772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每条指令都要访问向量的全部元素。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99314" y="5007769"/>
              <a:ext cx="455002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存储是分层的，指令的操作数一般要先装进寄存器，而寄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存器的数量有限，比起可以无限增长的向量长度 N 来说太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00456" y="5866448"/>
              <a:ext cx="4518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很大时一次装不下，于是把前两种方式结合起来，分组计算。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向量与三种计算方式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纵横分组计算：按寄存器装得下的长度分段，段内纵向计算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511618"/>
            <a:chOff x="533400" y="1524000"/>
            <a:chExt cx="5193982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分组计算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把向量分成若干组，组内按纵向方式处理，依次处理各组。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75535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N = S×n + r：N 为向量长度，S 为组数，n 为每组长度，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为余数；余下的 r 个也作为一组，共 S+1 组。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220402"/>
            <a:ext cx="5144054" cy="1693070"/>
            <a:chOff x="533400" y="3220402"/>
            <a:chExt cx="5144054" cy="1693070"/>
          </a:xfrm>
        </p:grpSpPr>
        <p:sp>
          <p:nvSpPr>
            <p:cNvPr id="14" name="Rectangle 14"/>
            <p:cNvSpPr/>
            <p:nvPr/>
          </p:nvSpPr>
          <p:spPr>
            <a:xfrm>
              <a:off x="666750" y="3363278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22040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294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8071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880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948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468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25278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519964"/>
              <a:ext cx="4338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k[1..n] ← b[1..n] + c[1..n]；d[1..n] ← k[1..n] × a[1..n]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839527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106704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n+1 到 2n，同样两条向量指令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426268"/>
              <a:ext cx="1194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直到第 S+1 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693444"/>
              <a:ext cx="4730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每组数据相关 1 次，功能切换 2 次（组内加换乘，再换回下一组的加）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026848" y="1524000"/>
            <a:ext cx="5631752" cy="1902714"/>
            <a:chOff x="6026848" y="1524000"/>
            <a:chExt cx="5631752" cy="1902714"/>
          </a:xfrm>
        </p:grpSpPr>
        <p:sp>
          <p:nvSpPr>
            <p:cNvPr id="28" name="Rectangle 28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52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176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0046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功能切换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30727" y="16483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对寄存器的要求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32195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67458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38160" y="205406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0670" y="20540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标量寄存器即可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2195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9184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055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70670" y="2459831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要放下整条向量（1000 个元素）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32195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038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1086" y="286559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32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080182" y="2750820"/>
              <a:ext cx="25688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70670" y="2865596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 64 个元素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2753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4004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06589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26848" y="3221355"/>
              <a:ext cx="5569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例：N = 1000，寄存器每次装 n = 64 个。1000 = 15×64 + 40，S = 15，r = 40，共 16 组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032182" y="3560445"/>
            <a:ext cx="5626418" cy="1346835"/>
            <a:chOff x="6032182" y="3560445"/>
            <a:chExt cx="5626418" cy="1346835"/>
          </a:xfrm>
        </p:grpSpPr>
        <p:sp>
          <p:nvSpPr>
            <p:cNvPr id="55" name="Rectangle 55"/>
            <p:cNvSpPr/>
            <p:nvPr/>
          </p:nvSpPr>
          <p:spPr>
            <a:xfrm>
              <a:off x="6032182" y="3560445"/>
              <a:ext cx="5626418" cy="1346835"/>
            </a:xfrm>
            <a:prstGeom prst="roundRect">
              <a:avLst>
                <a:gd name="adj" fmla="val 848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236970" y="4133850"/>
              <a:ext cx="200026" cy="200025"/>
              <a:chOff x="6236970" y="4133850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236970" y="41338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276709" y="41783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311424" y="42894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539674" y="3890962"/>
              <a:ext cx="473716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分组计算后面还会出现两次：链接技术“一般出现在向量分组的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内部”；RVV 1.0 用 vsetvli 循环实现分组，称为 strip mining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（第三部分最后一页）。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2" name="Rectangle 6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5779770"/>
              <a:ext cx="98206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次数按原课件的口径数：横向每个元素 1 次相关、2 次切换，分组每组 1 次相关、2 次切换。逐条数切换的话首尾少一次（2N−1、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2(S+1)−1），不影响结论。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579745" cy="3706177"/>
            <a:chOff x="667512" y="1835468"/>
            <a:chExt cx="5579745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5842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 RV64V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大寄存器堆、流水化的存取和运算，再加上多车道与链接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向量体系结构的设计要点与多车道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55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RISC-V 与向量扩展 RVV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向量寄存器、存取单元与功能单元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链接技术与例题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856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RVV 1.0 的分组循环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向量体系结构的三个设计要点，再加上多车道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2429828"/>
            <a:chOff x="533400" y="1524000"/>
            <a:chExt cx="5626418" cy="24298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83070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0578" y="1756410"/>
              <a:ext cx="1728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设计要点（原课件第26页）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9620" y="207073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96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0514" y="2082641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很大的顺序寄存器堆（Register File），加载更多向量元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素以支持纵向计算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9620" y="265938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7965" y="26997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514" y="267223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从内存收集散落的数据放进寄存器堆，运算后放回内存：一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次传输一组数据，LD/ST 流水化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9620" y="3248977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965" y="32893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514" y="326088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一条指令操作一个向量的全部数据，也就是诸多独立元素：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纵向计算，功能单元流水化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133850"/>
            <a:ext cx="5626418" cy="1018222"/>
            <a:chOff x="533400" y="4133850"/>
            <a:chExt cx="5626418" cy="1018222"/>
          </a:xfrm>
        </p:grpSpPr>
        <p:sp>
          <p:nvSpPr>
            <p:cNvPr id="21" name="Rectangle 21"/>
            <p:cNvSpPr/>
            <p:nvPr/>
          </p:nvSpPr>
          <p:spPr>
            <a:xfrm>
              <a:off x="533400" y="4133850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543425"/>
              <a:ext cx="200026" cy="200026"/>
              <a:chOff x="738188" y="454342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5434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61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6434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281011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以上是在串行化中尽可能优化的结果。从并行的角度，增加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功能单元（ALU）的数量也能大大提升向量的计算速度，这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就是多车道。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332095"/>
            <a:ext cx="5626418" cy="1018222"/>
            <a:chOff x="533400" y="5332095"/>
            <a:chExt cx="5626418" cy="1018222"/>
          </a:xfrm>
        </p:grpSpPr>
        <p:sp>
          <p:nvSpPr>
            <p:cNvPr id="28" name="Rectangle 28"/>
            <p:cNvSpPr/>
            <p:nvPr/>
          </p:nvSpPr>
          <p:spPr>
            <a:xfrm>
              <a:off x="533400" y="5332095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741670"/>
              <a:ext cx="200026" cy="200025"/>
              <a:chOff x="738188" y="574167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7416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7861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8972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480209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就像把一条单车道的窄巷扩宽成四车道的公路，吞吐量自然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会提升。每条车道各有一份向量寄存器的切片，只处理分到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自己的那些元素，车道之间不用交换数据。</a:t>
              </a:r>
            </a:p>
          </p:txBody>
        </p:sp>
      </p:grpSp>
      <p:grpSp>
        <p:nvGrpSpPr>
          <p:cNvPr id="79" name="c2-cells-1"/>
          <p:cNvGrpSpPr/>
          <p:nvPr/>
        </p:nvGrpSpPr>
        <p:grpSpPr>
          <a:xfrm>
            <a:off x="6459284" y="1524000"/>
            <a:ext cx="5092636" cy="2059305"/>
            <a:chOff x="6459284" y="1524000"/>
            <a:chExt cx="5092636" cy="2059305"/>
          </a:xfrm>
        </p:grpSpPr>
        <p:sp>
          <p:nvSpPr>
            <p:cNvPr id="35" name="TextBox 35"/>
            <p:cNvSpPr txBox="1"/>
            <p:nvPr/>
          </p:nvSpPr>
          <p:spPr>
            <a:xfrm>
              <a:off x="6459284" y="165544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车道0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41820" y="152400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566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63840" y="152400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7870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85860" y="152400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0072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707880" y="152400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81926" y="16554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629900" y="1524000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04476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59284" y="221075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车道1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941820" y="2079308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56681" y="2210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863840" y="2079308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78701" y="2210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785860" y="2079308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00721" y="2210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707880" y="2079308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081926" y="2210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629900" y="2079308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044761" y="2210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9284" y="276606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车道2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941820" y="2634615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56681" y="27660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863840" y="2634615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278701" y="27660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785860" y="2634615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59906" y="27660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707880" y="2634615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081926" y="27660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629900" y="2634615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44761" y="27660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59284" y="3321368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车道3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941820" y="3188970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356681" y="3321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863840" y="3188970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78701" y="3321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785860" y="3188970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59906" y="33213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707880" y="3188970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081926" y="33213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629900" y="3188970"/>
              <a:ext cx="9220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044761" y="3321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81" name="c2-text-2"/>
          <p:cNvGrpSpPr/>
          <p:nvPr/>
        </p:nvGrpSpPr>
        <p:grpSpPr>
          <a:xfrm>
            <a:off x="6458522" y="3783330"/>
            <a:ext cx="4850892" cy="470916"/>
            <a:chOff x="6458522" y="3783330"/>
            <a:chExt cx="4850892" cy="470916"/>
          </a:xfrm>
        </p:grpSpPr>
        <p:sp>
          <p:nvSpPr>
            <p:cNvPr id="80" name="TextBox 80"/>
            <p:cNvSpPr txBox="1"/>
            <p:nvPr/>
          </p:nvSpPr>
          <p:spPr>
            <a:xfrm>
              <a:off x="6458522" y="3783330"/>
              <a:ext cx="48508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四车道：第 i 个元素交给车道 i mod 4，每拍完成 4 个加法（原课件第28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页，H&amp;P 图 4.4）</a:t>
              </a:r>
            </a:p>
          </p:txBody>
        </p:sp>
      </p:grpSp>
      <p:grpSp>
        <p:nvGrpSpPr>
          <p:cNvPr id="99" name="c2-table-3"/>
          <p:cNvGrpSpPr/>
          <p:nvPr/>
        </p:nvGrpSpPr>
        <p:grpSpPr>
          <a:xfrm>
            <a:off x="6459284" y="4387215"/>
            <a:ext cx="5199316" cy="1553146"/>
            <a:chOff x="6459284" y="4387215"/>
            <a:chExt cx="5199316" cy="1553146"/>
          </a:xfrm>
        </p:grpSpPr>
        <p:sp>
          <p:nvSpPr>
            <p:cNvPr id="82" name="Rectangle 82"/>
            <p:cNvSpPr/>
            <p:nvPr/>
          </p:nvSpPr>
          <p:spPr>
            <a:xfrm>
              <a:off x="6464618" y="4387215"/>
              <a:ext cx="5193982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84624" y="4515802"/>
              <a:ext cx="1375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64 的向量加法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137523" y="45158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车道数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546461" y="45158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所需拍数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567106" y="49396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单车道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335414" y="49396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780700" y="49396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52311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464618" y="5235892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567106" y="53644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四车道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35414" y="53644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102215" y="5245418"/>
              <a:ext cx="154686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780700" y="53644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464618" y="4387215"/>
              <a:ext cx="5193982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8674418" y="438721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087928" y="438721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459284" y="57350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忽略流水线启动时间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向量处理器的优势：用简单的硬件掩盖访存延迟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ompare-1"/>
          <p:cNvGrpSpPr/>
          <p:nvPr/>
        </p:nvGrpSpPr>
        <p:grpSpPr>
          <a:xfrm>
            <a:off x="533400" y="1524000"/>
            <a:ext cx="5410200" cy="3989070"/>
            <a:chOff x="533400" y="1524000"/>
            <a:chExt cx="5410200" cy="3989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398907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22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向量处理器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7487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 Load/Store 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度流水化，大型寄存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器堆充当 Buffer，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能掩盖访存延迟、充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分利用内存带宽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653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590925"/>
              <a:ext cx="1729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把顺序执行的标量处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理器扩展成向量处理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器，复杂度和功耗不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会大幅升高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48463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478345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开发者也容易适应和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转换到向量指令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1524000"/>
              <a:ext cx="2495550" cy="398907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57575" y="1657350"/>
              <a:ext cx="47625" cy="37223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88080" y="17583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乱序超标量处理器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0141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9530" y="211264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设计复杂，乱序程度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越高，复杂性和功耗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也越高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01415" y="30822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9530" y="301942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沿这个方向发展很容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易碰到功耗墙（第1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章）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076575" y="33566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46915" y="34528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2685" y="1524000"/>
            <a:ext cx="5415915" cy="2517933"/>
            <a:chOff x="6242685" y="1524000"/>
            <a:chExt cx="5415915" cy="2517933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0426" y="1659731"/>
              <a:ext cx="185719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DAXPY：Y = a×X + Y，64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个元素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4831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标量循环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5025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向量代码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6223" y="233505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每多一个元素，多几条指令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08064" y="233505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8 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35495" y="233505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6223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总指令条数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3292" y="2783681"/>
              <a:ext cx="745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512 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153650" y="2657475"/>
              <a:ext cx="14954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735495" y="278368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6223" y="32323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要取指译码的次数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13292" y="3232309"/>
              <a:ext cx="745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512 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153650" y="3107055"/>
              <a:ext cx="14954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35495" y="323230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623935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39362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2685" y="3621881"/>
              <a:ext cx="51036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标量循环体：取 X、乘 a、取 Y、加、存、两次指针加、分支；向量：取 a、vld、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vmul、vld、vadd、vst（寄存器能装下 64 个元素时）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248400" y="4188142"/>
            <a:ext cx="5410200" cy="1324928"/>
            <a:chOff x="6248400" y="4188142"/>
            <a:chExt cx="5410200" cy="1324928"/>
          </a:xfrm>
        </p:grpSpPr>
        <p:sp>
          <p:nvSpPr>
            <p:cNvPr id="49" name="Rectangle 49"/>
            <p:cNvSpPr/>
            <p:nvPr/>
          </p:nvSpPr>
          <p:spPr>
            <a:xfrm>
              <a:off x="6248400" y="4188142"/>
              <a:ext cx="5410200" cy="1324928"/>
            </a:xfrm>
            <a:prstGeom prst="roundRect">
              <a:avLst>
                <a:gd name="adj" fmla="val 8627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4750120"/>
              <a:ext cx="200023" cy="200023"/>
              <a:chOff x="6453188" y="475012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47501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86538" y="4816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460724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指令条数少两个数量级，取指译码的能耗跟着降下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来，这就是向量机省电的来源。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71166" cy="909257"/>
            <a:chOff x="520446" y="342900"/>
            <a:chExt cx="63711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711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RISC-V 加上向量扩展：RV64G 与 RV64V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542" y="1545907"/>
            <a:ext cx="5633276" cy="1965198"/>
            <a:chOff x="526542" y="1545907"/>
            <a:chExt cx="5633276" cy="1965198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RISC-V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45692" y="1545907"/>
              <a:ext cx="4655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免费开源、基于精简指令集（RISC）的指令集架构（ISA）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54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4405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RVV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5692" y="1944052"/>
              <a:ext cx="4471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RISC-V Vector Extension，RISC-V 的向量扩展；原课件称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本节基于 riscv-v-spec-1.0 规范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869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595562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RV64G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5692" y="2595562"/>
              <a:ext cx="433425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寄存器宽度为 64 的标量架构，包括 RV64I（整数 ISA）和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F、D 扩展（单、双精度浮点 ISA）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384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247072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RV64V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5692" y="3247072"/>
              <a:ext cx="3578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兼容 RV64G 并带 64 位宽度 RVV 的向量架构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28066" y="3633788"/>
            <a:ext cx="5631752" cy="2308479"/>
            <a:chOff x="528066" y="3633788"/>
            <a:chExt cx="5631752" cy="2308479"/>
          </a:xfrm>
        </p:grpSpPr>
        <p:sp>
          <p:nvSpPr>
            <p:cNvPr id="19" name="Rectangle 19"/>
            <p:cNvSpPr/>
            <p:nvPr/>
          </p:nvSpPr>
          <p:spPr>
            <a:xfrm>
              <a:off x="533400" y="3633788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9371" y="3758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73338" y="3758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8258" y="3758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85474" y="37580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指令后缀举例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3412" y="41638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80303" y="416385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06107" y="416385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6268" y="416385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lh、sh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40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445318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5696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64372" y="4569619"/>
              <a:ext cx="13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6107" y="456961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6268" y="456961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lw、addw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8463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49753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80303" y="497538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06107" y="49753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26268" y="4975384"/>
              <a:ext cx="501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ld、fld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2520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5256848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5381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64372" y="5381149"/>
              <a:ext cx="13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64644" y="538114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26268" y="538114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flq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633788"/>
              <a:ext cx="562641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792605" y="36337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057525" y="36337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321492" y="36337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8066" y="5736908"/>
              <a:ext cx="5289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不论寄存器宽度 XLEN 是 32、64 还是 128，RISC-V 的一个字（word）永远是 32 位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464618" y="1524000"/>
            <a:ext cx="5193982" cy="2546985"/>
            <a:chOff x="6464618" y="1524000"/>
            <a:chExt cx="5193982" cy="2546985"/>
          </a:xfrm>
        </p:grpSpPr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2546985"/>
            </a:xfrm>
            <a:prstGeom prst="roundRect">
              <a:avLst>
                <a:gd name="adj" fmla="val 5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1657350"/>
              <a:ext cx="47625" cy="22802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51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65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88264" y="2072640"/>
              <a:ext cx="44371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原课件后面用的 vld、vmul、vadd、vst 是 Hennessy、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Patterson 教材里简化的 RV64V 写法，并非 RVV 1.0 的正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式指令。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8264" y="2889885"/>
              <a:ext cx="45571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RVV 1.0 写作 vle64.v、vfmul.vf、vfadd.vv、vse64.v：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浮点运算带 f，后缀标明操作数是向量（.vv）还是向量和标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量（.vf），向量长度由 vsetvli 设置。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89408" y="3702844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本讲义讲原理时沿用课件写法，第三部分最后一页给出两种写法的对照。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4246245"/>
            <a:ext cx="5193982" cy="1654492"/>
            <a:chOff x="6464618" y="4246245"/>
            <a:chExt cx="5193982" cy="1654492"/>
          </a:xfrm>
        </p:grpSpPr>
        <p:sp>
          <p:nvSpPr>
            <p:cNvPr id="59" name="Rectangle 59"/>
            <p:cNvSpPr/>
            <p:nvPr/>
          </p:nvSpPr>
          <p:spPr>
            <a:xfrm>
              <a:off x="6464618" y="4246245"/>
              <a:ext cx="5193982" cy="1654492"/>
            </a:xfrm>
            <a:prstGeom prst="roundRect">
              <a:avLst>
                <a:gd name="adj" fmla="val 690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4973003"/>
              <a:ext cx="200026" cy="200025"/>
              <a:chOff x="6669405" y="497300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49730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09144" y="50174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43859" y="51285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2110" y="4854892"/>
              <a:ext cx="42056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记忆：字 W 固定 32 位，所以 64 位机器上的 ld / sd 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“双字”取数存数，lw / sw 只搬 32 位。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26237" cy="909257"/>
            <a:chOff x="520446" y="342900"/>
            <a:chExt cx="94262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262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RV64V 结构：向量寄存器居中，连着存取单元和五个功能单元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graph-1"/>
          <p:cNvGrpSpPr/>
          <p:nvPr/>
        </p:nvGrpSpPr>
        <p:grpSpPr>
          <a:xfrm>
            <a:off x="955358" y="1798320"/>
            <a:ext cx="5432107" cy="4207669"/>
            <a:chOff x="955358" y="1798320"/>
            <a:chExt cx="5432107" cy="4207669"/>
          </a:xfrm>
        </p:grpSpPr>
        <p:sp>
          <p:nvSpPr>
            <p:cNvPr id="7" name="Freeform 7"/>
            <p:cNvSpPr/>
            <p:nvPr/>
          </p:nvSpPr>
          <p:spPr>
            <a:xfrm>
              <a:off x="1537335" y="2193608"/>
              <a:ext cx="9525" cy="692467"/>
            </a:xfrm>
            <a:custGeom>
              <a:avLst/>
              <a:gdLst/>
              <a:ahLst/>
              <a:cxnLst/>
              <a:rect l="l" t="t" r="r" b="b"/>
              <a:pathLst>
                <a:path w="9525" h="692467">
                  <a:moveTo>
                    <a:pt x="0" y="0"/>
                  </a:moveTo>
                  <a:lnTo>
                    <a:pt x="0" y="6924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89710" y="2886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89710" y="2098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37335" y="3555682"/>
              <a:ext cx="9525" cy="769620"/>
            </a:xfrm>
            <a:custGeom>
              <a:avLst/>
              <a:gdLst/>
              <a:ahLst/>
              <a:cxnLst/>
              <a:rect l="l" t="t" r="r" b="b"/>
              <a:pathLst>
                <a:path w="9525" h="769620">
                  <a:moveTo>
                    <a:pt x="0" y="0"/>
                  </a:moveTo>
                  <a:lnTo>
                    <a:pt x="0" y="7696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89710" y="43253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489710" y="34604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03132" y="3834765"/>
              <a:ext cx="1178242" cy="631507"/>
            </a:xfrm>
            <a:custGeom>
              <a:avLst/>
              <a:gdLst/>
              <a:ahLst/>
              <a:cxnLst/>
              <a:rect l="l" t="t" r="r" b="b"/>
              <a:pathLst>
                <a:path w="1178242" h="631507">
                  <a:moveTo>
                    <a:pt x="0" y="631507"/>
                  </a:moveTo>
                  <a:lnTo>
                    <a:pt x="11782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59468" y="3789045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0"/>
                  </a:moveTo>
                  <a:lnTo>
                    <a:pt x="44767" y="8763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119312" y="442436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7630"/>
                  </a:moveTo>
                  <a:lnTo>
                    <a:pt x="61912" y="0"/>
                  </a:lnTo>
                  <a:lnTo>
                    <a:pt x="106680" y="838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510915" y="4769168"/>
              <a:ext cx="90488" cy="758190"/>
            </a:xfrm>
            <a:custGeom>
              <a:avLst/>
              <a:gdLst/>
              <a:ahLst/>
              <a:cxnLst/>
              <a:rect l="l" t="t" r="r" b="b"/>
              <a:pathLst>
                <a:path w="90488" h="758190">
                  <a:moveTo>
                    <a:pt x="0" y="758190"/>
                  </a:moveTo>
                  <a:lnTo>
                    <a:pt x="904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53778" y="4674870"/>
              <a:ext cx="94297" cy="100012"/>
            </a:xfrm>
            <a:custGeom>
              <a:avLst/>
              <a:gdLst/>
              <a:ahLst/>
              <a:cxnLst/>
              <a:rect l="l" t="t" r="r" b="b"/>
              <a:pathLst>
                <a:path w="94297" h="100012">
                  <a:moveTo>
                    <a:pt x="58102" y="0"/>
                  </a:moveTo>
                  <a:lnTo>
                    <a:pt x="94297" y="100012"/>
                  </a:lnTo>
                  <a:lnTo>
                    <a:pt x="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76700" y="2158365"/>
              <a:ext cx="1471612" cy="1206818"/>
            </a:xfrm>
            <a:custGeom>
              <a:avLst/>
              <a:gdLst/>
              <a:ahLst/>
              <a:cxnLst/>
              <a:rect l="l" t="t" r="r" b="b"/>
              <a:pathLst>
                <a:path w="1471612" h="1206818">
                  <a:moveTo>
                    <a:pt x="0" y="1206818"/>
                  </a:moveTo>
                  <a:lnTo>
                    <a:pt x="14716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517832" y="2098358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0"/>
                  </a:moveTo>
                  <a:lnTo>
                    <a:pt x="60960" y="97155"/>
                  </a:lnTo>
                  <a:lnTo>
                    <a:pt x="0" y="238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002405" y="3328035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3815" y="0"/>
                  </a:lnTo>
                  <a:lnTo>
                    <a:pt x="103823" y="7334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90988" y="2983230"/>
              <a:ext cx="1260157" cy="516255"/>
            </a:xfrm>
            <a:custGeom>
              <a:avLst/>
              <a:gdLst/>
              <a:ahLst/>
              <a:cxnLst/>
              <a:rect l="l" t="t" r="r" b="b"/>
              <a:pathLst>
                <a:path w="1260157" h="516255">
                  <a:moveTo>
                    <a:pt x="0" y="516255"/>
                  </a:moveTo>
                  <a:lnTo>
                    <a:pt x="12601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33048" y="293846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572"/>
                  </a:moveTo>
                  <a:lnTo>
                    <a:pt x="36195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002405" y="345471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80962"/>
                  </a:moveTo>
                  <a:lnTo>
                    <a:pt x="70485" y="0"/>
                  </a:lnTo>
                  <a:lnTo>
                    <a:pt x="106680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097655" y="3645218"/>
              <a:ext cx="1030605" cy="9525"/>
            </a:xfrm>
            <a:custGeom>
              <a:avLst/>
              <a:gdLst/>
              <a:ahLst/>
              <a:cxnLst/>
              <a:rect l="l" t="t" r="r" b="b"/>
              <a:pathLst>
                <a:path w="1030605" h="9525">
                  <a:moveTo>
                    <a:pt x="0" y="0"/>
                  </a:moveTo>
                  <a:lnTo>
                    <a:pt x="10306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128260" y="35975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002405" y="35975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090988" y="3791902"/>
              <a:ext cx="1260157" cy="516255"/>
            </a:xfrm>
            <a:custGeom>
              <a:avLst/>
              <a:gdLst/>
              <a:ahLst/>
              <a:cxnLst/>
              <a:rect l="l" t="t" r="r" b="b"/>
              <a:pathLst>
                <a:path w="1260157" h="516255">
                  <a:moveTo>
                    <a:pt x="0" y="0"/>
                  </a:moveTo>
                  <a:lnTo>
                    <a:pt x="1260157" y="5162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333048" y="4263390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80010"/>
                  </a:moveTo>
                  <a:lnTo>
                    <a:pt x="0" y="88582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002405" y="374713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8573"/>
                  </a:moveTo>
                  <a:lnTo>
                    <a:pt x="106680" y="0"/>
                  </a:lnTo>
                  <a:lnTo>
                    <a:pt x="70485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076700" y="3926205"/>
              <a:ext cx="1471612" cy="1205865"/>
            </a:xfrm>
            <a:custGeom>
              <a:avLst/>
              <a:gdLst/>
              <a:ahLst/>
              <a:cxnLst/>
              <a:rect l="l" t="t" r="r" b="b"/>
              <a:pathLst>
                <a:path w="1471612" h="1205865">
                  <a:moveTo>
                    <a:pt x="0" y="0"/>
                  </a:moveTo>
                  <a:lnTo>
                    <a:pt x="1471612" y="12058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17832" y="509492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97155"/>
                  </a:moveTo>
                  <a:lnTo>
                    <a:pt x="0" y="74295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002405" y="3865245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0"/>
                  </a:moveTo>
                  <a:lnTo>
                    <a:pt x="103823" y="23812"/>
                  </a:lnTo>
                  <a:lnTo>
                    <a:pt x="43815" y="971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00125" y="1798320"/>
              <a:ext cx="107442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55358" y="2981325"/>
              <a:ext cx="1163955" cy="478155"/>
            </a:xfrm>
            <a:prstGeom prst="roundRect">
              <a:avLst>
                <a:gd name="adj" fmla="val 199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5358" y="4420552"/>
              <a:ext cx="1163955" cy="805815"/>
            </a:xfrm>
            <a:prstGeom prst="roundRect">
              <a:avLst>
                <a:gd name="adj" fmla="val 11820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11780" y="5527358"/>
              <a:ext cx="1343025" cy="478155"/>
            </a:xfrm>
            <a:prstGeom prst="roundRect">
              <a:avLst>
                <a:gd name="adj" fmla="val 1992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65195" y="2615565"/>
              <a:ext cx="537210" cy="2059305"/>
            </a:xfrm>
            <a:prstGeom prst="roundRect">
              <a:avLst>
                <a:gd name="adj" fmla="val 177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223510" y="1798320"/>
              <a:ext cx="116395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223510" y="2646998"/>
              <a:ext cx="116395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223510" y="3495675"/>
              <a:ext cx="116395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223510" y="4343400"/>
              <a:ext cx="116395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223510" y="5192078"/>
              <a:ext cx="116395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80846" y="18778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5761" y="3061811"/>
              <a:ext cx="100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向量取数/存数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6048" y="3239929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load/store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4684" y="46648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向量寄存器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0403" y="484298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v0–v31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00642" y="56068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标量寄存器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79757" y="5785961"/>
              <a:ext cx="1207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x0–x31、f0–f31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77311" y="34856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77311" y="3664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98224" y="18778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73611" y="27265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73611" y="35752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48998" y="44238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48998" y="52725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7114222" y="1524000"/>
            <a:ext cx="4544378" cy="3608070"/>
            <a:chOff x="7114222" y="1524000"/>
            <a:chExt cx="4544378" cy="3608070"/>
          </a:xfrm>
        </p:grpSpPr>
        <p:sp>
          <p:nvSpPr>
            <p:cNvPr id="58" name="Rectangle 58"/>
            <p:cNvSpPr/>
            <p:nvPr/>
          </p:nvSpPr>
          <p:spPr>
            <a:xfrm>
              <a:off x="7114222" y="1524000"/>
              <a:ext cx="4544378" cy="3608070"/>
            </a:xfrm>
            <a:prstGeom prst="roundRect">
              <a:avLst>
                <a:gd name="adj" fmla="val 3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23748" y="1657350"/>
              <a:ext cx="47625" cy="33413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50442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25881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各部件做什么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58062" y="21431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14654" y="2082641"/>
              <a:ext cx="36934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向量寄存器：32 个，每个存一段向量，有足够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多的读写端口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58062" y="27317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14654" y="2672239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向量功能单元：5 个，全部流水化，每拍可以开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始一个新操作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358062" y="33213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14654" y="3260884"/>
              <a:ext cx="37204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向量取数/存数单元：在内存和向量寄存器之间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成批搬数据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358062" y="391096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14654" y="3850481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标量寄存器：给功能单元提供标量操作数，给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存取单元提供地址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358062" y="44996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14654" y="444007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交叉开关：把寄存器的读写端口连到各功能单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元的输入输出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7114222" y="5312092"/>
            <a:ext cx="4544378" cy="1018222"/>
            <a:chOff x="7114222" y="5312092"/>
            <a:chExt cx="4544378" cy="1018222"/>
          </a:xfrm>
        </p:grpSpPr>
        <p:sp>
          <p:nvSpPr>
            <p:cNvPr id="73" name="Rectangle 73"/>
            <p:cNvSpPr/>
            <p:nvPr/>
          </p:nvSpPr>
          <p:spPr>
            <a:xfrm>
              <a:off x="7114222" y="5312092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19010" y="5721668"/>
              <a:ext cx="200026" cy="200026"/>
              <a:chOff x="7319010" y="5721668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19010" y="57216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419023" y="5788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407910" y="58216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621334" y="5459254"/>
              <a:ext cx="36212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原课件第32页的结构图（H&amp;P 图 4.1），其中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还包含一个完整的 RISC-V 标量处理器，这里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只画出向量部分。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0815" cy="909257"/>
            <a:chOff x="520446" y="342900"/>
            <a:chExt cx="75408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08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向量寄存器：固定 32 个，宽度 VLEN 由实现决定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071688"/>
            <a:chOff x="533400" y="1524000"/>
            <a:chExt cx="5410200" cy="20716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向量寄存器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RVV 规定 32 个向量寄存器，编号 v0–v31，任何实现都固定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32 个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不同实现的寄存器宽度 VLEN 可以不同，规范要求 VLEN 是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的幂且不超过 2¹⁶ 位；原课件取 VLEN = 64 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2489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19278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寄存器组拥有充足的读写端口，多个向量操作可以同时读写</a:t>
              </a:r>
            </a:p>
          </p:txBody>
        </p:sp>
      </p:grpSp>
      <p:grpSp>
        <p:nvGrpSpPr>
          <p:cNvPr id="54" name="c1-cells-2"/>
          <p:cNvGrpSpPr/>
          <p:nvPr/>
        </p:nvGrpSpPr>
        <p:grpSpPr>
          <a:xfrm>
            <a:off x="528447" y="3770948"/>
            <a:ext cx="5415153" cy="1992630"/>
            <a:chOff x="528447" y="3770948"/>
            <a:chExt cx="5415153" cy="1992630"/>
          </a:xfrm>
        </p:grpSpPr>
        <p:sp>
          <p:nvSpPr>
            <p:cNvPr id="18" name="TextBox 18"/>
            <p:cNvSpPr txBox="1"/>
            <p:nvPr/>
          </p:nvSpPr>
          <p:spPr>
            <a:xfrm>
              <a:off x="528447" y="39009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82015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515428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47888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80348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12808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45268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78680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11140" y="377094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447" y="44381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82015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15428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147888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80348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12808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45268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78680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11140" y="430815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4975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82015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15428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47888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80348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412808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045268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78680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11140" y="4845368"/>
              <a:ext cx="63246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551259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v31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82015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515428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147888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780348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412808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045268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678680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11140" y="5382578"/>
              <a:ext cx="6324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</p:grpSp>
      <p:grpSp>
        <p:nvGrpSpPr>
          <p:cNvPr id="56" name="c1-text-3"/>
          <p:cNvGrpSpPr/>
          <p:nvPr/>
        </p:nvGrpSpPr>
        <p:grpSpPr>
          <a:xfrm>
            <a:off x="527685" y="5958364"/>
            <a:ext cx="5167630" cy="441008"/>
            <a:chOff x="527685" y="5958364"/>
            <a:chExt cx="5167630" cy="441008"/>
          </a:xfrm>
        </p:grpSpPr>
        <p:sp>
          <p:nvSpPr>
            <p:cNvPr id="55" name="TextBox 55"/>
            <p:cNvSpPr txBox="1"/>
            <p:nvPr/>
          </p:nvSpPr>
          <p:spPr>
            <a:xfrm>
              <a:off x="527685" y="5958364"/>
              <a:ext cx="51676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原课件第34页：VLEN = 64 时每个寄存器 64 位（第 63 位到第 0 位），图中每格 8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6243066" y="1524000"/>
            <a:ext cx="5415534" cy="2089404"/>
            <a:chOff x="6243066" y="1524000"/>
            <a:chExt cx="5415534" cy="2089404"/>
          </a:xfrm>
        </p:grpSpPr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4461" y="164830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VLEN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848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元素位数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26113" y="1648301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LMUL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46500" y="16483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一个寄存器装几个元素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1390" y="20540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710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8538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5891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7854" y="24598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97107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8538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55891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74318" y="28655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9710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8538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563100" y="2750820"/>
              <a:ext cx="208597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51744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1524000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25519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50677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54881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43066" y="3221355"/>
              <a:ext cx="50779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VLMAX = VLEN ÷ 元素位数 × LMUL；最后一行相当于 H&amp;P 的 RV64V（每个寄存器 32 个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 位元素）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6248400" y="3747135"/>
            <a:ext cx="5410200" cy="2607945"/>
            <a:chOff x="6248400" y="3747135"/>
            <a:chExt cx="5410200" cy="2607945"/>
          </a:xfrm>
        </p:grpSpPr>
        <p:sp>
          <p:nvSpPr>
            <p:cNvPr id="84" name="Rectangle 84"/>
            <p:cNvSpPr/>
            <p:nvPr/>
          </p:nvSpPr>
          <p:spPr>
            <a:xfrm>
              <a:off x="6248400" y="3747135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257925" y="3880485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78905" y="393954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558344" y="397383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72047" y="4296728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原课件写“VLEN 小于 2¹⁶ bit”，规范的要求是不超过（≤）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2¹⁶。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72047" y="4855845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VLEN = 64、元素 64 位时一个寄存器只装 1 个元素，这只是画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图用的取值；RVV 1.0 标准 V 扩展要求 VLEN ≥ 128。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73190" y="5411629"/>
              <a:ext cx="47480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后面“向量长度 128”的例题沿用 H&amp;P 的设定，寄存器能装一整段向量，不要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 VLEN = 64 混在一起算。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标量寄存器：给向量单元送标量操作数和地址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457450"/>
            <a:chOff x="533400" y="1524000"/>
            <a:chExt cx="5193982" cy="2457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标量寄存器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2795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与标量 RISC-V 一样：32 个通用整数寄存器 x0–x31，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个浮点寄存器 f0–f31，宽度 XLEN = 64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为向量功能单元提供数据，也为向量 load/store 单元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提供地址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28374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向量功能单元读取标量值时，把它锁存在输入端，整条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向量都用这个值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27685" y="4167188"/>
            <a:ext cx="5199697" cy="2015966"/>
            <a:chOff x="527685" y="4167188"/>
            <a:chExt cx="5199697" cy="2015966"/>
          </a:xfrm>
        </p:grpSpPr>
        <p:sp>
          <p:nvSpPr>
            <p:cNvPr id="18" name="Rectangle 18"/>
            <p:cNvSpPr/>
            <p:nvPr/>
          </p:nvSpPr>
          <p:spPr>
            <a:xfrm>
              <a:off x="533400" y="4167188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0042" y="4298632"/>
              <a:ext cx="2012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DAXPY 例子里的标量寄存器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05275" y="429863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8746" y="4728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23794" y="4728210"/>
              <a:ext cx="238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 X 的起始地址（vld v0,x5）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022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02729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51587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23794" y="5158740"/>
              <a:ext cx="2316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 Y 的起始地址（vld、vst）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53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5589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23794" y="5589270"/>
              <a:ext cx="1902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 a（vmul v1,v0,f0）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67188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13685" y="416718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596312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例子见第四部分的编队实例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6026467" y="1524000"/>
            <a:ext cx="5632133" cy="4810602"/>
            <a:chOff x="6026467" y="1524000"/>
            <a:chExt cx="5632133" cy="4810602"/>
          </a:xfrm>
        </p:grpSpPr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4008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7115" y="1655445"/>
              <a:ext cx="47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ABI 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660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37529" y="20850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50149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zero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13189" y="208502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2182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37529" y="2515552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x1 / x2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50149" y="251555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 / sp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3189" y="2515552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返回地址 / 栈指针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37529" y="2946082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x3 / x4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50149" y="294608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 / tp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13189" y="2946082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全局指针 / 线程指针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2182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37529" y="3375660"/>
              <a:ext cx="1293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x5–x7、x28–x31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50149" y="33756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t0–t6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13189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37529" y="3912870"/>
              <a:ext cx="1293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x8–x9、x18–x27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50149" y="391287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s0–s11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13189" y="380619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保存寄存器（被调用者保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43138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32182" y="431863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37529" y="4449128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x10–x17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50149" y="444912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a0–a7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13189" y="444912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参数与返回值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47434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37529" y="4879658"/>
              <a:ext cx="1293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f0–f7、f28–f31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50149" y="4879658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ft0–ft11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13189" y="48796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浮点临时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32182" y="51739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32182" y="517874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37529" y="5310188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f10–f17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50149" y="531018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fa0–fa7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13189" y="531018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浮点参数与返回值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32182" y="5603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37529" y="5739765"/>
              <a:ext cx="1293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f8–f9、f18–f27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050149" y="573976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fs0–fs11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13189" y="573976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浮点保存寄存器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032182" y="1524000"/>
              <a:ext cx="5626418" cy="4514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940040" y="1524000"/>
              <a:ext cx="9525" cy="4514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403080" y="1524000"/>
              <a:ext cx="9525" cy="4514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026467" y="6114574"/>
              <a:ext cx="45607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原课件第36页的 RISC-V 调用约定表（RISC-V Calling Convention）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75751" cy="909257"/>
            <a:chOff x="520446" y="342900"/>
            <a:chExt cx="1007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7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存取单元与功能单元都完全流水化：先等 L 拍，之后每拍一个结果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957388"/>
            <a:chOff x="533400" y="1524000"/>
            <a:chExt cx="5626418" cy="19573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课件的假设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 load/store 单元：一次访存 6 拍；完全流水化，初始延迟之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后，向量寄存器和内存之间每拍传送 64 位（一个 XLEN）；也能对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标量做 load/store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86797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81606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功能单元：完全流水化，每个时钟周期可以开始一个新操作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1537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100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需要一个控制单元检测结构冒险和数据冒险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46170"/>
            <a:ext cx="5626418" cy="1909762"/>
            <a:chOff x="533400" y="3646170"/>
            <a:chExt cx="5626418" cy="1909762"/>
          </a:xfrm>
        </p:grpSpPr>
        <p:sp>
          <p:nvSpPr>
            <p:cNvPr id="18" name="Rectangle 18"/>
            <p:cNvSpPr/>
            <p:nvPr/>
          </p:nvSpPr>
          <p:spPr>
            <a:xfrm>
              <a:off x="533400" y="3646170"/>
              <a:ext cx="5626418" cy="1909762"/>
            </a:xfrm>
            <a:prstGeom prst="roundRect">
              <a:avLst>
                <a:gd name="adj" fmla="val 6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779520"/>
              <a:ext cx="47625" cy="16430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38271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147" y="38600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4166711"/>
              <a:ext cx="49791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原课件写带宽“每时钟周期 1 字（XLEN）”。按原课件第31页的约定，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RISC-V 的字是 32 位，64 位的 XLEN 应叫双字，这里写成每拍 64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59665" y="1524000"/>
            <a:ext cx="5198935" cy="2933414"/>
            <a:chOff x="6459665" y="1524000"/>
            <a:chExt cx="5198935" cy="2933414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332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72118" y="1641157"/>
              <a:ext cx="850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 L（拍）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9296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5327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9296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5327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9296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5327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9296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浮点除法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1440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9296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整型运算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53272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807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811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逻辑运算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5327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3064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59665" y="4266724"/>
              <a:ext cx="2806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原课件第37、41页的假设值，不同实现开销不同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10"/>
              <p:cNvSpPr txBox="1">
                <a:spLocks noGrp="1"/>
              </p:cNvSpPr>
              <p:nvPr/>
            </p:nvSpPr>
            <p:spPr>
              <a:xfrm>
                <a:off x="6464618" y="4584382"/>
                <a:ext cx="5193982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3" name="c2-text-3"/>
          <p:cNvGrpSpPr/>
          <p:nvPr/>
        </p:nvGrpSpPr>
        <p:grpSpPr>
          <a:xfrm>
            <a:off x="6459284" y="5185410"/>
            <a:ext cx="4871276" cy="412052"/>
            <a:chOff x="6459284" y="5185410"/>
            <a:chExt cx="4871276" cy="412052"/>
          </a:xfrm>
        </p:grpSpPr>
        <p:sp>
          <p:nvSpPr>
            <p:cNvPr id="52" name="TextBox 52"/>
            <p:cNvSpPr txBox="1"/>
            <p:nvPr/>
          </p:nvSpPr>
          <p:spPr>
            <a:xfrm>
              <a:off x="6459284" y="5185410"/>
              <a:ext cx="4871276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送元素进部件 1 拍，部件内 L 拍，写回向量寄存器 1 拍；第一个结果出来后每拍再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出一个。例：N = 64 的浮点加需 8 + 63 = 71 拍。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8973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从功能单元入手提升向量处理器性能有两条路：增加功能单元数量（多车道并行），采用链接技术。下面着重讲链接。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链接技术：前一条的结果一出来，就直接转给下一条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032635"/>
            <a:chOff x="533400" y="1524000"/>
            <a:chExt cx="4977765" cy="2032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28873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295" y="1750695"/>
              <a:ext cx="115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链接（chaining）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两条指令之间有写后读相关时，把前一个功能单元的结果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直接转发给第二个功能单元。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第二个向量操作在源操作数向量中任一元素可用时立即开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始，不必等整条向量写完。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3188494"/>
              <a:ext cx="4617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本质上是把流水线“定向”（forwarding）的思想引入向量执行过程。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31895"/>
            <a:ext cx="4977765" cy="2625090"/>
            <a:chOff x="533400" y="3731895"/>
            <a:chExt cx="4977765" cy="2625090"/>
          </a:xfrm>
        </p:grpSpPr>
        <p:sp>
          <p:nvSpPr>
            <p:cNvPr id="15" name="Rectangle 15"/>
            <p:cNvSpPr/>
            <p:nvPr/>
          </p:nvSpPr>
          <p:spPr>
            <a:xfrm>
              <a:off x="533400" y="3731895"/>
              <a:ext cx="4977765" cy="2625090"/>
            </a:xfrm>
            <a:prstGeom prst="roundRect">
              <a:avLst>
                <a:gd name="adj" fmla="val 50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65245"/>
              <a:ext cx="47625" cy="23583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924300"/>
              <a:ext cx="15640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2864" y="3958590"/>
              <a:ext cx="1446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例题（原课件第42页）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280535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设把向量元素送往功能部件、把结果存入向量寄存器各需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拍，从存储器把数据送入访存部件需 1 拍。画出链接示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意图，分析非链接执行和链接执行时的执行时间。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3905" y="5075872"/>
              <a:ext cx="4554855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2302" y="5227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1921" y="5489258"/>
              <a:ext cx="269100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V3 ← 存储器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访存取向量 A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V2 ← V0 + V1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向量 B、C 浮点加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V4 ← V2 × V3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浮点乘，结果存入 V4</a:t>
              </a:r>
            </a:p>
          </p:txBody>
        </p:sp>
      </p:grpSp>
      <p:grpSp>
        <p:nvGrpSpPr>
          <p:cNvPr id="58" name="c2-graph-1"/>
          <p:cNvGrpSpPr/>
          <p:nvPr/>
        </p:nvGrpSpPr>
        <p:grpSpPr>
          <a:xfrm>
            <a:off x="5935980" y="1660208"/>
            <a:ext cx="5514975" cy="2474119"/>
            <a:chOff x="5935980" y="1660208"/>
            <a:chExt cx="5514975" cy="2474119"/>
          </a:xfrm>
        </p:grpSpPr>
        <p:sp>
          <p:nvSpPr>
            <p:cNvPr id="24" name="Freeform 24"/>
            <p:cNvSpPr/>
            <p:nvPr/>
          </p:nvSpPr>
          <p:spPr>
            <a:xfrm>
              <a:off x="6282690" y="1809750"/>
              <a:ext cx="1244917" cy="842010"/>
            </a:xfrm>
            <a:custGeom>
              <a:avLst/>
              <a:gdLst/>
              <a:ahLst/>
              <a:cxnLst/>
              <a:rect l="l" t="t" r="r" b="b"/>
              <a:pathLst>
                <a:path w="1244917" h="842010">
                  <a:moveTo>
                    <a:pt x="0" y="842010"/>
                  </a:moveTo>
                  <a:lnTo>
                    <a:pt x="0" y="0"/>
                  </a:lnTo>
                  <a:lnTo>
                    <a:pt x="12449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527608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682038" y="1809750"/>
              <a:ext cx="1457325" cy="746760"/>
            </a:xfrm>
            <a:custGeom>
              <a:avLst/>
              <a:gdLst/>
              <a:ahLst/>
              <a:cxnLst/>
              <a:rect l="l" t="t" r="r" b="b"/>
              <a:pathLst>
                <a:path w="1457325" h="746760">
                  <a:moveTo>
                    <a:pt x="0" y="0"/>
                  </a:moveTo>
                  <a:lnTo>
                    <a:pt x="1457325" y="0"/>
                  </a:lnTo>
                  <a:lnTo>
                    <a:pt x="1457325" y="7467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091738" y="25565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270432" y="2961322"/>
              <a:ext cx="272415" cy="782955"/>
            </a:xfrm>
            <a:custGeom>
              <a:avLst/>
              <a:gdLst/>
              <a:ahLst/>
              <a:cxnLst/>
              <a:rect l="l" t="t" r="r" b="b"/>
              <a:pathLst>
                <a:path w="272415" h="782955">
                  <a:moveTo>
                    <a:pt x="0" y="0"/>
                  </a:moveTo>
                  <a:lnTo>
                    <a:pt x="272415" y="782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498080" y="3728085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76200" y="105728"/>
                  </a:moveTo>
                  <a:lnTo>
                    <a:pt x="0" y="31433"/>
                  </a:lnTo>
                  <a:lnTo>
                    <a:pt x="904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710488" y="2961322"/>
              <a:ext cx="273368" cy="782955"/>
            </a:xfrm>
            <a:custGeom>
              <a:avLst/>
              <a:gdLst/>
              <a:ahLst/>
              <a:cxnLst/>
              <a:rect l="l" t="t" r="r" b="b"/>
              <a:pathLst>
                <a:path w="273368" h="782955">
                  <a:moveTo>
                    <a:pt x="273368" y="0"/>
                  </a:moveTo>
                  <a:lnTo>
                    <a:pt x="0" y="782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65720" y="3728085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13335" y="105728"/>
                  </a:moveTo>
                  <a:lnTo>
                    <a:pt x="0" y="0"/>
                  </a:lnTo>
                  <a:lnTo>
                    <a:pt x="89535" y="3143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813358" y="3020378"/>
              <a:ext cx="1013460" cy="813435"/>
            </a:xfrm>
            <a:custGeom>
              <a:avLst/>
              <a:gdLst/>
              <a:ahLst/>
              <a:cxnLst/>
              <a:rect l="l" t="t" r="r" b="b"/>
              <a:pathLst>
                <a:path w="1013460" h="813435">
                  <a:moveTo>
                    <a:pt x="0" y="813435"/>
                  </a:moveTo>
                  <a:lnTo>
                    <a:pt x="10134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96338" y="2961322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0"/>
                  </a:moveTo>
                  <a:lnTo>
                    <a:pt x="60007" y="96203"/>
                  </a:lnTo>
                  <a:lnTo>
                    <a:pt x="0" y="219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169718" y="2961322"/>
              <a:ext cx="432435" cy="788670"/>
            </a:xfrm>
            <a:custGeom>
              <a:avLst/>
              <a:gdLst/>
              <a:ahLst/>
              <a:cxnLst/>
              <a:rect l="l" t="t" r="r" b="b"/>
              <a:pathLst>
                <a:path w="432435" h="788670">
                  <a:moveTo>
                    <a:pt x="0" y="0"/>
                  </a:moveTo>
                  <a:lnTo>
                    <a:pt x="432435" y="7886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560242" y="3727132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87630" y="106680"/>
                  </a:moveTo>
                  <a:lnTo>
                    <a:pt x="0" y="45720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814560" y="2961322"/>
              <a:ext cx="272415" cy="782955"/>
            </a:xfrm>
            <a:custGeom>
              <a:avLst/>
              <a:gdLst/>
              <a:ahLst/>
              <a:cxnLst/>
              <a:rect l="l" t="t" r="r" b="b"/>
              <a:pathLst>
                <a:path w="272415" h="782955">
                  <a:moveTo>
                    <a:pt x="272415" y="0"/>
                  </a:moveTo>
                  <a:lnTo>
                    <a:pt x="0" y="782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768840" y="3728085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14288" y="105728"/>
                  </a:moveTo>
                  <a:lnTo>
                    <a:pt x="0" y="0"/>
                  </a:lnTo>
                  <a:lnTo>
                    <a:pt x="90488" y="3143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917430" y="3020378"/>
              <a:ext cx="1012507" cy="813435"/>
            </a:xfrm>
            <a:custGeom>
              <a:avLst/>
              <a:gdLst/>
              <a:ahLst/>
              <a:cxnLst/>
              <a:rect l="l" t="t" r="r" b="b"/>
              <a:pathLst>
                <a:path w="1012507" h="813435">
                  <a:moveTo>
                    <a:pt x="0" y="813435"/>
                  </a:moveTo>
                  <a:lnTo>
                    <a:pt x="10125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900410" y="2961322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103822" y="0"/>
                  </a:moveTo>
                  <a:lnTo>
                    <a:pt x="59055" y="96203"/>
                  </a:lnTo>
                  <a:lnTo>
                    <a:pt x="0" y="219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35980" y="2661285"/>
              <a:ext cx="69342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32382" y="1660208"/>
              <a:ext cx="104013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58012" y="266128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76210" y="266128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27770" y="266128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879330" y="266128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930890" y="266128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63740" y="3833812"/>
              <a:ext cx="112680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66860" y="3833812"/>
              <a:ext cx="112680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50813" y="27408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02513" y="173974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访存（6 拍）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20329" y="274081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38527" y="274081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90087" y="274081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41647" y="274081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93207" y="274081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01346" y="3914299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浮点加（6 拍）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5419" y="3914299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浮点乘（7 拍）</a:t>
              </a:r>
            </a:p>
          </p:txBody>
        </p:sp>
      </p:grpSp>
      <p:grpSp>
        <p:nvGrpSpPr>
          <p:cNvPr id="60" name="c2-text-2"/>
          <p:cNvGrpSpPr/>
          <p:nvPr/>
        </p:nvGrpSpPr>
        <p:grpSpPr>
          <a:xfrm>
            <a:off x="5810250" y="4578191"/>
            <a:ext cx="5430774" cy="441008"/>
            <a:chOff x="5810250" y="4578191"/>
            <a:chExt cx="5430774" cy="441008"/>
          </a:xfrm>
        </p:grpSpPr>
        <p:sp>
          <p:nvSpPr>
            <p:cNvPr id="59" name="TextBox 59"/>
            <p:cNvSpPr txBox="1"/>
            <p:nvPr/>
          </p:nvSpPr>
          <p:spPr>
            <a:xfrm>
              <a:off x="5810250" y="4578191"/>
              <a:ext cx="543077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通过链接实现指令重叠执行（原课件第43页图）：访存和浮点加用不同部件、不同寄存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器，可以同时进行；乘法把 V₂、V₃ 的元素一到就接着算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5815965" y="5150168"/>
            <a:ext cx="5842635" cy="1206818"/>
            <a:chOff x="5815965" y="5150168"/>
            <a:chExt cx="5842635" cy="1206818"/>
          </a:xfrm>
        </p:grpSpPr>
        <p:sp>
          <p:nvSpPr>
            <p:cNvPr id="61" name="Rectangle 61"/>
            <p:cNvSpPr/>
            <p:nvPr/>
          </p:nvSpPr>
          <p:spPr>
            <a:xfrm>
              <a:off x="5815965" y="5150168"/>
              <a:ext cx="5842635" cy="1206818"/>
            </a:xfrm>
            <a:prstGeom prst="roundRect">
              <a:avLst>
                <a:gd name="adj" fmla="val 94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020753" y="5654040"/>
              <a:ext cx="200026" cy="200025"/>
              <a:chOff x="6020753" y="5654040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0753" y="56540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60491" y="56984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95207" y="58096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323457" y="5534978"/>
              <a:ext cx="492575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看图的方法：沿箭头数拍数。存储器到 V₃ 要 1 + 6 + 1 拍，V₀、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V₁ 到 V₂ 也是 1 + 6 + 1 拍，两路同时到齐，乘法才能马上接上。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22500" cy="909257"/>
            <a:chOff x="520446" y="342900"/>
            <a:chExt cx="98225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225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链接例题的解：串行 3N + 22，部分并行 2N + 15，链接 N + 16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459882" cy="2453069"/>
            <a:chOff x="533400" y="1533525"/>
            <a:chExt cx="5459882" cy="24530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三条全部串行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5046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[(1+6+1)+N−1] + [(1+6+1)+N−1] + [(1+7+1)+N−1] = 3N + 22 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27303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前两条并行，再串行执行第 3 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5994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 和 V2 用不同部件、不同寄存器，可以同时做：[(1+6+1)+N−1] +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[(1+7+1)+N−1] = 2N + 15 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253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前两条并行，并与第 3 条链接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47746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从访存开始到第一个结果存入 V4 的拍数（链接流水线的建立时间）：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(1+6+1) + (1+7+1) = 17 拍；之后每拍一个结果，共 17 + (N−1) = N +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3"/>
              <p:cNvSpPr txBox="1">
                <a:spLocks noGrp="1"/>
              </p:cNvSpPr>
              <p:nvPr/>
            </p:nvSpPr>
            <p:spPr>
              <a:xfrm>
                <a:off x="533400" y="4162425"/>
                <a:ext cx="5626418" cy="785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链接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nor m:val="on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链上各条</m:t>
                          </m:r>
                        </m:sub>
                        <m:sup/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text-3"/>
          <p:cNvGrpSpPr/>
          <p:nvPr/>
        </p:nvGrpSpPr>
        <p:grpSpPr>
          <a:xfrm>
            <a:off x="527304" y="5153978"/>
            <a:ext cx="5277612" cy="470916"/>
            <a:chOff x="527304" y="5153978"/>
            <a:chExt cx="5277612" cy="47091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5153978"/>
              <a:ext cx="52776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一般规律：链接后，链上各条指令的通过时间相加得到建立时间，再加 N − 1。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并行执行的指令只算其中一条。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458902" y="1524000"/>
            <a:ext cx="5199698" cy="2015967"/>
            <a:chOff x="6458902" y="1524000"/>
            <a:chExt cx="5199698" cy="2015967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8124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72630" y="1655445"/>
              <a:ext cx="514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64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3016" y="1655445"/>
              <a:ext cx="612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128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41985" y="1655445"/>
              <a:ext cx="71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1024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9964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全部串行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0268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79940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13771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3094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9964" y="25155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前两条并行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90268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79940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13771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2063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9964" y="294608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 + 链接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965758" y="2824162"/>
              <a:ext cx="11268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34692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11615" y="2824162"/>
              <a:ext cx="121539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79940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346055" y="2824162"/>
              <a:ext cx="130302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13771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5147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09732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33176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58902" y="3319939"/>
              <a:ext cx="3923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越大，链接相对串行越接近 3 倍（3094 ÷ 1040 ≈ 2.98）</a:t>
              </a:r>
            </a:p>
          </p:txBody>
        </p:sp>
      </p:grpSp>
      <p:grpSp>
        <p:nvGrpSpPr>
          <p:cNvPr id="78" name="c2-table-2"/>
          <p:cNvGrpSpPr/>
          <p:nvPr/>
        </p:nvGrpSpPr>
        <p:grpSpPr>
          <a:xfrm>
            <a:off x="6458902" y="3681412"/>
            <a:ext cx="5199698" cy="2015967"/>
            <a:chOff x="6458902" y="3681412"/>
            <a:chExt cx="5199698" cy="2015967"/>
          </a:xfrm>
        </p:grpSpPr>
        <p:sp>
          <p:nvSpPr>
            <p:cNvPr id="53" name="Rectangle 53"/>
            <p:cNvSpPr/>
            <p:nvPr/>
          </p:nvSpPr>
          <p:spPr>
            <a:xfrm>
              <a:off x="6464618" y="3681412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49941" y="3812857"/>
              <a:ext cx="1052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64 链接时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75345" y="38128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83471" y="38128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首个结果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14101" y="38128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末个结果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69964" y="4242435"/>
              <a:ext cx="900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 ← 存储器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82457" y="424243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2134" y="4242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48340" y="42424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45367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4541520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9964" y="4672965"/>
              <a:ext cx="1015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 ← V0 + V1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82457" y="467296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拍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62134" y="46729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48340" y="46729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64618" y="49672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69964" y="5103495"/>
              <a:ext cx="1015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V4 ← V2 × V3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82457" y="510349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 拍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17710" y="51034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48340" y="51034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3681412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8083868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193530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423208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58902" y="5477351"/>
              <a:ext cx="3774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逐元素模拟核对：乘法在 V2、V3 第一个元素到达时开始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9" name="Rectangle 7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511" y="6004084"/>
              <a:ext cx="79858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链接把三条指令的流水线接成一条长流水线：只付一次建立时间 17 拍，之后每拍出一个结果。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进行链接的条件：寄存器不冲突、部件不冲突、到达时间相等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5078730" cy="2543175"/>
            <a:chOff x="533400" y="1535430"/>
            <a:chExt cx="5078730" cy="254317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无向量寄存器使用冲突，无功能部件使用冲突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只有在前一条指令的第一个结果元素送入结果向量寄存器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的那一个时钟周期，才可以进行链接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一条向量指令的两个源操作数分别是两条先行指令的结果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时，要求先行两条指令产生结果的时间相等，即有关功能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部件的通过时间相等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要链接执行的向量指令，向量长度必须相等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7719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8141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78523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链接一般出现在向量分组的内部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210050"/>
            <a:ext cx="5410200" cy="2133600"/>
            <a:chOff x="533400" y="4210050"/>
            <a:chExt cx="5410200" cy="2133600"/>
          </a:xfrm>
        </p:grpSpPr>
        <p:sp>
          <p:nvSpPr>
            <p:cNvPr id="23" name="Rectangle 23"/>
            <p:cNvSpPr/>
            <p:nvPr/>
          </p:nvSpPr>
          <p:spPr>
            <a:xfrm>
              <a:off x="533400" y="4210050"/>
              <a:ext cx="541020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3434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419600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0350" y="445531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条为什么这么严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79679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早期的向量机（如 Cray-1）只在前一条第一个结果写入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的那一拍接得上，错过这一拍就只能等前一条整条写完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再开始。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573" y="5700236"/>
              <a:ext cx="4580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后来的向量机支持“灵活链接”，任意时刻都能接上已经写好的元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素，这条限制就放宽了。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2470786"/>
            <a:chOff x="6248400" y="1524000"/>
            <a:chExt cx="5410200" cy="2470786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649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4630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例题中的情况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007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6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46848" y="2108359"/>
              <a:ext cx="2846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V3、V2、V4 各不相同，V0、V1 只读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8687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功能部件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46848" y="25569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访存、浮点加、浮点乘各用一次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8687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6223" y="300561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两源同时到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46848" y="3005614"/>
              <a:ext cx="30446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访存通过时间 1+6+1 = 8，浮点加 1+6+1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8，相等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86871" y="31189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54615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6223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向量长度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46848" y="3680936"/>
              <a:ext cx="856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三条都是 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86871" y="36809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43426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89660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248400" y="4185285"/>
            <a:ext cx="5410200" cy="2158365"/>
            <a:chOff x="6248400" y="4185285"/>
            <a:chExt cx="5410200" cy="2158365"/>
          </a:xfrm>
        </p:grpSpPr>
        <p:sp>
          <p:nvSpPr>
            <p:cNvPr id="55" name="Rectangle 55"/>
            <p:cNvSpPr/>
            <p:nvPr/>
          </p:nvSpPr>
          <p:spPr>
            <a:xfrm>
              <a:off x="6248400" y="4185285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4318635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6050" y="4394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86258" y="4430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88430" y="4772025"/>
              <a:ext cx="46443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若访存改成 12 拍（H&amp;P 书中的取值），V3 的第一个元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素第 14 拍才到，V2 第 8 拍就到了。两源的通过时间不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等，不满足第 3 条，乘法不能按上一页那样在第 8 拍开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始链接。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7625" cy="909257"/>
            <a:chOff x="520446" y="342900"/>
            <a:chExt cx="7397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3" y="407194"/>
              <a:ext cx="279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向量体系结构 RV64V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7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RVV 1.0 写法：分组计算就是一个 vsetvli 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139440"/>
            <a:chOff x="533400" y="1524000"/>
            <a:chExt cx="5842635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258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RVV 1.0：y = a·x + y（已用 LLVM 汇编器汇编通过）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631438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 a0 = n, fa0 = a, a1 = x, a2 = 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vsetvli t0, a0, e64, m1, ta, ma  # 本组长度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vle64.v  v0, (a1)       # 取 x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vfmul.vf v1, v0, fa0    # a*x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vle64.v  v2, (a2)       # 取 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vfadd.vv v3, v1, v2     # a*x + y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vse64.v  v3, (a2)       # 存回 y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sub  a0, a0, t0         # 剩余个数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slli t1, t0, 3          # 本组字节数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a1, a1, t1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a2, a2, t1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bnez a0, loop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161" y="4872514"/>
            <a:ext cx="5849874" cy="1389317"/>
            <a:chOff x="526161" y="4872514"/>
            <a:chExt cx="5849874" cy="1389317"/>
          </a:xfrm>
        </p:grpSpPr>
        <p:sp>
          <p:nvSpPr>
            <p:cNvPr id="11" name="TextBox 11"/>
            <p:cNvSpPr txBox="1"/>
            <p:nvPr/>
          </p:nvSpPr>
          <p:spPr>
            <a:xfrm>
              <a:off x="526161" y="4872514"/>
              <a:ext cx="7772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e64, m1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3428" y="4872514"/>
              <a:ext cx="410819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 64 位（SEW），一个寄存器组只用 1 个寄存器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（LMUL = 1）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5446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161" y="5562124"/>
              <a:ext cx="666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ta, ma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3428" y="556212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尾部和被屏蔽的元素不必保留原值，硬件实现最省事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8674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5983129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3428" y="5983129"/>
              <a:ext cx="4564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vsetvli 返回的本组长度 vl，用来推进指针和剩余个数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680835" y="1524000"/>
            <a:ext cx="4977765" cy="2581275"/>
            <a:chOff x="6680835" y="1524000"/>
            <a:chExt cx="4977765" cy="2581275"/>
          </a:xfrm>
        </p:grpSpPr>
        <p:sp>
          <p:nvSpPr>
            <p:cNvPr id="20" name="Rectangle 20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08109" y="1655445"/>
              <a:ext cx="1277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课件（H&amp;P）写法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17501" y="1655445"/>
              <a:ext cx="1034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RVV 1.0 写法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6182" y="2085022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vld v0,x5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16949" y="2085022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vle64.v v0,(a1)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6182" y="2515552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vmul v1,v0,f0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16949" y="2515552"/>
              <a:ext cx="1563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vfmul.vf v1,v0,fa0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6182" y="2946082"/>
              <a:ext cx="1182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vadd v3,v1,v2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16949" y="2946082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vfadd.vv v3,v1,v2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0835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6182" y="337566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vst v3,x6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16949" y="3375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vse64.v v3,(a2)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6182" y="380619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最大向量长度固定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6949" y="3806190"/>
              <a:ext cx="1458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每轮用 vsetvli 设置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1524000"/>
              <a:ext cx="497776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00684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6680835" y="4290060"/>
            <a:ext cx="4977765" cy="2048828"/>
            <a:chOff x="6680835" y="4290060"/>
            <a:chExt cx="4977765" cy="2048828"/>
          </a:xfrm>
        </p:grpSpPr>
        <p:sp>
          <p:nvSpPr>
            <p:cNvPr id="42" name="Rectangle 42"/>
            <p:cNvSpPr/>
            <p:nvPr/>
          </p:nvSpPr>
          <p:spPr>
            <a:xfrm>
              <a:off x="6680835" y="4290060"/>
              <a:ext cx="4977765" cy="2048828"/>
            </a:xfrm>
            <a:prstGeom prst="roundRect">
              <a:avLst>
                <a:gd name="adj" fmla="val 650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84670" y="4493895"/>
              <a:ext cx="160782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42573" y="4529614"/>
              <a:ext cx="1493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vsetvli 就是分组计算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7431" y="4866799"/>
              <a:ext cx="438772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每轮 vsetvli 按剩余元素个数和 VLMAX 定出本组长度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（剩余足够多时就是 VLMAX），组内纵向计算，下一轮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处理下一组，最后一轮自然处理余数 r。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8574" y="5726430"/>
              <a:ext cx="42336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VLMAX = VLEN ÷ 元素位数 × LMUL。VLEN = 128、元素 64 位、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LMUL = 1 时每组 2 个元素。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向量执行时间评估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不逐拍去算，也能估出一串向量指令大约要跑多久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41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实际时间 k×N + b 与近似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编队（convoy）与钟鸣（chime）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73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DAXPY 编队实例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车道、部件与链接的变式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5050" cy="909257"/>
            <a:chOff x="520446" y="342900"/>
            <a:chExt cx="68950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向量执行时间评估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50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实际时间是 k×N + b，向量足够长时只看 k×N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844165"/>
            <a:chOff x="533400" y="1524000"/>
            <a:chExt cx="5410200" cy="2844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46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331" y="1769269"/>
              <a:ext cx="1384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为什么可以只看 k×N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前面讲链接时用的是细致的算法，得到的时间都是 k×N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 的形式，k、b 为常量，例如链接 N + 16、串行 3N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向量处理器上的向量长度 N 一般远远大于常数 b，所以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着重关注前一项 k×N。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6385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近似做法：忽略指令发射、读写寄存器、功能单元执行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等开销（各种流水级数），也就是 b。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558665"/>
            <a:ext cx="5410200" cy="1396365"/>
            <a:chOff x="533400" y="4558665"/>
            <a:chExt cx="5410200" cy="1396365"/>
          </a:xfrm>
        </p:grpSpPr>
        <p:sp>
          <p:nvSpPr>
            <p:cNvPr id="15" name="Rectangle 15"/>
            <p:cNvSpPr/>
            <p:nvPr/>
          </p:nvSpPr>
          <p:spPr>
            <a:xfrm>
              <a:off x="533400" y="4558665"/>
              <a:ext cx="5410200" cy="1396365"/>
            </a:xfrm>
            <a:prstGeom prst="roundRect">
              <a:avLst>
                <a:gd name="adj" fmla="val 81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156835"/>
              <a:ext cx="200026" cy="200025"/>
              <a:chOff x="738188" y="5156835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013960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对越长的向量（N 越大），这种方法估计得越准；向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量很短时 b 占的比例大，近似会明显偏小。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2685" y="1524000"/>
            <a:ext cx="5415915" cy="2539842"/>
            <a:chOff x="6242685" y="1524000"/>
            <a:chExt cx="5415915" cy="253984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268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1142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3822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7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6223" y="2108359"/>
              <a:ext cx="1657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 N + 16，N = 64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7512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0191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71715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6223" y="2556986"/>
              <a:ext cx="186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 N + 16，N = 1024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8035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0714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626090" y="2430780"/>
              <a:ext cx="10229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24329" y="255698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3005614"/>
              <a:ext cx="1762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 3N + 22，N = 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27737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5453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76943" y="3005614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10.3%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3454241"/>
              <a:ext cx="1973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 3N + 22，N = 1024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8035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3094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0714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3072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626090" y="3328988"/>
              <a:ext cx="10229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24329" y="345424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0.7%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55916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850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61180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2685" y="384381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 = b ÷ 精确值，用脚本复核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15"/>
              <p:cNvSpPr txBox="1">
                <a:spLocks noGrp="1"/>
              </p:cNvSpPr>
              <p:nvPr/>
            </p:nvSpPr>
            <p:spPr>
              <a:xfrm>
                <a:off x="6248400" y="4210050"/>
                <a:ext cx="5410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实际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kN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kN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≫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3" name="c2-callout-3"/>
          <p:cNvGrpSpPr/>
          <p:nvPr/>
        </p:nvGrpSpPr>
        <p:grpSpPr>
          <a:xfrm>
            <a:off x="6248400" y="4895850"/>
            <a:ext cx="5410200" cy="1059180"/>
            <a:chOff x="6248400" y="4895850"/>
            <a:chExt cx="5410200" cy="1059180"/>
          </a:xfrm>
        </p:grpSpPr>
        <p:sp>
          <p:nvSpPr>
            <p:cNvPr id="57" name="Rectangle 57"/>
            <p:cNvSpPr/>
            <p:nvPr/>
          </p:nvSpPr>
          <p:spPr>
            <a:xfrm>
              <a:off x="6248400" y="489585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325428"/>
              <a:ext cx="200026" cy="200025"/>
              <a:chOff x="6453188" y="532542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3254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492926" y="53698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27642" y="54810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130" y="5044440"/>
              <a:ext cx="4520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= 1 时，误差 b ÷ (N + b) 小于 10% 要求 N &gt; 9b。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链接例题 b = 16，N 超过 144 时近似误差就在 10% 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61674" cy="909257"/>
            <a:chOff x="520446" y="342900"/>
            <a:chExt cx="64616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向量执行时间评估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616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编队与钟鸣：m 个编队、单车道约 m×N 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558415"/>
            <a:chOff x="533400" y="1524000"/>
            <a:chExt cx="5626418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715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887" y="1769269"/>
              <a:ext cx="1136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编队（convoy）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一组可以潜在地一起执行的向量指令。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一个编队里的指令之间不能有结构冒险（不能抢同一个功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能部件）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直观上编队里的两条指令也不该有写后读；有了链接，这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两条指令可以认为是一起执行的，所以可以处在同一个编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队中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272915"/>
            <a:ext cx="5626418" cy="1651635"/>
            <a:chOff x="533400" y="4272915"/>
            <a:chExt cx="5626418" cy="1651635"/>
          </a:xfrm>
        </p:grpSpPr>
        <p:sp>
          <p:nvSpPr>
            <p:cNvPr id="17" name="Rectangle 17"/>
            <p:cNvSpPr/>
            <p:nvPr/>
          </p:nvSpPr>
          <p:spPr>
            <a:xfrm>
              <a:off x="533400" y="4272915"/>
              <a:ext cx="5626418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40626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482465"/>
              <a:ext cx="118205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613" y="4518184"/>
              <a:ext cx="1041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钟鸣（chime）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859655"/>
              <a:ext cx="5277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执行一个编队所用的时间。H&amp;P 称 chime，中译本作钟鸣。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5194935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单车道 RV64V 上约等于向量长度 N 拍；双车道 N/2，依此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类推。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7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6" name="c2-text-2"/>
          <p:cNvGrpSpPr/>
          <p:nvPr/>
        </p:nvGrpSpPr>
        <p:grpSpPr>
          <a:xfrm>
            <a:off x="6458141" y="2404586"/>
            <a:ext cx="4466610" cy="249364"/>
            <a:chOff x="6458141" y="2404586"/>
            <a:chExt cx="4466610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6458141" y="2404586"/>
              <a:ext cx="4466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为编队数，N 为向量长度，L 为车道数；单位为时钟周期</a:t>
              </a:r>
            </a:p>
          </p:txBody>
        </p:sp>
      </p:grpSp>
      <p:grpSp>
        <p:nvGrpSpPr>
          <p:cNvPr id="40" name="c2-steps-3"/>
          <p:cNvGrpSpPr/>
          <p:nvPr/>
        </p:nvGrpSpPr>
        <p:grpSpPr>
          <a:xfrm>
            <a:off x="6464618" y="2803208"/>
            <a:ext cx="4561103" cy="1878615"/>
            <a:chOff x="6464618" y="2803208"/>
            <a:chExt cx="4561103" cy="1878615"/>
          </a:xfrm>
        </p:grpSpPr>
        <p:sp>
          <p:nvSpPr>
            <p:cNvPr id="27" name="Rectangle 27"/>
            <p:cNvSpPr/>
            <p:nvPr/>
          </p:nvSpPr>
          <p:spPr>
            <a:xfrm>
              <a:off x="6597968" y="2946082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464618" y="28032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58241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64618" y="34537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8241" y="35275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64618" y="410527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8241" y="4179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6098" y="283749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按程序顺序扫描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7241" y="313134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从第一条指令开始编第一个编队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6098" y="34880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抢部件就开新编队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7241" y="378190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与当前编队中某条指令用同一个功能部件（结构冒险）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6098" y="41395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只有写后读就留下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7241" y="44324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靠链接，仍放在当前编队</a:t>
              </a:r>
            </a:p>
          </p:txBody>
        </p:sp>
      </p:grpSp>
      <p:grpSp>
        <p:nvGrpSpPr>
          <p:cNvPr id="54" name="c2-table-4"/>
          <p:cNvGrpSpPr/>
          <p:nvPr/>
        </p:nvGrpSpPr>
        <p:grpSpPr>
          <a:xfrm>
            <a:off x="6464618" y="4860608"/>
            <a:ext cx="5193982" cy="897255"/>
            <a:chOff x="6464618" y="4860608"/>
            <a:chExt cx="5193982" cy="897255"/>
          </a:xfrm>
        </p:grpSpPr>
        <p:sp>
          <p:nvSpPr>
            <p:cNvPr id="41" name="Rectangle 41"/>
            <p:cNvSpPr/>
            <p:nvPr/>
          </p:nvSpPr>
          <p:spPr>
            <a:xfrm>
              <a:off x="6464618" y="4860608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83358" y="4995386"/>
              <a:ext cx="1572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128 时一个钟鸣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39988" y="49953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单车道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01073" y="49953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双车道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63110" y="49953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四车道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72441" y="5444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56299" y="544496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64771" y="54449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26808" y="54449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860608"/>
              <a:ext cx="5193982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69630" y="4860608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30715" y="4860608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592752" y="4860608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9989" cy="909257"/>
            <a:chOff x="520446" y="342900"/>
            <a:chExt cx="66799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向量执行时间评估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99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编队实例：DAXPY 的五条指令分成三个编队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384935"/>
            <a:chOff x="533400" y="1524000"/>
            <a:chExt cx="4977765" cy="1384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15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a×X + Y（原课件第52页）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816479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vld   v0,x5      # Load vector X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vmul  v1,v0,f0   # Vector-scalar multiply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vld   v2,x6      # Load vector Y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vadd  v3,v1,v2   # Vector-vector add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vst   v3,x6      # Store the sum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073718"/>
            <a:ext cx="4977765" cy="702945"/>
            <a:chOff x="533400" y="3073718"/>
            <a:chExt cx="4977765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3073718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3325178"/>
              <a:ext cx="200026" cy="200026"/>
              <a:chOff x="738188" y="332517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33251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3391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34251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3218974"/>
              <a:ext cx="3800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只有一个向量 load/store 单元；vmul 用乘法部件，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vadd 用加法部件。</a:t>
              </a:r>
            </a:p>
          </p:txBody>
        </p:sp>
      </p:grpSp>
      <p:grpSp>
        <p:nvGrpSpPr>
          <p:cNvPr id="35" name="c1-cells-3"/>
          <p:cNvGrpSpPr/>
          <p:nvPr/>
        </p:nvGrpSpPr>
        <p:grpSpPr>
          <a:xfrm>
            <a:off x="528638" y="3941445"/>
            <a:ext cx="4416742" cy="1360170"/>
            <a:chOff x="528638" y="3941445"/>
            <a:chExt cx="4416742" cy="1360170"/>
          </a:xfrm>
        </p:grpSpPr>
        <p:sp>
          <p:nvSpPr>
            <p:cNvPr id="18" name="TextBox 18"/>
            <p:cNvSpPr txBox="1"/>
            <p:nvPr/>
          </p:nvSpPr>
          <p:spPr>
            <a:xfrm>
              <a:off x="528638" y="40633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存取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95350" y="3941445"/>
              <a:ext cx="134969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87808" y="4063365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vld v0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45042" y="3941445"/>
              <a:ext cx="134969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37500" y="4063365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vld v2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595688" y="3941445"/>
              <a:ext cx="1349692" cy="3562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72243" y="4063365"/>
              <a:ext cx="3975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vst v3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638" y="45653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乘法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95350" y="4443412"/>
              <a:ext cx="134969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29153" y="4565332"/>
              <a:ext cx="2830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vmul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245042" y="4443412"/>
              <a:ext cx="134969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95688" y="4443412"/>
              <a:ext cx="134969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638" y="50673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加法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350" y="4945380"/>
              <a:ext cx="134969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45042" y="4945380"/>
              <a:ext cx="134969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75665" y="50673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vadd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95688" y="4945380"/>
              <a:ext cx="134969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37" name="c1-text-4"/>
          <p:cNvGrpSpPr/>
          <p:nvPr/>
        </p:nvGrpSpPr>
        <p:grpSpPr>
          <a:xfrm>
            <a:off x="528066" y="5483542"/>
            <a:ext cx="3827145" cy="205359"/>
            <a:chOff x="528066" y="5483542"/>
            <a:chExt cx="3827145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28066" y="548354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每列是一个编队（一个钟鸣），存取单元每个编队只能用一次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5815965" y="1524000"/>
            <a:ext cx="5842635" cy="2287905"/>
            <a:chOff x="5815965" y="1524000"/>
            <a:chExt cx="5842635" cy="2287905"/>
          </a:xfrm>
        </p:grpSpPr>
        <p:sp>
          <p:nvSpPr>
            <p:cNvPr id="38" name="Rectangle 38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950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7490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与当前编队的关系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2803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10644" y="2023110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vld v0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62204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67958" y="202311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0644" y="2404110"/>
              <a:ext cx="5375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vmul v1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62204" y="2404110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写后读 v0，靠链接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67958" y="240411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0644" y="2785110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vld v2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77050" y="2677478"/>
              <a:ext cx="360330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62204" y="2785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与编队 1 的 vld 抢 load/store 单元，结构冒险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67958" y="278511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10644" y="3167062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vadd v3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62204" y="316706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写后读 v1、v2，靠链接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67958" y="316706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10644" y="354806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vst v3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77050" y="3440430"/>
              <a:ext cx="360330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62204" y="354806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与编队 2 的 vld 抢 load/store 单元，结构冒险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67958" y="354806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6276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48512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formula24"/>
              <p:cNvSpPr txBox="1">
                <a:spLocks noGrp="1"/>
              </p:cNvSpPr>
              <p:nvPr/>
            </p:nvSpPr>
            <p:spPr>
              <a:xfrm>
                <a:off x="5815965" y="3976688"/>
                <a:ext cx="584263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128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384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clock cycles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6" name="c2-callout-3"/>
          <p:cNvGrpSpPr/>
          <p:nvPr/>
        </p:nvGrpSpPr>
        <p:grpSpPr>
          <a:xfrm>
            <a:off x="5815965" y="4560570"/>
            <a:ext cx="5842635" cy="1086802"/>
            <a:chOff x="5815965" y="4560570"/>
            <a:chExt cx="5842635" cy="1086802"/>
          </a:xfrm>
        </p:grpSpPr>
        <p:sp>
          <p:nvSpPr>
            <p:cNvPr id="70" name="Rectangle 70"/>
            <p:cNvSpPr/>
            <p:nvPr/>
          </p:nvSpPr>
          <p:spPr>
            <a:xfrm>
              <a:off x="5815965" y="4560570"/>
              <a:ext cx="5842635" cy="1086802"/>
            </a:xfrm>
            <a:prstGeom prst="roundRect">
              <a:avLst>
                <a:gd name="adj" fmla="val 105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020753" y="5004435"/>
              <a:ext cx="200026" cy="200026"/>
              <a:chOff x="6020753" y="5004435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020753" y="50044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120765" y="50711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109653" y="51044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323838" y="4898231"/>
              <a:ext cx="491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钟鸣模型还假设一个编队执行完，下一个编队才开始，所以编队 2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vld 不能提前到编队 1 的尾巴上重叠。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1273" y="6039326"/>
              <a:ext cx="59750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设向量长度为 128：共 3 个编队，每个执行时长 128 拍，约 384 个时钟周期。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向量执行时间评估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编队变式：加车道、加存取单元、去掉链接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7685" y="1524000"/>
            <a:ext cx="6065520" cy="2988469"/>
            <a:chOff x="527685" y="1524000"/>
            <a:chExt cx="6065520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271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282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864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车道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4252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964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估计拍数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5321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141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52942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5211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双车道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5321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1141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52942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52114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1495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H&amp;P 书中取 N = 32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5321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1141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0032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9950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454241"/>
              <a:ext cx="1932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有两个 load/store 单元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5321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1141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52942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418772" y="3328988"/>
              <a:ext cx="11639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52114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没有链接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5321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1141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52942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418772" y="3777615"/>
              <a:ext cx="116395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52114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05980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87274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73189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59009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0448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685" y="4292441"/>
              <a:ext cx="5454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编队划分已用脚本按“结构冒险开新编队、无链接时写后读也开新编队”的规则复核</a:t>
              </a:r>
            </a:p>
          </p:txBody>
        </p:sp>
      </p:grpSp>
      <p:grpSp>
        <p:nvGrpSpPr>
          <p:cNvPr id="60" name="c1-card-2"/>
          <p:cNvGrpSpPr/>
          <p:nvPr/>
        </p:nvGrpSpPr>
        <p:grpSpPr>
          <a:xfrm>
            <a:off x="533400" y="4658678"/>
            <a:ext cx="6059805" cy="1651635"/>
            <a:chOff x="533400" y="4658678"/>
            <a:chExt cx="6059805" cy="1651635"/>
          </a:xfrm>
        </p:grpSpPr>
        <p:sp>
          <p:nvSpPr>
            <p:cNvPr id="53" name="Rectangle 53"/>
            <p:cNvSpPr/>
            <p:nvPr/>
          </p:nvSpPr>
          <p:spPr>
            <a:xfrm>
              <a:off x="533400" y="4658678"/>
              <a:ext cx="6059805" cy="1651635"/>
            </a:xfrm>
            <a:prstGeom prst="roundRect">
              <a:avLst>
                <a:gd name="adj" fmla="val 80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42950" y="486822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3605" y="49039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缩短时间的三个方向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48665" y="5308283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6780" y="5245418"/>
              <a:ext cx="4265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减少编队数 m：增加存取单元等部件，支持链接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48665" y="564356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06780" y="558069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缩短每个钟鸣：增加车道 L，双车道让每个编队从 N 拍降到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N/2 拍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898005" y="1524000"/>
            <a:ext cx="4760595" cy="1602105"/>
            <a:chOff x="6898005" y="1524000"/>
            <a:chExt cx="4760595" cy="1602105"/>
          </a:xfrm>
        </p:grpSpPr>
        <p:sp>
          <p:nvSpPr>
            <p:cNvPr id="61" name="Rectangle 61"/>
            <p:cNvSpPr/>
            <p:nvPr/>
          </p:nvSpPr>
          <p:spPr>
            <a:xfrm>
              <a:off x="6898005" y="1524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753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45655" y="1733550"/>
              <a:ext cx="16525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01143" y="1769269"/>
              <a:ext cx="1540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 load/store 单元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8035" y="2110740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1 = vld、vmul、vld、vadd；两条 vld 已占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满两个存取单元，vst 再用就是结构冒险，自成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2。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898005" y="3316605"/>
            <a:ext cx="4760595" cy="1602105"/>
            <a:chOff x="6898005" y="3316605"/>
            <a:chExt cx="4760595" cy="1602105"/>
          </a:xfrm>
        </p:grpSpPr>
        <p:sp>
          <p:nvSpPr>
            <p:cNvPr id="67" name="Rectangle 67"/>
            <p:cNvSpPr/>
            <p:nvPr/>
          </p:nvSpPr>
          <p:spPr>
            <a:xfrm>
              <a:off x="6898005" y="3316605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07530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45655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27011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没有链接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38035" y="3903345"/>
              <a:ext cx="4063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 1 = vld v0；vmul 要等 v0，开编队 2，vld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 与它无冲突也进编队 2；vadd 要等 v1、v2，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开编队 3；vst 要等 v3，开编队 4。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898005" y="5109210"/>
            <a:ext cx="4760595" cy="1201102"/>
            <a:chOff x="6898005" y="5109210"/>
            <a:chExt cx="4760595" cy="1201102"/>
          </a:xfrm>
        </p:grpSpPr>
        <p:sp>
          <p:nvSpPr>
            <p:cNvPr id="73" name="Rectangle 73"/>
            <p:cNvSpPr/>
            <p:nvPr/>
          </p:nvSpPr>
          <p:spPr>
            <a:xfrm>
              <a:off x="6898005" y="5109210"/>
              <a:ext cx="4760595" cy="1201102"/>
            </a:xfrm>
            <a:prstGeom prst="roundRect">
              <a:avLst>
                <a:gd name="adj" fmla="val 951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090734" y="5606533"/>
              <a:ext cx="224134" cy="192560"/>
              <a:chOff x="7090734" y="5606533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202805" y="56769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090734" y="56065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02805" y="57546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4735" y="5467350"/>
              <a:ext cx="3606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钟鸣模型忽略了启动开销 b，向量短时会低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估；它也没算多车道时额外的控制开销。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2095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与 GPGPU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从给游戏加速的外插卡，长成通用的并行处理器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的发展与晶体管分配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28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椰子比赛：CPU 与 GPU 怎样比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39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名词解释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57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异构融合、SIMT 与架构演进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9298" cy="909257"/>
            <a:chOff x="520446" y="342900"/>
            <a:chExt cx="79192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92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从游戏里长出来：FPU、向量指令、外插加速卡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5384292" cy="707136"/>
            <a:chOff x="527304" y="1544002"/>
            <a:chExt cx="5384292" cy="70713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5384292" cy="707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 GPU，一切都始于怪兽。游戏里到处移动的怪兽、飞机、坦克都是由许多像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素组成的高分辨率图形元素，移动、碰撞、变换都要大量浮点运算，这是 GPU 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配向量计算的雏形。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2388870"/>
            <a:ext cx="5626418" cy="3438525"/>
            <a:chOff x="533400" y="2388870"/>
            <a:chExt cx="5626418" cy="3438525"/>
          </a:xfrm>
        </p:grpSpPr>
        <p:sp>
          <p:nvSpPr>
            <p:cNvPr id="9" name="Rectangle 9"/>
            <p:cNvSpPr/>
            <p:nvPr/>
          </p:nvSpPr>
          <p:spPr>
            <a:xfrm>
              <a:off x="533400" y="2388870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8705" y="25203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2390" y="25203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3057525"/>
              <a:ext cx="1064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1989–1991 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45589" y="2950845"/>
              <a:ext cx="36774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486DX 内置浮点单元 FPU，游戏运行更快；486SX 不带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FPU，执行一般计算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4575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46233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3593782"/>
              <a:ext cx="75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 年起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45589" y="3593782"/>
              <a:ext cx="2173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奔腾系列把 FPU 变成必备部件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881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4024312"/>
              <a:ext cx="5977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1997 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45589" y="4024312"/>
              <a:ext cx="28803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MMX：第一代向量处理单元，整数 SIMD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186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32339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453890"/>
              <a:ext cx="1064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1999–2008 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5589" y="4453890"/>
              <a:ext cx="36326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 加入单精度浮点 SIMD，之后 SSE2 到 SSE4.2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482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884420"/>
              <a:ext cx="1064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2011–2016 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45589" y="4884420"/>
              <a:ext cx="3620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AVX、AVX2、AVX-512，向量宽度 256 位、512 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1787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183505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5421630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 年代后期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45589" y="5314950"/>
              <a:ext cx="3669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声卡、网卡厂商推出浮点加速外插卡，专做图像坐标变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换；1999 年 NVIDIA 用 GPU 命名 GeForce 256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388870"/>
              <a:ext cx="5626418" cy="3437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35480" y="2388870"/>
              <a:ext cx="9525" cy="3437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2728912"/>
            <a:chOff x="6464618" y="1524000"/>
            <a:chExt cx="5193982" cy="2728912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2728912"/>
            </a:xfrm>
            <a:prstGeom prst="roundRect">
              <a:avLst>
                <a:gd name="adj" fmla="val 488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68452" y="1727835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6306" y="176355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这笔交易很划算（原课件）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214" y="2100739"/>
              <a:ext cx="44328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早期 GPU 主要提供尽可能高的浮点性能，解放了 CPU 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214" y="2692241"/>
              <a:ext cx="45770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500 美元的电脑加 100 美元的 GPU，多投入 20%，速度提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升 5 到 10 倍（原课件另一处说 20 余倍），性价比提高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 4.2 到 8.3 倍。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214" y="3555206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此后 GPU 成为每台计算机的一部分，如同当年的 FPU 之于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CPU，作用也不再限于游戏。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4438650"/>
            <a:ext cx="5193982" cy="1817370"/>
            <a:chOff x="6464618" y="4438650"/>
            <a:chExt cx="5193982" cy="1817370"/>
          </a:xfrm>
        </p:grpSpPr>
        <p:sp>
          <p:nvSpPr>
            <p:cNvPr id="42" name="Rectangle 42"/>
            <p:cNvSpPr/>
            <p:nvPr/>
          </p:nvSpPr>
          <p:spPr>
            <a:xfrm>
              <a:off x="6464618" y="4438650"/>
              <a:ext cx="5193982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457200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6552" y="4642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713" y="4678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9314" y="5015389"/>
              <a:ext cx="446887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原课件说“为了提供更高的 FPU 性能引入 MMX，然后是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 直到 2016 年的 SSE4.2”。MMX 只做整数 SIMD，单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精度浮点 SIMD 从 SSE 开始；SSE4.2 发布于 2008 年，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 年前后出现的是 AVX-512。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6834" cy="909257"/>
            <a:chOff x="520446" y="342900"/>
            <a:chExt cx="8376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6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晶体管花在哪里：CPU 给控制和缓存，GPU 给运算单元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ells-1"/>
          <p:cNvGrpSpPr/>
          <p:nvPr/>
        </p:nvGrpSpPr>
        <p:grpSpPr>
          <a:xfrm>
            <a:off x="528066" y="1524000"/>
            <a:ext cx="5415534" cy="1600200"/>
            <a:chOff x="528066" y="1524000"/>
            <a:chExt cx="5415534" cy="1600200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8208" y="1524000"/>
              <a:ext cx="126111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2078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59318" y="1524000"/>
              <a:ext cx="126111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43188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0428" y="1524000"/>
              <a:ext cx="126111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16272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82490" y="1524000"/>
              <a:ext cx="126111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78335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98208" y="2114550"/>
              <a:ext cx="126111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82078" y="22583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59318" y="2114550"/>
              <a:ext cx="126111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43188" y="22583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0428" y="2114550"/>
              <a:ext cx="126111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04298" y="22583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82490" y="2114550"/>
              <a:ext cx="126111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66360" y="22583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98208" y="2705100"/>
              <a:ext cx="126111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35245" y="284892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59318" y="2705100"/>
              <a:ext cx="126111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96355" y="284892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0428" y="2705100"/>
              <a:ext cx="126111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57465" y="284892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682490" y="2705100"/>
              <a:ext cx="126111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19527" y="284892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</p:grpSp>
      <p:grpSp>
        <p:nvGrpSpPr>
          <p:cNvPr id="94" name="c1-cells-2"/>
          <p:cNvGrpSpPr/>
          <p:nvPr/>
        </p:nvGrpSpPr>
        <p:grpSpPr>
          <a:xfrm>
            <a:off x="528447" y="3314700"/>
            <a:ext cx="5415153" cy="1600200"/>
            <a:chOff x="528447" y="3314700"/>
            <a:chExt cx="5415153" cy="160020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3463766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82015" y="3314700"/>
              <a:ext cx="5057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0177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388745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95954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894522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02684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400300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608462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907030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15192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412808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20969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19538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26747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425315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33477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31092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39254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437822" y="331470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45032" y="34637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82015" y="3905250"/>
              <a:ext cx="5057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90177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388745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595954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894522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102684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400300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8462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907030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115192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412808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620969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919538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126747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425315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33477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931092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39254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437822" y="3905250"/>
              <a:ext cx="5057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645032" y="40543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82015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54789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388745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460567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894522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967297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400300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473074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907030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979804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412808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485582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3919538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991359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4425315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498089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931092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003867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437822" y="4495800"/>
              <a:ext cx="5057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509644" y="4644866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</p:grpSp>
      <p:grpSp>
        <p:nvGrpSpPr>
          <p:cNvPr id="96" name="c1-text-3"/>
          <p:cNvGrpSpPr/>
          <p:nvPr/>
        </p:nvGrpSpPr>
        <p:grpSpPr>
          <a:xfrm>
            <a:off x="526923" y="5126831"/>
            <a:ext cx="5068570" cy="500824"/>
            <a:chOff x="526923" y="5126831"/>
            <a:chExt cx="5068570" cy="500824"/>
          </a:xfrm>
        </p:grpSpPr>
        <p:sp>
          <p:nvSpPr>
            <p:cNvPr id="95" name="TextBox 95"/>
            <p:cNvSpPr txBox="1"/>
            <p:nvPr/>
          </p:nvSpPr>
          <p:spPr>
            <a:xfrm>
              <a:off x="526923" y="5126831"/>
              <a:ext cx="506857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GPU 行里 C 表示一小块控制与缓存，A 表示 ALU（原课件第56、62页示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意图）</a:t>
              </a:r>
            </a:p>
          </p:txBody>
        </p:sp>
      </p:grpSp>
      <p:grpSp>
        <p:nvGrpSpPr>
          <p:cNvPr id="121" name="c2-table-1"/>
          <p:cNvGrpSpPr/>
          <p:nvPr/>
        </p:nvGrpSpPr>
        <p:grpSpPr>
          <a:xfrm>
            <a:off x="6242685" y="1524000"/>
            <a:ext cx="5415915" cy="3446622"/>
            <a:chOff x="6242685" y="1524000"/>
            <a:chExt cx="5415915" cy="3446622"/>
          </a:xfrm>
        </p:grpSpPr>
        <p:sp>
          <p:nvSpPr>
            <p:cNvPr id="97" name="Rectangle 97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29250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439037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356223" y="210835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晶体管主要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546848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控制逻辑（分支预测、乱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序执行）和大缓存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656636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大量运算单元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356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擅长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546848" y="278368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少数几个串行线程，单线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程快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656636" y="289702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大量并行线程，总吞吐高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356223" y="345900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访存延迟怎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么办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546848" y="35723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靠大缓存和乱序减少等待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656636" y="3459004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靠大量线程轮换来掩盖等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6248400" y="3994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6248400" y="399954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356223" y="42476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适合的任务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546848" y="413432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分支多、依赖多的控制型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656636" y="413432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数据多、运算整齐的数据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并行代码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248400" y="1524000"/>
              <a:ext cx="5410200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43426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954405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6242685" y="4750594"/>
              <a:ext cx="4652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Divergent design choices：control logics v.s. arithmetic logics</a:t>
              </a:r>
            </a:p>
          </p:txBody>
        </p:sp>
      </p:grpSp>
      <p:grpSp>
        <p:nvGrpSpPr>
          <p:cNvPr id="127" name="c2-callout-2"/>
          <p:cNvGrpSpPr/>
          <p:nvPr/>
        </p:nvGrpSpPr>
        <p:grpSpPr>
          <a:xfrm>
            <a:off x="6248400" y="5116830"/>
            <a:ext cx="5410200" cy="1059180"/>
            <a:chOff x="6248400" y="5116830"/>
            <a:chExt cx="5410200" cy="1059180"/>
          </a:xfrm>
        </p:grpSpPr>
        <p:sp>
          <p:nvSpPr>
            <p:cNvPr id="122" name="Rectangle 122"/>
            <p:cNvSpPr/>
            <p:nvPr/>
          </p:nvSpPr>
          <p:spPr>
            <a:xfrm>
              <a:off x="6248400" y="511683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6453188" y="5546410"/>
              <a:ext cx="200023" cy="200023"/>
              <a:chOff x="6453188" y="5546410"/>
              <a:chExt cx="200023" cy="200023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6453188" y="55464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6586538" y="56130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6755130" y="5265420"/>
              <a:ext cx="41967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同样的晶体管预算，CPU 买的是单线程的低延迟，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 买的是总吞吐。数据级并行任务多、分支少，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 那种分法更划算。</a:t>
              </a:r>
            </a:p>
          </p:txBody>
        </p:sp>
      </p:grpSp>
      <p:grpSp>
        <p:nvGrpSpPr>
          <p:cNvPr id="1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8" name="TextBox 12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7179" cy="909257"/>
            <a:chOff x="520446" y="342900"/>
            <a:chExt cx="96171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71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椰子比赛：一个壮汉、两兄弟和一车童子军，谁先摘完 2048 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5092256" cy="2328101"/>
            <a:chOff x="526542" y="1545907"/>
            <a:chExt cx="5092256" cy="232810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John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1492" y="154590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最强壮的农民，拖拉机最快，速度是普通村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民 2 倍以上 → 4 GHz 单线程 CPU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883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8370"/>
              <a:ext cx="13065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Thomas 与 Bob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1492" y="2198370"/>
              <a:ext cx="328841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各开一辆一半大小的拖拉机 → 双核 CPU，每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2.5 GHz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4034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849880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George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31492" y="2849880"/>
              <a:ext cx="3391281" cy="1024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不开拖拉机，自己不干活只发命令，带 32 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童子军，童子军速度约为普通村民的 1/4，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要抓紧一条长绳来同步 → 一个 2.5 GHz CPU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核加 32 个 1 GHz 小核组成的 GPU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996690"/>
            <a:ext cx="5085398" cy="1180148"/>
            <a:chOff x="533400" y="3996690"/>
            <a:chExt cx="5085398" cy="1180148"/>
          </a:xfrm>
        </p:grpSpPr>
        <p:sp>
          <p:nvSpPr>
            <p:cNvPr id="16" name="Rectangle 16"/>
            <p:cNvSpPr/>
            <p:nvPr/>
          </p:nvSpPr>
          <p:spPr>
            <a:xfrm>
              <a:off x="533400" y="3996690"/>
              <a:ext cx="5085398" cy="1180148"/>
            </a:xfrm>
            <a:prstGeom prst="roundRect">
              <a:avLst>
                <a:gd name="adj" fmla="val 9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487228"/>
              <a:ext cx="200026" cy="200026"/>
              <a:chOff x="738188" y="4487228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487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553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587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4368165"/>
              <a:ext cx="41027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原课件第60–61页只提出问题“究竟谁能赢”，右边是补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充的估算。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918264" y="1524000"/>
            <a:ext cx="5740336" cy="2089404"/>
            <a:chOff x="5918264" y="1524000"/>
            <a:chExt cx="5740336" cy="2089404"/>
          </a:xfrm>
        </p:grpSpPr>
        <p:sp>
          <p:nvSpPr>
            <p:cNvPr id="23" name="Rectangle 23"/>
            <p:cNvSpPr/>
            <p:nvPr/>
          </p:nvSpPr>
          <p:spPr>
            <a:xfrm>
              <a:off x="5923598" y="1524000"/>
              <a:ext cx="573500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2433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1908" y="1648301"/>
              <a:ext cx="1126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吞吐（GHz·核）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229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全部可并行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48450" y="1648301"/>
              <a:ext cx="717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5% 须串行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25994" y="1648301"/>
              <a:ext cx="804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须串行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23610" y="205406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809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91918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93948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15028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23598" y="233076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923598" y="2335530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3610" y="2459831"/>
              <a:ext cx="1084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Thomas 与 Bob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809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91918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93948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15028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923598" y="273653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23610" y="2865596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George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2663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602028" y="2750820"/>
              <a:ext cx="100584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91918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626918" y="2750820"/>
              <a:ext cx="96012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93948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15028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923598" y="1524000"/>
              <a:ext cx="573500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3423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58774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61263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59180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18264" y="3221355"/>
              <a:ext cx="548468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表中是相对用时（总工作量取 1），假设每个核每拍摘得一样多；串行部分由 2.5 GHz 的核完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29"/>
              <p:cNvSpPr txBox="1">
                <a:spLocks noGrp="1"/>
              </p:cNvSpPr>
              <p:nvPr/>
            </p:nvSpPr>
            <p:spPr>
              <a:xfrm>
                <a:off x="5923598" y="3747135"/>
                <a:ext cx="5735002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George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8" name="c2-text-3"/>
          <p:cNvGrpSpPr/>
          <p:nvPr/>
        </p:nvGrpSpPr>
        <p:grpSpPr>
          <a:xfrm>
            <a:off x="5917882" y="4558189"/>
            <a:ext cx="5196078" cy="661988"/>
            <a:chOff x="5917882" y="4558189"/>
            <a:chExt cx="5196078" cy="661988"/>
          </a:xfrm>
        </p:grpSpPr>
        <p:sp>
          <p:nvSpPr>
            <p:cNvPr id="57" name="TextBox 57"/>
            <p:cNvSpPr txBox="1"/>
            <p:nvPr/>
          </p:nvSpPr>
          <p:spPr>
            <a:xfrm>
              <a:off x="5917882" y="4558189"/>
              <a:ext cx="5196078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rₛ = 5% 时 George 比 John 快约 5.0 倍；rₛ = 20% 时只快约 2.4 倍。按故事口径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（John 算 2 个村民，童子军每人 1/4 个），32 × 1/4 = 8 个村民，也是 John 的 4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9" name="Rectangle 5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5779770"/>
              <a:ext cx="100092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 能赢的前提：2048 颗椰子彼此独立（数据级并行），协调开销小，不能并行的部分少。串行比例一大，优势就被 Amdahl 定律吃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名词解释（一）：GPU 里的运算和处理单元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868102"/>
            <a:chOff x="533400" y="1524000"/>
            <a:chExt cx="11125200" cy="38681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0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5850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175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中文名与说明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1267" y="2085022"/>
              <a:ext cx="1682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Arithmetic Logic Unit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11712" y="2085022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算术逻辑单元：组合数字电路，对整数二进制数做算术和位运算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1267" y="2515552"/>
              <a:ext cx="1472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Floating Point Unit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11712" y="251555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浮点单元：专门对浮点数做运算，俗称数学协处理器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05276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SFU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1267" y="3052762"/>
              <a:ext cx="165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Special Function Unit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1712" y="2946082"/>
              <a:ext cx="5993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特殊功能单元：执行正弦、余弦、倒数、平方根等超越指令，每个 SFU 每拍为一个线程执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行一条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528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575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58902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1267" y="3589020"/>
              <a:ext cx="1280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Load-Store Unit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1712" y="3589020"/>
              <a:ext cx="531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存取单元：执行 load/store 指令，生成地址，在内存和寄存器之间搬数据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019550"/>
              <a:ext cx="612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 / PE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51267" y="4019550"/>
              <a:ext cx="33696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Streaming Processor / Processing Element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1712" y="4019550"/>
              <a:ext cx="5037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流处理器 / 处理元件：即 CUDA 核，执行线程运算指令的标量运算单元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1863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4555808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1267" y="4555808"/>
              <a:ext cx="2057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Streaming Multiprocessor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1712" y="4449128"/>
              <a:ext cx="5780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流式多处理器：运行 CUDA kernel 的单元，含多个 SP 和共享内存、常量缓存、纹理缓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存、一级缓存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568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5093017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51267" y="5093017"/>
              <a:ext cx="2224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Graphics Processing Cluster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11712" y="5093017"/>
              <a:ext cx="2436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图形处理集群：若干 SM 组成的簇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8681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41158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01602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753576"/>
              <a:ext cx="994219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 SP 解释为“处理由 CPU 传输过来的数据，处理后转化为显示器可以辨识的数字信号”，那是整块显卡的作用；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 是 SM 里执行线程指令的运算单元。原课件把 SM 译作“流处理簇”，通行译法是流式多处理器。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名词解释（二）：存储、接口与调度引擎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868102"/>
            <a:chOff x="533400" y="1524000"/>
            <a:chExt cx="11125200" cy="38681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0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5850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175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中文名与说明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1267" y="2085022"/>
              <a:ext cx="2249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Raster Operation Processor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11712" y="2085022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光栅运算处理器：把像素和纹理信息处理成最终像素值或深度值，并做混合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1267" y="2515552"/>
              <a:ext cx="2489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Dynamic Random Access 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11712" y="2515552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动态随机存取存储器：用电容中电荷的多少表示一位是 1 还是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052762"/>
              <a:ext cx="478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SMEM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1267" y="3052762"/>
              <a:ext cx="1202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 Memory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1712" y="2946082"/>
              <a:ext cx="59329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共享内存：GPU 里指 SM 片上、同一线程块内所有线程共享的存储，用于线程间快速交换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528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5757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695700"/>
              <a:ext cx="356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1267" y="3589020"/>
              <a:ext cx="26182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Peripheral Component Interconnect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express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1712" y="3695700"/>
              <a:ext cx="4060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高速串行计算机扩展总线标准，CPU 与显卡之间靠它连接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0967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2329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51267" y="4232910"/>
              <a:ext cx="1416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GigaThread Engine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1712" y="4232910"/>
              <a:ext cx="6105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千兆线程引擎：接收对 GPU 的调用，按 kernel 创建任务实例（线程块）并分给各 SM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5272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53199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466248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1267" y="4662488"/>
              <a:ext cx="1683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Transfer Engine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1712" y="4662488"/>
              <a:ext cx="517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数据传输引擎：执行 datamove PBS，在主机内存和设备内存之间传数据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568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5093017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PBS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51267" y="5093017"/>
              <a:ext cx="166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Buffer Streams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11712" y="5093017"/>
              <a:ext cx="2657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推送缓冲流：主机写给 GPU 的命令流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8681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41158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01602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753576"/>
              <a:ext cx="99602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PBS 分三类（原课件第81页）：计算 PBS 交给 SM 阵列，datamove PBS 交给 DTE，控制 PBS 交给调度部件。原课件对 SMEM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的解释是泛指程序间共享的内存，这里换成 GPU 里的含义。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名词解释（三）：指令流、执行模型与软件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11125200" cy="3789998"/>
            <a:chOff x="533400" y="1524000"/>
            <a:chExt cx="11125200" cy="3789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26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2774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1762" y="16587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中文名与说明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3113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0124" y="2128361"/>
              <a:ext cx="24601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Instruction Stream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10568" y="2128361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指令流：编译好的 kernel 代码，放在设备内存的代码缓冲区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596991"/>
              <a:ext cx="5976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0124" y="2596991"/>
              <a:ext cx="33088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General-purpose computing on GPUs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10568" y="2596991"/>
              <a:ext cx="49377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通用图形处理器：用 GPU 执行原本由 CPU 完成的通用计算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260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065621"/>
              <a:ext cx="47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0124" y="3065621"/>
              <a:ext cx="2962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Instruction Multiple Data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0568" y="3065621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单指令多数据流：把多个操作数打包进大型寄存器，一条指令同时处理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956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00425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3661886"/>
              <a:ext cx="47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0124" y="3661886"/>
              <a:ext cx="3277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Instruction Multiple Threads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0568" y="3535204"/>
              <a:ext cx="586651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单指令多线程：SI（单指令）加 MT（多线程），一组线程锁步执行同一条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指令，每个线程有自己的寄存器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17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257199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NVCC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50124" y="4257199"/>
              <a:ext cx="19328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NVIDIA CUDA Compiler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0568" y="4257199"/>
              <a:ext cx="50993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编译器驱动程序，对开发者隐藏 CUDA 编译的复杂细节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5862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591050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4" y="4853464"/>
              <a:ext cx="3113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VDI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0124" y="4853464"/>
              <a:ext cx="2947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 Desktop Infrastructure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0568" y="4726781"/>
              <a:ext cx="59656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虚拟桌面基础设施：在中心服务器上用虚拟机托管桌面环境，按请求交付给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最终用户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641158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201602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1" name="Rectangle 4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5753576"/>
              <a:ext cx="98790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SIMT 与 SPMD 的区别（原课件引自维基百科）：SIMT 中所有“线程”的指令都在锁步中执行；SPMD 只要求程序相同，各执行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实体可以各走各的进度。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33553" cy="909257"/>
            <a:chOff x="520446" y="342900"/>
            <a:chExt cx="8033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33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天生并行：流水线让指令错开，GPU 让线程并排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1972" y="1545907"/>
            <a:ext cx="4284536" cy="1961389"/>
            <a:chOff x="541972" y="1545907"/>
            <a:chExt cx="4284536" cy="1961389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像素并行（pixel parallelism）：一幅图像的像素彼此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独立，可以同时计算，用来加速成像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21678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21116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计算对象从面向图形转向通用计算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4765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420302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编程接口从图形 API（如 OpenGL）转向计算 API（如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OpenCL、CUDA）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972" y="30422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992" y="298608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问题不必再用顶点坐标、纹理和着色器程序来表达，程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序复杂度大大降低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28447" y="3624262"/>
            <a:ext cx="4549331" cy="1464659"/>
            <a:chOff x="528447" y="3624262"/>
            <a:chExt cx="4549331" cy="1464659"/>
          </a:xfrm>
        </p:grpSpPr>
        <p:sp>
          <p:nvSpPr>
            <p:cNvPr id="16" name="Rectangle 16"/>
            <p:cNvSpPr/>
            <p:nvPr/>
          </p:nvSpPr>
          <p:spPr>
            <a:xfrm>
              <a:off x="533400" y="3624262"/>
              <a:ext cx="454437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75633" y="3745706"/>
              <a:ext cx="1367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条指令 / 5 个线程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75443" y="3745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0555" y="4145756"/>
              <a:ext cx="13472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流水线（Pipeline）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02276" y="4145756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+ 5 − 1 = 9 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196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42436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4545806"/>
              <a:ext cx="1490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并发（Concurrent）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86751" y="454580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24262"/>
              <a:ext cx="4544378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80372" y="362426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447" y="4898231"/>
              <a:ext cx="2292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并发要 5 套执行部件，流水线只要 1 套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219700"/>
            <a:ext cx="4544378" cy="1058228"/>
            <a:chOff x="533400" y="5219700"/>
            <a:chExt cx="4544378" cy="1058228"/>
          </a:xfrm>
        </p:grpSpPr>
        <p:sp>
          <p:nvSpPr>
            <p:cNvPr id="29" name="Rectangle 29"/>
            <p:cNvSpPr/>
            <p:nvPr/>
          </p:nvSpPr>
          <p:spPr>
            <a:xfrm>
              <a:off x="533400" y="5219700"/>
              <a:ext cx="4544378" cy="1058228"/>
            </a:xfrm>
            <a:prstGeom prst="roundRect">
              <a:avLst>
                <a:gd name="adj" fmla="val 1080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649280"/>
              <a:ext cx="200023" cy="200023"/>
              <a:chOff x="738188" y="564928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6492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7159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406390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靠流水线让不同指令错开重叠；GPU 让成千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上万个线程在同一段上并排执行，图形计算天然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就是这种形状。</a:t>
              </a:r>
            </a:p>
          </p:txBody>
        </p:sp>
      </p:grpSp>
      <p:grpSp>
        <p:nvGrpSpPr>
          <p:cNvPr id="36" name="c2-text-1"/>
          <p:cNvGrpSpPr/>
          <p:nvPr/>
        </p:nvGrpSpPr>
        <p:grpSpPr>
          <a:xfrm>
            <a:off x="5376862" y="1542574"/>
            <a:ext cx="4092458" cy="220028"/>
            <a:chOff x="5376862" y="1542574"/>
            <a:chExt cx="4092458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5376862" y="1542574"/>
              <a:ext cx="4092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Pipeline：同一时刻各条指令处在不同段（第 5 拍一列涂色）</a:t>
              </a:r>
            </a:p>
          </p:txBody>
        </p:sp>
      </p:grpSp>
      <p:grpSp>
        <p:nvGrpSpPr>
          <p:cNvPr id="112" name="c2-cells-2"/>
          <p:cNvGrpSpPr/>
          <p:nvPr/>
        </p:nvGrpSpPr>
        <p:grpSpPr>
          <a:xfrm>
            <a:off x="5377815" y="1887855"/>
            <a:ext cx="6280785" cy="2447925"/>
            <a:chOff x="5377815" y="1887855"/>
            <a:chExt cx="6280785" cy="2447925"/>
          </a:xfrm>
        </p:grpSpPr>
        <p:sp>
          <p:nvSpPr>
            <p:cNvPr id="37" name="TextBox 37"/>
            <p:cNvSpPr txBox="1"/>
            <p:nvPr/>
          </p:nvSpPr>
          <p:spPr>
            <a:xfrm>
              <a:off x="5377815" y="2016443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617845" y="188785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92188" y="2016443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89358" y="188785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2748" y="2016443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960870" y="188785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17458" y="201644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31430" y="188785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25123" y="2016443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302942" y="1887855"/>
              <a:ext cx="67151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46089" y="2016443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73502" y="188785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45015" y="188785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316528" y="188785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987088" y="188785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77815" y="2536508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617845" y="2407920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89358" y="2407920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2748" y="25365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960870" y="2407920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34260" y="25365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631430" y="2407920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88971" y="25365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02942" y="2407920"/>
              <a:ext cx="67151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95683" y="2536508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73502" y="2407920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17602" y="253650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645015" y="2407920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316528" y="2407920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987088" y="2407920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77815" y="3055620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617845" y="292798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89358" y="292798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60870" y="292798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34260" y="305562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31430" y="292798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05773" y="305562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02942" y="2927985"/>
              <a:ext cx="67151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59531" y="305562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973502" y="292798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67195" y="3055620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645015" y="2927985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888162" y="305562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316528" y="292798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987088" y="2927985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377815" y="3575685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i4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617845" y="3447098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89358" y="3447098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960870" y="3447098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631430" y="3447098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905773" y="357568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302942" y="3447098"/>
              <a:ext cx="67151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576333" y="357568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973502" y="3447098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231043" y="357568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645015" y="3447098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837755" y="3575685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316528" y="3447098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559674" y="357568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987088" y="3447098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377815" y="4095750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i5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617845" y="3967162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289358" y="3967162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960870" y="3967162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631430" y="3967162"/>
              <a:ext cx="67151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302942" y="3967162"/>
              <a:ext cx="67151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576333" y="409575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973502" y="3967162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247845" y="409575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645015" y="3967162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901603" y="409575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10316528" y="3967162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0509268" y="4095750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10987088" y="3967162"/>
              <a:ext cx="67151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1231187" y="409575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</p:grpSp>
      <p:grpSp>
        <p:nvGrpSpPr>
          <p:cNvPr id="114" name="c2-text-3"/>
          <p:cNvGrpSpPr/>
          <p:nvPr/>
        </p:nvGrpSpPr>
        <p:grpSpPr>
          <a:xfrm>
            <a:off x="5376862" y="4523899"/>
            <a:ext cx="2997922" cy="220028"/>
            <a:chOff x="5376862" y="4523899"/>
            <a:chExt cx="2997922" cy="220028"/>
          </a:xfrm>
        </p:grpSpPr>
        <p:sp>
          <p:nvSpPr>
            <p:cNvPr id="113" name="TextBox 113"/>
            <p:cNvSpPr txBox="1"/>
            <p:nvPr/>
          </p:nvSpPr>
          <p:spPr>
            <a:xfrm>
              <a:off x="5376862" y="4523899"/>
              <a:ext cx="2997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Concurrent：同一时刻所有线程处在同一段</a:t>
              </a:r>
            </a:p>
          </p:txBody>
        </p:sp>
      </p:grpSp>
      <p:grpSp>
        <p:nvGrpSpPr>
          <p:cNvPr id="148" name="c2-cells-4"/>
          <p:cNvGrpSpPr/>
          <p:nvPr/>
        </p:nvGrpSpPr>
        <p:grpSpPr>
          <a:xfrm>
            <a:off x="5377815" y="4870132"/>
            <a:ext cx="5700713" cy="1407796"/>
            <a:chOff x="5377815" y="4870132"/>
            <a:chExt cx="5700713" cy="1407796"/>
          </a:xfrm>
        </p:grpSpPr>
        <p:sp>
          <p:nvSpPr>
            <p:cNvPr id="115" name="TextBox 115"/>
            <p:cNvSpPr txBox="1"/>
            <p:nvPr/>
          </p:nvSpPr>
          <p:spPr>
            <a:xfrm>
              <a:off x="5377815" y="49987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648325" y="4870132"/>
              <a:ext cx="1085850" cy="3686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129360" y="499872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734175" y="4870132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215210" y="499872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7820025" y="4870132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284258" y="499872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8906828" y="4870132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307213" y="4998720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9992678" y="4870132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10443469" y="499872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377815" y="55178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648325" y="5389245"/>
              <a:ext cx="1085850" cy="3686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129360" y="5517832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6734175" y="5389245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7215210" y="5517832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7820025" y="5389245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8284258" y="551783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8906828" y="5389245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9307213" y="5517832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9992678" y="5389245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10443469" y="5517832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5377815" y="60378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5648325" y="5909310"/>
              <a:ext cx="1085850" cy="3686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6129360" y="603789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6734175" y="5909310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7215210" y="603789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7820025" y="5909310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8284258" y="603789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8906828" y="5909310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9307213" y="6037898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9992678" y="5909310"/>
              <a:ext cx="10858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10443469" y="603789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</p:grpSp>
      <p:grpSp>
        <p:nvGrpSpPr>
          <p:cNvPr id="1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9" name="TextBox 14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2218" cy="909257"/>
            <a:chOff x="520446" y="342900"/>
            <a:chExt cx="72322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22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殊途同归：多核 CPU 与众核 GPU 走向异构融合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672465" y="1497330"/>
            <a:ext cx="5673091" cy="2326004"/>
            <a:chOff x="672465" y="1497330"/>
            <a:chExt cx="5673091" cy="2326004"/>
          </a:xfrm>
        </p:grpSpPr>
        <p:sp>
          <p:nvSpPr>
            <p:cNvPr id="7" name="Freeform 7"/>
            <p:cNvSpPr/>
            <p:nvPr/>
          </p:nvSpPr>
          <p:spPr>
            <a:xfrm>
              <a:off x="1524952" y="2340292"/>
              <a:ext cx="1984057" cy="155258"/>
            </a:xfrm>
            <a:custGeom>
              <a:avLst/>
              <a:gdLst/>
              <a:ahLst/>
              <a:cxnLst/>
              <a:rect l="l" t="t" r="r" b="b"/>
              <a:pathLst>
                <a:path w="1984057" h="155258">
                  <a:moveTo>
                    <a:pt x="0" y="155258"/>
                  </a:moveTo>
                  <a:lnTo>
                    <a:pt x="0" y="25718"/>
                  </a:lnTo>
                  <a:lnTo>
                    <a:pt x="1984057" y="25718"/>
                  </a:lnTo>
                  <a:lnTo>
                    <a:pt x="198405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56622" y="22355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24952" y="2933700"/>
              <a:ext cx="1984057" cy="155258"/>
            </a:xfrm>
            <a:custGeom>
              <a:avLst/>
              <a:gdLst/>
              <a:ahLst/>
              <a:cxnLst/>
              <a:rect l="l" t="t" r="r" b="b"/>
              <a:pathLst>
                <a:path w="1984057" h="155258">
                  <a:moveTo>
                    <a:pt x="0" y="0"/>
                  </a:moveTo>
                  <a:lnTo>
                    <a:pt x="0" y="129540"/>
                  </a:lnTo>
                  <a:lnTo>
                    <a:pt x="1984057" y="129540"/>
                  </a:lnTo>
                  <a:lnTo>
                    <a:pt x="1984057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56622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362450" y="3508058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34852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62450" y="1921192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34852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93068" y="2449830"/>
              <a:ext cx="9525" cy="743903"/>
            </a:xfrm>
            <a:custGeom>
              <a:avLst/>
              <a:gdLst/>
              <a:ahLst/>
              <a:cxnLst/>
              <a:rect l="l" t="t" r="r" b="b"/>
              <a:pathLst>
                <a:path w="9525" h="743903">
                  <a:moveTo>
                    <a:pt x="0" y="74390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40680" y="2345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2465" y="2495550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55570" y="1605915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55570" y="3193732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39628" y="3193732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39628" y="1497330"/>
              <a:ext cx="1705928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68270" y="2625566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2293" y="172259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对称多核 CPU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（主处理器路线）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52293" y="331041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（协处理器路线）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80191" y="331041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主从式众核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72927" y="1613059"/>
              <a:ext cx="124028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融合处理器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（APU、Xeon Phi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等）</a:t>
              </a:r>
            </a:p>
          </p:txBody>
        </p:sp>
      </p:grpSp>
      <p:grpSp>
        <p:nvGrpSpPr>
          <p:cNvPr id="29" name="c1-text-2"/>
          <p:cNvGrpSpPr/>
          <p:nvPr/>
        </p:nvGrpSpPr>
        <p:grpSpPr>
          <a:xfrm>
            <a:off x="526923" y="4117181"/>
            <a:ext cx="5686298" cy="500824"/>
            <a:chOff x="526923" y="4117181"/>
            <a:chExt cx="5686298" cy="500824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4117181"/>
              <a:ext cx="56862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原课件第68页：Nothing is for sure, but Parallelism.（两条路最后都落到并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行上）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4757738"/>
            <a:ext cx="5951220" cy="1059180"/>
            <a:chOff x="533400" y="4757738"/>
            <a:chExt cx="5951220" cy="1059180"/>
          </a:xfrm>
        </p:grpSpPr>
        <p:sp>
          <p:nvSpPr>
            <p:cNvPr id="30" name="Rectangle 30"/>
            <p:cNvSpPr/>
            <p:nvPr/>
          </p:nvSpPr>
          <p:spPr>
            <a:xfrm>
              <a:off x="533400" y="4757738"/>
              <a:ext cx="595122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187315"/>
              <a:ext cx="200026" cy="200026"/>
              <a:chOff x="738188" y="5187315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1873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2539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2873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4906328"/>
              <a:ext cx="5015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融合的例子：AMD APU、Intel Xeon Phi、IBM Cell BE、申威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SW26010。SW26010 是神威·太湖之光的处理器，每个芯片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个核组，每组 1 个主核加 64 个从核，共 260 个核。</a:t>
              </a:r>
            </a:p>
          </p:txBody>
        </p:sp>
      </p:grpSp>
      <p:grpSp>
        <p:nvGrpSpPr>
          <p:cNvPr id="56" name="c2-compare-1"/>
          <p:cNvGrpSpPr/>
          <p:nvPr/>
        </p:nvGrpSpPr>
        <p:grpSpPr>
          <a:xfrm>
            <a:off x="6789420" y="1524000"/>
            <a:ext cx="4869180" cy="2274570"/>
            <a:chOff x="6789420" y="1524000"/>
            <a:chExt cx="4869180" cy="2274570"/>
          </a:xfrm>
        </p:grpSpPr>
        <p:sp>
          <p:nvSpPr>
            <p:cNvPr id="37" name="Rectangle 37"/>
            <p:cNvSpPr/>
            <p:nvPr/>
          </p:nvSpPr>
          <p:spPr>
            <a:xfrm>
              <a:off x="6789420" y="1524000"/>
              <a:ext cx="2225040" cy="227457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9894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29450" y="175831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擅长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4278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0900" y="211264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执行少数几个串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行线程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4278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0900" y="27336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顺序执行快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42785" y="31318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0900" y="306895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带缓存的低延迟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33560" y="1524000"/>
              <a:ext cx="2225040" cy="2274570"/>
            </a:xfrm>
            <a:prstGeom prst="roundRect">
              <a:avLst>
                <a:gd name="adj" fmla="val 599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35490" y="175831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 擅长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648825" y="21755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06940" y="21126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执行大量并行线程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648825" y="25107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06940" y="2447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可扩展的并行执行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648825" y="28460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06940" y="27832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高带宽的并行访存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062085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32425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6789420" y="3989070"/>
            <a:ext cx="4869180" cy="1827848"/>
            <a:chOff x="6789420" y="3989070"/>
            <a:chExt cx="4869180" cy="1827848"/>
          </a:xfrm>
        </p:grpSpPr>
        <p:sp>
          <p:nvSpPr>
            <p:cNvPr id="57" name="Rectangle 57"/>
            <p:cNvSpPr/>
            <p:nvPr/>
          </p:nvSpPr>
          <p:spPr>
            <a:xfrm>
              <a:off x="6789420" y="3989070"/>
              <a:ext cx="4869180" cy="1827848"/>
            </a:xfrm>
            <a:prstGeom prst="roundRect">
              <a:avLst>
                <a:gd name="adj" fmla="val 625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994208" y="4802507"/>
              <a:ext cx="200023" cy="200023"/>
              <a:chOff x="6994208" y="4802507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994208" y="48025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27558" y="48691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296150" y="4521518"/>
              <a:ext cx="3920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在融合之前（Before that day）用 CPU + GPU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的异构架构：每类任务用合适的处理器和存储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4965" cy="909257"/>
            <a:chOff x="520446" y="342900"/>
            <a:chExt cx="67149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49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 的好处，以及 SIMT 和 SIMD 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328160" cy="3629025"/>
            <a:chOff x="533400" y="1524000"/>
            <a:chExt cx="4328160" cy="3629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3629025"/>
            </a:xfrm>
            <a:prstGeom prst="roundRect">
              <a:avLst>
                <a:gd name="adj" fmla="val 36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623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393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1203" y="1769269"/>
              <a:ext cx="23542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GPGPU 带来什么（原课件第70页）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491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把程序员从对图形 API 和 GPU 架构的深入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了解中解放出来，问题不必用顶点坐标、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纹理和着色器程序表示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1752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支持对内存的随机读写等基本编程特性，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编程模型大大发展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014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3855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引入双精度，科学计算可以用上高性能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5160645" y="1524000"/>
            <a:ext cx="6497955" cy="3673317"/>
            <a:chOff x="5160645" y="1524000"/>
            <a:chExt cx="6497955" cy="3673317"/>
          </a:xfrm>
        </p:grpSpPr>
        <p:sp>
          <p:nvSpPr>
            <p:cNvPr id="18" name="Rectangle 18"/>
            <p:cNvSpPr/>
            <p:nvPr/>
          </p:nvSpPr>
          <p:spPr>
            <a:xfrm>
              <a:off x="5166360" y="152400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852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35960" y="1659731"/>
              <a:ext cx="2059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SIMD（SSE、AVX、RVV）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85943" y="1659731"/>
              <a:ext cx="10840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SIMT（GPU）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418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程序员写的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42901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向量寄存器和向量指令，一次几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个数写在指令里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418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普通标量代码，一个线程处理一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16636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66360" y="2647950"/>
              <a:ext cx="649224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4183" y="289702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硬件宽度变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2901" y="2783681"/>
              <a:ext cx="228066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换指令集（SSE 128 位到 AVX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位），代码要改写或重新编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04186" y="2897029"/>
              <a:ext cx="22400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线程由硬件编成 warp，同一份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代码在不同 GPU 上照跑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166360" y="35461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4183" y="37990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2901" y="379904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程序员或编译器自己用掩码处理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04186" y="368569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每个线程可以走不同分支，硬件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用掩码把分支串行执行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166360" y="42214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66360" y="4226242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74183" y="44743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2901" y="4361021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以连续加载为主，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gather/scatter 要专门指令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04186" y="436102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每个线程给自己的地址，硬件把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相邻地址合并成少量访存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6360" y="1524000"/>
              <a:ext cx="649224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30315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91600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0645" y="4977289"/>
              <a:ext cx="40223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原课件第70页只列出“SIMT VS SIMD”这个题目，表格为补充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728335"/>
              <a:ext cx="9902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硬件上 SIMT 仍是 SIMD：一个 warp 的 32 个线程共享取指和译码，同一拍执行同一条指令。两者的差别在编程模型和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对分支、访存的处理上。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804944" cy="909257"/>
            <a:chOff x="520446" y="342900"/>
            <a:chExt cx="108049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8049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NVIDIA GPU 架构演进：从 Fermi 到 Hopper，Tensor Core 越来越重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28447" y="1524000"/>
            <a:ext cx="5956173" cy="4064031"/>
            <a:chOff x="528447" y="1524000"/>
            <a:chExt cx="5956173" cy="40640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26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架构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65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13937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这一代的看点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44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Fermi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2110" y="21455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56485" y="2045494"/>
              <a:ext cx="3745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完整的 GPU 计算架构，引入 L1/L2 缓存与 ECC，最多 16 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并发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Kepler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2110" y="264556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56485" y="2645569"/>
              <a:ext cx="1832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SMX、Hyper-Q、动态并行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045619"/>
              <a:ext cx="609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Maxwell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2110" y="30456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56485" y="30456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大幅提高每瓦性能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242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445669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Pascal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42110" y="344566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56485" y="3445669"/>
              <a:ext cx="227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NVLink、HBM2 显存、半精度运算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9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845719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Volta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42110" y="38457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56485" y="3845719"/>
              <a:ext cx="2734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首次加入 Tensor Core，V100 共 640 个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195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243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245769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2110" y="424576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56485" y="4245769"/>
              <a:ext cx="2870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第二代 Tensor Core，加入光线追踪 RT 核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196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533900"/>
              <a:ext cx="9925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4645819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Ampere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42110" y="46458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56485" y="4645819"/>
              <a:ext cx="2244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第三代 Tensor Core，支持 TF32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9196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9244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555" y="5045869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Hopper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42110" y="504586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56485" y="5045869"/>
              <a:ext cx="2156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第四代 Tensor Core，支持 FP8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5951220" cy="38004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540192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254568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447" y="5397341"/>
              <a:ext cx="35171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原课件第71页只标出了 Pascal 的 2016 年，其余年份为补充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6784467" y="1524000"/>
            <a:ext cx="4874133" cy="3237262"/>
            <a:chOff x="6784467" y="1524000"/>
            <a:chExt cx="4874133" cy="3237262"/>
          </a:xfrm>
        </p:grpSpPr>
        <p:sp>
          <p:nvSpPr>
            <p:cNvPr id="52" name="Rectangle 52"/>
            <p:cNvSpPr/>
            <p:nvPr/>
          </p:nvSpPr>
          <p:spPr>
            <a:xfrm>
              <a:off x="6789420" y="1524000"/>
              <a:ext cx="486918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71688" y="1645444"/>
              <a:ext cx="1241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GA100 的一个 SM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705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6575" y="20454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处理块（分区）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7989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23193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89420" y="23241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86575" y="2445544"/>
              <a:ext cx="1190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FP32 / INT32 核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68805" y="244554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89420" y="27193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86575" y="2845594"/>
              <a:ext cx="580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FP64 核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38427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789420" y="31194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789420" y="31242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86575" y="3245644"/>
              <a:ext cx="144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第三代 Tensor Core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7989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789420" y="35194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86575" y="3645694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寄存器堆（每分区 16384×32 位）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486804" y="3645694"/>
              <a:ext cx="680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64 KB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89420" y="39195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89420" y="39243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86575" y="4045744"/>
              <a:ext cx="2205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数据缓存与共享内存（合计）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78407" y="4045744"/>
              <a:ext cx="497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 KB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789420" y="1524000"/>
              <a:ext cx="486918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98982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84467" y="4397216"/>
              <a:ext cx="4658487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 GA100 有 128 个 SM（8192 个 FP32 核）；A100 产品启用 108 个 SM，6912 个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FP32 核、432 个 Tensor Core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789420" y="4892992"/>
            <a:ext cx="4869180" cy="1443038"/>
            <a:chOff x="6789420" y="4892992"/>
            <a:chExt cx="4869180" cy="1443038"/>
          </a:xfrm>
        </p:grpSpPr>
        <p:sp>
          <p:nvSpPr>
            <p:cNvPr id="79" name="Rectangle 79"/>
            <p:cNvSpPr/>
            <p:nvPr/>
          </p:nvSpPr>
          <p:spPr>
            <a:xfrm>
              <a:off x="6789420" y="4892992"/>
              <a:ext cx="486918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798945" y="502634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014210" y="5079682"/>
              <a:ext cx="49720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096858" y="511254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TF32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07352" y="5424488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位符号 + 8 位阶码（与 FP32 相同）+ 10 位尾数（与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FP16 相同），共 19 位：范围同 FP32，精度同 FP16。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Tensor Core 用它做矩阵乘，累加仍用 FP32。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69863" cy="909257"/>
            <a:chOff x="520446" y="342900"/>
            <a:chExt cx="88698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851" y="407194"/>
              <a:ext cx="238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GPU 与 GPGPU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698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GPGPU 芯片结构图的顺序：显卡、GPU、SM、CUDA 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6497955" cy="3446622"/>
            <a:chOff x="527685" y="1524000"/>
            <a:chExt cx="6497955" cy="34466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18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3410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6300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4710" y="2108359"/>
              <a:ext cx="2150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芯片、显存、PCIe 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10403" y="2108359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一块卡一个 GPU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8074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（GF100）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4710" y="2556986"/>
              <a:ext cx="3158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GigaThread 引擎、4 个 GPC、768 KB L2、6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64 位显存控制器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0403" y="2556986"/>
              <a:ext cx="1118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 GPC × 4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 = 16 个 SM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4710" y="3232309"/>
              <a:ext cx="31015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 CUDA 核、16 个 LD/ST、4 个 SFU、2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warp 调度器、64 KB 共享内存/L1、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32768 个 32 位寄存器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0403" y="3459004"/>
              <a:ext cx="13030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SM 32 个核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663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74710" y="4134326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分派端口、操作数收集器、浮点单元、整数单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元、结果队列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10403" y="42476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每拍一次运算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492240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6212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9781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4750594"/>
              <a:ext cx="2338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原课件第75页的 Fermi 逐层放大图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116830"/>
            <a:ext cx="6492240" cy="1059180"/>
            <a:chOff x="533400" y="5116830"/>
            <a:chExt cx="6492240" cy="1059180"/>
          </a:xfrm>
        </p:grpSpPr>
        <p:sp>
          <p:nvSpPr>
            <p:cNvPr id="33" name="Rectangle 33"/>
            <p:cNvSpPr/>
            <p:nvPr/>
          </p:nvSpPr>
          <p:spPr>
            <a:xfrm>
              <a:off x="533400" y="5116830"/>
              <a:ext cx="6492240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546410"/>
              <a:ext cx="200023" cy="200023"/>
              <a:chOff x="738188" y="554641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5464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6130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265420"/>
              <a:ext cx="50253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数一数：Fermi 1 个 GPU → 4 个 GPC → 16 个 SM → 16 × 32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512 个 CUDA 核；GA100 是 8 个 GPC × 8 个 TPC × 2 个 SM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128 个 SM。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7324725" y="1524000"/>
            <a:ext cx="4333875" cy="2539842"/>
            <a:chOff x="7324725" y="1524000"/>
            <a:chExt cx="4333875" cy="2539842"/>
          </a:xfrm>
        </p:grpSpPr>
        <p:sp>
          <p:nvSpPr>
            <p:cNvPr id="39" name="Rectangle 39"/>
            <p:cNvSpPr/>
            <p:nvPr/>
          </p:nvSpPr>
          <p:spPr>
            <a:xfrm>
              <a:off x="7330440" y="1524000"/>
              <a:ext cx="432816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34298" y="1659731"/>
              <a:ext cx="10785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Fermi GF100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95480" y="1659731"/>
              <a:ext cx="122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Ampere GA100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38263" y="210835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1970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5321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330440" y="241649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0440" y="2421255"/>
              <a:ext cx="43281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38263" y="255698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7231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58442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30440" y="286607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38263" y="3005614"/>
              <a:ext cx="1198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SM FP32 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7231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0582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330440" y="331470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30440" y="3319462"/>
              <a:ext cx="43281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38263" y="3454241"/>
              <a:ext cx="1007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FP32 核总数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24929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1105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8192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30440" y="1524000"/>
              <a:ext cx="432816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858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15174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24725" y="3843814"/>
              <a:ext cx="2520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原课件第74页是完整 GA100 的布局图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7330440" y="4210050"/>
            <a:ext cx="4328160" cy="1965960"/>
            <a:chOff x="7330440" y="4210050"/>
            <a:chExt cx="4328160" cy="1965960"/>
          </a:xfrm>
        </p:grpSpPr>
        <p:sp>
          <p:nvSpPr>
            <p:cNvPr id="64" name="Rectangle 64"/>
            <p:cNvSpPr/>
            <p:nvPr/>
          </p:nvSpPr>
          <p:spPr>
            <a:xfrm>
              <a:off x="7330440" y="4210050"/>
              <a:ext cx="4328160" cy="1965960"/>
            </a:xfrm>
            <a:prstGeom prst="roundRect">
              <a:avLst>
                <a:gd name="adj" fmla="val 581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535228" y="5093018"/>
              <a:ext cx="200026" cy="200025"/>
              <a:chOff x="7535228" y="5093018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535228" y="50930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574966" y="51374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609682" y="52485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837170" y="4812030"/>
              <a:ext cx="3453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读结构图先找重复最多的方块：GA100 图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里一排排绿色小格是 SM，SM 两两组成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TPC，8 个 TPC 组成一个 GPC。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53517" cy="3351847"/>
            <a:chOff x="667512" y="1835468"/>
            <a:chExt cx="555351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5535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 的层次化抽象模型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444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用同一套部件和脚本，递归描述服务器、GPU、SM 三层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硬件结构子模型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任务组织与任务执行子模型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任务调度与数据移动子模型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9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映射到 NVIDIA Fermi 的三层实例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0979" cy="909257"/>
            <a:chOff x="520446" y="342900"/>
            <a:chExt cx="82409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658" y="407194"/>
              <a:ext cx="311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GPGPU 的层次化抽象模型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09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硬件结构子模型：第 i 层的 PE 由第 i−1 层的部件组成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kv-1"/>
          <p:cNvGrpSpPr/>
          <p:nvPr/>
        </p:nvGrpSpPr>
        <p:grpSpPr>
          <a:xfrm>
            <a:off x="525780" y="1548765"/>
            <a:ext cx="4335780" cy="3813810"/>
            <a:chOff x="525780" y="1548765"/>
            <a:chExt cx="4335780" cy="381381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02982" y="1548765"/>
              <a:ext cx="3733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Processing Element，通用任务执行组件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2982" y="1988820"/>
              <a:ext cx="3682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Scheduling Element，通用任务调度组件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2982" y="2428875"/>
              <a:ext cx="3177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Processing Script，通用任务脚本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4891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286893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2982" y="2868930"/>
              <a:ext cx="353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Scheduling Script，通用任务调度脚本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8897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30898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982" y="3308985"/>
              <a:ext cx="33806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Script Command，通用任务脚本指令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2902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374904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2982" y="3749040"/>
              <a:ext cx="2107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Script List，脚本列表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06908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4189095"/>
              <a:ext cx="205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982" y="4189095"/>
              <a:ext cx="2784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 Instance，通用任务实例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50913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5780" y="46291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2982" y="4629150"/>
              <a:ext cx="2613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 Buffer，通用任务缓存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49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5780" y="506920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TU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2982" y="5069205"/>
              <a:ext cx="3258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 Unit，通用任务接收/创建组件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5719762" y="1666875"/>
            <a:ext cx="5433060" cy="2857500"/>
            <a:chOff x="5719762" y="1666875"/>
            <a:chExt cx="5433060" cy="2857500"/>
          </a:xfrm>
        </p:grpSpPr>
        <p:sp>
          <p:nvSpPr>
            <p:cNvPr id="34" name="Freeform 34"/>
            <p:cNvSpPr/>
            <p:nvPr/>
          </p:nvSpPr>
          <p:spPr>
            <a:xfrm>
              <a:off x="6769418" y="1998345"/>
              <a:ext cx="1376362" cy="919162"/>
            </a:xfrm>
            <a:custGeom>
              <a:avLst/>
              <a:gdLst/>
              <a:ahLst/>
              <a:cxnLst/>
              <a:rect l="l" t="t" r="r" b="b"/>
              <a:pathLst>
                <a:path w="1376362" h="919162">
                  <a:moveTo>
                    <a:pt x="0" y="0"/>
                  </a:moveTo>
                  <a:lnTo>
                    <a:pt x="1376362" y="9191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339012" y="2952750"/>
              <a:ext cx="806768" cy="107633"/>
            </a:xfrm>
            <a:custGeom>
              <a:avLst/>
              <a:gdLst/>
              <a:ahLst/>
              <a:cxnLst/>
              <a:rect l="l" t="t" r="r" b="b"/>
              <a:pathLst>
                <a:path w="806768" h="107633">
                  <a:moveTo>
                    <a:pt x="0" y="0"/>
                  </a:moveTo>
                  <a:lnTo>
                    <a:pt x="806768" y="1076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128510" y="3167062"/>
              <a:ext cx="1017270" cy="271462"/>
            </a:xfrm>
            <a:custGeom>
              <a:avLst/>
              <a:gdLst/>
              <a:ahLst/>
              <a:cxnLst/>
              <a:rect l="l" t="t" r="r" b="b"/>
              <a:pathLst>
                <a:path w="1017270" h="271462">
                  <a:moveTo>
                    <a:pt x="0" y="271462"/>
                  </a:moveTo>
                  <a:lnTo>
                    <a:pt x="1017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769418" y="3273742"/>
              <a:ext cx="1376362" cy="919162"/>
            </a:xfrm>
            <a:custGeom>
              <a:avLst/>
              <a:gdLst/>
              <a:ahLst/>
              <a:cxnLst/>
              <a:rect l="l" t="t" r="r" b="b"/>
              <a:pathLst>
                <a:path w="1376362" h="919162">
                  <a:moveTo>
                    <a:pt x="0" y="919162"/>
                  </a:moveTo>
                  <a:lnTo>
                    <a:pt x="13763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679180" y="1998345"/>
              <a:ext cx="1376362" cy="919162"/>
            </a:xfrm>
            <a:custGeom>
              <a:avLst/>
              <a:gdLst/>
              <a:ahLst/>
              <a:cxnLst/>
              <a:rect l="l" t="t" r="r" b="b"/>
              <a:pathLst>
                <a:path w="1376362" h="919162">
                  <a:moveTo>
                    <a:pt x="0" y="919162"/>
                  </a:moveTo>
                  <a:lnTo>
                    <a:pt x="13763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79180" y="2958465"/>
              <a:ext cx="759142" cy="101917"/>
            </a:xfrm>
            <a:custGeom>
              <a:avLst/>
              <a:gdLst/>
              <a:ahLst/>
              <a:cxnLst/>
              <a:rect l="l" t="t" r="r" b="b"/>
              <a:pathLst>
                <a:path w="759142" h="101917">
                  <a:moveTo>
                    <a:pt x="0" y="101917"/>
                  </a:moveTo>
                  <a:lnTo>
                    <a:pt x="7591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679180" y="3220402"/>
              <a:ext cx="759142" cy="354330"/>
            </a:xfrm>
            <a:custGeom>
              <a:avLst/>
              <a:gdLst/>
              <a:ahLst/>
              <a:cxnLst/>
              <a:rect l="l" t="t" r="r" b="b"/>
              <a:pathLst>
                <a:path w="759142" h="354330">
                  <a:moveTo>
                    <a:pt x="0" y="0"/>
                  </a:moveTo>
                  <a:lnTo>
                    <a:pt x="759142" y="3543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9762" y="1678305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9762" y="2684145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719762" y="3438525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19762" y="4192905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45780" y="1666875"/>
              <a:ext cx="533400" cy="2857500"/>
            </a:xfrm>
            <a:prstGeom prst="roundRect">
              <a:avLst>
                <a:gd name="adj" fmla="val 17857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38322" y="1678305"/>
              <a:ext cx="1714500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38322" y="2684145"/>
              <a:ext cx="1714500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438322" y="3547110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66671" y="1764030"/>
              <a:ext cx="925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 SE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6646" y="22669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66671" y="2769870"/>
              <a:ext cx="925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 SE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66671" y="3524250"/>
              <a:ext cx="925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i−1 层 TB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66671" y="4278630"/>
              <a:ext cx="925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 TU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44840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互连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44840" y="31165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44428" y="1764030"/>
              <a:ext cx="1302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i−1 层 PE 阵列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42831" y="22669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44428" y="2769870"/>
              <a:ext cx="1302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i−1 层 PE 阵列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15995" y="390144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i−1 层存储器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166360" y="4857750"/>
            <a:ext cx="6492240" cy="1059180"/>
            <a:chOff x="5166360" y="4857750"/>
            <a:chExt cx="6492240" cy="1059180"/>
          </a:xfrm>
        </p:grpSpPr>
        <p:sp>
          <p:nvSpPr>
            <p:cNvPr id="61" name="Rectangle 61"/>
            <p:cNvSpPr/>
            <p:nvPr/>
          </p:nvSpPr>
          <p:spPr>
            <a:xfrm>
              <a:off x="5166360" y="4857750"/>
              <a:ext cx="6492240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371148" y="5287330"/>
              <a:ext cx="200023" cy="200023"/>
              <a:chOff x="5371148" y="528733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371148" y="52873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504498" y="5354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5673090" y="5006340"/>
              <a:ext cx="5539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整个框就是一个第 i 层的 PE。定义是递归的：第 i 层的 PE 由第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i−1 层的 SE、PE 阵列、TB、TU 和存储器经互连网络组成，最底层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PE 是一个运算单元。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658" y="407194"/>
              <a:ext cx="311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GPGPU 的层次化抽象模型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任务组织子模型：脚本描述任务，任务实例遵守两条规则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558415"/>
            <a:chOff x="533400" y="1524000"/>
            <a:chExt cx="541020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36505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5847" y="1769269"/>
              <a:ext cx="2296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任务怎样组织（原课件第77页图）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层的脚本列表 SL 由一段段第 i−1 层的调度脚本 SS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和处理脚本 PS 组成。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 SS、PS 描述出一个第 i−1 层的 SL，再实例化成一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批第 i−1 层的任务实例 TI。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352800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层自己的 PS 描述第 i 层的 SL，实例化出第 i 层的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272915"/>
            <a:ext cx="5410200" cy="1937385"/>
            <a:chOff x="533400" y="4272915"/>
            <a:chExt cx="5410200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427291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4824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5259" y="45181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两条规则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2950" y="48463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799" y="4888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3940" y="4859655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原子性规则（Atomicity Rule）：在第 i 层 TI 的视角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看，第 i−1 层的 TI 是原子的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2950" y="546735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799" y="5509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3940" y="5480685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本地规则（Locality Rule）：TI 只能跟与它共享同一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SL 的 TI 互操作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242685" y="1524000"/>
            <a:ext cx="5415915" cy="2549367"/>
            <a:chOff x="6242685" y="1524000"/>
            <a:chExt cx="5415915" cy="2549367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649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43913" y="1659731"/>
              <a:ext cx="1409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CUDA 里的样子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6223" y="23350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46848" y="2108359"/>
              <a:ext cx="369493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kernel 这一层看，一个线程块是不可分的整体：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要么整块分给某个 SM，要么还没开始，看不到块内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线程怎样执行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8698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874645"/>
              <a:ext cx="541020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6223" y="32370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46848" y="3010376"/>
              <a:ext cx="384124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线程只能和同一线程块里的线程通过共享内存、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__syncthreads() 协作；不同线程块之间不能直接同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2253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34262" y="1524000"/>
              <a:ext cx="9525" cy="2253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2685" y="3853339"/>
              <a:ext cx="3472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对照为补充，帮助把抽象模型落到 CUDA 编程规则上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248400" y="4219575"/>
            <a:ext cx="5410200" cy="1990725"/>
            <a:chOff x="6248400" y="4219575"/>
            <a:chExt cx="5410200" cy="1990725"/>
          </a:xfrm>
        </p:grpSpPr>
        <p:sp>
          <p:nvSpPr>
            <p:cNvPr id="38" name="Rectangle 38"/>
            <p:cNvSpPr/>
            <p:nvPr/>
          </p:nvSpPr>
          <p:spPr>
            <a:xfrm>
              <a:off x="6248400" y="4219575"/>
              <a:ext cx="5410200" cy="1990725"/>
            </a:xfrm>
            <a:prstGeom prst="roundRect">
              <a:avLst>
                <a:gd name="adj" fmla="val 57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5114925"/>
              <a:ext cx="200026" cy="200025"/>
              <a:chOff x="6453188" y="511492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51149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92926" y="51593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27642" y="52705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130" y="4833938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这两条规则让硬件可以自由决定线程块在哪个 SM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上、以什么顺序执行，程序结果不受影响，这也是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GPU 能按 SM 数量伸缩的原因。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658" y="407194"/>
              <a:ext cx="311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GPGPU 的层次化抽象模型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任务执行子模型：分配上下文、消耗脚本、释放上下文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812231" cy="2232089"/>
            <a:chOff x="533400" y="1533525"/>
            <a:chExt cx="5812231" cy="22320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55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3431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上下文分配（Context Allocation）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5132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 TU 解析关联的第 i 层 PS，为第 i 层 SL 创建执行上下文：专用计数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器、栈、缓冲区、寄存器分配给这个 SL，保存它的上下文信息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8396"/>
              <a:ext cx="3713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脚本指令消耗（Script Consumption）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8907"/>
              <a:ext cx="5399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层的 SE 和 PE 分别执行 SL 里第 i−1 层 SS、PS 脚本指令驱动的操作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3652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上下文释放（Context Deallocation）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5285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 监视脚本指令 SC（包括 PS 和 SS）消耗结束，释放 SL 的执行上下文；计数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器、栈、缓冲区、寄存器从占用状态释放，循环用于下一对 SL 和 PS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941445"/>
            <a:ext cx="5951220" cy="1720215"/>
            <a:chOff x="533400" y="3941445"/>
            <a:chExt cx="5951220" cy="1720215"/>
          </a:xfrm>
        </p:grpSpPr>
        <p:sp>
          <p:nvSpPr>
            <p:cNvPr id="21" name="Rectangle 21"/>
            <p:cNvSpPr/>
            <p:nvPr/>
          </p:nvSpPr>
          <p:spPr>
            <a:xfrm>
              <a:off x="533400" y="3941445"/>
              <a:ext cx="595122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1065" y="40728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0331" y="4072890"/>
              <a:ext cx="126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CUDA 中对应的事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8746" y="45034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10309" y="4503420"/>
              <a:ext cx="3950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线程块被分到某个 SM，SM 为它分配寄存器和共享内存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967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801552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932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10309" y="4932998"/>
              <a:ext cx="3970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 调度器发射块内各 warp 的指令，ALU、LSU 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2273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536352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10309" y="5363528"/>
              <a:ext cx="4485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块内线程全部结束，寄存器和共享内存收回，SM 接收下一个块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41445"/>
              <a:ext cx="595122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00200" y="394144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1"/>
          <p:cNvGrpSpPr/>
          <p:nvPr/>
        </p:nvGrpSpPr>
        <p:grpSpPr>
          <a:xfrm>
            <a:off x="6789420" y="1524000"/>
            <a:ext cx="4869180" cy="3008948"/>
            <a:chOff x="6789420" y="1524000"/>
            <a:chExt cx="4869180" cy="3008948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3008948"/>
            </a:xfrm>
            <a:prstGeom prst="roundRect">
              <a:avLst>
                <a:gd name="adj" fmla="val 44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8945" y="1657350"/>
              <a:ext cx="47625" cy="2742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31355" y="1727835"/>
              <a:ext cx="27689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45469" y="1763554"/>
              <a:ext cx="274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例：上下文决定一个 SM 能同时放几个块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4116" y="2100739"/>
              <a:ext cx="415328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Fermi 的一个 SM 有 32768 个 32 位寄存器，最多驻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 1536 个线程、8 个线程块。每块 256 个线程，每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个线程用 32 个寄存器。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38975" y="30241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95566" y="2963704"/>
              <a:ext cx="3245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按寄存器：32768 ÷ (256 × 32) = 4 块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38975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95566" y="328374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按线程数：1536 ÷ 256 = 6 块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38975" y="36642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95566" y="3603784"/>
              <a:ext cx="1515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按块数上限：8 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25259" y="3920490"/>
              <a:ext cx="41574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取最小值，一个 SM 同时只能放 4 个块，第 5 个块要等某个块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释放上下文。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789420" y="4717732"/>
            <a:ext cx="4869180" cy="1545908"/>
            <a:chOff x="6789420" y="4717732"/>
            <a:chExt cx="4869180" cy="1545908"/>
          </a:xfrm>
        </p:grpSpPr>
        <p:sp>
          <p:nvSpPr>
            <p:cNvPr id="49" name="Rectangle 49"/>
            <p:cNvSpPr/>
            <p:nvPr/>
          </p:nvSpPr>
          <p:spPr>
            <a:xfrm>
              <a:off x="6789420" y="4717732"/>
              <a:ext cx="486918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98945" y="485108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31355" y="49215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21563" y="49572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24116" y="5294471"/>
              <a:ext cx="421640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原课件把第 3 步 Context Deallocation 译作“上下文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存储单元分配”。Deallocation 是释放、回收，应为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“上下文释放”，与第 1 步的分配相对。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1120" cy="909257"/>
            <a:chOff x="520446" y="342900"/>
            <a:chExt cx="91411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658" y="407194"/>
              <a:ext cx="311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GPGPU 的层次化抽象模型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11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任务调度与数据移动：任务按队列分给 PE，数据分三步进出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558415"/>
            <a:chOff x="533400" y="1524000"/>
            <a:chExt cx="541020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50698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945" y="1769269"/>
              <a:ext cx="2447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任务调度子模型（原课件第79页图）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 TU 有多个通道（Channel 0–3），每个通道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接收一段第 i 层 PS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 TB 里对应有多个任务队列，每个队列放若干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任务组，组里是第 i−1 层 TI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多个第 i−1 层 PE 从各队列取 TI 执行，不同队列的 TI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可以混在同一个 PE 上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4272915"/>
            <a:ext cx="5410200" cy="2022158"/>
            <a:chOff x="533400" y="4272915"/>
            <a:chExt cx="5410200" cy="2022158"/>
          </a:xfrm>
        </p:grpSpPr>
        <p:sp>
          <p:nvSpPr>
            <p:cNvPr id="18" name="Rectangle 18"/>
            <p:cNvSpPr/>
            <p:nvPr/>
          </p:nvSpPr>
          <p:spPr>
            <a:xfrm>
              <a:off x="533400" y="4272915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98562" y="44086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65688" y="440864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CUDA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48572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29128" y="4857274"/>
              <a:ext cx="26739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stream 对应的硬件工作队列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165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1701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3059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29128" y="5305901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kernel 的一批线程块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614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754529"/>
              <a:ext cx="192872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PE 上混着不同队列的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29128" y="5754529"/>
              <a:ext cx="27033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SM 上同时驻留不同 kernel 的线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72915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16542" y="427291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flow-1"/>
          <p:cNvGrpSpPr/>
          <p:nvPr/>
        </p:nvGrpSpPr>
        <p:grpSpPr>
          <a:xfrm>
            <a:off x="6627495" y="1497330"/>
            <a:ext cx="4652962" cy="2434590"/>
            <a:chOff x="6627495" y="1497330"/>
            <a:chExt cx="4652962" cy="2434590"/>
          </a:xfrm>
        </p:grpSpPr>
        <p:sp>
          <p:nvSpPr>
            <p:cNvPr id="33" name="Freeform 33"/>
            <p:cNvSpPr/>
            <p:nvPr/>
          </p:nvSpPr>
          <p:spPr>
            <a:xfrm>
              <a:off x="6627495" y="1921192"/>
              <a:ext cx="4547235" cy="793433"/>
            </a:xfrm>
            <a:custGeom>
              <a:avLst/>
              <a:gdLst/>
              <a:ahLst/>
              <a:cxnLst/>
              <a:rect l="l" t="t" r="r" b="b"/>
              <a:pathLst>
                <a:path w="4547235" h="793433">
                  <a:moveTo>
                    <a:pt x="0" y="0"/>
                  </a:moveTo>
                  <a:lnTo>
                    <a:pt x="2326005" y="0"/>
                  </a:lnTo>
                  <a:lnTo>
                    <a:pt x="2326005" y="793433"/>
                  </a:lnTo>
                  <a:lnTo>
                    <a:pt x="4547235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1174730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627495" y="2714625"/>
              <a:ext cx="4547235" cy="793433"/>
            </a:xfrm>
            <a:custGeom>
              <a:avLst/>
              <a:gdLst/>
              <a:ahLst/>
              <a:cxnLst/>
              <a:rect l="l" t="t" r="r" b="b"/>
              <a:pathLst>
                <a:path w="4547235" h="793433">
                  <a:moveTo>
                    <a:pt x="0" y="0"/>
                  </a:moveTo>
                  <a:lnTo>
                    <a:pt x="2326005" y="0"/>
                  </a:lnTo>
                  <a:lnTo>
                    <a:pt x="2326005" y="793433"/>
                  </a:lnTo>
                  <a:lnTo>
                    <a:pt x="4547235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1174730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27495" y="1497330"/>
              <a:ext cx="4652962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27495" y="2290762"/>
              <a:ext cx="465296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27495" y="3084195"/>
              <a:ext cx="4652962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4671" y="1613059"/>
              <a:ext cx="259765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Stage-in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数据型 PE 阵列由数据脚本驱动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把数据从第 i+1 层存储器搬到第 i 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4351" y="2406491"/>
              <a:ext cx="263829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计算型 PE 阵列由计算脚本驱动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执行一组 TI，消费操作数、产生结果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98511" y="3200876"/>
              <a:ext cx="210997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Stage-out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数据型 PE 阵列把结果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从第 i 层存储器搬回第 i+1 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4095750"/>
            <a:ext cx="5410200" cy="2199322"/>
            <a:chOff x="6248400" y="4095750"/>
            <a:chExt cx="5410200" cy="2199322"/>
          </a:xfrm>
        </p:grpSpPr>
        <p:sp>
          <p:nvSpPr>
            <p:cNvPr id="44" name="Rectangle 44"/>
            <p:cNvSpPr/>
            <p:nvPr/>
          </p:nvSpPr>
          <p:spPr>
            <a:xfrm>
              <a:off x="6248400" y="4095750"/>
              <a:ext cx="5410200" cy="2199322"/>
            </a:xfrm>
            <a:prstGeom prst="roundRect">
              <a:avLst>
                <a:gd name="adj" fmla="val 519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5094923"/>
              <a:ext cx="200026" cy="200025"/>
              <a:chOff x="6453188" y="509492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50949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92926" y="51393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27642" y="52504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130" y="4813935"/>
              <a:ext cx="4349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GPU 这一层，三步就是 cudaMemcpy 主机到设备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（DTE 执行）、kernel 在 SM 阵列上计算、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cudaMemcpy 设备到主机。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1527" cy="909257"/>
            <a:chOff x="520446" y="342900"/>
            <a:chExt cx="84715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658" y="407194"/>
              <a:ext cx="311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GPGPU 的层次化抽象模型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15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模型落到 NVIDIA GPU：同一个抽象部件，两层各是什么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28447" y="1524000"/>
            <a:ext cx="6929628" cy="4864131"/>
            <a:chOff x="528447" y="1524000"/>
            <a:chExt cx="6929628" cy="48641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624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抽象部件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1521" y="1645444"/>
              <a:ext cx="207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0 层：SM 内部（PE = SP）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27745" y="1645444"/>
              <a:ext cx="2168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层：GPU 内部（PE = SM）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1049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计算型 PE 阵列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30780" y="2045494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阵列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62538" y="2045494"/>
              <a:ext cx="567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 阵列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92467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1049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数据型 PE 阵列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0780" y="2445544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 阵列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62538" y="2445544"/>
              <a:ext cx="157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数据传输引擎 DTE 阵列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94560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任务缓存 TB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30780" y="2845594"/>
              <a:ext cx="23014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PC、重汇聚栈、屏障计数器、指令缓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冲、记分牌缓冲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62538" y="2845594"/>
              <a:ext cx="2031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状态寄存器、引用计数器、push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24225"/>
              <a:ext cx="692467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4456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30780" y="3445669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局部/共享寄存器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2538" y="3445669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局部/全局内存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95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84571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调度组件 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30780" y="3845719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 调度器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62538" y="3845719"/>
              <a:ext cx="1651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work distributor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195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24325"/>
              <a:ext cx="692467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24576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任务单元 TU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30780" y="42457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线程控制器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62538" y="4245769"/>
              <a:ext cx="1159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GigaThread 引擎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196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计算脚本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30780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计算指令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62538" y="4645819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PBS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196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24425"/>
              <a:ext cx="692467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5045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数据脚本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30780" y="5045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访存指令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62538" y="5045869"/>
              <a:ext cx="1014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datamove PBS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197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5445919"/>
              <a:ext cx="1301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 执行的调度脚本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30780" y="54459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控制指令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62538" y="5445919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 PBS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7197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724525"/>
              <a:ext cx="692467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5845969"/>
              <a:ext cx="1301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 接收的调度脚本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30780" y="5845969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 PBS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62538" y="5845969"/>
              <a:ext cx="925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驱动调用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6924675" cy="4600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328862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960620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6197441"/>
              <a:ext cx="13423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原课件第81页的对照表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7762875" y="1524000"/>
            <a:ext cx="3895725" cy="4826318"/>
            <a:chOff x="7762875" y="1524000"/>
            <a:chExt cx="3895725" cy="4826318"/>
          </a:xfrm>
        </p:grpSpPr>
        <p:sp>
          <p:nvSpPr>
            <p:cNvPr id="60" name="Rectangle 60"/>
            <p:cNvSpPr/>
            <p:nvPr/>
          </p:nvSpPr>
          <p:spPr>
            <a:xfrm>
              <a:off x="7762875" y="1524000"/>
              <a:ext cx="3895725" cy="4826318"/>
            </a:xfrm>
            <a:prstGeom prst="roundRect">
              <a:avLst>
                <a:gd name="adj" fmla="val 34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949565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26984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怎样读这张表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42707" y="2054542"/>
              <a:ext cx="33227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同一个抽象部件，在 SM 里是 warp 调度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器，在 GPU 里是 CUDA work distributor。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42707" y="2612708"/>
              <a:ext cx="32369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上一层的调度脚本就是下一层 TU 接收的脚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本：GPU 驱动调用交给 GigaThread 引擎，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 PBS 交给线程控制器。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43850" y="3422809"/>
              <a:ext cx="3346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再往上套一层就是服务器：PE = GPU，见下一页。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16864" cy="909257"/>
            <a:chOff x="520446" y="342900"/>
            <a:chExt cx="111168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658" y="407194"/>
              <a:ext cx="311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GPGPU 的层次化抽象模型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1168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三层实例：服务器层 PE 是 GPU，GPGPU 层 PE 是 SM，SM 层 PE 是 SP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447" y="1524000"/>
            <a:ext cx="11130153" cy="3078194"/>
            <a:chOff x="528447" y="1524000"/>
            <a:chExt cx="11130153" cy="307819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9911" y="16454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32376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硬件部件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15831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任务划分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935" y="2065496"/>
              <a:ext cx="115859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服务器层（PE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4273" y="2178844"/>
              <a:ext cx="31087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CPU、系统总线、多块 GPGPU、主机内存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9758" y="2065496"/>
              <a:ext cx="2792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程序 → 多个 CUDA stream → 每个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 一串 kernel grid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60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0800"/>
              <a:ext cx="11125200" cy="87344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6935" y="2825591"/>
              <a:ext cx="1191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 层（PE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4273" y="2712244"/>
              <a:ext cx="526364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GigaThread 引擎、引用计数器、2 个 DTE、GPU 总线、16 个 SM；设备内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存分 push buffer（放 PBS）、code buffer（放 KIS）和 data buffer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（局部、全局、常量、纹理、表面内存）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69758" y="2938939"/>
              <a:ext cx="3338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grid → 多个线程块（kernel block）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604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6935" y="3699034"/>
              <a:ext cx="94401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 层（PE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4273" y="3585686"/>
              <a:ext cx="512546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线程控制器、奇偶 2 个 warp 调度器、交叉开关、5 个 PE 组（SFU×4、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TEX×4、核×16、核×16、LSU×16）、片上 L1 存储（指令、常量、纹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理、数据缓存和共享、局部、谓词、状态寄存器）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9758" y="3812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线程块 → 多个 warp → 每个 warp 一串指令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11125200" cy="2814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85975" y="1524000"/>
              <a:ext cx="9525" cy="2814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71460" y="1524000"/>
              <a:ext cx="9525" cy="2814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447" y="4411504"/>
              <a:ext cx="1032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原课件第82–85页</a:t>
              </a:r>
            </a:p>
          </p:txBody>
        </p:sp>
      </p:grpSp>
      <p:grpSp>
        <p:nvGrpSpPr>
          <p:cNvPr id="36" name="c1-kv-2"/>
          <p:cNvGrpSpPr/>
          <p:nvPr/>
        </p:nvGrpSpPr>
        <p:grpSpPr>
          <a:xfrm>
            <a:off x="526923" y="4749641"/>
            <a:ext cx="11131677" cy="998029"/>
            <a:chOff x="526923" y="4749641"/>
            <a:chExt cx="11131677" cy="998029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4749641"/>
              <a:ext cx="101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warp 调度器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2315" y="4749641"/>
              <a:ext cx="5888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取指、译码、屏障、分支、标记、记分牌、分派、发射单元（原课件第84页）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215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923" y="51239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调度缓冲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62315" y="512397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程序计数器、屏障缓冲、重汇聚栈、记分牌缓冲、指令缓冲、发射缓冲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3959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923" y="54983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寄存器接口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62315" y="549830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寄存器地址单元、操作数收集器、操作数队列、结果累加器、结果队列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6039326"/>
              <a:ext cx="5777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原课件第85页图中写作“Gega Thread Engine”，应为 GigaThread Engine。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467551" cy="3706177"/>
            <a:chOff x="667512" y="1835468"/>
            <a:chExt cx="6467551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675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程序在 GPU 上怎样执行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71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从主机端的五步调用，一直追到 warp 在 SM 里的每一拍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10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调用与代码模式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0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流水调用与并发 kernel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57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计算层次、存储层次与 SIMT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17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warp、分化与完整调度链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11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编译运行与 GPU 虚拟化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6178" cy="909257"/>
            <a:chOff x="520446" y="342900"/>
            <a:chExt cx="7336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6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 kernel 调用分五步，两次拷贝都要走 PCIe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736282" y="1764030"/>
            <a:ext cx="4657726" cy="1852041"/>
            <a:chOff x="736282" y="1764030"/>
            <a:chExt cx="4657726" cy="1852041"/>
          </a:xfrm>
        </p:grpSpPr>
        <p:sp>
          <p:nvSpPr>
            <p:cNvPr id="7" name="Freeform 7"/>
            <p:cNvSpPr/>
            <p:nvPr/>
          </p:nvSpPr>
          <p:spPr>
            <a:xfrm>
              <a:off x="1658302" y="2222182"/>
              <a:ext cx="658178" cy="337185"/>
            </a:xfrm>
            <a:custGeom>
              <a:avLst/>
              <a:gdLst/>
              <a:ahLst/>
              <a:cxnLst/>
              <a:rect l="l" t="t" r="r" b="b"/>
              <a:pathLst>
                <a:path w="658178" h="337185">
                  <a:moveTo>
                    <a:pt x="0" y="0"/>
                  </a:moveTo>
                  <a:lnTo>
                    <a:pt x="658178" y="3371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95525" y="2516505"/>
              <a:ext cx="105727" cy="85725"/>
            </a:xfrm>
            <a:custGeom>
              <a:avLst/>
              <a:gdLst/>
              <a:ahLst/>
              <a:cxnLst/>
              <a:rect l="l" t="t" r="r" b="b"/>
              <a:pathLst>
                <a:path w="105727" h="85725">
                  <a:moveTo>
                    <a:pt x="105727" y="85725"/>
                  </a:moveTo>
                  <a:lnTo>
                    <a:pt x="0" y="84773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73530" y="217932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952"/>
                  </a:lnTo>
                  <a:lnTo>
                    <a:pt x="63818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82115" y="2962275"/>
              <a:ext cx="613410" cy="292417"/>
            </a:xfrm>
            <a:custGeom>
              <a:avLst/>
              <a:gdLst/>
              <a:ahLst/>
              <a:cxnLst/>
              <a:rect l="l" t="t" r="r" b="b"/>
              <a:pathLst>
                <a:path w="613410" h="292417">
                  <a:moveTo>
                    <a:pt x="0" y="292417"/>
                  </a:moveTo>
                  <a:lnTo>
                    <a:pt x="6134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74570" y="291941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1905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96390" y="321183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3820"/>
                  </a:moveTo>
                  <a:lnTo>
                    <a:pt x="64770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37535" y="2919412"/>
              <a:ext cx="925830" cy="342900"/>
            </a:xfrm>
            <a:custGeom>
              <a:avLst/>
              <a:gdLst/>
              <a:ahLst/>
              <a:cxnLst/>
              <a:rect l="l" t="t" r="r" b="b"/>
              <a:pathLst>
                <a:path w="925830" h="342900">
                  <a:moveTo>
                    <a:pt x="0" y="0"/>
                  </a:moveTo>
                  <a:lnTo>
                    <a:pt x="925830" y="3429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047172" y="321754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48000" y="2874645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11430"/>
                  </a:moveTo>
                  <a:lnTo>
                    <a:pt x="105728" y="0"/>
                  </a:lnTo>
                  <a:lnTo>
                    <a:pt x="73342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584382" y="2369820"/>
              <a:ext cx="9525" cy="830580"/>
            </a:xfrm>
            <a:custGeom>
              <a:avLst/>
              <a:gdLst/>
              <a:ahLst/>
              <a:cxnLst/>
              <a:rect l="l" t="t" r="r" b="b"/>
              <a:pathLst>
                <a:path w="9525" h="830580">
                  <a:moveTo>
                    <a:pt x="0" y="8305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536758" y="22745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536758" y="3200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3908" y="1859280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6282" y="329565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381250" y="2602230"/>
              <a:ext cx="666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74758" y="3295650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70008" y="1764030"/>
              <a:ext cx="1428750" cy="510540"/>
            </a:xfrm>
            <a:prstGeom prst="roundRect">
              <a:avLst>
                <a:gd name="adj" fmla="val 186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06203" y="194500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0974" y="33813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主机内存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27757" y="26879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32111" y="338137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设备内存（显存）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4254" y="1849755"/>
              <a:ext cx="54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SM × 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93655" y="20402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各带共享内存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41382" y="2997518"/>
              <a:ext cx="31908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61407" y="3032284"/>
              <a:ext cx="278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PCIe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4191000"/>
            <a:ext cx="5193982" cy="1316355"/>
            <a:chOff x="533400" y="4191000"/>
            <a:chExt cx="5193982" cy="1316355"/>
          </a:xfrm>
        </p:grpSpPr>
        <p:sp>
          <p:nvSpPr>
            <p:cNvPr id="33" name="Rectangle 33"/>
            <p:cNvSpPr/>
            <p:nvPr/>
          </p:nvSpPr>
          <p:spPr>
            <a:xfrm>
              <a:off x="533400" y="4191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324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4400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557" y="4436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设备端代码模式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430" y="4777740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先定位线程下标 TIDX（Locate Thread Index），再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Compute(TIDX)。</a:t>
              </a:r>
            </a:p>
          </p:txBody>
        </p:sp>
      </p:grpSp>
      <p:grpSp>
        <p:nvGrpSpPr>
          <p:cNvPr id="60" name="c2-steps-1"/>
          <p:cNvGrpSpPr/>
          <p:nvPr/>
        </p:nvGrpSpPr>
        <p:grpSpPr>
          <a:xfrm>
            <a:off x="6032182" y="1533525"/>
            <a:ext cx="4442273" cy="3179730"/>
            <a:chOff x="6032182" y="1533525"/>
            <a:chExt cx="4442273" cy="3179730"/>
          </a:xfrm>
        </p:grpSpPr>
        <p:sp>
          <p:nvSpPr>
            <p:cNvPr id="39" name="Rectangle 39"/>
            <p:cNvSpPr/>
            <p:nvPr/>
          </p:nvSpPr>
          <p:spPr>
            <a:xfrm>
              <a:off x="6165532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32182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80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2182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580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32182" y="34861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5806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032182" y="41367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25806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3662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分配主机内存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806" y="1861661"/>
              <a:ext cx="2356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 Host Memory：malloc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3662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分配设备内存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806" y="2512219"/>
              <a:ext cx="288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 Device Memory：cudaMalloc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3662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主机拷到设备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806" y="3162776"/>
              <a:ext cx="3130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CUDAMemoryCopy(H2D)：cudaMemcpy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3662" y="3520440"/>
              <a:ext cx="1596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kernel 执行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4806" y="3813334"/>
              <a:ext cx="4029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Invoke Kernel：kernel&lt;&lt;&lt;块数, 每块线程数&gt;&gt;&gt;(…)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3662" y="417099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设备拷回主机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4806" y="4463891"/>
              <a:ext cx="3130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CUDAMemoryCopy(D2H)：cudaMemcpy</a:t>
              </a:r>
            </a:p>
          </p:txBody>
        </p:sp>
      </p:grpSp>
      <p:grpSp>
        <p:nvGrpSpPr>
          <p:cNvPr id="62" name="c2-text-2"/>
          <p:cNvGrpSpPr/>
          <p:nvPr/>
        </p:nvGrpSpPr>
        <p:grpSpPr>
          <a:xfrm>
            <a:off x="6025706" y="4913471"/>
            <a:ext cx="5263642" cy="500824"/>
            <a:chOff x="6025706" y="4913471"/>
            <a:chExt cx="5263642" cy="500824"/>
          </a:xfrm>
        </p:grpSpPr>
        <p:sp>
          <p:nvSpPr>
            <p:cNvPr id="61" name="TextBox 61"/>
            <p:cNvSpPr txBox="1"/>
            <p:nvPr/>
          </p:nvSpPr>
          <p:spPr>
            <a:xfrm>
              <a:off x="6025706" y="4913471"/>
              <a:ext cx="526364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原课件第86、100页的 Host Code Pattern；第 4 步之后 CPU 不必等待，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可以继续做别的事，直到第 5 步取结果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9919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3、5 步走 PCIe，带宽比显存低得多，来回搬数据的时间常常超过计算本身，所以要让数据尽量留在设备上。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5733" cy="909257"/>
            <a:chOff x="520446" y="342900"/>
            <a:chExt cx="85157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57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例：向量加法的 CUDA 程序，1000 个元素要几个线程块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936558"/>
            <a:chOff x="533400" y="1524000"/>
            <a:chExt cx="6276022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906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vecAdd：每个线程算一个元素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783582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__global__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vecAdd(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*c,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blockIdx.x * blockDim.x + threadIdx.x;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TIDX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n) c[i] = a[i] + b[i];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Compute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主机端（d_b、d_c 同理）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cudaMalloc(&amp;d_a, bytes);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cudaMemcpy(d_a, h_a, bytes, cudaMemcpyHostToDevice);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threads = 256;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blocks = (n + threads - 1) / threads;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vecAdd&lt;&lt;&lt;blocks, threads&gt;&gt;&gt;(d_a, d_b, d_c, 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cudaMemcpy(h_c, d_c, bytes, cudaMemcpyDeviceToHost);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8066" y="4651058"/>
            <a:ext cx="6281356" cy="1009650"/>
            <a:chOff x="528066" y="4651058"/>
            <a:chExt cx="6281356" cy="1009650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47948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块号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17270" y="4651058"/>
              <a:ext cx="115824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50241" y="47948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5510" y="4651058"/>
              <a:ext cx="115824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08481" y="47948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33750" y="4651058"/>
              <a:ext cx="115824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66721" y="47948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2942" y="4651058"/>
              <a:ext cx="115824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25913" y="47948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51182" y="4651058"/>
              <a:ext cx="115824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84153" y="47948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" y="5385435"/>
              <a:ext cx="382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下标 i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17270" y="5241608"/>
              <a:ext cx="115824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86980" y="538543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0–255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175510" y="5241608"/>
              <a:ext cx="115824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463590" y="538543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256–511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33750" y="5241608"/>
              <a:ext cx="115824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21830" y="538543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512–767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92942" y="5241608"/>
              <a:ext cx="115824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81023" y="538543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768–999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651182" y="5241608"/>
              <a:ext cx="115824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57633" y="5385435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1000–1023</a:t>
              </a:r>
            </a:p>
          </p:txBody>
        </p:sp>
      </p:grpSp>
      <p:grpSp>
        <p:nvGrpSpPr>
          <p:cNvPr id="35" name="c1-text-3"/>
          <p:cNvGrpSpPr/>
          <p:nvPr/>
        </p:nvGrpSpPr>
        <p:grpSpPr>
          <a:xfrm>
            <a:off x="526923" y="5872639"/>
            <a:ext cx="4656806" cy="249364"/>
            <a:chOff x="526923" y="5872639"/>
            <a:chExt cx="4656806" cy="249364"/>
          </a:xfrm>
        </p:grpSpPr>
        <p:sp>
          <p:nvSpPr>
            <p:cNvPr id="34" name="TextBox 34"/>
            <p:cNvSpPr txBox="1"/>
            <p:nvPr/>
          </p:nvSpPr>
          <p:spPr>
            <a:xfrm>
              <a:off x="526923" y="5872639"/>
              <a:ext cx="4656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每块 256 个线程；最后一块的后 24 个线程下标越界，不做事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7114222" y="1533525"/>
            <a:ext cx="4278250" cy="3233071"/>
            <a:chOff x="7114222" y="1533525"/>
            <a:chExt cx="4278250" cy="3233071"/>
          </a:xfrm>
        </p:grpSpPr>
        <p:sp>
          <p:nvSpPr>
            <p:cNvPr id="36" name="Rectangle 36"/>
            <p:cNvSpPr/>
            <p:nvPr/>
          </p:nvSpPr>
          <p:spPr>
            <a:xfrm>
              <a:off x="7247572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114222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784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14222" y="30699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784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14222" y="395573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7846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5702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算块数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6846" y="1861661"/>
              <a:ext cx="3865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1000：blocks = (1000 + 255) / 256 = 4（整数除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法向上取整）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5702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总线程数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6846" y="27465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256 = 1024 个线程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25702" y="31041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最后一个有效线程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26846" y="3397091"/>
              <a:ext cx="3743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blockIdx = 3、threadIdx = 231：i = 3×256 + 231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25702" y="399002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多出的线程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6846" y="4282916"/>
              <a:ext cx="3686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threadIdx ≥ 232 的 24 个线程 i ≥ 1000，被 if (i &lt;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 挡住，不访问越界内存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7114222" y="4945380"/>
            <a:ext cx="4544378" cy="1125855"/>
            <a:chOff x="7114222" y="4945380"/>
            <a:chExt cx="4544378" cy="1125855"/>
          </a:xfrm>
        </p:grpSpPr>
        <p:sp>
          <p:nvSpPr>
            <p:cNvPr id="54" name="Rectangle 54"/>
            <p:cNvSpPr/>
            <p:nvPr/>
          </p:nvSpPr>
          <p:spPr>
            <a:xfrm>
              <a:off x="7114222" y="4945380"/>
              <a:ext cx="4544378" cy="1125855"/>
            </a:xfrm>
            <a:prstGeom prst="roundRect">
              <a:avLst>
                <a:gd name="adj" fmla="val 101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19010" y="5408295"/>
              <a:ext cx="200026" cy="200026"/>
              <a:chOff x="7319010" y="540829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19010" y="54082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419023" y="54749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407910" y="55083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620952" y="5127308"/>
              <a:ext cx="3596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本机没有 CUDA 编译器，这段 kernel 的下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标逻辑在 CPU 上按 (块, 线程) 逐个模拟核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对：1000 个结果全对，空闲 24 个。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4800" cy="909257"/>
            <a:chOff x="520446" y="342900"/>
            <a:chExt cx="83848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4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宏观并行：kernel 调用流水化，多个 kernel 并发执行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cells-1"/>
          <p:cNvGrpSpPr/>
          <p:nvPr/>
        </p:nvGrpSpPr>
        <p:grpSpPr>
          <a:xfrm>
            <a:off x="528066" y="1524000"/>
            <a:ext cx="5956554" cy="2190750"/>
            <a:chOff x="528066" y="1524000"/>
            <a:chExt cx="5956554" cy="2190750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78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K0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21055" y="152400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0205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29728" y="152400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99830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H2D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439352" y="1524000"/>
              <a:ext cx="80867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08502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48025" y="152400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18127" y="1667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57650" y="152400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866322" y="152400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675948" y="152400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066" y="22583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1055" y="211455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29728" y="211455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99830" y="22583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39352" y="211455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08502" y="22583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H2D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248025" y="2114550"/>
              <a:ext cx="80867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18127" y="22583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211455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26800" y="22583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D2H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66322" y="211455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75948" y="211455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066" y="28489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1055" y="270510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29728" y="270510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39352" y="270510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502" y="28489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48025" y="270510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18127" y="28489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H2D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57650" y="2705100"/>
              <a:ext cx="80867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26800" y="28489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866322" y="270510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36425" y="28489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D2H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675948" y="270510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3439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21055" y="329565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629728" y="329565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439352" y="3295650"/>
              <a:ext cx="8086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248025" y="329565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18127" y="34394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057650" y="329565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326800" y="34394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H2D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66322" y="3295650"/>
              <a:ext cx="80867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136425" y="34394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675948" y="3295650"/>
              <a:ext cx="8086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45097" y="34394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D2H</a:t>
              </a:r>
            </a:p>
          </p:txBody>
        </p:sp>
      </p:grpSp>
      <p:grpSp>
        <p:nvGrpSpPr>
          <p:cNvPr id="57" name="c1-text-2"/>
          <p:cNvGrpSpPr/>
          <p:nvPr/>
        </p:nvGrpSpPr>
        <p:grpSpPr>
          <a:xfrm>
            <a:off x="526923" y="3926681"/>
            <a:ext cx="5726938" cy="752284"/>
            <a:chOff x="526923" y="3926681"/>
            <a:chExt cx="5726938" cy="752284"/>
          </a:xfrm>
        </p:grpSpPr>
        <p:sp>
          <p:nvSpPr>
            <p:cNvPr id="56" name="TextBox 56"/>
            <p:cNvSpPr txBox="1"/>
            <p:nvPr/>
          </p:nvSpPr>
          <p:spPr>
            <a:xfrm>
              <a:off x="526923" y="3926681"/>
              <a:ext cx="5726938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Pipeline Kernel Invoke（原课件第87页）：4 个 kernel 各分 CPU 准备、H2D 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贝、GPU 计算、D2H 拷贝四段，放在不同 stream 里错开执行。每段一样长时共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+ 4 − 1 = 7 段时间，串行要 16 段。</a:t>
              </a:r>
            </a:p>
          </p:txBody>
        </p:sp>
      </p:grpSp>
      <p:grpSp>
        <p:nvGrpSpPr>
          <p:cNvPr id="64" name="c1-callout-3"/>
          <p:cNvGrpSpPr/>
          <p:nvPr/>
        </p:nvGrpSpPr>
        <p:grpSpPr>
          <a:xfrm>
            <a:off x="533400" y="4817745"/>
            <a:ext cx="5951220" cy="1392555"/>
            <a:chOff x="533400" y="4817745"/>
            <a:chExt cx="5951220" cy="1392555"/>
          </a:xfrm>
        </p:grpSpPr>
        <p:sp>
          <p:nvSpPr>
            <p:cNvPr id="58" name="Rectangle 58"/>
            <p:cNvSpPr/>
            <p:nvPr/>
          </p:nvSpPr>
          <p:spPr>
            <a:xfrm>
              <a:off x="533400" y="4817745"/>
              <a:ext cx="5951220" cy="1392555"/>
            </a:xfrm>
            <a:prstGeom prst="roundRect">
              <a:avLst>
                <a:gd name="adj" fmla="val 820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414010"/>
              <a:ext cx="200026" cy="200026"/>
              <a:chOff x="738188" y="5414010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4140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4806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55140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271135"/>
              <a:ext cx="5044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拷入和拷出能同时进行，靠的是 GPU 里的 2 个数据传输引擎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DTE，一个管 H2D，一个管 D2H。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789420" y="1524000"/>
            <a:ext cx="4869180" cy="2558415"/>
            <a:chOff x="6789420" y="1524000"/>
            <a:chExt cx="4869180" cy="2558415"/>
          </a:xfrm>
        </p:grpSpPr>
        <p:sp>
          <p:nvSpPr>
            <p:cNvPr id="65" name="Rectangle 65"/>
            <p:cNvSpPr/>
            <p:nvPr/>
          </p:nvSpPr>
          <p:spPr>
            <a:xfrm>
              <a:off x="6789420" y="1524000"/>
              <a:ext cx="486918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9894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037070" y="1733550"/>
              <a:ext cx="215455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77901" y="1769269"/>
              <a:ext cx="2072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并发 kernel（原课件第88页）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29450" y="2110740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Fermi 起支持并发 kernel 执行（最多 16 个）和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更快的上下文切换。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4278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00900" y="273177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串行执行：kernel 一个接一个，小 kernel 占不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 GPU 时其余 SM 空着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04278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00900" y="3352800"/>
              <a:ext cx="3949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并行执行：不同 kernel 的线程块同时占用不同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SM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6789420" y="4272915"/>
            <a:ext cx="4869180" cy="1937385"/>
            <a:chOff x="6789420" y="4272915"/>
            <a:chExt cx="4869180" cy="1937385"/>
          </a:xfrm>
        </p:grpSpPr>
        <p:sp>
          <p:nvSpPr>
            <p:cNvPr id="75" name="Rectangle 75"/>
            <p:cNvSpPr/>
            <p:nvPr/>
          </p:nvSpPr>
          <p:spPr>
            <a:xfrm>
              <a:off x="6789420" y="4272915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798945" y="440626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037070" y="4482465"/>
              <a:ext cx="29898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52960" y="4518184"/>
              <a:ext cx="2959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push buffer 与 stream（原课件第97页）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042785" y="49225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00900" y="485965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物理上只有一条 push buffer，来自 Stream0–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Stream15 的 PBS 交错排在里面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042785" y="55435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00900" y="5480685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逻辑上同一个 stream 内的 PBS 按顺序执行，不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stream 之间没有先后约束，可以并发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38121" cy="909257"/>
            <a:chOff x="520446" y="342900"/>
            <a:chExt cx="87381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381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计算层次：线程、线程块、网格对应 CUDA 核、SM、GPU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632133" cy="3185637"/>
            <a:chOff x="527685" y="1524000"/>
            <a:chExt cx="5632133" cy="318563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412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3522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862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63935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5854" y="2255044"/>
              <a:ext cx="7105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0756" y="225504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一个线程的每条运算由一个核执行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850356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线程块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5854" y="2977039"/>
              <a:ext cx="2770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00756" y="2850356"/>
              <a:ext cx="288188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一个块整体分到一个 SM 上，块内线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程共享这个 SM 的共享内存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328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825716"/>
              <a:ext cx="854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 Grid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5854" y="3825716"/>
              <a:ext cx="347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00756" y="3572351"/>
              <a:ext cx="2836799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kernel 的全部线程块铺满整个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GPU（多个 TPC，每个 TPC 若干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889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66888" y="1524000"/>
              <a:ext cx="9525" cy="2889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91790" y="1524000"/>
              <a:ext cx="9525" cy="2889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4489609"/>
              <a:ext cx="2478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原课件第89页 Computing Hierarchy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850130"/>
            <a:ext cx="5626418" cy="1510665"/>
            <a:chOff x="533400" y="4850130"/>
            <a:chExt cx="5626418" cy="1510665"/>
          </a:xfrm>
        </p:grpSpPr>
        <p:sp>
          <p:nvSpPr>
            <p:cNvPr id="28" name="Rectangle 28"/>
            <p:cNvSpPr/>
            <p:nvPr/>
          </p:nvSpPr>
          <p:spPr>
            <a:xfrm>
              <a:off x="533400" y="4850130"/>
              <a:ext cx="5626418" cy="1510665"/>
            </a:xfrm>
            <a:prstGeom prst="roundRect">
              <a:avLst>
                <a:gd name="adj" fmla="val 75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505450"/>
              <a:ext cx="200026" cy="200025"/>
              <a:chOff x="738188" y="550545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5054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5499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6610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375434"/>
              <a:ext cx="461314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线程块数比 SM 数多得多时，SM 做完一批块再接下一批；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同一个程序因此在 SM 多的 GPU 上自动跑得更快。</a:t>
              </a:r>
            </a:p>
          </p:txBody>
        </p:sp>
      </p:grpSp>
      <p:grpSp>
        <p:nvGrpSpPr>
          <p:cNvPr id="36" name="c2-text-1"/>
          <p:cNvGrpSpPr/>
          <p:nvPr/>
        </p:nvGrpSpPr>
        <p:grpSpPr>
          <a:xfrm>
            <a:off x="6458522" y="1544002"/>
            <a:ext cx="4837283" cy="234696"/>
            <a:chOff x="6458522" y="1544002"/>
            <a:chExt cx="4837283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458522" y="1544002"/>
              <a:ext cx="4837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SIMD/SIMT 微观并行（原课件第90页）：每个线程执行同一段代码</a:t>
              </a:r>
            </a:p>
          </p:txBody>
        </p:sp>
      </p:grpSp>
      <p:grpSp>
        <p:nvGrpSpPr>
          <p:cNvPr id="40" name="c2-code-2"/>
          <p:cNvGrpSpPr/>
          <p:nvPr/>
        </p:nvGrpSpPr>
        <p:grpSpPr>
          <a:xfrm>
            <a:off x="6464618" y="1916430"/>
            <a:ext cx="5193982" cy="1110615"/>
            <a:chOff x="6464618" y="1916430"/>
            <a:chExt cx="5193982" cy="1110615"/>
          </a:xfrm>
        </p:grpSpPr>
        <p:sp>
          <p:nvSpPr>
            <p:cNvPr id="37" name="Rectangle 37"/>
            <p:cNvSpPr/>
            <p:nvPr/>
          </p:nvSpPr>
          <p:spPr>
            <a:xfrm>
              <a:off x="6464618" y="1916430"/>
              <a:ext cx="5193982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3015" y="20683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92252" y="2331244"/>
              <a:ext cx="165430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input[tID];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 = func(x);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output[tID] = y;</a:t>
              </a:r>
            </a:p>
          </p:txBody>
        </p:sp>
      </p:grpSp>
      <p:grpSp>
        <p:nvGrpSpPr>
          <p:cNvPr id="92" name="c2-cells-3"/>
          <p:cNvGrpSpPr/>
          <p:nvPr/>
        </p:nvGrpSpPr>
        <p:grpSpPr>
          <a:xfrm>
            <a:off x="6459284" y="3212782"/>
            <a:ext cx="5199316" cy="1552576"/>
            <a:chOff x="6459284" y="3212782"/>
            <a:chExt cx="5199316" cy="1552576"/>
          </a:xfrm>
        </p:grpSpPr>
        <p:sp>
          <p:nvSpPr>
            <p:cNvPr id="41" name="TextBox 41"/>
            <p:cNvSpPr txBox="1"/>
            <p:nvPr/>
          </p:nvSpPr>
          <p:spPr>
            <a:xfrm>
              <a:off x="6459284" y="3350895"/>
              <a:ext cx="226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tID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94182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1881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01878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60528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10525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68223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618220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75918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225915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84566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834562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092261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442258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99956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050905" y="3212782"/>
              <a:ext cx="60769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308603" y="33508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9284" y="39233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94182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88803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401878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97451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10525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05146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618220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12841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225915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21488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834562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29183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442258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636878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1050905" y="3785235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245526" y="392334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59284" y="44958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794182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929436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401878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538083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010525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145778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618220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753473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out3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225915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362121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out4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834562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969816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out5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0442258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577511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out6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1050905" y="4358640"/>
              <a:ext cx="60769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1186158" y="449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out7</a:t>
              </a:r>
            </a:p>
          </p:txBody>
        </p:sp>
      </p:grpSp>
      <p:grpSp>
        <p:nvGrpSpPr>
          <p:cNvPr id="94" name="c2-text-4"/>
          <p:cNvGrpSpPr/>
          <p:nvPr/>
        </p:nvGrpSpPr>
        <p:grpSpPr>
          <a:xfrm>
            <a:off x="6458522" y="4970145"/>
            <a:ext cx="4038752" cy="234696"/>
            <a:chOff x="6458522" y="4970145"/>
            <a:chExt cx="4038752" cy="234696"/>
          </a:xfrm>
        </p:grpSpPr>
        <p:sp>
          <p:nvSpPr>
            <p:cNvPr id="93" name="TextBox 93"/>
            <p:cNvSpPr txBox="1"/>
            <p:nvPr/>
          </p:nvSpPr>
          <p:spPr>
            <a:xfrm>
              <a:off x="6458522" y="4970145"/>
              <a:ext cx="4038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个线程代码相同，只有 tID 不同，各自读写不同的元素</a:t>
              </a:r>
            </a:p>
          </p:txBody>
        </p:sp>
      </p:grpSp>
      <p:grpSp>
        <p:nvGrpSpPr>
          <p:cNvPr id="101" name="c2-callout-5"/>
          <p:cNvGrpSpPr/>
          <p:nvPr/>
        </p:nvGrpSpPr>
        <p:grpSpPr>
          <a:xfrm>
            <a:off x="6464618" y="5342572"/>
            <a:ext cx="5193982" cy="1018222"/>
            <a:chOff x="6464618" y="5342572"/>
            <a:chExt cx="5193982" cy="1018222"/>
          </a:xfrm>
        </p:grpSpPr>
        <p:sp>
          <p:nvSpPr>
            <p:cNvPr id="95" name="Rectangle 95"/>
            <p:cNvSpPr/>
            <p:nvPr/>
          </p:nvSpPr>
          <p:spPr>
            <a:xfrm>
              <a:off x="6464618" y="534257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6669405" y="5752148"/>
              <a:ext cx="200026" cy="200026"/>
              <a:chOff x="6669405" y="5752148"/>
              <a:chExt cx="200026" cy="20002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669405" y="57521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769418" y="58188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6758305" y="58521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6971729" y="5489734"/>
              <a:ext cx="426148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这就是“宏观并行”和“微观并行”的分工：kernel 与线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程块之间是宏观并行，一个 warp 内的线程锁步执行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是微观并行。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存储层次：离线程越近越快，共享范围越小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27685" y="1524000"/>
            <a:ext cx="6281737" cy="3909536"/>
            <a:chOff x="527685" y="1524000"/>
            <a:chExt cx="6281737" cy="390953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95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924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002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085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7574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作用范围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834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生命期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79245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4668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9085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52838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34978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945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9936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21130" y="2508885"/>
              <a:ext cx="73437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79245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01252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085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52838" y="2638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4978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982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080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421130" y="2996565"/>
              <a:ext cx="73437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79245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668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90850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52838" y="31261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块内所有线程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34978" y="31261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4699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4747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0080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79245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01252" y="361378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90850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52838" y="361378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所有线程 + 主机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34978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9576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0080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79245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0125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90850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52838" y="410146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所有线程 + 主机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34978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4453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45008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0080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579245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01252" y="45891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990850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52838" y="458914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所有线程 + 主机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534978" y="45891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524000"/>
              <a:ext cx="6276022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40684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16027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85083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541395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23535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7685" y="5013484"/>
              <a:ext cx="58646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原课件第91页 Memory Hierarchy 表；片上存储不需要缓存，记作“—”；“缓存”一列是 Fermi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以后的情况</a:t>
              </a:r>
            </a:p>
          </p:txBody>
        </p:sp>
      </p:grpSp>
      <p:grpSp>
        <p:nvGrpSpPr>
          <p:cNvPr id="82" name="c2-flow-1"/>
          <p:cNvGrpSpPr/>
          <p:nvPr/>
        </p:nvGrpSpPr>
        <p:grpSpPr>
          <a:xfrm>
            <a:off x="7432358" y="1662112"/>
            <a:ext cx="3908108" cy="2581276"/>
            <a:chOff x="7432358" y="1662112"/>
            <a:chExt cx="3908108" cy="2581276"/>
          </a:xfrm>
        </p:grpSpPr>
        <p:sp>
          <p:nvSpPr>
            <p:cNvPr id="68" name="Freeform 68"/>
            <p:cNvSpPr/>
            <p:nvPr/>
          </p:nvSpPr>
          <p:spPr>
            <a:xfrm>
              <a:off x="9385935" y="210026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333548" y="22717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9385935" y="2814638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333548" y="2986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385935" y="352901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333548" y="3700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432358" y="1662112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432358" y="2376488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432358" y="3090862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432358" y="3805238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90204" y="17921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寄存器（每线程）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31866" y="2506504"/>
              <a:ext cx="23081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缓存 / 共享内存（每 SM）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43711" y="3220879"/>
              <a:ext cx="1484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缓存（全 GPU）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000949" y="393525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设备内存：全局、局部、常量、纹理</a:t>
              </a:r>
            </a:p>
          </p:txBody>
        </p:sp>
      </p:grpSp>
      <p:grpSp>
        <p:nvGrpSpPr>
          <p:cNvPr id="89" name="c2-callout-2"/>
          <p:cNvGrpSpPr/>
          <p:nvPr/>
        </p:nvGrpSpPr>
        <p:grpSpPr>
          <a:xfrm>
            <a:off x="7114222" y="4572000"/>
            <a:ext cx="4544378" cy="1059180"/>
            <a:chOff x="7114222" y="4572000"/>
            <a:chExt cx="4544378" cy="1059180"/>
          </a:xfrm>
        </p:grpSpPr>
        <p:sp>
          <p:nvSpPr>
            <p:cNvPr id="83" name="Rectangle 83"/>
            <p:cNvSpPr/>
            <p:nvPr/>
          </p:nvSpPr>
          <p:spPr>
            <a:xfrm>
              <a:off x="7114222" y="457200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306952" y="4997886"/>
              <a:ext cx="224134" cy="192560"/>
              <a:chOff x="7306952" y="4997886"/>
              <a:chExt cx="224134" cy="19256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419023" y="50682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306952" y="49978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419023" y="51460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620952" y="4720590"/>
              <a:ext cx="3653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易错：局部内存名字叫“局部”，实际放在片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外显存，是寄存器放不下时溢出的地方，很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慢；块内线程协作要用共享内存。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24605" cy="909257"/>
            <a:chOff x="520446" y="342900"/>
            <a:chExt cx="78246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246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SIMT 的实现：取指共用一套，执行按线程各算各的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666750" y="1680210"/>
            <a:ext cx="5684520" cy="1924050"/>
            <a:chOff x="666750" y="1680210"/>
            <a:chExt cx="5684520" cy="1924050"/>
          </a:xfrm>
        </p:grpSpPr>
        <p:sp>
          <p:nvSpPr>
            <p:cNvPr id="7" name="Freeform 7"/>
            <p:cNvSpPr/>
            <p:nvPr/>
          </p:nvSpPr>
          <p:spPr>
            <a:xfrm>
              <a:off x="1887855" y="20659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49780" y="2013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75660" y="20659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37585" y="2013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63465" y="20659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25390" y="2013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740718" y="2265045"/>
              <a:ext cx="9525" cy="580072"/>
            </a:xfrm>
            <a:custGeom>
              <a:avLst/>
              <a:gdLst/>
              <a:ahLst/>
              <a:cxnLst/>
              <a:rect l="l" t="t" r="r" b="b"/>
              <a:pathLst>
                <a:path w="9525" h="580072">
                  <a:moveTo>
                    <a:pt x="0" y="0"/>
                  </a:moveTo>
                  <a:lnTo>
                    <a:pt x="0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688330" y="2845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968240" y="314896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63465" y="3096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35580" y="3348990"/>
              <a:ext cx="3005138" cy="255270"/>
            </a:xfrm>
            <a:custGeom>
              <a:avLst/>
              <a:gdLst/>
              <a:ahLst/>
              <a:cxnLst/>
              <a:rect l="l" t="t" r="r" b="b"/>
              <a:pathLst>
                <a:path w="3005138" h="255270">
                  <a:moveTo>
                    <a:pt x="3005138" y="0"/>
                  </a:moveTo>
                  <a:lnTo>
                    <a:pt x="3005138" y="209550"/>
                  </a:lnTo>
                  <a:lnTo>
                    <a:pt x="3005138" y="255270"/>
                  </a:lnTo>
                  <a:lnTo>
                    <a:pt x="0" y="255270"/>
                  </a:lnTo>
                  <a:lnTo>
                    <a:pt x="29528" y="255270"/>
                  </a:lnTo>
                  <a:lnTo>
                    <a:pt x="29528" y="209550"/>
                  </a:lnTo>
                  <a:lnTo>
                    <a:pt x="29528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12720" y="33489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1680210"/>
              <a:ext cx="1221105" cy="770572"/>
            </a:xfrm>
            <a:prstGeom prst="roundRect">
              <a:avLst>
                <a:gd name="adj" fmla="val 12361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54555" y="1680210"/>
              <a:ext cx="1221105" cy="770572"/>
            </a:xfrm>
            <a:prstGeom prst="roundRect">
              <a:avLst>
                <a:gd name="adj" fmla="val 12361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42360" y="1777365"/>
              <a:ext cx="1221105" cy="578168"/>
            </a:xfrm>
            <a:prstGeom prst="roundRect">
              <a:avLst>
                <a:gd name="adj" fmla="val 16474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30165" y="1865948"/>
              <a:ext cx="1221105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30165" y="2949892"/>
              <a:ext cx="122110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42360" y="2949892"/>
              <a:ext cx="122110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54555" y="2949892"/>
              <a:ext cx="122110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5987" y="1794034"/>
              <a:ext cx="722630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warp 的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 0…K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74912" y="1794034"/>
              <a:ext cx="580390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取指单元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（指令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0477" y="1890236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指令缓冲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warp 一个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33454" y="19873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调度单元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33454" y="30703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41097" y="3070384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阵列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7963" y="3070384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</p:grpSp>
      <p:grpSp>
        <p:nvGrpSpPr>
          <p:cNvPr id="35" name="c1-text-2"/>
          <p:cNvGrpSpPr/>
          <p:nvPr/>
        </p:nvGrpSpPr>
        <p:grpSpPr>
          <a:xfrm>
            <a:off x="527685" y="3884771"/>
            <a:ext cx="5665470" cy="441008"/>
            <a:chOff x="527685" y="3884771"/>
            <a:chExt cx="5665470" cy="441008"/>
          </a:xfrm>
        </p:grpSpPr>
        <p:sp>
          <p:nvSpPr>
            <p:cNvPr id="34" name="TextBox 34"/>
            <p:cNvSpPr txBox="1"/>
            <p:nvPr/>
          </p:nvSpPr>
          <p:spPr>
            <a:xfrm>
              <a:off x="527685" y="3884771"/>
              <a:ext cx="566547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上排是 SI（单指令）部分，所有 warp 共用；下排是 MT（多线程）部分，每个线程有自己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的寄存器，ALU、LSU 按线程执行（原课件第92页）。</a:t>
              </a:r>
            </a:p>
          </p:txBody>
        </p:sp>
      </p:grpSp>
      <p:grpSp>
        <p:nvGrpSpPr>
          <p:cNvPr id="42" name="c1-card-3"/>
          <p:cNvGrpSpPr/>
          <p:nvPr/>
        </p:nvGrpSpPr>
        <p:grpSpPr>
          <a:xfrm>
            <a:off x="533400" y="4456748"/>
            <a:ext cx="5951220" cy="1776412"/>
            <a:chOff x="533400" y="4456748"/>
            <a:chExt cx="5951220" cy="1776412"/>
          </a:xfrm>
        </p:grpSpPr>
        <p:sp>
          <p:nvSpPr>
            <p:cNvPr id="36" name="Rectangle 36"/>
            <p:cNvSpPr/>
            <p:nvPr/>
          </p:nvSpPr>
          <p:spPr>
            <a:xfrm>
              <a:off x="533400" y="4456748"/>
              <a:ext cx="5951220" cy="1776412"/>
            </a:xfrm>
            <a:prstGeom prst="roundRect">
              <a:avLst>
                <a:gd name="adj" fmla="val 7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590098"/>
              <a:ext cx="47625" cy="15097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3905" y="4649152"/>
              <a:ext cx="23631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8262" y="468344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粗算：要多少个 warp 才能掩盖访存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5005388"/>
              <a:ext cx="52772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设一个调度器每拍发射一条指令；每个 warp 做 20 条计算指令后发一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次访存，要等 400 拍。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8190" y="5562124"/>
              <a:ext cx="52316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 warp 等待的 400 拍里，要靠别的 warp 供上 400 条指令，至少还需 400 ÷ 20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20 个 warp 轮流顶上。</a:t>
              </a:r>
            </a:p>
          </p:txBody>
        </p:sp>
      </p:grpSp>
      <p:grpSp>
        <p:nvGrpSpPr>
          <p:cNvPr id="73" name="c2-cells-1"/>
          <p:cNvGrpSpPr/>
          <p:nvPr/>
        </p:nvGrpSpPr>
        <p:grpSpPr>
          <a:xfrm>
            <a:off x="6784658" y="1524000"/>
            <a:ext cx="4873942" cy="918210"/>
            <a:chOff x="6784658" y="1524000"/>
            <a:chExt cx="4873942" cy="918210"/>
          </a:xfrm>
        </p:grpSpPr>
        <p:sp>
          <p:nvSpPr>
            <p:cNvPr id="43" name="TextBox 43"/>
            <p:cNvSpPr txBox="1"/>
            <p:nvPr/>
          </p:nvSpPr>
          <p:spPr>
            <a:xfrm>
              <a:off x="6784658" y="1658303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调度器0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1392" y="1524000"/>
              <a:ext cx="61817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37928" y="1658303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W8·11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49565" y="152400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56100" y="1658303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W2·42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67738" y="152400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37308" y="1658303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W14·95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185910" y="152400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5572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804082" y="1524000"/>
              <a:ext cx="61817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910618" y="1658303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W8·12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422255" y="152400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91826" y="1658303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W14·96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040428" y="152400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146963" y="1658303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W2·43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84658" y="2196465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调度器1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31392" y="2061210"/>
              <a:ext cx="618172" cy="3810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7928" y="2196465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W9·11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949565" y="206121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56100" y="2196465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W3·33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567738" y="206121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37308" y="2196465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W15·95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85910" y="206121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55726" y="21964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804082" y="2061210"/>
              <a:ext cx="618172" cy="3810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910618" y="2196465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W9·12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22255" y="206121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528790" y="2196465"/>
              <a:ext cx="406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W3·34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1040428" y="2061210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109998" y="2196465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W15·96</a:t>
              </a:r>
            </a:p>
          </p:txBody>
        </p:sp>
      </p:grpSp>
      <p:grpSp>
        <p:nvGrpSpPr>
          <p:cNvPr id="75" name="c2-text-2"/>
          <p:cNvGrpSpPr/>
          <p:nvPr/>
        </p:nvGrpSpPr>
        <p:grpSpPr>
          <a:xfrm>
            <a:off x="6783705" y="2636044"/>
            <a:ext cx="4627118" cy="441008"/>
            <a:chOff x="6783705" y="2636044"/>
            <a:chExt cx="4627118" cy="441008"/>
          </a:xfrm>
        </p:grpSpPr>
        <p:sp>
          <p:nvSpPr>
            <p:cNvPr id="74" name="TextBox 74"/>
            <p:cNvSpPr txBox="1"/>
            <p:nvPr/>
          </p:nvSpPr>
          <p:spPr>
            <a:xfrm>
              <a:off x="6783705" y="2636044"/>
              <a:ext cx="4627118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Instruction Dispatch（原课件第93页）：格子写“warp 号·指令号”，从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左到右是时间</a:t>
              </a:r>
            </a:p>
          </p:txBody>
        </p:sp>
      </p:grpSp>
      <p:grpSp>
        <p:nvGrpSpPr>
          <p:cNvPr id="90" name="c2-table-3"/>
          <p:cNvGrpSpPr/>
          <p:nvPr/>
        </p:nvGrpSpPr>
        <p:grpSpPr>
          <a:xfrm>
            <a:off x="6789420" y="3208972"/>
            <a:ext cx="4869180" cy="1623060"/>
            <a:chOff x="6789420" y="3208972"/>
            <a:chExt cx="4869180" cy="1623060"/>
          </a:xfrm>
        </p:grpSpPr>
        <p:sp>
          <p:nvSpPr>
            <p:cNvPr id="76" name="Rectangle 76"/>
            <p:cNvSpPr/>
            <p:nvPr/>
          </p:nvSpPr>
          <p:spPr>
            <a:xfrm>
              <a:off x="6789420" y="3208972"/>
              <a:ext cx="486918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620927" y="33332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两个调度器每拍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32453" y="33332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889432" y="3739039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发射的 warp 指令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443761" y="373903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条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789420" y="401574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789420" y="4020502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89432" y="41448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对应的线程操作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04519" y="4144804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32 = 64 个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789420" y="44215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889432" y="4550569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 warp 相邻两条指令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55517" y="45505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可以相隔很多拍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789420" y="3208972"/>
              <a:ext cx="486918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9514522" y="320897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callout-4"/>
          <p:cNvGrpSpPr/>
          <p:nvPr/>
        </p:nvGrpSpPr>
        <p:grpSpPr>
          <a:xfrm>
            <a:off x="6789420" y="5007292"/>
            <a:ext cx="4869180" cy="1226820"/>
            <a:chOff x="6789420" y="5007292"/>
            <a:chExt cx="4869180" cy="1226820"/>
          </a:xfrm>
        </p:grpSpPr>
        <p:sp>
          <p:nvSpPr>
            <p:cNvPr id="91" name="Rectangle 91"/>
            <p:cNvSpPr/>
            <p:nvPr/>
          </p:nvSpPr>
          <p:spPr>
            <a:xfrm>
              <a:off x="6789420" y="5007292"/>
              <a:ext cx="4869180" cy="1226820"/>
            </a:xfrm>
            <a:prstGeom prst="roundRect">
              <a:avLst>
                <a:gd name="adj" fmla="val 9317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6994208" y="5519740"/>
              <a:ext cx="200023" cy="200023"/>
              <a:chOff x="6994208" y="5519740"/>
              <a:chExt cx="200023" cy="200023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994208" y="55197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127558" y="5586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7296912" y="5153025"/>
              <a:ext cx="3974211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每拍每个调度器从就绪的 warp 里挑一个，发射它的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下一条指令，“指令横着切”。某个 warp 等访存时就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换别的 warp，就绪 warp 足够多，ALU 就不会闲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着，GPU 就是这样掩盖访存延迟的。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0180" cy="909257"/>
            <a:chOff x="520446" y="342900"/>
            <a:chExt cx="79301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0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Warp：32 个线程像织机上的经线，一次投梭一起织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869180" cy="3934491"/>
            <a:chOff x="533400" y="1524000"/>
            <a:chExt cx="4869180" cy="393449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533400" y="1524000"/>
              <a:ext cx="4869180" cy="3651885"/>
            </a:xfrm>
            <a:prstGeom prst="roundRect">
              <a:avLst>
                <a:gd name="adj" fmla="val 3651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059333" y="5267801"/>
              <a:ext cx="1817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warp 的本义是织布机上的经线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5707380" y="1524000"/>
            <a:ext cx="5951220" cy="1785938"/>
            <a:chOff x="5707380" y="1524000"/>
            <a:chExt cx="5951220" cy="1785938"/>
          </a:xfrm>
        </p:grpSpPr>
        <p:sp>
          <p:nvSpPr>
            <p:cNvPr id="10" name="Rectangle 10"/>
            <p:cNvSpPr/>
            <p:nvPr/>
          </p:nvSpPr>
          <p:spPr>
            <a:xfrm>
              <a:off x="5707380" y="1524000"/>
              <a:ext cx="5951220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6905" y="165735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32170" y="1710690"/>
              <a:ext cx="114585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1269" y="1743551"/>
              <a:ext cx="1006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Warp（线程束）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940742" y="21107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96762" y="2054542"/>
              <a:ext cx="50457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织机一次投梭，就把一排经线同时织进去；GPU 的一个 warp 是 32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个线程，共享一套取指译码，同一拍执行同一条指令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940742" y="26689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96762" y="2612708"/>
              <a:ext cx="3963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线程块按 threadIdx 顺序每 32 个切成一个 warp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940742" y="296894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96762" y="2912745"/>
              <a:ext cx="5271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 的叫法是 wavefront，GCN 架构一个 wavefront 64 个线程</a:t>
              </a:r>
            </a:p>
          </p:txBody>
        </p:sp>
      </p:grpSp>
      <p:grpSp>
        <p:nvGrpSpPr>
          <p:cNvPr id="41" name="c2-table-2"/>
          <p:cNvGrpSpPr/>
          <p:nvPr/>
        </p:nvGrpSpPr>
        <p:grpSpPr>
          <a:xfrm>
            <a:off x="5702427" y="3480435"/>
            <a:ext cx="5956173" cy="1863756"/>
            <a:chOff x="5702427" y="3480435"/>
            <a:chExt cx="5956173" cy="1863756"/>
          </a:xfrm>
        </p:grpSpPr>
        <p:sp>
          <p:nvSpPr>
            <p:cNvPr id="21" name="Rectangle 21"/>
            <p:cNvSpPr/>
            <p:nvPr/>
          </p:nvSpPr>
          <p:spPr>
            <a:xfrm>
              <a:off x="5707380" y="3480435"/>
              <a:ext cx="595122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356" y="36018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执行单元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5543" y="36018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89460" y="3601879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 warp 指令占几拍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04535" y="4001929"/>
              <a:ext cx="1455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整数/浮点核（每组）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53392" y="400192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73935" y="4001929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÷ 16 = 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07380" y="42757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07380" y="428053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04535" y="440197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SFU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94855" y="44019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15398" y="4401979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÷ 4 = 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07380" y="46758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4535" y="4802029"/>
              <a:ext cx="1345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 Tesla 架构 SP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94855" y="48020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15398" y="4802029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÷ 8 = 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3480435"/>
              <a:ext cx="595122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18145" y="348043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256395" y="348043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2427" y="5153501"/>
              <a:ext cx="5925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前两行是 Fermi SM（原课件第99页），第三行是原课件第94页图中的早期 SM（8 个 SP、2 个 SFU）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5707380" y="5475922"/>
            <a:ext cx="5951220" cy="729615"/>
            <a:chOff x="5707380" y="5475922"/>
            <a:chExt cx="5951220" cy="729615"/>
          </a:xfrm>
        </p:grpSpPr>
        <p:sp>
          <p:nvSpPr>
            <p:cNvPr id="42" name="Rectangle 42"/>
            <p:cNvSpPr/>
            <p:nvPr/>
          </p:nvSpPr>
          <p:spPr>
            <a:xfrm>
              <a:off x="5707380" y="5475922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912168" y="5740718"/>
              <a:ext cx="200026" cy="200026"/>
              <a:chOff x="5912168" y="574071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912168" y="57407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12180" y="5807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001068" y="58407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214872" y="5621655"/>
              <a:ext cx="50029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Fermi 每个 SM 最多驻留 48 个活跃 warp，即 1536 个线程，调度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器从中挑选可以发射的 warp。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54198" cy="909257"/>
            <a:chOff x="520446" y="342900"/>
            <a:chExt cx="90541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541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分化：分支让 warp 分两趟走，访存让 warp 等最慢的一批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3112445" cy="249364"/>
            <a:chOff x="526923" y="1545431"/>
            <a:chExt cx="3112445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3112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分支分化（原课件第95页，16 条 lane）</a:t>
              </a:r>
            </a:p>
          </p:txBody>
        </p:sp>
      </p:grpSp>
      <p:grpSp>
        <p:nvGrpSpPr>
          <p:cNvPr id="125" name="c1-cells-2"/>
          <p:cNvGrpSpPr/>
          <p:nvPr/>
        </p:nvGrpSpPr>
        <p:grpSpPr>
          <a:xfrm>
            <a:off x="528638" y="1934528"/>
            <a:ext cx="5414962" cy="2190750"/>
            <a:chOff x="528638" y="1934528"/>
            <a:chExt cx="5414962" cy="2190750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8788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106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8481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16342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33758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30668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49036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45945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64313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61222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79591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476500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594868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791778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10146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07055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24471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422332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39748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37610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55026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52888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70303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368165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85581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82490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00858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97768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16136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1304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31413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28322" y="1934528"/>
              <a:ext cx="3152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46691" y="20878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8638" y="2678430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else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1065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16342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05135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530668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620412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845945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935690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161222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50967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476500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791778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81522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107055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195847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422332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11125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737610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052888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141680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368165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56957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82490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772235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997768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087512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13045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628322" y="25250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718067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8638" y="3268980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01065" y="31156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89857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21634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153066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84594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16122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2476500" y="31156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566245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79177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310705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342233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3737610" y="31156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826402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05288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436816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4682490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499776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5313045" y="31156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402790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62832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28638" y="385953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汇聚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01065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8985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216342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305135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530668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620412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845945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935690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2161222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225096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2476500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566245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791778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881522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3107055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19584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422332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511125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3737610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3826402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4052888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4141680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4368165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445695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682490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772235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4997768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5087512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5313045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5402790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5628322" y="37061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571806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</p:grpSp>
      <p:grpSp>
        <p:nvGrpSpPr>
          <p:cNvPr id="127" name="c1-text-3"/>
          <p:cNvGrpSpPr/>
          <p:nvPr/>
        </p:nvGrpSpPr>
        <p:grpSpPr>
          <a:xfrm>
            <a:off x="526923" y="4337209"/>
            <a:ext cx="5125466" cy="1003744"/>
            <a:chOff x="526923" y="4337209"/>
            <a:chExt cx="5125466" cy="1003744"/>
          </a:xfrm>
        </p:grpSpPr>
        <p:sp>
          <p:nvSpPr>
            <p:cNvPr id="126" name="TextBox 126"/>
            <p:cNvSpPr txBox="1"/>
            <p:nvPr/>
          </p:nvSpPr>
          <p:spPr>
            <a:xfrm>
              <a:off x="526923" y="4337209"/>
              <a:ext cx="5125466" cy="1003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 lane 条件为真走 if，12 条走 else。硬件先让 else 的 12 条执行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（其余 lane 有效位清零），再让 if 的 4 条执行，到重汇聚点恢复全部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条。例：两条路径各 10 条指令，用时 20 拍（不分化 10 拍），lane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 (4×10 + 12×10) ÷ (16×20) = 50%。</a:t>
              </a:r>
            </a:p>
          </p:txBody>
        </p:sp>
      </p:grpSp>
      <p:grpSp>
        <p:nvGrpSpPr>
          <p:cNvPr id="129" name="c2-text-1"/>
          <p:cNvGrpSpPr/>
          <p:nvPr/>
        </p:nvGrpSpPr>
        <p:grpSpPr>
          <a:xfrm>
            <a:off x="6241923" y="1545431"/>
            <a:ext cx="2107426" cy="249364"/>
            <a:chOff x="6241923" y="1545431"/>
            <a:chExt cx="2107426" cy="249364"/>
          </a:xfrm>
        </p:grpSpPr>
        <p:sp>
          <p:nvSpPr>
            <p:cNvPr id="128" name="TextBox 128"/>
            <p:cNvSpPr txBox="1"/>
            <p:nvPr/>
          </p:nvSpPr>
          <p:spPr>
            <a:xfrm>
              <a:off x="6241923" y="1545431"/>
              <a:ext cx="2107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访存分化（原课件第96页）</a:t>
              </a:r>
            </a:p>
          </p:txBody>
        </p:sp>
      </p:grpSp>
      <p:grpSp>
        <p:nvGrpSpPr>
          <p:cNvPr id="231" name="c2-cells-2"/>
          <p:cNvGrpSpPr/>
          <p:nvPr/>
        </p:nvGrpSpPr>
        <p:grpSpPr>
          <a:xfrm>
            <a:off x="6243638" y="1934528"/>
            <a:ext cx="5414962" cy="2781300"/>
            <a:chOff x="6243638" y="1934528"/>
            <a:chExt cx="5414962" cy="2781300"/>
          </a:xfrm>
        </p:grpSpPr>
        <p:sp>
          <p:nvSpPr>
            <p:cNvPr id="130" name="TextBox 130"/>
            <p:cNvSpPr txBox="1"/>
            <p:nvPr/>
          </p:nvSpPr>
          <p:spPr>
            <a:xfrm>
              <a:off x="6243638" y="208788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请求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61606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6931342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7245668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756094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876222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8191500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8506778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882205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9137332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9452610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9767888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1008316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10397490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10712768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11028045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11343322" y="1934528"/>
              <a:ext cx="3152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6243638" y="2678430"/>
              <a:ext cx="2716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L1 ①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6616065" y="25250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6704857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6931342" y="252507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7020135" y="26784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7245668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7560945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876222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8191500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8506778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8822055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9137332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9452610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9767888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10083165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10397490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10712768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11028045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11343322" y="25250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243638" y="3268980"/>
              <a:ext cx="2716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L1 ②</a:t>
              </a:r>
            </a:p>
          </p:txBody>
        </p:sp>
        <p:sp>
          <p:nvSpPr>
            <p:cNvPr id="167" name="Rectangle 167"/>
            <p:cNvSpPr/>
            <p:nvPr/>
          </p:nvSpPr>
          <p:spPr>
            <a:xfrm>
              <a:off x="661606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693134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7245668" y="311562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335412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7560945" y="311562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7650690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73" name="Rectangle 173"/>
            <p:cNvSpPr/>
            <p:nvPr/>
          </p:nvSpPr>
          <p:spPr>
            <a:xfrm>
              <a:off x="7876222" y="3115628"/>
              <a:ext cx="3152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7965967" y="32689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8191500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850677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77" name="Rectangle 177"/>
            <p:cNvSpPr/>
            <p:nvPr/>
          </p:nvSpPr>
          <p:spPr>
            <a:xfrm>
              <a:off x="882205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13733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9452610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0" name="Rectangle 180"/>
            <p:cNvSpPr/>
            <p:nvPr/>
          </p:nvSpPr>
          <p:spPr>
            <a:xfrm>
              <a:off x="976788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1008316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10397490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3" name="Rectangle 183"/>
            <p:cNvSpPr/>
            <p:nvPr/>
          </p:nvSpPr>
          <p:spPr>
            <a:xfrm>
              <a:off x="10712768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11028045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5" name="Rectangle 185"/>
            <p:cNvSpPr/>
            <p:nvPr/>
          </p:nvSpPr>
          <p:spPr>
            <a:xfrm>
              <a:off x="11343322" y="31156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6243638" y="385953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87" name="Rectangle 187"/>
            <p:cNvSpPr/>
            <p:nvPr/>
          </p:nvSpPr>
          <p:spPr>
            <a:xfrm>
              <a:off x="6616065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8" name="Rectangle 188"/>
            <p:cNvSpPr/>
            <p:nvPr/>
          </p:nvSpPr>
          <p:spPr>
            <a:xfrm>
              <a:off x="6931342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9" name="Rectangle 189"/>
            <p:cNvSpPr/>
            <p:nvPr/>
          </p:nvSpPr>
          <p:spPr>
            <a:xfrm>
              <a:off x="7245668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7560945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1" name="Rectangle 191"/>
            <p:cNvSpPr/>
            <p:nvPr/>
          </p:nvSpPr>
          <p:spPr>
            <a:xfrm>
              <a:off x="7876222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2" name="Rectangle 192"/>
            <p:cNvSpPr/>
            <p:nvPr/>
          </p:nvSpPr>
          <p:spPr>
            <a:xfrm>
              <a:off x="8191500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8506778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4" name="Rectangle 194"/>
            <p:cNvSpPr/>
            <p:nvPr/>
          </p:nvSpPr>
          <p:spPr>
            <a:xfrm>
              <a:off x="8822055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5" name="Rectangle 195"/>
            <p:cNvSpPr/>
            <p:nvPr/>
          </p:nvSpPr>
          <p:spPr>
            <a:xfrm>
              <a:off x="9137332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9452610" y="370617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9767888" y="37061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9856680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99" name="Rectangle 199"/>
            <p:cNvSpPr/>
            <p:nvPr/>
          </p:nvSpPr>
          <p:spPr>
            <a:xfrm>
              <a:off x="10083165" y="37061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1017195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1" name="Rectangle 201"/>
            <p:cNvSpPr/>
            <p:nvPr/>
          </p:nvSpPr>
          <p:spPr>
            <a:xfrm>
              <a:off x="10397490" y="37061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10487235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10712768" y="37061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10802512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11028045" y="37061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11117790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11343322" y="3706178"/>
              <a:ext cx="31527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11433067" y="385953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9" name="TextBox 209"/>
            <p:cNvSpPr txBox="1"/>
            <p:nvPr/>
          </p:nvSpPr>
          <p:spPr>
            <a:xfrm>
              <a:off x="6243638" y="445008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显存</a:t>
              </a:r>
            </a:p>
          </p:txBody>
        </p:sp>
        <p:sp>
          <p:nvSpPr>
            <p:cNvPr id="210" name="Rectangle 210"/>
            <p:cNvSpPr/>
            <p:nvPr/>
          </p:nvSpPr>
          <p:spPr>
            <a:xfrm>
              <a:off x="6616065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6931342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2" name="Rectangle 212"/>
            <p:cNvSpPr/>
            <p:nvPr/>
          </p:nvSpPr>
          <p:spPr>
            <a:xfrm>
              <a:off x="7245668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560945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7876222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5" name="Rectangle 215"/>
            <p:cNvSpPr/>
            <p:nvPr/>
          </p:nvSpPr>
          <p:spPr>
            <a:xfrm>
              <a:off x="8191500" y="4296728"/>
              <a:ext cx="3152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16" name="TextBox 216"/>
            <p:cNvSpPr txBox="1"/>
            <p:nvPr/>
          </p:nvSpPr>
          <p:spPr>
            <a:xfrm>
              <a:off x="8281245" y="44500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7" name="Rectangle 217"/>
            <p:cNvSpPr/>
            <p:nvPr/>
          </p:nvSpPr>
          <p:spPr>
            <a:xfrm>
              <a:off x="8506778" y="4296728"/>
              <a:ext cx="3152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8596522" y="44500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9" name="Rectangle 219"/>
            <p:cNvSpPr/>
            <p:nvPr/>
          </p:nvSpPr>
          <p:spPr>
            <a:xfrm>
              <a:off x="8822055" y="4296728"/>
              <a:ext cx="3152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20" name="TextBox 220"/>
            <p:cNvSpPr txBox="1"/>
            <p:nvPr/>
          </p:nvSpPr>
          <p:spPr>
            <a:xfrm>
              <a:off x="8910847" y="44500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1" name="Rectangle 221"/>
            <p:cNvSpPr/>
            <p:nvPr/>
          </p:nvSpPr>
          <p:spPr>
            <a:xfrm>
              <a:off x="9137332" y="4296728"/>
              <a:ext cx="3152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9226125" y="44500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3" name="Rectangle 223"/>
            <p:cNvSpPr/>
            <p:nvPr/>
          </p:nvSpPr>
          <p:spPr>
            <a:xfrm>
              <a:off x="9452610" y="4296728"/>
              <a:ext cx="3152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24" name="TextBox 224"/>
            <p:cNvSpPr txBox="1"/>
            <p:nvPr/>
          </p:nvSpPr>
          <p:spPr>
            <a:xfrm>
              <a:off x="9541402" y="445008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5" name="Rectangle 225"/>
            <p:cNvSpPr/>
            <p:nvPr/>
          </p:nvSpPr>
          <p:spPr>
            <a:xfrm>
              <a:off x="9767888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10083165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7" name="Rectangle 227"/>
            <p:cNvSpPr/>
            <p:nvPr/>
          </p:nvSpPr>
          <p:spPr>
            <a:xfrm>
              <a:off x="10397490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8" name="Rectangle 228"/>
            <p:cNvSpPr/>
            <p:nvPr/>
          </p:nvSpPr>
          <p:spPr>
            <a:xfrm>
              <a:off x="10712768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11028045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30" name="Rectangle 230"/>
            <p:cNvSpPr/>
            <p:nvPr/>
          </p:nvSpPr>
          <p:spPr>
            <a:xfrm>
              <a:off x="11343322" y="4296728"/>
              <a:ext cx="31527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233" name="c2-text-3"/>
          <p:cNvGrpSpPr/>
          <p:nvPr/>
        </p:nvGrpSpPr>
        <p:grpSpPr>
          <a:xfrm>
            <a:off x="6241923" y="4927759"/>
            <a:ext cx="5141722" cy="500824"/>
            <a:chOff x="6241923" y="4927759"/>
            <a:chExt cx="5141722" cy="500824"/>
          </a:xfrm>
        </p:grpSpPr>
        <p:sp>
          <p:nvSpPr>
            <p:cNvPr id="232" name="TextBox 232"/>
            <p:cNvSpPr txBox="1"/>
            <p:nvPr/>
          </p:nvSpPr>
          <p:spPr>
            <a:xfrm>
              <a:off x="6241923" y="4927759"/>
              <a:ext cx="514172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warp 的 16 个请求分几批返回：2 个、3 个在 L1 命中，6 个在 L2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命中，5 个要去显存。warp 要等最慢的那批到齐才能执行下一条指令。</a:t>
              </a:r>
            </a:p>
          </p:txBody>
        </p:sp>
      </p:grpSp>
      <p:grpSp>
        <p:nvGrpSpPr>
          <p:cNvPr id="2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34" name="Rectangle 2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37" name="Group 23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35" name="Freeform 23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6" name="Freeform 23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8" name="TextBox 238"/>
            <p:cNvSpPr txBox="1"/>
            <p:nvPr/>
          </p:nvSpPr>
          <p:spPr>
            <a:xfrm>
              <a:off x="1040130" y="5991225"/>
              <a:ext cx="9435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 kernel 时让同一 warp 的线程尽量走同一分支，让相邻线程访问相邻地址，访存才能合并成少数几次。</a:t>
              </a:r>
            </a:p>
          </p:txBody>
        </p:sp>
      </p:grpSp>
      <p:grpSp>
        <p:nvGrpSpPr>
          <p:cNvPr id="2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0" name="TextBox 24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241" name="TextBox 2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8058" cy="909257"/>
            <a:chOff x="520446" y="342900"/>
            <a:chExt cx="69280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80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CUDA 程序到执行单元：一条完整的调度链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667299" cy="3252216"/>
            <a:chOff x="533400" y="1533525"/>
            <a:chExt cx="5667299" cy="325221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166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源文件编译成调度序列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9683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 stream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5254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16 个 stream，每个 stream 一串 kernel grid，grid 由线程块组成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16919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块分给 SM（乱序）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3194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取线程块分配到各 SM，成为 SM 上的活跃块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29476"/>
              <a:ext cx="1894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块切成 warp（乱序）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709988"/>
              <a:ext cx="4929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各活跃块的 warp 收进 warp 池，Fermi 每 SM 最多 48 个活跃 warp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4955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发射执行（乱序）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30065"/>
              <a:ext cx="4942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 cache 为每个活跃 warp 缓冲几条指令，奇、偶两个 warp 调度器挑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指令，发到各执行单元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962525"/>
            <a:ext cx="5626418" cy="1018222"/>
            <a:chOff x="533400" y="4962525"/>
            <a:chExt cx="5626418" cy="1018222"/>
          </a:xfrm>
        </p:grpSpPr>
        <p:sp>
          <p:nvSpPr>
            <p:cNvPr id="29" name="Rectangle 29"/>
            <p:cNvSpPr/>
            <p:nvPr/>
          </p:nvSpPr>
          <p:spPr>
            <a:xfrm>
              <a:off x="533400" y="4962525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372102"/>
              <a:ext cx="200023" cy="200023"/>
              <a:chOff x="738188" y="5372102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3721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438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109686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三处“乱序”：块分给 SM 的顺序、warp 进入 warp 池的顺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序、指令发射的顺序都不按程序里的先后，所以不同线程块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之间不能假设谁先执行。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58902" y="1524000"/>
            <a:ext cx="5199698" cy="2659857"/>
            <a:chOff x="6458902" y="1524000"/>
            <a:chExt cx="5199698" cy="2659857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14579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执行单元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705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49412" y="1655445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原课件第99页图中的指令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9964" y="2085022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纹理单元 TEX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2825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58834" y="2085022"/>
              <a:ext cx="830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SUST、TEX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9964" y="2515552"/>
              <a:ext cx="1330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特殊功能单元 SFU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2825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58834" y="2515552"/>
              <a:ext cx="1340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RCP（倒数）、SIN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9964" y="3052762"/>
              <a:ext cx="913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整数/浮点核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28254" y="2946082"/>
              <a:ext cx="4389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× 2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58834" y="3052762"/>
              <a:ext cx="2459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IMUL、IADD、FFMA、DADD、XOR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4528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345757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9964" y="3589020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存取单元 LSU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28254" y="35890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58834" y="3589020"/>
              <a:ext cx="11801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LDC、STL、LDS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1814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84872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8902" y="3963829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原课件第98–99页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464618" y="4325302"/>
            <a:ext cx="5193982" cy="1656398"/>
            <a:chOff x="6464618" y="4325302"/>
            <a:chExt cx="5193982" cy="1656398"/>
          </a:xfrm>
        </p:grpSpPr>
        <p:sp>
          <p:nvSpPr>
            <p:cNvPr id="61" name="Rectangle 61"/>
            <p:cNvSpPr/>
            <p:nvPr/>
          </p:nvSpPr>
          <p:spPr>
            <a:xfrm>
              <a:off x="6464618" y="4325302"/>
              <a:ext cx="5193982" cy="1656398"/>
            </a:xfrm>
            <a:prstGeom prst="roundRect">
              <a:avLst>
                <a:gd name="adj" fmla="val 69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5053013"/>
              <a:ext cx="200026" cy="200025"/>
              <a:chOff x="6669405" y="505301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50530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09144" y="50974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43859" y="52085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1729" y="4790599"/>
              <a:ext cx="41803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读第99页图：红线是发射时刻，方块高度是占用的拍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数。两个调度器每拍各发一条，不同 warp 的指令在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不同单元上重叠执行。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57085" cy="909257"/>
            <a:chOff x="520446" y="342900"/>
            <a:chExt cx="71570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570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编译与运行：NVCC 把代码分成主机和设备两半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666750" y="1640205"/>
            <a:ext cx="5359717" cy="3006090"/>
            <a:chOff x="666750" y="1640205"/>
            <a:chExt cx="5359717" cy="3006090"/>
          </a:xfrm>
        </p:grpSpPr>
        <p:sp>
          <p:nvSpPr>
            <p:cNvPr id="7" name="Freeform 7"/>
            <p:cNvSpPr/>
            <p:nvPr/>
          </p:nvSpPr>
          <p:spPr>
            <a:xfrm>
              <a:off x="1806892" y="314325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68818" y="3090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43188" y="2592705"/>
              <a:ext cx="1406842" cy="331470"/>
            </a:xfrm>
            <a:custGeom>
              <a:avLst/>
              <a:gdLst/>
              <a:ahLst/>
              <a:cxnLst/>
              <a:rect l="l" t="t" r="r" b="b"/>
              <a:pathLst>
                <a:path w="1406842" h="331470">
                  <a:moveTo>
                    <a:pt x="0" y="331470"/>
                  </a:moveTo>
                  <a:lnTo>
                    <a:pt x="0" y="113348"/>
                  </a:lnTo>
                  <a:lnTo>
                    <a:pt x="1406842" y="113348"/>
                  </a:lnTo>
                  <a:lnTo>
                    <a:pt x="14068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97642" y="2487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43188" y="3362325"/>
              <a:ext cx="1406842" cy="331470"/>
            </a:xfrm>
            <a:custGeom>
              <a:avLst/>
              <a:gdLst/>
              <a:ahLst/>
              <a:cxnLst/>
              <a:rect l="l" t="t" r="r" b="b"/>
              <a:pathLst>
                <a:path w="1406842" h="331470">
                  <a:moveTo>
                    <a:pt x="0" y="0"/>
                  </a:moveTo>
                  <a:lnTo>
                    <a:pt x="0" y="218122"/>
                  </a:lnTo>
                  <a:lnTo>
                    <a:pt x="1406842" y="218122"/>
                  </a:lnTo>
                  <a:lnTo>
                    <a:pt x="1406842" y="3314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97642" y="36937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50030" y="2487930"/>
              <a:ext cx="1406842" cy="126683"/>
            </a:xfrm>
            <a:custGeom>
              <a:avLst/>
              <a:gdLst/>
              <a:ahLst/>
              <a:cxnLst/>
              <a:rect l="l" t="t" r="r" b="b"/>
              <a:pathLst>
                <a:path w="1406842" h="126683">
                  <a:moveTo>
                    <a:pt x="0" y="0"/>
                  </a:moveTo>
                  <a:lnTo>
                    <a:pt x="0" y="115253"/>
                  </a:lnTo>
                  <a:lnTo>
                    <a:pt x="1406842" y="115253"/>
                  </a:lnTo>
                  <a:lnTo>
                    <a:pt x="1406842" y="1266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04485" y="2614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50030" y="3671888"/>
              <a:ext cx="1406842" cy="126683"/>
            </a:xfrm>
            <a:custGeom>
              <a:avLst/>
              <a:gdLst/>
              <a:ahLst/>
              <a:cxnLst/>
              <a:rect l="l" t="t" r="r" b="b"/>
              <a:pathLst>
                <a:path w="1406842" h="126683">
                  <a:moveTo>
                    <a:pt x="0" y="126683"/>
                  </a:moveTo>
                  <a:lnTo>
                    <a:pt x="0" y="11430"/>
                  </a:lnTo>
                  <a:lnTo>
                    <a:pt x="1406842" y="11430"/>
                  </a:lnTo>
                  <a:lnTo>
                    <a:pt x="14068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04485" y="3567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2924175"/>
              <a:ext cx="114014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73592" y="2924175"/>
              <a:ext cx="114014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80435" y="1640205"/>
              <a:ext cx="114014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80435" y="3798570"/>
              <a:ext cx="114014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86325" y="2719388"/>
              <a:ext cx="1140142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3392" y="305419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.cu 源文件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36437" y="3054191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NVCC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18433" y="1755934"/>
              <a:ext cx="66319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主机代码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C++ 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89985" y="3915251"/>
              <a:ext cx="720090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设备代码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CUDA 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48060" y="2835116"/>
              <a:ext cx="817626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 ld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可执行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文件或 .so</a:t>
              </a:r>
            </a:p>
          </p:txBody>
        </p:sp>
      </p:grpSp>
      <p:grpSp>
        <p:nvGrpSpPr>
          <p:cNvPr id="29" name="c1-text-2"/>
          <p:cNvGrpSpPr/>
          <p:nvPr/>
        </p:nvGrpSpPr>
        <p:grpSpPr>
          <a:xfrm>
            <a:off x="526923" y="4974431"/>
            <a:ext cx="5320538" cy="500824"/>
            <a:chOff x="526923" y="4974431"/>
            <a:chExt cx="5320538" cy="500824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4974431"/>
              <a:ext cx="532053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运行时主机部分在 CPU 上跑，设备部分经桥和 PCIe 送到 GPU，由各 SM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核执行（原课件第103页）。.c/.cpp 文件直接交给 g++。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458902" y="1524000"/>
            <a:ext cx="5199698" cy="4126707"/>
            <a:chOff x="6458902" y="1524000"/>
            <a:chExt cx="5199698" cy="4126707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29669" y="1659731"/>
              <a:ext cx="470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Linux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22443" y="1659731"/>
              <a:ext cx="742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Windows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72441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文件类型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07796" y="2108359"/>
              <a:ext cx="179298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.c/.cpp 放主机代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码，.cu 放设备或混合代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36633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8698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874645"/>
              <a:ext cx="519398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2441" y="32370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7796" y="3237071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一般由 makefile 驱动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36633" y="3010376"/>
              <a:ext cx="182549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Visual Studio，编译规则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 cuda.rules 里，有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语法高亮和 Intellisense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7728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2441" y="41390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07796" y="413908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cuda-gdb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6633" y="3912394"/>
              <a:ext cx="182549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Nsight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（Win7），集成调试器和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性能分析器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46748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4679632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2441" y="49277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07796" y="4927759"/>
              <a:ext cx="1680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Visual Profiler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36633" y="4814411"/>
              <a:ext cx="1719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Visual Profiler、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Nsight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1524000"/>
              <a:ext cx="5193982" cy="38309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95210" y="1524000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24048" y="1524000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8902" y="5430679"/>
              <a:ext cx="4367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原课件第100–102页；Parallel Nsight 现已并入 Nsight 系列工具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79361" cy="909257"/>
            <a:chOff x="520446" y="342900"/>
            <a:chExt cx="70793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80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57" y="407194"/>
              <a:ext cx="3394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 · CUDA 程序在 GPU 上怎样执行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793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 虚拟化：多台虚拟机共享一块物理 GPU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958840" cy="2301240"/>
            <a:chOff x="525780" y="1548765"/>
            <a:chExt cx="5958840" cy="230124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34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Hypervisor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35468" y="1548765"/>
              <a:ext cx="43110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NVIDIA VGX Hypervisor，内含虚拟 GPU 管理器和资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源管理器，另有 Hypervisor 设备模拟框架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虚拟机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5468" y="2270760"/>
              <a:ext cx="41395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Guest OS 上运行应用；通过 VDI 交付协议远程显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示；NVIDIA 用户可选虚拟机（USM）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1102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Kepler GPU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35468" y="2992755"/>
              <a:ext cx="43872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MMU 隔离各虚拟机的显存；每台虚拟机有专用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通道（Per-VM Dedicated Channels），图形命令直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接送到 GPU</a:t>
              </a:r>
            </a:p>
          </p:txBody>
        </p:sp>
      </p:grpSp>
      <p:grpSp>
        <p:nvGrpSpPr>
          <p:cNvPr id="30" name="c1-flow-2"/>
          <p:cNvGrpSpPr/>
          <p:nvPr/>
        </p:nvGrpSpPr>
        <p:grpSpPr>
          <a:xfrm>
            <a:off x="666750" y="4286250"/>
            <a:ext cx="5684520" cy="629602"/>
            <a:chOff x="666750" y="4286250"/>
            <a:chExt cx="5684520" cy="629602"/>
          </a:xfrm>
        </p:grpSpPr>
        <p:sp>
          <p:nvSpPr>
            <p:cNvPr id="16" name="Freeform 16"/>
            <p:cNvSpPr/>
            <p:nvPr/>
          </p:nvSpPr>
          <p:spPr>
            <a:xfrm>
              <a:off x="1887855" y="46005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049780" y="45481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75660" y="46005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537585" y="45481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863465" y="46005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025390" y="45481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42862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154555" y="42862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42360" y="42862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30165" y="4381500"/>
              <a:ext cx="12211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4426" y="440197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56294" y="4401979"/>
              <a:ext cx="81762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客户机 GPU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40035" y="440197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该虚拟机的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专用通道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84411" y="4511516"/>
              <a:ext cx="712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 GPU</a:t>
              </a:r>
            </a:p>
          </p:txBody>
        </p:sp>
      </p:grpSp>
      <p:grpSp>
        <p:nvGrpSpPr>
          <p:cNvPr id="32" name="c1-text-3"/>
          <p:cNvGrpSpPr/>
          <p:nvPr/>
        </p:nvGrpSpPr>
        <p:grpSpPr>
          <a:xfrm>
            <a:off x="526923" y="5431631"/>
            <a:ext cx="5506848" cy="249364"/>
            <a:chOff x="526923" y="5431631"/>
            <a:chExt cx="5506848" cy="249364"/>
          </a:xfrm>
        </p:grpSpPr>
        <p:sp>
          <p:nvSpPr>
            <p:cNvPr id="31" name="TextBox 31"/>
            <p:cNvSpPr txBox="1"/>
            <p:nvPr/>
          </p:nvSpPr>
          <p:spPr>
            <a:xfrm>
              <a:off x="526923" y="5431631"/>
              <a:ext cx="5506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图形与计算命令的路径；资源分配和状态由 Hypervisor 里的管理器负责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783705" y="1524000"/>
            <a:ext cx="4874895" cy="3000852"/>
            <a:chOff x="6783705" y="1524000"/>
            <a:chExt cx="4874895" cy="3000852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14248" y="16630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4787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610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61973" y="2150745"/>
              <a:ext cx="2259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 应用、界面（UI）应用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24945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89420" y="2499360"/>
              <a:ext cx="486918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6100" y="2771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底层库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61973" y="2638425"/>
              <a:ext cx="31394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CUDA / OpenCL；OpenGL / Vulkan /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DirectX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89420" y="324897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6100" y="33928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61973" y="3392805"/>
              <a:ext cx="835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驱动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37366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89420" y="3741420"/>
              <a:ext cx="486918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96100" y="38804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61973" y="3880485"/>
              <a:ext cx="835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多块 GPU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89420" y="1524000"/>
              <a:ext cx="4869180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50530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3705" y="4304824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原课件第104页右侧的软件栈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789420" y="4671060"/>
            <a:ext cx="4869180" cy="1335405"/>
            <a:chOff x="6789420" y="4671060"/>
            <a:chExt cx="4869180" cy="1335405"/>
          </a:xfrm>
        </p:grpSpPr>
        <p:sp>
          <p:nvSpPr>
            <p:cNvPr id="53" name="Rectangle 53"/>
            <p:cNvSpPr/>
            <p:nvPr/>
          </p:nvSpPr>
          <p:spPr>
            <a:xfrm>
              <a:off x="6789420" y="4671060"/>
              <a:ext cx="4869180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994208" y="5238750"/>
              <a:ext cx="200026" cy="200025"/>
              <a:chOff x="6994208" y="5238750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994208" y="52387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33946" y="52832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068662" y="53943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296150" y="4819650"/>
              <a:ext cx="39585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一块 GPU 的算力和显存往往一个用户用不满。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虚拟化让多台虚拟机按需共享物理 GPU，云桌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面、云游戏、AI 推理服务都靠它，这和第6章云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计算的资源池化是同一思路。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9262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一条指令要作用在 N 个数据上。放在单核、P 核 CPU、有 L 个 ALU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SIMD 器件上，取指译码各做多少次？代价各在哪里？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084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 N 次，数据排队，耗时；P 核仍是 N 次，时间缩到约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N/P，但 P 套取指译码部件做同样的事，耗电；SIMD 约 N/L 次，一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次取指译码交给 L 个 ALU。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428750"/>
            <a:chOff x="533400" y="4008120"/>
            <a:chExt cx="54102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同一个编队里允许有写后读相关吗？允许有结构冒险吗？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结构冒险不允许，抢同一部件就开新编队；写后读靠链接可以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留在同一编队，没有链接时也要开新编队。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3833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向量体系结构“窄而深”、GPU“宽而浅”各指什么？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190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向量机指令流水线深、ALU 窄，靠一条指令在深流水线里流过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大量数据来摊掉流水线时间；GPU 流水线浅、ALU 宽，同一时刻对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更多数据并行计算。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671638"/>
            <a:chOff x="6248400" y="3765232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81700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warp 遇到 if-else，一部分线程走 if，一部分走 else，硬件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怎样处理？代价是什么？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两条路径串行执行，用有效位屏蔽不走该路径的 lane，到重汇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聚点恢复全部 lane；用时是两条路径之和，lane 利用率下降。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概念题答不上时，回到对应页面看表格里的对比列，不要只背名称。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284982" cy="264033"/>
            <a:chOff x="526542" y="1545907"/>
            <a:chExt cx="328498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带计算的题请把代入的每一步都写出来。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4832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A×(B+C)，N = 500，寄存器每次装 64 个元素。分组计算共几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组？数据相关、功能切换各约几次？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6621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= 7×64 + 52，S = 7，r = 52，共 8 组；数据相关 8 次，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功能切换约 16 次。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671638"/>
            <a:chOff x="533400" y="3765232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78327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DAXPY 五条指令（vld、vmul、vld、vadd、vst），只有一个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load/store 单元且没有链接，N = 128，分几个编队？约多少拍？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个编队：{vld}、{vmul, vld}、{vadd}、{vst}；约 4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= 512 拍。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28750"/>
            <a:chOff x="6248400" y="192881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76864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链接例题中若 N = 32，全部串行、前两条并行、并行加链接各要多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少拍？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243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3×32 + 22 = 118；2×32 + 15 = 79；32 + 16 = 48。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22345"/>
            <a:ext cx="5410200" cy="1914525"/>
            <a:chOff x="6248400" y="3522345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522345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043839"/>
              <a:ext cx="463900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5000，每块 256 个线程，要启动几个线程块？有几个线程被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(i &lt; n) 挡住？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571524"/>
              <a:ext cx="5096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(5000 + 255) / 256 = 20 块，共 5120 个线程，空闲 120 个。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61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链接题先写每条指令的通过时间 1+L+1；编队题逐条问“抢不抢部件、有没有写后读”。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第4章 数据级并行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5967107" cy="1739837"/>
            <a:chOff x="533400" y="1532572"/>
            <a:chExt cx="5967107" cy="173983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5127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SPMD 放到 SISD 上耗时，放到多核上耗电；SIMD 只取指译码一次，交给多个 ALU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4259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向量机窄而深，把数据摊在时间上；GPU 宽而浅，把数据摊在空间上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5727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A×(B+C) 的横向、纵向、分组计算：相关 N / 1 / S+1 次，切换约 2N / 1 / 2(S+1) 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4590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流水化部件处理 N 个元素用 (1+L+1)+(N−1) 拍；链接只付一次建立时间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3930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编队内不能有结构冒险，写后读靠链接；m 个编队约 m×N/L 拍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4558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线程、线程块、网格对应 CUDA 核、SM、GPU；32 个线程组成一个 warp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057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334" y="308729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858" y="3067050"/>
              <a:ext cx="39260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warp 靠大量线程轮换掩盖延迟，分支分化和访存分化会拖慢它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395662"/>
            <a:ext cx="5951220" cy="2165032"/>
            <a:chOff x="533400" y="3395662"/>
            <a:chExt cx="5951220" cy="2165032"/>
          </a:xfrm>
        </p:grpSpPr>
        <p:sp>
          <p:nvSpPr>
            <p:cNvPr id="29" name="Rectangle 29"/>
            <p:cNvSpPr/>
            <p:nvPr/>
          </p:nvSpPr>
          <p:spPr>
            <a:xfrm>
              <a:off x="533400" y="3395662"/>
              <a:ext cx="5951220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529012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57663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6094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39690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3916204"/>
              <a:ext cx="5141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是同步执行，MISD 并未被证明不可能（第5页）；“取址”应为取指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（第8页）；VLEN ≤ 2¹⁶（第21页）；64 位是双字（第23页）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49675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444841"/>
              <a:ext cx="51498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MMX 是整数 SIMD，SSE4.2 在 2008 年（第34页）；SP 是 SM 里的运算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单元（第37页）；Deallocation 是释放（第48页）；GigaThread 拼写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（第51页）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789420" y="1524000"/>
            <a:ext cx="4869180" cy="2287905"/>
            <a:chOff x="6789420" y="1524000"/>
            <a:chExt cx="4869180" cy="2287905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7330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72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409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5234" y="2023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前一条的结果直接转给下一条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409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5234" y="240411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可以一起执行、不抢部件的一组向量指令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663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4098" y="2785110"/>
              <a:ext cx="871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strip mining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45234" y="2785110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按寄存器长度分组，vsetvli 循环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045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89420" y="3049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4098" y="3167062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45234" y="316706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标量线程写法，硬件按 warp 锁步执行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3426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409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45234" y="3548062"/>
              <a:ext cx="1521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 片上，块内线程共享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1524000"/>
              <a:ext cx="486918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457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789420" y="3976688"/>
            <a:ext cx="4869180" cy="1584008"/>
            <a:chOff x="6789420" y="3976688"/>
            <a:chExt cx="4869180" cy="1584008"/>
          </a:xfrm>
        </p:grpSpPr>
        <p:sp>
          <p:nvSpPr>
            <p:cNvPr id="60" name="Rectangle 60"/>
            <p:cNvSpPr/>
            <p:nvPr/>
          </p:nvSpPr>
          <p:spPr>
            <a:xfrm>
              <a:off x="6789420" y="3976688"/>
              <a:ext cx="4869180" cy="1584008"/>
            </a:xfrm>
            <a:prstGeom prst="roundRect">
              <a:avLst>
                <a:gd name="adj" fmla="val 841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70395" y="4157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59016" y="4190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63918" y="4498181"/>
              <a:ext cx="4328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第5章大数据计算：数据多到一台机器放不下时，怎样把数据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和计算一起分到集群上。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65061" y="5022533"/>
              <a:ext cx="426453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参考书：Hennessy、Patterson《计算机体系结构：量化研究方法》第4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章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8411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复习时动手算三类题：分组计算的相关与切换次数、链接三种方式的拍数、DAXPY 类代码的编队与 m×N 估算。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353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第4章 数据级并行：向量体系结构和GPU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4">
  <a:themeElements>
    <a:clrScheme name="pdc_ch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2026-09-23T09:00:42Z</dcterms:created>
  <dcterms:modified xsi:type="dcterms:W3CDTF">2026-09-23T09:00:42Z</dcterms:modified>
  <cp:category/>
  <cp:contentStatus/>
</cp:coreProperties>
</file>