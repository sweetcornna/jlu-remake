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dc_ch10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dc_ch10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83be2aef2db446e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37ec2dea8523e02.png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00f7bdb5fc90bb6.png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632198" cy="3437763"/>
            <a:chOff x="666750" y="1619250"/>
            <a:chExt cx="463219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226945" cy="3429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4633" y="1718310"/>
              <a:ext cx="2009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并行与分布式计算 · 第10章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指令级并行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找出不相关的指令，让它们重叠和乱序执行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相关、冲突与延迟槽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5917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记分牌与 Tomasulo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分支预测与前瞻执行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9380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超标量、VLIW 与超流水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710589" cy="205359"/>
            <a:chOff x="680466" y="6192202"/>
            <a:chExt cx="4710589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7105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自学复习版｜据吉林大学《并行与分布式计算》第10章课件整理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7161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4485" y="407194"/>
              <a:ext cx="1288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相关与冲突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结构、数据、控制三类相关，名相关与换名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静态处理分支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四种静态方法，延迟槽的三种调度，分支取消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记分牌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按序流出、乱序执行，四个步骤与三张表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0384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Tomasulo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4357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保留站完成换名，CDB 广播结果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动态分支预测与前瞻执行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039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BHT、BTB，ROB 按序确认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多指令流出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26444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静态与动态超标量、VLIW、超流水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701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给一段代码，指出 RAW、WAR、WAW 各在哪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两条指令之间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说出延迟槽三种调度方法的前提和适用场合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1299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06705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按记分牌规则填出指令状态周期表和某一周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期末的三张状态表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37509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688080"/>
              <a:ext cx="3625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Tomasulo 和前瞻执行规则填周期表，说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明换名怎样消除 WAR、WAW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37197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30911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 1 位、2 位 BHT 在循环分支上的预测准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确率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67588" y="49930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25702" y="493014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对循环做展开与静态调度，算出超标量、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VLIW 的周期数和加速比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024884" cy="3351847"/>
            <a:chOff x="667512" y="1835468"/>
            <a:chExt cx="402488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指令级并行的概念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相关是程序的属性，冲突是流水线的属性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 部分：指令级并行的概念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结构、数据、控制三类相关与冲突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名相关与换名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静态分支预测、延迟槽与分支取消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指令级并行的概念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指令级并行：不相关的指令可以在流水线里重叠执行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906905"/>
            <a:chOff x="533400" y="1524000"/>
            <a:chExt cx="4977765" cy="1906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4057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指令级并行 ILP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206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当指令之间不存在相关时，它们在流水线中可以重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叠起来并行执行。指令序列中这种潜在的并行性称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为指令级并行（Instruction-Level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Parallelism）。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621405"/>
            <a:ext cx="4977765" cy="2518410"/>
            <a:chOff x="533400" y="3621405"/>
            <a:chExt cx="4977765" cy="2518410"/>
          </a:xfrm>
        </p:grpSpPr>
        <p:sp>
          <p:nvSpPr>
            <p:cNvPr id="14" name="Rectangle 14"/>
            <p:cNvSpPr/>
            <p:nvPr/>
          </p:nvSpPr>
          <p:spPr>
            <a:xfrm>
              <a:off x="533400" y="3621405"/>
              <a:ext cx="4977765" cy="2518410"/>
            </a:xfrm>
            <a:prstGeom prst="roundRect">
              <a:avLst>
                <a:gd name="adj" fmla="val 5295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42950" y="383095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6407" y="386667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本章研究什么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20814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在流水线的基础上，用各种技术挖掘出更多的指令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级并行。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48665" y="489204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48291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硬件技术：运行时动态完成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48665" y="522732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780" y="51644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软件技术：编译时静态完成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6473" y="5496401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两类技术要互相配合，才能最大限度地挖掘程序中的指令级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并行。</a:t>
              </a:r>
            </a:p>
          </p:txBody>
        </p:sp>
      </p:grpSp>
      <p:grpSp>
        <p:nvGrpSpPr>
          <p:cNvPr id="59" name="c2-tree-1"/>
          <p:cNvGrpSpPr/>
          <p:nvPr/>
        </p:nvGrpSpPr>
        <p:grpSpPr>
          <a:xfrm>
            <a:off x="5815965" y="1619250"/>
            <a:ext cx="5842635" cy="4648200"/>
            <a:chOff x="5815965" y="1619250"/>
            <a:chExt cx="5842635" cy="4648200"/>
          </a:xfrm>
        </p:grpSpPr>
        <p:sp>
          <p:nvSpPr>
            <p:cNvPr id="24" name="Freeform 24"/>
            <p:cNvSpPr/>
            <p:nvPr/>
          </p:nvSpPr>
          <p:spPr>
            <a:xfrm>
              <a:off x="9135428" y="1792605"/>
              <a:ext cx="419100" cy="806767"/>
            </a:xfrm>
            <a:custGeom>
              <a:avLst/>
              <a:gdLst/>
              <a:ahLst/>
              <a:cxnLst/>
              <a:rect l="l" t="t" r="r" b="b"/>
              <a:pathLst>
                <a:path w="419100" h="806767">
                  <a:moveTo>
                    <a:pt x="0" y="806767"/>
                  </a:moveTo>
                  <a:lnTo>
                    <a:pt x="209550" y="80676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135428" y="2330768"/>
              <a:ext cx="419100" cy="268605"/>
            </a:xfrm>
            <a:custGeom>
              <a:avLst/>
              <a:gdLst/>
              <a:ahLst/>
              <a:cxnLst/>
              <a:rect l="l" t="t" r="r" b="b"/>
              <a:pathLst>
                <a:path w="419100" h="268605">
                  <a:moveTo>
                    <a:pt x="0" y="268605"/>
                  </a:moveTo>
                  <a:lnTo>
                    <a:pt x="209550" y="26860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135428" y="2599372"/>
              <a:ext cx="419100" cy="268605"/>
            </a:xfrm>
            <a:custGeom>
              <a:avLst/>
              <a:gdLst/>
              <a:ahLst/>
              <a:cxnLst/>
              <a:rect l="l" t="t" r="r" b="b"/>
              <a:pathLst>
                <a:path w="419100" h="268605">
                  <a:moveTo>
                    <a:pt x="0" y="0"/>
                  </a:moveTo>
                  <a:lnTo>
                    <a:pt x="209550" y="0"/>
                  </a:lnTo>
                  <a:lnTo>
                    <a:pt x="209550" y="268605"/>
                  </a:lnTo>
                  <a:lnTo>
                    <a:pt x="419100" y="26860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135428" y="2599372"/>
              <a:ext cx="419100" cy="806768"/>
            </a:xfrm>
            <a:custGeom>
              <a:avLst/>
              <a:gdLst/>
              <a:ahLst/>
              <a:cxnLst/>
              <a:rect l="l" t="t" r="r" b="b"/>
              <a:pathLst>
                <a:path w="419100" h="806768">
                  <a:moveTo>
                    <a:pt x="0" y="0"/>
                  </a:moveTo>
                  <a:lnTo>
                    <a:pt x="209550" y="0"/>
                  </a:lnTo>
                  <a:lnTo>
                    <a:pt x="209550" y="806768"/>
                  </a:lnTo>
                  <a:lnTo>
                    <a:pt x="419100" y="80676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135428" y="3943350"/>
              <a:ext cx="419100" cy="1075372"/>
            </a:xfrm>
            <a:custGeom>
              <a:avLst/>
              <a:gdLst/>
              <a:ahLst/>
              <a:cxnLst/>
              <a:rect l="l" t="t" r="r" b="b"/>
              <a:pathLst>
                <a:path w="419100" h="1075372">
                  <a:moveTo>
                    <a:pt x="0" y="1075372"/>
                  </a:moveTo>
                  <a:lnTo>
                    <a:pt x="209550" y="107537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135428" y="4480560"/>
              <a:ext cx="419100" cy="538162"/>
            </a:xfrm>
            <a:custGeom>
              <a:avLst/>
              <a:gdLst/>
              <a:ahLst/>
              <a:cxnLst/>
              <a:rect l="l" t="t" r="r" b="b"/>
              <a:pathLst>
                <a:path w="419100" h="538162">
                  <a:moveTo>
                    <a:pt x="0" y="538162"/>
                  </a:moveTo>
                  <a:lnTo>
                    <a:pt x="209550" y="53816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135428" y="501872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135428" y="5018722"/>
              <a:ext cx="419100" cy="537210"/>
            </a:xfrm>
            <a:custGeom>
              <a:avLst/>
              <a:gdLst/>
              <a:ahLst/>
              <a:cxnLst/>
              <a:rect l="l" t="t" r="r" b="b"/>
              <a:pathLst>
                <a:path w="419100" h="537210">
                  <a:moveTo>
                    <a:pt x="0" y="0"/>
                  </a:moveTo>
                  <a:lnTo>
                    <a:pt x="209550" y="0"/>
                  </a:lnTo>
                  <a:lnTo>
                    <a:pt x="209550" y="537210"/>
                  </a:lnTo>
                  <a:lnTo>
                    <a:pt x="419100" y="53721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135428" y="5018722"/>
              <a:ext cx="419100" cy="1075372"/>
            </a:xfrm>
            <a:custGeom>
              <a:avLst/>
              <a:gdLst/>
              <a:ahLst/>
              <a:cxnLst/>
              <a:rect l="l" t="t" r="r" b="b"/>
              <a:pathLst>
                <a:path w="419100" h="1075372">
                  <a:moveTo>
                    <a:pt x="0" y="0"/>
                  </a:moveTo>
                  <a:lnTo>
                    <a:pt x="209550" y="0"/>
                  </a:lnTo>
                  <a:lnTo>
                    <a:pt x="209550" y="1075372"/>
                  </a:lnTo>
                  <a:lnTo>
                    <a:pt x="419100" y="107537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343775" y="2599372"/>
              <a:ext cx="419100" cy="1209675"/>
            </a:xfrm>
            <a:custGeom>
              <a:avLst/>
              <a:gdLst/>
              <a:ahLst/>
              <a:cxnLst/>
              <a:rect l="l" t="t" r="r" b="b"/>
              <a:pathLst>
                <a:path w="419100" h="1209675">
                  <a:moveTo>
                    <a:pt x="0" y="1209675"/>
                  </a:moveTo>
                  <a:lnTo>
                    <a:pt x="209550" y="120967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343775" y="3809048"/>
              <a:ext cx="419100" cy="1209675"/>
            </a:xfrm>
            <a:custGeom>
              <a:avLst/>
              <a:gdLst/>
              <a:ahLst/>
              <a:cxnLst/>
              <a:rect l="l" t="t" r="r" b="b"/>
              <a:pathLst>
                <a:path w="419100" h="1209675">
                  <a:moveTo>
                    <a:pt x="0" y="0"/>
                  </a:moveTo>
                  <a:lnTo>
                    <a:pt x="209550" y="0"/>
                  </a:lnTo>
                  <a:lnTo>
                    <a:pt x="209550" y="1209675"/>
                  </a:lnTo>
                  <a:lnTo>
                    <a:pt x="419100" y="12096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554528" y="1619250"/>
              <a:ext cx="210407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554528" y="2157412"/>
              <a:ext cx="210407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554528" y="2694622"/>
              <a:ext cx="210407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554528" y="3232785"/>
              <a:ext cx="210407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762875" y="2426018"/>
              <a:ext cx="1371600" cy="346710"/>
            </a:xfrm>
            <a:prstGeom prst="roundRect">
              <a:avLst>
                <a:gd name="adj" fmla="val 27473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9554528" y="3769995"/>
              <a:ext cx="210407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554528" y="4307205"/>
              <a:ext cx="210407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554528" y="4845368"/>
              <a:ext cx="210407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554528" y="5382578"/>
              <a:ext cx="210407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9554528" y="5920740"/>
              <a:ext cx="210407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762875" y="4845368"/>
              <a:ext cx="1371600" cy="346710"/>
            </a:xfrm>
            <a:prstGeom prst="roundRect">
              <a:avLst>
                <a:gd name="adj" fmla="val 27473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815965" y="3635692"/>
              <a:ext cx="1528762" cy="346710"/>
            </a:xfrm>
            <a:prstGeom prst="roundRect">
              <a:avLst>
                <a:gd name="adj" fmla="val 2747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644062" y="171402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编译器指令调度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44062" y="2252186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分支预测（成功 / 失败）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44062" y="27893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分支延迟槽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44062" y="33275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循环展开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52410" y="252079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软件静态方法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644062" y="38647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记分牌算法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44062" y="4401979"/>
              <a:ext cx="1019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Tomasulo 算法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644062" y="4940141"/>
              <a:ext cx="10759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分支历史表 BHT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644062" y="5477351"/>
              <a:ext cx="1377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分支目标缓冲器 BTB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44062" y="601551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基于硬件的前瞻执行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52410" y="494014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硬件动态方法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905500" y="3730466"/>
              <a:ext cx="10998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开发 ILP 的方法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指令级并行的概念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相关与冲突：相关不一定停顿，冲突才让流水线停下来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kv-1"/>
          <p:cNvGrpSpPr/>
          <p:nvPr/>
        </p:nvGrpSpPr>
        <p:grpSpPr>
          <a:xfrm>
            <a:off x="526542" y="1545907"/>
            <a:ext cx="5633276" cy="1423226"/>
            <a:chOff x="526542" y="1545907"/>
            <a:chExt cx="5633276" cy="142322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相关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1380" y="1545907"/>
              <a:ext cx="4642866" cy="770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两条指令之间存在某种依赖关系。相关的两条指令可能不能在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流水线中重叠执行（延后 1 拍），或只能部分重叠（延后多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拍）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3421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542" y="24517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冲突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1380" y="2451735"/>
              <a:ext cx="46428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由于相关的存在，指令流中的下一条指令不能在预定的时钟周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期进入流水线</a:t>
              </a:r>
            </a:p>
          </p:txBody>
        </p:sp>
      </p:grpSp>
      <p:grpSp>
        <p:nvGrpSpPr>
          <p:cNvPr id="32" name="c1-table-2"/>
          <p:cNvGrpSpPr/>
          <p:nvPr/>
        </p:nvGrpSpPr>
        <p:grpSpPr>
          <a:xfrm>
            <a:off x="533400" y="3091815"/>
            <a:ext cx="5626418" cy="1823085"/>
            <a:chOff x="533400" y="3091815"/>
            <a:chExt cx="5626418" cy="1823085"/>
          </a:xfrm>
        </p:grpSpPr>
        <p:sp>
          <p:nvSpPr>
            <p:cNvPr id="13" name="Rectangle 13"/>
            <p:cNvSpPr/>
            <p:nvPr/>
          </p:nvSpPr>
          <p:spPr>
            <a:xfrm>
              <a:off x="533400" y="3091815"/>
              <a:ext cx="5626418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2233" y="32161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相关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76716" y="321611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导致的冲突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40288" y="32161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3412" y="36218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结构相关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84058" y="36218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结构冲突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33750" y="36218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硬件资源不够同时用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8985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903345"/>
              <a:ext cx="5626418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41276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数据相关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84058" y="41276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数据冲突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33750" y="4027646"/>
              <a:ext cx="25717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后面的指令要用前面指令的结果或寄存器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5043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463343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控制相关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84058" y="463343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控制冲突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33750" y="4633436"/>
              <a:ext cx="1488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分支等改变 PC 的指令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091815"/>
              <a:ext cx="5626418" cy="18230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879282" y="309181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228975" y="309181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llout-3"/>
          <p:cNvGrpSpPr/>
          <p:nvPr/>
        </p:nvGrpSpPr>
        <p:grpSpPr>
          <a:xfrm>
            <a:off x="533400" y="5089208"/>
            <a:ext cx="5626418" cy="960120"/>
            <a:chOff x="533400" y="5089208"/>
            <a:chExt cx="5626418" cy="960120"/>
          </a:xfrm>
        </p:grpSpPr>
        <p:sp>
          <p:nvSpPr>
            <p:cNvPr id="33" name="Rectangle 33"/>
            <p:cNvSpPr/>
            <p:nvPr/>
          </p:nvSpPr>
          <p:spPr>
            <a:xfrm>
              <a:off x="533400" y="5089208"/>
              <a:ext cx="5626418" cy="960120"/>
            </a:xfrm>
            <a:prstGeom prst="roundRect">
              <a:avLst>
                <a:gd name="adj" fmla="val 11905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469257"/>
              <a:ext cx="200023" cy="200023"/>
              <a:chOff x="738188" y="5469257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46925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1538" y="55359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892" y="5351145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相关是程序固有的属性；一次相关会不会导致冲突、停顿多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久，取决于流水线的结构。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formula5"/>
              <p:cNvSpPr txBox="1">
                <a:spLocks noGrp="1"/>
              </p:cNvSpPr>
              <p:nvPr/>
            </p:nvSpPr>
            <p:spPr>
              <a:xfrm>
                <a:off x="6464618" y="1524000"/>
                <a:ext cx="5193982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CPI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流水线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CPI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理想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m:rPr>
                              <m:nor m:val="on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停顿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结构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m:rPr>
                              <m:nor m:val="on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停顿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数据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m:rPr>
                              <m:nor m:val="on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停顿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控制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41" name="c2-text-2"/>
          <p:cNvGrpSpPr/>
          <p:nvPr/>
        </p:nvGrpSpPr>
        <p:grpSpPr>
          <a:xfrm>
            <a:off x="6458902" y="2098834"/>
            <a:ext cx="5274879" cy="220028"/>
            <a:chOff x="6458902" y="2098834"/>
            <a:chExt cx="5274879" cy="220028"/>
          </a:xfrm>
        </p:grpSpPr>
        <p:sp>
          <p:nvSpPr>
            <p:cNvPr id="40" name="TextBox 40"/>
            <p:cNvSpPr txBox="1"/>
            <p:nvPr/>
          </p:nvSpPr>
          <p:spPr>
            <a:xfrm>
              <a:off x="6458902" y="2098834"/>
              <a:ext cx="52748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理想 CPI 是流水线能达到的最好性能；减少任何一种停顿，都能降低实际 CPI。</a:t>
              </a:r>
            </a:p>
          </p:txBody>
        </p:sp>
      </p:grpSp>
      <p:grpSp>
        <p:nvGrpSpPr>
          <p:cNvPr id="54" name="c2-table-3"/>
          <p:cNvGrpSpPr/>
          <p:nvPr/>
        </p:nvGrpSpPr>
        <p:grpSpPr>
          <a:xfrm>
            <a:off x="6459284" y="2449830"/>
            <a:ext cx="5199316" cy="1696974"/>
            <a:chOff x="6459284" y="2449830"/>
            <a:chExt cx="5199316" cy="1696974"/>
          </a:xfrm>
        </p:grpSpPr>
        <p:sp>
          <p:nvSpPr>
            <p:cNvPr id="42" name="Rectangle 42"/>
            <p:cNvSpPr/>
            <p:nvPr/>
          </p:nvSpPr>
          <p:spPr>
            <a:xfrm>
              <a:off x="6464618" y="2449830"/>
              <a:ext cx="5193982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79628" y="25741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途径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76143" y="25741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64630" y="30799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07630" y="2979896"/>
              <a:ext cx="35674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多份资源、定向路径、插入气泡、冻结或排空流水线、分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支判断电路前移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34566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64618" y="3461385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64630" y="35856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07630" y="358568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指令调度、预测成功、预测失败、延迟槽、分支取消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2449830"/>
              <a:ext cx="5193982" cy="14173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602855" y="2449830"/>
              <a:ext cx="9525" cy="14173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459284" y="394144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解决相关的两条途径</a:t>
              </a:r>
            </a:p>
          </p:txBody>
        </p:sp>
      </p:grpSp>
      <p:grpSp>
        <p:nvGrpSpPr>
          <p:cNvPr id="61" name="c2-card-4"/>
          <p:cNvGrpSpPr/>
          <p:nvPr/>
        </p:nvGrpSpPr>
        <p:grpSpPr>
          <a:xfrm>
            <a:off x="6464618" y="4280535"/>
            <a:ext cx="5193982" cy="1768792"/>
            <a:chOff x="6464618" y="4280535"/>
            <a:chExt cx="5193982" cy="1768792"/>
          </a:xfrm>
        </p:grpSpPr>
        <p:sp>
          <p:nvSpPr>
            <p:cNvPr id="55" name="Rectangle 55"/>
            <p:cNvSpPr/>
            <p:nvPr/>
          </p:nvSpPr>
          <p:spPr>
            <a:xfrm>
              <a:off x="6464618" y="4280535"/>
              <a:ext cx="5193982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74142" y="4413885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95122" y="4472940"/>
              <a:ext cx="19431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42557" y="450723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同一个相关，冲突与否看距离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88264" y="4829175"/>
              <a:ext cx="44971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R1 之后紧跟 DADD 用 R1：有定向的 5 段流水线里仍要停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拍，相关导致了冲突。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88264" y="5389245"/>
              <a:ext cx="45914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两条之间插进两条无关指令：相关还在，但 R1 已经写回，不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再冲突。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指令级并行的概念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结构冲突：取指令和读写数据抢同一个存储器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193982" cy="1937385"/>
            <a:chOff x="533400" y="1524000"/>
            <a:chExt cx="5193982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结构相关：某种指令组合因资源冲突而不能顺利重叠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结构冲突：硬件资源满足不了指令重叠执行的要求而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发生的冲突</a:t>
              </a:r>
            </a:p>
          </p:txBody>
        </p:sp>
      </p:grpSp>
      <p:grpSp>
        <p:nvGrpSpPr>
          <p:cNvPr id="24" name="c1-kv-2"/>
          <p:cNvGrpSpPr/>
          <p:nvPr/>
        </p:nvGrpSpPr>
        <p:grpSpPr>
          <a:xfrm>
            <a:off x="525780" y="3676650"/>
            <a:ext cx="5201602" cy="1455420"/>
            <a:chOff x="525780" y="3676650"/>
            <a:chExt cx="5201602" cy="1455420"/>
          </a:xfrm>
        </p:grpSpPr>
        <p:sp>
          <p:nvSpPr>
            <p:cNvPr id="16" name="TextBox 16"/>
            <p:cNvSpPr txBox="1"/>
            <p:nvPr/>
          </p:nvSpPr>
          <p:spPr>
            <a:xfrm>
              <a:off x="525780" y="36766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常见原因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65935" y="3676650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功能部件不是全流水；重复设置的资源份数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不够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2786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43986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解决办法一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65935" y="439864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允许冲突发生，冲突时插入流水线气泡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71868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5780" y="48387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解决办法二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65935" y="483870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设置足够多的硬件资源，从根本上消除冲突</a:t>
              </a:r>
            </a:p>
          </p:txBody>
        </p:sp>
      </p:grpSp>
      <p:grpSp>
        <p:nvGrpSpPr>
          <p:cNvPr id="31" name="c1-callout-3"/>
          <p:cNvGrpSpPr/>
          <p:nvPr/>
        </p:nvGrpSpPr>
        <p:grpSpPr>
          <a:xfrm>
            <a:off x="533400" y="5263515"/>
            <a:ext cx="5193982" cy="1059180"/>
            <a:chOff x="533400" y="5263515"/>
            <a:chExt cx="5193982" cy="1059180"/>
          </a:xfrm>
        </p:grpSpPr>
        <p:sp>
          <p:nvSpPr>
            <p:cNvPr id="25" name="Rectangle 25"/>
            <p:cNvSpPr/>
            <p:nvPr/>
          </p:nvSpPr>
          <p:spPr>
            <a:xfrm>
              <a:off x="533400" y="5263515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693093"/>
              <a:ext cx="200026" cy="200026"/>
              <a:chOff x="738188" y="5693093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6930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57597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7088" y="57931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5412105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功能部件不是全流水的例子：一个除法器要若干个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周期才能接收下一条，两条相邻的除法指令就会发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生结构冲突。</a:t>
              </a:r>
            </a:p>
          </p:txBody>
        </p:sp>
      </p:grpSp>
      <p:grpSp>
        <p:nvGrpSpPr>
          <p:cNvPr id="33" name="c2-text-1"/>
          <p:cNvGrpSpPr/>
          <p:nvPr/>
        </p:nvGrpSpPr>
        <p:grpSpPr>
          <a:xfrm>
            <a:off x="6025706" y="1545431"/>
            <a:ext cx="5320538" cy="500824"/>
            <a:chOff x="6025706" y="1545431"/>
            <a:chExt cx="5320538" cy="500824"/>
          </a:xfrm>
        </p:grpSpPr>
        <p:sp>
          <p:nvSpPr>
            <p:cNvPr id="32" name="TextBox 32"/>
            <p:cNvSpPr txBox="1"/>
            <p:nvPr/>
          </p:nvSpPr>
          <p:spPr>
            <a:xfrm>
              <a:off x="6025706" y="1545431"/>
              <a:ext cx="5320538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指令和数据放在同一个存储器时，第 4 周期 LD 在 MEM 段读数据，第 4 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指令同时要在 IF 段取指令：</a:t>
              </a:r>
            </a:p>
          </p:txBody>
        </p:sp>
      </p:grpSp>
      <p:grpSp>
        <p:nvGrpSpPr>
          <p:cNvPr id="92" name="c2-cells-2"/>
          <p:cNvGrpSpPr/>
          <p:nvPr/>
        </p:nvGrpSpPr>
        <p:grpSpPr>
          <a:xfrm>
            <a:off x="6026467" y="2185988"/>
            <a:ext cx="5632133" cy="2063591"/>
            <a:chOff x="6026467" y="2185988"/>
            <a:chExt cx="5632133" cy="2063591"/>
          </a:xfrm>
        </p:grpSpPr>
        <p:sp>
          <p:nvSpPr>
            <p:cNvPr id="34" name="TextBox 34"/>
            <p:cNvSpPr txBox="1"/>
            <p:nvPr/>
          </p:nvSpPr>
          <p:spPr>
            <a:xfrm>
              <a:off x="6026467" y="232552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LD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32245" y="2185988"/>
              <a:ext cx="7324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21198" y="2325529"/>
              <a:ext cx="153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264718" y="2185988"/>
              <a:ext cx="7324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53671" y="2325529"/>
              <a:ext cx="153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997190" y="2185988"/>
              <a:ext cx="7324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265234" y="232552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728710" y="2185988"/>
              <a:ext cx="732472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918251" y="2325529"/>
              <a:ext cx="354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461182" y="2185988"/>
              <a:ext cx="7324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13452" y="232552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193655" y="2185988"/>
              <a:ext cx="7324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926128" y="2185988"/>
              <a:ext cx="7324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026467" y="2801779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指令2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532245" y="2662238"/>
              <a:ext cx="7324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264718" y="2662238"/>
              <a:ext cx="7324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553671" y="2801779"/>
              <a:ext cx="153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997190" y="2662238"/>
              <a:ext cx="7324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286143" y="2801779"/>
              <a:ext cx="153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728710" y="2662238"/>
              <a:ext cx="7324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997707" y="280177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461182" y="2662238"/>
              <a:ext cx="7324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650724" y="2801779"/>
              <a:ext cx="354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0193655" y="2662238"/>
              <a:ext cx="7324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445924" y="280177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926128" y="2662238"/>
              <a:ext cx="7324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026467" y="3278029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指令3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532245" y="3138488"/>
              <a:ext cx="7324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264718" y="3138488"/>
              <a:ext cx="7324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997190" y="3138488"/>
              <a:ext cx="7324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286143" y="3278029"/>
              <a:ext cx="153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728710" y="3138488"/>
              <a:ext cx="7324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018616" y="3278029"/>
              <a:ext cx="153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461182" y="3138488"/>
              <a:ext cx="7324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730179" y="327802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193655" y="3138488"/>
              <a:ext cx="7324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383196" y="3278029"/>
              <a:ext cx="354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926128" y="3138488"/>
              <a:ext cx="7324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1178397" y="327802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026467" y="3754279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指令4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532245" y="3614738"/>
              <a:ext cx="7324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7264718" y="3614738"/>
              <a:ext cx="7324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997190" y="3614738"/>
              <a:ext cx="7324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8728710" y="3614738"/>
              <a:ext cx="73247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938933" y="37542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气泡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9461182" y="3614738"/>
              <a:ext cx="732472" cy="419100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751088" y="3754279"/>
              <a:ext cx="153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10193655" y="3614738"/>
              <a:ext cx="7324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0483561" y="3754279"/>
              <a:ext cx="153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10926128" y="3614738"/>
              <a:ext cx="7324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1195124" y="375427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862886" y="40876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595358" y="40876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327831" y="40876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060303" y="40876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792776" y="40876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525248" y="40876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257721" y="40876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99" name="c2-callout-3"/>
          <p:cNvGrpSpPr/>
          <p:nvPr/>
        </p:nvGrpSpPr>
        <p:grpSpPr>
          <a:xfrm>
            <a:off x="6032182" y="4405312"/>
            <a:ext cx="5626418" cy="1917382"/>
            <a:chOff x="6032182" y="4405312"/>
            <a:chExt cx="5626418" cy="1917382"/>
          </a:xfrm>
        </p:grpSpPr>
        <p:sp>
          <p:nvSpPr>
            <p:cNvPr id="93" name="Rectangle 93"/>
            <p:cNvSpPr/>
            <p:nvPr/>
          </p:nvSpPr>
          <p:spPr>
            <a:xfrm>
              <a:off x="6032182" y="4405312"/>
              <a:ext cx="5626418" cy="1917382"/>
            </a:xfrm>
            <a:prstGeom prst="roundRect">
              <a:avLst>
                <a:gd name="adj" fmla="val 596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6236970" y="5263515"/>
              <a:ext cx="200026" cy="200025"/>
              <a:chOff x="6236970" y="5263515"/>
              <a:chExt cx="200026" cy="200025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6236970" y="52635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6276709" y="53079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6311424" y="54190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6538912" y="5120640"/>
              <a:ext cx="46824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指令 4 推迟一拍取指。把存储器分成指令 Cache 和数据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Cache 两份，这个冲突就不存在了。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指令级并行的概念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数据相关的四种情况：只有写后读才有数据真正流动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6276022" cy="1602105"/>
            <a:chOff x="533400" y="1524000"/>
            <a:chExt cx="6276022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数据相关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539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指令在流水线中重叠执行时，读、写操作数的顺序可能与非流水执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行时不同，因读写顺序冲突而不能顺利重叠执行，称这组指令存在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数据相关。</a:t>
              </a:r>
            </a:p>
          </p:txBody>
        </p:sp>
      </p:grpSp>
      <p:grpSp>
        <p:nvGrpSpPr>
          <p:cNvPr id="43" name="c1-table-2"/>
          <p:cNvGrpSpPr/>
          <p:nvPr/>
        </p:nvGrpSpPr>
        <p:grpSpPr>
          <a:xfrm>
            <a:off x="533400" y="3316605"/>
            <a:ext cx="6276022" cy="2924175"/>
            <a:chOff x="533400" y="3316605"/>
            <a:chExt cx="6276022" cy="2924175"/>
          </a:xfrm>
        </p:grpSpPr>
        <p:sp>
          <p:nvSpPr>
            <p:cNvPr id="13" name="Rectangle 13"/>
            <p:cNvSpPr/>
            <p:nvPr/>
          </p:nvSpPr>
          <p:spPr>
            <a:xfrm>
              <a:off x="533400" y="3316605"/>
              <a:ext cx="6276022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9442" y="34523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00567" y="34523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别名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41956" y="3452336"/>
              <a:ext cx="14905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例子（i 在 j 之前）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07329" y="34523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是否真相关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223" y="3900964"/>
              <a:ext cx="500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写后读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RAW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70888" y="3900964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真数据相关、生产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者消费者相关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02520" y="4014311"/>
              <a:ext cx="1246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写 R1，j 读 R1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87580" y="401431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4357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4440555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4576286"/>
              <a:ext cx="500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读后写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70888" y="46896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反相关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02520" y="4689634"/>
              <a:ext cx="1246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读 R1，j 写 R1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87580" y="46896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名相关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1120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5251609"/>
              <a:ext cx="500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写后写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WAW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70888" y="53649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输出相关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02520" y="5364956"/>
              <a:ext cx="14187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写 R1，j 也写 R1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87580" y="536495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名相关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7873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579215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5926931"/>
              <a:ext cx="902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读后读 RAR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70888" y="592693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02520" y="5926931"/>
              <a:ext cx="11121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i、j 都只读 R1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87580" y="5926931"/>
              <a:ext cx="7539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不相关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316605"/>
              <a:ext cx="6276022" cy="2924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658302" y="3316605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289935" y="3316605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674995" y="3316605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rd-1"/>
          <p:cNvGrpSpPr/>
          <p:nvPr/>
        </p:nvGrpSpPr>
        <p:grpSpPr>
          <a:xfrm>
            <a:off x="7114222" y="1524000"/>
            <a:ext cx="4544378" cy="2223135"/>
            <a:chOff x="7114222" y="1524000"/>
            <a:chExt cx="4544378" cy="2223135"/>
          </a:xfrm>
        </p:grpSpPr>
        <p:sp>
          <p:nvSpPr>
            <p:cNvPr id="44" name="Rectangle 44"/>
            <p:cNvSpPr/>
            <p:nvPr/>
          </p:nvSpPr>
          <p:spPr>
            <a:xfrm>
              <a:off x="7114222" y="1524000"/>
              <a:ext cx="4544378" cy="2223135"/>
            </a:xfrm>
            <a:prstGeom prst="roundRect">
              <a:avLst>
                <a:gd name="adj" fmla="val 5998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323772" y="1733550"/>
              <a:ext cx="1682115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47494" y="1769269"/>
              <a:ext cx="16346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名相关 = {WAR, WAW}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16152" y="211074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两条指令使用相同的名（寄存器或存储单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元），但它们之间没有数据流动。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16152" y="2731770"/>
              <a:ext cx="3825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改变指令中操作数的名就能消除名相关，这叫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换名技术。换名可以由编译器静态完成，也可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以由硬件动态完成。</a:t>
              </a:r>
            </a:p>
          </p:txBody>
        </p:sp>
      </p:grpSp>
      <p:grpSp>
        <p:nvGrpSpPr>
          <p:cNvPr id="53" name="c2-code-2"/>
          <p:cNvGrpSpPr/>
          <p:nvPr/>
        </p:nvGrpSpPr>
        <p:grpSpPr>
          <a:xfrm>
            <a:off x="7114222" y="3937635"/>
            <a:ext cx="4544378" cy="1516380"/>
            <a:chOff x="7114222" y="3937635"/>
            <a:chExt cx="4544378" cy="1516380"/>
          </a:xfrm>
        </p:grpSpPr>
        <p:sp>
          <p:nvSpPr>
            <p:cNvPr id="50" name="Rectangle 50"/>
            <p:cNvSpPr/>
            <p:nvPr/>
          </p:nvSpPr>
          <p:spPr>
            <a:xfrm>
              <a:off x="7114222" y="3937635"/>
              <a:ext cx="4544378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242620" y="408955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换名前后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41858" y="4351496"/>
              <a:ext cx="2493518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DIV.D F0,F2,F4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ADD.D F6,F0,F8   # 读 F8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SUB.D F8,F10,F14 # WAR：写 F8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----- 把 SUB 的目的改名为 T -----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SUB.D T,F10,F14  # 与 ADD 无关了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77907" cy="909257"/>
            <a:chOff x="520446" y="342900"/>
            <a:chExt cx="94779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指令级并行的概念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779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数据冲突的例子：DADD 第 5 周期才写回 R1，后面两条读早了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1" name="c1-cells-1"/>
          <p:cNvGrpSpPr/>
          <p:nvPr/>
        </p:nvGrpSpPr>
        <p:grpSpPr>
          <a:xfrm>
            <a:off x="528066" y="1524000"/>
            <a:ext cx="6064187" cy="2433161"/>
            <a:chOff x="528066" y="1524000"/>
            <a:chExt cx="6064187" cy="2433161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662112"/>
              <a:ext cx="10927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DADD R1,R2,R3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661160" y="1524000"/>
              <a:ext cx="54768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862545" y="1662112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208848" y="1524000"/>
              <a:ext cx="54768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411185" y="1662112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756535" y="1524000"/>
              <a:ext cx="54768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939270" y="166211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305175" y="1524000"/>
              <a:ext cx="54768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412468" y="1662112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852862" y="1524000"/>
              <a:ext cx="547688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019916" y="166211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00550" y="1524000"/>
              <a:ext cx="547688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949190" y="1524000"/>
              <a:ext cx="547688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96878" y="1524000"/>
              <a:ext cx="547688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44565" y="1524000"/>
              <a:ext cx="547688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8066" y="2114550"/>
              <a:ext cx="10927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DSUB R4,R1,R5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661160" y="1976438"/>
              <a:ext cx="547688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208848" y="1976438"/>
              <a:ext cx="54768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411185" y="2114550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756535" y="1976438"/>
              <a:ext cx="547688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958873" y="2114550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305175" y="1976438"/>
              <a:ext cx="54768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486958" y="211455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52862" y="1976438"/>
              <a:ext cx="54768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961108" y="2114550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400550" y="1976438"/>
              <a:ext cx="54768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567603" y="211455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949190" y="1976438"/>
              <a:ext cx="547688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96878" y="1976438"/>
              <a:ext cx="547688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44565" y="1976438"/>
              <a:ext cx="547688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8066" y="2566988"/>
              <a:ext cx="10378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XOR R6,R1,R7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661160" y="2429828"/>
              <a:ext cx="547688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208848" y="2429828"/>
              <a:ext cx="547688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756535" y="2429828"/>
              <a:ext cx="54768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958873" y="2566988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305175" y="2429828"/>
              <a:ext cx="547688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506560" y="2566988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852862" y="2429828"/>
              <a:ext cx="54768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035598" y="256698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400550" y="2429828"/>
              <a:ext cx="54768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508796" y="2566988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949190" y="2429828"/>
              <a:ext cx="54768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115291" y="256698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496878" y="2429828"/>
              <a:ext cx="547688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44565" y="2429828"/>
              <a:ext cx="547688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8066" y="3020378"/>
              <a:ext cx="1006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AND R8,R1,R9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661160" y="2882265"/>
              <a:ext cx="547688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2208848" y="2882265"/>
              <a:ext cx="547688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2756535" y="2882265"/>
              <a:ext cx="547688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3305175" y="2882265"/>
              <a:ext cx="54768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506560" y="3020378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852862" y="2882265"/>
              <a:ext cx="547688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055200" y="3020378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400550" y="2882265"/>
              <a:ext cx="54768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583285" y="30203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949190" y="2882265"/>
              <a:ext cx="54768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056483" y="3020378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496878" y="2882265"/>
              <a:ext cx="54768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663931" y="302037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044565" y="2882265"/>
              <a:ext cx="547688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28066" y="3472815"/>
              <a:ext cx="1124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OR R10,R1,R11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661160" y="3334702"/>
              <a:ext cx="547688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2208848" y="3334702"/>
              <a:ext cx="547688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2756535" y="3334702"/>
              <a:ext cx="547688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3305175" y="3334702"/>
              <a:ext cx="547688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3852862" y="3334702"/>
              <a:ext cx="54768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055200" y="3472815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4400550" y="3334702"/>
              <a:ext cx="547688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4602888" y="3472815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4949190" y="3334702"/>
              <a:ext cx="54768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130973" y="347281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496878" y="3334702"/>
              <a:ext cx="54768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605123" y="3472815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044565" y="3334702"/>
              <a:ext cx="54768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211618" y="347281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899408" y="37952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2448048" y="37952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2995736" y="37952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3543423" y="37952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4092063" y="37952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4639751" y="37952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187438" y="37952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5736078" y="37952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283766" y="37952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93" name="c1-text-2"/>
          <p:cNvGrpSpPr/>
          <p:nvPr/>
        </p:nvGrpSpPr>
        <p:grpSpPr>
          <a:xfrm>
            <a:off x="527304" y="4127182"/>
            <a:ext cx="5795772" cy="470916"/>
            <a:chOff x="527304" y="4127182"/>
            <a:chExt cx="5795772" cy="470916"/>
          </a:xfrm>
        </p:grpSpPr>
        <p:sp>
          <p:nvSpPr>
            <p:cNvPr id="92" name="TextBox 92"/>
            <p:cNvSpPr txBox="1"/>
            <p:nvPr/>
          </p:nvSpPr>
          <p:spPr>
            <a:xfrm>
              <a:off x="527304" y="4127182"/>
              <a:ext cx="579577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每条指令在 ID 段读寄存器 R1。红格读到的是旧值；AND 在第 5 周期读，寄存器堆前半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周期写、后半周期读，能读到新值。</a:t>
              </a:r>
            </a:p>
          </p:txBody>
        </p:sp>
      </p:grpSp>
      <p:grpSp>
        <p:nvGrpSpPr>
          <p:cNvPr id="100" name="c1-callout-3"/>
          <p:cNvGrpSpPr/>
          <p:nvPr/>
        </p:nvGrpSpPr>
        <p:grpSpPr>
          <a:xfrm>
            <a:off x="533400" y="4736782"/>
            <a:ext cx="6059805" cy="1309688"/>
            <a:chOff x="533400" y="4736782"/>
            <a:chExt cx="6059805" cy="1309688"/>
          </a:xfrm>
        </p:grpSpPr>
        <p:sp>
          <p:nvSpPr>
            <p:cNvPr id="94" name="Rectangle 94"/>
            <p:cNvSpPr/>
            <p:nvPr/>
          </p:nvSpPr>
          <p:spPr>
            <a:xfrm>
              <a:off x="533400" y="4736782"/>
              <a:ext cx="6059805" cy="1309688"/>
            </a:xfrm>
            <a:prstGeom prst="roundRect">
              <a:avLst>
                <a:gd name="adj" fmla="val 872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738188" y="5291138"/>
              <a:ext cx="200026" cy="200025"/>
              <a:chOff x="738188" y="5291138"/>
              <a:chExt cx="200026" cy="200025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738188" y="52911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777926" y="53355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812642" y="54467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1040511" y="5029676"/>
              <a:ext cx="5100066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有了定向，DADD 第 3 周期末在 EX 段算出的 R1 直接送进 DSUB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4 周期的 ALU 输入，XOR 第 5 周期从 MEM/WB 流水线寄存器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取到 R1，两条都不必停顿。</a:t>
              </a:r>
            </a:p>
          </p:txBody>
        </p:sp>
      </p:grpSp>
      <p:grpSp>
        <p:nvGrpSpPr>
          <p:cNvPr id="125" name="c2-table-1"/>
          <p:cNvGrpSpPr/>
          <p:nvPr/>
        </p:nvGrpSpPr>
        <p:grpSpPr>
          <a:xfrm>
            <a:off x="6898005" y="1524000"/>
            <a:ext cx="4760595" cy="2150745"/>
            <a:chOff x="6898005" y="1524000"/>
            <a:chExt cx="4760595" cy="2150745"/>
          </a:xfrm>
        </p:grpSpPr>
        <p:sp>
          <p:nvSpPr>
            <p:cNvPr id="101" name="Rectangle 101"/>
            <p:cNvSpPr/>
            <p:nvPr/>
          </p:nvSpPr>
          <p:spPr>
            <a:xfrm>
              <a:off x="6898005" y="1524000"/>
              <a:ext cx="4760595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753903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923104" y="1655445"/>
              <a:ext cx="4246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 R1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0376916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是否冲突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003352" y="2085022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DSUB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621649" y="2085022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周期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859899" y="2085022"/>
              <a:ext cx="7068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需定向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6898005" y="237934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6898005" y="2384108"/>
              <a:ext cx="476059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7003352" y="2515552"/>
              <a:ext cx="343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XOR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621649" y="2515552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周期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9859899" y="2515552"/>
              <a:ext cx="7068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需定向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6898005" y="280987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7003352" y="2946082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AND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8621649" y="2946082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周期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9859899" y="2946082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同周期先写后读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6898005" y="323945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6898005" y="3244215"/>
              <a:ext cx="476059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7003352" y="3375660"/>
              <a:ext cx="245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8621649" y="3375660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6 周期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9859899" y="3375660"/>
              <a:ext cx="7068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已写回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6898005" y="1524000"/>
              <a:ext cx="4760595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8511540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9749790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39" name="c2-card-2"/>
          <p:cNvGrpSpPr/>
          <p:nvPr/>
        </p:nvGrpSpPr>
        <p:grpSpPr>
          <a:xfrm>
            <a:off x="6898005" y="3860482"/>
            <a:ext cx="4760595" cy="2185988"/>
            <a:chOff x="6898005" y="3860482"/>
            <a:chExt cx="4760595" cy="2185988"/>
          </a:xfrm>
        </p:grpSpPr>
        <p:sp>
          <p:nvSpPr>
            <p:cNvPr id="126" name="Rectangle 126"/>
            <p:cNvSpPr/>
            <p:nvPr/>
          </p:nvSpPr>
          <p:spPr>
            <a:xfrm>
              <a:off x="6898005" y="3860482"/>
              <a:ext cx="4760595" cy="2185988"/>
            </a:xfrm>
            <a:prstGeom prst="roundRect">
              <a:avLst>
                <a:gd name="adj" fmla="val 61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6907530" y="3993832"/>
              <a:ext cx="47625" cy="191928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7139940" y="4064318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7191743" y="410003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数据冲突的三种解决方法</a:t>
              </a:r>
            </a:p>
          </p:txBody>
        </p:sp>
        <p:sp>
          <p:nvSpPr>
            <p:cNvPr id="130" name="Ellipse 130"/>
            <p:cNvSpPr/>
            <p:nvPr/>
          </p:nvSpPr>
          <p:spPr>
            <a:xfrm>
              <a:off x="7139940" y="442436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7198285" y="446470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7429881" y="4437221"/>
              <a:ext cx="375653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硬件定向（旁路）：把 EX、MEM 段刚算出的结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果直接送给后面指令的 ALU 输入</a:t>
              </a:r>
            </a:p>
          </p:txBody>
        </p:sp>
        <p:sp>
          <p:nvSpPr>
            <p:cNvPr id="133" name="Ellipse 133"/>
            <p:cNvSpPr/>
            <p:nvPr/>
          </p:nvSpPr>
          <p:spPr>
            <a:xfrm>
              <a:off x="7139940" y="5015865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7198285" y="505620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7429881" y="5028724"/>
              <a:ext cx="38016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硬件互锁：检测到冲突就插入气泡，直到冲突消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</a:t>
              </a:r>
            </a:p>
          </p:txBody>
        </p:sp>
        <p:sp>
          <p:nvSpPr>
            <p:cNvPr id="136" name="Ellipse 136"/>
            <p:cNvSpPr/>
            <p:nvPr/>
          </p:nvSpPr>
          <p:spPr>
            <a:xfrm>
              <a:off x="7139940" y="5607367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7198285" y="564770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7429881" y="5620226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编译器指令调度：把无关指令插到相关指令之间</a:t>
              </a:r>
            </a:p>
          </p:txBody>
        </p:sp>
      </p:grpSp>
      <p:grpSp>
        <p:nvGrpSpPr>
          <p:cNvPr id="1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0" name="TextBox 140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指令级并行的概念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控制相关：分支结果决定后面的指令要不要执行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kv-1"/>
          <p:cNvGrpSpPr/>
          <p:nvPr/>
        </p:nvGrpSpPr>
        <p:grpSpPr>
          <a:xfrm>
            <a:off x="525780" y="1548765"/>
            <a:ext cx="4768215" cy="1297305"/>
            <a:chOff x="525780" y="1548765"/>
            <a:chExt cx="4768215" cy="129730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控制相关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66862" y="1548765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由分支指令引起，需要根据分支的执行结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果来确定后续指令是否执行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控制冲突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6862" y="2270760"/>
              <a:ext cx="33870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流水线遇到分支指令和其他会改变 PC 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的指令时引起的冲突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2977515"/>
            <a:ext cx="4760595" cy="1922145"/>
            <a:chOff x="533400" y="2977515"/>
            <a:chExt cx="4760595" cy="1922145"/>
          </a:xfrm>
        </p:grpSpPr>
        <p:sp>
          <p:nvSpPr>
            <p:cNvPr id="13" name="Rectangle 13"/>
            <p:cNvSpPr/>
            <p:nvPr/>
          </p:nvSpPr>
          <p:spPr>
            <a:xfrm>
              <a:off x="533400" y="2977515"/>
              <a:ext cx="4760595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129439"/>
              <a:ext cx="20013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控制相关的例子（if-then 结构）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035" y="3392329"/>
              <a:ext cx="715518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(p1)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S;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(p2)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S2;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6" name="c2-table-1"/>
          <p:cNvGrpSpPr/>
          <p:nvPr/>
        </p:nvGrpSpPr>
        <p:grpSpPr>
          <a:xfrm>
            <a:off x="5598795" y="1524000"/>
            <a:ext cx="6059805" cy="2022158"/>
            <a:chOff x="5598795" y="1524000"/>
            <a:chExt cx="6059805" cy="2022158"/>
          </a:xfrm>
        </p:grpSpPr>
        <p:sp>
          <p:nvSpPr>
            <p:cNvPr id="17" name="Rectangle 17"/>
            <p:cNvSpPr/>
            <p:nvPr/>
          </p:nvSpPr>
          <p:spPr>
            <a:xfrm>
              <a:off x="5598795" y="1524000"/>
              <a:ext cx="605980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0482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53707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与谁控制相关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67110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能否移动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06618" y="222170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76263" y="222170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94586" y="2108359"/>
              <a:ext cx="28821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不能移到 if (p1) 之前，否则 p1 为假时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也会执行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598795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598795" y="264795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06618" y="278368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76263" y="278368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94586" y="2783681"/>
              <a:ext cx="25459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同上，只能留在 p2 的控制范围内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598795" y="3092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706618" y="323230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76263" y="3232309"/>
              <a:ext cx="1357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p1、p2 都无关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94586" y="323230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无论两个分支怎么走都执行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98795" y="1524000"/>
              <a:ext cx="6059805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563678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382000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2-card-2"/>
          <p:cNvGrpSpPr/>
          <p:nvPr/>
        </p:nvGrpSpPr>
        <p:grpSpPr>
          <a:xfrm>
            <a:off x="5598795" y="3736658"/>
            <a:ext cx="6059805" cy="1602105"/>
            <a:chOff x="5598795" y="3736658"/>
            <a:chExt cx="6059805" cy="1602105"/>
          </a:xfrm>
        </p:grpSpPr>
        <p:sp>
          <p:nvSpPr>
            <p:cNvPr id="37" name="Rectangle 37"/>
            <p:cNvSpPr/>
            <p:nvPr/>
          </p:nvSpPr>
          <p:spPr>
            <a:xfrm>
              <a:off x="5598795" y="3736658"/>
              <a:ext cx="605980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608320" y="3870008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846445" y="3946208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15952" y="398192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分支带来的停顿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838825" y="4323398"/>
              <a:ext cx="5349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经典 5 段流水线在 ID 段才知道分支是否成功、目标地址是什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么。在这之前已经按顺序取进来的指令，若分支成功就得作废，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这就是控制冲突的代价。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3" name="Rectangle 4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991225"/>
              <a:ext cx="8496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接下来分两路处理控制冲突：编译器静态处理（本部分后三页），硬件动态预测（第三部分）。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指令级并行的概念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静态处理分支：编译时就定好怎么猜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bullets-1"/>
          <p:cNvGrpSpPr/>
          <p:nvPr/>
        </p:nvGrpSpPr>
        <p:grpSpPr>
          <a:xfrm>
            <a:off x="526161" y="1547336"/>
            <a:ext cx="2415374" cy="1605535"/>
            <a:chOff x="526161" y="1547336"/>
            <a:chExt cx="2415374" cy="1605535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四种静态方法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73568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1745" y="191390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4293" y="188642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总是预测分支失败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20313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1745" y="22434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4293" y="221503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总是预测分支成功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2532698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1745" y="257208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4293" y="254460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基于延迟槽的指令调度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286131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1745" y="29016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4293" y="287416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基于分支取消的指令调度</a:t>
              </a:r>
            </a:p>
          </p:txBody>
        </p:sp>
      </p:grpSp>
      <p:grpSp>
        <p:nvGrpSpPr>
          <p:cNvPr id="26" name="c1-kv-2"/>
          <p:cNvGrpSpPr/>
          <p:nvPr/>
        </p:nvGrpSpPr>
        <p:grpSpPr>
          <a:xfrm>
            <a:off x="526161" y="3305651"/>
            <a:ext cx="4767834" cy="1503617"/>
            <a:chOff x="526161" y="3305651"/>
            <a:chExt cx="4767834" cy="1503617"/>
          </a:xfrm>
        </p:grpSpPr>
        <p:sp>
          <p:nvSpPr>
            <p:cNvPr id="21" name="TextBox 21"/>
            <p:cNvSpPr txBox="1"/>
            <p:nvPr/>
          </p:nvSpPr>
          <p:spPr>
            <a:xfrm>
              <a:off x="526161" y="330565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预测失败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25334" y="3305651"/>
              <a:ext cx="3513074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照常取 PC + 4 处的指令往下做；分支真的成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功了，就把已取进来的指令作废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87858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6161" y="399526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预测成功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25334" y="3995261"/>
              <a:ext cx="3522091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一算出目标地址就从目标处取指。5 段流水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线在 ID 段同时得到目标地址和分支条件，预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测成功得不到好处</a:t>
              </a:r>
            </a:p>
          </p:txBody>
        </p:sp>
      </p:grpSp>
      <p:grpSp>
        <p:nvGrpSpPr>
          <p:cNvPr id="33" name="c1-callout-3"/>
          <p:cNvGrpSpPr/>
          <p:nvPr/>
        </p:nvGrpSpPr>
        <p:grpSpPr>
          <a:xfrm>
            <a:off x="533400" y="4938712"/>
            <a:ext cx="4760595" cy="1331595"/>
            <a:chOff x="533400" y="4938712"/>
            <a:chExt cx="4760595" cy="1331595"/>
          </a:xfrm>
        </p:grpSpPr>
        <p:sp>
          <p:nvSpPr>
            <p:cNvPr id="27" name="Rectangle 27"/>
            <p:cNvSpPr/>
            <p:nvPr/>
          </p:nvSpPr>
          <p:spPr>
            <a:xfrm>
              <a:off x="533400" y="4938712"/>
              <a:ext cx="4760595" cy="1331595"/>
            </a:xfrm>
            <a:prstGeom prst="roundRect">
              <a:avLst>
                <a:gd name="adj" fmla="val 85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26129" y="5500806"/>
              <a:ext cx="224134" cy="192560"/>
              <a:chOff x="726129" y="5500806"/>
              <a:chExt cx="224134" cy="19256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38200" y="55711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6129" y="55008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56489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511" y="5242084"/>
              <a:ext cx="380161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这几种方法的处理方式在程序执行过程中始终不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变：要么总是预测成功，要么总是预测失败，跟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分支实际表现如何无关。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5598795" y="1524000"/>
            <a:ext cx="6059805" cy="3048952"/>
            <a:chOff x="5598795" y="1524000"/>
            <a:chExt cx="6059805" cy="3048952"/>
          </a:xfrm>
        </p:grpSpPr>
        <p:sp>
          <p:nvSpPr>
            <p:cNvPr id="34" name="Rectangle 34"/>
            <p:cNvSpPr/>
            <p:nvPr/>
          </p:nvSpPr>
          <p:spPr>
            <a:xfrm>
              <a:off x="5598795" y="1524000"/>
              <a:ext cx="6059805" cy="3048952"/>
            </a:xfrm>
            <a:prstGeom prst="roundRect">
              <a:avLst>
                <a:gd name="adj" fmla="val 43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608320" y="1657350"/>
              <a:ext cx="47625" cy="278225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40730" y="172783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897436" y="176355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基于延迟槽的指令调度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5841682" y="208883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00027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31624" y="2100739"/>
              <a:ext cx="491070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编译器每遇到一条分支指令，就在它后面连续生成 k 个空指令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位，称为延迟槽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841682" y="2680335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00027" y="27197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31624" y="2692241"/>
              <a:ext cx="505498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按调度规则把分支附近的指令放进延迟槽；填不满的位置用 nop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（气泡）补上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841682" y="3271838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00027" y="331122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131624" y="3283744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无论分支成功与否，延迟槽里的指令都按顺序执行，掩盖了原本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要插入的暂停周期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5841682" y="386334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00027" y="390272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131624" y="3875246"/>
              <a:ext cx="500989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执行延迟槽指令期间，分支后继指令的 PC 已经算好，槽里的指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令一进入流水线，下一条正确的指令马上就能进入</a:t>
              </a:r>
            </a:p>
          </p:txBody>
        </p:sp>
      </p:grpSp>
      <p:grpSp>
        <p:nvGrpSpPr>
          <p:cNvPr id="92" name="c2-cells-2"/>
          <p:cNvGrpSpPr/>
          <p:nvPr/>
        </p:nvGrpSpPr>
        <p:grpSpPr>
          <a:xfrm>
            <a:off x="5593461" y="4758690"/>
            <a:ext cx="6065139" cy="1546384"/>
            <a:chOff x="5593461" y="4758690"/>
            <a:chExt cx="6065139" cy="1546384"/>
          </a:xfrm>
        </p:grpSpPr>
        <p:sp>
          <p:nvSpPr>
            <p:cNvPr id="51" name="TextBox 51"/>
            <p:cNvSpPr txBox="1"/>
            <p:nvPr/>
          </p:nvSpPr>
          <p:spPr>
            <a:xfrm>
              <a:off x="5593461" y="48968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分支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342698" y="4758690"/>
              <a:ext cx="885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13628" y="4896802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228522" y="4758690"/>
              <a:ext cx="885825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599453" y="4896802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115300" y="4758690"/>
              <a:ext cx="885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66628" y="489680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001125" y="4758690"/>
              <a:ext cx="885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277963" y="4896802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886950" y="4758690"/>
              <a:ext cx="885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222596" y="489680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0772775" y="4758690"/>
              <a:ext cx="88582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593461" y="535876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延迟槽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342698" y="5220652"/>
              <a:ext cx="88582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228522" y="5220652"/>
              <a:ext cx="885825" cy="406718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599453" y="5358765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115300" y="5220652"/>
              <a:ext cx="885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486230" y="5358765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001125" y="5220652"/>
              <a:ext cx="885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352453" y="53587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886950" y="5220652"/>
              <a:ext cx="885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163788" y="5358765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0772775" y="5220652"/>
              <a:ext cx="885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108421" y="535876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593461" y="5820728"/>
              <a:ext cx="6577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目标/后继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342698" y="5682615"/>
              <a:ext cx="88582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7228522" y="5682615"/>
              <a:ext cx="88582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8115300" y="5682615"/>
              <a:ext cx="885825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486230" y="5820728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9001125" y="5682615"/>
              <a:ext cx="885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372055" y="5820728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9886950" y="5682615"/>
              <a:ext cx="885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238278" y="58207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0772775" y="5682615"/>
              <a:ext cx="885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1049613" y="5820728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750491" y="6143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636316" y="6143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523093" y="6143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408918" y="6143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294743" y="6143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180568" y="6143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指令级并行的概念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延迟槽的三种调度：从前、从目标处、从失败处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11125200" cy="3143250"/>
            <a:chOff x="533400" y="1524000"/>
            <a:chExt cx="11125200" cy="3143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7948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75965" y="16587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调度前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46775" y="16587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调度后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76235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编号关系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58337" y="165877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前提与适用场合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42925" y="2002155"/>
              <a:ext cx="1426845" cy="70294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7604" y="2128361"/>
              <a:ext cx="109651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从前调度（最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佳）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83498" y="2128361"/>
              <a:ext cx="2070354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DADD R1,R2,R3 → if R2=0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then [槽]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64798" y="2128361"/>
              <a:ext cx="1619504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R2=0 then [DADD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R1,R2,R3]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24166" y="2128361"/>
              <a:ext cx="1502283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槽 i+1 = 指令 t，t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14878" y="2128361"/>
              <a:ext cx="199821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被移的指令与分支条件无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关；总能带来好处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08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715578"/>
              <a:ext cx="11125200" cy="97536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04" y="310372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从目标处调度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83498" y="2850356"/>
              <a:ext cx="2079371" cy="7854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DSUB R4,R5,R6（目标）…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DADD R1,R2,R3 → if R1=0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then [槽]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64798" y="2850356"/>
              <a:ext cx="2223643" cy="7854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R1=0 then [DSUB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R4,R5,R6 的复制品]，目标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改到 DSUB 之后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24166" y="2977039"/>
              <a:ext cx="1412113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槽 i+1 = 指令 j，j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j+1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14878" y="2850356"/>
              <a:ext cx="1998218" cy="7854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永远猜分支成功，猜错丢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弃槽内结果；适合成功概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率高的分支（循环回跳）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6861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7604" y="407908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从失败处调度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83498" y="3952399"/>
              <a:ext cx="2295779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DADD R1,R2,R3 → if R1=0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then [槽] → DSUB R4,R5,R6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864798" y="3952399"/>
              <a:ext cx="1619504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R1=0 then [DSUB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R4,R5,R6]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24166" y="3952399"/>
              <a:ext cx="1556385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槽 i+1 = 指令 i+2，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t+1（t &gt; i+1）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14878" y="3825716"/>
              <a:ext cx="1998218" cy="7854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永远猜分支失败，猜错丢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弃槽内结果；适合失败概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率高的分支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11125200" cy="3143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974532" y="1524000"/>
              <a:ext cx="9525" cy="3143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755832" y="1524000"/>
              <a:ext cx="9525" cy="3143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315200" y="1524000"/>
              <a:ext cx="9525" cy="3143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205912" y="1524000"/>
              <a:ext cx="9525" cy="3143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1-compare-2"/>
          <p:cNvGrpSpPr/>
          <p:nvPr/>
        </p:nvGrpSpPr>
        <p:grpSpPr>
          <a:xfrm>
            <a:off x="533400" y="4852035"/>
            <a:ext cx="11125200" cy="1510665"/>
            <a:chOff x="533400" y="4852035"/>
            <a:chExt cx="11125200" cy="1510665"/>
          </a:xfrm>
        </p:grpSpPr>
        <p:sp>
          <p:nvSpPr>
            <p:cNvPr id="38" name="Rectangle 38"/>
            <p:cNvSpPr/>
            <p:nvPr/>
          </p:nvSpPr>
          <p:spPr>
            <a:xfrm>
              <a:off x="533400" y="4852035"/>
              <a:ext cx="5353050" cy="1510665"/>
            </a:xfrm>
            <a:prstGeom prst="roundRect">
              <a:avLst>
                <a:gd name="adj" fmla="val 88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4985385"/>
              <a:ext cx="47625" cy="12439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8096" y="507920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为什么后两种不从前调度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82955" y="5477827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39546" y="5418296"/>
              <a:ext cx="35000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例子里 DADD 写 R1，分支正要用 R1 判断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2955" y="5797867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39546" y="5738336"/>
              <a:ext cx="39819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DADD 挪到分支之后，分支就读不到新 R1 了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305550" y="4852035"/>
              <a:ext cx="5353050" cy="1510665"/>
            </a:xfrm>
            <a:prstGeom prst="roundRect">
              <a:avLst>
                <a:gd name="adj" fmla="val 88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315075" y="4985385"/>
              <a:ext cx="47625" cy="124396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40246" y="507920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延迟分支的收益取决于编译器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555105" y="5477827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11696" y="541829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能不能找到有用的指令放进槽里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555105" y="5797867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11696" y="5738336"/>
              <a:ext cx="36369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放不进去就只能填 nop，一个周期白白浪费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5934075" y="544544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04415" y="554259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指令级并行的概念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分支取消：按编译时的预测填槽，猜错就取消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627497" cy="2347246"/>
            <a:chOff x="533400" y="1533525"/>
            <a:chExt cx="5627497" cy="234724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5214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对每个分支给出成功或失败的预测；预测成功就把目标地址处的指令放进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延迟槽，预测失败就把后继地址处的指令放进延迟槽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4536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执行时猜对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746534"/>
              <a:ext cx="46303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延迟槽指令的执行有效，下一条指令的 PC 按延迟槽指令更新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310419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执行时猜错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397091"/>
              <a:ext cx="50766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延迟槽指令的执行被取消，下一条指令的 PC 按分支指令在 ID 段算出的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地址更新</a:t>
              </a:r>
            </a:p>
          </p:txBody>
        </p:sp>
      </p:grpSp>
      <p:grpSp>
        <p:nvGrpSpPr>
          <p:cNvPr id="24" name="c1-code-2"/>
          <p:cNvGrpSpPr/>
          <p:nvPr/>
        </p:nvGrpSpPr>
        <p:grpSpPr>
          <a:xfrm>
            <a:off x="533400" y="4060508"/>
            <a:ext cx="5842635" cy="1719262"/>
            <a:chOff x="533400" y="4060508"/>
            <a:chExt cx="5842635" cy="1719262"/>
          </a:xfrm>
        </p:grpSpPr>
        <p:sp>
          <p:nvSpPr>
            <p:cNvPr id="21" name="Rectangle 21"/>
            <p:cNvSpPr/>
            <p:nvPr/>
          </p:nvSpPr>
          <p:spPr>
            <a:xfrm>
              <a:off x="533400" y="4060508"/>
              <a:ext cx="5842635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1797" y="4212431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例：循环末尾的回跳预测成功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1035" y="4474369"/>
              <a:ext cx="3638550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Loop: LD   F0,0(R1)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L2:   ...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BNEZ R1,L2       # 预测成功，目标改为 L2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LD   F0,0(R1)    # 槽：Loop 处指令的复制品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# 回跳时：槽里的 LD 有效，省掉一个停顿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# 最后一次不跳：槽里的 LD 被取消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680835" y="1524000"/>
            <a:ext cx="4977765" cy="1781175"/>
            <a:chOff x="6680835" y="1524000"/>
            <a:chExt cx="4977765" cy="1781175"/>
          </a:xfrm>
        </p:grpSpPr>
        <p:sp>
          <p:nvSpPr>
            <p:cNvPr id="25" name="Rectangle 25"/>
            <p:cNvSpPr/>
            <p:nvPr/>
          </p:nvSpPr>
          <p:spPr>
            <a:xfrm>
              <a:off x="6680835" y="1524000"/>
              <a:ext cx="4977765" cy="1781175"/>
            </a:xfrm>
            <a:prstGeom prst="roundRect">
              <a:avLst>
                <a:gd name="adj" fmla="val 74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90360" y="1657350"/>
              <a:ext cx="47625" cy="15144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20865" y="1758315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分支取消把延迟槽的调度条件统一了：放进槽的指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令只要求在预测路径上，猜错时硬件自动作废，编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译器不必再检查它在另一条路径上执行是否无害。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22008" y="2661761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同时支持对分支成功的预测和对分支失败的预测，便于编译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器调度。</a:t>
              </a:r>
            </a:p>
          </p:txBody>
        </p:sp>
      </p:grpSp>
      <p:grpSp>
        <p:nvGrpSpPr>
          <p:cNvPr id="45" name="c2-table-2"/>
          <p:cNvGrpSpPr/>
          <p:nvPr/>
        </p:nvGrpSpPr>
        <p:grpSpPr>
          <a:xfrm>
            <a:off x="6680835" y="3495675"/>
            <a:ext cx="4977765" cy="1573530"/>
            <a:chOff x="6680835" y="3495675"/>
            <a:chExt cx="4977765" cy="1573530"/>
          </a:xfrm>
        </p:grpSpPr>
        <p:sp>
          <p:nvSpPr>
            <p:cNvPr id="30" name="Rectangle 30"/>
            <p:cNvSpPr/>
            <p:nvPr/>
          </p:nvSpPr>
          <p:spPr>
            <a:xfrm>
              <a:off x="6680835" y="3495675"/>
              <a:ext cx="497776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48804" y="363045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33396" y="363045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槽里放什么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47833" y="363045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猜错时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88658" y="41933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普通延迟槽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82178" y="4080034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必须执行也无害的指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073830" y="419338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结果照常保留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80835" y="46148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680835" y="461962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88658" y="47553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分支取消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82178" y="475535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预测路径上的指令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73830" y="475535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硬件取消执行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680835" y="3495675"/>
              <a:ext cx="4977765" cy="1573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169592" y="3495675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961245" y="3495675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callout-3"/>
          <p:cNvGrpSpPr/>
          <p:nvPr/>
        </p:nvGrpSpPr>
        <p:grpSpPr>
          <a:xfrm>
            <a:off x="6680835" y="5258752"/>
            <a:ext cx="4977765" cy="1059180"/>
            <a:chOff x="6680835" y="5258752"/>
            <a:chExt cx="4977765" cy="1059180"/>
          </a:xfrm>
        </p:grpSpPr>
        <p:sp>
          <p:nvSpPr>
            <p:cNvPr id="46" name="Rectangle 46"/>
            <p:cNvSpPr/>
            <p:nvPr/>
          </p:nvSpPr>
          <p:spPr>
            <a:xfrm>
              <a:off x="6680835" y="5258752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885623" y="5688330"/>
              <a:ext cx="200026" cy="200026"/>
              <a:chOff x="6885623" y="5688330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885623" y="56883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985635" y="57550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974523" y="578834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187565" y="5407342"/>
              <a:ext cx="40919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的 BEQL 等“likely 分支”就是这种做法：编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译时按预测成功填槽，分支不成功时作废延迟槽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里的指令。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580638" cy="3351847"/>
            <a:chOff x="667512" y="1835468"/>
            <a:chExt cx="358063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指令的动态调度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让无辜的指令绕过受阻的指令先执行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74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2 部分：指令的动态调度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动态调度的基本思想与精确异常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记分牌算法与例题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9705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Tomasulo 算法与例题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静态调度与动态调度：谁来把相关的指令拉开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5410200" cy="2989898"/>
            <a:chOff x="533400" y="1524000"/>
            <a:chExt cx="5410200" cy="29898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495550" cy="2989898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72319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8096" y="17511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静态调度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2955" y="21497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9546" y="2090261"/>
              <a:ext cx="16375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编译器找出存在相关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的指令，调整顺序并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优化代码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301275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953226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在编译期间完成，把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相关的指令拉开距离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360426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3544729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优化通常面向特定体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系结构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48050" y="1524000"/>
              <a:ext cx="2495550" cy="2989898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457575" y="1657350"/>
              <a:ext cx="47625" cy="272319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82746" y="17511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动态调度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697605" y="21497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54196" y="2090261"/>
              <a:ext cx="16375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硬件在运行时重新安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排相关指令的执行顺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697605" y="301275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54196" y="2953226"/>
              <a:ext cx="16375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能处理编译时情况不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明的相关，如存储器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697605" y="3875723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54196" y="3816191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以更复杂的硬件减轻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编译器负担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076575" y="285654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146915" y="295370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94" name="c1-cells-2"/>
          <p:cNvGrpSpPr/>
          <p:nvPr/>
        </p:nvGrpSpPr>
        <p:grpSpPr>
          <a:xfrm>
            <a:off x="528447" y="4698682"/>
            <a:ext cx="5415153" cy="1611154"/>
            <a:chOff x="528447" y="4698682"/>
            <a:chExt cx="5415153" cy="1611154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4795361"/>
              <a:ext cx="3758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DIV.D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314450" y="4698682"/>
              <a:ext cx="579120" cy="314325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467129" y="47953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892618" y="4698682"/>
              <a:ext cx="579120" cy="314325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045297" y="47953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471738" y="4698682"/>
              <a:ext cx="579120" cy="314325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624417" y="47953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049905" y="4698682"/>
              <a:ext cx="579120" cy="314325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202584" y="47953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629025" y="4698682"/>
              <a:ext cx="579120" cy="314325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781704" y="47953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207192" y="4698682"/>
              <a:ext cx="579120" cy="314325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359872" y="47953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写回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786312" y="4698682"/>
              <a:ext cx="579120" cy="3143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64480" y="4698682"/>
              <a:ext cx="579120" cy="3143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8447" y="5155406"/>
              <a:ext cx="4124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SUB.D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314450" y="5059680"/>
              <a:ext cx="579120" cy="3143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892618" y="5059680"/>
              <a:ext cx="579120" cy="31432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111261" y="515540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471738" y="5059680"/>
              <a:ext cx="579120" cy="31432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690381" y="515540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049905" y="5059680"/>
              <a:ext cx="579120" cy="31432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268548" y="515540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629025" y="5059680"/>
              <a:ext cx="579120" cy="31432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847668" y="515540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207192" y="5059680"/>
              <a:ext cx="579120" cy="31432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425836" y="515540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786312" y="5059680"/>
              <a:ext cx="579120" cy="314325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938992" y="515540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64480" y="5059680"/>
              <a:ext cx="579120" cy="314325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517159" y="515540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28447" y="5516404"/>
              <a:ext cx="7201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ADD.D 按序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314450" y="5419725"/>
              <a:ext cx="579120" cy="3143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892618" y="5419725"/>
              <a:ext cx="579120" cy="3143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2471738" y="5419725"/>
              <a:ext cx="579120" cy="31432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690381" y="551640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049905" y="5419725"/>
              <a:ext cx="579120" cy="31432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268548" y="551640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3629025" y="5419725"/>
              <a:ext cx="579120" cy="31432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847668" y="551640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4207192" y="5419725"/>
              <a:ext cx="579120" cy="31432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425836" y="551640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786312" y="5419725"/>
              <a:ext cx="579120" cy="31432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004956" y="551640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364480" y="5419725"/>
              <a:ext cx="579120" cy="31432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517159" y="551640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28447" y="5876449"/>
              <a:ext cx="7201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ADD.D 乱序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1314450" y="5779770"/>
              <a:ext cx="579120" cy="3143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1892618" y="5779770"/>
              <a:ext cx="579120" cy="3143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2471738" y="5779770"/>
              <a:ext cx="579120" cy="31432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624417" y="58764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3049905" y="5779770"/>
              <a:ext cx="579120" cy="31432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3202584" y="58764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3629025" y="5779770"/>
              <a:ext cx="579120" cy="31432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3781704" y="58764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写回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4207192" y="5779770"/>
              <a:ext cx="579120" cy="3143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4786312" y="5779770"/>
              <a:ext cx="579120" cy="3143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5364480" y="5779770"/>
              <a:ext cx="579120" cy="31432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568891" y="614791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2147058" y="614791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726178" y="614791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3304346" y="614791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883466" y="614791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4461633" y="614791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5040753" y="614791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618921" y="614791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99" name="c2-code-1"/>
          <p:cNvGrpSpPr/>
          <p:nvPr/>
        </p:nvGrpSpPr>
        <p:grpSpPr>
          <a:xfrm>
            <a:off x="6248400" y="1524000"/>
            <a:ext cx="5410200" cy="1110615"/>
            <a:chOff x="6248400" y="1524000"/>
            <a:chExt cx="5410200" cy="1110615"/>
          </a:xfrm>
        </p:grpSpPr>
        <p:sp>
          <p:nvSpPr>
            <p:cNvPr id="95" name="Rectangle 95"/>
            <p:cNvSpPr/>
            <p:nvPr/>
          </p:nvSpPr>
          <p:spPr>
            <a:xfrm>
              <a:off x="6248400" y="1524000"/>
              <a:ext cx="5410200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376797" y="1675924"/>
              <a:ext cx="14678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基本 MIPS 流水线的局限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6267450" y="2301240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376035" y="1937861"/>
              <a:ext cx="3169158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DIV.D F4,F0,F2    # 指令 i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SUB.D F10,F4,F6   # 指令 i+1，等 F4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ADD.D F12,F6,F14  # 指令 i+2，与前两条无关</a:t>
              </a:r>
            </a:p>
          </p:txBody>
        </p:sp>
      </p:grpSp>
      <p:grpSp>
        <p:nvGrpSpPr>
          <p:cNvPr id="101" name="c2-text-2"/>
          <p:cNvGrpSpPr/>
          <p:nvPr/>
        </p:nvGrpSpPr>
        <p:grpSpPr>
          <a:xfrm>
            <a:off x="6242304" y="2839402"/>
            <a:ext cx="5193792" cy="470916"/>
            <a:chOff x="6242304" y="2839402"/>
            <a:chExt cx="5193792" cy="470916"/>
          </a:xfrm>
        </p:grpSpPr>
        <p:sp>
          <p:nvSpPr>
            <p:cNvPr id="100" name="TextBox 100"/>
            <p:cNvSpPr txBox="1"/>
            <p:nvPr/>
          </p:nvSpPr>
          <p:spPr>
            <a:xfrm>
              <a:off x="6242304" y="2839402"/>
              <a:ext cx="519379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指令必须按序流出和执行。i+1 与 i 关于 F4 相关，流水线停顿；i+2 与前两条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都无关，也因 i+1 而无辜受阻。</a:t>
              </a:r>
            </a:p>
          </p:txBody>
        </p:sp>
      </p:grpSp>
      <p:grpSp>
        <p:nvGrpSpPr>
          <p:cNvPr id="107" name="c2-callout-3"/>
          <p:cNvGrpSpPr/>
          <p:nvPr/>
        </p:nvGrpSpPr>
        <p:grpSpPr>
          <a:xfrm>
            <a:off x="6248400" y="3449002"/>
            <a:ext cx="5410200" cy="756285"/>
            <a:chOff x="6248400" y="3449002"/>
            <a:chExt cx="5410200" cy="756285"/>
          </a:xfrm>
        </p:grpSpPr>
        <p:sp>
          <p:nvSpPr>
            <p:cNvPr id="102" name="Rectangle 102"/>
            <p:cNvSpPr/>
            <p:nvPr/>
          </p:nvSpPr>
          <p:spPr>
            <a:xfrm>
              <a:off x="6248400" y="344900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6453188" y="3727135"/>
              <a:ext cx="200023" cy="200023"/>
              <a:chOff x="6453188" y="3727135"/>
              <a:chExt cx="200023" cy="200023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6453188" y="37271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6586538" y="37938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6" name="TextBox 106"/>
            <p:cNvSpPr txBox="1"/>
            <p:nvPr/>
          </p:nvSpPr>
          <p:spPr>
            <a:xfrm>
              <a:off x="6755511" y="3596164"/>
              <a:ext cx="422541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解决办法：允许乱序执行、乱序完成，让 ADD.D 先执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行。</a:t>
              </a:r>
            </a:p>
          </p:txBody>
        </p:sp>
      </p:grpSp>
      <p:grpSp>
        <p:nvGrpSpPr>
          <p:cNvPr id="122" name="c2-table-4"/>
          <p:cNvGrpSpPr/>
          <p:nvPr/>
        </p:nvGrpSpPr>
        <p:grpSpPr>
          <a:xfrm>
            <a:off x="6248400" y="4390072"/>
            <a:ext cx="5410200" cy="1933575"/>
            <a:chOff x="6248400" y="4390072"/>
            <a:chExt cx="5410200" cy="1933575"/>
          </a:xfrm>
        </p:grpSpPr>
        <p:sp>
          <p:nvSpPr>
            <p:cNvPr id="108" name="Rectangle 108"/>
            <p:cNvSpPr/>
            <p:nvPr/>
          </p:nvSpPr>
          <p:spPr>
            <a:xfrm>
              <a:off x="6248400" y="4390072"/>
              <a:ext cx="541020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948678" y="452151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乱序带来的新问题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9734550" y="452151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本部分怎么解决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6353747" y="4952048"/>
              <a:ext cx="1582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乱序后 RAW 怎么保证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9058846" y="4952048"/>
              <a:ext cx="1628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拆出 RO 段查数据冲突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6248400" y="52463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6248400" y="5250180"/>
              <a:ext cx="5410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6353747" y="5488305"/>
              <a:ext cx="1572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WAR、WAW 冲突出现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9058846" y="5381625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等待（记分牌）或换名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（Tomasulo）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6248400" y="58893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6353747" y="602551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不精确异常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058846" y="6025515"/>
              <a:ext cx="18842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第三部分的 ROB 按序确认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6248400" y="4390072"/>
              <a:ext cx="5410200" cy="1933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8948738" y="4390072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2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3" name="TextBox 123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5499" cy="909257"/>
            <a:chOff x="520446" y="342900"/>
            <a:chExt cx="75754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54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ID 段拆成 IS 和 RO：按序流出，乱序读数执行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flow-1"/>
          <p:cNvGrpSpPr/>
          <p:nvPr/>
        </p:nvGrpSpPr>
        <p:grpSpPr>
          <a:xfrm>
            <a:off x="666750" y="1811655"/>
            <a:ext cx="5359717" cy="2885122"/>
            <a:chOff x="666750" y="1811655"/>
            <a:chExt cx="5359717" cy="2885122"/>
          </a:xfrm>
        </p:grpSpPr>
        <p:sp>
          <p:nvSpPr>
            <p:cNvPr id="7" name="Freeform 7"/>
            <p:cNvSpPr/>
            <p:nvPr/>
          </p:nvSpPr>
          <p:spPr>
            <a:xfrm>
              <a:off x="2275522" y="24765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437448" y="24241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150995" y="24765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312920" y="24241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222558" y="2790825"/>
              <a:ext cx="9525" cy="1171575"/>
            </a:xfrm>
            <a:custGeom>
              <a:avLst/>
              <a:gdLst/>
              <a:ahLst/>
              <a:cxnLst/>
              <a:rect l="l" t="t" r="r" b="b"/>
              <a:pathLst>
                <a:path w="9525" h="1171575">
                  <a:moveTo>
                    <a:pt x="0" y="0"/>
                  </a:moveTo>
                  <a:lnTo>
                    <a:pt x="0" y="11715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170170" y="39624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255770" y="43815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50995" y="43291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66750" y="2257425"/>
              <a:ext cx="16087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542222" y="2052638"/>
              <a:ext cx="1608772" cy="847725"/>
            </a:xfrm>
            <a:prstGeom prst="roundRect">
              <a:avLst>
                <a:gd name="adj" fmla="val 11236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417695" y="2162175"/>
              <a:ext cx="1608772" cy="629602"/>
            </a:xfrm>
            <a:prstGeom prst="roundRect">
              <a:avLst>
                <a:gd name="adj" fmla="val 1512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417695" y="4067175"/>
              <a:ext cx="16087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542222" y="4162425"/>
              <a:ext cx="16087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20508" y="23874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指令队列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71648" y="2169319"/>
              <a:ext cx="1150874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 流出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译码、查结构冲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60912" y="2277904"/>
              <a:ext cx="92329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 读操作数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查数据冲突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28400" y="4182904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多个功能部件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82138" y="429244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写结果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227898" y="1811655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262188" y="18383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103370" y="1811655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137660" y="18383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251132" y="333660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74374" y="33632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乱序</a:t>
              </a:r>
            </a:p>
          </p:txBody>
        </p:sp>
      </p:grpSp>
      <p:grpSp>
        <p:nvGrpSpPr>
          <p:cNvPr id="33" name="c1-text-2"/>
          <p:cNvGrpSpPr/>
          <p:nvPr/>
        </p:nvGrpSpPr>
        <p:grpSpPr>
          <a:xfrm>
            <a:off x="526923" y="5545931"/>
            <a:ext cx="4285681" cy="249364"/>
            <a:chOff x="526923" y="5545931"/>
            <a:chExt cx="4285681" cy="249364"/>
          </a:xfrm>
        </p:grpSpPr>
        <p:sp>
          <p:nvSpPr>
            <p:cNvPr id="32" name="TextBox 32"/>
            <p:cNvSpPr txBox="1"/>
            <p:nvPr/>
          </p:nvSpPr>
          <p:spPr>
            <a:xfrm>
              <a:off x="526923" y="5545931"/>
              <a:ext cx="42856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假设流水线有多个功能部件，多条指令可以同处 EX 段。</a:t>
              </a:r>
            </a:p>
          </p:txBody>
        </p:sp>
      </p:grpSp>
      <p:grpSp>
        <p:nvGrpSpPr>
          <p:cNvPr id="39" name="c2-kv-1"/>
          <p:cNvGrpSpPr/>
          <p:nvPr/>
        </p:nvGrpSpPr>
        <p:grpSpPr>
          <a:xfrm>
            <a:off x="6456998" y="1548765"/>
            <a:ext cx="5201602" cy="1579245"/>
            <a:chOff x="6456998" y="1548765"/>
            <a:chExt cx="5201602" cy="1579245"/>
          </a:xfrm>
        </p:grpSpPr>
        <p:sp>
          <p:nvSpPr>
            <p:cNvPr id="34" name="TextBox 34"/>
            <p:cNvSpPr txBox="1"/>
            <p:nvPr/>
          </p:nvSpPr>
          <p:spPr>
            <a:xfrm>
              <a:off x="6456998" y="1548765"/>
              <a:ext cx="4748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IS 段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37095" y="1548765"/>
              <a:ext cx="41109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指令流出（Issue）。译码并检测结构冲突，没有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结构冲突就允许流出。指令按序从 IS 进入 RO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21507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56998" y="2270760"/>
              <a:ext cx="575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RO 段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37095" y="2270760"/>
              <a:ext cx="403479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读操作数（Read Operands）。检测数据冲突，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有冲突就等冲突消失再读操作数，然后送入 EX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段。指令乱序从 RO 进入 EX</a:t>
              </a:r>
            </a:p>
          </p:txBody>
        </p:sp>
      </p:grpSp>
      <p:grpSp>
        <p:nvGrpSpPr>
          <p:cNvPr id="61" name="c2-table-2"/>
          <p:cNvGrpSpPr/>
          <p:nvPr/>
        </p:nvGrpSpPr>
        <p:grpSpPr>
          <a:xfrm>
            <a:off x="6458902" y="3259455"/>
            <a:ext cx="5199698" cy="2091214"/>
            <a:chOff x="6458902" y="3259455"/>
            <a:chExt cx="5199698" cy="2091214"/>
          </a:xfrm>
        </p:grpSpPr>
        <p:sp>
          <p:nvSpPr>
            <p:cNvPr id="40" name="Rectangle 40"/>
            <p:cNvSpPr/>
            <p:nvPr/>
          </p:nvSpPr>
          <p:spPr>
            <a:xfrm>
              <a:off x="6464618" y="3259455"/>
              <a:ext cx="5193982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68794" y="33951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03318" y="3395186"/>
              <a:ext cx="4051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 IS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73852" y="3395186"/>
              <a:ext cx="4911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 RO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72441" y="3843814"/>
              <a:ext cx="7585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DIV.D F4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38376" y="384381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89020" y="384381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拍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415194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64618" y="4156710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72441" y="4292441"/>
              <a:ext cx="9114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SUB.D F10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38376" y="4292441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89020" y="4292441"/>
              <a:ext cx="11840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 F4 写回才读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64618" y="46015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72441" y="4741069"/>
              <a:ext cx="9114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ADD.D F12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38376" y="4741069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拍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590722" y="4615815"/>
              <a:ext cx="205835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689020" y="4741069"/>
              <a:ext cx="18269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拍，先于 SUB 执行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64618" y="3259455"/>
              <a:ext cx="5193982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225790" y="325945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576435" y="325945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58902" y="5130641"/>
              <a:ext cx="2258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上页三条指令经过 IS、RO 的情形</a:t>
              </a:r>
            </a:p>
          </p:txBody>
        </p:sp>
      </p:grpSp>
      <p:grpSp>
        <p:nvGrpSpPr>
          <p:cNvPr id="68" name="c2-callout-3"/>
          <p:cNvGrpSpPr/>
          <p:nvPr/>
        </p:nvGrpSpPr>
        <p:grpSpPr>
          <a:xfrm>
            <a:off x="6464618" y="5496878"/>
            <a:ext cx="5193982" cy="782955"/>
            <a:chOff x="6464618" y="5496878"/>
            <a:chExt cx="5193982" cy="782955"/>
          </a:xfrm>
        </p:grpSpPr>
        <p:sp>
          <p:nvSpPr>
            <p:cNvPr id="62" name="Rectangle 62"/>
            <p:cNvSpPr/>
            <p:nvPr/>
          </p:nvSpPr>
          <p:spPr>
            <a:xfrm>
              <a:off x="6464618" y="5496878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657347" y="5784651"/>
              <a:ext cx="224134" cy="192560"/>
              <a:chOff x="6657347" y="5784651"/>
              <a:chExt cx="224134" cy="19256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769418" y="585501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657347" y="578465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769418" y="593280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971348" y="5645468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这样无辜的指令 i+2 可以先执行了。新问题是乱序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执行之后，怎样保证数据相关的正确性。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48623" cy="909257"/>
            <a:chOff x="520446" y="342900"/>
            <a:chExt cx="89486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486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乱序执行让 WAR、WAW 冲突出现，寄存器换名把它们消掉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193982" cy="1110615"/>
            <a:chOff x="533400" y="1524000"/>
            <a:chExt cx="5193982" cy="11106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乱序后的新冲突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408174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DIV.D F10,F0,F2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SUB.D F10,F4,F6   # 与 DIV：WAW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ADD.D F6,F8,F14   # 与 SUB：WAR</a:t>
              </a:r>
            </a:p>
          </p:txBody>
        </p:sp>
      </p:grpSp>
      <p:grpSp>
        <p:nvGrpSpPr>
          <p:cNvPr id="12" name="c1-text-2"/>
          <p:cNvGrpSpPr/>
          <p:nvPr/>
        </p:nvGrpSpPr>
        <p:grpSpPr>
          <a:xfrm>
            <a:off x="526923" y="2846546"/>
            <a:ext cx="4995418" cy="752284"/>
            <a:chOff x="526923" y="2846546"/>
            <a:chExt cx="4995418" cy="752284"/>
          </a:xfrm>
        </p:grpSpPr>
        <p:sp>
          <p:nvSpPr>
            <p:cNvPr id="11" name="TextBox 11"/>
            <p:cNvSpPr txBox="1"/>
            <p:nvPr/>
          </p:nvSpPr>
          <p:spPr>
            <a:xfrm>
              <a:off x="526923" y="2846546"/>
              <a:ext cx="4995418" cy="7522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经典 5 段流水线按序执行，不会发生 WAR、WAW 冲突。乱序后，如果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 早于 DIV 完成，F10 最终留下 DIV 的旧结果，后面用 F10 的程序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就取错了；如果 ADD 先写 F6，SUB 就读到了新值。</a:t>
              </a:r>
            </a:p>
          </p:txBody>
        </p:sp>
      </p:grpSp>
      <p:grpSp>
        <p:nvGrpSpPr>
          <p:cNvPr id="18" name="c1-callout-3"/>
          <p:cNvGrpSpPr/>
          <p:nvPr/>
        </p:nvGrpSpPr>
        <p:grpSpPr>
          <a:xfrm>
            <a:off x="533400" y="3737610"/>
            <a:ext cx="5193982" cy="1368742"/>
            <a:chOff x="533400" y="3737610"/>
            <a:chExt cx="5193982" cy="1368742"/>
          </a:xfrm>
        </p:grpSpPr>
        <p:sp>
          <p:nvSpPr>
            <p:cNvPr id="13" name="Rectangle 13"/>
            <p:cNvSpPr/>
            <p:nvPr/>
          </p:nvSpPr>
          <p:spPr>
            <a:xfrm>
              <a:off x="533400" y="3737610"/>
              <a:ext cx="5193982" cy="1368742"/>
            </a:xfrm>
            <a:prstGeom prst="roundRect">
              <a:avLst>
                <a:gd name="adj" fmla="val 8351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4322447"/>
              <a:ext cx="200023" cy="200023"/>
              <a:chOff x="738188" y="4322447"/>
              <a:chExt cx="200023" cy="20002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3224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71538" y="43891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130" y="4179570"/>
              <a:ext cx="42443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WAR、WAW 都是名相关，只要换一个名字就不再冲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突。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6032182" y="1524000"/>
            <a:ext cx="5626418" cy="2692718"/>
            <a:chOff x="6032182" y="1524000"/>
            <a:chExt cx="5626418" cy="2692718"/>
          </a:xfrm>
        </p:grpSpPr>
        <p:sp>
          <p:nvSpPr>
            <p:cNvPr id="19" name="Rectangle 19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7974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原代码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4951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换名后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3589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40006" y="2108359"/>
              <a:ext cx="13893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DIV.D F0,F2,F4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65020" y="2108359"/>
              <a:ext cx="13238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DIV.D F0,F2,F4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32182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32182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40006" y="2556986"/>
              <a:ext cx="14371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ADD.D F6,F0,F8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066722" y="2430780"/>
              <a:ext cx="189357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65020" y="2556986"/>
              <a:ext cx="1269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ADD.D S,F0,F8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078593" y="2556986"/>
              <a:ext cx="9941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S 代替 F6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32182" y="2866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40006" y="3005614"/>
              <a:ext cx="12268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S.D F6,0(R1)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65020" y="3005614"/>
              <a:ext cx="10689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S.D S,0(R1)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78593" y="3005614"/>
              <a:ext cx="856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跟着改读 S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32182" y="33147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32182" y="3319462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40006" y="3454241"/>
              <a:ext cx="16474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SUB.D F8,F10,F14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066722" y="3328988"/>
              <a:ext cx="189357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165020" y="3454241"/>
              <a:ext cx="14694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SUB.D T,F10,F14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078593" y="3454241"/>
              <a:ext cx="9941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T 代替 F8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32182" y="37633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40006" y="3903821"/>
              <a:ext cx="15805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MUL.D F6,F10,F8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65020" y="3903821"/>
              <a:ext cx="14057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MUL.D F6,F10,T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078593" y="3903821"/>
              <a:ext cx="856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跟着改读 T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032182" y="1524000"/>
              <a:ext cx="5626418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05243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96600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kv-2"/>
          <p:cNvGrpSpPr/>
          <p:nvPr/>
        </p:nvGrpSpPr>
        <p:grpSpPr>
          <a:xfrm>
            <a:off x="6024562" y="4431982"/>
            <a:ext cx="5634038" cy="733426"/>
            <a:chOff x="6024562" y="4431982"/>
            <a:chExt cx="5634038" cy="733426"/>
          </a:xfrm>
        </p:grpSpPr>
        <p:sp>
          <p:nvSpPr>
            <p:cNvPr id="49" name="TextBox 49"/>
            <p:cNvSpPr txBox="1"/>
            <p:nvPr/>
          </p:nvSpPr>
          <p:spPr>
            <a:xfrm>
              <a:off x="6024562" y="4431982"/>
              <a:ext cx="609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引入 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45618" y="4431982"/>
              <a:ext cx="2891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消除 ADD 与 MUL 对 F6 的 WAW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032182" y="47520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24562" y="4872038"/>
              <a:ext cx="609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引入 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45618" y="4872038"/>
              <a:ext cx="3371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消除 ADD 读 F8 与 SUB 写 F8 的 WAR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5" name="Rectangle 5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130" y="5991225"/>
              <a:ext cx="7379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换名后真正要等的只剩 RAW：ADD 仍要等 DIV 算出 F0，MUL 仍要等 SUB 算出 T。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乱序完成让异常处理变难：精确异常与不精确异常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kv-1"/>
          <p:cNvGrpSpPr/>
          <p:nvPr/>
        </p:nvGrpSpPr>
        <p:grpSpPr>
          <a:xfrm>
            <a:off x="525780" y="1548765"/>
            <a:ext cx="5417820" cy="1297305"/>
            <a:chOff x="525780" y="1548765"/>
            <a:chExt cx="5417820" cy="129730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精确异常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65935" y="1548765"/>
              <a:ext cx="38061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执行指令 i 发生异常时，处理机的现场与严格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按程序顺序执行到指令 i 时的现场相同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不精确异常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65935" y="2270760"/>
              <a:ext cx="38061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执行指令 i 发生异常时，处理机的现场与严格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按程序顺序执行到指令 i 时的现场不同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2977515"/>
            <a:ext cx="5410200" cy="1316355"/>
            <a:chOff x="533400" y="2977515"/>
            <a:chExt cx="5410200" cy="1316355"/>
          </a:xfrm>
        </p:grpSpPr>
        <p:sp>
          <p:nvSpPr>
            <p:cNvPr id="13" name="Rectangle 13"/>
            <p:cNvSpPr/>
            <p:nvPr/>
          </p:nvSpPr>
          <p:spPr>
            <a:xfrm>
              <a:off x="533400" y="2977515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187065"/>
              <a:ext cx="234315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8002" y="322278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动态调度必须保持正确的异常行为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356425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对一条会产生异常的指令，只有当处理机确切地知道这条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指令将被执行后，才允许它产生异常。</a:t>
              </a:r>
            </a:p>
          </p:txBody>
        </p:sp>
      </p:grpSp>
      <p:grpSp>
        <p:nvGrpSpPr>
          <p:cNvPr id="24" name="c1-callout-3"/>
          <p:cNvGrpSpPr/>
          <p:nvPr/>
        </p:nvGrpSpPr>
        <p:grpSpPr>
          <a:xfrm>
            <a:off x="533400" y="4484370"/>
            <a:ext cx="5410200" cy="1059180"/>
            <a:chOff x="533400" y="4484370"/>
            <a:chExt cx="5410200" cy="1059180"/>
          </a:xfrm>
        </p:grpSpPr>
        <p:sp>
          <p:nvSpPr>
            <p:cNvPr id="18" name="Rectangle 18"/>
            <p:cNvSpPr/>
            <p:nvPr/>
          </p:nvSpPr>
          <p:spPr>
            <a:xfrm>
              <a:off x="533400" y="448437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913948"/>
              <a:ext cx="200026" cy="200026"/>
              <a:chOff x="738188" y="4913948"/>
              <a:chExt cx="200026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9139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49806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27088" y="50139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4632960"/>
              <a:ext cx="45300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现场指寄存器、存储器和 PC 的状态。例如分支后面前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瞻取进来的一条除法，如果分支其实会跳走，它的除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零异常就不该报出来。</a:t>
              </a:r>
            </a:p>
          </p:txBody>
        </p:sp>
      </p:grpSp>
      <p:grpSp>
        <p:nvGrpSpPr>
          <p:cNvPr id="53" name="c2-cells-1"/>
          <p:cNvGrpSpPr/>
          <p:nvPr/>
        </p:nvGrpSpPr>
        <p:grpSpPr>
          <a:xfrm>
            <a:off x="6242685" y="1524000"/>
            <a:ext cx="5329237" cy="1625441"/>
            <a:chOff x="6242685" y="1524000"/>
            <a:chExt cx="5329237" cy="1625441"/>
          </a:xfrm>
        </p:grpSpPr>
        <p:sp>
          <p:nvSpPr>
            <p:cNvPr id="25" name="TextBox 25"/>
            <p:cNvSpPr txBox="1"/>
            <p:nvPr/>
          </p:nvSpPr>
          <p:spPr>
            <a:xfrm>
              <a:off x="6242685" y="1663541"/>
              <a:ext cx="5244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 DIV.D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889432" y="1524000"/>
              <a:ext cx="11706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18731" y="16635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060055" y="1524000"/>
              <a:ext cx="11706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89353" y="16635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230678" y="1524000"/>
              <a:ext cx="11706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659976" y="16635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401300" y="1524000"/>
              <a:ext cx="1170622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830598" y="16635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异常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42685" y="2158841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i+1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889432" y="2019300"/>
              <a:ext cx="11706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18731" y="21588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060055" y="2019300"/>
              <a:ext cx="11706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89353" y="21588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230678" y="2019300"/>
              <a:ext cx="117062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659976" y="21588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完成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401300" y="2019300"/>
              <a:ext cx="117062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42685" y="2654141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i+2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889432" y="2514600"/>
              <a:ext cx="11706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18731" y="26541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060055" y="2514600"/>
              <a:ext cx="117062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489353" y="26541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完成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230678" y="2514600"/>
              <a:ext cx="117062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401300" y="2514600"/>
              <a:ext cx="117062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40101" y="29875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10723" y="29875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81346" y="29875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951968" y="29875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55" name="c2-text-2"/>
          <p:cNvGrpSpPr/>
          <p:nvPr/>
        </p:nvGrpSpPr>
        <p:grpSpPr>
          <a:xfrm>
            <a:off x="6241923" y="3326606"/>
            <a:ext cx="5076698" cy="500824"/>
            <a:chOff x="6241923" y="3326606"/>
            <a:chExt cx="5076698" cy="500824"/>
          </a:xfrm>
        </p:grpSpPr>
        <p:sp>
          <p:nvSpPr>
            <p:cNvPr id="54" name="TextBox 54"/>
            <p:cNvSpPr txBox="1"/>
            <p:nvPr/>
          </p:nvSpPr>
          <p:spPr>
            <a:xfrm>
              <a:off x="6241923" y="3326606"/>
              <a:ext cx="5076698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 在第 4 周期报异常，此时 i+1、i+2 已经改写了寄存器，现场和按序执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行到 i 时不一样。</a:t>
              </a:r>
            </a:p>
          </p:txBody>
        </p:sp>
      </p:grpSp>
      <p:grpSp>
        <p:nvGrpSpPr>
          <p:cNvPr id="62" name="c2-callout-3"/>
          <p:cNvGrpSpPr/>
          <p:nvPr/>
        </p:nvGrpSpPr>
        <p:grpSpPr>
          <a:xfrm>
            <a:off x="6248400" y="3967162"/>
            <a:ext cx="5410200" cy="1576388"/>
            <a:chOff x="6248400" y="3967162"/>
            <a:chExt cx="5410200" cy="1576388"/>
          </a:xfrm>
        </p:grpSpPr>
        <p:sp>
          <p:nvSpPr>
            <p:cNvPr id="56" name="Rectangle 56"/>
            <p:cNvSpPr/>
            <p:nvPr/>
          </p:nvSpPr>
          <p:spPr>
            <a:xfrm>
              <a:off x="6248400" y="3967162"/>
              <a:ext cx="5410200" cy="1576388"/>
            </a:xfrm>
            <a:prstGeom prst="roundRect">
              <a:avLst>
                <a:gd name="adj" fmla="val 725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441129" y="4651176"/>
              <a:ext cx="224134" cy="192560"/>
              <a:chOff x="6441129" y="4651176"/>
              <a:chExt cx="224134" cy="1925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553200" y="472154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441129" y="465117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553200" y="47993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755130" y="4235768"/>
              <a:ext cx="448246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保持了正确的异常行为，动态调度的处理机仍可能发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生不精确异常。它通常由乱序完成导致，使得异常处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理之后难以接着继续执行程序。第三部分的 ROB 按序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确认解决这个问题。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记分牌：一个集中的部件监控所有指令、数据和功能部件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602105"/>
            <a:chOff x="533400" y="1524000"/>
            <a:chExt cx="5410200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02692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3259" y="1769269"/>
              <a:ext cx="1942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记分牌算法（Scoreboard）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7110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1964 年用于 CDC 6600（原课件误印为 CDC61350）。用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一个核心调度部件“记分牌”监控并调度所有指令、数据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和部件，允许指令乱序执行。</a:t>
              </a:r>
            </a:p>
          </p:txBody>
        </p:sp>
      </p:grpSp>
      <p:grpSp>
        <p:nvGrpSpPr>
          <p:cNvPr id="30" name="c1-table-2"/>
          <p:cNvGrpSpPr/>
          <p:nvPr/>
        </p:nvGrpSpPr>
        <p:grpSpPr>
          <a:xfrm>
            <a:off x="533400" y="3316605"/>
            <a:ext cx="5410200" cy="1795462"/>
            <a:chOff x="533400" y="3316605"/>
            <a:chExt cx="5410200" cy="1795462"/>
          </a:xfrm>
        </p:grpSpPr>
        <p:sp>
          <p:nvSpPr>
            <p:cNvPr id="13" name="Rectangle 13"/>
            <p:cNvSpPr/>
            <p:nvPr/>
          </p:nvSpPr>
          <p:spPr>
            <a:xfrm>
              <a:off x="533400" y="3316605"/>
              <a:ext cx="5410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36649" y="34523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83279" y="34523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消除的冲突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223" y="3900964"/>
              <a:ext cx="5774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流出 IS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707005" y="3774758"/>
              <a:ext cx="322707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805303" y="3900964"/>
              <a:ext cx="12477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结构冲突、WAW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2090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421386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4349591"/>
              <a:ext cx="6634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读数 RO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707005" y="4223385"/>
              <a:ext cx="322707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805303" y="4349591"/>
              <a:ext cx="3497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RAW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6586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798219"/>
              <a:ext cx="8357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写结果 WB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707005" y="4672965"/>
              <a:ext cx="322707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805303" y="4798219"/>
              <a:ext cx="3497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316605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692718" y="331660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1-text-3"/>
          <p:cNvGrpSpPr/>
          <p:nvPr/>
        </p:nvGrpSpPr>
        <p:grpSpPr>
          <a:xfrm>
            <a:off x="526923" y="5323046"/>
            <a:ext cx="5198618" cy="752284"/>
            <a:chOff x="526923" y="5323046"/>
            <a:chExt cx="5198618" cy="752284"/>
          </a:xfrm>
        </p:grpSpPr>
        <p:sp>
          <p:nvSpPr>
            <p:cNvPr id="31" name="TextBox 31"/>
            <p:cNvSpPr txBox="1"/>
            <p:nvPr/>
          </p:nvSpPr>
          <p:spPr>
            <a:xfrm>
              <a:off x="526923" y="5323046"/>
              <a:ext cx="5198618" cy="7522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RAR 不是真正的相关，寄存器不会因为读而改变，所以只需处理 RAW、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WAR、WAW。与当前已流出指令不相关的后续指令可以尽早执行，减少总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执行时间。</a:t>
              </a:r>
            </a:p>
          </p:txBody>
        </p:sp>
      </p:grpSp>
      <p:grpSp>
        <p:nvGrpSpPr>
          <p:cNvPr id="70" name="c2-graph-1"/>
          <p:cNvGrpSpPr/>
          <p:nvPr/>
        </p:nvGrpSpPr>
        <p:grpSpPr>
          <a:xfrm>
            <a:off x="6481762" y="1725930"/>
            <a:ext cx="4780598" cy="3387471"/>
            <a:chOff x="6481762" y="1725930"/>
            <a:chExt cx="4780598" cy="3387471"/>
          </a:xfrm>
        </p:grpSpPr>
        <p:sp>
          <p:nvSpPr>
            <p:cNvPr id="33" name="Freeform 33"/>
            <p:cNvSpPr/>
            <p:nvPr/>
          </p:nvSpPr>
          <p:spPr>
            <a:xfrm>
              <a:off x="7529512" y="1981200"/>
              <a:ext cx="1046797" cy="9525"/>
            </a:xfrm>
            <a:custGeom>
              <a:avLst/>
              <a:gdLst/>
              <a:ahLst/>
              <a:cxnLst/>
              <a:rect l="l" t="t" r="r" b="b"/>
              <a:pathLst>
                <a:path w="1046797" h="9525">
                  <a:moveTo>
                    <a:pt x="0" y="0"/>
                  </a:moveTo>
                  <a:lnTo>
                    <a:pt x="104679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576310" y="19335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7618095" y="2141220"/>
              <a:ext cx="1535430" cy="1054418"/>
            </a:xfrm>
            <a:custGeom>
              <a:avLst/>
              <a:gdLst/>
              <a:ahLst/>
              <a:cxnLst/>
              <a:rect l="l" t="t" r="r" b="b"/>
              <a:pathLst>
                <a:path w="1535430" h="1054418">
                  <a:moveTo>
                    <a:pt x="1535430" y="0"/>
                  </a:moveTo>
                  <a:lnTo>
                    <a:pt x="0" y="1054418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6" name="Freeform 36"/>
            <p:cNvSpPr/>
            <p:nvPr/>
          </p:nvSpPr>
          <p:spPr>
            <a:xfrm>
              <a:off x="7539990" y="3156585"/>
              <a:ext cx="104775" cy="93345"/>
            </a:xfrm>
            <a:custGeom>
              <a:avLst/>
              <a:gdLst/>
              <a:ahLst/>
              <a:cxnLst/>
              <a:rect l="l" t="t" r="r" b="b"/>
              <a:pathLst>
                <a:path w="104775" h="93345">
                  <a:moveTo>
                    <a:pt x="0" y="93345"/>
                  </a:moveTo>
                  <a:lnTo>
                    <a:pt x="51435" y="0"/>
                  </a:lnTo>
                  <a:lnTo>
                    <a:pt x="104775" y="7905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024938" y="2141220"/>
              <a:ext cx="316230" cy="1112520"/>
            </a:xfrm>
            <a:custGeom>
              <a:avLst/>
              <a:gdLst/>
              <a:ahLst/>
              <a:cxnLst/>
              <a:rect l="l" t="t" r="r" b="b"/>
              <a:pathLst>
                <a:path w="316230" h="1112520">
                  <a:moveTo>
                    <a:pt x="316230" y="0"/>
                  </a:moveTo>
                  <a:lnTo>
                    <a:pt x="0" y="111252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8" name="Freeform 38"/>
            <p:cNvSpPr/>
            <p:nvPr/>
          </p:nvSpPr>
          <p:spPr>
            <a:xfrm>
              <a:off x="8979218" y="3240405"/>
              <a:ext cx="91440" cy="104775"/>
            </a:xfrm>
            <a:custGeom>
              <a:avLst/>
              <a:gdLst/>
              <a:ahLst/>
              <a:cxnLst/>
              <a:rect l="l" t="t" r="r" b="b"/>
              <a:pathLst>
                <a:path w="91440" h="104775">
                  <a:moveTo>
                    <a:pt x="20002" y="104775"/>
                  </a:moveTo>
                  <a:lnTo>
                    <a:pt x="0" y="0"/>
                  </a:lnTo>
                  <a:lnTo>
                    <a:pt x="91440" y="2571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9528810" y="2141220"/>
              <a:ext cx="1004888" cy="1132522"/>
            </a:xfrm>
            <a:custGeom>
              <a:avLst/>
              <a:gdLst/>
              <a:ahLst/>
              <a:cxnLst/>
              <a:rect l="l" t="t" r="r" b="b"/>
              <a:pathLst>
                <a:path w="1004888" h="1132522">
                  <a:moveTo>
                    <a:pt x="0" y="0"/>
                  </a:moveTo>
                  <a:lnTo>
                    <a:pt x="1004888" y="1132522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0" name="Freeform 40"/>
            <p:cNvSpPr/>
            <p:nvPr/>
          </p:nvSpPr>
          <p:spPr>
            <a:xfrm>
              <a:off x="10498455" y="3242310"/>
              <a:ext cx="98107" cy="102870"/>
            </a:xfrm>
            <a:custGeom>
              <a:avLst/>
              <a:gdLst/>
              <a:ahLst/>
              <a:cxnLst/>
              <a:rect l="l" t="t" r="r" b="b"/>
              <a:pathLst>
                <a:path w="98107" h="102870">
                  <a:moveTo>
                    <a:pt x="98107" y="102870"/>
                  </a:moveTo>
                  <a:lnTo>
                    <a:pt x="0" y="62865"/>
                  </a:lnTo>
                  <a:lnTo>
                    <a:pt x="7048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7168515" y="3855720"/>
              <a:ext cx="9525" cy="842010"/>
            </a:xfrm>
            <a:custGeom>
              <a:avLst/>
              <a:gdLst/>
              <a:ahLst/>
              <a:cxnLst/>
              <a:rect l="l" t="t" r="r" b="b"/>
              <a:pathLst>
                <a:path w="9525" h="842010">
                  <a:moveTo>
                    <a:pt x="0" y="0"/>
                  </a:moveTo>
                  <a:lnTo>
                    <a:pt x="0" y="8420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120890" y="46977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7120890" y="37604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8953500" y="3760470"/>
              <a:ext cx="9525" cy="937260"/>
            </a:xfrm>
            <a:custGeom>
              <a:avLst/>
              <a:gdLst/>
              <a:ahLst/>
              <a:cxnLst/>
              <a:rect l="l" t="t" r="r" b="b"/>
              <a:pathLst>
                <a:path w="9525" h="937260">
                  <a:moveTo>
                    <a:pt x="0" y="0"/>
                  </a:moveTo>
                  <a:lnTo>
                    <a:pt x="0" y="9372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905875" y="46977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905875" y="36652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10738485" y="3760470"/>
              <a:ext cx="9525" cy="937260"/>
            </a:xfrm>
            <a:custGeom>
              <a:avLst/>
              <a:gdLst/>
              <a:ahLst/>
              <a:cxnLst/>
              <a:rect l="l" t="t" r="r" b="b"/>
              <a:pathLst>
                <a:path w="9525" h="937260">
                  <a:moveTo>
                    <a:pt x="0" y="0"/>
                  </a:moveTo>
                  <a:lnTo>
                    <a:pt x="0" y="9372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690860" y="46977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10690860" y="36652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81762" y="1725930"/>
              <a:ext cx="1047750" cy="510540"/>
            </a:xfrm>
            <a:prstGeom prst="roundRect">
              <a:avLst>
                <a:gd name="adj" fmla="val 18657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671560" y="1821180"/>
              <a:ext cx="142875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44640" y="3249930"/>
              <a:ext cx="1047750" cy="510540"/>
            </a:xfrm>
            <a:prstGeom prst="roundRect">
              <a:avLst>
                <a:gd name="adj" fmla="val 1865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429625" y="3345180"/>
              <a:ext cx="104775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214610" y="3345180"/>
              <a:ext cx="104775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905625" y="4792980"/>
              <a:ext cx="40957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76454" y="18116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指令队列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06877" y="2002155"/>
              <a:ext cx="397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FIFO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37523" y="190690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记分牌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14561" y="333565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LSU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39331" y="35261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含加法器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611118" y="3430905"/>
              <a:ext cx="684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加法 ALU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396103" y="3430905"/>
              <a:ext cx="684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乘法 ALU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24316" y="48787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寄存器组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938135" y="1887855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964132" y="19226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流出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007792" y="2649855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032837" y="26846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控制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0451782" y="4135755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469677" y="417052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数据总线</a:t>
              </a:r>
            </a:p>
          </p:txBody>
        </p:sp>
      </p:grpSp>
      <p:grpSp>
        <p:nvGrpSpPr>
          <p:cNvPr id="72" name="c2-text-2"/>
          <p:cNvGrpSpPr/>
          <p:nvPr/>
        </p:nvGrpSpPr>
        <p:grpSpPr>
          <a:xfrm>
            <a:off x="6241923" y="5545931"/>
            <a:ext cx="5052314" cy="500824"/>
            <a:chOff x="6241923" y="5545931"/>
            <a:chExt cx="5052314" cy="500824"/>
          </a:xfrm>
        </p:grpSpPr>
        <p:sp>
          <p:nvSpPr>
            <p:cNvPr id="71" name="TextBox 71"/>
            <p:cNvSpPr txBox="1"/>
            <p:nvPr/>
          </p:nvSpPr>
          <p:spPr>
            <a:xfrm>
              <a:off x="6241923" y="5545931"/>
              <a:ext cx="505231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虚线是控制，实线是数据。部件要的数据都就绪时，记分牌才允许它开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始执行；执行完成后，部件通知记分牌释放资源。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记分牌的四个步骤：每一步都有等待条件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11125200" cy="3771900"/>
            <a:chOff x="533400" y="1524000"/>
            <a:chExt cx="11125200" cy="3771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155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70923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等待条件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8860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6990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消除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0080" y="2150745"/>
              <a:ext cx="756761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流出（IS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75485" y="2150745"/>
              <a:ext cx="3825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指令所需的功能部件不忙，并且目的寄存器没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有被其他指令预约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02680" y="2150745"/>
              <a:ext cx="36061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指令从指令队列流出到功能部件 f，更新记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分牌各表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110788" y="2021205"/>
              <a:ext cx="1538288" cy="7353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207942" y="2284095"/>
              <a:ext cx="10584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结构、WAW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761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766060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0080" y="2905125"/>
              <a:ext cx="846772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读数（RO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75485" y="2905125"/>
              <a:ext cx="3825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指令所需的操作数全部就绪；否则该功能部件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挂起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02680" y="30384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读取操作数，更新记分牌各表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110788" y="2775585"/>
              <a:ext cx="1538288" cy="7353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207942" y="3038475"/>
              <a:ext cx="409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RAW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5156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3659505"/>
              <a:ext cx="806767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执行（EX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75485" y="379285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功能部件获得执行所需的全部操作数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02680" y="3659505"/>
              <a:ext cx="34823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完成计算、产生结果，通知记分牌；Load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 EX + MEM 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07942" y="379285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2700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4274820"/>
              <a:ext cx="11125200" cy="10210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0080" y="4547235"/>
              <a:ext cx="90678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写结果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（WB 段）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75485" y="4413885"/>
              <a:ext cx="38252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本部件的指令与其他执行中的指令之间，没有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关于目的寄存器的 WAR 冲突，且数据总线就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绪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02680" y="4547235"/>
              <a:ext cx="3634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结果放到数据总线上写入寄存器组，释放功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能部件；Store 占 WB + MEM 段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0110788" y="4284345"/>
              <a:ext cx="1538288" cy="10020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207942" y="4680585"/>
              <a:ext cx="409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1524000"/>
              <a:ext cx="11125200" cy="37719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864042" y="1524000"/>
              <a:ext cx="9525" cy="37719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91238" y="1524000"/>
              <a:ext cx="9525" cy="37719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096500" y="1524000"/>
              <a:ext cx="9525" cy="37719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1-callout-2"/>
          <p:cNvGrpSpPr/>
          <p:nvPr/>
        </p:nvGrpSpPr>
        <p:grpSpPr>
          <a:xfrm>
            <a:off x="533400" y="5486400"/>
            <a:ext cx="11125200" cy="876300"/>
            <a:chOff x="533400" y="5486400"/>
            <a:chExt cx="11125200" cy="876300"/>
          </a:xfrm>
        </p:grpSpPr>
        <p:sp>
          <p:nvSpPr>
            <p:cNvPr id="41" name="Rectangle 41"/>
            <p:cNvSpPr/>
            <p:nvPr/>
          </p:nvSpPr>
          <p:spPr>
            <a:xfrm>
              <a:off x="533400" y="5486400"/>
              <a:ext cx="11125200" cy="876300"/>
            </a:xfrm>
            <a:prstGeom prst="roundRect">
              <a:avLst>
                <a:gd name="adj" fmla="val 1304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824538"/>
              <a:ext cx="200026" cy="200026"/>
              <a:chOff x="738188" y="5824538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8245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38200" y="58912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27088" y="592455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130" y="5681662"/>
              <a:ext cx="9921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指令队列按先进先出的顺序流出。前一条指令在流出阶段被卡住（部件忙或目的寄存器已被预约），后面所有指令都不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能流出，这一点做例题时最容易忽略。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记分牌的三张表：指令状态、功能部件状态、寄存器预约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6542" y="1545907"/>
            <a:ext cx="5865019" cy="1060324"/>
            <a:chOff x="526542" y="1545907"/>
            <a:chExt cx="5865019" cy="1060324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指令执行状态表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23872" y="1545907"/>
              <a:ext cx="4367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 2 项：指令字段、状态字段（IS、RO、EX、WB）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354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542" y="194405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寄存器预约表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23872" y="1944052"/>
              <a:ext cx="3746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 2 项：寄存器号、将要写它的功能部件 Qi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3266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542" y="234219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功能部件状态表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23872" y="2342198"/>
              <a:ext cx="43673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 10 项：L、B、O、Fi、Fj、Fk、Qj、Qk、Rj、Rk</a:t>
              </a:r>
            </a:p>
          </p:txBody>
        </p:sp>
      </p:grpSp>
      <p:grpSp>
        <p:nvGrpSpPr>
          <p:cNvPr id="44" name="c1-table-2"/>
          <p:cNvGrpSpPr/>
          <p:nvPr/>
        </p:nvGrpSpPr>
        <p:grpSpPr>
          <a:xfrm>
            <a:off x="533400" y="2727960"/>
            <a:ext cx="5842635" cy="3246120"/>
            <a:chOff x="533400" y="2727960"/>
            <a:chExt cx="5842635" cy="3246120"/>
          </a:xfrm>
        </p:grpSpPr>
        <p:sp>
          <p:nvSpPr>
            <p:cNvPr id="16" name="Rectangle 16"/>
            <p:cNvSpPr/>
            <p:nvPr/>
          </p:nvSpPr>
          <p:spPr>
            <a:xfrm>
              <a:off x="533400" y="2727960"/>
              <a:ext cx="5842635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19848" y="28522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41166" y="28522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3412" y="325802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19288" y="3258026"/>
              <a:ext cx="1406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label，功能部件标识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347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53949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366379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19288" y="3663791"/>
              <a:ext cx="15540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Busy，功能部件是否忙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940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4069556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19288" y="4069556"/>
              <a:ext cx="2262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Operation，部件中指令的操作码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3462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35102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3412" y="4475321"/>
              <a:ext cx="1498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19288" y="447532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目的操作数的寄存器编号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75202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3412" y="4881086"/>
              <a:ext cx="4672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Fj, Fk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19288" y="488108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源操作数的寄存器编号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1577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516255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3412" y="5286851"/>
              <a:ext cx="5323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Qj, Qk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19288" y="528685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将要产生源操作数的功能部件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55635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3412" y="5692616"/>
              <a:ext cx="4672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Rj, Rk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919288" y="5692616"/>
              <a:ext cx="3248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源操作数是否已在 Fj、Fk 中就绪（1 就绪未读）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2727960"/>
              <a:ext cx="5842635" cy="3246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814512" y="272796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table-1"/>
          <p:cNvGrpSpPr/>
          <p:nvPr/>
        </p:nvGrpSpPr>
        <p:grpSpPr>
          <a:xfrm>
            <a:off x="6680835" y="1524000"/>
            <a:ext cx="4977765" cy="1623060"/>
            <a:chOff x="6680835" y="1524000"/>
            <a:chExt cx="4977765" cy="1623060"/>
          </a:xfrm>
        </p:grpSpPr>
        <p:sp>
          <p:nvSpPr>
            <p:cNvPr id="45" name="Rectangle 45"/>
            <p:cNvSpPr/>
            <p:nvPr/>
          </p:nvSpPr>
          <p:spPr>
            <a:xfrm>
              <a:off x="6680835" y="1524000"/>
              <a:ext cx="4977765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7019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90829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字段对应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80848" y="2054066"/>
              <a:ext cx="1291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MUL.D F4,F0,F2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71585" y="2054066"/>
              <a:ext cx="25530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 = F4 → i；rs = F0 → j；rt = F2 → k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80835" y="23307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680835" y="233553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80848" y="2459831"/>
              <a:ext cx="1165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L.D F2,45(R3)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71585" y="2459831"/>
              <a:ext cx="2015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 = F2 → k 目的；rs = R3 → j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680835" y="273653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80848" y="2865596"/>
              <a:ext cx="1165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S.D F3,40(R4)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871585" y="2865596"/>
              <a:ext cx="2166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 = F3 → k 待存数；rs = R4 → j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680835" y="1524000"/>
              <a:ext cx="4977765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766810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llout-2"/>
          <p:cNvGrpSpPr/>
          <p:nvPr/>
        </p:nvGrpSpPr>
        <p:grpSpPr>
          <a:xfrm>
            <a:off x="6680835" y="3322320"/>
            <a:ext cx="4977765" cy="978218"/>
            <a:chOff x="6680835" y="3322320"/>
            <a:chExt cx="4977765" cy="978218"/>
          </a:xfrm>
        </p:grpSpPr>
        <p:sp>
          <p:nvSpPr>
            <p:cNvPr id="60" name="Rectangle 60"/>
            <p:cNvSpPr/>
            <p:nvPr/>
          </p:nvSpPr>
          <p:spPr>
            <a:xfrm>
              <a:off x="6680835" y="3322320"/>
              <a:ext cx="4977765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885623" y="3710940"/>
              <a:ext cx="200026" cy="200025"/>
              <a:chOff x="6885623" y="3710940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885623" y="37109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925361" y="37553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960077" y="38665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7188327" y="3468052"/>
              <a:ext cx="409422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记号约定：Qi、Fi 的 i 对应 rd，Fj、Rj 的 j 对应 rs，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Fk、Rk 的 k 对应 rt。Load 的目的寄存器写在 rt 位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置，Store 的 rt 是要存的数据。</a:t>
              </a:r>
            </a:p>
          </p:txBody>
        </p:sp>
      </p:grpSp>
      <p:grpSp>
        <p:nvGrpSpPr>
          <p:cNvPr id="73" name="c2-callout-3"/>
          <p:cNvGrpSpPr/>
          <p:nvPr/>
        </p:nvGrpSpPr>
        <p:grpSpPr>
          <a:xfrm>
            <a:off x="6680835" y="4474845"/>
            <a:ext cx="4977765" cy="1499235"/>
            <a:chOff x="6680835" y="4474845"/>
            <a:chExt cx="4977765" cy="1499235"/>
          </a:xfrm>
        </p:grpSpPr>
        <p:sp>
          <p:nvSpPr>
            <p:cNvPr id="67" name="Rectangle 67"/>
            <p:cNvSpPr/>
            <p:nvPr/>
          </p:nvSpPr>
          <p:spPr>
            <a:xfrm>
              <a:off x="6680835" y="4474845"/>
              <a:ext cx="4977765" cy="1499235"/>
            </a:xfrm>
            <a:prstGeom prst="roundRect">
              <a:avLst>
                <a:gd name="adj" fmla="val 762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885623" y="5124450"/>
              <a:ext cx="200026" cy="200026"/>
              <a:chOff x="6885623" y="5124450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885623" y="51244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985635" y="51911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974523" y="52244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7188327" y="4881562"/>
              <a:ext cx="410279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Rj = 1 表示操作数已经就绪但还没被读走；读数之后记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分牌把 Rj、Rk 清为 0。写结果时的 WAR 检查就看这一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记分牌算法（一）：流出与读数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733675"/>
            <a:chOff x="533400" y="1524000"/>
            <a:chExt cx="5410200" cy="2733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489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1/4 流出（f 为所需功能部件）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531870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Wait until (f.busy == No) &amp;&amp; (Qi[rd] == null)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部件不忙，目的寄存器无 WAW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f.state = Issued;  Qi[rd] = f;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f.busy = Yes;      f.op = op;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f.Fi = rd;  f.Fj = rs;  f.Fk = rt;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f.Qj = Qi[rs];  f.Qk = Qi[rt];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f.Rj = !f.Qj;   f.Rk = !f.Qk;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更新指令状态表、寄存器预约表、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功能部件状态表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448175"/>
            <a:ext cx="5410200" cy="1395412"/>
            <a:chOff x="533400" y="4448175"/>
            <a:chExt cx="5410200" cy="1395412"/>
          </a:xfrm>
        </p:grpSpPr>
        <p:sp>
          <p:nvSpPr>
            <p:cNvPr id="11" name="Rectangle 11"/>
            <p:cNvSpPr/>
            <p:nvPr/>
          </p:nvSpPr>
          <p:spPr>
            <a:xfrm>
              <a:off x="533400" y="4448175"/>
              <a:ext cx="5410200" cy="1395412"/>
            </a:xfrm>
            <a:prstGeom prst="roundRect">
              <a:avLst>
                <a:gd name="adj" fmla="val 81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045393"/>
              <a:ext cx="200026" cy="200025"/>
              <a:chOff x="738188" y="5045393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0453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50898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52009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4764405"/>
              <a:ext cx="44348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例：LD R2 流出后 Qi[R2] = LSU。紧接着的 MUL R2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流出时发现 Qi[R2] 不空，这是 WAW，只能停在流出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阶段，后面的指令也跟着停。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6248400" y="1524000"/>
            <a:ext cx="5410200" cy="2125028"/>
            <a:chOff x="6248400" y="1524000"/>
            <a:chExt cx="5410200" cy="2125028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6797" y="1675924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2/4 读数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76035" y="1937861"/>
              <a:ext cx="2379726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Wait until (f.Rj &amp;&amp; f.Rk)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操作数全部就绪，无 RAW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f.state = Read;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f.Qj = 0;  f.Qk = 0;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f.Rj = 0;  f.Rk = 0;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更新指令状态表、功能部件状态表</a:t>
              </a:r>
            </a:p>
          </p:txBody>
        </p:sp>
      </p:grpSp>
      <p:grpSp>
        <p:nvGrpSpPr>
          <p:cNvPr id="27" name="c2-card-2"/>
          <p:cNvGrpSpPr/>
          <p:nvPr/>
        </p:nvGrpSpPr>
        <p:grpSpPr>
          <a:xfrm>
            <a:off x="6248400" y="3839528"/>
            <a:ext cx="5410200" cy="1030605"/>
            <a:chOff x="6248400" y="3839528"/>
            <a:chExt cx="5410200" cy="1030605"/>
          </a:xfrm>
        </p:grpSpPr>
        <p:sp>
          <p:nvSpPr>
            <p:cNvPr id="22" name="Rectangle 22"/>
            <p:cNvSpPr/>
            <p:nvPr/>
          </p:nvSpPr>
          <p:spPr>
            <a:xfrm>
              <a:off x="6248400" y="3839528"/>
              <a:ext cx="5410200" cy="1030605"/>
            </a:xfrm>
            <a:prstGeom prst="roundRect">
              <a:avLst>
                <a:gd name="adj" fmla="val 129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57925" y="3972878"/>
              <a:ext cx="47625" cy="7639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96050" y="40490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86258" y="40847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88430" y="4426268"/>
              <a:ext cx="42142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原课件读数一步写作 f.Qk0，应为 f.Qk = 0。</a:t>
              </a:r>
            </a:p>
          </p:txBody>
        </p:sp>
      </p:grpSp>
      <p:grpSp>
        <p:nvGrpSpPr>
          <p:cNvPr id="34" name="c2-callout-3"/>
          <p:cNvGrpSpPr/>
          <p:nvPr/>
        </p:nvGrpSpPr>
        <p:grpSpPr>
          <a:xfrm>
            <a:off x="6248400" y="5060632"/>
            <a:ext cx="5410200" cy="782955"/>
            <a:chOff x="6248400" y="5060632"/>
            <a:chExt cx="5410200" cy="782955"/>
          </a:xfrm>
        </p:grpSpPr>
        <p:sp>
          <p:nvSpPr>
            <p:cNvPr id="28" name="Rectangle 28"/>
            <p:cNvSpPr/>
            <p:nvPr/>
          </p:nvSpPr>
          <p:spPr>
            <a:xfrm>
              <a:off x="6248400" y="506063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453188" y="5352098"/>
              <a:ext cx="200026" cy="200025"/>
              <a:chOff x="6453188" y="5352098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453188" y="53520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492926" y="53965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27642" y="55076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755130" y="5209222"/>
              <a:ext cx="4463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流出时只登记源操作数由谁产生（Qj、Qk）；读数时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一次读走两个操作数。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记分牌算法（二）：执行与写结果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544378" cy="2327910"/>
            <a:chOff x="533400" y="1524000"/>
            <a:chExt cx="4544378" cy="23279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3/4 执行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358390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f.state = Exec;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计算指令：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Result = Reg[rs] op Reg[rt];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ST / LD 指令：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Address = Reg[rs] + Imm;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LD 还要访存：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Result = Mem[Address];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分支指令：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PC = newPC;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4042410"/>
            <a:ext cx="4544378" cy="2007870"/>
            <a:chOff x="533400" y="4042410"/>
            <a:chExt cx="4544378" cy="2007870"/>
          </a:xfrm>
        </p:grpSpPr>
        <p:sp>
          <p:nvSpPr>
            <p:cNvPr id="11" name="Rectangle 11"/>
            <p:cNvSpPr/>
            <p:nvPr/>
          </p:nvSpPr>
          <p:spPr>
            <a:xfrm>
              <a:off x="533400" y="4042410"/>
              <a:ext cx="4544378" cy="2007870"/>
            </a:xfrm>
            <a:prstGeom prst="roundRect">
              <a:avLst>
                <a:gd name="adj" fmla="val 66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175760"/>
              <a:ext cx="47625" cy="17411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425196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1258" y="42876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4629150"/>
              <a:ext cx="3129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Result = f.Reg[rs] op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f.Reg[rs]，第二个操作数应为 rt。</a:t>
              </a:r>
            </a:p>
          </p:txBody>
        </p:sp>
      </p:grpSp>
      <p:grpSp>
        <p:nvGrpSpPr>
          <p:cNvPr id="20" name="c2-code-1"/>
          <p:cNvGrpSpPr/>
          <p:nvPr/>
        </p:nvGrpSpPr>
        <p:grpSpPr>
          <a:xfrm>
            <a:off x="5382578" y="1524000"/>
            <a:ext cx="6276022" cy="2733675"/>
            <a:chOff x="5382578" y="1524000"/>
            <a:chExt cx="6276022" cy="2733675"/>
          </a:xfrm>
        </p:grpSpPr>
        <p:sp>
          <p:nvSpPr>
            <p:cNvPr id="17" name="Rectangle 17"/>
            <p:cNvSpPr/>
            <p:nvPr/>
          </p:nvSpPr>
          <p:spPr>
            <a:xfrm>
              <a:off x="5382578" y="1524000"/>
              <a:ext cx="6276022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510974" y="1675924"/>
              <a:ext cx="6758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4/4 写结果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10212" y="1937861"/>
              <a:ext cx="3709670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Wait until 对每个其他在执行的部件 F：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(F.Fj != f.Fi || F.Rj == 0) &amp;&amp;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(F.Fk != f.Fi || F.Rk == 0)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没有人还在等着读 f 要改写的寄存器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f.state = Write;  Reg[f.Fi] = Result;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ST：数据写入存储器；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对任意 F：if (F.Qj == f) {F.Rj = 1; F.Qj = 0;}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对任意 F：if (F.Qk == f) {F.Rk = 1; F.Qk = 0;}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Qi[f.Fi] = 0;  f.busy = No;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6" name="c2-card-2"/>
          <p:cNvGrpSpPr/>
          <p:nvPr/>
        </p:nvGrpSpPr>
        <p:grpSpPr>
          <a:xfrm>
            <a:off x="5382578" y="4448175"/>
            <a:ext cx="6276022" cy="1602105"/>
            <a:chOff x="5382578" y="4448175"/>
            <a:chExt cx="6276022" cy="1602105"/>
          </a:xfrm>
        </p:grpSpPr>
        <p:sp>
          <p:nvSpPr>
            <p:cNvPr id="21" name="Rectangle 21"/>
            <p:cNvSpPr/>
            <p:nvPr/>
          </p:nvSpPr>
          <p:spPr>
            <a:xfrm>
              <a:off x="5382578" y="4448175"/>
              <a:ext cx="627602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92102" y="458152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630228" y="465772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21388" y="4693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22608" y="5034915"/>
              <a:ext cx="5539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原课件的等待条件把四个分句用“或”连起，第二句写成 f.Fk 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F.[rt]。WAR 检查比较的是本部件的目的寄存器 f.Fi 与别的部件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的源寄存器，两组条件都要满足。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7" name="TextBox 27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例题：记分牌调度五条指令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2185988"/>
            <a:chOff x="533400" y="1524000"/>
            <a:chExt cx="5410200" cy="21859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85988"/>
            </a:xfrm>
            <a:prstGeom prst="roundRect">
              <a:avLst>
                <a:gd name="adj" fmla="val 61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192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69430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单流出处理器用记分牌调度指令。有一个 LSU（内部自带加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法器）、1 个加法 ALU、1 个乘法 ALU。指令序列执行前，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指令均未流出。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5335" y="2951798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3680" y="299118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6228" y="296370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给出指令执行状态时钟周期表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5335" y="3271838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3680" y="331122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228" y="3283744"/>
              <a:ext cx="30156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给出第 18 周期末尾各状态表的内容</a:t>
              </a:r>
            </a:p>
          </p:txBody>
        </p:sp>
      </p:grpSp>
      <p:grpSp>
        <p:nvGrpSpPr>
          <p:cNvPr id="48" name="c1-table-2"/>
          <p:cNvGrpSpPr/>
          <p:nvPr/>
        </p:nvGrpSpPr>
        <p:grpSpPr>
          <a:xfrm>
            <a:off x="527685" y="3895725"/>
            <a:ext cx="5415915" cy="1155859"/>
            <a:chOff x="527685" y="3895725"/>
            <a:chExt cx="5415915" cy="1155859"/>
          </a:xfrm>
        </p:grpSpPr>
        <p:sp>
          <p:nvSpPr>
            <p:cNvPr id="19" name="Rectangle 19"/>
            <p:cNvSpPr/>
            <p:nvPr/>
          </p:nvSpPr>
          <p:spPr>
            <a:xfrm>
              <a:off x="533400" y="3895725"/>
              <a:ext cx="541020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5452" y="4027170"/>
              <a:ext cx="164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09957" y="4027170"/>
              <a:ext cx="245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83781" y="4027170"/>
              <a:ext cx="3795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91069" y="4027170"/>
              <a:ext cx="245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73824" y="402717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22464" y="402717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65633" y="402717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2856" y="402717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ADD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37396" y="4027170"/>
              <a:ext cx="343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MUL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4976" y="445674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82027" y="44567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23059" y="44567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63139" y="44567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27972" y="44567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76612" y="44567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69067" y="44567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06289" y="44567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14327" y="445674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895725"/>
              <a:ext cx="5410200" cy="860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37272" y="389572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1618298" y="389572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318385" y="389572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2899410" y="389572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448050" y="389572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996690" y="389572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633912" y="389572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270182" y="389572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7685" y="4831556"/>
              <a:ext cx="3006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各操作占用的周期数（LD 到 MUL 为 EX 段）</a:t>
              </a:r>
            </a:p>
          </p:txBody>
        </p:sp>
      </p:grpSp>
      <p:grpSp>
        <p:nvGrpSpPr>
          <p:cNvPr id="57" name="c1-kv-3"/>
          <p:cNvGrpSpPr/>
          <p:nvPr/>
        </p:nvGrpSpPr>
        <p:grpSpPr>
          <a:xfrm>
            <a:off x="526161" y="5216366"/>
            <a:ext cx="5417439" cy="1121665"/>
            <a:chOff x="526161" y="5216366"/>
            <a:chExt cx="5417439" cy="1121665"/>
          </a:xfrm>
        </p:grpSpPr>
        <p:sp>
          <p:nvSpPr>
            <p:cNvPr id="49" name="TextBox 49"/>
            <p:cNvSpPr txBox="1"/>
            <p:nvPr/>
          </p:nvSpPr>
          <p:spPr>
            <a:xfrm>
              <a:off x="526161" y="5216366"/>
              <a:ext cx="364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LSU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958721" y="5216366"/>
              <a:ext cx="25616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LD、ST，地址由内部加法器算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55225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6161" y="5638324"/>
              <a:ext cx="12456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ALU1（乘法）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958721" y="5638324"/>
              <a:ext cx="3881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59436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6161" y="6059329"/>
              <a:ext cx="12456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ALU2（加法）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958721" y="6059329"/>
              <a:ext cx="29749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SUB、ADD；部件名沿用原课件答案</a:t>
              </a:r>
            </a:p>
          </p:txBody>
        </p:sp>
      </p:grpSp>
      <p:grpSp>
        <p:nvGrpSpPr>
          <p:cNvPr id="79" name="c2-table-1"/>
          <p:cNvGrpSpPr/>
          <p:nvPr/>
        </p:nvGrpSpPr>
        <p:grpSpPr>
          <a:xfrm>
            <a:off x="6248400" y="1524000"/>
            <a:ext cx="5410200" cy="2581275"/>
            <a:chOff x="6248400" y="1524000"/>
            <a:chExt cx="5410200" cy="2581275"/>
          </a:xfrm>
        </p:grpSpPr>
        <p:sp>
          <p:nvSpPr>
            <p:cNvPr id="58" name="Rectangle 58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7138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81494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对应变量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353747" y="2085022"/>
              <a:ext cx="9531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R2,(R1)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734044" y="2085022"/>
              <a:ext cx="16950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Rt=R2, Rs=R1, Imm=0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48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53747" y="2515552"/>
              <a:ext cx="1186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 R2,R2,#2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734044" y="2515552"/>
              <a:ext cx="16764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Rd=R2, Rs=R2, Rt=#2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53747" y="2946082"/>
              <a:ext cx="9531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R2,(R1)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734044" y="2946082"/>
              <a:ext cx="16950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Rt=R2, Rs=R1, Imm=0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48400" y="3239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248400" y="324421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353747" y="3375660"/>
              <a:ext cx="11502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 R1,R1,#4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734044" y="3375660"/>
              <a:ext cx="16764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Rd=R1, Rs=R1, Rt=#4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248400" y="36699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53747" y="3806190"/>
              <a:ext cx="11502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R5,R3,R4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734044" y="3806190"/>
              <a:ext cx="1680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Rd=R5, Rs=R3, Rt=R4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248400" y="1524000"/>
              <a:ext cx="5410200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8623935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5" name="c2-kv-2"/>
          <p:cNvGrpSpPr/>
          <p:nvPr/>
        </p:nvGrpSpPr>
        <p:grpSpPr>
          <a:xfrm>
            <a:off x="6241161" y="4313396"/>
            <a:ext cx="5417439" cy="1236917"/>
            <a:chOff x="6241161" y="4313396"/>
            <a:chExt cx="5417439" cy="1236917"/>
          </a:xfrm>
        </p:grpSpPr>
        <p:sp>
          <p:nvSpPr>
            <p:cNvPr id="80" name="TextBox 80"/>
            <p:cNvSpPr txBox="1"/>
            <p:nvPr/>
          </p:nvSpPr>
          <p:spPr>
            <a:xfrm>
              <a:off x="6241161" y="431339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解题约定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16558" y="4313396"/>
              <a:ext cx="380161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部件、寄存器预约在写回那一周期释放，下一周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期才能被新指令使用；操作数写回后的下一周期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才能读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248400" y="51549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241161" y="5271611"/>
              <a:ext cx="10760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ST 的写结果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516558" y="5271611"/>
              <a:ext cx="30634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就是写存储器，占 MEM 段 3 个周期</a:t>
              </a:r>
            </a:p>
          </p:txBody>
        </p:sp>
      </p:grpSp>
      <p:grpSp>
        <p:nvGrpSpPr>
          <p:cNvPr id="87" name="c2-text-3"/>
          <p:cNvGrpSpPr/>
          <p:nvPr/>
        </p:nvGrpSpPr>
        <p:grpSpPr>
          <a:xfrm>
            <a:off x="6242304" y="5698808"/>
            <a:ext cx="4980432" cy="470916"/>
            <a:chOff x="6242304" y="5698808"/>
            <a:chExt cx="4980432" cy="470916"/>
          </a:xfrm>
        </p:grpSpPr>
        <p:sp>
          <p:nvSpPr>
            <p:cNvPr id="86" name="TextBox 86"/>
            <p:cNvSpPr txBox="1"/>
            <p:nvPr/>
          </p:nvSpPr>
          <p:spPr>
            <a:xfrm>
              <a:off x="6242304" y="5698808"/>
              <a:ext cx="498043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原课件题面写 ADD R5,R4,R3，与对应变量和答案里的 ADD R5,R3,R4 不一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致，这里统一为后者。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74573" cy="909257"/>
            <a:chOff x="520446" y="342900"/>
            <a:chExt cx="71745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745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例题解答：按序流出，MUL 要先等 LD 写回 R2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7" name="c1-table-1"/>
          <p:cNvGrpSpPr/>
          <p:nvPr/>
        </p:nvGrpSpPr>
        <p:grpSpPr>
          <a:xfrm>
            <a:off x="533400" y="1524000"/>
            <a:ext cx="6492240" cy="2434590"/>
            <a:chOff x="533400" y="1524000"/>
            <a:chExt cx="6492240" cy="24345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128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12038" y="1648301"/>
              <a:ext cx="153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28744" y="16483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97922" y="164830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67119" y="1648301"/>
              <a:ext cx="354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82297" y="16483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1727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卡在哪里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3412" y="2054066"/>
              <a:ext cx="8896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R2,(R1)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41667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96010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48460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14186" y="205406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4–6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4956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23448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33076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335530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2459831"/>
              <a:ext cx="1107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 R2,R2,#2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971675" y="2345055"/>
              <a:ext cx="43529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141667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96010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82608" y="245983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10–19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97112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08099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23448" y="2459831"/>
              <a:ext cx="15857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WAW：R2 已被 LD 预约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273653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3412" y="2865596"/>
              <a:ext cx="8896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R2,(R1)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41667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426018" y="2750820"/>
              <a:ext cx="43529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554547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06997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31260" y="286559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23–25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349562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23448" y="2865596"/>
              <a:ext cx="2125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按序流出；RAW：等 MUL 的 R2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314229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3147060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3412" y="3271361"/>
              <a:ext cx="10736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 R1,R1,#4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00204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554547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982608" y="327136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12–15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797112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178618" y="3156585"/>
              <a:ext cx="43529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308099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23448" y="3271361"/>
              <a:ext cx="2006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按序流出；WAR：等 ST 读 R1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35480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3412" y="3677126"/>
              <a:ext cx="10736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R5,R3,R4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971675" y="3562350"/>
              <a:ext cx="43529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100204" y="36771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554547" y="36771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982608" y="367712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25–28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797112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308099" y="36771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723448" y="3677126"/>
              <a:ext cx="19345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结构：加法 ALU 被 SUB 占用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33400" y="1524000"/>
              <a:ext cx="649224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957388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2411730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286607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3514725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4164330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461867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1-card-2"/>
          <p:cNvGrpSpPr/>
          <p:nvPr/>
        </p:nvGrpSpPr>
        <p:grpSpPr>
          <a:xfrm>
            <a:off x="533400" y="4133850"/>
            <a:ext cx="6492240" cy="1724025"/>
            <a:chOff x="533400" y="4133850"/>
            <a:chExt cx="6492240" cy="1724025"/>
          </a:xfrm>
        </p:grpSpPr>
        <p:sp>
          <p:nvSpPr>
            <p:cNvPr id="68" name="Rectangle 68"/>
            <p:cNvSpPr/>
            <p:nvPr/>
          </p:nvSpPr>
          <p:spPr>
            <a:xfrm>
              <a:off x="533400" y="4133850"/>
              <a:ext cx="6492240" cy="1724025"/>
            </a:xfrm>
            <a:prstGeom prst="roundRect">
              <a:avLst>
                <a:gd name="adj" fmla="val 77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542925" y="4267200"/>
              <a:ext cx="47625" cy="14573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63905" y="432625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55345" y="43605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7047" y="4682490"/>
              <a:ext cx="581729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原课件答案为 MUL 流出 2、ST 流出 8、SUB 流出 3、ADD 流出 20。MUL 流出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 R2 已被 LD 预约，违反流出条件 Qi[rd] = null；SUB 先于 ST 流出违反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FIFO；即使按原答案自己的时间线，SUB 第 21 周期才写回、释放加法 ALU，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也不能在第 20 周期流出。</a:t>
              </a:r>
            </a:p>
          </p:txBody>
        </p:sp>
      </p:grpSp>
      <p:grpSp>
        <p:nvGrpSpPr>
          <p:cNvPr id="91" name="c2-steps-1"/>
          <p:cNvGrpSpPr/>
          <p:nvPr/>
        </p:nvGrpSpPr>
        <p:grpSpPr>
          <a:xfrm>
            <a:off x="7330440" y="1533525"/>
            <a:ext cx="4296019" cy="2695098"/>
            <a:chOff x="7330440" y="1533525"/>
            <a:chExt cx="4296019" cy="2695098"/>
          </a:xfrm>
        </p:grpSpPr>
        <p:sp>
          <p:nvSpPr>
            <p:cNvPr id="74" name="Rectangle 74"/>
            <p:cNvSpPr/>
            <p:nvPr/>
          </p:nvSpPr>
          <p:spPr>
            <a:xfrm>
              <a:off x="7463790" y="1676400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733044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42406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330440" y="212026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42406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7330440" y="291465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424064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7330440" y="350139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424064" y="3575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742682" y="1564957"/>
              <a:ext cx="11027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 等 WAW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743825" y="1833086"/>
              <a:ext cx="36069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第 7 周期写回 R2 并撤销预约，MUL 第 8 周期流出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742682" y="2152650"/>
              <a:ext cx="841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等数据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743825" y="2419826"/>
              <a:ext cx="365988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9 周期流出，LSU 已空；R2 要等 MUL 第 20 周期写回，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21 周期读数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742682" y="2946082"/>
              <a:ext cx="15771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 等 ST 读走 R1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743825" y="3214211"/>
              <a:ext cx="38826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15 周期算完，但 ST 还没读 R1，推迟到第 22 周期写回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742682" y="3532822"/>
              <a:ext cx="952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等部件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743825" y="3800951"/>
              <a:ext cx="375234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 ALU 第 22 周期释放，ADD 第 23 周期流出，第 29 周期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</a:t>
              </a:r>
            </a:p>
          </p:txBody>
        </p:sp>
      </p:grpSp>
      <p:grpSp>
        <p:nvGrpSpPr>
          <p:cNvPr id="98" name="c2-callout-2"/>
          <p:cNvGrpSpPr/>
          <p:nvPr/>
        </p:nvGrpSpPr>
        <p:grpSpPr>
          <a:xfrm>
            <a:off x="7330440" y="4396740"/>
            <a:ext cx="4328160" cy="1460182"/>
            <a:chOff x="7330440" y="4396740"/>
            <a:chExt cx="4328160" cy="1460182"/>
          </a:xfrm>
        </p:grpSpPr>
        <p:sp>
          <p:nvSpPr>
            <p:cNvPr id="92" name="Rectangle 92"/>
            <p:cNvSpPr/>
            <p:nvPr/>
          </p:nvSpPr>
          <p:spPr>
            <a:xfrm>
              <a:off x="7330440" y="4396740"/>
              <a:ext cx="4328160" cy="1460182"/>
            </a:xfrm>
            <a:prstGeom prst="roundRect">
              <a:avLst>
                <a:gd name="adj" fmla="val 782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7535228" y="5027295"/>
              <a:ext cx="200026" cy="200025"/>
              <a:chOff x="7535228" y="5027295"/>
              <a:chExt cx="200026" cy="200025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7535228" y="50272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7574966" y="50717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7609682" y="51828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7837932" y="4908233"/>
              <a:ext cx="31255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做题顺序：先按流出条件逐条定 IS，再定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RO，最后查 WAR 定 WB。</a:t>
              </a:r>
            </a:p>
          </p:txBody>
        </p:sp>
      </p:grpSp>
      <p:grpSp>
        <p:nvGrpSpPr>
          <p:cNvPr id="10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9" name="TextBox 9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87880" cy="909257"/>
            <a:chOff x="520446" y="342900"/>
            <a:chExt cx="57878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878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例题解答：第 18 周期末的三张状态表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6" name="c1-table-1"/>
          <p:cNvGrpSpPr/>
          <p:nvPr/>
        </p:nvGrpSpPr>
        <p:grpSpPr>
          <a:xfrm>
            <a:off x="528066" y="1524000"/>
            <a:ext cx="6281356" cy="2057971"/>
            <a:chOff x="528066" y="1524000"/>
            <a:chExt cx="6281356" cy="205797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2018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88135" y="1651635"/>
              <a:ext cx="439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Busy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60219" y="1651635"/>
              <a:ext cx="2688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92062" y="1651635"/>
              <a:ext cx="1805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13079" y="1651635"/>
              <a:ext cx="1805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Fj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08616" y="1651635"/>
              <a:ext cx="229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29777" y="1651635"/>
              <a:ext cx="219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Qj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19611" y="1651635"/>
              <a:ext cx="2688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60979" y="1651635"/>
              <a:ext cx="1805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Rj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34609" y="1651635"/>
              <a:ext cx="229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2270" y="2096452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LSU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48250" y="2096452"/>
              <a:ext cx="3192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82151" y="2096452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90861" y="2096452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10926" y="2096452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35931" y="2096452"/>
              <a:ext cx="4361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94397" y="209645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92554" y="209645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4088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2413635"/>
              <a:ext cx="6276022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2270" y="2541270"/>
              <a:ext cx="881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ALU1 乘法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48250" y="2541270"/>
              <a:ext cx="3192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10142" y="2541270"/>
              <a:ext cx="368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69844" y="2541270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90861" y="2541270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16584" y="254127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94397" y="254127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92554" y="254127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28527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2270" y="2986088"/>
              <a:ext cx="881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ALU2 加法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48250" y="2986088"/>
              <a:ext cx="3192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29345" y="298608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69844" y="298608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690861" y="298608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16584" y="298608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94397" y="298608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92554" y="298608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1524000"/>
              <a:ext cx="6276022" cy="17783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644015" y="1524000"/>
              <a:ext cx="9525" cy="17783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2362200" y="1524000"/>
              <a:ext cx="9525" cy="17783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3017520" y="1524000"/>
              <a:ext cx="9525" cy="17783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3538538" y="1524000"/>
              <a:ext cx="9525" cy="17783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4058602" y="1524000"/>
              <a:ext cx="9525" cy="17783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4578668" y="1524000"/>
              <a:ext cx="9525" cy="17783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090160" y="1524000"/>
              <a:ext cx="9525" cy="17783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808345" y="1524000"/>
              <a:ext cx="9525" cy="17783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83642" y="1524000"/>
              <a:ext cx="9525" cy="17783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8066" y="337661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功能部件状态表</a:t>
              </a:r>
            </a:p>
          </p:txBody>
        </p:sp>
      </p:grpSp>
      <p:grpSp>
        <p:nvGrpSpPr>
          <p:cNvPr id="74" name="c1-table-2"/>
          <p:cNvGrpSpPr/>
          <p:nvPr/>
        </p:nvGrpSpPr>
        <p:grpSpPr>
          <a:xfrm>
            <a:off x="528066" y="3715702"/>
            <a:ext cx="6281356" cy="1169289"/>
            <a:chOff x="528066" y="3715702"/>
            <a:chExt cx="6281356" cy="1169289"/>
          </a:xfrm>
        </p:grpSpPr>
        <p:sp>
          <p:nvSpPr>
            <p:cNvPr id="57" name="Rectangle 57"/>
            <p:cNvSpPr/>
            <p:nvPr/>
          </p:nvSpPr>
          <p:spPr>
            <a:xfrm>
              <a:off x="533400" y="3715702"/>
              <a:ext cx="6276022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75919" y="384429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221588" y="3844290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347443" y="3844290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373286" y="3844290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301021" y="3844290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27803" y="3844290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32270" y="4289108"/>
              <a:ext cx="219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Qi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121256" y="4289108"/>
              <a:ext cx="4361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247111" y="4289108"/>
              <a:ext cx="4361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ALU1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33400" y="3715702"/>
              <a:ext cx="6276022" cy="8896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1772602" y="3715702"/>
              <a:ext cx="9525" cy="8896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2897505" y="3715702"/>
              <a:ext cx="9525" cy="8896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4022408" y="3715702"/>
              <a:ext cx="9525" cy="8896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4950142" y="3715702"/>
              <a:ext cx="9525" cy="8896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876925" y="3715702"/>
              <a:ext cx="9525" cy="8896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28066" y="467963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寄存器预约表</a:t>
              </a:r>
            </a:p>
          </p:txBody>
        </p:sp>
      </p:grpSp>
      <p:grpSp>
        <p:nvGrpSpPr>
          <p:cNvPr id="76" name="c1-text-3"/>
          <p:cNvGrpSpPr/>
          <p:nvPr/>
        </p:nvGrpSpPr>
        <p:grpSpPr>
          <a:xfrm>
            <a:off x="527685" y="5037296"/>
            <a:ext cx="6006846" cy="441008"/>
            <a:chOff x="527685" y="5037296"/>
            <a:chExt cx="6006846" cy="441008"/>
          </a:xfrm>
        </p:grpSpPr>
        <p:sp>
          <p:nvSpPr>
            <p:cNvPr id="75" name="TextBox 75"/>
            <p:cNvSpPr txBox="1"/>
            <p:nvPr/>
          </p:nvSpPr>
          <p:spPr>
            <a:xfrm>
              <a:off x="527685" y="5037296"/>
              <a:ext cx="6006846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的 Rj = 1：R1 已就绪但还没读走，所以 ALU2 里的 SUB 不能写回 R1。Qk = ALU1：ST 要存的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R2 由乘法 ALU 产生。</a:t>
              </a:r>
            </a:p>
          </p:txBody>
        </p:sp>
      </p:grpSp>
      <p:grpSp>
        <p:nvGrpSpPr>
          <p:cNvPr id="99" name="c2-table-1"/>
          <p:cNvGrpSpPr/>
          <p:nvPr/>
        </p:nvGrpSpPr>
        <p:grpSpPr>
          <a:xfrm>
            <a:off x="7108888" y="1524000"/>
            <a:ext cx="4549712" cy="2714244"/>
            <a:chOff x="7108888" y="1524000"/>
            <a:chExt cx="4549712" cy="2714244"/>
          </a:xfrm>
        </p:grpSpPr>
        <p:sp>
          <p:nvSpPr>
            <p:cNvPr id="77" name="Rectangle 77"/>
            <p:cNvSpPr/>
            <p:nvPr/>
          </p:nvSpPr>
          <p:spPr>
            <a:xfrm>
              <a:off x="7114222" y="1524000"/>
              <a:ext cx="4544378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00262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989950" y="1648301"/>
              <a:ext cx="8836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18 周期末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214235" y="2054066"/>
              <a:ext cx="8896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R2,(R1)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304972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已写结果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7114222" y="233076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7114222" y="2335530"/>
              <a:ext cx="454437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214235" y="2459831"/>
              <a:ext cx="1107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 R2,R2,#2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304972" y="2459831"/>
              <a:ext cx="1179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执行中（10–19）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7114222" y="273653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214235" y="2865596"/>
              <a:ext cx="8896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R2,(R1)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304972" y="28655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已流出，等读数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7114222" y="314229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7114222" y="3147060"/>
              <a:ext cx="454437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214235" y="3271361"/>
              <a:ext cx="10736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 R1,R1,#4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304972" y="327136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已执行完，等写回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7114222" y="354806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214235" y="3677126"/>
              <a:ext cx="10736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R5,R3,R4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304972" y="36771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未流出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7114222" y="1524000"/>
              <a:ext cx="4544378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9200198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7108888" y="403288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指令执行状态</a:t>
              </a:r>
            </a:p>
          </p:txBody>
        </p:sp>
      </p:grpSp>
      <p:grpSp>
        <p:nvGrpSpPr>
          <p:cNvPr id="105" name="c2-callout-2"/>
          <p:cNvGrpSpPr/>
          <p:nvPr/>
        </p:nvGrpSpPr>
        <p:grpSpPr>
          <a:xfrm>
            <a:off x="7114222" y="4371975"/>
            <a:ext cx="4544378" cy="978218"/>
            <a:chOff x="7114222" y="4371975"/>
            <a:chExt cx="4544378" cy="978218"/>
          </a:xfrm>
        </p:grpSpPr>
        <p:sp>
          <p:nvSpPr>
            <p:cNvPr id="100" name="Rectangle 100"/>
            <p:cNvSpPr/>
            <p:nvPr/>
          </p:nvSpPr>
          <p:spPr>
            <a:xfrm>
              <a:off x="7114222" y="4371975"/>
              <a:ext cx="4544378" cy="978218"/>
            </a:xfrm>
            <a:prstGeom prst="roundRect">
              <a:avLst>
                <a:gd name="adj" fmla="val 1168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7319010" y="4761548"/>
              <a:ext cx="200026" cy="200026"/>
              <a:chOff x="7319010" y="4761548"/>
              <a:chExt cx="200026" cy="200026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7319010" y="47615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7385685" y="483933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04" name="TextBox 104"/>
            <p:cNvSpPr txBox="1"/>
            <p:nvPr/>
          </p:nvSpPr>
          <p:spPr>
            <a:xfrm>
              <a:off x="7621714" y="4518660"/>
              <a:ext cx="36141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按正确规则重算后，周期数变了，但第 18 周期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末的三张表与原课件答案相同。原答案的错误只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在周期表里。</a:t>
              </a:r>
            </a:p>
          </p:txBody>
        </p:sp>
      </p:grpSp>
      <p:grpSp>
        <p:nvGrpSpPr>
          <p:cNvPr id="112" name="c2-callout-3"/>
          <p:cNvGrpSpPr/>
          <p:nvPr/>
        </p:nvGrpSpPr>
        <p:grpSpPr>
          <a:xfrm>
            <a:off x="7114222" y="5525452"/>
            <a:ext cx="4544378" cy="729615"/>
            <a:chOff x="7114222" y="5525452"/>
            <a:chExt cx="4544378" cy="729615"/>
          </a:xfrm>
        </p:grpSpPr>
        <p:sp>
          <p:nvSpPr>
            <p:cNvPr id="106" name="Rectangle 106"/>
            <p:cNvSpPr/>
            <p:nvPr/>
          </p:nvSpPr>
          <p:spPr>
            <a:xfrm>
              <a:off x="7114222" y="5525452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10" name="Group 110"/>
            <p:cNvGrpSpPr/>
            <p:nvPr/>
          </p:nvGrpSpPr>
          <p:grpSpPr>
            <a:xfrm>
              <a:off x="7319010" y="5790248"/>
              <a:ext cx="200026" cy="200026"/>
              <a:chOff x="7319010" y="5790248"/>
              <a:chExt cx="200026" cy="200026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7319010" y="57902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7419023" y="58569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7407910" y="58902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11" name="TextBox 111"/>
            <p:cNvSpPr txBox="1"/>
            <p:nvPr/>
          </p:nvSpPr>
          <p:spPr>
            <a:xfrm>
              <a:off x="7621714" y="5671185"/>
              <a:ext cx="36141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部件名沿用原课件：ALU1 是乘法部件，ALU2 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加法部件。</a:t>
              </a:r>
            </a:p>
          </p:txBody>
        </p:sp>
      </p:grpSp>
      <p:grpSp>
        <p:nvGrpSpPr>
          <p:cNvPr id="11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3" name="TextBox 113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记分牌的功能与局限：名相关它消不掉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410200" cy="2558415"/>
            <a:chOff x="533400" y="1524000"/>
            <a:chExt cx="5410200" cy="25584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655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记分牌做了三件事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4415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检测并消除冲突：IS 段消除结构冲突和 WAW，RO 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消除 RAW，WB 段消除 WAR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71843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73177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记录软硬件状态：指令状态、功能部件状态、寄存器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预约状态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333946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33817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335280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集中式动态调度：所有指令都经过记分牌，所有部件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都受它监控，每个阶段都更新它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4272915"/>
            <a:ext cx="5410200" cy="782955"/>
            <a:chOff x="533400" y="4272915"/>
            <a:chExt cx="5410200" cy="782955"/>
          </a:xfrm>
        </p:grpSpPr>
        <p:sp>
          <p:nvSpPr>
            <p:cNvPr id="21" name="Rectangle 21"/>
            <p:cNvSpPr/>
            <p:nvPr/>
          </p:nvSpPr>
          <p:spPr>
            <a:xfrm>
              <a:off x="533400" y="427291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4564380"/>
              <a:ext cx="200026" cy="200026"/>
              <a:chOff x="738188" y="4564380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5643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46310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7088" y="46643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442150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它处理的是数据相关和结构相关；控制相关不归记分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牌管，要靠分支预测等技术。</a:t>
              </a:r>
            </a:p>
          </p:txBody>
        </p:sp>
      </p:grpSp>
      <p:grpSp>
        <p:nvGrpSpPr>
          <p:cNvPr id="39" name="c2-bullets-1"/>
          <p:cNvGrpSpPr/>
          <p:nvPr/>
        </p:nvGrpSpPr>
        <p:grpSpPr>
          <a:xfrm>
            <a:off x="6240780" y="1548765"/>
            <a:ext cx="5436870" cy="2026920"/>
            <a:chOff x="6240780" y="1548765"/>
            <a:chExt cx="5436870" cy="2026920"/>
          </a:xfrm>
        </p:grpSpPr>
        <p:sp>
          <p:nvSpPr>
            <p:cNvPr id="28" name="TextBox 28"/>
            <p:cNvSpPr txBox="1"/>
            <p:nvPr/>
          </p:nvSpPr>
          <p:spPr>
            <a:xfrm>
              <a:off x="6240780" y="15487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限制记分牌性能的因素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54115" y="196596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0" y="190309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指令中可开发的并行性：决定有多少独立指令能被发掘出来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254115" y="23107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230" y="224790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记分牌表项的条数：决定能提前多远去找不相关的指令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254115" y="265557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0" y="259270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功能部件的类型和数量：决定冲突的类型和数量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254115" y="300037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12230" y="293751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真数据相关导致的停顿：有些能靠乱序消除，有些不能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254115" y="334518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12230" y="328231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名相关导致的停顿：理论上可以消除，记分牌却只能等</a:t>
              </a:r>
            </a:p>
          </p:txBody>
        </p:sp>
      </p:grpSp>
      <p:grpSp>
        <p:nvGrpSpPr>
          <p:cNvPr id="45" name="c2-callout-2"/>
          <p:cNvGrpSpPr/>
          <p:nvPr/>
        </p:nvGrpSpPr>
        <p:grpSpPr>
          <a:xfrm>
            <a:off x="6248400" y="3707130"/>
            <a:ext cx="5410200" cy="1348740"/>
            <a:chOff x="6248400" y="3707130"/>
            <a:chExt cx="5410200" cy="1348740"/>
          </a:xfrm>
        </p:grpSpPr>
        <p:sp>
          <p:nvSpPr>
            <p:cNvPr id="40" name="Rectangle 40"/>
            <p:cNvSpPr/>
            <p:nvPr/>
          </p:nvSpPr>
          <p:spPr>
            <a:xfrm>
              <a:off x="6248400" y="3707130"/>
              <a:ext cx="5410200" cy="1348740"/>
            </a:xfrm>
            <a:prstGeom prst="roundRect">
              <a:avLst>
                <a:gd name="adj" fmla="val 8475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453188" y="4281490"/>
              <a:ext cx="200023" cy="200023"/>
              <a:chOff x="6453188" y="4281490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453188" y="42814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86538" y="43481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755130" y="4000500"/>
              <a:ext cx="45205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例题里 MUL 因 WAW 等了 6 个周期，SUB 因 WAR 等了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 个周期，都是名相关。Tomasulo 用换名消除这类停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顿。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6" name="Rectangle 4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130" y="5991225"/>
              <a:ext cx="8452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记分牌做这五条指令要 29 个周期；第 33 页用 Tomasulo 调度同样五条指令，20 个周期做完。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36175" cy="909257"/>
            <a:chOff x="520446" y="342900"/>
            <a:chExt cx="82361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361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Tomasulo 算法：保留站把寄存器名换成数据或生产者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842635" cy="1817370"/>
            <a:chOff x="533400" y="1524000"/>
            <a:chExt cx="5842635" cy="18173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817370"/>
            </a:xfrm>
            <a:prstGeom prst="roundRect">
              <a:avLst>
                <a:gd name="adj" fmla="val 7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5067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核心思想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5163185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Robert Tomasulo 发明，IBM 360/91（原课件误印为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3135/91）首先采用。引入保留站（Reservation Station）和相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关逻辑硬件实现寄存器换名，完全消除名相关，并尽最大可能减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少真数据相关引起的流水线阻塞。</a:t>
              </a:r>
            </a:p>
          </p:txBody>
        </p:sp>
      </p:grpSp>
      <p:grpSp>
        <p:nvGrpSpPr>
          <p:cNvPr id="24" name="c1-table-2"/>
          <p:cNvGrpSpPr/>
          <p:nvPr/>
        </p:nvGrpSpPr>
        <p:grpSpPr>
          <a:xfrm>
            <a:off x="533400" y="3527108"/>
            <a:ext cx="5842635" cy="1717358"/>
            <a:chOff x="533400" y="3527108"/>
            <a:chExt cx="5842635" cy="1717358"/>
          </a:xfrm>
        </p:grpSpPr>
        <p:sp>
          <p:nvSpPr>
            <p:cNvPr id="13" name="Rectangle 13"/>
            <p:cNvSpPr/>
            <p:nvPr/>
          </p:nvSpPr>
          <p:spPr>
            <a:xfrm>
              <a:off x="533400" y="3527108"/>
              <a:ext cx="5842635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6231" y="365855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指令流出到保留站时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69092" y="365855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保留站里存什么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8746" y="41948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源操作数已在寄存器中就绪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09544" y="4088130"/>
              <a:ext cx="2755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把数值读出来存进保留站（寄存器换成数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5958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4600575"/>
              <a:ext cx="584263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48387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操作数还没有算出来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09544" y="4732020"/>
              <a:ext cx="2907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存将要产生它的保留站标识（寄存器换成保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留站号）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527108"/>
              <a:ext cx="5842635" cy="17173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099435" y="3527108"/>
              <a:ext cx="9525" cy="17173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1" name="c1-callout-3"/>
          <p:cNvGrpSpPr/>
          <p:nvPr/>
        </p:nvGrpSpPr>
        <p:grpSpPr>
          <a:xfrm>
            <a:off x="533400" y="5429250"/>
            <a:ext cx="5842635" cy="756285"/>
            <a:chOff x="533400" y="5429250"/>
            <a:chExt cx="5842635" cy="756285"/>
          </a:xfrm>
        </p:grpSpPr>
        <p:sp>
          <p:nvSpPr>
            <p:cNvPr id="25" name="Rectangle 25"/>
            <p:cNvSpPr/>
            <p:nvPr/>
          </p:nvSpPr>
          <p:spPr>
            <a:xfrm>
              <a:off x="533400" y="5429250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707380"/>
              <a:ext cx="200026" cy="200025"/>
              <a:chOff x="738188" y="5707380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7073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7926" y="57518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2642" y="58629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511" y="5577364"/>
              <a:ext cx="48836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换名之后，保留站里的指令只认数据或保留站号，后面的指令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再改写这个寄存器也影响不到它。</a:t>
              </a:r>
            </a:p>
          </p:txBody>
        </p:sp>
      </p:grpSp>
      <p:grpSp>
        <p:nvGrpSpPr>
          <p:cNvPr id="34" name="c2-image-1"/>
          <p:cNvGrpSpPr/>
          <p:nvPr/>
        </p:nvGrpSpPr>
        <p:grpSpPr>
          <a:xfrm>
            <a:off x="6647777" y="1524000"/>
            <a:ext cx="5043881" cy="4047649"/>
            <a:chOff x="6647777" y="1524000"/>
            <a:chExt cx="5043881" cy="4047649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rcRect l="16662" t="0" r="16663" b="0"/>
            <a:stretch>
              <a:fillRect/>
            </a:stretch>
          </p:blipFill>
          <p:spPr>
            <a:xfrm>
              <a:off x="6680835" y="1524000"/>
              <a:ext cx="4977765" cy="3732848"/>
            </a:xfrm>
            <a:prstGeom prst="roundRect">
              <a:avLst>
                <a:gd name="adj" fmla="val 3572"/>
              </a:avLst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6647777" y="5351621"/>
              <a:ext cx="5043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灶台是保留站；主厨敲铃举起酱汁就是 CDB 广播，所有等它的灶台同时取走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68734" cy="909257"/>
            <a:chOff x="520446" y="342900"/>
            <a:chExt cx="91687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687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Tomasulo 的硬件：保留站、LS 缓冲器和公共数据总线 CDB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graph-1"/>
          <p:cNvGrpSpPr/>
          <p:nvPr/>
        </p:nvGrpSpPr>
        <p:grpSpPr>
          <a:xfrm>
            <a:off x="868680" y="1716405"/>
            <a:ext cx="4678680" cy="4063365"/>
            <a:chOff x="868680" y="1716405"/>
            <a:chExt cx="4678680" cy="4063365"/>
          </a:xfrm>
        </p:grpSpPr>
        <p:sp>
          <p:nvSpPr>
            <p:cNvPr id="7" name="Freeform 7"/>
            <p:cNvSpPr/>
            <p:nvPr/>
          </p:nvSpPr>
          <p:spPr>
            <a:xfrm>
              <a:off x="1432560" y="2036445"/>
              <a:ext cx="250507" cy="989647"/>
            </a:xfrm>
            <a:custGeom>
              <a:avLst/>
              <a:gdLst/>
              <a:ahLst/>
              <a:cxnLst/>
              <a:rect l="l" t="t" r="r" b="b"/>
              <a:pathLst>
                <a:path w="250507" h="989647">
                  <a:moveTo>
                    <a:pt x="250507" y="0"/>
                  </a:moveTo>
                  <a:lnTo>
                    <a:pt x="0" y="9896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386840" y="3014662"/>
              <a:ext cx="92393" cy="103822"/>
            </a:xfrm>
            <a:custGeom>
              <a:avLst/>
              <a:gdLst/>
              <a:ahLst/>
              <a:cxnLst/>
              <a:rect l="l" t="t" r="r" b="b"/>
              <a:pathLst>
                <a:path w="92393" h="103822">
                  <a:moveTo>
                    <a:pt x="22860" y="103822"/>
                  </a:moveTo>
                  <a:lnTo>
                    <a:pt x="0" y="0"/>
                  </a:lnTo>
                  <a:lnTo>
                    <a:pt x="92393" y="2286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880235" y="2036445"/>
              <a:ext cx="1081087" cy="1108710"/>
            </a:xfrm>
            <a:custGeom>
              <a:avLst/>
              <a:gdLst/>
              <a:ahLst/>
              <a:cxnLst/>
              <a:rect l="l" t="t" r="r" b="b"/>
              <a:pathLst>
                <a:path w="1081087" h="1108710">
                  <a:moveTo>
                    <a:pt x="0" y="0"/>
                  </a:moveTo>
                  <a:lnTo>
                    <a:pt x="1081087" y="11087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27985" y="3111818"/>
              <a:ext cx="100012" cy="101917"/>
            </a:xfrm>
            <a:custGeom>
              <a:avLst/>
              <a:gdLst/>
              <a:ahLst/>
              <a:cxnLst/>
              <a:rect l="l" t="t" r="r" b="b"/>
              <a:pathLst>
                <a:path w="100012" h="101917">
                  <a:moveTo>
                    <a:pt x="100012" y="101917"/>
                  </a:moveTo>
                  <a:lnTo>
                    <a:pt x="0" y="66675"/>
                  </a:lnTo>
                  <a:lnTo>
                    <a:pt x="6762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491990" y="2036445"/>
              <a:ext cx="433388" cy="1088708"/>
            </a:xfrm>
            <a:custGeom>
              <a:avLst/>
              <a:gdLst/>
              <a:ahLst/>
              <a:cxnLst/>
              <a:rect l="l" t="t" r="r" b="b"/>
              <a:pathLst>
                <a:path w="433388" h="1088708">
                  <a:moveTo>
                    <a:pt x="0" y="0"/>
                  </a:moveTo>
                  <a:lnTo>
                    <a:pt x="433388" y="10887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880610" y="3107055"/>
              <a:ext cx="88583" cy="106680"/>
            </a:xfrm>
            <a:custGeom>
              <a:avLst/>
              <a:gdLst/>
              <a:ahLst/>
              <a:cxnLst/>
              <a:rect l="l" t="t" r="r" b="b"/>
              <a:pathLst>
                <a:path w="88583" h="106680">
                  <a:moveTo>
                    <a:pt x="80010" y="106680"/>
                  </a:moveTo>
                  <a:lnTo>
                    <a:pt x="0" y="35242"/>
                  </a:lnTo>
                  <a:lnTo>
                    <a:pt x="8858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344930" y="3629025"/>
              <a:ext cx="9525" cy="634365"/>
            </a:xfrm>
            <a:custGeom>
              <a:avLst/>
              <a:gdLst/>
              <a:ahLst/>
              <a:cxnLst/>
              <a:rect l="l" t="t" r="r" b="b"/>
              <a:pathLst>
                <a:path w="9525" h="634365">
                  <a:moveTo>
                    <a:pt x="0" y="0"/>
                  </a:moveTo>
                  <a:lnTo>
                    <a:pt x="0" y="6343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297305" y="42633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184208" y="3533775"/>
              <a:ext cx="9525" cy="729615"/>
            </a:xfrm>
            <a:custGeom>
              <a:avLst/>
              <a:gdLst/>
              <a:ahLst/>
              <a:cxnLst/>
              <a:rect l="l" t="t" r="r" b="b"/>
              <a:pathLst>
                <a:path w="9525" h="729615">
                  <a:moveTo>
                    <a:pt x="0" y="0"/>
                  </a:moveTo>
                  <a:lnTo>
                    <a:pt x="0" y="7296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136582" y="42633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5023485" y="3533775"/>
              <a:ext cx="9525" cy="729615"/>
            </a:xfrm>
            <a:custGeom>
              <a:avLst/>
              <a:gdLst/>
              <a:ahLst/>
              <a:cxnLst/>
              <a:rect l="l" t="t" r="r" b="b"/>
              <a:pathLst>
                <a:path w="9525" h="729615">
                  <a:moveTo>
                    <a:pt x="0" y="0"/>
                  </a:moveTo>
                  <a:lnTo>
                    <a:pt x="0" y="7296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975860" y="42633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344930" y="4678680"/>
              <a:ext cx="9525" cy="679133"/>
            </a:xfrm>
            <a:custGeom>
              <a:avLst/>
              <a:gdLst/>
              <a:ahLst/>
              <a:cxnLst/>
              <a:rect l="l" t="t" r="r" b="b"/>
              <a:pathLst>
                <a:path w="9525" h="679133">
                  <a:moveTo>
                    <a:pt x="0" y="0"/>
                  </a:moveTo>
                  <a:lnTo>
                    <a:pt x="0" y="6791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297305" y="53578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184208" y="4678680"/>
              <a:ext cx="9525" cy="679133"/>
            </a:xfrm>
            <a:custGeom>
              <a:avLst/>
              <a:gdLst/>
              <a:ahLst/>
              <a:cxnLst/>
              <a:rect l="l" t="t" r="r" b="b"/>
              <a:pathLst>
                <a:path w="9525" h="679133">
                  <a:moveTo>
                    <a:pt x="0" y="0"/>
                  </a:moveTo>
                  <a:lnTo>
                    <a:pt x="0" y="6791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136582" y="53578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023485" y="4678680"/>
              <a:ext cx="9525" cy="679133"/>
            </a:xfrm>
            <a:custGeom>
              <a:avLst/>
              <a:gdLst/>
              <a:ahLst/>
              <a:cxnLst/>
              <a:rect l="l" t="t" r="r" b="b"/>
              <a:pathLst>
                <a:path w="9525" h="679133">
                  <a:moveTo>
                    <a:pt x="0" y="0"/>
                  </a:moveTo>
                  <a:lnTo>
                    <a:pt x="0" y="6791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975860" y="53578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009650" y="1716405"/>
              <a:ext cx="142875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619500" y="1716405"/>
              <a:ext cx="16192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68680" y="3118485"/>
              <a:ext cx="952500" cy="510540"/>
            </a:xfrm>
            <a:prstGeom prst="roundRect">
              <a:avLst>
                <a:gd name="adj" fmla="val 1865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660332" y="3213735"/>
              <a:ext cx="104775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499610" y="3213735"/>
              <a:ext cx="104775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68680" y="4358640"/>
              <a:ext cx="9525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660332" y="4358640"/>
              <a:ext cx="104775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499610" y="4358640"/>
              <a:ext cx="104775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143000" y="5459730"/>
              <a:ext cx="41910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75294" y="1801178"/>
              <a:ext cx="10974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指令队列 FIFO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96569" y="1801178"/>
              <a:ext cx="1465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浮点寄存器 F0–F30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1062" y="3203257"/>
              <a:ext cx="7477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 缓冲器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85973" y="3393757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个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750378" y="3298507"/>
              <a:ext cx="8676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Add1–Add3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05625" y="3298507"/>
              <a:ext cx="1035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Mult1–Mult2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5746" y="44434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存储部件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774252" y="444341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浮点加法器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13529" y="444341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浮点乘法器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573030" y="5544502"/>
              <a:ext cx="13309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公共数据总线 CDB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291715" y="2531745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316759" y="256651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流出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501515" y="2531745"/>
              <a:ext cx="44958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523461" y="256651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操作数</a:t>
              </a:r>
            </a:p>
          </p:txBody>
        </p:sp>
      </p:grpSp>
      <p:grpSp>
        <p:nvGrpSpPr>
          <p:cNvPr id="63" name="c2-kv-1"/>
          <p:cNvGrpSpPr/>
          <p:nvPr/>
        </p:nvGrpSpPr>
        <p:grpSpPr>
          <a:xfrm>
            <a:off x="6240780" y="1548765"/>
            <a:ext cx="5417820" cy="4027170"/>
            <a:chOff x="6240780" y="1548765"/>
            <a:chExt cx="5417820" cy="4027170"/>
          </a:xfrm>
        </p:grpSpPr>
        <p:sp>
          <p:nvSpPr>
            <p:cNvPr id="49" name="TextBox 49"/>
            <p:cNvSpPr txBox="1"/>
            <p:nvPr/>
          </p:nvSpPr>
          <p:spPr>
            <a:xfrm>
              <a:off x="624078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浮点部件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80935" y="1548765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加法器做加减，乘法器做乘除，存储单元做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Load/Store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21507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40780" y="227076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保留站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80935" y="2270760"/>
              <a:ext cx="33299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加减 3 个（Add1–Add3），乘除 2 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（Mult1、Mult2）；每个都有唯一标识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28727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40780" y="299275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CDB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80935" y="2992755"/>
              <a:ext cx="393001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所有部件的计算和访存结果都送上 CDB，广播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给所有需要它的地方；连到除 load 缓冲器以外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所有部件的入口。多流出时要多条 CDB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38766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40780" y="399669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浮点寄存器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80935" y="3996690"/>
              <a:ext cx="39490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个（F0、F2 … F30），经 CDB 接收结果，并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连到 store 缓冲器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45986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40780" y="4718685"/>
              <a:ext cx="9346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LS 缓冲器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480935" y="4718685"/>
              <a:ext cx="388239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存有效地址分量 Imm、正在访存的地址、load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取回待上 CDB 的数据、store 的目标地址和待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存数据</a:t>
              </a:r>
            </a:p>
          </p:txBody>
        </p:sp>
      </p:grpSp>
      <p:grpSp>
        <p:nvGrpSpPr>
          <p:cNvPr id="65" name="c2-text-2"/>
          <p:cNvGrpSpPr/>
          <p:nvPr/>
        </p:nvGrpSpPr>
        <p:grpSpPr>
          <a:xfrm>
            <a:off x="6241923" y="5728811"/>
            <a:ext cx="3125003" cy="249364"/>
            <a:chOff x="6241923" y="5728811"/>
            <a:chExt cx="3125003" cy="249364"/>
          </a:xfrm>
        </p:grpSpPr>
        <p:sp>
          <p:nvSpPr>
            <p:cNvPr id="64" name="TextBox 64"/>
            <p:cNvSpPr txBox="1"/>
            <p:nvPr/>
          </p:nvSpPr>
          <p:spPr>
            <a:xfrm>
              <a:off x="6241923" y="5728811"/>
              <a:ext cx="31250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LSU 内部含加法器，用于计算有效地址。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63051" cy="909257"/>
            <a:chOff x="520446" y="342900"/>
            <a:chExt cx="68630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630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Tomasulo 的三个步骤：流出、执行、写结果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11125200" cy="4080510"/>
            <a:chOff x="533400" y="1524000"/>
            <a:chExt cx="11125200" cy="40805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2463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5170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23718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04" y="2255044"/>
              <a:ext cx="9593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流出（IS）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17826" y="2128361"/>
              <a:ext cx="41622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指令到了指令队列头部，且有对应类型的空闲保留站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89838" y="2255044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缓冲操作数，完成换名，预约目标寄存器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108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15578"/>
              <a:ext cx="1112520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04" y="2977039"/>
              <a:ext cx="15858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执行：浮点（EX）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17826" y="2850356"/>
              <a:ext cx="4189349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两个操作数都就绪，且运算部件空闲；不管 r 是否在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保留站头部（乱序计算）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89838" y="297703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计算浮点操作，产生结果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43281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04" y="3572351"/>
              <a:ext cx="1151973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执行：LD/ST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（EX、MEM）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17826" y="3572351"/>
              <a:ext cx="4234434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地址操作数就绪即可算地址；LD 访存还要求它是缓冲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器队列头部且存储器就绪（按序访存）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89838" y="3699034"/>
              <a:ext cx="36712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算出有效地址放入 r；LD 在 MEM 段读数据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1557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160520"/>
              <a:ext cx="1112520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04" y="4295299"/>
              <a:ext cx="12768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写结果：浮点与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LD（WB）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17826" y="4421981"/>
              <a:ext cx="21607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执行结束，且 CDB 就绪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89838" y="4295299"/>
              <a:ext cx="4153281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结果放上 CDB，送给所有等它的寄存器和保留站（含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store 缓冲器），释放 r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8777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7604" y="5017294"/>
              <a:ext cx="944131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写结果：ST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（MEM）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17826" y="5017294"/>
              <a:ext cx="4135247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执行结束，待存数据就绪，是缓冲器队列头部，存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储器就绪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89838" y="5143976"/>
              <a:ext cx="22797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把数据写入存储器，释放 r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11125200" cy="40805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308860" y="1524000"/>
              <a:ext cx="9525" cy="40805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980872" y="1524000"/>
              <a:ext cx="9525" cy="40805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llout-2"/>
          <p:cNvGrpSpPr/>
          <p:nvPr/>
        </p:nvGrpSpPr>
        <p:grpSpPr>
          <a:xfrm>
            <a:off x="533400" y="5790248"/>
            <a:ext cx="11125200" cy="572452"/>
            <a:chOff x="533400" y="5790248"/>
            <a:chExt cx="11125200" cy="572452"/>
          </a:xfrm>
        </p:grpSpPr>
        <p:sp>
          <p:nvSpPr>
            <p:cNvPr id="36" name="Rectangle 36"/>
            <p:cNvSpPr/>
            <p:nvPr/>
          </p:nvSpPr>
          <p:spPr>
            <a:xfrm>
              <a:off x="533400" y="5790248"/>
              <a:ext cx="11125200" cy="572452"/>
            </a:xfrm>
            <a:prstGeom prst="roundRect">
              <a:avLst>
                <a:gd name="adj" fmla="val 1996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976938"/>
              <a:ext cx="200026" cy="200026"/>
              <a:chOff x="738188" y="5976938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9769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6043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7088" y="607695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511" y="5977414"/>
              <a:ext cx="103890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执行阶段还有一个前提：流水线中没有尚未执行完的分支指令。Tomasulo 本身不做前瞻，第三部分的 ROB 才放开这一条。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57696" cy="909257"/>
            <a:chOff x="520446" y="342900"/>
            <a:chExt cx="90576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576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一个小例子：MUL F0,F2,F4 与 ADD F2,F0,F6 怎样换名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009769" cy="2582514"/>
            <a:chOff x="533400" y="1533525"/>
            <a:chExt cx="5009769" cy="2582514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30422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17477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 流出到 Mult1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45971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F2、F4 已就绪，把值 a、b 取进保留站；以后执行只从保留站取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数，与 F2、F4 无关。F0 的 Qi 置为 Mult1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453640"/>
              <a:ext cx="1597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流出到 Add1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746534"/>
              <a:ext cx="44996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F6 的值 c 取进保留站；F0 没就绪，把生产者 Mult1 记进 Qj。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F2 的 Qi 置为 Add1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3338512"/>
              <a:ext cx="16482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Mult1 广播结果 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632359"/>
              <a:ext cx="45077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所有等 Mult1 的地方同时取走 e，Add1 马上开始执行，不必再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读寄存器</a:t>
              </a:r>
            </a:p>
          </p:txBody>
        </p:sp>
      </p:grpSp>
      <p:grpSp>
        <p:nvGrpSpPr>
          <p:cNvPr id="24" name="c1-code-2"/>
          <p:cNvGrpSpPr/>
          <p:nvPr/>
        </p:nvGrpSpPr>
        <p:grpSpPr>
          <a:xfrm>
            <a:off x="533400" y="4294822"/>
            <a:ext cx="5193982" cy="1110615"/>
            <a:chOff x="533400" y="4294822"/>
            <a:chExt cx="5193982" cy="1110615"/>
          </a:xfrm>
        </p:grpSpPr>
        <p:sp>
          <p:nvSpPr>
            <p:cNvPr id="21" name="Rectangle 21"/>
            <p:cNvSpPr/>
            <p:nvPr/>
          </p:nvSpPr>
          <p:spPr>
            <a:xfrm>
              <a:off x="533400" y="4294822"/>
              <a:ext cx="5193982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1797" y="444674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保留站眼中的两条指令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1035" y="4709636"/>
              <a:ext cx="2906014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MUL F0,F2,F4  →  Mult1: MUL a, b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 F2,F0,F6  →  Add1:  ADD Mult1, c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F0 换成了生产者 Mult1，F6 换成了值 c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6032182" y="1524000"/>
            <a:ext cx="5626418" cy="2248852"/>
            <a:chOff x="6032182" y="1524000"/>
            <a:chExt cx="5626418" cy="2248852"/>
          </a:xfrm>
        </p:grpSpPr>
        <p:sp>
          <p:nvSpPr>
            <p:cNvPr id="25" name="Rectangle 25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7251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34417" y="1659731"/>
              <a:ext cx="5083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Mult1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73798" y="1659731"/>
              <a:ext cx="418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Add1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96373" y="1659731"/>
              <a:ext cx="6231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Qi[F0]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896486" y="1659731"/>
              <a:ext cx="6231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Qi[F2]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40006" y="2108359"/>
              <a:ext cx="940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 流出后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77303" y="2108359"/>
              <a:ext cx="7434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 a, 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15553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966198" y="2108359"/>
              <a:ext cx="4847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66310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32182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32182" y="2421255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40006" y="2670334"/>
              <a:ext cx="902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流出后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77303" y="2670334"/>
              <a:ext cx="7434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 a, 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15553" y="2556986"/>
              <a:ext cx="93954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Qj=Mult1, 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966198" y="2670334"/>
              <a:ext cx="4847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66310" y="2670334"/>
              <a:ext cx="3991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32182" y="3092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40006" y="3232309"/>
              <a:ext cx="6875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Mult1 写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CDB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77303" y="33456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15553" y="3345656"/>
              <a:ext cx="11058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e, c 执行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966198" y="3232309"/>
              <a:ext cx="5819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0（F0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866310" y="3345656"/>
              <a:ext cx="3991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32182" y="1524000"/>
              <a:ext cx="5626418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264718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502968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853612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753725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kv-2"/>
          <p:cNvGrpSpPr/>
          <p:nvPr/>
        </p:nvGrpSpPr>
        <p:grpSpPr>
          <a:xfrm>
            <a:off x="6024562" y="3988118"/>
            <a:ext cx="5634038" cy="2301240"/>
            <a:chOff x="6024562" y="3988118"/>
            <a:chExt cx="5634038" cy="2301240"/>
          </a:xfrm>
        </p:grpSpPr>
        <p:sp>
          <p:nvSpPr>
            <p:cNvPr id="55" name="TextBox 55"/>
            <p:cNvSpPr txBox="1"/>
            <p:nvPr/>
          </p:nvSpPr>
          <p:spPr>
            <a:xfrm>
              <a:off x="6024562" y="3988118"/>
              <a:ext cx="945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消除 WAW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87602" y="3988118"/>
              <a:ext cx="394906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同一寄存器被多次预约时 Qi 不断被覆盖，只留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最后一个。后续指令再写 F2，只会把 Qi[F2]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改掉，ADD 的结果不会覆盖它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032182" y="48720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24562" y="4992052"/>
              <a:ext cx="900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消除 WAR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87602" y="4992052"/>
              <a:ext cx="38919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读 F0 已换成等 Mult1，后续指令写 F0 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的读入无关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32182" y="55940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24562" y="5714048"/>
              <a:ext cx="1076801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减少 RAW 停</a:t>
              </a:r>
              <a:br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顿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487602" y="5714048"/>
              <a:ext cx="38728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结果经 CDB 直接送到保留站，不必等写回寄存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器再读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46646" cy="909257"/>
            <a:chOff x="520446" y="342900"/>
            <a:chExt cx="51466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466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Tomasulo 的信息表与流出伪代码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4768215" cy="2019300"/>
            <a:chOff x="525780" y="1548765"/>
            <a:chExt cx="4768215" cy="201930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158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指令执行状态</a:t>
              </a:r>
              <a:br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54530" y="154876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指令字段、状态字段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寄存器状态表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54530" y="2270760"/>
              <a:ext cx="29489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寄存器号、预约它的保留站 Qi；Qi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 表示数据就绪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87274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9927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保留站状态表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54530" y="2992755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 8 项：L、B、O、Vj、Vk、Qj、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Qk、A</a:t>
              </a:r>
            </a:p>
          </p:txBody>
        </p:sp>
      </p:grpSp>
      <p:grpSp>
        <p:nvGrpSpPr>
          <p:cNvPr id="31" name="c1-table-2"/>
          <p:cNvGrpSpPr/>
          <p:nvPr/>
        </p:nvGrpSpPr>
        <p:grpSpPr>
          <a:xfrm>
            <a:off x="527685" y="3699510"/>
            <a:ext cx="4766310" cy="2317909"/>
            <a:chOff x="527685" y="3699510"/>
            <a:chExt cx="4766310" cy="2317909"/>
          </a:xfrm>
        </p:grpSpPr>
        <p:sp>
          <p:nvSpPr>
            <p:cNvPr id="16" name="Rectangle 16"/>
            <p:cNvSpPr/>
            <p:nvPr/>
          </p:nvSpPr>
          <p:spPr>
            <a:xfrm>
              <a:off x="533400" y="3699510"/>
              <a:ext cx="476059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8484" y="3835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58782" y="3835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223" y="4283869"/>
              <a:ext cx="5338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Vj, Vk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88973" y="428386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源操作数的数值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59200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596765"/>
              <a:ext cx="476059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4845844"/>
              <a:ext cx="6083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Qj, Qk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88973" y="4732496"/>
              <a:ext cx="32641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将产生源操作数的保留站号；0 表示对应 V 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526827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540781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88973" y="5407819"/>
              <a:ext cx="2966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地址计算前存 Imm，计算后存有效地址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699510"/>
              <a:ext cx="4760595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76388" y="369951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7685" y="5797391"/>
              <a:ext cx="34919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只有 LD、ST 缓冲器有 A；ST 缓冲器的 Vk 存待存数</a:t>
              </a:r>
            </a:p>
          </p:txBody>
        </p:sp>
      </p:grpSp>
      <p:grpSp>
        <p:nvGrpSpPr>
          <p:cNvPr id="35" name="c2-code-1"/>
          <p:cNvGrpSpPr/>
          <p:nvPr/>
        </p:nvGrpSpPr>
        <p:grpSpPr>
          <a:xfrm>
            <a:off x="5598795" y="1524000"/>
            <a:ext cx="6059805" cy="1719262"/>
            <a:chOff x="5598795" y="1524000"/>
            <a:chExt cx="6059805" cy="1719262"/>
          </a:xfrm>
        </p:grpSpPr>
        <p:sp>
          <p:nvSpPr>
            <p:cNvPr id="32" name="Rectangle 32"/>
            <p:cNvSpPr/>
            <p:nvPr/>
          </p:nvSpPr>
          <p:spPr>
            <a:xfrm>
              <a:off x="5598795" y="1524000"/>
              <a:ext cx="6059805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727192" y="1675924"/>
              <a:ext cx="14469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浮点指令流出到保留站 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26430" y="1937861"/>
              <a:ext cx="4157726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(Qi[rs] == 0) {RS[r].Vj = Regs[rs]; RS[r].Qj = 0;}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else             RS[r].Qj = Qi[rs];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(Qi[rt] == 0) {RS[r].Vk = Regs[rt]; RS[r].Qk = 0;}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else             RS[r].Qk = Qi[rt];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RS[r].Busy = yes;  RS[r].Op = Op;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Qi[rd] = r;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rd 以后从 r 接收结果</a:t>
              </a:r>
            </a:p>
          </p:txBody>
        </p:sp>
      </p:grpSp>
      <p:grpSp>
        <p:nvGrpSpPr>
          <p:cNvPr id="39" name="c2-code-2"/>
          <p:cNvGrpSpPr/>
          <p:nvPr/>
        </p:nvGrpSpPr>
        <p:grpSpPr>
          <a:xfrm>
            <a:off x="5598795" y="3433762"/>
            <a:ext cx="6059805" cy="1516380"/>
            <a:chOff x="5598795" y="3433762"/>
            <a:chExt cx="6059805" cy="1516380"/>
          </a:xfrm>
        </p:grpSpPr>
        <p:sp>
          <p:nvSpPr>
            <p:cNvPr id="36" name="Rectangle 36"/>
            <p:cNvSpPr/>
            <p:nvPr/>
          </p:nvSpPr>
          <p:spPr>
            <a:xfrm>
              <a:off x="5598795" y="3433762"/>
              <a:ext cx="6059805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727192" y="3585686"/>
              <a:ext cx="14534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LD / ST 流出到缓冲器 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26430" y="3848576"/>
              <a:ext cx="3354070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第一操作数 rs 同上；RS[r].Busy = yes;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RS[r].Op = Op;  RS[r].A = Imm;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LD：Qi[rt] = r;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rt 将来接收数据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ST：rt 就绪则 Vk = Regs[rt], Qk = 0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否则 Qk = Qi[rt];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等待数</a:t>
              </a:r>
            </a:p>
          </p:txBody>
        </p:sp>
      </p:grpSp>
      <p:grpSp>
        <p:nvGrpSpPr>
          <p:cNvPr id="46" name="c2-callout-3"/>
          <p:cNvGrpSpPr/>
          <p:nvPr/>
        </p:nvGrpSpPr>
        <p:grpSpPr>
          <a:xfrm>
            <a:off x="5598795" y="5140642"/>
            <a:ext cx="6059805" cy="1059180"/>
            <a:chOff x="5598795" y="5140642"/>
            <a:chExt cx="6059805" cy="1059180"/>
          </a:xfrm>
        </p:grpSpPr>
        <p:sp>
          <p:nvSpPr>
            <p:cNvPr id="40" name="Rectangle 40"/>
            <p:cNvSpPr/>
            <p:nvPr/>
          </p:nvSpPr>
          <p:spPr>
            <a:xfrm>
              <a:off x="5598795" y="5140642"/>
              <a:ext cx="605980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5803583" y="5570220"/>
              <a:ext cx="200026" cy="200025"/>
              <a:chOff x="5803583" y="5570220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803583" y="55702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843321" y="56146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878037" y="57257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105525" y="5289232"/>
              <a:ext cx="50920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对比记分牌：记分牌流出时只记下寄存器号 Fj、Fk，读数时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才去寄存器取；Tomasulo 流出时就把值或生产者标识抄进保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留站。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46646" cy="909257"/>
            <a:chOff x="520446" y="342900"/>
            <a:chExt cx="51466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466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Tomasulo 的执行与写结果伪代码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760595" cy="1922145"/>
            <a:chOff x="533400" y="1524000"/>
            <a:chExt cx="4760595" cy="1922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514854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浮点指令：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Result = RS[r].Vj op RS[r].Vk;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ST（EX 段）：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RS[r].A = RS[r].Vj + RS[r].A;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LD（EX 段算地址，MEM 段读数）：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RS[r].A = RS[r].Vj + RS[r].A;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Result = Mem[RS[r].A];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636645"/>
            <a:ext cx="4760595" cy="907732"/>
            <a:chOff x="533400" y="3636645"/>
            <a:chExt cx="4760595" cy="907732"/>
          </a:xfrm>
        </p:grpSpPr>
        <p:sp>
          <p:nvSpPr>
            <p:cNvPr id="11" name="Rectangle 11"/>
            <p:cNvSpPr/>
            <p:nvPr/>
          </p:nvSpPr>
          <p:spPr>
            <a:xfrm>
              <a:off x="533400" y="3636645"/>
              <a:ext cx="4760595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788569"/>
              <a:ext cx="13503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ST 写结果（MEM 段）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035" y="4050506"/>
              <a:ext cx="1888998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Mem[RS[r].A] = RS[r].Vk;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RS[r].Busy = no;</a:t>
              </a:r>
            </a:p>
          </p:txBody>
        </p:sp>
      </p:grpSp>
      <p:grpSp>
        <p:nvGrpSpPr>
          <p:cNvPr id="31" name="c1-table-3"/>
          <p:cNvGrpSpPr/>
          <p:nvPr/>
        </p:nvGrpSpPr>
        <p:grpSpPr>
          <a:xfrm>
            <a:off x="527685" y="4734878"/>
            <a:ext cx="4766310" cy="1642586"/>
            <a:chOff x="527685" y="4734878"/>
            <a:chExt cx="4766310" cy="1642586"/>
          </a:xfrm>
        </p:grpSpPr>
        <p:sp>
          <p:nvSpPr>
            <p:cNvPr id="15" name="Rectangle 15"/>
            <p:cNvSpPr/>
            <p:nvPr/>
          </p:nvSpPr>
          <p:spPr>
            <a:xfrm>
              <a:off x="533400" y="4734878"/>
              <a:ext cx="476059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0169" y="487060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写结果前要查什么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86875" y="487060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记分牌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77790" y="4870609"/>
              <a:ext cx="8055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Tomasulo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223" y="5319236"/>
              <a:ext cx="3666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45270" y="53192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74020" y="531923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不用查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562737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5632132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57678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45270" y="57678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数据总线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74020" y="5767864"/>
              <a:ext cx="7126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CDB 空闲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734878"/>
              <a:ext cx="476059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432685" y="4734878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861435" y="4734878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7685" y="615743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操作数流出时已抄进保留站，没有人再去读旧寄存器</a:t>
              </a:r>
            </a:p>
          </p:txBody>
        </p:sp>
      </p:grpSp>
      <p:grpSp>
        <p:nvGrpSpPr>
          <p:cNvPr id="35" name="c2-code-1"/>
          <p:cNvGrpSpPr/>
          <p:nvPr/>
        </p:nvGrpSpPr>
        <p:grpSpPr>
          <a:xfrm>
            <a:off x="5598795" y="1524000"/>
            <a:ext cx="6059805" cy="1922145"/>
            <a:chOff x="5598795" y="1524000"/>
            <a:chExt cx="6059805" cy="1922145"/>
          </a:xfrm>
        </p:grpSpPr>
        <p:sp>
          <p:nvSpPr>
            <p:cNvPr id="32" name="Rectangle 32"/>
            <p:cNvSpPr/>
            <p:nvPr/>
          </p:nvSpPr>
          <p:spPr>
            <a:xfrm>
              <a:off x="5598795" y="1524000"/>
              <a:ext cx="6059805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727192" y="1675924"/>
              <a:ext cx="20392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浮点与 LD 写结果（经 CDB 广播）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26430" y="1937861"/>
              <a:ext cx="2827782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任意 x：if (Qi[x] == r)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{Regs[x] = result; Qi[x] = 0;}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任意 x：if (RS[x].Qj == r)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{RS[x].Vj = result; RS[x].Qj = 0;}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任意 x：if (RS[x].Qk == r)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{RS[x].Vk = result; RS[x].Qk = 0;}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RS[r].Busy = no;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释放保留站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5598795" y="3636645"/>
            <a:ext cx="6059805" cy="782955"/>
            <a:chOff x="5598795" y="3636645"/>
            <a:chExt cx="6059805" cy="782955"/>
          </a:xfrm>
        </p:grpSpPr>
        <p:sp>
          <p:nvSpPr>
            <p:cNvPr id="36" name="Rectangle 36"/>
            <p:cNvSpPr/>
            <p:nvPr/>
          </p:nvSpPr>
          <p:spPr>
            <a:xfrm>
              <a:off x="5598795" y="3636645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5803583" y="3928112"/>
              <a:ext cx="200023" cy="200023"/>
              <a:chOff x="5803583" y="3928112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803583" y="39281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936933" y="39947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105525" y="3785235"/>
              <a:ext cx="5158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写结果时比较的是保留站号 r，不是寄存器名。等 r 的寄存器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和保留站在同一周期拿到结果，这就是 CDB 的一对多定向。</a:t>
              </a:r>
            </a:p>
          </p:txBody>
        </p:sp>
      </p:grpSp>
      <p:grpSp>
        <p:nvGrpSpPr>
          <p:cNvPr id="47" name="c2-card-3"/>
          <p:cNvGrpSpPr/>
          <p:nvPr/>
        </p:nvGrpSpPr>
        <p:grpSpPr>
          <a:xfrm>
            <a:off x="5598795" y="4610100"/>
            <a:ext cx="6059805" cy="1723072"/>
            <a:chOff x="5598795" y="4610100"/>
            <a:chExt cx="6059805" cy="1723072"/>
          </a:xfrm>
        </p:grpSpPr>
        <p:sp>
          <p:nvSpPr>
            <p:cNvPr id="42" name="Rectangle 42"/>
            <p:cNvSpPr/>
            <p:nvPr/>
          </p:nvSpPr>
          <p:spPr>
            <a:xfrm>
              <a:off x="5598795" y="4610100"/>
              <a:ext cx="6059805" cy="1723072"/>
            </a:xfrm>
            <a:prstGeom prst="roundRect">
              <a:avLst>
                <a:gd name="adj" fmla="val 77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608320" y="4743450"/>
              <a:ext cx="47625" cy="14563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46445" y="48196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12002" y="48553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广播一次，谁收下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38825" y="5196840"/>
              <a:ext cx="52444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下页例题中 LD 占 Load1，第 6 周期把数据送上 CDB：ALU1 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MUL（Qj = Load1）和寄存器 R2（Qi = Load1）在同一周期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收下，MUL 第 7 周期就开始乘。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42107" cy="909257"/>
            <a:chOff x="520446" y="342900"/>
            <a:chExt cx="59421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421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例题：同一段代码改用 Tomasulo 调度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760595" cy="3701415"/>
            <a:chOff x="533400" y="1524000"/>
            <a:chExt cx="4760595" cy="37014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3701415"/>
            </a:xfrm>
            <a:prstGeom prst="roundRect">
              <a:avLst>
                <a:gd name="adj" fmla="val 36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4347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082415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单流出，1 个 LSU（自带加法器）、2 个 LS 缓冲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器（私有时间戳实现 FIFO）、1 个加法 ALU、1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个乘法 ALU、2 个 ALU 保留站（加法和乘法共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用）。开始时指令都未流出，缓冲器和保留站都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3589020"/>
              <a:ext cx="39681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各段周期：IS 1、WtCDB 1、MEM 3；EX 段 LD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1、ST 1、SUB 4、ADD 4、MUL 10。指令序列同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记分牌例题。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4495800"/>
              <a:ext cx="3958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问：指令执行状态周期表；第 14 周期末各状态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5415915"/>
            <a:ext cx="4760595" cy="782955"/>
            <a:chOff x="533400" y="5415915"/>
            <a:chExt cx="4760595" cy="782955"/>
          </a:xfrm>
        </p:grpSpPr>
        <p:sp>
          <p:nvSpPr>
            <p:cNvPr id="15" name="Rectangle 15"/>
            <p:cNvSpPr/>
            <p:nvPr/>
          </p:nvSpPr>
          <p:spPr>
            <a:xfrm>
              <a:off x="533400" y="5415915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5707380"/>
              <a:ext cx="200026" cy="200025"/>
              <a:chOff x="738188" y="5707380"/>
              <a:chExt cx="200026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57073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7926" y="57518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12642" y="58629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5564505"/>
              <a:ext cx="38728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保留站在写 CDB 的那一周期释放，下一周期可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以接收新指令。</a:t>
              </a:r>
            </a:p>
          </p:txBody>
        </p:sp>
      </p:grpSp>
      <p:grpSp>
        <p:nvGrpSpPr>
          <p:cNvPr id="73" name="c2-table-1"/>
          <p:cNvGrpSpPr/>
          <p:nvPr/>
        </p:nvGrpSpPr>
        <p:grpSpPr>
          <a:xfrm>
            <a:off x="5598795" y="1524000"/>
            <a:ext cx="6059805" cy="3372802"/>
            <a:chOff x="5598795" y="1524000"/>
            <a:chExt cx="6059805" cy="3372802"/>
          </a:xfrm>
        </p:grpSpPr>
        <p:sp>
          <p:nvSpPr>
            <p:cNvPr id="22" name="Rectangle 22"/>
            <p:cNvSpPr/>
            <p:nvPr/>
          </p:nvSpPr>
          <p:spPr>
            <a:xfrm>
              <a:off x="5598795" y="1524000"/>
              <a:ext cx="605980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867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56978" y="1659731"/>
              <a:ext cx="1754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08392" y="165973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44343" y="1659731"/>
              <a:ext cx="4048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49327" y="1659731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CDB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5871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06618" y="2108359"/>
              <a:ext cx="1016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R2,(R1)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9083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6614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98134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3–5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5965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24238" y="2108359"/>
              <a:ext cx="7182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 Load1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598795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598795" y="2421255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706618" y="2556986"/>
              <a:ext cx="763981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R2,R2,#2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90839" y="26703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23991" y="267033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7–16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92907" y="26703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12271" y="267033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24238" y="2556986"/>
              <a:ext cx="17767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 ALU1，等 Load1 的数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598795" y="3092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06618" y="3232309"/>
              <a:ext cx="1016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R2,(R1)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90839" y="323230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66149" y="323230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03362" y="323230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18–20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59657" y="323230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24238" y="3232309"/>
              <a:ext cx="20258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 Load2；等 MUL 的数据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35413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598795" y="3546158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06618" y="3680936"/>
              <a:ext cx="763981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R1,R1,#4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90839" y="379428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71377" y="379428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5–8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92907" y="379428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820150" y="3555682"/>
              <a:ext cx="586740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059657" y="379428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524238" y="3680936"/>
              <a:ext cx="17848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 ALU2；R1 已换名，不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 ST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598795" y="421671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706618" y="4357211"/>
              <a:ext cx="763981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R5,R3,R4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941820" y="4231005"/>
              <a:ext cx="404812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93522" y="4357211"/>
              <a:ext cx="1023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476604" y="44705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11–14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92907" y="44705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12271" y="44705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524238" y="4357211"/>
              <a:ext cx="1841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 ALU 保留站都满，等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ALU2 在第 9 周期释放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598795" y="1524000"/>
              <a:ext cx="6059805" cy="337280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927532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7351395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079105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8805862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411652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9" name="c2-callout-2"/>
          <p:cNvGrpSpPr/>
          <p:nvPr/>
        </p:nvGrpSpPr>
        <p:grpSpPr>
          <a:xfrm>
            <a:off x="5598795" y="5087302"/>
            <a:ext cx="6059805" cy="1111568"/>
            <a:chOff x="5598795" y="5087302"/>
            <a:chExt cx="6059805" cy="1111568"/>
          </a:xfrm>
        </p:grpSpPr>
        <p:sp>
          <p:nvSpPr>
            <p:cNvPr id="74" name="Rectangle 74"/>
            <p:cNvSpPr/>
            <p:nvPr/>
          </p:nvSpPr>
          <p:spPr>
            <a:xfrm>
              <a:off x="5598795" y="5087302"/>
              <a:ext cx="6059805" cy="1111568"/>
            </a:xfrm>
            <a:prstGeom prst="roundRect">
              <a:avLst>
                <a:gd name="adj" fmla="val 1028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5803583" y="5543550"/>
              <a:ext cx="200026" cy="200026"/>
              <a:chOff x="5803583" y="5543550"/>
              <a:chExt cx="200026" cy="200026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5803583" y="55435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5870258" y="562133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6105525" y="5262562"/>
              <a:ext cx="50920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与记分牌相比，MUL 第 2 周期就能流出（WAW 被换名消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除），SUB 第 9 周期就写回（WAR 被消除），全部指令第 20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周期做完，比记分牌早 9 个周期。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01318" cy="909257"/>
            <a:chOff x="520446" y="342900"/>
            <a:chExt cx="51013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013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例题解答：第 14 周期末的状态表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table-1"/>
          <p:cNvGrpSpPr/>
          <p:nvPr/>
        </p:nvGrpSpPr>
        <p:grpSpPr>
          <a:xfrm>
            <a:off x="527685" y="1524000"/>
            <a:ext cx="6497955" cy="2446497"/>
            <a:chOff x="527685" y="1524000"/>
            <a:chExt cx="6497955" cy="244649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9330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保留站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71568" y="1655445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Busy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23717" y="1655445"/>
              <a:ext cx="2389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66910" y="1655445"/>
              <a:ext cx="1604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Vj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83332" y="1655445"/>
              <a:ext cx="204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10757" y="1655445"/>
              <a:ext cx="2389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51145" y="165544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8746" y="2085022"/>
              <a:ext cx="4852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13852" y="208502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37934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384108"/>
              <a:ext cx="649224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746" y="2515552"/>
              <a:ext cx="4852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13852" y="251555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43213" y="2515552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21266" y="2515552"/>
              <a:ext cx="6517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Reg[R1]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36375" y="2515552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80658" y="2515552"/>
              <a:ext cx="6517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Reg[R1]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80987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8746" y="2946082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13852" y="294608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79205" y="2946082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21266" y="2946082"/>
              <a:ext cx="6517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Reg[R2]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90415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23945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244215"/>
              <a:ext cx="649224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8746" y="3375660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13852" y="337566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08517" y="3375660"/>
              <a:ext cx="6693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SUB→ADD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421266" y="3375660"/>
              <a:ext cx="6517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Reg[R3]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59491" y="3375660"/>
              <a:ext cx="6517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Reg[R4]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649224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437322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086928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190875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293870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268278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81700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7685" y="3750469"/>
              <a:ext cx="54060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保留站状态表（Qj 一列全空，省略）；ALU1 的 Reg[R2] 指 LD 经 CDB 送来的值</a:t>
              </a:r>
            </a:p>
          </p:txBody>
        </p:sp>
      </p:grpSp>
      <p:grpSp>
        <p:nvGrpSpPr>
          <p:cNvPr id="64" name="c1-table-2"/>
          <p:cNvGrpSpPr/>
          <p:nvPr/>
        </p:nvGrpSpPr>
        <p:grpSpPr>
          <a:xfrm>
            <a:off x="527685" y="4111942"/>
            <a:ext cx="6497955" cy="1155860"/>
            <a:chOff x="527685" y="4111942"/>
            <a:chExt cx="6497955" cy="1155860"/>
          </a:xfrm>
        </p:grpSpPr>
        <p:sp>
          <p:nvSpPr>
            <p:cNvPr id="47" name="Rectangle 47"/>
            <p:cNvSpPr/>
            <p:nvPr/>
          </p:nvSpPr>
          <p:spPr>
            <a:xfrm>
              <a:off x="533400" y="4111942"/>
              <a:ext cx="649224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13638" y="42424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174664" y="424243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239559" y="424243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303502" y="424243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279814" y="424243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44709" y="424243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8746" y="4672965"/>
              <a:ext cx="1953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Qi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150375" y="4672965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55525" y="4672965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ALU2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4111942"/>
              <a:ext cx="6492240" cy="860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785938" y="4111942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2763202" y="4111942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915728" y="4111942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892040" y="4111942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868352" y="4111942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27685" y="5047774"/>
              <a:ext cx="30279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寄存器状态表：R1 已由 SUB 在第 9 周期写回</a:t>
              </a:r>
            </a:p>
          </p:txBody>
        </p:sp>
      </p:grpSp>
      <p:grpSp>
        <p:nvGrpSpPr>
          <p:cNvPr id="71" name="c1-callout-3"/>
          <p:cNvGrpSpPr/>
          <p:nvPr/>
        </p:nvGrpSpPr>
        <p:grpSpPr>
          <a:xfrm>
            <a:off x="533400" y="5408295"/>
            <a:ext cx="6492240" cy="756285"/>
            <a:chOff x="533400" y="5408295"/>
            <a:chExt cx="6492240" cy="756285"/>
          </a:xfrm>
        </p:grpSpPr>
        <p:sp>
          <p:nvSpPr>
            <p:cNvPr id="65" name="Rectangle 65"/>
            <p:cNvSpPr/>
            <p:nvPr/>
          </p:nvSpPr>
          <p:spPr>
            <a:xfrm>
              <a:off x="533400" y="5408295"/>
              <a:ext cx="649224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5686425"/>
              <a:ext cx="200026" cy="200025"/>
              <a:chOff x="738188" y="5686425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56864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77926" y="57308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12642" y="58420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511" y="5556409"/>
              <a:ext cx="546976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同样到第 14 周期末，记分牌那边 MUL 刚执行到第 5 拍，SUB 还在执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行，ADD 没流出；这里 SUB 已写回 R1，ADD 也已算完。</a:t>
              </a:r>
            </a:p>
          </p:txBody>
        </p:sp>
      </p:grpSp>
      <p:grpSp>
        <p:nvGrpSpPr>
          <p:cNvPr id="93" name="c2-table-1"/>
          <p:cNvGrpSpPr/>
          <p:nvPr/>
        </p:nvGrpSpPr>
        <p:grpSpPr>
          <a:xfrm>
            <a:off x="7330440" y="1524000"/>
            <a:ext cx="4328160" cy="2581275"/>
            <a:chOff x="7330440" y="1524000"/>
            <a:chExt cx="4328160" cy="2581275"/>
          </a:xfrm>
        </p:grpSpPr>
        <p:sp>
          <p:nvSpPr>
            <p:cNvPr id="72" name="Rectangle 72"/>
            <p:cNvSpPr/>
            <p:nvPr/>
          </p:nvSpPr>
          <p:spPr>
            <a:xfrm>
              <a:off x="7330440" y="1524000"/>
              <a:ext cx="432816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20197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060335" y="1655445"/>
              <a:ext cx="946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14 周期末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435786" y="2085022"/>
              <a:ext cx="9531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R2,(R1)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513189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已写结果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330440" y="2379345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7330440" y="2384108"/>
              <a:ext cx="432816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435786" y="2515552"/>
              <a:ext cx="1186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 R2,R2,#2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513189" y="251555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执行中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7330440" y="2809875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435786" y="2946082"/>
              <a:ext cx="9531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R2,(R1)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513189" y="294608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地址已算好，等数据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7330440" y="323945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7330440" y="3244215"/>
              <a:ext cx="432816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435786" y="3375660"/>
              <a:ext cx="11502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 R1,R1,#4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513189" y="3375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已写结果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7330440" y="366998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435786" y="3806190"/>
              <a:ext cx="11502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R5,R3,R4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513189" y="3806190"/>
              <a:ext cx="1314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执行完，等写 CDB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330440" y="1524000"/>
              <a:ext cx="4328160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9403080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4" name="c2-card-2"/>
          <p:cNvGrpSpPr/>
          <p:nvPr/>
        </p:nvGrpSpPr>
        <p:grpSpPr>
          <a:xfrm>
            <a:off x="7330440" y="4290060"/>
            <a:ext cx="4328160" cy="1874520"/>
            <a:chOff x="7330440" y="4290060"/>
            <a:chExt cx="4328160" cy="1874520"/>
          </a:xfrm>
        </p:grpSpPr>
        <p:sp>
          <p:nvSpPr>
            <p:cNvPr id="94" name="Rectangle 94"/>
            <p:cNvSpPr/>
            <p:nvPr/>
          </p:nvSpPr>
          <p:spPr>
            <a:xfrm>
              <a:off x="7330440" y="4290060"/>
              <a:ext cx="4328160" cy="1874520"/>
            </a:xfrm>
            <a:prstGeom prst="roundRect">
              <a:avLst>
                <a:gd name="adj" fmla="val 71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7339965" y="4423410"/>
              <a:ext cx="47625" cy="16078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7572375" y="449389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7654684" y="452961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读表要点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7579995" y="492728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7736586" y="4866799"/>
              <a:ext cx="28023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Load2 的 A 已是有效地址 R1 + 0</a:t>
              </a:r>
            </a:p>
          </p:txBody>
        </p:sp>
        <p:sp>
          <p:nvSpPr>
            <p:cNvPr id="100" name="Ellipse 100"/>
            <p:cNvSpPr/>
            <p:nvPr/>
          </p:nvSpPr>
          <p:spPr>
            <a:xfrm>
              <a:off x="7579995" y="524732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7736586" y="5186839"/>
              <a:ext cx="38209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ALU2 先装 SUB，第 9 周期释放后又装进 ADD</a:t>
              </a:r>
            </a:p>
          </p:txBody>
        </p:sp>
        <p:sp>
          <p:nvSpPr>
            <p:cNvPr id="102" name="Ellipse 102"/>
            <p:cNvSpPr/>
            <p:nvPr/>
          </p:nvSpPr>
          <p:spPr>
            <a:xfrm>
              <a:off x="7579995" y="556736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7736586" y="5506879"/>
              <a:ext cx="33388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Qi[R2] = ALU1：R2 将由乘法结果改写</a:t>
              </a:r>
            </a:p>
          </p:txBody>
        </p:sp>
      </p:grpSp>
      <p:grpSp>
        <p:nvGrpSpPr>
          <p:cNvPr id="10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5" name="TextBox 10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48985" cy="909257"/>
            <a:chOff x="520446" y="342900"/>
            <a:chExt cx="79489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指令的动态调度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489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Tomasulo 小结：换名、分布控制、CDB 一对多定向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6161" y="1547336"/>
            <a:ext cx="5417439" cy="2460879"/>
            <a:chOff x="526161" y="1547336"/>
            <a:chExt cx="5417439" cy="2460879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寄存器换名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12976" y="1547336"/>
              <a:ext cx="398195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由保留站和流出逻辑共同完成。流出后操作数寄存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器号要么换成数据，要么换成生产者保留站标识，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不再与寄存器有关，名相关导致的冲突消失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3888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161" y="250459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分布式控制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12976" y="2504599"/>
              <a:ext cx="398195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每个部件的保留站自己决定什么时候开始执行。乱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序计算，但真数据相关必须保持，操作数没准备好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就只能等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3461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161" y="3461861"/>
              <a:ext cx="364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CDB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12976" y="3461861"/>
              <a:ext cx="398195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一对多的定向：结果从生产它的保留站直接送到所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有需要它的部件，最大限度减少真数据相关的停顿</a:t>
              </a:r>
            </a:p>
          </p:txBody>
        </p:sp>
      </p:grpSp>
      <p:grpSp>
        <p:nvGrpSpPr>
          <p:cNvPr id="35" name="c1-table-2"/>
          <p:cNvGrpSpPr/>
          <p:nvPr/>
        </p:nvGrpSpPr>
        <p:grpSpPr>
          <a:xfrm>
            <a:off x="533400" y="4137660"/>
            <a:ext cx="5410200" cy="1933575"/>
            <a:chOff x="533400" y="4137660"/>
            <a:chExt cx="5410200" cy="1933575"/>
          </a:xfrm>
        </p:grpSpPr>
        <p:sp>
          <p:nvSpPr>
            <p:cNvPr id="16" name="Rectangle 16"/>
            <p:cNvSpPr/>
            <p:nvPr/>
          </p:nvSpPr>
          <p:spPr>
            <a:xfrm>
              <a:off x="533400" y="4137660"/>
              <a:ext cx="541020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15365" y="42691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10993" y="426910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记分牌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38220" y="4269105"/>
              <a:ext cx="7552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Tomasulo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8746" y="46996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控制方式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37004" y="46996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集中在记分牌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93452" y="46996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分布在各保留站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9939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998720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5129212"/>
              <a:ext cx="872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WAR、WAW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37004" y="512921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93452" y="51292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换名消除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4235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5559742"/>
              <a:ext cx="926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结果传给后续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37004" y="566642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写回寄存器后再读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93452" y="5666422"/>
              <a:ext cx="991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CDB 直接广播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37660"/>
              <a:ext cx="5410200" cy="1933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826895" y="413766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883342" y="413766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2-bullets-1"/>
          <p:cNvGrpSpPr/>
          <p:nvPr/>
        </p:nvGrpSpPr>
        <p:grpSpPr>
          <a:xfrm>
            <a:off x="6241161" y="1547336"/>
            <a:ext cx="5216271" cy="2419921"/>
            <a:chOff x="6241161" y="1547336"/>
            <a:chExt cx="5216271" cy="2419921"/>
          </a:xfrm>
        </p:grpSpPr>
        <p:sp>
          <p:nvSpPr>
            <p:cNvPr id="36" name="TextBox 36"/>
            <p:cNvSpPr txBox="1"/>
            <p:nvPr/>
          </p:nvSpPr>
          <p:spPr>
            <a:xfrm>
              <a:off x="6241161" y="154733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仍然按序的部分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6248400" y="191643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92621" y="1886426"/>
              <a:ext cx="496481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指令流出按序：指令队列是 FIFO，后继从尾部进入，前驱从头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部取出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248400" y="2516505"/>
              <a:ext cx="137160" cy="111442"/>
            </a:xfrm>
            <a:custGeom>
              <a:avLst/>
              <a:gdLst/>
              <a:ahLst/>
              <a:cxnLst/>
              <a:rect l="l" t="t" r="r" b="b"/>
              <a:pathLst>
                <a:path w="137160" h="111442">
                  <a:moveTo>
                    <a:pt x="0" y="59055"/>
                  </a:moveTo>
                  <a:lnTo>
                    <a:pt x="52388" y="111442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92621" y="2486501"/>
              <a:ext cx="32771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存储器访问按序：LS 缓冲器也是 FIFO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6248400" y="284607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9055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92621" y="2816066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保留站和执行部件数量有限，部件冲突时只能等待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6248400" y="3175635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92621" y="3145631"/>
              <a:ext cx="485660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执行步骤中 Load 经过 EX 和 MEM，Store、ALU 指令只经过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EX；写回步骤中 Store 经过 WB 和 MEM，Load、ALU 指令只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经过 WB</a:t>
              </a:r>
            </a:p>
          </p:txBody>
        </p:sp>
      </p:grpSp>
      <p:grpSp>
        <p:nvGrpSpPr>
          <p:cNvPr id="64" name="c2-cells-2"/>
          <p:cNvGrpSpPr/>
          <p:nvPr/>
        </p:nvGrpSpPr>
        <p:grpSpPr>
          <a:xfrm>
            <a:off x="6243066" y="4096702"/>
            <a:ext cx="5415534" cy="868681"/>
            <a:chOff x="6243066" y="4096702"/>
            <a:chExt cx="5415534" cy="868681"/>
          </a:xfrm>
        </p:grpSpPr>
        <p:sp>
          <p:nvSpPr>
            <p:cNvPr id="46" name="TextBox 46"/>
            <p:cNvSpPr txBox="1"/>
            <p:nvPr/>
          </p:nvSpPr>
          <p:spPr>
            <a:xfrm>
              <a:off x="6243066" y="42338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时间戳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781800" y="4096702"/>
              <a:ext cx="12192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22806" y="423386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6415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001000" y="4096702"/>
              <a:ext cx="12192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42006" y="423386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6427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220200" y="4096702"/>
              <a:ext cx="12192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661206" y="423386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6435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439400" y="4096702"/>
              <a:ext cx="12192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880406" y="423386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6478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43066" y="469582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缓冲器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781800" y="4558665"/>
              <a:ext cx="12192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00189" y="4695825"/>
              <a:ext cx="3824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 i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001000" y="4558665"/>
              <a:ext cx="12192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337759" y="4695825"/>
              <a:ext cx="5456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 i+1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220200" y="4558665"/>
              <a:ext cx="12192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556959" y="4695825"/>
              <a:ext cx="5456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 i+2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0439400" y="4558665"/>
              <a:ext cx="12192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776159" y="4695825"/>
              <a:ext cx="5456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 i+3</a:t>
              </a:r>
            </a:p>
          </p:txBody>
        </p:sp>
      </p:grpSp>
      <p:grpSp>
        <p:nvGrpSpPr>
          <p:cNvPr id="66" name="c2-text-3"/>
          <p:cNvGrpSpPr/>
          <p:nvPr/>
        </p:nvGrpSpPr>
        <p:grpSpPr>
          <a:xfrm>
            <a:off x="6242304" y="5170170"/>
            <a:ext cx="5155692" cy="470916"/>
            <a:chOff x="6242304" y="5170170"/>
            <a:chExt cx="5155692" cy="470916"/>
          </a:xfrm>
        </p:grpSpPr>
        <p:sp>
          <p:nvSpPr>
            <p:cNvPr id="65" name="TextBox 65"/>
            <p:cNvSpPr txBox="1"/>
            <p:nvPr/>
          </p:nvSpPr>
          <p:spPr>
            <a:xfrm>
              <a:off x="6242304" y="5170170"/>
              <a:ext cx="515569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硬件实现 FIFO 若要整体前移表项并改名，代价太大。私有时间戳做法是每项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记下进入时间，最小的就是队头；也可以用循环 head 指针。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121468" cy="3351847"/>
            <a:chOff x="667512" y="1835468"/>
            <a:chExt cx="412146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动态解决控制冲突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按分支过去的表现猜它将来怎么走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882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 部分：动态解决控制冲突的技术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120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分支历史表 BHT 与 1 位、2 位预测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448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分支目标缓冲器 BTB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932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基于硬件的前瞻执行与 ROB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动态解决控制冲突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动态分支预测：记录每条分支的历史，据此预测下一次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386840"/>
            <a:chOff x="533400" y="1524000"/>
            <a:chExt cx="5410200" cy="13868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94" y="17378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动态分支预测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用硬件在程序执行时根据每条转移指令过去的转移历史来预测下一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次转移的方向。提前预测分支方向，减少或消除控制相关导致的流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水线停顿。</a:t>
              </a:r>
            </a:p>
          </p:txBody>
        </p:sp>
      </p:grpSp>
      <p:grpSp>
        <p:nvGrpSpPr>
          <p:cNvPr id="28" name="c1-compare-2"/>
          <p:cNvGrpSpPr/>
          <p:nvPr/>
        </p:nvGrpSpPr>
        <p:grpSpPr>
          <a:xfrm>
            <a:off x="533400" y="3075622"/>
            <a:ext cx="5410200" cy="1654492"/>
            <a:chOff x="533400" y="3075622"/>
            <a:chExt cx="5410200" cy="1654492"/>
          </a:xfrm>
        </p:grpSpPr>
        <p:sp>
          <p:nvSpPr>
            <p:cNvPr id="13" name="Rectangle 13"/>
            <p:cNvSpPr/>
            <p:nvPr/>
          </p:nvSpPr>
          <p:spPr>
            <a:xfrm>
              <a:off x="533400" y="3075622"/>
              <a:ext cx="2495550" cy="1654492"/>
            </a:xfrm>
            <a:prstGeom prst="roundRect">
              <a:avLst>
                <a:gd name="adj" fmla="val 806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7898" y="32780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静态预测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23900" y="363188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9348" y="357901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操作事先预定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23900" y="391668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9348" y="386381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与分支实际执行情况无关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448050" y="3075622"/>
              <a:ext cx="2495550" cy="1654492"/>
            </a:xfrm>
            <a:prstGeom prst="roundRect">
              <a:avLst>
                <a:gd name="adj" fmla="val 80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457575" y="3208972"/>
              <a:ext cx="47625" cy="13877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60648" y="32780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动态预测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3676650" y="363188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832098" y="3579019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按分支过去的表现预测将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3676650" y="415956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832098" y="4106704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分支行为变了预测跟着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变，准确度和适应性更好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3076575" y="374142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159808" y="384714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5" name="c1-callout-3"/>
          <p:cNvGrpSpPr/>
          <p:nvPr/>
        </p:nvGrpSpPr>
        <p:grpSpPr>
          <a:xfrm>
            <a:off x="533400" y="4894898"/>
            <a:ext cx="5410200" cy="1085850"/>
            <a:chOff x="533400" y="4894898"/>
            <a:chExt cx="5410200" cy="1085850"/>
          </a:xfrm>
        </p:grpSpPr>
        <p:sp>
          <p:nvSpPr>
            <p:cNvPr id="29" name="Rectangle 29"/>
            <p:cNvSpPr/>
            <p:nvPr/>
          </p:nvSpPr>
          <p:spPr>
            <a:xfrm>
              <a:off x="533400" y="4894898"/>
              <a:ext cx="5410200" cy="1085850"/>
            </a:xfrm>
            <a:prstGeom prst="roundRect">
              <a:avLst>
                <a:gd name="adj" fmla="val 1052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337810"/>
              <a:ext cx="200026" cy="200026"/>
              <a:chOff x="738188" y="5337810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3378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4044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088" y="54378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1273" y="5113496"/>
              <a:ext cx="444271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经典 5 段流水线把分支处理从 MEM 段提前到了 ID 段，分支开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销已经不大；流水线越深、一次流出越多，猜错的代价越大，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动态预测越有用。</a:t>
              </a:r>
            </a:p>
          </p:txBody>
        </p:sp>
      </p:grpSp>
      <p:grpSp>
        <p:nvGrpSpPr>
          <p:cNvPr id="47" name="c2-kv-1"/>
          <p:cNvGrpSpPr/>
          <p:nvPr/>
        </p:nvGrpSpPr>
        <p:grpSpPr>
          <a:xfrm>
            <a:off x="6241923" y="1545431"/>
            <a:ext cx="5416677" cy="2569654"/>
            <a:chOff x="6241923" y="1545431"/>
            <a:chExt cx="5416677" cy="2569654"/>
          </a:xfrm>
        </p:grpSpPr>
        <p:sp>
          <p:nvSpPr>
            <p:cNvPr id="36" name="TextBox 36"/>
            <p:cNvSpPr txBox="1"/>
            <p:nvPr/>
          </p:nvSpPr>
          <p:spPr>
            <a:xfrm>
              <a:off x="6241923" y="15454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分支过去的表现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74483" y="1545431"/>
              <a:ext cx="3751834" cy="729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即分支的历史信息。预测错误时要作废已经预取和分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析的指令、恢复现场，所以执行预测的目标指令之前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要把现场保存起来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2964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41923" y="239791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有效性取决于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74483" y="2397919"/>
              <a:ext cx="3751834" cy="729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预测的准确性；预测正确和错误两种情况下的分支开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销（由流水线结构、预测方法、预测错误时的恢复策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略决定）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31499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41923" y="3251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目的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74483" y="325135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预测分支是否成功；尽快找到分支目标地址或指令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3523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41923" y="36256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关键问题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74483" y="3625691"/>
              <a:ext cx="37518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如何记录分支的历史信息；如何据此预测分支去向，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甚至直接取到指令</a:t>
              </a:r>
            </a:p>
          </p:txBody>
        </p:sp>
      </p:grpSp>
      <p:grpSp>
        <p:nvGrpSpPr>
          <p:cNvPr id="63" name="c2-table-2"/>
          <p:cNvGrpSpPr/>
          <p:nvPr/>
        </p:nvGrpSpPr>
        <p:grpSpPr>
          <a:xfrm>
            <a:off x="6243447" y="4229100"/>
            <a:ext cx="5415153" cy="1789461"/>
            <a:chOff x="6243447" y="4229100"/>
            <a:chExt cx="5415153" cy="1789461"/>
          </a:xfrm>
        </p:grpSpPr>
        <p:sp>
          <p:nvSpPr>
            <p:cNvPr id="48" name="Rectangle 48"/>
            <p:cNvSpPr/>
            <p:nvPr/>
          </p:nvSpPr>
          <p:spPr>
            <a:xfrm>
              <a:off x="6248400" y="4229100"/>
              <a:ext cx="5410200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80314" y="434625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要预测什么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997440" y="43462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技术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43079" y="47282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分支是否成功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23376" y="4728210"/>
              <a:ext cx="1008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分支历史表 BHT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49872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48400" y="49920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43079" y="510921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分支之后是哪条指令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23376" y="5109210"/>
              <a:ext cx="12913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分支目标缓冲器 BTB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53682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43079" y="5491162"/>
              <a:ext cx="13121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分支预测 + 乱序执行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723376" y="5491162"/>
              <a:ext cx="1603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基于硬件的前瞻执行 ROB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4229100"/>
              <a:ext cx="541020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623935" y="42291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243447" y="5827871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性能逐级提高，代价是控制电路越来越复杂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24154" cy="909257"/>
            <a:chOff x="520446" y="342900"/>
            <a:chExt cx="62241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动态解决控制冲突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241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位 BHT：上次怎么走，这次就猜怎么走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2419350"/>
            <a:chOff x="533400" y="1524000"/>
            <a:chExt cx="4977765" cy="24193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419350"/>
            </a:xfrm>
            <a:prstGeom prst="roundRect">
              <a:avLst>
                <a:gd name="adj" fmla="val 55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526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1158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097" y="1769269"/>
              <a:ext cx="1091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分支历史表 BHT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538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也叫分支预测缓冲器（Branch Prediction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Buffer），是最简单的动态分支预测方法。用 BHT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记录分支指令最近一次或几次的执行情况，并据此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3299936"/>
              <a:ext cx="42882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位 BHT 只需 1 位，可以和分支指令一起存放在指令 Cache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中，也可以用专门的硬件实现。</a:t>
              </a:r>
            </a:p>
          </p:txBody>
        </p:sp>
      </p:grpSp>
      <p:grpSp>
        <p:nvGrpSpPr>
          <p:cNvPr id="34" name="c1-graph-2"/>
          <p:cNvGrpSpPr/>
          <p:nvPr/>
        </p:nvGrpSpPr>
        <p:grpSpPr>
          <a:xfrm>
            <a:off x="565582" y="4632960"/>
            <a:ext cx="5045329" cy="1192530"/>
            <a:chOff x="565582" y="4632960"/>
            <a:chExt cx="5045329" cy="1192530"/>
          </a:xfrm>
        </p:grpSpPr>
        <p:sp>
          <p:nvSpPr>
            <p:cNvPr id="14" name="Freeform 14"/>
            <p:cNvSpPr/>
            <p:nvPr/>
          </p:nvSpPr>
          <p:spPr>
            <a:xfrm>
              <a:off x="761048" y="4632960"/>
              <a:ext cx="651510" cy="1192530"/>
            </a:xfrm>
            <a:custGeom>
              <a:avLst/>
              <a:gdLst/>
              <a:ahLst/>
              <a:cxnLst/>
              <a:rect l="l" t="t" r="r" b="b"/>
              <a:pathLst>
                <a:path w="651510" h="1192530">
                  <a:moveTo>
                    <a:pt x="651510" y="364808"/>
                  </a:moveTo>
                  <a:cubicBezTo>
                    <a:pt x="0" y="0"/>
                    <a:pt x="0" y="1192530"/>
                    <a:pt x="651510" y="82772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317308" y="5460682"/>
              <a:ext cx="95250" cy="79058"/>
            </a:xfrm>
            <a:custGeom>
              <a:avLst/>
              <a:gdLst/>
              <a:ahLst/>
              <a:cxnLst/>
              <a:rect l="l" t="t" r="r" b="b"/>
              <a:pathLst>
                <a:path w="95250" h="79058">
                  <a:moveTo>
                    <a:pt x="95250" y="0"/>
                  </a:moveTo>
                  <a:lnTo>
                    <a:pt x="41910" y="79058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395538" y="5463540"/>
              <a:ext cx="1167765" cy="222885"/>
            </a:xfrm>
            <a:custGeom>
              <a:avLst/>
              <a:gdLst/>
              <a:ahLst/>
              <a:cxnLst/>
              <a:rect l="l" t="t" r="r" b="b"/>
              <a:pathLst>
                <a:path w="1167765" h="222885">
                  <a:moveTo>
                    <a:pt x="0" y="0"/>
                  </a:moveTo>
                  <a:cubicBezTo>
                    <a:pt x="417830" y="208915"/>
                    <a:pt x="807085" y="222885"/>
                    <a:pt x="1167765" y="4191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542348" y="5463540"/>
              <a:ext cx="105728" cy="84772"/>
            </a:xfrm>
            <a:custGeom>
              <a:avLst/>
              <a:gdLst/>
              <a:ahLst/>
              <a:cxnLst/>
              <a:rect l="l" t="t" r="r" b="b"/>
              <a:pathLst>
                <a:path w="105728" h="84772">
                  <a:moveTo>
                    <a:pt x="105728" y="0"/>
                  </a:moveTo>
                  <a:lnTo>
                    <a:pt x="41910" y="847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481262" y="4771708"/>
              <a:ext cx="1166812" cy="223203"/>
            </a:xfrm>
            <a:custGeom>
              <a:avLst/>
              <a:gdLst/>
              <a:ahLst/>
              <a:cxnLst/>
              <a:rect l="l" t="t" r="r" b="b"/>
              <a:pathLst>
                <a:path w="1166812" h="223203">
                  <a:moveTo>
                    <a:pt x="1166812" y="223203"/>
                  </a:moveTo>
                  <a:cubicBezTo>
                    <a:pt x="749617" y="14288"/>
                    <a:pt x="360680" y="0"/>
                    <a:pt x="0" y="18034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395538" y="4909185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85725"/>
                  </a:moveTo>
                  <a:lnTo>
                    <a:pt x="63817" y="0"/>
                  </a:lnTo>
                  <a:lnTo>
                    <a:pt x="106680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31055" y="4632960"/>
              <a:ext cx="651510" cy="1192530"/>
            </a:xfrm>
            <a:custGeom>
              <a:avLst/>
              <a:gdLst/>
              <a:ahLst/>
              <a:cxnLst/>
              <a:rect l="l" t="t" r="r" b="b"/>
              <a:pathLst>
                <a:path w="651510" h="1192530">
                  <a:moveTo>
                    <a:pt x="0" y="364808"/>
                  </a:moveTo>
                  <a:cubicBezTo>
                    <a:pt x="651510" y="0"/>
                    <a:pt x="651510" y="1192530"/>
                    <a:pt x="0" y="82772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631055" y="5460682"/>
              <a:ext cx="96203" cy="79058"/>
            </a:xfrm>
            <a:custGeom>
              <a:avLst/>
              <a:gdLst/>
              <a:ahLst/>
              <a:cxnLst/>
              <a:rect l="l" t="t" r="r" b="b"/>
              <a:pathLst>
                <a:path w="96203" h="79058">
                  <a:moveTo>
                    <a:pt x="0" y="0"/>
                  </a:moveTo>
                  <a:lnTo>
                    <a:pt x="96203" y="3810"/>
                  </a:lnTo>
                  <a:lnTo>
                    <a:pt x="54292" y="7905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412558" y="4714875"/>
              <a:ext cx="1028700" cy="10287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602355" y="4714875"/>
              <a:ext cx="1028700" cy="1028700"/>
            </a:xfrm>
            <a:prstGeom prst="ellipse">
              <a:avLst/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874166" y="505872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97724" y="524922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预测成功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63963" y="505872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06749" y="524922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预测不成功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5582" y="51715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797492" y="5527358"/>
              <a:ext cx="44958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819438" y="556117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不成功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859405" y="4745355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885402" y="47801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05222" y="517159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不成功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5815965" y="1524000"/>
            <a:ext cx="5842635" cy="1316355"/>
            <a:chOff x="5815965" y="1524000"/>
            <a:chExt cx="5842635" cy="1316355"/>
          </a:xfrm>
        </p:grpSpPr>
        <p:sp>
          <p:nvSpPr>
            <p:cNvPr id="35" name="Rectangle 35"/>
            <p:cNvSpPr/>
            <p:nvPr/>
          </p:nvSpPr>
          <p:spPr>
            <a:xfrm>
              <a:off x="5815965" y="1524000"/>
              <a:ext cx="584263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25490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6361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5382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55995" y="211074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循环体 N 共循环 10 次（分支成功 9 次，失败 1 次）。用 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位预测，准确率是多少？</a:t>
              </a:r>
            </a:p>
          </p:txBody>
        </p:sp>
      </p:grpSp>
      <p:grpSp>
        <p:nvGrpSpPr>
          <p:cNvPr id="93" name="c2-cells-2"/>
          <p:cNvGrpSpPr/>
          <p:nvPr/>
        </p:nvGrpSpPr>
        <p:grpSpPr>
          <a:xfrm>
            <a:off x="5810631" y="3030855"/>
            <a:ext cx="5847969" cy="1111091"/>
            <a:chOff x="5810631" y="3030855"/>
            <a:chExt cx="5847969" cy="1111091"/>
          </a:xfrm>
        </p:grpSpPr>
        <p:sp>
          <p:nvSpPr>
            <p:cNvPr id="41" name="TextBox 41"/>
            <p:cNvSpPr txBox="1"/>
            <p:nvPr/>
          </p:nvSpPr>
          <p:spPr>
            <a:xfrm>
              <a:off x="5810631" y="31746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实际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16015" y="3030855"/>
              <a:ext cx="5438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39018" y="317468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759892" y="3030855"/>
              <a:ext cx="5438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83848" y="317468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303770" y="3030855"/>
              <a:ext cx="5438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27726" y="317468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848600" y="3030855"/>
              <a:ext cx="5438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072556" y="317468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392478" y="3030855"/>
              <a:ext cx="5438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616433" y="317468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937308" y="3030855"/>
              <a:ext cx="5438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161263" y="317468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481185" y="3030855"/>
              <a:ext cx="5438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705141" y="317468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0026015" y="3030855"/>
              <a:ext cx="5438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249018" y="317468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569892" y="3030855"/>
              <a:ext cx="5438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793848" y="317468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1114722" y="3030855"/>
              <a:ext cx="5438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337726" y="317468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810631" y="36509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预测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16015" y="3507105"/>
              <a:ext cx="543878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439018" y="365093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759892" y="3507105"/>
              <a:ext cx="5438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983848" y="365093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303770" y="3507105"/>
              <a:ext cx="5438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527726" y="365093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848600" y="3507105"/>
              <a:ext cx="5438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072556" y="365093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392478" y="3507105"/>
              <a:ext cx="5438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616433" y="365093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937308" y="3507105"/>
              <a:ext cx="5438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161263" y="365093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9481185" y="3507105"/>
              <a:ext cx="5438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705141" y="365093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0026015" y="3507105"/>
              <a:ext cx="5438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249018" y="365093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0569892" y="3507105"/>
              <a:ext cx="5438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793848" y="365093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11114722" y="3507105"/>
              <a:ext cx="543878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1337726" y="365093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452358" y="39800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997188" y="39800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541066" y="39800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085896" y="39800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629773" y="39800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174603" y="39800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718481" y="39800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262358" y="39800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807188" y="39800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320709" y="398002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95" name="c2-text-3"/>
          <p:cNvGrpSpPr/>
          <p:nvPr/>
        </p:nvGrpSpPr>
        <p:grpSpPr>
          <a:xfrm>
            <a:off x="5809488" y="4319111"/>
            <a:ext cx="5572506" cy="500824"/>
            <a:chOff x="5809488" y="4319111"/>
            <a:chExt cx="5572506" cy="500824"/>
          </a:xfrm>
        </p:grpSpPr>
        <p:sp>
          <p:nvSpPr>
            <p:cNvPr id="94" name="TextBox 94"/>
            <p:cNvSpPr txBox="1"/>
            <p:nvPr/>
          </p:nvSpPr>
          <p:spPr>
            <a:xfrm>
              <a:off x="5809488" y="4319111"/>
              <a:ext cx="557250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次猜错：上一次执行这个循环（循环 M）时最后一次不成功，预测位被置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0，保持到了这一次的第一次预测。第 10 次猜错不可避免，前 9 次都成功。</a:t>
              </a:r>
            </a:p>
          </p:txBody>
        </p:sp>
      </p:grpSp>
      <p:grpSp>
        <p:nvGrpSpPr>
          <p:cNvPr id="101" name="c2-card-4"/>
          <p:cNvGrpSpPr/>
          <p:nvPr/>
        </p:nvGrpSpPr>
        <p:grpSpPr>
          <a:xfrm>
            <a:off x="5815965" y="4959668"/>
            <a:ext cx="5842635" cy="1364932"/>
            <a:chOff x="5815965" y="4959668"/>
            <a:chExt cx="5842635" cy="1364932"/>
          </a:xfrm>
        </p:grpSpPr>
        <p:sp>
          <p:nvSpPr>
            <p:cNvPr id="96" name="Rectangle 96"/>
            <p:cNvSpPr/>
            <p:nvPr/>
          </p:nvSpPr>
          <p:spPr>
            <a:xfrm>
              <a:off x="5815965" y="4959668"/>
              <a:ext cx="5842635" cy="1364932"/>
            </a:xfrm>
            <a:prstGeom prst="roundRect">
              <a:avLst>
                <a:gd name="adj" fmla="val 97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5825490" y="5093018"/>
              <a:ext cx="47625" cy="10982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6063615" y="516921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153823" y="52049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055995" y="5546408"/>
              <a:ext cx="5063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原课件写“分支预测的准确性为 101%”。2 次错、8 次对，准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确率 8/10 = 80%，低于分支成功的比例 90%。</a:t>
              </a:r>
            </a:p>
          </p:txBody>
        </p:sp>
      </p:grpSp>
      <p:grpSp>
        <p:nvGrpSpPr>
          <p:cNvPr id="10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2" name="TextBox 102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64468" cy="909257"/>
            <a:chOff x="520446" y="342900"/>
            <a:chExt cx="41644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动态解决控制冲突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644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位 BHT：连错两次才改口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c1-graph-1"/>
          <p:cNvGrpSpPr/>
          <p:nvPr/>
        </p:nvGrpSpPr>
        <p:grpSpPr>
          <a:xfrm>
            <a:off x="1631632" y="1553051"/>
            <a:ext cx="4164064" cy="3488056"/>
            <a:chOff x="1631632" y="1553051"/>
            <a:chExt cx="4164064" cy="3488056"/>
          </a:xfrm>
        </p:grpSpPr>
        <p:sp>
          <p:nvSpPr>
            <p:cNvPr id="7" name="Freeform 7"/>
            <p:cNvSpPr/>
            <p:nvPr/>
          </p:nvSpPr>
          <p:spPr>
            <a:xfrm>
              <a:off x="4908232" y="1874520"/>
              <a:ext cx="537210" cy="849630"/>
            </a:xfrm>
            <a:custGeom>
              <a:avLst/>
              <a:gdLst/>
              <a:ahLst/>
              <a:cxnLst/>
              <a:rect l="l" t="t" r="r" b="b"/>
              <a:pathLst>
                <a:path w="537210" h="849630">
                  <a:moveTo>
                    <a:pt x="0" y="279082"/>
                  </a:moveTo>
                  <a:cubicBezTo>
                    <a:pt x="537210" y="0"/>
                    <a:pt x="537210" y="849630"/>
                    <a:pt x="0" y="570547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908232" y="2445068"/>
              <a:ext cx="96203" cy="77153"/>
            </a:xfrm>
            <a:custGeom>
              <a:avLst/>
              <a:gdLst/>
              <a:ahLst/>
              <a:cxnLst/>
              <a:rect l="l" t="t" r="r" b="b"/>
              <a:pathLst>
                <a:path w="96203" h="77153">
                  <a:moveTo>
                    <a:pt x="0" y="0"/>
                  </a:moveTo>
                  <a:lnTo>
                    <a:pt x="96203" y="1905"/>
                  </a:lnTo>
                  <a:lnTo>
                    <a:pt x="56198" y="7715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418398" y="2423160"/>
              <a:ext cx="1767840" cy="259397"/>
            </a:xfrm>
            <a:custGeom>
              <a:avLst/>
              <a:gdLst/>
              <a:ahLst/>
              <a:cxnLst/>
              <a:rect l="l" t="t" r="r" b="b"/>
              <a:pathLst>
                <a:path w="1767840" h="259397">
                  <a:moveTo>
                    <a:pt x="0" y="0"/>
                  </a:moveTo>
                  <a:cubicBezTo>
                    <a:pt x="619125" y="247650"/>
                    <a:pt x="1208405" y="259397"/>
                    <a:pt x="1767840" y="35243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69092" y="2414588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105728" y="8573"/>
                  </a:moveTo>
                  <a:lnTo>
                    <a:pt x="35242" y="88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506980" y="1916112"/>
              <a:ext cx="1767840" cy="259398"/>
            </a:xfrm>
            <a:custGeom>
              <a:avLst/>
              <a:gdLst/>
              <a:ahLst/>
              <a:cxnLst/>
              <a:rect l="l" t="t" r="r" b="b"/>
              <a:pathLst>
                <a:path w="1767840" h="259398">
                  <a:moveTo>
                    <a:pt x="1767840" y="259398"/>
                  </a:moveTo>
                  <a:cubicBezTo>
                    <a:pt x="1149350" y="11748"/>
                    <a:pt x="560070" y="0"/>
                    <a:pt x="0" y="22415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418398" y="2095500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0" y="80010"/>
                  </a:moveTo>
                  <a:lnTo>
                    <a:pt x="70485" y="0"/>
                  </a:lnTo>
                  <a:lnTo>
                    <a:pt x="105727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801812" y="2608898"/>
              <a:ext cx="183198" cy="1195388"/>
            </a:xfrm>
            <a:custGeom>
              <a:avLst/>
              <a:gdLst/>
              <a:ahLst/>
              <a:cxnLst/>
              <a:rect l="l" t="t" r="r" b="b"/>
              <a:pathLst>
                <a:path w="183198" h="1195388">
                  <a:moveTo>
                    <a:pt x="183198" y="0"/>
                  </a:moveTo>
                  <a:cubicBezTo>
                    <a:pt x="11748" y="427990"/>
                    <a:pt x="0" y="826453"/>
                    <a:pt x="147955" y="119538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905000" y="3787140"/>
              <a:ext cx="88583" cy="105727"/>
            </a:xfrm>
            <a:custGeom>
              <a:avLst/>
              <a:gdLst/>
              <a:ahLst/>
              <a:cxnLst/>
              <a:rect l="l" t="t" r="r" b="b"/>
              <a:pathLst>
                <a:path w="88583" h="105727">
                  <a:moveTo>
                    <a:pt x="80010" y="105727"/>
                  </a:moveTo>
                  <a:lnTo>
                    <a:pt x="0" y="35242"/>
                  </a:lnTo>
                  <a:lnTo>
                    <a:pt x="8858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232660" y="2697480"/>
              <a:ext cx="183197" cy="1195388"/>
            </a:xfrm>
            <a:custGeom>
              <a:avLst/>
              <a:gdLst/>
              <a:ahLst/>
              <a:cxnLst/>
              <a:rect l="l" t="t" r="r" b="b"/>
              <a:pathLst>
                <a:path w="183197" h="1195388">
                  <a:moveTo>
                    <a:pt x="0" y="1195388"/>
                  </a:moveTo>
                  <a:cubicBezTo>
                    <a:pt x="171450" y="767398"/>
                    <a:pt x="183197" y="368935"/>
                    <a:pt x="35242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224088" y="2608898"/>
              <a:ext cx="88583" cy="105728"/>
            </a:xfrm>
            <a:custGeom>
              <a:avLst/>
              <a:gdLst/>
              <a:ahLst/>
              <a:cxnLst/>
              <a:rect l="l" t="t" r="r" b="b"/>
              <a:pathLst>
                <a:path w="88583" h="105728">
                  <a:moveTo>
                    <a:pt x="8573" y="0"/>
                  </a:moveTo>
                  <a:lnTo>
                    <a:pt x="88583" y="70485"/>
                  </a:lnTo>
                  <a:lnTo>
                    <a:pt x="0" y="10572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418398" y="4326255"/>
              <a:ext cx="1767840" cy="259398"/>
            </a:xfrm>
            <a:custGeom>
              <a:avLst/>
              <a:gdLst/>
              <a:ahLst/>
              <a:cxnLst/>
              <a:rect l="l" t="t" r="r" b="b"/>
              <a:pathLst>
                <a:path w="1767840" h="259398">
                  <a:moveTo>
                    <a:pt x="0" y="0"/>
                  </a:moveTo>
                  <a:cubicBezTo>
                    <a:pt x="619125" y="247650"/>
                    <a:pt x="1208405" y="259398"/>
                    <a:pt x="1767840" y="3524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169092" y="4317682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105728" y="8572"/>
                  </a:moveTo>
                  <a:lnTo>
                    <a:pt x="35242" y="88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506980" y="3819207"/>
              <a:ext cx="1767840" cy="259398"/>
            </a:xfrm>
            <a:custGeom>
              <a:avLst/>
              <a:gdLst/>
              <a:ahLst/>
              <a:cxnLst/>
              <a:rect l="l" t="t" r="r" b="b"/>
              <a:pathLst>
                <a:path w="1767840" h="259398">
                  <a:moveTo>
                    <a:pt x="1767840" y="259398"/>
                  </a:moveTo>
                  <a:cubicBezTo>
                    <a:pt x="1149350" y="11748"/>
                    <a:pt x="560070" y="0"/>
                    <a:pt x="0" y="22415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418398" y="3998595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0" y="80010"/>
                  </a:moveTo>
                  <a:lnTo>
                    <a:pt x="70485" y="0"/>
                  </a:lnTo>
                  <a:lnTo>
                    <a:pt x="105727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908232" y="3777615"/>
              <a:ext cx="537210" cy="849630"/>
            </a:xfrm>
            <a:custGeom>
              <a:avLst/>
              <a:gdLst/>
              <a:ahLst/>
              <a:cxnLst/>
              <a:rect l="l" t="t" r="r" b="b"/>
              <a:pathLst>
                <a:path w="537210" h="849630">
                  <a:moveTo>
                    <a:pt x="0" y="279082"/>
                  </a:moveTo>
                  <a:cubicBezTo>
                    <a:pt x="537210" y="0"/>
                    <a:pt x="537210" y="849630"/>
                    <a:pt x="0" y="570547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908232" y="4348162"/>
              <a:ext cx="96203" cy="77153"/>
            </a:xfrm>
            <a:custGeom>
              <a:avLst/>
              <a:gdLst/>
              <a:ahLst/>
              <a:cxnLst/>
              <a:rect l="l" t="t" r="r" b="b"/>
              <a:pathLst>
                <a:path w="96203" h="77153">
                  <a:moveTo>
                    <a:pt x="0" y="0"/>
                  </a:moveTo>
                  <a:lnTo>
                    <a:pt x="96203" y="1905"/>
                  </a:lnTo>
                  <a:lnTo>
                    <a:pt x="56198" y="7715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260532" y="1975485"/>
              <a:ext cx="647700" cy="6477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784985" y="1975485"/>
              <a:ext cx="647700" cy="6477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784985" y="3878580"/>
              <a:ext cx="647700" cy="647700"/>
            </a:xfrm>
            <a:prstGeom prst="ellipse">
              <a:avLst/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4260532" y="3878580"/>
              <a:ext cx="647700" cy="647700"/>
            </a:xfrm>
            <a:prstGeom prst="ellipse">
              <a:avLst/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84995" y="222504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09447" y="222504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09447" y="41281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84995" y="41281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90007" y="22417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184208" y="2515552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210204" y="25503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122295" y="1897380"/>
              <a:ext cx="44958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44241" y="193119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不成功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631632" y="3158490"/>
              <a:ext cx="44958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653578" y="319230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不成功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198370" y="315849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224367" y="319230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122295" y="4418648"/>
              <a:ext cx="44958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144241" y="445341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不成功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184208" y="3800475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210204" y="38342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390007" y="414480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不成功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039821" y="15530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预测成功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964434" y="482107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预测不成功</a:t>
              </a:r>
            </a:p>
          </p:txBody>
        </p:sp>
      </p:grpSp>
      <p:grpSp>
        <p:nvGrpSpPr>
          <p:cNvPr id="49" name="c1-text-2"/>
          <p:cNvGrpSpPr/>
          <p:nvPr/>
        </p:nvGrpSpPr>
        <p:grpSpPr>
          <a:xfrm>
            <a:off x="526923" y="5260181"/>
            <a:ext cx="5354676" cy="249364"/>
            <a:chOff x="526923" y="5260181"/>
            <a:chExt cx="5354676" cy="249364"/>
          </a:xfrm>
        </p:grpSpPr>
        <p:sp>
          <p:nvSpPr>
            <p:cNvPr id="48" name="TextBox 48"/>
            <p:cNvSpPr txBox="1"/>
            <p:nvPr/>
          </p:nvSpPr>
          <p:spPr>
            <a:xfrm>
              <a:off x="526923" y="5260181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就是一个 2 位饱和计数器：成功加 1、失败减 1，高位为 1 预测成功。</a:t>
              </a:r>
            </a:p>
          </p:txBody>
        </p:sp>
      </p:grpSp>
      <p:grpSp>
        <p:nvGrpSpPr>
          <p:cNvPr id="55" name="c2-kv-1"/>
          <p:cNvGrpSpPr/>
          <p:nvPr/>
        </p:nvGrpSpPr>
        <p:grpSpPr>
          <a:xfrm>
            <a:off x="6456998" y="1548765"/>
            <a:ext cx="5201602" cy="1015365"/>
            <a:chOff x="6456998" y="1548765"/>
            <a:chExt cx="5201602" cy="1015365"/>
          </a:xfrm>
        </p:grpSpPr>
        <p:sp>
          <p:nvSpPr>
            <p:cNvPr id="50" name="TextBox 50"/>
            <p:cNvSpPr txBox="1"/>
            <p:nvPr/>
          </p:nvSpPr>
          <p:spPr>
            <a:xfrm>
              <a:off x="6456998" y="1548765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1 位的缺点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75245" y="154876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只要预测出错，往往是连续两次错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64618" y="18688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456998" y="198882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改进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75245" y="1988820"/>
              <a:ext cx="36918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2 个预测位，提高准确度。研究表明 2 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预测的性能与 n 位（n &gt; 2）差不多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464618" y="2695575"/>
            <a:ext cx="5193982" cy="1602105"/>
            <a:chOff x="6464618" y="2695575"/>
            <a:chExt cx="5193982" cy="1602105"/>
          </a:xfrm>
        </p:grpSpPr>
        <p:sp>
          <p:nvSpPr>
            <p:cNvPr id="56" name="Rectangle 56"/>
            <p:cNvSpPr/>
            <p:nvPr/>
          </p:nvSpPr>
          <p:spPr>
            <a:xfrm>
              <a:off x="6464618" y="2695575"/>
              <a:ext cx="519398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74142" y="282892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712268" y="2905125"/>
              <a:ext cx="180403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63668" y="2940844"/>
              <a:ext cx="17012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同一个例题换成 2 位预测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04648" y="3282315"/>
              <a:ext cx="44824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 M 最后一次不成功，预测位从 11 变为 10，仍预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测成功，所以循环 N 第 1 次猜对。只有第 10 次猜错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（11 变 10）。准确率 9/10 = 90%。</a:t>
              </a:r>
            </a:p>
          </p:txBody>
        </p:sp>
      </p:grpSp>
      <p:grpSp>
        <p:nvGrpSpPr>
          <p:cNvPr id="71" name="c2-steps-3"/>
          <p:cNvGrpSpPr/>
          <p:nvPr/>
        </p:nvGrpSpPr>
        <p:grpSpPr>
          <a:xfrm>
            <a:off x="6464618" y="4497705"/>
            <a:ext cx="4928489" cy="1462373"/>
            <a:chOff x="6464618" y="4497705"/>
            <a:chExt cx="4928489" cy="1462373"/>
          </a:xfrm>
        </p:grpSpPr>
        <p:sp>
          <p:nvSpPr>
            <p:cNvPr id="62" name="Rectangle 62"/>
            <p:cNvSpPr/>
            <p:nvPr/>
          </p:nvSpPr>
          <p:spPr>
            <a:xfrm>
              <a:off x="6597968" y="4640580"/>
              <a:ext cx="19050" cy="885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6464618" y="449770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58241" y="45715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464618" y="538353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58241" y="54573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876098" y="45319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分支预测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877241" y="4825841"/>
              <a:ext cx="45158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分支到达 ID 段时读 BHT 预测；猜对流水线不断流，猜错就作废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已预取的指令、恢复现场，从另一条路径重新取指令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876098" y="54178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状态修改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877241" y="571071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分支结果出来后按上图改写预测位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14620" cy="909257"/>
            <a:chOff x="520446" y="342900"/>
            <a:chExt cx="76146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动态解决控制冲突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146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BTB：把成功分支的目标地址存起来，IF 段就能跳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193982" cy="1386840"/>
            <a:chOff x="533400" y="1524000"/>
            <a:chExt cx="5193982" cy="13868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133540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0772" y="1737836"/>
              <a:ext cx="12188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分支目标缓冲器 BTB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5646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目标是把分支开销降为 0。把分支成功的分支指令地址和它的分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支目标地址都存进一个缓冲区，以分支指令地址作为标识，这就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Branch-Target Buffer（或 Branch-Target Cache）。</a:t>
              </a:r>
            </a:p>
          </p:txBody>
        </p:sp>
      </p:grpSp>
      <p:grpSp>
        <p:nvGrpSpPr>
          <p:cNvPr id="28" name="c1-table-2"/>
          <p:cNvGrpSpPr/>
          <p:nvPr/>
        </p:nvGrpSpPr>
        <p:grpSpPr>
          <a:xfrm>
            <a:off x="528447" y="3075622"/>
            <a:ext cx="5198935" cy="1789462"/>
            <a:chOff x="528447" y="3075622"/>
            <a:chExt cx="5198935" cy="1789462"/>
          </a:xfrm>
        </p:grpSpPr>
        <p:sp>
          <p:nvSpPr>
            <p:cNvPr id="13" name="Rectangle 13"/>
            <p:cNvSpPr/>
            <p:nvPr/>
          </p:nvSpPr>
          <p:spPr>
            <a:xfrm>
              <a:off x="533400" y="3075622"/>
              <a:ext cx="5193982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7542" y="319278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地址标识（成功分支的地址）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87712" y="319278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预测的分支目标地址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8078" y="3574732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0x4010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24594" y="3574732"/>
              <a:ext cx="490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0x3F80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8338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83857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3955732"/>
              <a:ext cx="5143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0x40A4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24594" y="395573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0x4200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2148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43376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24594" y="433768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075622"/>
              <a:ext cx="5193982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125152" y="307562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8447" y="4674394"/>
              <a:ext cx="33160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BTB 可以看成专门硬件实现的一张表，每项至少两个字段</a:t>
              </a:r>
            </a:p>
          </p:txBody>
        </p:sp>
      </p:grpSp>
      <p:grpSp>
        <p:nvGrpSpPr>
          <p:cNvPr id="35" name="c1-callout-3"/>
          <p:cNvGrpSpPr/>
          <p:nvPr/>
        </p:nvGrpSpPr>
        <p:grpSpPr>
          <a:xfrm>
            <a:off x="533400" y="4992052"/>
            <a:ext cx="5193982" cy="937260"/>
            <a:chOff x="533400" y="4992052"/>
            <a:chExt cx="5193982" cy="937260"/>
          </a:xfrm>
        </p:grpSpPr>
        <p:sp>
          <p:nvSpPr>
            <p:cNvPr id="29" name="Rectangle 29"/>
            <p:cNvSpPr/>
            <p:nvPr/>
          </p:nvSpPr>
          <p:spPr>
            <a:xfrm>
              <a:off x="533400" y="4992052"/>
              <a:ext cx="5193982" cy="937260"/>
            </a:xfrm>
            <a:prstGeom prst="roundRect">
              <a:avLst>
                <a:gd name="adj" fmla="val 1219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26129" y="5356978"/>
              <a:ext cx="224134" cy="192560"/>
              <a:chOff x="726129" y="5356978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38200" y="542734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6129" y="535697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55051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1273" y="5136356"/>
              <a:ext cx="4166362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BHT 只有在判定分支是否成功比算出目标地址更慢时才有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用。经典 5 段流水线两件事都在 ID 段完成，BHT 给它带不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来好处，BTB 在 IF 段就给出目标地址。</a:t>
              </a:r>
            </a:p>
          </p:txBody>
        </p:sp>
      </p:grpSp>
      <p:grpSp>
        <p:nvGrpSpPr>
          <p:cNvPr id="54" name="c2-flow-1"/>
          <p:cNvGrpSpPr/>
          <p:nvPr/>
        </p:nvGrpSpPr>
        <p:grpSpPr>
          <a:xfrm>
            <a:off x="6229350" y="2071688"/>
            <a:ext cx="5232082" cy="3398520"/>
            <a:chOff x="6229350" y="2071688"/>
            <a:chExt cx="5232082" cy="3398520"/>
          </a:xfrm>
        </p:grpSpPr>
        <p:sp>
          <p:nvSpPr>
            <p:cNvPr id="36" name="Freeform 36"/>
            <p:cNvSpPr/>
            <p:nvPr/>
          </p:nvSpPr>
          <p:spPr>
            <a:xfrm>
              <a:off x="7439025" y="2444115"/>
              <a:ext cx="9525" cy="806767"/>
            </a:xfrm>
            <a:custGeom>
              <a:avLst/>
              <a:gdLst/>
              <a:ahLst/>
              <a:cxnLst/>
              <a:rect l="l" t="t" r="r" b="b"/>
              <a:pathLst>
                <a:path w="9525" h="806767">
                  <a:moveTo>
                    <a:pt x="0" y="0"/>
                  </a:moveTo>
                  <a:lnTo>
                    <a:pt x="0" y="80676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386638" y="32508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7439025" y="4097655"/>
              <a:ext cx="9525" cy="716280"/>
            </a:xfrm>
            <a:custGeom>
              <a:avLst/>
              <a:gdLst/>
              <a:ahLst/>
              <a:cxnLst/>
              <a:rect l="l" t="t" r="r" b="b"/>
              <a:pathLst>
                <a:path w="9525" h="716280">
                  <a:moveTo>
                    <a:pt x="0" y="0"/>
                  </a:moveTo>
                  <a:lnTo>
                    <a:pt x="0" y="7162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386638" y="48139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8648700" y="3726180"/>
              <a:ext cx="288607" cy="9525"/>
            </a:xfrm>
            <a:custGeom>
              <a:avLst/>
              <a:gdLst/>
              <a:ahLst/>
              <a:cxnLst/>
              <a:rect l="l" t="t" r="r" b="b"/>
              <a:pathLst>
                <a:path w="288607" h="9525">
                  <a:moveTo>
                    <a:pt x="0" y="0"/>
                  </a:moveTo>
                  <a:lnTo>
                    <a:pt x="288607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937308" y="36737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29350" y="2071688"/>
              <a:ext cx="241935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6229350" y="3355658"/>
              <a:ext cx="2419350" cy="741997"/>
            </a:xfrm>
            <a:custGeom>
              <a:avLst/>
              <a:gdLst/>
              <a:ahLst/>
              <a:cxnLst/>
              <a:rect l="l" t="t" r="r" b="b"/>
              <a:pathLst>
                <a:path w="2419350" h="741997">
                  <a:moveTo>
                    <a:pt x="1209675" y="0"/>
                  </a:moveTo>
                  <a:lnTo>
                    <a:pt x="2419350" y="370522"/>
                  </a:lnTo>
                  <a:lnTo>
                    <a:pt x="1209675" y="741997"/>
                  </a:lnTo>
                  <a:lnTo>
                    <a:pt x="0" y="370522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29350" y="4918710"/>
              <a:ext cx="2419350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042082" y="3450908"/>
              <a:ext cx="2419350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05092" y="2185035"/>
              <a:ext cx="10678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当前取指地址 PC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73646" y="3563302"/>
              <a:ext cx="73075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BTB 中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相联查找 =?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73596" y="5031105"/>
              <a:ext cx="153085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当作成功的分支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表中目标地址作下一条 PC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46374" y="3563302"/>
              <a:ext cx="81076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当作普通指令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 + 4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467600" y="4429125"/>
              <a:ext cx="3238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491412" y="445198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命中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625840" y="3142298"/>
              <a:ext cx="4381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8416" y="3165158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未命中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48435" cy="909257"/>
            <a:chOff x="520446" y="342900"/>
            <a:chExt cx="77484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动态解决控制冲突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484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 BTB 后，各流水段做什么、各种情况延迟多少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492240" cy="2975610"/>
            <a:chOff x="533400" y="1524000"/>
            <a:chExt cx="6492240" cy="29756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334" y="16525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16174" y="1652588"/>
              <a:ext cx="16540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BTB 命中（预测成功）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75947" y="1652588"/>
              <a:ext cx="19771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BTB 未命中（按普通指令）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889" y="2076450"/>
              <a:ext cx="164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85494" y="2076450"/>
              <a:ext cx="22506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BTB 中的目标地址作为新 PC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06812" y="2076450"/>
              <a:ext cx="8644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 PC + 4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6791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72678"/>
              <a:ext cx="6492240" cy="85153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889" y="2714625"/>
              <a:ext cx="164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85494" y="2501265"/>
              <a:ext cx="24505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判断分支实际是否成功。成功：预测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正确，继续执行后继指令，不停顿；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不成功：预测错误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06812" y="2607945"/>
              <a:ext cx="2450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判断是不是成功的分支。不是：正常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执行；是：预测错误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1945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35661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85494" y="3459480"/>
              <a:ext cx="24429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预测错误：清除已取的指令，从 BTB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删除该项（BTBDelete）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06812" y="3352800"/>
              <a:ext cx="255727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预测错误：把这条分支的 PC 和目标地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址写入 BTB，作为新的一项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（BTBCreate）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07003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074795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4203382"/>
              <a:ext cx="3795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85494" y="420338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从正确地址重新取指令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06812" y="420338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从目标地址重新取指令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492240" cy="29756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178242" y="1524000"/>
              <a:ext cx="9525" cy="29756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099560" y="1524000"/>
              <a:ext cx="9525" cy="29756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ode-2"/>
          <p:cNvGrpSpPr/>
          <p:nvPr/>
        </p:nvGrpSpPr>
        <p:grpSpPr>
          <a:xfrm>
            <a:off x="533400" y="4679632"/>
            <a:ext cx="6492240" cy="1640205"/>
            <a:chOff x="533400" y="4679632"/>
            <a:chExt cx="6492240" cy="1640205"/>
          </a:xfrm>
        </p:grpSpPr>
        <p:sp>
          <p:nvSpPr>
            <p:cNvPr id="32" name="Rectangle 32"/>
            <p:cNvSpPr/>
            <p:nvPr/>
          </p:nvSpPr>
          <p:spPr>
            <a:xfrm>
              <a:off x="533400" y="4679632"/>
              <a:ext cx="6492240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1797" y="4831556"/>
              <a:ext cx="29338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原课件的流程伪代码（BPC 记下分支自己的地址）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1416" y="5093018"/>
              <a:ext cx="4191191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IF：Fetch(PC); BPC = PC;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Match(PC,BTB) ? NPC = BTB.BranchTarget : NPC = PC+4;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ID/EX：命中但 BranchCond == 0 → 作废已取指令, PC = BPC+4,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BTBDelete(BPC);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未命中但是分支且 BranchCond == 1 → 作废已取指令,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PC = BranchTarget, BTBCreate(BPC, BranchTarget);</a:t>
              </a:r>
            </a:p>
          </p:txBody>
        </p:sp>
      </p:grpSp>
      <p:grpSp>
        <p:nvGrpSpPr>
          <p:cNvPr id="70" name="c2-table-1"/>
          <p:cNvGrpSpPr/>
          <p:nvPr/>
        </p:nvGrpSpPr>
        <p:grpSpPr>
          <a:xfrm>
            <a:off x="7330440" y="1524000"/>
            <a:ext cx="4328160" cy="2316480"/>
            <a:chOff x="7330440" y="1524000"/>
            <a:chExt cx="4328160" cy="2316480"/>
          </a:xfrm>
        </p:grpSpPr>
        <p:sp>
          <p:nvSpPr>
            <p:cNvPr id="36" name="Rectangle 36"/>
            <p:cNvSpPr/>
            <p:nvPr/>
          </p:nvSpPr>
          <p:spPr>
            <a:xfrm>
              <a:off x="7330440" y="1524000"/>
              <a:ext cx="4328160" cy="4629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26863" y="1655921"/>
              <a:ext cx="8739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BTB 中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18918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48558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668965" y="16559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延迟周期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61033" y="211978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18918" y="211978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48558" y="211978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467022" y="1996440"/>
              <a:ext cx="1182052" cy="4438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998717" y="211978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330440" y="244602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330440" y="2450782"/>
              <a:ext cx="432816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861033" y="2582704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18918" y="258270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52978" y="258270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不成功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0467022" y="2460308"/>
              <a:ext cx="1182052" cy="4438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998717" y="2582704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330440" y="2908935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765453" y="304561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957509" y="304561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748558" y="304561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0467022" y="2923222"/>
              <a:ext cx="1182052" cy="4438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998717" y="304561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330440" y="337280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330440" y="3377565"/>
              <a:ext cx="432816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765453" y="35094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957509" y="350948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652978" y="35094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不成功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0467022" y="3387090"/>
              <a:ext cx="1182052" cy="4438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998717" y="350948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330440" y="1524000"/>
              <a:ext cx="4328160" cy="2316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8591550" y="1524000"/>
              <a:ext cx="9525" cy="2316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432608" y="1524000"/>
              <a:ext cx="9525" cy="2316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10452735" y="1524000"/>
              <a:ext cx="9525" cy="2316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7" name="c2-callout-2"/>
          <p:cNvGrpSpPr/>
          <p:nvPr/>
        </p:nvGrpSpPr>
        <p:grpSpPr>
          <a:xfrm>
            <a:off x="7330440" y="4020502"/>
            <a:ext cx="4328160" cy="1018222"/>
            <a:chOff x="7330440" y="4020502"/>
            <a:chExt cx="4328160" cy="1018222"/>
          </a:xfrm>
        </p:grpSpPr>
        <p:sp>
          <p:nvSpPr>
            <p:cNvPr id="71" name="Rectangle 71"/>
            <p:cNvSpPr/>
            <p:nvPr/>
          </p:nvSpPr>
          <p:spPr>
            <a:xfrm>
              <a:off x="7330440" y="4020502"/>
              <a:ext cx="4328160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535228" y="4430078"/>
              <a:ext cx="200026" cy="200025"/>
              <a:chOff x="7535228" y="4430078"/>
              <a:chExt cx="200026" cy="200025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535228" y="443007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574966" y="447452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609682" y="458565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7837551" y="4167664"/>
              <a:ext cx="3386836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延迟 2 个周期，是因为预测错误在 ID 段发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现、在 EX 段处理，其间取进来的指令都要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作废。</a:t>
              </a:r>
            </a:p>
          </p:txBody>
        </p:sp>
      </p:grpSp>
      <p:grpSp>
        <p:nvGrpSpPr>
          <p:cNvPr id="84" name="c2-callout-3"/>
          <p:cNvGrpSpPr/>
          <p:nvPr/>
        </p:nvGrpSpPr>
        <p:grpSpPr>
          <a:xfrm>
            <a:off x="7330440" y="5219700"/>
            <a:ext cx="4328160" cy="1100138"/>
            <a:chOff x="7330440" y="5219700"/>
            <a:chExt cx="4328160" cy="1100138"/>
          </a:xfrm>
        </p:grpSpPr>
        <p:sp>
          <p:nvSpPr>
            <p:cNvPr id="78" name="Rectangle 78"/>
            <p:cNvSpPr/>
            <p:nvPr/>
          </p:nvSpPr>
          <p:spPr>
            <a:xfrm>
              <a:off x="7330440" y="5219700"/>
              <a:ext cx="4328160" cy="1100138"/>
            </a:xfrm>
            <a:prstGeom prst="roundRect">
              <a:avLst>
                <a:gd name="adj" fmla="val 1039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535228" y="5670233"/>
              <a:ext cx="200026" cy="200026"/>
              <a:chOff x="7535228" y="5670233"/>
              <a:chExt cx="200026" cy="200026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7535228" y="56702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7635240" y="57369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624128" y="577024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7837551" y="5407819"/>
              <a:ext cx="3477006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BTB 表项里还可以再加 BHT 的预测位，命中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之后再看预测位决定跳不跳，这样“不成功”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的分支也能留在表里。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61057" cy="909257"/>
            <a:chOff x="520446" y="342900"/>
            <a:chExt cx="62610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动态解决控制冲突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610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BTB 的另一种形式：直接存目标处的指令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7685" y="1524000"/>
            <a:ext cx="5415915" cy="2091214"/>
            <a:chOff x="527685" y="1524000"/>
            <a:chExt cx="5415915" cy="20912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7220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分支指令地址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59985" y="1659731"/>
              <a:ext cx="1074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分支历史 BHT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91141" y="165973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分支目标处的若干条指令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55698" y="2108359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54908" y="2108359"/>
              <a:ext cx="1542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I₀,₀ I₀,₁ … I₀,ₙ₋₁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55698" y="2556986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54908" y="2556986"/>
              <a:ext cx="1542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I₁,₀ I₁,₁ … I₁,ₙ₋₁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55698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54908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04311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34232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7685" y="3395186"/>
              <a:ext cx="1789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当前 PC 与第一列相联比较</a:t>
              </a:r>
            </a:p>
          </p:txBody>
        </p:sp>
      </p:grpSp>
      <p:grpSp>
        <p:nvGrpSpPr>
          <p:cNvPr id="38" name="c1-bullets-2"/>
          <p:cNvGrpSpPr/>
          <p:nvPr/>
        </p:nvGrpSpPr>
        <p:grpSpPr>
          <a:xfrm>
            <a:off x="525780" y="3786188"/>
            <a:ext cx="5207762" cy="1697641"/>
            <a:chOff x="525780" y="3786188"/>
            <a:chExt cx="5207762" cy="1697641"/>
          </a:xfrm>
        </p:grpSpPr>
        <p:sp>
          <p:nvSpPr>
            <p:cNvPr id="28" name="TextBox 28"/>
            <p:cNvSpPr txBox="1"/>
            <p:nvPr/>
          </p:nvSpPr>
          <p:spPr>
            <a:xfrm>
              <a:off x="525780" y="378618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三个潜在的好处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33400" y="4125278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85307" y="41609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3148" y="4136231"/>
              <a:ext cx="46758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更快拿到目标处的指令，省下的时间可以用来检索更大的 BTB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33400" y="4431030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85307" y="446665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3148" y="444293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一次提供目标处的多条指令，多流出处理器需要这一点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33400" y="4737735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5307" y="47724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3148" y="4748689"/>
              <a:ext cx="49303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支持分支折叠（branch folding）：分支让后继指令等待的那段时间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里，从 BTB 取出指令填进气泡，分支路径和非分支路径上的指令串同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时执行，相当于硬件版的延迟槽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6248400" y="1524000"/>
            <a:ext cx="5410200" cy="2484120"/>
            <a:chOff x="6248400" y="1524000"/>
            <a:chExt cx="5410200" cy="2484120"/>
          </a:xfrm>
        </p:grpSpPr>
        <p:sp>
          <p:nvSpPr>
            <p:cNvPr id="39" name="Rectangle 39"/>
            <p:cNvSpPr/>
            <p:nvPr/>
          </p:nvSpPr>
          <p:spPr>
            <a:xfrm>
              <a:off x="6248400" y="1524000"/>
              <a:ext cx="541020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8845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36254" y="166306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BTB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971380" y="1663065"/>
              <a:ext cx="14275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BPB（即 BHT）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55080" y="24174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缓冲内容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53338" y="2150745"/>
              <a:ext cx="17297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分支成功路径上的后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继指令地址或后继指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17418" y="2284095"/>
              <a:ext cx="1539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分支是否成功的预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测值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30279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48400" y="3032760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55080" y="3171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分支预测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53338" y="31718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预测分支成功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17418" y="31718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预测值动态改变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35156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55080" y="36595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作用位置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53338" y="3659505"/>
              <a:ext cx="4625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段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817418" y="3659505"/>
              <a:ext cx="4625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 段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1524000"/>
              <a:ext cx="5410200" cy="2484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541895" y="1524000"/>
              <a:ext cx="9525" cy="2484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705975" y="1524000"/>
              <a:ext cx="9525" cy="2484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callout-2"/>
          <p:cNvGrpSpPr/>
          <p:nvPr/>
        </p:nvGrpSpPr>
        <p:grpSpPr>
          <a:xfrm>
            <a:off x="6248400" y="4198620"/>
            <a:ext cx="5410200" cy="1234440"/>
            <a:chOff x="6248400" y="4198620"/>
            <a:chExt cx="5410200" cy="1234440"/>
          </a:xfrm>
        </p:grpSpPr>
        <p:sp>
          <p:nvSpPr>
            <p:cNvPr id="59" name="Rectangle 59"/>
            <p:cNvSpPr/>
            <p:nvPr/>
          </p:nvSpPr>
          <p:spPr>
            <a:xfrm>
              <a:off x="6248400" y="4198620"/>
              <a:ext cx="5410200" cy="1234440"/>
            </a:xfrm>
            <a:prstGeom prst="roundRect">
              <a:avLst>
                <a:gd name="adj" fmla="val 925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453188" y="4715830"/>
              <a:ext cx="200023" cy="200023"/>
              <a:chOff x="6453188" y="4715830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53188" y="47158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586538" y="47825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755130" y="4572952"/>
              <a:ext cx="43776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BTB 在取指时就决定下一条取哪里，BHT 要等译码后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才能用上预测位，两者常组合使用。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5" name="Rectangle 6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130" y="5991225"/>
              <a:ext cx="93162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分支折叠最典型的对象是无条件跳转：BTB 直接送出目标处的指令，跳转指令本身不再占用流水线周期。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67886" cy="909257"/>
            <a:chOff x="520446" y="342900"/>
            <a:chExt cx="81678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动态解决控制冲突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678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前瞻执行：先按预测做下去，结果放在 ROB 里等确认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842635" cy="2069782"/>
            <a:chOff x="533400" y="1524000"/>
            <a:chExt cx="5842635" cy="20697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069782"/>
            </a:xfrm>
            <a:prstGeom prst="roundRect">
              <a:avLst>
                <a:gd name="adj" fmla="val 64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0308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7044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基本思想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521487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对分支结果进行猜测并假设它总是对的，按猜测继续取指、流出和执行后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续指令。执行结果不写回寄存器或存储器，而是放进再定序缓冲器 ROB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（ReOrder Buffer）；等指令得到确认（commit），即确实应该执行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后，才写入寄存器或存储器。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7141" y="3054668"/>
              <a:ext cx="517798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分支预测错误或产生异常时，清空 ROB。原课件把这套机制记作 IS，注意与流出段 IS 区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分。</a:t>
              </a:r>
            </a:p>
          </p:txBody>
        </p:sp>
      </p:grpSp>
      <p:grpSp>
        <p:nvGrpSpPr>
          <p:cNvPr id="22" name="c1-kv-2"/>
          <p:cNvGrpSpPr/>
          <p:nvPr/>
        </p:nvGrpSpPr>
        <p:grpSpPr>
          <a:xfrm>
            <a:off x="526923" y="3779044"/>
            <a:ext cx="5849112" cy="1957197"/>
            <a:chOff x="526923" y="3779044"/>
            <a:chExt cx="5849112" cy="1957197"/>
          </a:xfrm>
        </p:grpSpPr>
        <p:sp>
          <p:nvSpPr>
            <p:cNvPr id="14" name="TextBox 14"/>
            <p:cNvSpPr txBox="1"/>
            <p:nvPr/>
          </p:nvSpPr>
          <p:spPr>
            <a:xfrm>
              <a:off x="526923" y="37790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结合三种技术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79523" y="3779044"/>
              <a:ext cx="37518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动态分支预测选择后续指令；控制相关结果出来之前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前瞻地执行；用动态调度跨基本块调度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42910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6923" y="4393406"/>
              <a:ext cx="16041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对 Tomasulo 的扩充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79523" y="4393406"/>
              <a:ext cx="3768090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 ROB，把 Tomasulo 的写结果拆成写结果和指令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确认两个段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90442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923" y="50068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79523" y="5006816"/>
              <a:ext cx="3735578" cy="729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实质是数据流驱动（data-flow execution），操作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数有效就执行；多数前瞻正确时能明显加快分支处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理，代价是硬件复杂得多</a:t>
              </a:r>
            </a:p>
          </p:txBody>
        </p:sp>
      </p:grpSp>
      <p:grpSp>
        <p:nvGrpSpPr>
          <p:cNvPr id="25" name="c2-image-1"/>
          <p:cNvGrpSpPr/>
          <p:nvPr/>
        </p:nvGrpSpPr>
        <p:grpSpPr>
          <a:xfrm>
            <a:off x="6658140" y="1524000"/>
            <a:ext cx="5023155" cy="4016406"/>
            <a:chOff x="6658140" y="1524000"/>
            <a:chExt cx="5023155" cy="4016406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rcRect l="5550" t="0" r="5550" b="0"/>
            <a:stretch>
              <a:fillRect/>
            </a:stretch>
          </p:blipFill>
          <p:spPr>
            <a:xfrm>
              <a:off x="6680835" y="1524000"/>
              <a:ext cx="4977765" cy="3732848"/>
            </a:xfrm>
            <a:prstGeom prst="roundRect">
              <a:avLst>
                <a:gd name="adj" fmla="val 3572"/>
              </a:avLst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6658140" y="5349716"/>
              <a:ext cx="50231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左边队头那盘还在装盘，右边几盘早已做好盖上，也要等队头先端走；订单取消就倒掉</a:t>
              </a:r>
            </a:p>
          </p:txBody>
        </p:sp>
      </p:grpSp>
      <p:grpSp>
        <p:nvGrpSpPr>
          <p:cNvPr id="3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26" name="Rectangle 2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1273" y="6039326"/>
              <a:ext cx="7594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关键原理：允许乱序执行，但必须按序确认。没被确认的指令不能改变机器状态，也不能引发异常。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53631" cy="909257"/>
            <a:chOff x="520446" y="342900"/>
            <a:chExt cx="80536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动态解决控制冲突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536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前瞻执行的硬件与信息表：ROB 接替了保留站的换名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graph-1"/>
          <p:cNvGrpSpPr/>
          <p:nvPr/>
        </p:nvGrpSpPr>
        <p:grpSpPr>
          <a:xfrm>
            <a:off x="836295" y="1545908"/>
            <a:ext cx="4532948" cy="2743580"/>
            <a:chOff x="836295" y="1545908"/>
            <a:chExt cx="4532948" cy="2743580"/>
          </a:xfrm>
        </p:grpSpPr>
        <p:sp>
          <p:nvSpPr>
            <p:cNvPr id="7" name="Freeform 7"/>
            <p:cNvSpPr/>
            <p:nvPr/>
          </p:nvSpPr>
          <p:spPr>
            <a:xfrm>
              <a:off x="1344930" y="1961198"/>
              <a:ext cx="9525" cy="638175"/>
            </a:xfrm>
            <a:custGeom>
              <a:avLst/>
              <a:gdLst/>
              <a:ahLst/>
              <a:cxnLst/>
              <a:rect l="l" t="t" r="r" b="b"/>
              <a:pathLst>
                <a:path w="9525" h="638175">
                  <a:moveTo>
                    <a:pt x="0" y="0"/>
                  </a:moveTo>
                  <a:lnTo>
                    <a:pt x="0" y="6381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297305" y="25993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501140" y="1961198"/>
              <a:ext cx="1151572" cy="1179195"/>
            </a:xfrm>
            <a:custGeom>
              <a:avLst/>
              <a:gdLst/>
              <a:ahLst/>
              <a:cxnLst/>
              <a:rect l="l" t="t" r="r" b="b"/>
              <a:pathLst>
                <a:path w="1151572" h="1179195">
                  <a:moveTo>
                    <a:pt x="0" y="0"/>
                  </a:moveTo>
                  <a:lnTo>
                    <a:pt x="1151572" y="11791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618422" y="3108008"/>
              <a:ext cx="100012" cy="100965"/>
            </a:xfrm>
            <a:custGeom>
              <a:avLst/>
              <a:gdLst/>
              <a:ahLst/>
              <a:cxnLst/>
              <a:rect l="l" t="t" r="r" b="b"/>
              <a:pathLst>
                <a:path w="100012" h="100965">
                  <a:moveTo>
                    <a:pt x="100012" y="100965"/>
                  </a:moveTo>
                  <a:lnTo>
                    <a:pt x="0" y="65722"/>
                  </a:lnTo>
                  <a:lnTo>
                    <a:pt x="6762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320540" y="2056448"/>
              <a:ext cx="9525" cy="320992"/>
            </a:xfrm>
            <a:custGeom>
              <a:avLst/>
              <a:gdLst/>
              <a:ahLst/>
              <a:cxnLst/>
              <a:rect l="l" t="t" r="r" b="b"/>
              <a:pathLst>
                <a:path w="9525" h="320992">
                  <a:moveTo>
                    <a:pt x="0" y="0"/>
                  </a:moveTo>
                  <a:lnTo>
                    <a:pt x="0" y="3209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272915" y="23774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344930" y="3014662"/>
              <a:ext cx="9525" cy="869633"/>
            </a:xfrm>
            <a:custGeom>
              <a:avLst/>
              <a:gdLst/>
              <a:ahLst/>
              <a:cxnLst/>
              <a:rect l="l" t="t" r="r" b="b"/>
              <a:pathLst>
                <a:path w="9525" h="869633">
                  <a:moveTo>
                    <a:pt x="0" y="0"/>
                  </a:moveTo>
                  <a:lnTo>
                    <a:pt x="0" y="8696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297305" y="38842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967990" y="3719512"/>
              <a:ext cx="9525" cy="164783"/>
            </a:xfrm>
            <a:custGeom>
              <a:avLst/>
              <a:gdLst/>
              <a:ahLst/>
              <a:cxnLst/>
              <a:rect l="l" t="t" r="r" b="b"/>
              <a:pathLst>
                <a:path w="9525" h="164783">
                  <a:moveTo>
                    <a:pt x="0" y="0"/>
                  </a:moveTo>
                  <a:lnTo>
                    <a:pt x="0" y="16478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920365" y="38842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861560" y="3719512"/>
              <a:ext cx="9525" cy="164783"/>
            </a:xfrm>
            <a:custGeom>
              <a:avLst/>
              <a:gdLst/>
              <a:ahLst/>
              <a:cxnLst/>
              <a:rect l="l" t="t" r="r" b="b"/>
              <a:pathLst>
                <a:path w="9525" h="164783">
                  <a:moveTo>
                    <a:pt x="0" y="0"/>
                  </a:moveTo>
                  <a:lnTo>
                    <a:pt x="0" y="16478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813935" y="38842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6295" y="1641158"/>
              <a:ext cx="1016318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581400" y="1545908"/>
              <a:ext cx="1478280" cy="510540"/>
            </a:xfrm>
            <a:prstGeom prst="roundRect">
              <a:avLst>
                <a:gd name="adj" fmla="val 1865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766185" y="2472690"/>
              <a:ext cx="110871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28688" y="2694622"/>
              <a:ext cx="831532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459355" y="3208972"/>
              <a:ext cx="1016318" cy="510540"/>
            </a:xfrm>
            <a:prstGeom prst="roundRect">
              <a:avLst>
                <a:gd name="adj" fmla="val 1865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352925" y="3208972"/>
              <a:ext cx="1016318" cy="510540"/>
            </a:xfrm>
            <a:prstGeom prst="roundRect">
              <a:avLst>
                <a:gd name="adj" fmla="val 1865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252538" y="3969068"/>
              <a:ext cx="3972878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15746" y="17268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指令队列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48663" y="1631632"/>
              <a:ext cx="343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53482" y="1822132"/>
              <a:ext cx="11341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寄存器号 | 数据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10584" y="255841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浮点寄存器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1834" y="2779395"/>
              <a:ext cx="5861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LS 缓冲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58034" y="329469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加法保留站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47489" y="3485198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 加法器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51604" y="329469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乘法保留站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41059" y="3485198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 乘法器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57278" y="4054792"/>
              <a:ext cx="2362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CDB：结果先送到 ROB 和保留站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970972" y="2171700"/>
              <a:ext cx="69818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985768" y="220646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确认时写入</a:t>
              </a:r>
            </a:p>
          </p:txBody>
        </p:sp>
      </p:grpSp>
      <p:grpSp>
        <p:nvGrpSpPr>
          <p:cNvPr id="40" name="c1-text-2"/>
          <p:cNvGrpSpPr/>
          <p:nvPr/>
        </p:nvGrpSpPr>
        <p:grpSpPr>
          <a:xfrm>
            <a:off x="527304" y="4500562"/>
            <a:ext cx="5186172" cy="943356"/>
            <a:chOff x="527304" y="4500562"/>
            <a:chExt cx="5186172" cy="943356"/>
          </a:xfrm>
        </p:grpSpPr>
        <p:sp>
          <p:nvSpPr>
            <p:cNvPr id="39" name="TextBox 39"/>
            <p:cNvSpPr txBox="1"/>
            <p:nvPr/>
          </p:nvSpPr>
          <p:spPr>
            <a:xfrm>
              <a:off x="527304" y="4500562"/>
              <a:ext cx="5186172" cy="94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LD、ST 缓冲器甚至所有保留站都可以合并到 ROB 中，原理相同。采用前瞻执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行的处理器有 Intel Pentium 2/3/4、Alpha 21264、申威 SW1600 与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SW26010、AMD K5/K6/Athlon、MIPS R10000/R12000、PowerPC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603/604/G3/G4（原课件把型号中的 60 误印为 135）。</a:t>
              </a:r>
            </a:p>
          </p:txBody>
        </p:sp>
      </p:grpSp>
      <p:grpSp>
        <p:nvGrpSpPr>
          <p:cNvPr id="49" name="c2-kv-1"/>
          <p:cNvGrpSpPr/>
          <p:nvPr/>
        </p:nvGrpSpPr>
        <p:grpSpPr>
          <a:xfrm>
            <a:off x="6241161" y="1547336"/>
            <a:ext cx="5417439" cy="1390270"/>
            <a:chOff x="6241161" y="1547336"/>
            <a:chExt cx="5417439" cy="1390270"/>
          </a:xfrm>
        </p:grpSpPr>
        <p:sp>
          <p:nvSpPr>
            <p:cNvPr id="41" name="TextBox 41"/>
            <p:cNvSpPr txBox="1"/>
            <p:nvPr/>
          </p:nvSpPr>
          <p:spPr>
            <a:xfrm>
              <a:off x="6241161" y="154733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寄存器状态表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15618" y="1547336"/>
              <a:ext cx="40230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 3 项：寄存器号、预约它的 ROB 项、Busy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18535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41161" y="196929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保留站状态表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15618" y="1969294"/>
              <a:ext cx="380161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L、B、O、Vj、Vk、Qj、Qk、A、Dest；Qj、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Qk 存 ROB 号，Dest 指明哪个 ROB 项接收结果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25431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41161" y="2658904"/>
              <a:ext cx="10439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ROB 状态表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15618" y="2658904"/>
              <a:ext cx="39801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 6 项：L、B、O、Target、Value、State</a:t>
              </a:r>
            </a:p>
          </p:txBody>
        </p:sp>
      </p:grpSp>
      <p:grpSp>
        <p:nvGrpSpPr>
          <p:cNvPr id="75" name="c2-table-2"/>
          <p:cNvGrpSpPr/>
          <p:nvPr/>
        </p:nvGrpSpPr>
        <p:grpSpPr>
          <a:xfrm>
            <a:off x="6242685" y="3067050"/>
            <a:ext cx="5415915" cy="2659857"/>
            <a:chOff x="6242685" y="3067050"/>
            <a:chExt cx="5415915" cy="2659857"/>
          </a:xfrm>
        </p:grpSpPr>
        <p:sp>
          <p:nvSpPr>
            <p:cNvPr id="50" name="Rectangle 50"/>
            <p:cNvSpPr/>
            <p:nvPr/>
          </p:nvSpPr>
          <p:spPr>
            <a:xfrm>
              <a:off x="6248400" y="3067050"/>
              <a:ext cx="541020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37998" y="31975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02964" y="3197542"/>
              <a:ext cx="577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Target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517962" y="3197542"/>
              <a:ext cx="441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Value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53747" y="362807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68222" y="3628072"/>
              <a:ext cx="1058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 值（目标）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924669" y="3628072"/>
              <a:ext cx="1134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分支条件码 0/1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39223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48400" y="392715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53747" y="4058602"/>
              <a:ext cx="774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RR 型 ALU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68222" y="4058602"/>
              <a:ext cx="4648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R[rd]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24669" y="405860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前瞻结果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43519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53747" y="4488180"/>
              <a:ext cx="861060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 型 ALU 与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868222" y="4594860"/>
              <a:ext cx="4648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R[rt]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924669" y="45948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前瞻结果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49958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48400" y="500062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53747" y="5132070"/>
              <a:ext cx="483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Store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868222" y="513207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存储器地址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924669" y="513207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待存数据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248400" y="3067050"/>
              <a:ext cx="5410200" cy="23641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7758112" y="306705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9814560" y="306705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242685" y="5506879"/>
              <a:ext cx="2993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State：已流出、已执行、已写结果、已确认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58512" cy="909257"/>
            <a:chOff x="520446" y="342900"/>
            <a:chExt cx="76585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动态解决控制冲突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585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前瞻执行的四个步骤：比 Tomasulo 多了按序确认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11125200" cy="3611880"/>
            <a:chOff x="533400" y="1524000"/>
            <a:chExt cx="11125200" cy="36118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2703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73211" y="1658779"/>
              <a:ext cx="15537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前瞻执行（ROB）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98112" y="1658779"/>
              <a:ext cx="8937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Tomasulo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04" y="225504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73009" y="2128361"/>
              <a:ext cx="5091049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队头指令有空闲保留站 r，且有空闲 ROB 项 b；换名记录生产者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ROB 号。分支指令流出到加法保留站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5608" y="2128361"/>
              <a:ext cx="3828669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有空闲保留站 r 即可；换名记录生产者的保留站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号。分支流出不操作任何信息表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108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15578"/>
              <a:ext cx="1112520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04" y="297703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73009" y="2850356"/>
              <a:ext cx="4955794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条件相同。分支指令在这一步计算有效地址和分支条件；LD 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 和 MEM，ST 只经 EX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5608" y="2977039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操作数就绪且部件空闲就执行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43281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04" y="369903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写结果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73009" y="3572351"/>
              <a:ext cx="5027930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浮点、LD 把结果放上 CDB，送给等它的 ROB 项和保留站，释放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r。ST 把待存数据和目标地址写入自己的 ROB 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35608" y="3572351"/>
              <a:ext cx="3738499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结果经 CDB 直接写寄存器和保留站；ST 直接写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1557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160520"/>
              <a:ext cx="11125200" cy="97536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04" y="454866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73009" y="4295299"/>
              <a:ext cx="5009896" cy="7854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每周期查 ROB 头部指令：已写结果就确认并释放 b。浮点或 LD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写目标寄存器；ST 写存储器（CMT + MEM）；分支猜对则释放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b，猜错则清空 ROB 和所有保留站，用正确地址重新流出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35608" y="4548664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相当于在写结果的同时完成确认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11125200" cy="36118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864042" y="1524000"/>
              <a:ext cx="9525" cy="36118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426642" y="1524000"/>
              <a:ext cx="9525" cy="36118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llout-2"/>
          <p:cNvGrpSpPr/>
          <p:nvPr/>
        </p:nvGrpSpPr>
        <p:grpSpPr>
          <a:xfrm>
            <a:off x="533400" y="5321618"/>
            <a:ext cx="11125200" cy="1041082"/>
            <a:chOff x="533400" y="5321618"/>
            <a:chExt cx="11125200" cy="1041082"/>
          </a:xfrm>
        </p:grpSpPr>
        <p:sp>
          <p:nvSpPr>
            <p:cNvPr id="32" name="Rectangle 32"/>
            <p:cNvSpPr/>
            <p:nvPr/>
          </p:nvSpPr>
          <p:spPr>
            <a:xfrm>
              <a:off x="533400" y="5321618"/>
              <a:ext cx="11125200" cy="1041082"/>
            </a:xfrm>
            <a:prstGeom prst="roundRect">
              <a:avLst>
                <a:gd name="adj" fmla="val 1097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26129" y="5737978"/>
              <a:ext cx="224134" cy="192560"/>
              <a:chOff x="726129" y="5737978"/>
              <a:chExt cx="224134" cy="19256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38200" y="580834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26129" y="573797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58861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511" y="5742146"/>
              <a:ext cx="105622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任何一条指令执行时引发异常，也只在它到达 ROB 头部时处理，并清空 ROB 和所有保留站，所以前瞻执行能实现精确异常。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动态解决控制冲突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例题：带一条分支的代码用前瞻执行调度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3895725" cy="2680335"/>
            <a:chOff x="533400" y="1524000"/>
            <a:chExt cx="3895725" cy="26803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895725" cy="2680335"/>
            </a:xfrm>
            <a:prstGeom prst="roundRect">
              <a:avLst>
                <a:gd name="adj" fmla="val 49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136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3251581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硬件同 Tomasulo 例题，另加：总是预测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分支失败；分支由加法 ALU 执行；ROB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空间足够。各段周期 IS 1、WtCDB 1、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 3、Commit 1；EX 段 LD 1、ST 1、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 4、BNEZ 4、ADD 4、MUL 10。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3506629"/>
              <a:ext cx="320649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问：指令执行状态周期表；第 16 周期末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各状态表。</a:t>
              </a:r>
            </a:p>
          </p:txBody>
        </p:sp>
      </p:grpSp>
      <p:grpSp>
        <p:nvGrpSpPr>
          <p:cNvPr id="17" name="c1-code-2"/>
          <p:cNvGrpSpPr/>
          <p:nvPr/>
        </p:nvGrpSpPr>
        <p:grpSpPr>
          <a:xfrm>
            <a:off x="533400" y="4390072"/>
            <a:ext cx="3895725" cy="1719262"/>
            <a:chOff x="533400" y="4390072"/>
            <a:chExt cx="3895725" cy="1719262"/>
          </a:xfrm>
        </p:grpSpPr>
        <p:sp>
          <p:nvSpPr>
            <p:cNvPr id="14" name="Rectangle 14"/>
            <p:cNvSpPr/>
            <p:nvPr/>
          </p:nvSpPr>
          <p:spPr>
            <a:xfrm>
              <a:off x="533400" y="4390072"/>
              <a:ext cx="3895725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4541996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035" y="4804886"/>
              <a:ext cx="1497838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Loop: LD   R2,(R1)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MUL  R2,R2,#2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ST   R2,(R1)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SUB  R1,R1,#4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BNEZ R1,Loop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ADD  R5,R3,R4</a:t>
              </a:r>
            </a:p>
          </p:txBody>
        </p:sp>
      </p:grpSp>
      <p:grpSp>
        <p:nvGrpSpPr>
          <p:cNvPr id="85" name="c2-table-1"/>
          <p:cNvGrpSpPr/>
          <p:nvPr/>
        </p:nvGrpSpPr>
        <p:grpSpPr>
          <a:xfrm>
            <a:off x="4733925" y="1524000"/>
            <a:ext cx="6924675" cy="3225165"/>
            <a:chOff x="4733925" y="1524000"/>
            <a:chExt cx="6924675" cy="3225165"/>
          </a:xfrm>
        </p:grpSpPr>
        <p:sp>
          <p:nvSpPr>
            <p:cNvPr id="18" name="Rectangle 18"/>
            <p:cNvSpPr/>
            <p:nvPr/>
          </p:nvSpPr>
          <p:spPr>
            <a:xfrm>
              <a:off x="4733925" y="1524000"/>
              <a:ext cx="6924675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94633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55594" y="1655445"/>
              <a:ext cx="164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56127" y="165544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32996" y="1655445"/>
              <a:ext cx="3795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7018" y="165544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CDB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68419" y="1655445"/>
              <a:ext cx="331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Cmt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6791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39272" y="208502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87339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1027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83425" y="208502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3–5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0452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8385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16899" y="2085022"/>
              <a:ext cx="6734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 Load1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733925" y="237934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733925" y="2384108"/>
              <a:ext cx="692467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839272" y="2515552"/>
              <a:ext cx="343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8733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77001" y="251555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7–16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7227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86027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39430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16899" y="2515552"/>
              <a:ext cx="11625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 ALU1，等 LD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733925" y="280987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839272" y="294608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8733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1027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751320" y="2824162"/>
              <a:ext cx="7429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94576" y="294608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20–22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3045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39430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16899" y="2946082"/>
              <a:ext cx="27099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数据第 17 周期到；确认后才写存储器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733925" y="323945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733925" y="3244215"/>
              <a:ext cx="692467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839272" y="337566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687339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21425" y="337566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5–8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72274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30452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066722" y="3253740"/>
              <a:ext cx="535305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239430" y="33756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16899" y="3375660"/>
              <a:ext cx="25726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9 周期就算完，按序等到 20 确认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733925" y="366998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839272" y="3806190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BNEZ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642915" y="380619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132576" y="380619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11–14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72274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686027" y="380619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239430" y="380619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716899" y="3806190"/>
              <a:ext cx="261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ALU2 第 9 周期释放；R1 取自 ROB4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4733925" y="410051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4733925" y="4105275"/>
              <a:ext cx="692467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839272" y="4342448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642915" y="434244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132576" y="4342448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17–20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072274" y="43424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686027" y="434244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239430" y="434244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716899" y="4235768"/>
              <a:ext cx="27172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 ALU 保留站都满，等 ALU2 第 15 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期释放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4733925" y="1524000"/>
              <a:ext cx="6924675" cy="32242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5490210" y="1524000"/>
              <a:ext cx="9525" cy="3224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5975032" y="1524000"/>
              <a:ext cx="9525" cy="3224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737032" y="1524000"/>
              <a:ext cx="9525" cy="3224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7499032" y="1524000"/>
              <a:ext cx="9525" cy="3224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8052435" y="1524000"/>
              <a:ext cx="9525" cy="3224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8606790" y="1524000"/>
              <a:ext cx="9525" cy="3224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2" name="c2-callout-2"/>
          <p:cNvGrpSpPr/>
          <p:nvPr/>
        </p:nvGrpSpPr>
        <p:grpSpPr>
          <a:xfrm>
            <a:off x="4733925" y="4933950"/>
            <a:ext cx="6924675" cy="1175385"/>
            <a:chOff x="4733925" y="4933950"/>
            <a:chExt cx="6924675" cy="1175385"/>
          </a:xfrm>
        </p:grpSpPr>
        <p:sp>
          <p:nvSpPr>
            <p:cNvPr id="86" name="Rectangle 86"/>
            <p:cNvSpPr/>
            <p:nvPr/>
          </p:nvSpPr>
          <p:spPr>
            <a:xfrm>
              <a:off x="4733925" y="4933950"/>
              <a:ext cx="6924675" cy="1175385"/>
            </a:xfrm>
            <a:prstGeom prst="roundRect">
              <a:avLst>
                <a:gd name="adj" fmla="val 972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4938713" y="5421630"/>
              <a:ext cx="200026" cy="200025"/>
              <a:chOff x="4938713" y="5421630"/>
              <a:chExt cx="200026" cy="200025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4938713" y="54216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4978451" y="54660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5013167" y="55772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5241036" y="5290661"/>
              <a:ext cx="599274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设 R1 − 4 = 0，分支实际失败，预测正确，ADD 的前瞻结果有效。ST 在写结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果步只把数据和地址写进 ROB，不占 CDB，所以 CDB 一栏为空。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87880" cy="909257"/>
            <a:chOff x="520446" y="342900"/>
            <a:chExt cx="57878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动态解决控制冲突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878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例题解答：第 16 周期末的三张状态表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table-1"/>
          <p:cNvGrpSpPr/>
          <p:nvPr/>
        </p:nvGrpSpPr>
        <p:grpSpPr>
          <a:xfrm>
            <a:off x="528447" y="1524000"/>
            <a:ext cx="6497193" cy="2170461"/>
            <a:chOff x="528447" y="1524000"/>
            <a:chExt cx="6497193" cy="217046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5612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保留站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34058" y="1641157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Busy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09111" y="1641157"/>
              <a:ext cx="209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47398" y="1641157"/>
              <a:ext cx="140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Vj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37006" y="1641157"/>
              <a:ext cx="178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68504" y="1641157"/>
              <a:ext cx="209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8003" y="164115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29933" y="1641157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Dest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8078" y="2023110"/>
              <a:ext cx="4245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58557" y="2023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28219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286952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404110"/>
              <a:ext cx="4245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58557" y="2404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26170" y="2404110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32459" y="2404110"/>
              <a:ext cx="5702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Reg[R1]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88484" y="2404110"/>
              <a:ext cx="369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01327" y="2404110"/>
              <a:ext cx="5702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Reg[R1]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16281" y="2404110"/>
              <a:ext cx="369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266319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2785110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58557" y="2785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70163" y="2785110"/>
              <a:ext cx="286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32459" y="2785110"/>
              <a:ext cx="5702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Reg[R2]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43203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16281" y="2785110"/>
              <a:ext cx="369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04514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3049905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8078" y="3167062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58557" y="316706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015452" y="3167062"/>
              <a:ext cx="9963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SUB→BNEZ→ADD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332459" y="3167062"/>
              <a:ext cx="5702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Reg[R3]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41144" y="3167062"/>
              <a:ext cx="5702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Reg[R4]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16281" y="3167062"/>
              <a:ext cx="369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ROB6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1524000"/>
              <a:ext cx="649224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307782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891665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125152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099560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943475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592128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371272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8447" y="3503771"/>
              <a:ext cx="21719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保留站状态表（Qj 一列全空，省略）</a:t>
              </a:r>
            </a:p>
          </p:txBody>
        </p:sp>
      </p:grpSp>
      <p:grpSp>
        <p:nvGrpSpPr>
          <p:cNvPr id="78" name="c1-table-2"/>
          <p:cNvGrpSpPr/>
          <p:nvPr/>
        </p:nvGrpSpPr>
        <p:grpSpPr>
          <a:xfrm>
            <a:off x="528447" y="3821430"/>
            <a:ext cx="6497193" cy="1524666"/>
            <a:chOff x="528447" y="3821430"/>
            <a:chExt cx="6497193" cy="1524666"/>
          </a:xfrm>
        </p:grpSpPr>
        <p:sp>
          <p:nvSpPr>
            <p:cNvPr id="52" name="Rectangle 52"/>
            <p:cNvSpPr/>
            <p:nvPr/>
          </p:nvSpPr>
          <p:spPr>
            <a:xfrm>
              <a:off x="533400" y="3821430"/>
              <a:ext cx="6492240" cy="42005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79005" y="394192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214384" y="394192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357384" y="394192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388942" y="394192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310009" y="394192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42519" y="394192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6935" y="4362926"/>
              <a:ext cx="3666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764030" y="4251008"/>
              <a:ext cx="1123950" cy="40100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101047" y="4362926"/>
              <a:ext cx="449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244047" y="4362926"/>
              <a:ext cx="449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29182" y="4362926"/>
              <a:ext cx="449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ROB6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465677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33400" y="4661535"/>
              <a:ext cx="6492240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26935" y="4782979"/>
              <a:ext cx="416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Busy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764030" y="4671060"/>
              <a:ext cx="1123950" cy="40100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2269460" y="4782979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412460" y="4782979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397595" y="4782979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3400" y="3821430"/>
              <a:ext cx="6492240" cy="1261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1749742" y="3821430"/>
              <a:ext cx="9525" cy="1261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2892742" y="3821430"/>
              <a:ext cx="9525" cy="1261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4035742" y="3821430"/>
              <a:ext cx="9525" cy="1261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4956810" y="3821430"/>
              <a:ext cx="9525" cy="1261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5877878" y="3821430"/>
              <a:ext cx="9525" cy="1261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28447" y="515540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寄存器状态表</a:t>
              </a:r>
            </a:p>
          </p:txBody>
        </p:sp>
      </p:grpSp>
      <p:grpSp>
        <p:nvGrpSpPr>
          <p:cNvPr id="85" name="c1-callout-3"/>
          <p:cNvGrpSpPr/>
          <p:nvPr/>
        </p:nvGrpSpPr>
        <p:grpSpPr>
          <a:xfrm>
            <a:off x="533400" y="5472112"/>
            <a:ext cx="6492240" cy="741998"/>
            <a:chOff x="533400" y="5472112"/>
            <a:chExt cx="6492240" cy="741998"/>
          </a:xfrm>
        </p:grpSpPr>
        <p:sp>
          <p:nvSpPr>
            <p:cNvPr id="79" name="Rectangle 79"/>
            <p:cNvSpPr/>
            <p:nvPr/>
          </p:nvSpPr>
          <p:spPr>
            <a:xfrm>
              <a:off x="533400" y="5472112"/>
              <a:ext cx="6492240" cy="741998"/>
            </a:xfrm>
            <a:prstGeom prst="roundRect">
              <a:avLst>
                <a:gd name="adj" fmla="val 1540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38188" y="5743575"/>
              <a:ext cx="200026" cy="200025"/>
              <a:chOff x="738188" y="5743575"/>
              <a:chExt cx="200026" cy="200025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38188" y="57435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77926" y="57880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12642" y="58991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041273" y="5636419"/>
              <a:ext cx="55399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和 Tomasulo 例题对照：那里 SUB 第 9 周期写 CDB 就改写了 R1；这里结果只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进 ROB4，要等前面的 MUL、ST 都确认后，第 20 周期才写进 R1。</a:t>
              </a:r>
            </a:p>
          </p:txBody>
        </p:sp>
      </p:grpSp>
      <p:grpSp>
        <p:nvGrpSpPr>
          <p:cNvPr id="141" name="c2-table-1"/>
          <p:cNvGrpSpPr/>
          <p:nvPr/>
        </p:nvGrpSpPr>
        <p:grpSpPr>
          <a:xfrm>
            <a:off x="7325487" y="1524000"/>
            <a:ext cx="4333113" cy="2933414"/>
            <a:chOff x="7325487" y="1524000"/>
            <a:chExt cx="4333113" cy="2933414"/>
          </a:xfrm>
        </p:grpSpPr>
        <p:sp>
          <p:nvSpPr>
            <p:cNvPr id="86" name="Rectangle 86"/>
            <p:cNvSpPr/>
            <p:nvPr/>
          </p:nvSpPr>
          <p:spPr>
            <a:xfrm>
              <a:off x="7330440" y="1524000"/>
              <a:ext cx="4328160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482943" y="1641157"/>
              <a:ext cx="3007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ROB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039218" y="164115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437484" y="1641157"/>
              <a:ext cx="209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025768" y="1641157"/>
              <a:ext cx="505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Target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015938" y="1641157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Value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970630" y="1641157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State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425119" y="2023110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ROB1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041272" y="2023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454542" y="2023110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190825" y="2023110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964990" y="2023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已确认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7330440" y="228219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7330440" y="2286952"/>
              <a:ext cx="432816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7425119" y="2404110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ROB2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041272" y="2404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398535" y="2404110"/>
              <a:ext cx="286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9190825" y="2404110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0964990" y="2404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已执行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7330440" y="266319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7425119" y="2785110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ROB3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041272" y="2785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454542" y="2785110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8964097" y="2785110"/>
              <a:ext cx="6284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Mem[R1]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0964990" y="2785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已执行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7330440" y="304514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7330440" y="3049905"/>
              <a:ext cx="432816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7425119" y="3167062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ROB4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8041272" y="316706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8413471" y="316706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9190825" y="316706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9843816" y="3167062"/>
              <a:ext cx="7301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Reg[R1]−4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0894314" y="3167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已写结果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7330440" y="342614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7425119" y="3548062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ROB5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8041272" y="354806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8372399" y="354806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BNEZ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9115282" y="3548062"/>
              <a:ext cx="3260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Loop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9720262" y="3440430"/>
              <a:ext cx="97631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10164689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0894314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已写结果</a:t>
              </a:r>
            </a:p>
          </p:txBody>
        </p:sp>
        <p:sp>
          <p:nvSpPr>
            <p:cNvPr id="127" name="Rectangle 127"/>
            <p:cNvSpPr/>
            <p:nvPr/>
          </p:nvSpPr>
          <p:spPr>
            <a:xfrm>
              <a:off x="7330440" y="380714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7330440" y="3811905"/>
              <a:ext cx="432816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7425119" y="3930015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ROB6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8041272" y="393001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8413471" y="3930015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9190825" y="3930015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R5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10964990" y="39300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已流出</a:t>
              </a:r>
            </a:p>
          </p:txBody>
        </p:sp>
        <p:sp>
          <p:nvSpPr>
            <p:cNvPr id="134" name="Rectangle 134"/>
            <p:cNvSpPr/>
            <p:nvPr/>
          </p:nvSpPr>
          <p:spPr>
            <a:xfrm>
              <a:off x="7330440" y="1524000"/>
              <a:ext cx="4328160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35" name="Rectangle 135"/>
            <p:cNvSpPr/>
            <p:nvPr/>
          </p:nvSpPr>
          <p:spPr>
            <a:xfrm>
              <a:off x="7931468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8234362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7" name="Rectangle 137"/>
            <p:cNvSpPr/>
            <p:nvPr/>
          </p:nvSpPr>
          <p:spPr>
            <a:xfrm>
              <a:off x="8840152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8" name="Rectangle 138"/>
            <p:cNvSpPr/>
            <p:nvPr/>
          </p:nvSpPr>
          <p:spPr>
            <a:xfrm>
              <a:off x="9705975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10701338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7325487" y="4266724"/>
              <a:ext cx="7053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ROB 状态表</a:t>
              </a:r>
            </a:p>
          </p:txBody>
        </p:sp>
      </p:grpSp>
      <p:grpSp>
        <p:nvGrpSpPr>
          <p:cNvPr id="147" name="c2-card-2"/>
          <p:cNvGrpSpPr/>
          <p:nvPr/>
        </p:nvGrpSpPr>
        <p:grpSpPr>
          <a:xfrm>
            <a:off x="7330440" y="4584382"/>
            <a:ext cx="4328160" cy="1629728"/>
            <a:chOff x="7330440" y="4584382"/>
            <a:chExt cx="4328160" cy="1629728"/>
          </a:xfrm>
        </p:grpSpPr>
        <p:sp>
          <p:nvSpPr>
            <p:cNvPr id="142" name="Rectangle 142"/>
            <p:cNvSpPr/>
            <p:nvPr/>
          </p:nvSpPr>
          <p:spPr>
            <a:xfrm>
              <a:off x="7330440" y="4584382"/>
              <a:ext cx="4328160" cy="1629728"/>
            </a:xfrm>
            <a:prstGeom prst="roundRect">
              <a:avLst>
                <a:gd name="adj" fmla="val 81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3" name="Rectangle 143"/>
            <p:cNvSpPr/>
            <p:nvPr/>
          </p:nvSpPr>
          <p:spPr>
            <a:xfrm>
              <a:off x="7339965" y="4717732"/>
              <a:ext cx="47625" cy="13630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4" name="Rectangle 144"/>
            <p:cNvSpPr/>
            <p:nvPr/>
          </p:nvSpPr>
          <p:spPr>
            <a:xfrm>
              <a:off x="7549515" y="476535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5" name="TextBox 145"/>
            <p:cNvSpPr txBox="1"/>
            <p:nvPr/>
          </p:nvSpPr>
          <p:spPr>
            <a:xfrm>
              <a:off x="7642187" y="47982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7543038" y="5104924"/>
              <a:ext cx="367055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原课件寄存器状态表 R1 一栏为空。SUB 第 20 周期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才确认，第 16 周期末 R1 仍由 ROB4 预约。原课件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ROB5 的 Value 写 Reg[R1]−4，按 ROB 表的定义应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为分支条件码，这里不转移，记 0。</a:t>
              </a:r>
            </a:p>
          </p:txBody>
        </p:sp>
      </p:grpSp>
      <p:grpSp>
        <p:nvGrpSpPr>
          <p:cNvPr id="1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8" name="TextBox 148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390549" cy="3351847"/>
            <a:chOff x="667512" y="1835468"/>
            <a:chExt cx="439054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多指令流出技术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3806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每个周期流出不止一条指令，CPI 才能小于 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74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4 部分：多指令流出技术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静态超标量与循环展开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动态超标量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19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超长指令字 VLIW 与超流水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多指令流出技术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从单流出到多流出：四种典型技术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328160" cy="1887855"/>
            <a:chOff x="533400" y="1524000"/>
            <a:chExt cx="4328160" cy="1887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793" y="17692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n 流出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6728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单流出处理器每周期最多流出一条指令，理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 CPI = 1，实际 CPI &gt; 1。要让 CPI &lt; 1，就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要每周期流出多条指令。处理机每周期最多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流出 n 条指令，称为 n 流出。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3602355"/>
            <a:ext cx="4328160" cy="1426845"/>
            <a:chOff x="533400" y="3602355"/>
            <a:chExt cx="4328160" cy="1426845"/>
          </a:xfrm>
        </p:grpSpPr>
        <p:sp>
          <p:nvSpPr>
            <p:cNvPr id="13" name="Rectangle 13"/>
            <p:cNvSpPr/>
            <p:nvPr/>
          </p:nvSpPr>
          <p:spPr>
            <a:xfrm>
              <a:off x="533400" y="3602355"/>
              <a:ext cx="4328160" cy="1426845"/>
            </a:xfrm>
            <a:prstGeom prst="roundRect">
              <a:avLst>
                <a:gd name="adj" fmla="val 801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215765"/>
              <a:ext cx="200026" cy="200025"/>
              <a:chOff x="738188" y="4215765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2157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42602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43713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4072890"/>
              <a:ext cx="3463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前三种靠“同时”流出多条，超流水靠把一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个周期切成 n 份、“分时”流出多条。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5166360" y="1524000"/>
            <a:ext cx="6492240" cy="3505200"/>
            <a:chOff x="5166360" y="1524000"/>
            <a:chExt cx="6492240" cy="3505200"/>
          </a:xfrm>
        </p:grpSpPr>
        <p:sp>
          <p:nvSpPr>
            <p:cNvPr id="20" name="Rectangle 20"/>
            <p:cNvSpPr/>
            <p:nvPr/>
          </p:nvSpPr>
          <p:spPr>
            <a:xfrm>
              <a:off x="5166360" y="1524000"/>
              <a:ext cx="649224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3026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74268" y="16630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每周期流出数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48862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调度方式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73040" y="228409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静态超标量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20902" y="228409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不固定（有上限）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68765" y="2150745"/>
              <a:ext cx="2110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编译器静态调度，顺序执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166360" y="276129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166360" y="2766060"/>
              <a:ext cx="649224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73040" y="30384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动态超标量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20902" y="30384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不固定（有上限）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68765" y="2905125"/>
              <a:ext cx="21774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硬件动态调度（Tomasulo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或前瞻执行），乱序执行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166360" y="351567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73040" y="3792855"/>
              <a:ext cx="15737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超长指令字 VLIW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20902" y="3659505"/>
              <a:ext cx="1539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固定，构成一条长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68765" y="3659505"/>
              <a:ext cx="2110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目前只能由编译器静态调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度；包内并行性是显式的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166360" y="427005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166360" y="4274820"/>
              <a:ext cx="649224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73040" y="454723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超流水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20902" y="4413885"/>
              <a:ext cx="15868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 1/n 周期流出一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68765" y="4413885"/>
              <a:ext cx="21678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IF、IS 等段再细分成多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个子段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66360" y="1524000"/>
              <a:ext cx="6492240" cy="3505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109460" y="1524000"/>
              <a:ext cx="9525" cy="3505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057322" y="1524000"/>
              <a:ext cx="9525" cy="3505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5" name="Rectangle 4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991225"/>
              <a:ext cx="92142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CPI 小于 1 以后，常改用它的倒数 IPC（每周期完成的指令数）来衡量，4 流出处理器的理想 IPC 是 4。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多指令流出技术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静态超标量：按序流出，一对指令里整数在前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bullets-1"/>
          <p:cNvGrpSpPr/>
          <p:nvPr/>
        </p:nvGrpSpPr>
        <p:grpSpPr>
          <a:xfrm>
            <a:off x="539115" y="1548765"/>
            <a:ext cx="5154930" cy="2185035"/>
            <a:chOff x="539115" y="1548765"/>
            <a:chExt cx="5154930" cy="2185035"/>
          </a:xfrm>
        </p:grpSpPr>
        <p:sp>
          <p:nvSpPr>
            <p:cNvPr id="7" name="Ellipse 7"/>
            <p:cNvSpPr/>
            <p:nvPr/>
          </p:nvSpPr>
          <p:spPr>
            <a:xfrm>
              <a:off x="539115" y="161163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230" y="1548765"/>
              <a:ext cx="41144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典型超标量处理器每周期可流出 1 到 8 条指令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39115" y="19564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230" y="189357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指令按序流出，流出时由硬件检测结构冲突和数据冲突，通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常在不同的段检测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9115" y="258699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230" y="2524125"/>
              <a:ext cx="4863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没有冲突时 n 流出处理器每周期流出 n 条；其中 r 条与正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在运行的指令冲突，该周期只流出 n − r 条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9115" y="32175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7230" y="3154680"/>
              <a:ext cx="4996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允许任意类型的指令 n 流出，硬件开销太大且利用率低，所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以通常限制同时流出的指令类型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3865245"/>
            <a:ext cx="5410200" cy="1173480"/>
            <a:chOff x="533400" y="3865245"/>
            <a:chExt cx="5410200" cy="1173480"/>
          </a:xfrm>
        </p:grpSpPr>
        <p:sp>
          <p:nvSpPr>
            <p:cNvPr id="16" name="Rectangle 16"/>
            <p:cNvSpPr/>
            <p:nvPr/>
          </p:nvSpPr>
          <p:spPr>
            <a:xfrm>
              <a:off x="533400" y="3865245"/>
              <a:ext cx="5410200" cy="1173480"/>
            </a:xfrm>
            <a:prstGeom prst="roundRect">
              <a:avLst>
                <a:gd name="adj" fmla="val 97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351973"/>
              <a:ext cx="200026" cy="200026"/>
              <a:chOff x="738188" y="4351973"/>
              <a:chExt cx="200026" cy="20002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3519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44186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27088" y="44519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130" y="4209098"/>
              <a:ext cx="4368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例：2 流出处理器通常每周期处理一条整型指令加一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条浮点指令，不能处理 2 条浮点或 2 条整型。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3514725"/>
            <a:chOff x="6248400" y="1524000"/>
            <a:chExt cx="5410200" cy="351472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3514725"/>
            </a:xfrm>
            <a:prstGeom prst="roundRect">
              <a:avLst>
                <a:gd name="adj" fmla="val 3794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57950" y="1733550"/>
              <a:ext cx="270795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71536" y="1769269"/>
              <a:ext cx="26817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静态超标量 MIPS：1 条整型 + 1 条浮点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463665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21780" y="2110740"/>
              <a:ext cx="2621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LD/ST、分支都归入整型指令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463665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21780" y="2446020"/>
              <a:ext cx="44634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浮点 LD/ST 与浮点运算同时流出时，两条都要访问浮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点寄存器：增设一个读写端口，或让浮点 LD/ST 单独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流出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63665" y="34156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21780" y="3352800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IF 段每周期取 2 条、ID 段每周期译码 2 条，IR 宽 64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位（即指令 Cache 宽度）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63665" y="403669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21780" y="397383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流水线宽度翻倍，定向路径也要增加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63665" y="437197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21780" y="4309110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编译器把指令按类型配成对，与 64 位边界对齐，整数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指令在前并严格优先流出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7" name="Rectangle 3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99122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静态超标量的调度全靠编译器：排不出成对的整数、浮点指令，硬件每周期就只流出一条。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74053" cy="909257"/>
            <a:chOff x="520446" y="342900"/>
            <a:chExt cx="84740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多指令流出技术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740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例题：x[i] = x[i] + s 在 2 流出静态超标量上怎么调度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977765" cy="1516380"/>
            <a:chOff x="533400" y="1524000"/>
            <a:chExt cx="4977765" cy="15163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6072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for (i=1; i&lt;=1000; i++) x[i] = x[i] + s;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403854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Loop: LD   F0,0(R1)    # 取一个元素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ADDD F4,F0,F2    # 加上 F2 中的标量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ST   0(R1),F4    # 存结果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SUBI R1,R1,#8    # 指针减 8（一个双字）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BNEZ R1,R2,Loop  # R1 ≠ R2 就转回</a:t>
              </a:r>
            </a:p>
          </p:txBody>
        </p:sp>
      </p:grpSp>
      <p:grpSp>
        <p:nvGrpSpPr>
          <p:cNvPr id="35" name="c1-table-2"/>
          <p:cNvGrpSpPr/>
          <p:nvPr/>
        </p:nvGrpSpPr>
        <p:grpSpPr>
          <a:xfrm>
            <a:off x="533400" y="3226118"/>
            <a:ext cx="4977765" cy="2150745"/>
            <a:chOff x="533400" y="3226118"/>
            <a:chExt cx="4977765" cy="2150745"/>
          </a:xfrm>
        </p:grpSpPr>
        <p:sp>
          <p:nvSpPr>
            <p:cNvPr id="11" name="Rectangle 11"/>
            <p:cNvSpPr/>
            <p:nvPr/>
          </p:nvSpPr>
          <p:spPr>
            <a:xfrm>
              <a:off x="533400" y="3226118"/>
              <a:ext cx="4977765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416" y="33566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生产者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73871" y="33566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消费者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28554" y="3356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延迟周期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8746" y="378714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浮点计算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45602" y="378714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另一个浮点计算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07217" y="37871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0814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4086225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421767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浮点计算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45602" y="4217670"/>
              <a:ext cx="5742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 ST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07217" y="421767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51104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8746" y="4647248"/>
              <a:ext cx="5861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 LD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45602" y="464724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浮点计算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07217" y="46472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94157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946332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5077778"/>
              <a:ext cx="5861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 LD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45602" y="5077778"/>
              <a:ext cx="5742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 ST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07217" y="507777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226118"/>
              <a:ext cx="4977765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035492" y="3226118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999548" y="3226118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2" name="c2-table-1"/>
          <p:cNvGrpSpPr/>
          <p:nvPr/>
        </p:nvGrpSpPr>
        <p:grpSpPr>
          <a:xfrm>
            <a:off x="5810250" y="1524000"/>
            <a:ext cx="5848350" cy="4810602"/>
            <a:chOff x="5810250" y="1524000"/>
            <a:chExt cx="5848350" cy="4810602"/>
          </a:xfrm>
        </p:grpSpPr>
        <p:sp>
          <p:nvSpPr>
            <p:cNvPr id="36" name="Rectangle 36"/>
            <p:cNvSpPr/>
            <p:nvPr/>
          </p:nvSpPr>
          <p:spPr>
            <a:xfrm>
              <a:off x="5815965" y="1524000"/>
              <a:ext cx="5842635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69317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6756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6693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21312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3297" y="2085022"/>
              <a:ext cx="10021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F0,0(R1)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16849" y="2085022"/>
              <a:ext cx="20523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后接浮点计算，空 1 周期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23793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15965" y="2384108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21312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7475" y="2393632"/>
              <a:ext cx="1733550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63297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空转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28098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21312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63297" y="2946082"/>
              <a:ext cx="11899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ADDD F4,F0,F2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16849" y="2946082"/>
              <a:ext cx="23754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浮点计算后接浮点 ST，空 2 周期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815965" y="32394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815965" y="324421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921312" y="337566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4–5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7475" y="3253740"/>
              <a:ext cx="1733550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63297" y="3375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空转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815965" y="36699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21312" y="3806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563297" y="3806190"/>
              <a:ext cx="10021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0(R1),F4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815965" y="41005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815965" y="4105275"/>
              <a:ext cx="584263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921312" y="434244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563297" y="4342448"/>
              <a:ext cx="11472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SUBI R1,R1,#8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16849" y="4235768"/>
              <a:ext cx="30449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BNEZ 在 ID 段要用 R1，比 SUBI 的定向结果早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一拍，空 1 周期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815965" y="47434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21312" y="487965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467475" y="4757738"/>
              <a:ext cx="1733550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63297" y="487965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空转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815965" y="51739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815965" y="5178742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921312" y="53101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563297" y="5310188"/>
              <a:ext cx="1355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BNEZ R1,R2,Loop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316849" y="5310188"/>
              <a:ext cx="27070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分支在 ID 段完成，下一轮延迟 1 周期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815965" y="56035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921312" y="573976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467475" y="5617845"/>
              <a:ext cx="1733550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563297" y="573976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空转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815965" y="1524000"/>
              <a:ext cx="5842635" cy="4514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6453188" y="1524000"/>
              <a:ext cx="9525" cy="4514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8206740" y="1524000"/>
              <a:ext cx="9525" cy="4514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810250" y="6114574"/>
              <a:ext cx="32832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不展开时一轮 10 个周期，5 条指令空转 5 个周期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19478" cy="909257"/>
            <a:chOff x="520446" y="342900"/>
            <a:chExt cx="66194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多指令流出技术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194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 5 轮，再把指令按整数、浮点两列排紧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5" name="c1-table-1"/>
          <p:cNvGrpSpPr/>
          <p:nvPr/>
        </p:nvGrpSpPr>
        <p:grpSpPr>
          <a:xfrm>
            <a:off x="528447" y="1524000"/>
            <a:ext cx="5415153" cy="4664106"/>
            <a:chOff x="528447" y="1524000"/>
            <a:chExt cx="5415153" cy="466410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0934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9021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整数指令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62881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浮点指令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16584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96378" y="2045494"/>
              <a:ext cx="935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F0,0(R1)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6584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96378" y="2445544"/>
              <a:ext cx="1023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F6,-8(R1)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6584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96378" y="2845594"/>
              <a:ext cx="11982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F10,-16(R1)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92892" y="2845594"/>
              <a:ext cx="11106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ADDD F4,F0,F2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1242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6584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96378" y="3245644"/>
              <a:ext cx="11982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F14,-24(R1)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92892" y="3245644"/>
              <a:ext cx="11106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ADDD F8,F6,F2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5194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6584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96378" y="3645694"/>
              <a:ext cx="11982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F18,-32(R1)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92892" y="3645694"/>
              <a:ext cx="12859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ADDD F12,F10,F2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9195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9243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6584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96378" y="4045744"/>
              <a:ext cx="935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0(R1),F4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92892" y="4045744"/>
              <a:ext cx="12859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ADDD F16,F14,F2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3195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6584" y="4445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96378" y="4445794"/>
              <a:ext cx="1023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-8(R1),F8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92892" y="4445794"/>
              <a:ext cx="12859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ADDD F20,F18,F2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7196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47244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85976" y="48458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8–10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496378" y="4845844"/>
              <a:ext cx="16609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-16、-24、-32(R1)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51196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73048" y="52458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496378" y="5245894"/>
              <a:ext cx="1158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SUBI R1,R1,#40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5197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55245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2439" y="564594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12–14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408748" y="5534025"/>
              <a:ext cx="2577465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496378" y="5645944"/>
              <a:ext cx="1266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空转、BNEZ、空转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1524000"/>
              <a:ext cx="5410200" cy="44005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394460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3990975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28447" y="5997416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直接排紧：5 轮 14 个周期</a:t>
              </a:r>
            </a:p>
          </p:txBody>
        </p:sp>
      </p:grpSp>
      <p:grpSp>
        <p:nvGrpSpPr>
          <p:cNvPr id="66" name="c2-bullets-1"/>
          <p:cNvGrpSpPr/>
          <p:nvPr/>
        </p:nvGrpSpPr>
        <p:grpSpPr>
          <a:xfrm>
            <a:off x="6241542" y="1545907"/>
            <a:ext cx="5161979" cy="1455611"/>
            <a:chOff x="6241542" y="1545907"/>
            <a:chExt cx="5161979" cy="1455611"/>
          </a:xfrm>
        </p:grpSpPr>
        <p:sp>
          <p:nvSpPr>
            <p:cNvPr id="56" name="TextBox 56"/>
            <p:cNvSpPr txBox="1"/>
            <p:nvPr/>
          </p:nvSpPr>
          <p:spPr>
            <a:xfrm>
              <a:off x="6241542" y="1545907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展开时要改三处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248400" y="185070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04078" y="189004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529197" y="1863090"/>
              <a:ext cx="48743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每一轮用不同的寄存器（F0/F4、F6/F8 …），避免轮与轮之间的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名相关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248400" y="241649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04078" y="24558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29197" y="2428875"/>
              <a:ext cx="4764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每一轮 LD/ST 用不同的地址偏移：0、−8、−16、−24、−32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248400" y="272510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04078" y="27644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29197" y="2737485"/>
              <a:ext cx="45545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个 SUBI 合并成一个，减 8 × 5 = 40；BNEZ 也只留一个</a:t>
              </a:r>
            </a:p>
          </p:txBody>
        </p:sp>
      </p:grpSp>
      <p:grpSp>
        <p:nvGrpSpPr>
          <p:cNvPr id="70" name="c2-code-2"/>
          <p:cNvGrpSpPr/>
          <p:nvPr/>
        </p:nvGrpSpPr>
        <p:grpSpPr>
          <a:xfrm>
            <a:off x="6248400" y="3118485"/>
            <a:ext cx="5410200" cy="2088832"/>
            <a:chOff x="6248400" y="3118485"/>
            <a:chExt cx="5410200" cy="2088832"/>
          </a:xfrm>
        </p:grpSpPr>
        <p:sp>
          <p:nvSpPr>
            <p:cNvPr id="67" name="Rectangle 67"/>
            <p:cNvSpPr/>
            <p:nvPr/>
          </p:nvSpPr>
          <p:spPr>
            <a:xfrm>
              <a:off x="6248400" y="3118485"/>
              <a:ext cx="5410200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76797" y="327040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展开后的循环体（按程序顺序）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376797" y="3531394"/>
              <a:ext cx="2561336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Loop: LD   F0,0(R1)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ADDD F4,F0,F2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ST   0(R1),F4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LD   F6,-8(R1)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ADDD F8,F6,F2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ST   -8(R1),F8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...              # 第 3–5 轮同理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SUBI R1,R1,#40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BNEZ R1,R2,Loop</a:t>
              </a:r>
            </a:p>
          </p:txBody>
        </p:sp>
      </p:grpSp>
      <p:grpSp>
        <p:nvGrpSpPr>
          <p:cNvPr id="77" name="c2-callout-3"/>
          <p:cNvGrpSpPr/>
          <p:nvPr/>
        </p:nvGrpSpPr>
        <p:grpSpPr>
          <a:xfrm>
            <a:off x="6248400" y="5376862"/>
            <a:ext cx="5410200" cy="978218"/>
            <a:chOff x="6248400" y="5376862"/>
            <a:chExt cx="5410200" cy="978218"/>
          </a:xfrm>
        </p:grpSpPr>
        <p:sp>
          <p:nvSpPr>
            <p:cNvPr id="71" name="Rectangle 71"/>
            <p:cNvSpPr/>
            <p:nvPr/>
          </p:nvSpPr>
          <p:spPr>
            <a:xfrm>
              <a:off x="6248400" y="5376862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453188" y="5766435"/>
              <a:ext cx="200026" cy="200026"/>
              <a:chOff x="6453188" y="5766435"/>
              <a:chExt cx="200026" cy="2000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453188" y="57664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553200" y="58331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542088" y="58664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6755892" y="5523548"/>
              <a:ext cx="44714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寄存器名是讲义补上的，原课件只用颜色区分各轮。排紧后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SUBI 与 BNEZ 之间、BNEZ 之后仍各空转一拍；ST 只是把结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果写回存储器，可以往后挪去填这两个空。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56141" cy="909257"/>
            <a:chOff x="520446" y="342900"/>
            <a:chExt cx="80561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多指令流出技术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561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调度：两个 ST 挪到 SUBI 之后，5 轮只要 12 个周期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8" name="c1-table-1"/>
          <p:cNvGrpSpPr/>
          <p:nvPr/>
        </p:nvGrpSpPr>
        <p:grpSpPr>
          <a:xfrm>
            <a:off x="533400" y="1524000"/>
            <a:ext cx="5193982" cy="4800600"/>
            <a:chOff x="533400" y="1524000"/>
            <a:chExt cx="5193982" cy="48006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076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5210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整数指令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8476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浮点指令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0932" y="204549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1–2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57312" y="2045494"/>
              <a:ext cx="9431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第 1、2 轮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3193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3241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004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57312" y="2445544"/>
              <a:ext cx="70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第 3 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54780" y="2445544"/>
              <a:ext cx="8846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ADDD 第 1 轮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193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8004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57312" y="2845594"/>
              <a:ext cx="70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第 4 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4780" y="2845594"/>
              <a:ext cx="8846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ADDD 第 2 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1194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1242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8004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57312" y="3245644"/>
              <a:ext cx="70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第 5 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54780" y="3245644"/>
              <a:ext cx="8846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ADDD 第 3 轮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5194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8004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57312" y="3645694"/>
              <a:ext cx="672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0(R1)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54780" y="3645694"/>
              <a:ext cx="8846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ADDD 第 4 轮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9195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9243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8004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57312" y="4045744"/>
              <a:ext cx="760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-8(R1)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54780" y="4045744"/>
              <a:ext cx="8846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ADDD 第 5 轮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3195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48004" y="4445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57312" y="4445794"/>
              <a:ext cx="8478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-16(R1)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7196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47244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8004" y="48458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57312" y="4845844"/>
              <a:ext cx="1158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SUBI R1,R1,#40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51196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04468" y="52458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269682" y="5133975"/>
              <a:ext cx="257746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357312" y="5245894"/>
              <a:ext cx="760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16(R1)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55197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33400" y="55245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04468" y="56459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357312" y="5645944"/>
              <a:ext cx="12654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BNEZ R1,R2,Loop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59197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4468" y="60459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269682" y="5934075"/>
              <a:ext cx="257746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357312" y="6045994"/>
              <a:ext cx="672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8(R1)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1524000"/>
              <a:ext cx="5193982" cy="48006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255395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3852862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c2-steps-1"/>
          <p:cNvGrpSpPr/>
          <p:nvPr/>
        </p:nvGrpSpPr>
        <p:grpSpPr>
          <a:xfrm>
            <a:off x="6032182" y="1533525"/>
            <a:ext cx="5735061" cy="1893093"/>
            <a:chOff x="6032182" y="1533525"/>
            <a:chExt cx="5735061" cy="1893093"/>
          </a:xfrm>
        </p:grpSpPr>
        <p:sp>
          <p:nvSpPr>
            <p:cNvPr id="59" name="Rectangle 59"/>
            <p:cNvSpPr/>
            <p:nvPr/>
          </p:nvSpPr>
          <p:spPr>
            <a:xfrm>
              <a:off x="6165532" y="1676400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032182" y="211645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25806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032182" y="269938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125806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44424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挪哪两条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45567" y="1833086"/>
              <a:ext cx="4813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原第 9、10 周期的 ST 填到第 12、13 周期的空转，后面的指令前移补位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44424" y="214788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改偏移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45567" y="2416016"/>
              <a:ext cx="53216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SUBI 已把 R1 减了 40，挪到它后面的 ST 要把 40 加回来：−24 变 16，−32 变 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44424" y="27308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查延迟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45567" y="2998946"/>
              <a:ext cx="478358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4、5 轮 ADDD 在第 6、7 周期，对应 ST 至少在第 9、10 周期之后，10 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都满足</a:t>
              </a:r>
            </a:p>
          </p:txBody>
        </p:sp>
      </p:grpSp>
      <p:grpSp>
        <p:nvGrpSpPr>
          <p:cNvPr id="94" name="c2-table-2"/>
          <p:cNvGrpSpPr/>
          <p:nvPr/>
        </p:nvGrpSpPr>
        <p:grpSpPr>
          <a:xfrm>
            <a:off x="6032182" y="3589972"/>
            <a:ext cx="5626418" cy="1600200"/>
            <a:chOff x="6032182" y="3589972"/>
            <a:chExt cx="5626418" cy="1600200"/>
          </a:xfrm>
        </p:grpSpPr>
        <p:sp>
          <p:nvSpPr>
            <p:cNvPr id="73" name="Rectangle 73"/>
            <p:cNvSpPr/>
            <p:nvPr/>
          </p:nvSpPr>
          <p:spPr>
            <a:xfrm>
              <a:off x="6032182" y="3589972"/>
              <a:ext cx="5626418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456858" y="371141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514144" y="3711416"/>
              <a:ext cx="973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 在 SUBI 的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000691" y="37114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地址偏移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401637" y="411146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1–3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844511" y="41114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前面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055418" y="411146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0、−8、−16，不变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032182" y="43853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032182" y="439007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488709" y="4511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844511" y="45115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后面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8967788" y="4399598"/>
              <a:ext cx="268128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055418" y="4511516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−24 + 40 = 16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032182" y="47853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488709" y="49115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844511" y="49115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后面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8967788" y="4799648"/>
              <a:ext cx="268128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9055418" y="4911566"/>
              <a:ext cx="855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−32 + 40 = 8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032182" y="3589972"/>
              <a:ext cx="5626418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7039928" y="358997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8953500" y="358997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0" name="c2-callout-3"/>
          <p:cNvGrpSpPr/>
          <p:nvPr/>
        </p:nvGrpSpPr>
        <p:grpSpPr>
          <a:xfrm>
            <a:off x="6032182" y="5359718"/>
            <a:ext cx="5626418" cy="964882"/>
            <a:chOff x="6032182" y="5359718"/>
            <a:chExt cx="5626418" cy="964882"/>
          </a:xfrm>
        </p:grpSpPr>
        <p:sp>
          <p:nvSpPr>
            <p:cNvPr id="95" name="Rectangle 95"/>
            <p:cNvSpPr/>
            <p:nvPr/>
          </p:nvSpPr>
          <p:spPr>
            <a:xfrm>
              <a:off x="6032182" y="5359718"/>
              <a:ext cx="5626418" cy="964882"/>
            </a:xfrm>
            <a:prstGeom prst="roundRect">
              <a:avLst>
                <a:gd name="adj" fmla="val 11846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6236970" y="5742625"/>
              <a:ext cx="200023" cy="200023"/>
              <a:chOff x="6236970" y="5742625"/>
              <a:chExt cx="200023" cy="200023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6236970" y="57426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6370320" y="58092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6539674" y="5623560"/>
              <a:ext cx="467715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12 周期的 ST 放在 BNEZ 之后的延迟槽里，它属于本轮，分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支成功与否都执行。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1" name="TextBox 101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多指令流出技术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展开几轮合适？性能提高多少？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able-1"/>
          <p:cNvGrpSpPr/>
          <p:nvPr/>
        </p:nvGrpSpPr>
        <p:grpSpPr>
          <a:xfrm>
            <a:off x="527685" y="1524000"/>
            <a:ext cx="5632133" cy="2734152"/>
            <a:chOff x="527685" y="1524000"/>
            <a:chExt cx="5632133" cy="27341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6674" y="1663065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展开轮数 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52688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周期数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05212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每轮平均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50857" y="1663065"/>
              <a:ext cx="9491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下界 2n+2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7513" y="2150745"/>
              <a:ext cx="1141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1（不展开）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44521" y="215074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98011" y="215074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62289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945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99360"/>
              <a:ext cx="5626418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92338" y="26384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44521" y="26384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42480" y="26384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06759" y="26384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9822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92338" y="312610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44521" y="312610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351848" y="2996565"/>
              <a:ext cx="1330642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842480" y="312610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06759" y="312610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4699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474720"/>
              <a:ext cx="5626418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92338" y="361378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44521" y="361378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86950" y="361378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06759" y="361378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524000"/>
              <a:ext cx="5626418" cy="2438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178368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337560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687252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7685" y="4038124"/>
              <a:ext cx="3626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整数槽每轮要 LD、ST 两条，外加 SUBI、BNEZ 各一条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formula9"/>
              <p:cNvSpPr txBox="1">
                <a:spLocks noGrp="1"/>
              </p:cNvSpPr>
              <p:nvPr/>
            </p:nvSpPr>
            <p:spPr>
              <a:xfrm>
                <a:off x="533400" y="4404360"/>
                <a:ext cx="5626418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加速比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10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4.17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2" name="c1-text-3"/>
          <p:cNvGrpSpPr/>
          <p:nvPr/>
        </p:nvGrpSpPr>
        <p:grpSpPr>
          <a:xfrm>
            <a:off x="526923" y="5182076"/>
            <a:ext cx="5418074" cy="500824"/>
            <a:chOff x="526923" y="5182076"/>
            <a:chExt cx="5418074" cy="500824"/>
          </a:xfrm>
        </p:grpSpPr>
        <p:sp>
          <p:nvSpPr>
            <p:cNvPr id="41" name="TextBox 41"/>
            <p:cNvSpPr txBox="1"/>
            <p:nvPr/>
          </p:nvSpPr>
          <p:spPr>
            <a:xfrm>
              <a:off x="526923" y="5182076"/>
              <a:ext cx="541807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调度前每轮 10 个周期，5 轮 50 个周期；调度后 5 轮 12 个周期。在 2 路超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标量硬件上，性能约为原来的 4.2 倍。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464618" y="1524000"/>
            <a:ext cx="5193982" cy="1887855"/>
            <a:chOff x="6464618" y="1524000"/>
            <a:chExt cx="5193982" cy="1887855"/>
          </a:xfrm>
        </p:grpSpPr>
        <p:sp>
          <p:nvSpPr>
            <p:cNvPr id="43" name="Rectangle 43"/>
            <p:cNvSpPr/>
            <p:nvPr/>
          </p:nvSpPr>
          <p:spPr>
            <a:xfrm>
              <a:off x="6464618" y="1524000"/>
              <a:ext cx="5193982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4142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12268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85724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原课件的理由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04648" y="2110740"/>
              <a:ext cx="45015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轮展开时按同样方法排，第 5 周期整数槽空着，要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个周期；超过 5 轮，前两个周期浮点槽的空转仍填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不满，展开越多占用寄存器越多，可能不够用，所以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轮最佳。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464618" y="3602355"/>
            <a:ext cx="5193982" cy="2508885"/>
            <a:chOff x="6464618" y="3602355"/>
            <a:chExt cx="5193982" cy="2508885"/>
          </a:xfrm>
        </p:grpSpPr>
        <p:sp>
          <p:nvSpPr>
            <p:cNvPr id="49" name="Rectangle 49"/>
            <p:cNvSpPr/>
            <p:nvPr/>
          </p:nvSpPr>
          <p:spPr>
            <a:xfrm>
              <a:off x="6464618" y="3602355"/>
              <a:ext cx="5193982" cy="2508885"/>
            </a:xfrm>
            <a:prstGeom prst="roundRect">
              <a:avLst>
                <a:gd name="adj" fmla="val 53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74142" y="3735705"/>
              <a:ext cx="47625" cy="22421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712268" y="38119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03428" y="38476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04648" y="4189095"/>
              <a:ext cx="44729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轮展开把 SUBI 提前到第 5 周期（后面 4 个 ST 偏移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各加 32），也能做到 10 个周期，并不需要 11 个。n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轮至少 2n + 2 个周期，展开越多每轮越接近 2 个周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期；选 5 轮是寄存器用量和代码长度的折中。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04648" y="5381625"/>
              <a:ext cx="4149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原课件写“50/12 = 4，性能提高了 4 倍”，应为约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4.17，即提高到原来的约 4.2 倍。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多指令流出技术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静态超标量的瓶颈与循环展开的注意事项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5850255" cy="2583180"/>
            <a:chOff x="525780" y="1548765"/>
            <a:chExt cx="5850255" cy="258318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96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load 指令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39252" y="1548765"/>
              <a:ext cx="44729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编译器排好的序列中，load 后面的 3 条指令都不能用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它的结果（同一对里的另一条，加上下一对的两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条），否则流水线停顿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4326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552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分支指令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9252" y="2552700"/>
              <a:ext cx="445389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分支是整数指令，一定是指令对的第一条。分支延迟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即使只有 1 个周期，每周期流出 2 条，受影响的是其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 3 条指令，分支成功时它们可能被作废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43662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355663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效率平衡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39252" y="3556635"/>
              <a:ext cx="4396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指令分布不均衡，n 流出处理器的 n 条流水线得不到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足够的指令，达不到饱和</a:t>
              </a:r>
            </a:p>
          </p:txBody>
        </p:sp>
      </p:grpSp>
      <p:grpSp>
        <p:nvGrpSpPr>
          <p:cNvPr id="36" name="c1-table-2"/>
          <p:cNvGrpSpPr/>
          <p:nvPr/>
        </p:nvGrpSpPr>
        <p:grpSpPr>
          <a:xfrm>
            <a:off x="527685" y="4263390"/>
            <a:ext cx="5848350" cy="2091214"/>
            <a:chOff x="527685" y="4263390"/>
            <a:chExt cx="5848350" cy="2091214"/>
          </a:xfrm>
        </p:grpSpPr>
        <p:sp>
          <p:nvSpPr>
            <p:cNvPr id="16" name="Rectangle 16"/>
            <p:cNvSpPr/>
            <p:nvPr/>
          </p:nvSpPr>
          <p:spPr>
            <a:xfrm>
              <a:off x="533400" y="4263390"/>
              <a:ext cx="584263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2287" y="43991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30628" y="439912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整数槽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84268" y="439912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浮点槽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45" y="48477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76578" y="4847749"/>
              <a:ext cx="10689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F0,0(R1)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30218" y="4847749"/>
              <a:ext cx="1008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不能用 F0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51558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516064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4845" y="529637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76578" y="5296376"/>
              <a:ext cx="1008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不能用 F0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30218" y="5296376"/>
              <a:ext cx="1008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不能用 F0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6054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4845" y="57450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76578" y="5745004"/>
              <a:ext cx="7847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可以用 F0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30218" y="5745004"/>
              <a:ext cx="7847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可以用 F0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263390"/>
              <a:ext cx="584263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463992" y="426339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917632" y="426339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7685" y="6134576"/>
              <a:ext cx="3735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load 延迟 1 个周期，受影响的是同对 1 条加下一对 2 条</a:t>
              </a:r>
            </a:p>
          </p:txBody>
        </p:sp>
      </p:grpSp>
      <p:grpSp>
        <p:nvGrpSpPr>
          <p:cNvPr id="46" name="c2-bullets-1"/>
          <p:cNvGrpSpPr/>
          <p:nvPr/>
        </p:nvGrpSpPr>
        <p:grpSpPr>
          <a:xfrm>
            <a:off x="6673215" y="1548765"/>
            <a:ext cx="4655820" cy="2253615"/>
            <a:chOff x="6673215" y="1548765"/>
            <a:chExt cx="4655820" cy="2253615"/>
          </a:xfrm>
        </p:grpSpPr>
        <p:sp>
          <p:nvSpPr>
            <p:cNvPr id="37" name="TextBox 37"/>
            <p:cNvSpPr txBox="1"/>
            <p:nvPr/>
          </p:nvSpPr>
          <p:spPr>
            <a:xfrm>
              <a:off x="6673215" y="154876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循环展开和静态调度时要注意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6680835" y="1934528"/>
              <a:ext cx="144780" cy="117158"/>
            </a:xfrm>
            <a:custGeom>
              <a:avLst/>
              <a:gdLst/>
              <a:ahLst/>
              <a:cxnLst/>
              <a:rect l="l" t="t" r="r" b="b"/>
              <a:pathLst>
                <a:path w="144780" h="117158">
                  <a:moveTo>
                    <a:pt x="0" y="61912"/>
                  </a:moveTo>
                  <a:lnTo>
                    <a:pt x="55245" y="117158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32295" y="190309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修改分支条件，合并控制指令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6680835" y="2279332"/>
              <a:ext cx="144780" cy="117157"/>
            </a:xfrm>
            <a:custGeom>
              <a:avLst/>
              <a:gdLst/>
              <a:ahLst/>
              <a:cxnLst/>
              <a:rect l="l" t="t" r="r" b="b"/>
              <a:pathLst>
                <a:path w="144780" h="117157">
                  <a:moveTo>
                    <a:pt x="0" y="61912"/>
                  </a:moveTo>
                  <a:lnTo>
                    <a:pt x="55245" y="117157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32295" y="2247900"/>
              <a:ext cx="23454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修正 LD/ST 的地址偏移量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6680835" y="2624138"/>
              <a:ext cx="144780" cy="117158"/>
            </a:xfrm>
            <a:custGeom>
              <a:avLst/>
              <a:gdLst/>
              <a:ahLst/>
              <a:cxnLst/>
              <a:rect l="l" t="t" r="r" b="b"/>
              <a:pathLst>
                <a:path w="144780" h="117158">
                  <a:moveTo>
                    <a:pt x="0" y="61912"/>
                  </a:moveTo>
                  <a:lnTo>
                    <a:pt x="55245" y="117158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32295" y="259270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分析代码的相关性：不同迭代用的寄存器和存储器地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址不能相关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680835" y="3254692"/>
              <a:ext cx="144780" cy="117158"/>
            </a:xfrm>
            <a:custGeom>
              <a:avLst/>
              <a:gdLst/>
              <a:ahLst/>
              <a:cxnLst/>
              <a:rect l="l" t="t" r="r" b="b"/>
              <a:pathLst>
                <a:path w="144780" h="117158">
                  <a:moveTo>
                    <a:pt x="0" y="61912"/>
                  </a:moveTo>
                  <a:lnTo>
                    <a:pt x="55245" y="117158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32295" y="322326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循环展开可能引入新的相关，比如用了同一个临时寄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存器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6680835" y="3933825"/>
            <a:ext cx="4977765" cy="782955"/>
            <a:chOff x="6680835" y="3933825"/>
            <a:chExt cx="4977765" cy="782955"/>
          </a:xfrm>
        </p:grpSpPr>
        <p:sp>
          <p:nvSpPr>
            <p:cNvPr id="47" name="Rectangle 47"/>
            <p:cNvSpPr/>
            <p:nvPr/>
          </p:nvSpPr>
          <p:spPr>
            <a:xfrm>
              <a:off x="6680835" y="3933825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885623" y="4225290"/>
              <a:ext cx="200026" cy="200026"/>
              <a:chOff x="6885623" y="4225290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885623" y="42252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985635" y="42919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974523" y="43253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7187565" y="4082415"/>
              <a:ext cx="38823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上例 5 轮的 LD、ADDD、ST 访问 5 个不同的元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素，迭代之间互不相关，这是能展开的前提。</a:t>
              </a:r>
            </a:p>
          </p:txBody>
        </p:sp>
      </p:grpSp>
      <p:grpSp>
        <p:nvGrpSpPr>
          <p:cNvPr id="60" name="c2-callout-3"/>
          <p:cNvGrpSpPr/>
          <p:nvPr/>
        </p:nvGrpSpPr>
        <p:grpSpPr>
          <a:xfrm>
            <a:off x="6680835" y="4907280"/>
            <a:ext cx="4977765" cy="1403032"/>
            <a:chOff x="6680835" y="4907280"/>
            <a:chExt cx="4977765" cy="1403032"/>
          </a:xfrm>
        </p:grpSpPr>
        <p:sp>
          <p:nvSpPr>
            <p:cNvPr id="54" name="Rectangle 54"/>
            <p:cNvSpPr/>
            <p:nvPr/>
          </p:nvSpPr>
          <p:spPr>
            <a:xfrm>
              <a:off x="6680835" y="4907280"/>
              <a:ext cx="4977765" cy="1403032"/>
            </a:xfrm>
            <a:prstGeom prst="roundRect">
              <a:avLst>
                <a:gd name="adj" fmla="val 814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873564" y="5504616"/>
              <a:ext cx="224134" cy="192560"/>
              <a:chOff x="6873564" y="5504616"/>
              <a:chExt cx="224134" cy="1925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985635" y="55749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873564" y="55046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985635" y="56527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7187565" y="5227320"/>
              <a:ext cx="4015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展开的代价是代码变长、占用更多寄存器；循环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次数不是展开轮数的整数倍时，还要补一段处理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剩余迭代的代码。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24605" cy="909257"/>
            <a:chOff x="520446" y="342900"/>
            <a:chExt cx="78246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多指令流出技术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246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动态超标量：按序流出，靠保留站和 ROB 乱序执行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bullets-1"/>
          <p:cNvGrpSpPr/>
          <p:nvPr/>
        </p:nvGrpSpPr>
        <p:grpSpPr>
          <a:xfrm>
            <a:off x="542925" y="1545431"/>
            <a:ext cx="5045202" cy="798005"/>
            <a:chOff x="542925" y="1545431"/>
            <a:chExt cx="5045202" cy="798005"/>
          </a:xfrm>
        </p:grpSpPr>
        <p:sp>
          <p:nvSpPr>
            <p:cNvPr id="7" name="Ellipse 7"/>
            <p:cNvSpPr/>
            <p:nvPr/>
          </p:nvSpPr>
          <p:spPr>
            <a:xfrm>
              <a:off x="542925" y="159734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8373" y="154543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指令按序流出，根据保留站空闲情况判断能否流出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2925" y="190309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8373" y="1851184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流出处理器每周期可流出 n 条，只要对应保留站空闲；一般每周期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 n 条指令处于执行状态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2483168"/>
            <a:ext cx="5410200" cy="3228975"/>
            <a:chOff x="533400" y="2483168"/>
            <a:chExt cx="5410200" cy="3228975"/>
          </a:xfrm>
        </p:grpSpPr>
        <p:sp>
          <p:nvSpPr>
            <p:cNvPr id="12" name="Rectangle 12"/>
            <p:cNvSpPr/>
            <p:nvPr/>
          </p:nvSpPr>
          <p:spPr>
            <a:xfrm>
              <a:off x="533400" y="2483168"/>
              <a:ext cx="5410200" cy="3228975"/>
            </a:xfrm>
            <a:prstGeom prst="roundRect">
              <a:avLst>
                <a:gd name="adj" fmla="val 413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42950" y="2692718"/>
              <a:ext cx="161639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0140" y="2728436"/>
              <a:ext cx="1502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 流出处理器设计实例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48665" y="3132773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6780" y="3069908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一个流出段：每半个周期流出一条非分支指令，每周期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最多 2 条；分支指令单独流出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48665" y="3753802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6780" y="3690938"/>
              <a:ext cx="4625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两个执行段：整数 ALU 1 个周期，浮点 ALU 3 个周期；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分支和 LD/SD 算整数运算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48665" y="4374832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6780" y="4311968"/>
              <a:ext cx="3680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一个写结果段、一个确认段，各 1 个周期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48665" y="4710112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780" y="4647248"/>
              <a:ext cx="4615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用前瞻执行机制调度，ROB 按序确认，保留站都合并到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ROB 中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48665" y="5331142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6780" y="526827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没有定向路径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524000"/>
            <a:ext cx="5410200" cy="2133600"/>
            <a:chOff x="6248400" y="1524000"/>
            <a:chExt cx="5410200" cy="2133600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2133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1657350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88430" y="2110740"/>
              <a:ext cx="4720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同样的循环（LD、ADDD、ST、SUBI、BNEZ）在这个 2 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出动态超标量上怎样执行？假设分支预测完美，ROB 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够大。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89573" y="3014186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这里不能用静态的循环展开，改用指令执行状态表表示调度过程，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见下页。</a:t>
              </a:r>
            </a:p>
          </p:txBody>
        </p:sp>
      </p:grpSp>
      <p:grpSp>
        <p:nvGrpSpPr>
          <p:cNvPr id="49" name="c2-table-2"/>
          <p:cNvGrpSpPr/>
          <p:nvPr/>
        </p:nvGrpSpPr>
        <p:grpSpPr>
          <a:xfrm>
            <a:off x="6242685" y="3848100"/>
            <a:ext cx="5415915" cy="1641634"/>
            <a:chOff x="6242685" y="3848100"/>
            <a:chExt cx="5415915" cy="1641634"/>
          </a:xfrm>
        </p:grpSpPr>
        <p:sp>
          <p:nvSpPr>
            <p:cNvPr id="33" name="Rectangle 33"/>
            <p:cNvSpPr/>
            <p:nvPr/>
          </p:nvSpPr>
          <p:spPr>
            <a:xfrm>
              <a:off x="6248400" y="3848100"/>
              <a:ext cx="5410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81139" y="39828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01825" y="398287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每周期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50768" y="398287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本例用它的指令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56223" y="4432459"/>
              <a:ext cx="730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 ALU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79283" y="4432459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69908" y="4432459"/>
              <a:ext cx="20852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LD、ST 地址，SUBI，BNEZ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47405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47453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6223" y="4881086"/>
              <a:ext cx="730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 ALU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79283" y="4881086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69908" y="4881086"/>
              <a:ext cx="14215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ADDD（3 个周期）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3848100"/>
              <a:ext cx="5410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866698" y="38481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057322" y="38481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42685" y="5269706"/>
              <a:ext cx="21766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一轮 5 条指令里 4 条抢整数 ALU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49321" cy="909257"/>
            <a:chOff x="520446" y="342900"/>
            <a:chExt cx="76493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多指令流出技术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493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动态超标量的执行过程：稳态每 5 个周期完成一轮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4" name="c1-table-1"/>
          <p:cNvGrpSpPr/>
          <p:nvPr/>
        </p:nvGrpSpPr>
        <p:grpSpPr>
          <a:xfrm>
            <a:off x="533400" y="1524000"/>
            <a:ext cx="6708458" cy="4400550"/>
            <a:chOff x="533400" y="1524000"/>
            <a:chExt cx="6708458" cy="44005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53275" y="16454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8371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5621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9342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2192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写结果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0119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7758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5126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3462" y="2045494"/>
              <a:ext cx="935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F0,0(R1)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65530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02740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06625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10510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22495" y="204549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流出第一条指令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3193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3241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5126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2445544"/>
              <a:ext cx="11106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ADDD F4,F0,F2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65530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02740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06625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10510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22495" y="2445544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数据相关，浮点 3 周期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27193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5126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3462" y="2845594"/>
              <a:ext cx="935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0(R1),F4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65530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02740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06625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10510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22495" y="2845594"/>
              <a:ext cx="10605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 ADDD 的数据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1194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31242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5126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33462" y="3245644"/>
              <a:ext cx="10708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SUBI R1,R1,#8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565530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102740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706625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269047" y="32456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722495" y="3245644"/>
              <a:ext cx="17991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 已缓冲，整数 ALU 冲突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35194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5126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3462" y="3645694"/>
              <a:ext cx="12654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BNEZ R1,R2,Loop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565530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102740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269047" y="36456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722495" y="3645694"/>
              <a:ext cx="942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 SUBI 的 R1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39195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33400" y="39243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5126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33462" y="4045744"/>
              <a:ext cx="935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F0,0(R1)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565530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102740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706625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269047" y="40457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722495" y="4045744"/>
              <a:ext cx="20754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 换名；ALU 冲突 + 数据相关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43195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85126" y="4445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3462" y="4445794"/>
              <a:ext cx="11106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ADDD F4,F0,F2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565530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102740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665162" y="44457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269047" y="44457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722495" y="4445794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数据相关 + 浮点延迟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33400" y="47196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533400" y="47244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85126" y="48458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33462" y="4845844"/>
              <a:ext cx="935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0(R1),F4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2565530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102740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665162" y="48458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4269047" y="48458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722495" y="4845844"/>
              <a:ext cx="205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 换名；ALU 冲突，数据相关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33400" y="51196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85126" y="52458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33462" y="5245894"/>
              <a:ext cx="10708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SUBI R1,R1,#8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2565530" y="52458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3102740" y="52458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665162" y="52458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4269047" y="52458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4722495" y="5245894"/>
              <a:ext cx="129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 换名；ALU 冲突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533400" y="55197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533400" y="55245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85126" y="56459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33462" y="5645944"/>
              <a:ext cx="12654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BNEZ R1,R2,Loop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2565530" y="56459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3061277" y="56459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4269047" y="56459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4722495" y="56459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数据相关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533400" y="1524000"/>
              <a:ext cx="6708458" cy="44005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931545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2340292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2876550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3413760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4084320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4620578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formula15"/>
              <p:cNvSpPr txBox="1">
                <a:spLocks noGrp="1"/>
              </p:cNvSpPr>
              <p:nvPr/>
            </p:nvSpPr>
            <p:spPr>
              <a:xfrm>
                <a:off x="7546658" y="1524000"/>
                <a:ext cx="4111942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6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5n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10n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36" name="c2-table-2"/>
          <p:cNvGrpSpPr/>
          <p:nvPr/>
        </p:nvGrpSpPr>
        <p:grpSpPr>
          <a:xfrm>
            <a:off x="7546658" y="2156460"/>
            <a:ext cx="4111942" cy="2400300"/>
            <a:chOff x="7546658" y="2156460"/>
            <a:chExt cx="4111942" cy="2400300"/>
          </a:xfrm>
        </p:grpSpPr>
        <p:sp>
          <p:nvSpPr>
            <p:cNvPr id="106" name="Rectangle 106"/>
            <p:cNvSpPr/>
            <p:nvPr/>
          </p:nvSpPr>
          <p:spPr>
            <a:xfrm>
              <a:off x="7546658" y="2156460"/>
              <a:ext cx="4111942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8090814" y="2277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223054" y="2277904"/>
              <a:ext cx="369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T(n)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0571723" y="2277904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加速比 p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8090814" y="26779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319202" y="267795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10092690" y="2566035"/>
              <a:ext cx="1556385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10699316" y="267795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0.91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7546658" y="2951798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7546658" y="2956560"/>
              <a:ext cx="411194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8090814" y="30780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9319202" y="307800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0699316" y="307800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1.25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7546658" y="3351848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8090814" y="34780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9319202" y="347805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0699316" y="347805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1.43</a:t>
              </a:r>
            </a:p>
          </p:txBody>
        </p:sp>
        <p:sp>
          <p:nvSpPr>
            <p:cNvPr id="123" name="Rectangle 123"/>
            <p:cNvSpPr/>
            <p:nvPr/>
          </p:nvSpPr>
          <p:spPr>
            <a:xfrm>
              <a:off x="7546658" y="3751898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7546658" y="3756660"/>
              <a:ext cx="411194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8047278" y="387810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9319202" y="387810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0699316" y="387810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1.79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7546658" y="4151948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8090814" y="42781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9360665" y="427815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10092690" y="4166235"/>
              <a:ext cx="155638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10823705" y="427815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7546658" y="2156460"/>
              <a:ext cx="4111942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8727758" y="215646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5" name="Rectangle 135"/>
            <p:cNvSpPr/>
            <p:nvPr/>
          </p:nvSpPr>
          <p:spPr>
            <a:xfrm>
              <a:off x="10078402" y="215646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38" name="c2-text-3"/>
          <p:cNvGrpSpPr/>
          <p:nvPr/>
        </p:nvGrpSpPr>
        <p:grpSpPr>
          <a:xfrm>
            <a:off x="7540942" y="4745831"/>
            <a:ext cx="3787902" cy="441008"/>
            <a:chOff x="7540942" y="4745831"/>
            <a:chExt cx="3787902" cy="441008"/>
          </a:xfrm>
        </p:grpSpPr>
        <p:sp>
          <p:nvSpPr>
            <p:cNvPr id="137" name="TextBox 137"/>
            <p:cNvSpPr txBox="1"/>
            <p:nvPr/>
          </p:nvSpPr>
          <p:spPr>
            <a:xfrm>
              <a:off x="7540942" y="4745831"/>
              <a:ext cx="3787902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基准是上例不展开的单流出版本，每轮 10 个周期。只执行 1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轮时反而更慢；轮数越多加速比越接近 2。</a:t>
              </a:r>
            </a:p>
          </p:txBody>
        </p:sp>
      </p:grpSp>
      <p:grpSp>
        <p:nvGrpSpPr>
          <p:cNvPr id="145" name="c2-callout-4"/>
          <p:cNvGrpSpPr/>
          <p:nvPr/>
        </p:nvGrpSpPr>
        <p:grpSpPr>
          <a:xfrm>
            <a:off x="7546658" y="5313045"/>
            <a:ext cx="4111942" cy="978218"/>
            <a:chOff x="7546658" y="5313045"/>
            <a:chExt cx="4111942" cy="978218"/>
          </a:xfrm>
        </p:grpSpPr>
        <p:sp>
          <p:nvSpPr>
            <p:cNvPr id="139" name="Rectangle 139"/>
            <p:cNvSpPr/>
            <p:nvPr/>
          </p:nvSpPr>
          <p:spPr>
            <a:xfrm>
              <a:off x="7546658" y="5313045"/>
              <a:ext cx="4111942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43" name="Group 143"/>
            <p:cNvGrpSpPr/>
            <p:nvPr/>
          </p:nvGrpSpPr>
          <p:grpSpPr>
            <a:xfrm>
              <a:off x="7751445" y="5701665"/>
              <a:ext cx="200026" cy="200025"/>
              <a:chOff x="7751445" y="5701665"/>
              <a:chExt cx="200026" cy="200025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7751445" y="57016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7791184" y="57461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2" name="Freeform 142"/>
              <p:cNvSpPr/>
              <p:nvPr/>
            </p:nvSpPr>
            <p:spPr>
              <a:xfrm>
                <a:off x="7825899" y="58572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44" name="TextBox 144"/>
            <p:cNvSpPr txBox="1"/>
            <p:nvPr/>
          </p:nvSpPr>
          <p:spPr>
            <a:xfrm>
              <a:off x="8054149" y="5458778"/>
              <a:ext cx="326269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T(n) 按最后一条 BNEZ 的确认周期算：第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 轮 11，第 2 轮 16，此后每多一轮多 5 个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周期。</a:t>
              </a:r>
            </a:p>
          </p:txBody>
        </p:sp>
      </p:grpSp>
      <p:grpSp>
        <p:nvGrpSpPr>
          <p:cNvPr id="1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6" name="TextBox 146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多指令流出技术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影响动态超标量性能的因素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842635" cy="3550920"/>
            <a:chOff x="533400" y="1524000"/>
            <a:chExt cx="5842635" cy="35509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678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因素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7749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54892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改进办法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417445"/>
              <a:ext cx="967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整数、浮点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负载不平衡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25955" y="2284095"/>
              <a:ext cx="194881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每轮 4 条整数指令抢一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个整数 ALU，浮点部件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大部分时间空闲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62438" y="2150745"/>
              <a:ext cx="1739265" cy="1093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减少循环中的整数指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令，或增加整数部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件，如专门计算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LD/ST 地址的加法器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2946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3299460"/>
              <a:ext cx="5842635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3438525"/>
              <a:ext cx="967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每轮控制开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销大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25955" y="3438525"/>
              <a:ext cx="18249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条指令里 SUBI、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BNEZ 两条是辅助指令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62438" y="3438525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再加上循环展开，合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并控制指令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04907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4326255"/>
              <a:ext cx="967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分支的控制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25955" y="4192905"/>
              <a:ext cx="19202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要等分支结果出来才能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开始下一轮首条指令的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62438" y="4326255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更好的分支预测与前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瞻执行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842635" cy="35509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14512" y="1524000"/>
              <a:ext cx="9525" cy="3550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150995" y="1524000"/>
              <a:ext cx="9525" cy="3550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2-card-1"/>
          <p:cNvGrpSpPr/>
          <p:nvPr/>
        </p:nvGrpSpPr>
        <p:grpSpPr>
          <a:xfrm>
            <a:off x="6680835" y="1524000"/>
            <a:ext cx="4977765" cy="2031682"/>
            <a:chOff x="6680835" y="1524000"/>
            <a:chExt cx="4977765" cy="2031682"/>
          </a:xfrm>
        </p:grpSpPr>
        <p:sp>
          <p:nvSpPr>
            <p:cNvPr id="27" name="Rectangle 27"/>
            <p:cNvSpPr/>
            <p:nvPr/>
          </p:nvSpPr>
          <p:spPr>
            <a:xfrm>
              <a:off x="6680835" y="1524000"/>
              <a:ext cx="4977765" cy="2031682"/>
            </a:xfrm>
            <a:prstGeom prst="roundRect">
              <a:avLst>
                <a:gd name="adj" fmla="val 65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90360" y="1657350"/>
              <a:ext cx="47625" cy="17649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928485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14743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思考题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20865" y="211074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若计算中某条除法指令导致除零异常，怎样处理？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22008" y="2442686"/>
              <a:ext cx="4312666" cy="952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参考答案：异常先记在该指令的 ROB 项里，不立即处理。等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它到达 ROB 头部确认时才触发异常，同时清空 ROB 和所有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保留站，它之后的前瞻结果全部作废，它之前的指令都已确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认，现场是精确的。</a:t>
              </a:r>
            </a:p>
          </p:txBody>
        </p:sp>
      </p:grpSp>
      <p:grpSp>
        <p:nvGrpSpPr>
          <p:cNvPr id="40" name="c2-callout-2"/>
          <p:cNvGrpSpPr/>
          <p:nvPr/>
        </p:nvGrpSpPr>
        <p:grpSpPr>
          <a:xfrm>
            <a:off x="6680835" y="3746182"/>
            <a:ext cx="4977765" cy="1328738"/>
            <a:chOff x="6680835" y="3746182"/>
            <a:chExt cx="4977765" cy="1328738"/>
          </a:xfrm>
        </p:grpSpPr>
        <p:sp>
          <p:nvSpPr>
            <p:cNvPr id="34" name="Rectangle 34"/>
            <p:cNvSpPr/>
            <p:nvPr/>
          </p:nvSpPr>
          <p:spPr>
            <a:xfrm>
              <a:off x="6680835" y="3746182"/>
              <a:ext cx="4977765" cy="1328738"/>
            </a:xfrm>
            <a:prstGeom prst="roundRect">
              <a:avLst>
                <a:gd name="adj" fmla="val 860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885623" y="4310063"/>
              <a:ext cx="200026" cy="200025"/>
              <a:chOff x="6885623" y="4310063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885623" y="43100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925361" y="43545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960077" y="44656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187565" y="4029075"/>
              <a:ext cx="40728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从例表看，稳态每轮 5 个周期，正好是整数 ALU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处理 4 条整数指令再加 1 个分支等待周期，整数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部件就是瓶颈。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1" name="Rectangle 4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5991225"/>
              <a:ext cx="78108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前两条改进合起来就是循环展开加更多访存部件，第 60 页的 VLIW 例题正是这样做的。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54448" cy="909257"/>
            <a:chOff x="520446" y="342900"/>
            <a:chExt cx="88544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多指令流出技术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544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超长指令字 VLIW：编译器把可并行的指令拼成一条长指令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bullets-1"/>
          <p:cNvGrpSpPr/>
          <p:nvPr/>
        </p:nvGrpSpPr>
        <p:grpSpPr>
          <a:xfrm>
            <a:off x="542925" y="1545431"/>
            <a:ext cx="5532882" cy="2201037"/>
            <a:chOff x="542925" y="1545431"/>
            <a:chExt cx="5532882" cy="2201037"/>
          </a:xfrm>
        </p:grpSpPr>
        <p:sp>
          <p:nvSpPr>
            <p:cNvPr id="7" name="Ellipse 7"/>
            <p:cNvSpPr/>
            <p:nvPr/>
          </p:nvSpPr>
          <p:spPr>
            <a:xfrm>
              <a:off x="542925" y="159734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8373" y="1545431"/>
              <a:ext cx="53124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VLIW 是一种特殊的 n 流出超标量。调度和执行的最小单位是由多条可并行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指令组成的长指令，平均长度一百到几百位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2925" y="214598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8373" y="2094071"/>
              <a:ext cx="43837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IR 含 n 个操作槽，每个槽固定服务于一个独立的功能部件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2925" y="245268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8373" y="2399824"/>
              <a:ext cx="53774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各操作槽对应的部件类型暴露给编译器，编译器据此把可并行、类型匹配的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指令拼成长指令；静态调度通常和循环展开一起用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2925" y="300132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8373" y="2948464"/>
              <a:ext cx="53774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长指令之间按序流出和执行，同一条长指令内的指令同时流出、并行执行；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一条长指令不能流出，后面的都不能流出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42925" y="354996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8373" y="3497104"/>
              <a:ext cx="45189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由于相关等原因，编译后的长指令不一定能填满 n 个操作槽</a:t>
              </a:r>
            </a:p>
          </p:txBody>
        </p:sp>
      </p:grpSp>
      <p:grpSp>
        <p:nvGrpSpPr>
          <p:cNvPr id="42" name="c1-table-2"/>
          <p:cNvGrpSpPr/>
          <p:nvPr/>
        </p:nvGrpSpPr>
        <p:grpSpPr>
          <a:xfrm>
            <a:off x="533400" y="3887152"/>
            <a:ext cx="5842635" cy="2438400"/>
            <a:chOff x="533400" y="3887152"/>
            <a:chExt cx="5842635" cy="2438400"/>
          </a:xfrm>
        </p:grpSpPr>
        <p:sp>
          <p:nvSpPr>
            <p:cNvPr id="18" name="Rectangle 18"/>
            <p:cNvSpPr/>
            <p:nvPr/>
          </p:nvSpPr>
          <p:spPr>
            <a:xfrm>
              <a:off x="533400" y="3887152"/>
              <a:ext cx="5842635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00150" y="402621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98470" y="402621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超标量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05552" y="4026218"/>
              <a:ext cx="496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VLIW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0080" y="451389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谁找并行指令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92680" y="451389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硬件在流出时检测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37698" y="451389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编译器事先拼好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8577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862512"/>
              <a:ext cx="584263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0080" y="500157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每周期流出数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92680" y="500157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不固定（有上限）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37698" y="500157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固定为一条长指令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34543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0080" y="548925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流出逻辑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92680" y="548925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37698" y="548925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83311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5837872"/>
              <a:ext cx="584263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0080" y="597693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部件数改变后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392680" y="597693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原程序照样能跑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37698" y="597693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要按新的槽重新编译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887152"/>
              <a:ext cx="5842635" cy="2438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281238" y="3887152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326255" y="3887152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card-1"/>
          <p:cNvGrpSpPr/>
          <p:nvPr/>
        </p:nvGrpSpPr>
        <p:grpSpPr>
          <a:xfrm>
            <a:off x="6680835" y="1524000"/>
            <a:ext cx="4977765" cy="1701165"/>
            <a:chOff x="6680835" y="1524000"/>
            <a:chExt cx="4977765" cy="1701165"/>
          </a:xfrm>
        </p:grpSpPr>
        <p:sp>
          <p:nvSpPr>
            <p:cNvPr id="43" name="Rectangle 43"/>
            <p:cNvSpPr/>
            <p:nvPr/>
          </p:nvSpPr>
          <p:spPr>
            <a:xfrm>
              <a:off x="6680835" y="1524000"/>
              <a:ext cx="4977765" cy="1701165"/>
            </a:xfrm>
            <a:prstGeom prst="roundRect">
              <a:avLst>
                <a:gd name="adj" fmla="val 7839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890385" y="1733550"/>
              <a:ext cx="160020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36114" y="1769269"/>
              <a:ext cx="1510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 流出 VLIW 设计实例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896100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54215" y="2110740"/>
              <a:ext cx="29497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 IF 段，每周期取一条长指令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896100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54215" y="2446020"/>
              <a:ext cx="31516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 ID 段，每周期流出一条长指令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896100" y="28441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54215" y="2781300"/>
              <a:ext cx="2629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 EX 段，含 5 个独立部件</a:t>
              </a:r>
            </a:p>
          </p:txBody>
        </p:sp>
      </p:grpSp>
      <p:grpSp>
        <p:nvGrpSpPr>
          <p:cNvPr id="64" name="c2-cells-2"/>
          <p:cNvGrpSpPr/>
          <p:nvPr/>
        </p:nvGrpSpPr>
        <p:grpSpPr>
          <a:xfrm>
            <a:off x="6675120" y="3415665"/>
            <a:ext cx="4983480" cy="419100"/>
            <a:chOff x="6675120" y="3415665"/>
            <a:chExt cx="4983480" cy="419100"/>
          </a:xfrm>
        </p:grpSpPr>
        <p:sp>
          <p:nvSpPr>
            <p:cNvPr id="53" name="TextBox 53"/>
            <p:cNvSpPr txBox="1"/>
            <p:nvPr/>
          </p:nvSpPr>
          <p:spPr>
            <a:xfrm>
              <a:off x="6675120" y="35552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长指令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240905" y="3415665"/>
              <a:ext cx="883920" cy="419100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388374" y="3555206"/>
              <a:ext cx="5889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浮点ALU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124825" y="3415665"/>
              <a:ext cx="883920" cy="419100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272294" y="3555206"/>
              <a:ext cx="5889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浮点ALU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007792" y="3415665"/>
              <a:ext cx="8839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306036" y="355520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LSU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891712" y="3415665"/>
              <a:ext cx="8839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189956" y="355520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LSU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0774680" y="3415665"/>
              <a:ext cx="883920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922149" y="3555206"/>
              <a:ext cx="5889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整数ALU</a:t>
              </a:r>
            </a:p>
          </p:txBody>
        </p:sp>
      </p:grpSp>
      <p:grpSp>
        <p:nvGrpSpPr>
          <p:cNvPr id="73" name="c2-kv-3"/>
          <p:cNvGrpSpPr/>
          <p:nvPr/>
        </p:nvGrpSpPr>
        <p:grpSpPr>
          <a:xfrm>
            <a:off x="6673215" y="4050030"/>
            <a:ext cx="4985385" cy="1173480"/>
            <a:chOff x="6673215" y="4050030"/>
            <a:chExt cx="4985385" cy="1173480"/>
          </a:xfrm>
        </p:grpSpPr>
        <p:sp>
          <p:nvSpPr>
            <p:cNvPr id="65" name="TextBox 65"/>
            <p:cNvSpPr txBox="1"/>
            <p:nvPr/>
          </p:nvSpPr>
          <p:spPr>
            <a:xfrm>
              <a:off x="6673215" y="4050030"/>
              <a:ext cx="8342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2 个 LSU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00060" y="4050030"/>
              <a:ext cx="10698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 LD/ST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680835" y="437007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73215" y="4490085"/>
              <a:ext cx="12381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2 个浮点 ALU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100060" y="44900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浮点计算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680835" y="481012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673215" y="4930140"/>
              <a:ext cx="12381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1 个整数 ALU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100060" y="493014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整数计算和分支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15652" cy="909257"/>
            <a:chOff x="520446" y="342900"/>
            <a:chExt cx="7515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多指令流出技术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15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VLIW 例题：同一循环展开 5 次，8 条长指令完成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c1-table-1"/>
          <p:cNvGrpSpPr/>
          <p:nvPr/>
        </p:nvGrpSpPr>
        <p:grpSpPr>
          <a:xfrm>
            <a:off x="527685" y="1524000"/>
            <a:ext cx="6281737" cy="4561999"/>
            <a:chOff x="527685" y="1524000"/>
            <a:chExt cx="6281737" cy="456199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67532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7583" y="1659731"/>
              <a:ext cx="1755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8298" y="1659731"/>
              <a:ext cx="3380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浮点</a:t>
              </a:r>
              <a:br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ALU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47456" y="1659731"/>
              <a:ext cx="3380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浮点</a:t>
              </a:r>
              <a:br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99072" y="1773079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LSU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15365" y="1773079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LSU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83143" y="1773079"/>
              <a:ext cx="730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整数 ALU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9107" y="233505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06583" y="2335054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22875" y="2335054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6431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647950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9107" y="27836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06583" y="2783681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22875" y="2783681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LD4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0927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9107" y="323230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80516" y="3232309"/>
              <a:ext cx="513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ADDD1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59673" y="3232309"/>
              <a:ext cx="513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ADDD2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06583" y="3232309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LD5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54139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546158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9107" y="368093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80516" y="3680936"/>
              <a:ext cx="513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ADDD3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59673" y="3680936"/>
              <a:ext cx="513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ADDD4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900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9107" y="41305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80516" y="4130516"/>
              <a:ext cx="513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ADDD5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496752" y="4004310"/>
              <a:ext cx="230314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595050" y="4130516"/>
              <a:ext cx="13238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SUBI R1,R1,#40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4386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444341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9107" y="45791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06583" y="4579144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22875" y="4579144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95050" y="45791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空转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8872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9107" y="50277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106583" y="5027771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922875" y="5027771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ST4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496752" y="4901565"/>
              <a:ext cx="230314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595050" y="5027771"/>
              <a:ext cx="14460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BNEZ R1,R2,Loop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53368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5341620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9107" y="547639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106583" y="5476399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595050" y="547639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空转（延迟槽）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1524000"/>
              <a:ext cx="6276022" cy="42662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93470" y="1524000"/>
              <a:ext cx="9525" cy="4266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971675" y="1524000"/>
              <a:ext cx="9525" cy="4266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2850832" y="1524000"/>
              <a:ext cx="9525" cy="4266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3666172" y="1524000"/>
              <a:ext cx="9525" cy="4266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482465" y="1524000"/>
              <a:ext cx="9525" cy="4266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7685" y="5865971"/>
              <a:ext cx="4749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数字表示第几轮；ST 都在 SUBI 之后，偏移分别为 40、32、24、16、8</a:t>
              </a:r>
            </a:p>
          </p:txBody>
        </p:sp>
      </p:grpSp>
      <p:grpSp>
        <p:nvGrpSpPr>
          <p:cNvPr id="71" name="c2-steps-1"/>
          <p:cNvGrpSpPr/>
          <p:nvPr/>
        </p:nvGrpSpPr>
        <p:grpSpPr>
          <a:xfrm>
            <a:off x="7114222" y="1533525"/>
            <a:ext cx="4343274" cy="1696689"/>
            <a:chOff x="7114222" y="1533525"/>
            <a:chExt cx="4343274" cy="1696689"/>
          </a:xfrm>
        </p:grpSpPr>
        <p:sp>
          <p:nvSpPr>
            <p:cNvPr id="62" name="Rectangle 62"/>
            <p:cNvSpPr/>
            <p:nvPr/>
          </p:nvSpPr>
          <p:spPr>
            <a:xfrm>
              <a:off x="7247572" y="1676400"/>
              <a:ext cx="19050" cy="885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7114222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0784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114222" y="241935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07846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25702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直接排紧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26846" y="1861661"/>
              <a:ext cx="39306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按延迟表把 5 轮的 LD、ADDD、ST 放进对应槽，SUBI、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空转、BNEZ、空转排在第 9–12 周期，共 12 个周期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25702" y="245364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整数指令前移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26846" y="2746534"/>
              <a:ext cx="38249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9–12 周期的整数指令提前到第 5–8 周期。所有 ST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都到了 SUBI 之后，偏移量都加 40</a:t>
              </a:r>
            </a:p>
          </p:txBody>
        </p:sp>
      </p:grpSp>
      <p:grpSp>
        <p:nvGrpSpPr>
          <p:cNvPr id="92" name="c2-table-2"/>
          <p:cNvGrpSpPr/>
          <p:nvPr/>
        </p:nvGrpSpPr>
        <p:grpSpPr>
          <a:xfrm>
            <a:off x="7114222" y="3408998"/>
            <a:ext cx="4544378" cy="1795462"/>
            <a:chOff x="7114222" y="3408998"/>
            <a:chExt cx="4544378" cy="1795462"/>
          </a:xfrm>
        </p:grpSpPr>
        <p:sp>
          <p:nvSpPr>
            <p:cNvPr id="72" name="Rectangle 72"/>
            <p:cNvSpPr/>
            <p:nvPr/>
          </p:nvSpPr>
          <p:spPr>
            <a:xfrm>
              <a:off x="7114222" y="3408998"/>
              <a:ext cx="454437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933652" y="35447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442238" y="3544729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 轮周期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792625" y="354472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加速比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222046" y="399335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单流出不展开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682831" y="399335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003709" y="399335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7114222" y="430244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7114222" y="4307205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222046" y="4441984"/>
              <a:ext cx="13729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流出静态超标量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682831" y="444198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861551" y="444198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4.17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7114222" y="475107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222046" y="4891564"/>
              <a:ext cx="9797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流出 VLIW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730217" y="489156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10467022" y="4765358"/>
              <a:ext cx="118205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861551" y="489156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6.25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7114222" y="3408998"/>
              <a:ext cx="454437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9105900" y="3408998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10452735" y="3408998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4" name="c2-text-3"/>
          <p:cNvGrpSpPr/>
          <p:nvPr/>
        </p:nvGrpSpPr>
        <p:grpSpPr>
          <a:xfrm>
            <a:off x="7107746" y="5416391"/>
            <a:ext cx="4320794" cy="752284"/>
            <a:chOff x="7107746" y="5416391"/>
            <a:chExt cx="4320794" cy="752284"/>
          </a:xfrm>
        </p:grpSpPr>
        <p:sp>
          <p:nvSpPr>
            <p:cNvPr id="93" name="TextBox 93"/>
            <p:cNvSpPr txBox="1"/>
            <p:nvPr/>
          </p:nvSpPr>
          <p:spPr>
            <a:xfrm>
              <a:off x="7107746" y="5416391"/>
              <a:ext cx="4320794" cy="7522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 条长指令共 40 个槽，只用了 17 个（利用率 42.5%）。原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课件本例的单轮流出表里，SUBI 一行备注写成“浮点计算 EX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段尾出结果”，SUBI 是整数减法，延迟原因同第 51 页。</a:t>
              </a:r>
            </a:p>
          </p:txBody>
        </p:sp>
      </p:grpSp>
      <p:grpSp>
        <p:nvGrpSpPr>
          <p:cNvPr id="9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5" name="TextBox 9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17041" cy="909257"/>
            <a:chOff x="520446" y="342900"/>
            <a:chExt cx="81170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多指令流出技术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170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超流水：把一个周期切成 n 份，每 1/n 周期流出一条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544378" cy="1981200"/>
            <a:chOff x="533400" y="1524000"/>
            <a:chExt cx="4544378" cy="19812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981200"/>
            </a:xfrm>
            <a:prstGeom prst="roundRect">
              <a:avLst>
                <a:gd name="adj" fmla="val 67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1450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5342" y="175069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超流水线处理机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3957066" cy="1292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把每个流水段进一步细分，在一个时钟周期内分时流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出多条指令。每周期能流出 n 条指令的超流水线计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算机，这 n 条不是同时流出，而是每隔 1/n 个时钟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周期流出一条，实际的流水线周期是 1/n 个时钟周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期。</a:t>
              </a:r>
            </a:p>
          </p:txBody>
        </p:sp>
      </p:grpSp>
      <p:grpSp>
        <p:nvGrpSpPr>
          <p:cNvPr id="32" name="c1-table-2"/>
          <p:cNvGrpSpPr/>
          <p:nvPr/>
        </p:nvGrpSpPr>
        <p:grpSpPr>
          <a:xfrm>
            <a:off x="533400" y="3680460"/>
            <a:ext cx="4544378" cy="1623060"/>
            <a:chOff x="533400" y="3680460"/>
            <a:chExt cx="4544378" cy="1623060"/>
          </a:xfrm>
        </p:grpSpPr>
        <p:sp>
          <p:nvSpPr>
            <p:cNvPr id="13" name="Rectangle 13"/>
            <p:cNvSpPr/>
            <p:nvPr/>
          </p:nvSpPr>
          <p:spPr>
            <a:xfrm>
              <a:off x="533400" y="3680460"/>
              <a:ext cx="4544378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49388" y="38047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45321" y="380476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普通流水线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53613" y="3804761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 路超流水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3412" y="421052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流水线周期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78368" y="421052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个时钟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78555" y="421052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 个时钟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48722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491990"/>
              <a:ext cx="454437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461629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每时钟流出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78368" y="461629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78555" y="4616291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条（分时）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89299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50220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每段硬件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78368" y="502205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78555" y="5022056"/>
              <a:ext cx="10442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套，但要更快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680460"/>
              <a:ext cx="4544378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073592" y="368046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573780" y="368046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llout-3"/>
          <p:cNvGrpSpPr/>
          <p:nvPr/>
        </p:nvGrpSpPr>
        <p:grpSpPr>
          <a:xfrm>
            <a:off x="533400" y="5477828"/>
            <a:ext cx="4544378" cy="729615"/>
            <a:chOff x="533400" y="5477828"/>
            <a:chExt cx="4544378" cy="729615"/>
          </a:xfrm>
        </p:grpSpPr>
        <p:sp>
          <p:nvSpPr>
            <p:cNvPr id="33" name="Rectangle 33"/>
            <p:cNvSpPr/>
            <p:nvPr/>
          </p:nvSpPr>
          <p:spPr>
            <a:xfrm>
              <a:off x="533400" y="5477828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742625"/>
              <a:ext cx="200023" cy="200023"/>
              <a:chOff x="738188" y="5742625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7426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1538" y="58092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892" y="5624512"/>
              <a:ext cx="36141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超标量靠多套部件在空间上并行；超流水靠把段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切细在时间上重叠。</a:t>
              </a:r>
            </a:p>
          </p:txBody>
        </p:sp>
      </p:grpSp>
      <p:grpSp>
        <p:nvGrpSpPr>
          <p:cNvPr id="164" name="c2-cells-1"/>
          <p:cNvGrpSpPr/>
          <p:nvPr/>
        </p:nvGrpSpPr>
        <p:grpSpPr>
          <a:xfrm>
            <a:off x="5377815" y="1524000"/>
            <a:ext cx="6280785" cy="2444116"/>
            <a:chOff x="5377815" y="1524000"/>
            <a:chExt cx="6280785" cy="2444116"/>
          </a:xfrm>
        </p:grpSpPr>
        <p:sp>
          <p:nvSpPr>
            <p:cNvPr id="39" name="TextBox 39"/>
            <p:cNvSpPr txBox="1"/>
            <p:nvPr/>
          </p:nvSpPr>
          <p:spPr>
            <a:xfrm>
              <a:off x="5377815" y="1702118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617845" y="1524000"/>
              <a:ext cx="431482" cy="467678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772173" y="1702118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49328" y="1524000"/>
              <a:ext cx="431482" cy="467678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03655" y="1702118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80810" y="1524000"/>
              <a:ext cx="431482" cy="46767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35138" y="1702118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912292" y="1524000"/>
              <a:ext cx="431482" cy="46767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66620" y="1702118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343775" y="1524000"/>
              <a:ext cx="431482" cy="46767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81301" y="170211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775258" y="1524000"/>
              <a:ext cx="431482" cy="46767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912783" y="170211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206740" y="1524000"/>
              <a:ext cx="431482" cy="46767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330824" y="1702118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ME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638222" y="1524000"/>
              <a:ext cx="431482" cy="46767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762307" y="1702118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ME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069705" y="1524000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193789" y="1702118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501188" y="1524000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625272" y="1702118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932670" y="1524000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364152" y="1524000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795635" y="1524000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11227118" y="1524000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377815" y="2196465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I2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617845" y="2018348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049328" y="2018348"/>
              <a:ext cx="431482" cy="467678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203655" y="2196465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480810" y="2018348"/>
              <a:ext cx="431482" cy="467678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635138" y="2196465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912292" y="2018348"/>
              <a:ext cx="431482" cy="46767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066620" y="2196465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343775" y="2018348"/>
              <a:ext cx="431482" cy="46767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498103" y="2196465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775258" y="2018348"/>
              <a:ext cx="431482" cy="46767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912783" y="219646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206740" y="2018348"/>
              <a:ext cx="431482" cy="46767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344266" y="219646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638222" y="2018348"/>
              <a:ext cx="431482" cy="46767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762307" y="2196465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ME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9069705" y="2018348"/>
              <a:ext cx="431482" cy="46767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193789" y="2196465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ME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9501188" y="2018348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625272" y="2196465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9932670" y="2018348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0056754" y="2196465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10364152" y="2018348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10795635" y="2018348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11227118" y="2018348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377815" y="2689860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I3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5617845" y="2511742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6049328" y="2511742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6480810" y="2511742"/>
              <a:ext cx="431482" cy="467678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635138" y="2689860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6912292" y="2511742"/>
              <a:ext cx="431482" cy="467678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066620" y="2689860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7343775" y="2511742"/>
              <a:ext cx="431482" cy="46767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7498103" y="2689860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7775258" y="2511742"/>
              <a:ext cx="431482" cy="46767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7929585" y="2689860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8206740" y="2511742"/>
              <a:ext cx="431482" cy="46767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344266" y="268986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8638222" y="2511742"/>
              <a:ext cx="431482" cy="46767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8775748" y="268986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9069705" y="2511742"/>
              <a:ext cx="431482" cy="46767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9193789" y="2689860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ME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9501188" y="2511742"/>
              <a:ext cx="431482" cy="46767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9625272" y="2689860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ME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9932670" y="2511742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10056754" y="2689860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10364152" y="2511742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10488237" y="2689860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10795635" y="2511742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11227118" y="2511742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5377815" y="3184208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I4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5617845" y="3006090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6049328" y="3006090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6480810" y="3006090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6912292" y="3006090"/>
              <a:ext cx="431482" cy="467678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7066620" y="3184208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7343775" y="3006090"/>
              <a:ext cx="431482" cy="467678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7498103" y="3184208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7775258" y="3006090"/>
              <a:ext cx="431482" cy="46767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7929585" y="3184208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8206740" y="3006090"/>
              <a:ext cx="431482" cy="46767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8361068" y="3184208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8638222" y="3006090"/>
              <a:ext cx="431482" cy="46767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8775748" y="318420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9069705" y="3006090"/>
              <a:ext cx="431482" cy="46767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9207231" y="318420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9501188" y="3006090"/>
              <a:ext cx="431482" cy="46767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9625272" y="3184208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ME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9932670" y="3006090"/>
              <a:ext cx="431482" cy="46767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10056754" y="3184208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ME</a:t>
              </a:r>
            </a:p>
          </p:txBody>
        </p:sp>
        <p:sp>
          <p:nvSpPr>
            <p:cNvPr id="134" name="Rectangle 134"/>
            <p:cNvSpPr/>
            <p:nvPr/>
          </p:nvSpPr>
          <p:spPr>
            <a:xfrm>
              <a:off x="10364152" y="3006090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10488237" y="3184208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136" name="Rectangle 136"/>
            <p:cNvSpPr/>
            <p:nvPr/>
          </p:nvSpPr>
          <p:spPr>
            <a:xfrm>
              <a:off x="10795635" y="3006090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10919719" y="3184208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138" name="Rectangle 138"/>
            <p:cNvSpPr/>
            <p:nvPr/>
          </p:nvSpPr>
          <p:spPr>
            <a:xfrm>
              <a:off x="11227118" y="3006090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5377815" y="3678555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I5</a:t>
              </a:r>
            </a:p>
          </p:txBody>
        </p:sp>
        <p:sp>
          <p:nvSpPr>
            <p:cNvPr id="140" name="Rectangle 140"/>
            <p:cNvSpPr/>
            <p:nvPr/>
          </p:nvSpPr>
          <p:spPr>
            <a:xfrm>
              <a:off x="5617845" y="3500438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41" name="Rectangle 141"/>
            <p:cNvSpPr/>
            <p:nvPr/>
          </p:nvSpPr>
          <p:spPr>
            <a:xfrm>
              <a:off x="6049328" y="3500438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6480810" y="3500438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43" name="Rectangle 143"/>
            <p:cNvSpPr/>
            <p:nvPr/>
          </p:nvSpPr>
          <p:spPr>
            <a:xfrm>
              <a:off x="6912292" y="3500438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44" name="Rectangle 144"/>
            <p:cNvSpPr/>
            <p:nvPr/>
          </p:nvSpPr>
          <p:spPr>
            <a:xfrm>
              <a:off x="7343775" y="3500438"/>
              <a:ext cx="431482" cy="467678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145" name="TextBox 145"/>
            <p:cNvSpPr txBox="1"/>
            <p:nvPr/>
          </p:nvSpPr>
          <p:spPr>
            <a:xfrm>
              <a:off x="7498103" y="3678555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146" name="Rectangle 146"/>
            <p:cNvSpPr/>
            <p:nvPr/>
          </p:nvSpPr>
          <p:spPr>
            <a:xfrm>
              <a:off x="7775258" y="3500438"/>
              <a:ext cx="431482" cy="467678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7929585" y="3678555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148" name="Rectangle 148"/>
            <p:cNvSpPr/>
            <p:nvPr/>
          </p:nvSpPr>
          <p:spPr>
            <a:xfrm>
              <a:off x="8206740" y="3500438"/>
              <a:ext cx="431482" cy="46767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8361068" y="3678555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150" name="Rectangle 150"/>
            <p:cNvSpPr/>
            <p:nvPr/>
          </p:nvSpPr>
          <p:spPr>
            <a:xfrm>
              <a:off x="8638222" y="3500438"/>
              <a:ext cx="431482" cy="46767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51" name="TextBox 151"/>
            <p:cNvSpPr txBox="1"/>
            <p:nvPr/>
          </p:nvSpPr>
          <p:spPr>
            <a:xfrm>
              <a:off x="8792550" y="3678555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152" name="Rectangle 152"/>
            <p:cNvSpPr/>
            <p:nvPr/>
          </p:nvSpPr>
          <p:spPr>
            <a:xfrm>
              <a:off x="9069705" y="3500438"/>
              <a:ext cx="431482" cy="46767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53" name="TextBox 153"/>
            <p:cNvSpPr txBox="1"/>
            <p:nvPr/>
          </p:nvSpPr>
          <p:spPr>
            <a:xfrm>
              <a:off x="9207231" y="367855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154" name="Rectangle 154"/>
            <p:cNvSpPr/>
            <p:nvPr/>
          </p:nvSpPr>
          <p:spPr>
            <a:xfrm>
              <a:off x="9501188" y="3500438"/>
              <a:ext cx="431482" cy="46767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55" name="TextBox 155"/>
            <p:cNvSpPr txBox="1"/>
            <p:nvPr/>
          </p:nvSpPr>
          <p:spPr>
            <a:xfrm>
              <a:off x="9638713" y="367855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156" name="Rectangle 156"/>
            <p:cNvSpPr/>
            <p:nvPr/>
          </p:nvSpPr>
          <p:spPr>
            <a:xfrm>
              <a:off x="9932670" y="3500438"/>
              <a:ext cx="431482" cy="46767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7" name="TextBox 157"/>
            <p:cNvSpPr txBox="1"/>
            <p:nvPr/>
          </p:nvSpPr>
          <p:spPr>
            <a:xfrm>
              <a:off x="10056754" y="3678555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ME</a:t>
              </a:r>
            </a:p>
          </p:txBody>
        </p:sp>
        <p:sp>
          <p:nvSpPr>
            <p:cNvPr id="158" name="Rectangle 158"/>
            <p:cNvSpPr/>
            <p:nvPr/>
          </p:nvSpPr>
          <p:spPr>
            <a:xfrm>
              <a:off x="10364152" y="3500438"/>
              <a:ext cx="431482" cy="46767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9" name="TextBox 159"/>
            <p:cNvSpPr txBox="1"/>
            <p:nvPr/>
          </p:nvSpPr>
          <p:spPr>
            <a:xfrm>
              <a:off x="10488237" y="3678555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ME</a:t>
              </a:r>
            </a:p>
          </p:txBody>
        </p:sp>
        <p:sp>
          <p:nvSpPr>
            <p:cNvPr id="160" name="Rectangle 160"/>
            <p:cNvSpPr/>
            <p:nvPr/>
          </p:nvSpPr>
          <p:spPr>
            <a:xfrm>
              <a:off x="10795635" y="3500438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10919719" y="3678555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162" name="Rectangle 162"/>
            <p:cNvSpPr/>
            <p:nvPr/>
          </p:nvSpPr>
          <p:spPr>
            <a:xfrm>
              <a:off x="11227118" y="3500438"/>
              <a:ext cx="431482" cy="4676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63" name="TextBox 163"/>
            <p:cNvSpPr txBox="1"/>
            <p:nvPr/>
          </p:nvSpPr>
          <p:spPr>
            <a:xfrm>
              <a:off x="11351202" y="3678555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</p:grpSp>
      <p:grpSp>
        <p:nvGrpSpPr>
          <p:cNvPr id="166" name="c2-text-2"/>
          <p:cNvGrpSpPr/>
          <p:nvPr/>
        </p:nvGrpSpPr>
        <p:grpSpPr>
          <a:xfrm>
            <a:off x="5376862" y="4161949"/>
            <a:ext cx="5985510" cy="441008"/>
            <a:chOff x="5376862" y="4161949"/>
            <a:chExt cx="5985510" cy="441008"/>
          </a:xfrm>
        </p:grpSpPr>
        <p:sp>
          <p:nvSpPr>
            <p:cNvPr id="165" name="TextBox 165"/>
            <p:cNvSpPr txBox="1"/>
            <p:nvPr/>
          </p:nvSpPr>
          <p:spPr>
            <a:xfrm>
              <a:off x="5376862" y="4161949"/>
              <a:ext cx="598551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每格半个时钟周期，一段占一个时钟周期（两格）。每半个周期流出一条，一个时钟周期流出两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条，这就是每周期分时流出两条指令的超流水线（ME 即 MEM）。</a:t>
              </a:r>
            </a:p>
          </p:txBody>
        </p:sp>
      </p:grpSp>
      <p:grpSp>
        <p:nvGrpSpPr>
          <p:cNvPr id="173" name="c2-callout-3"/>
          <p:cNvGrpSpPr/>
          <p:nvPr/>
        </p:nvGrpSpPr>
        <p:grpSpPr>
          <a:xfrm>
            <a:off x="5382578" y="4733925"/>
            <a:ext cx="6276022" cy="1473518"/>
            <a:chOff x="5382578" y="4733925"/>
            <a:chExt cx="6276022" cy="1473518"/>
          </a:xfrm>
        </p:grpSpPr>
        <p:sp>
          <p:nvSpPr>
            <p:cNvPr id="167" name="Rectangle 167"/>
            <p:cNvSpPr/>
            <p:nvPr/>
          </p:nvSpPr>
          <p:spPr>
            <a:xfrm>
              <a:off x="5382578" y="4733925"/>
              <a:ext cx="6276022" cy="1473518"/>
            </a:xfrm>
            <a:prstGeom prst="roundRect">
              <a:avLst>
                <a:gd name="adj" fmla="val 775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1" name="Group 171"/>
            <p:cNvGrpSpPr/>
            <p:nvPr/>
          </p:nvGrpSpPr>
          <p:grpSpPr>
            <a:xfrm>
              <a:off x="5587365" y="5371148"/>
              <a:ext cx="200026" cy="200025"/>
              <a:chOff x="5587365" y="5371148"/>
              <a:chExt cx="200026" cy="200025"/>
            </a:xfrm>
          </p:grpSpPr>
          <p:sp>
            <p:nvSpPr>
              <p:cNvPr id="168" name="Freeform 168"/>
              <p:cNvSpPr/>
              <p:nvPr/>
            </p:nvSpPr>
            <p:spPr>
              <a:xfrm>
                <a:off x="5587365" y="53711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9" name="Freeform 169"/>
              <p:cNvSpPr/>
              <p:nvPr/>
            </p:nvSpPr>
            <p:spPr>
              <a:xfrm>
                <a:off x="5627104" y="54155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0" name="Freeform 170"/>
              <p:cNvSpPr/>
              <p:nvPr/>
            </p:nvSpPr>
            <p:spPr>
              <a:xfrm>
                <a:off x="5661819" y="55267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72" name="TextBox 172"/>
            <p:cNvSpPr txBox="1"/>
            <p:nvPr/>
          </p:nvSpPr>
          <p:spPr>
            <a:xfrm>
              <a:off x="5890070" y="5252085"/>
              <a:ext cx="525151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 条指令在普通 5 段流水线上要 5 + 4 = 9 个时钟，在图中的超流水线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上要 5 + 4/2 = 7 个时钟；指令越多，比值越接近 2。</a:t>
              </a:r>
            </a:p>
          </p:txBody>
        </p:sp>
      </p:grpSp>
      <p:grpSp>
        <p:nvGrpSpPr>
          <p:cNvPr id="1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4" name="TextBox 174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57421" cy="909257"/>
            <a:chOff x="520446" y="342900"/>
            <a:chExt cx="90574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 · 多指令流出技术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574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超流水实例 MIPS R4000：取指、取数各拆成两段，共 8 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4" name="c1-cells-1"/>
          <p:cNvGrpSpPr/>
          <p:nvPr/>
        </p:nvGrpSpPr>
        <p:grpSpPr>
          <a:xfrm>
            <a:off x="528447" y="1524000"/>
            <a:ext cx="5631371" cy="1549241"/>
            <a:chOff x="528447" y="1524000"/>
            <a:chExt cx="5631371" cy="1549241"/>
          </a:xfrm>
        </p:grpSpPr>
        <p:sp>
          <p:nvSpPr>
            <p:cNvPr id="7" name="TextBox 7"/>
            <p:cNvSpPr txBox="1"/>
            <p:nvPr/>
          </p:nvSpPr>
          <p:spPr>
            <a:xfrm>
              <a:off x="528447" y="1673066"/>
              <a:ext cx="3499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指令1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87742" y="15240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8712" y="1673066"/>
              <a:ext cx="134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04950" y="15240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95919" y="1673066"/>
              <a:ext cx="134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022158" y="15240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94831" y="167306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RF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539365" y="15240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712039" y="167306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056572" y="15240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29246" y="167306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573780" y="15240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747406" y="167306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090988" y="15240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64614" y="167306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608195" y="15240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67185" y="167306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125402" y="1524000"/>
              <a:ext cx="51720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642610" y="1524000"/>
              <a:ext cx="51720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8447" y="2130266"/>
              <a:ext cx="3499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指令2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87742" y="1981200"/>
              <a:ext cx="51720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504950" y="19812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695919" y="2130266"/>
              <a:ext cx="134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022158" y="19812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213127" y="2130266"/>
              <a:ext cx="134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539365" y="19812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712039" y="213026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RF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056572" y="19812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229246" y="213026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573780" y="19812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747406" y="213026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090988" y="19812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264614" y="213026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DS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608195" y="19812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781821" y="213026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125402" y="19812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84392" y="213026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642610" y="1981200"/>
              <a:ext cx="51720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8447" y="2587466"/>
              <a:ext cx="3499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指令3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87742" y="2438400"/>
              <a:ext cx="51720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504950" y="2438400"/>
              <a:ext cx="51720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2022158" y="24384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213127" y="2587466"/>
              <a:ext cx="134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539365" y="24384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730334" y="2587466"/>
              <a:ext cx="134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056572" y="24384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229246" y="258746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RF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3573780" y="24384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747406" y="258746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090988" y="24384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264614" y="258746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608195" y="24384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781821" y="258746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DS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125402" y="24384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299029" y="258746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642610" y="2438400"/>
              <a:ext cx="517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801600" y="258746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210751" y="29113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727958" y="29113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245166" y="29113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762373" y="29113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279581" y="29113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797741" y="29113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314948" y="29113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832156" y="29113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349363" y="29113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836214" y="29113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76" name="c1-text-2"/>
          <p:cNvGrpSpPr/>
          <p:nvPr/>
        </p:nvGrpSpPr>
        <p:grpSpPr>
          <a:xfrm>
            <a:off x="526923" y="3250406"/>
            <a:ext cx="5361178" cy="500824"/>
            <a:chOff x="526923" y="3250406"/>
            <a:chExt cx="5361178" cy="500824"/>
          </a:xfrm>
        </p:grpSpPr>
        <p:sp>
          <p:nvSpPr>
            <p:cNvPr id="75" name="TextBox 75"/>
            <p:cNvSpPr txBox="1"/>
            <p:nvPr/>
          </p:nvSpPr>
          <p:spPr>
            <a:xfrm>
              <a:off x="526923" y="3250406"/>
              <a:ext cx="5361178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每格是一个流水线周期（R4000 的流水线周期是外部时钟的一半）。8 段流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水，稳态下每个流水线周期流出一条指令。</a:t>
              </a:r>
            </a:p>
          </p:txBody>
        </p:sp>
      </p:grpSp>
      <p:grpSp>
        <p:nvGrpSpPr>
          <p:cNvPr id="83" name="c1-callout-3"/>
          <p:cNvGrpSpPr/>
          <p:nvPr/>
        </p:nvGrpSpPr>
        <p:grpSpPr>
          <a:xfrm>
            <a:off x="533400" y="3890962"/>
            <a:ext cx="5626418" cy="1672590"/>
            <a:chOff x="533400" y="3890962"/>
            <a:chExt cx="5626418" cy="1672590"/>
          </a:xfrm>
        </p:grpSpPr>
        <p:sp>
          <p:nvSpPr>
            <p:cNvPr id="77" name="Rectangle 77"/>
            <p:cNvSpPr/>
            <p:nvPr/>
          </p:nvSpPr>
          <p:spPr>
            <a:xfrm>
              <a:off x="533400" y="3890962"/>
              <a:ext cx="5626418" cy="1672590"/>
            </a:xfrm>
            <a:prstGeom prst="roundRect">
              <a:avLst>
                <a:gd name="adj" fmla="val 683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8188" y="4627245"/>
              <a:ext cx="200026" cy="200025"/>
              <a:chOff x="738188" y="4627245"/>
              <a:chExt cx="200026" cy="200025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46272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77926" y="46716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12642" y="47828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0130" y="4346258"/>
              <a:ext cx="45967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取指令和取数据都要访问 Cache，是最慢的两步，所以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各拆成前后两半，让每一段都能跟上更短的流水线周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期。</a:t>
              </a:r>
            </a:p>
          </p:txBody>
        </p:sp>
      </p:grpSp>
      <p:grpSp>
        <p:nvGrpSpPr>
          <p:cNvPr id="116" name="c2-table-1"/>
          <p:cNvGrpSpPr/>
          <p:nvPr/>
        </p:nvGrpSpPr>
        <p:grpSpPr>
          <a:xfrm>
            <a:off x="6464618" y="1524000"/>
            <a:ext cx="5193982" cy="4039553"/>
            <a:chOff x="6464618" y="1524000"/>
            <a:chExt cx="5193982" cy="4039553"/>
          </a:xfrm>
        </p:grpSpPr>
        <p:sp>
          <p:nvSpPr>
            <p:cNvPr id="84" name="Rectangle 84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735839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24619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572441" y="2108359"/>
              <a:ext cx="1754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300151" y="2108359"/>
              <a:ext cx="33186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取指令前半步：按 PC 启动指令 Cache 访问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572441" y="2556986"/>
              <a:ext cx="1754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300151" y="2556986"/>
              <a:ext cx="283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取指令后半步：完成指令 Cache 访问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572441" y="300561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RF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300151" y="3005614"/>
              <a:ext cx="42153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译码、读寄存器、冲突检测，判断指令 Cache 是否命中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464618" y="33147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6464618" y="331946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572441" y="345424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300151" y="3454241"/>
              <a:ext cx="43311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执行：有效地址、ALU 操作、分支目标地址、条件码测试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6464618" y="37633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572441" y="390382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300151" y="3903821"/>
              <a:ext cx="283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取数据前半步：启动数据 Cache 访问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6464618" y="421195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6464618" y="4216718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572441" y="435244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DS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300151" y="4352449"/>
              <a:ext cx="283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取数据后半步：完成数据 Cache 访问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6464618" y="466058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6572441" y="480107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300151" y="4801076"/>
              <a:ext cx="31814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标识比较，判断数据 Cache 访问是否命中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6464618" y="51101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6464618" y="511492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6572441" y="5249704"/>
              <a:ext cx="261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7300151" y="5249704"/>
              <a:ext cx="28130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 或运算指令把结果写回寄存器组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6464618" y="1524000"/>
              <a:ext cx="5193982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7187565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7" name="TextBox 117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自测题（一）概念辨析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194560" cy="264033"/>
            <a:chOff x="526542" y="1545907"/>
            <a:chExt cx="219456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914525"/>
            <a:chOff x="533400" y="1928812"/>
            <a:chExt cx="5410200" cy="19145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476824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DIV.D F10,F0,F2；SUB.D F10,F4,F6；ADD.D F6,F8,F14 三条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指令之间有哪些相关？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484098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 与 SUB 都写 F10，是 WAW（输出相关）；SUB 读 F6、ADD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F6，是 WAR（反相关）；没有 RAW。两处都是名相关，换名即可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消除。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08120"/>
            <a:ext cx="5410200" cy="1671638"/>
            <a:chOff x="533400" y="4008120"/>
            <a:chExt cx="5410200" cy="1671638"/>
          </a:xfrm>
        </p:grpSpPr>
        <p:sp>
          <p:nvSpPr>
            <p:cNvPr id="15" name="Rectangle 15"/>
            <p:cNvSpPr/>
            <p:nvPr/>
          </p:nvSpPr>
          <p:spPr>
            <a:xfrm>
              <a:off x="533400" y="4008120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529614"/>
              <a:ext cx="4519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延迟槽“从目标处调度”适合什么样的分支？猜错时怎么办？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814411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适合成功概率高的分支，如循环末尾的回跳。它永远猜成功，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猜错时要丢弃槽内指令的结果，或保证这条指令在失败路径上执行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也无害。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914525"/>
            <a:chOff x="6248400" y="1928812"/>
            <a:chExt cx="5410200" cy="1914525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记分牌在哪一步消除哪种冲突？为什么名相关造成的停顿它消不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掉，Tomasulo 能？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977991"/>
              <a:ext cx="483285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流出消除结构冲突和 WAW，读数消除 RAW，写结果消除 WAR。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记分牌只能让指令等；Tomasulo 在流出时把寄存器名换成数据或保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留站号，名相关不再存在。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4008120"/>
            <a:ext cx="5410200" cy="1671638"/>
            <a:chOff x="6248400" y="4008120"/>
            <a:chExt cx="5410200" cy="1671638"/>
          </a:xfrm>
        </p:grpSpPr>
        <p:sp>
          <p:nvSpPr>
            <p:cNvPr id="27" name="Rectangle 27"/>
            <p:cNvSpPr/>
            <p:nvPr/>
          </p:nvSpPr>
          <p:spPr>
            <a:xfrm>
              <a:off x="6248400" y="4008120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52961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前瞻执行为什么能实现精确异常？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4814411"/>
              <a:ext cx="480034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结果先放在 ROB 里，按程序顺序确认；没确认的指令不改变机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器状态。异常要等该指令到达 ROB 头部才处理，同时清空 ROB 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保留站，此时前面的指令都已确认，后面的全部作废。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65654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判断相关先看同一个寄存器：先写后读是 RAW，先读后写是 WAR，两次都写是 WAW。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974690" cy="264033"/>
            <a:chOff x="526542" y="1545907"/>
            <a:chExt cx="597469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9746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周期表题先逐条定流出周期，再往后推；结果用第 33、46 页的例题对照。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914525"/>
            <a:chOff x="533400" y="1928812"/>
            <a:chExt cx="5410200" cy="19145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4740199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Tomasulo 例题中 MEM 段由 3 个周期改为 5 个周期（原课件习题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3.1），重新给出周期表。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479221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1、2、3–7、8；MUL 2、9–18、19；ST 3、4、MEM 20–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24；SUB 4、5–8、9；ADD 10、11–14、15。第 14 周期末的状态表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与原例题相同。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08120"/>
            <a:ext cx="5410200" cy="1671638"/>
            <a:chOff x="533400" y="4008120"/>
            <a:chExt cx="5410200" cy="1671638"/>
          </a:xfrm>
        </p:grpSpPr>
        <p:sp>
          <p:nvSpPr>
            <p:cNvPr id="15" name="Rectangle 15"/>
            <p:cNvSpPr/>
            <p:nvPr/>
          </p:nvSpPr>
          <p:spPr>
            <a:xfrm>
              <a:off x="533400" y="4008120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529614"/>
              <a:ext cx="482838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一个循环每次执行 4 遍（前 3 次成功，最后 1 次失败），整个循环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被反复执行。1 位、2 位 BHT 的准确率各是多少？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5057299"/>
              <a:ext cx="47190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位：每次第 1 遍和第 4 遍猜错，准确率 2/4 = 50%；2 位：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只有第 4 遍猜错，准确率 3/4 = 75%。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671638"/>
            <a:chOff x="6248400" y="1928812"/>
            <a:chExt cx="5410200" cy="1671638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45185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前瞻执行例题中 MEM 段改为 5 个周期，各指令何时确认？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735104"/>
              <a:ext cx="478409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第 8 周期写 CDB、第 9 周期确认；MUL 19、20；ST 第 21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周期确认，22–26 写存储器；SUB、BNEZ、ADD 依次在第 22、23、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 周期确认。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765232"/>
            <a:ext cx="5410200" cy="1914525"/>
            <a:chOff x="6248400" y="3765232"/>
            <a:chExt cx="5410200" cy="1914525"/>
          </a:xfrm>
        </p:grpSpPr>
        <p:sp>
          <p:nvSpPr>
            <p:cNvPr id="27" name="Rectangle 27"/>
            <p:cNvSpPr/>
            <p:nvPr/>
          </p:nvSpPr>
          <p:spPr>
            <a:xfrm>
              <a:off x="6248400" y="376523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286726"/>
              <a:ext cx="48734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静态超标量例题展开 6 轮，最少要多少个周期？每轮平均多少？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4571524"/>
              <a:ext cx="48328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整数槽要 6 个 LD、6 个 ST、SUBI、BNEZ 共 14 条，至少 14 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周期，可以排满；每轮约 2.33 个周期。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83444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改 MEM 周期的题：只有 LD、ST 的时间变，其余指令受影响与否要看它们是否依赖 LD 或排在 ST 之后确认。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84566" cy="909257"/>
            <a:chOff x="520446" y="342900"/>
            <a:chExt cx="14845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7161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4485" y="407194"/>
              <a:ext cx="1288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指令级并行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bullets-1"/>
          <p:cNvGrpSpPr/>
          <p:nvPr/>
        </p:nvGrpSpPr>
        <p:grpSpPr>
          <a:xfrm>
            <a:off x="533400" y="1532572"/>
            <a:ext cx="5987376" cy="1939862"/>
            <a:chOff x="533400" y="1532572"/>
            <a:chExt cx="5987376" cy="1939862"/>
          </a:xfrm>
        </p:grpSpPr>
        <p:sp>
          <p:nvSpPr>
            <p:cNvPr id="7" name="Ellipse 7"/>
            <p:cNvSpPr/>
            <p:nvPr/>
          </p:nvSpPr>
          <p:spPr>
            <a:xfrm>
              <a:off x="533400" y="1532572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5334" y="156138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2858" y="1541145"/>
              <a:ext cx="4878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相关是程序的属性，冲突是流水线的属性；WAR、WAW 是名相关，换名可消除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786890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5334" y="181570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2858" y="1795462"/>
              <a:ext cx="5478018" cy="4053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静态处理分支靠编译器：延迟槽有从前、从目标处、从失败处三种填法，分支取消统一了填槽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241232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5334" y="227004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858" y="2249805"/>
              <a:ext cx="4763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记分牌：按序流出、乱序执行，IS 查结构和 WAW，RO 查 RAW，WB 查 WAR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94598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5334" y="252436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2858" y="2504123"/>
              <a:ext cx="36068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Tomasulo：保留站换名，CDB 广播，名相关不再引起停顿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48915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5334" y="2778681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858" y="2758440"/>
              <a:ext cx="4484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BHT 预测是否成功，2 位比 1 位少错一次；BTB 在 IF 段就给出目标地址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3003232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5334" y="3032998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2858" y="3012758"/>
              <a:ext cx="3300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前瞻执行：结果先进 ROB，按序确认，支持精确异常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3257550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5334" y="328731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2858" y="3267075"/>
              <a:ext cx="57479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多流出：静态超标量、VLIW 靠编译器和循环展开，动态超标量靠硬件，超流水靠切细流水段</a:t>
              </a:r>
            </a:p>
          </p:txBody>
        </p:sp>
      </p:grpSp>
      <p:grpSp>
        <p:nvGrpSpPr>
          <p:cNvPr id="41" name="c1-card-2"/>
          <p:cNvGrpSpPr/>
          <p:nvPr/>
        </p:nvGrpSpPr>
        <p:grpSpPr>
          <a:xfrm>
            <a:off x="533400" y="3595688"/>
            <a:ext cx="6059805" cy="2727960"/>
            <a:chOff x="533400" y="3595688"/>
            <a:chExt cx="6059805" cy="2727960"/>
          </a:xfrm>
        </p:grpSpPr>
        <p:sp>
          <p:nvSpPr>
            <p:cNvPr id="29" name="Rectangle 29"/>
            <p:cNvSpPr/>
            <p:nvPr/>
          </p:nvSpPr>
          <p:spPr>
            <a:xfrm>
              <a:off x="533400" y="3595688"/>
              <a:ext cx="6059805" cy="2727960"/>
            </a:xfrm>
            <a:prstGeom prst="roundRect">
              <a:avLst>
                <a:gd name="adj" fmla="val 48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729038"/>
              <a:ext cx="47625" cy="24612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3776662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4642" y="38095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16909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116229"/>
              <a:ext cx="4849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记分牌例题违反按序流出和 WAW 检查，已重算（第24页）；伪代码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f.Qk0、op 的第二操作数、写结果的等待条件（第21、22页）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469677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4644866"/>
              <a:ext cx="50848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位 BHT 准确率应为 80%（第38页）；ROB 例题 R1 仍被 ROB4 预约，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BNEZ 的 Value 为条件码（第47页）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62000" y="522446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7448" y="5172551"/>
              <a:ext cx="49872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轮展开可 10 周期，加速比约 4.17（第54页）；机型号 CDC 6600、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IBM 360/91 等被误印为 61350、3135/91（第18、27页）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62000" y="575214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17448" y="5700236"/>
              <a:ext cx="52230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VLIW 例题把 SUBI 的延迟备注写成浮点计算（第60页）；记分牌题面 ADD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的操作数顺序与答案不一致（第23页）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6898005" y="1524000"/>
            <a:ext cx="4760595" cy="2287905"/>
            <a:chOff x="6898005" y="1524000"/>
            <a:chExt cx="4760595" cy="2287905"/>
          </a:xfrm>
        </p:grpSpPr>
        <p:sp>
          <p:nvSpPr>
            <p:cNvPr id="42" name="Rectangle 42"/>
            <p:cNvSpPr/>
            <p:nvPr/>
          </p:nvSpPr>
          <p:spPr>
            <a:xfrm>
              <a:off x="6898005" y="1524000"/>
              <a:ext cx="4760595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1711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27692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92684" y="2023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名相关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25231" y="202311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用同一个名字但没有数据流动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898005" y="228219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898005" y="2286952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92684" y="2404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延迟槽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25231" y="240411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分支后无论成败都执行的位置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898005" y="266319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92684" y="2785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保留站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25231" y="278511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存操作数的值或生产者标识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898005" y="30451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98005" y="3049905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92684" y="3167062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CDB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25231" y="316706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一对多广播结果的总线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898005" y="34261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92684" y="3548062"/>
              <a:ext cx="3007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25231" y="354806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前瞻结果按序确认的缓冲器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898005" y="1524000"/>
              <a:ext cx="476059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822579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rd-2"/>
          <p:cNvGrpSpPr/>
          <p:nvPr/>
        </p:nvGrpSpPr>
        <p:grpSpPr>
          <a:xfrm>
            <a:off x="6898005" y="3976688"/>
            <a:ext cx="4760595" cy="1386840"/>
            <a:chOff x="6898005" y="3976688"/>
            <a:chExt cx="4760595" cy="1386840"/>
          </a:xfrm>
        </p:grpSpPr>
        <p:sp>
          <p:nvSpPr>
            <p:cNvPr id="64" name="Rectangle 64"/>
            <p:cNvSpPr/>
            <p:nvPr/>
          </p:nvSpPr>
          <p:spPr>
            <a:xfrm>
              <a:off x="6898005" y="3976688"/>
              <a:ext cx="4760595" cy="1386840"/>
            </a:xfrm>
            <a:prstGeom prst="roundRect">
              <a:avLst>
                <a:gd name="adj" fmla="val 9615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078980" y="4157662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148297" y="41905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与前面各章的联系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072503" y="4498181"/>
              <a:ext cx="41257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第1章的并行性等级里，指令级并行是最底层的一级；第7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章 体系结构中的流水线与超标量处理器，就是本章这些技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术的载体。</a:t>
              </a:r>
            </a:p>
          </p:txBody>
        </p:sp>
      </p:grpSp>
      <p:grpSp>
        <p:nvGrpSpPr>
          <p:cNvPr id="75" name="c2-callout-3"/>
          <p:cNvGrpSpPr/>
          <p:nvPr/>
        </p:nvGrpSpPr>
        <p:grpSpPr>
          <a:xfrm>
            <a:off x="6898005" y="5529262"/>
            <a:ext cx="4760595" cy="794385"/>
            <a:chOff x="6898005" y="5529262"/>
            <a:chExt cx="4760595" cy="794385"/>
          </a:xfrm>
        </p:grpSpPr>
        <p:sp>
          <p:nvSpPr>
            <p:cNvPr id="69" name="Rectangle 69"/>
            <p:cNvSpPr/>
            <p:nvPr/>
          </p:nvSpPr>
          <p:spPr>
            <a:xfrm>
              <a:off x="6898005" y="5529262"/>
              <a:ext cx="4760595" cy="794385"/>
            </a:xfrm>
            <a:prstGeom prst="roundRect">
              <a:avLst>
                <a:gd name="adj" fmla="val 1438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102793" y="5826443"/>
              <a:ext cx="200026" cy="200025"/>
              <a:chOff x="7102793" y="5826443"/>
              <a:chExt cx="200026" cy="20002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102793" y="58264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142531" y="58708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177247" y="59820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7405878" y="5719286"/>
              <a:ext cx="38087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复习时动手做三张周期表：记分牌、Tomasulo、前瞻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执行；再算一遍循环展开后的周期数和加速比。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第10章 指令级并行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dc_ch10">
  <a:themeElements>
    <a:clrScheme name="pdc_ch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dc_ch10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dc_ch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2026-09-23T09:45:00Z</dcterms:created>
  <dcterms:modified xsi:type="dcterms:W3CDTF">2026-09-23T09:45:00Z</dcterms:modified>
  <cp:category/>
  <cp:contentStatus/>
</cp:coreProperties>
</file>