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dc_ch08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dc_ch08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ef0902d35a68f66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28c762c79521a45.png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323bbb688efc5a8.png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9661" t="0" r="9661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874514" cy="3437763"/>
            <a:chOff x="666750" y="1619250"/>
            <a:chExt cx="487451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139315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7463" y="1718310"/>
              <a:ext cx="1915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并行与分布式计算 · 第8章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并行计算模型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用几个参数描述并行机，在纸上分析并行算法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并行算法的复杂性度量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337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PRAM 与 APRAM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037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BSP 与 LogP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65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Multi-BSP 层次模型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32846" cy="205359"/>
            <a:chOff x="680466" y="6192202"/>
            <a:chExt cx="4632846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32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自学复习版｜据吉林大学《并行与分布式计算》第8章课件整理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并行算法基础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定义、三组分类、时间与空间复杂度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复杂性度量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9907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运行时间、处理机数、成本与成本最优、Brent 定理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共享存储模型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1640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PRAM 及其三种读写模式，异步的 APRAM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415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 模型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超级步、h-relation、路障同步、代价公式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7269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LogP 与模型比较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8697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L、o、g、P 四个参数，四种模型对照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319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Multi-BSP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7920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层次树、每层四个参数、Niagara 实例、算法评价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算出并行算法的成本，判断它是否成本最优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5088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446020"/>
              <a:ext cx="39605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Brent 定理估算 p 台处理器上的运行时间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28441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2781300"/>
              <a:ext cx="3729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 EREW、CREW、CRCW，说出 CRCW 的三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种写冲突规则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46519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40233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由各超级步的参数算出 BSP 程序的总时间和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效率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08622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023360"/>
              <a:ext cx="38275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LogP 参数算单条消息和连续发送的时间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67588" y="44215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25702" y="4358640"/>
              <a:ext cx="3110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Multi-BSP 每层的四个参数，用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Niagara 例子算 Pᵢ、Mᵢ、Gᵢ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并行算法基础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先有度量的尺子，才谈得上比较两个并行算法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 部分：并行算法基础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并行算法的定义与分类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串行算法的复杂度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718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运行时间、成本与 Brent 定理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并行算法基础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并行算法：一组能同时执行、相互协调的进程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316355"/>
            <a:chOff x="533400" y="1524000"/>
            <a:chExt cx="5410200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解题方法的精确描述，是一组有穷的规则，规定了解决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某一类特定问题的一系列运算。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030855"/>
            <a:ext cx="5410200" cy="1602105"/>
            <a:chOff x="533400" y="3030855"/>
            <a:chExt cx="5410200" cy="1602105"/>
          </a:xfrm>
        </p:grpSpPr>
        <p:sp>
          <p:nvSpPr>
            <p:cNvPr id="13" name="Rectangle 13"/>
            <p:cNvSpPr/>
            <p:nvPr/>
          </p:nvSpPr>
          <p:spPr>
            <a:xfrm>
              <a:off x="533400" y="303085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16420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2404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3359" y="32761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并行算法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361759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适合在各种并行计算机上求解问题和处理数据的算法。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它是一些可同时执行的诸进程的集合，这些进程相互作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用、协调动作，共同求出给定问题的解。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4823460"/>
            <a:ext cx="5410200" cy="1059180"/>
            <a:chOff x="533400" y="4823460"/>
            <a:chExt cx="5410200" cy="1059180"/>
          </a:xfrm>
        </p:grpSpPr>
        <p:sp>
          <p:nvSpPr>
            <p:cNvPr id="19" name="Rectangle 19"/>
            <p:cNvSpPr/>
            <p:nvPr/>
          </p:nvSpPr>
          <p:spPr>
            <a:xfrm>
              <a:off x="533400" y="482346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253038"/>
              <a:ext cx="200026" cy="200025"/>
              <a:chOff x="738188" y="5253038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2530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52974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54086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972050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右图每个圆是一次加法。同一层的加法互不依赖，可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以交给不同进程同时做；上一层要等下一层的结果，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这就是进程间的“相互作用和协调”。</a:t>
              </a:r>
            </a:p>
          </p:txBody>
        </p:sp>
      </p:grpSp>
      <p:grpSp>
        <p:nvGrpSpPr>
          <p:cNvPr id="70" name="c2-tree-1"/>
          <p:cNvGrpSpPr/>
          <p:nvPr/>
        </p:nvGrpSpPr>
        <p:grpSpPr>
          <a:xfrm>
            <a:off x="6376988" y="1766888"/>
            <a:ext cx="5153024" cy="3133724"/>
            <a:chOff x="6376988" y="1766888"/>
            <a:chExt cx="5153024" cy="3133724"/>
          </a:xfrm>
        </p:grpSpPr>
        <p:sp>
          <p:nvSpPr>
            <p:cNvPr id="26" name="Freeform 26"/>
            <p:cNvSpPr/>
            <p:nvPr/>
          </p:nvSpPr>
          <p:spPr>
            <a:xfrm>
              <a:off x="6586538" y="3786188"/>
              <a:ext cx="338138" cy="904875"/>
            </a:xfrm>
            <a:custGeom>
              <a:avLst/>
              <a:gdLst/>
              <a:ahLst/>
              <a:cxnLst/>
              <a:rect l="l" t="t" r="r" b="b"/>
              <a:pathLst>
                <a:path w="338138" h="904875">
                  <a:moveTo>
                    <a:pt x="338138" y="0"/>
                  </a:moveTo>
                  <a:lnTo>
                    <a:pt x="0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924675" y="3786188"/>
              <a:ext cx="338138" cy="904875"/>
            </a:xfrm>
            <a:custGeom>
              <a:avLst/>
              <a:gdLst/>
              <a:ahLst/>
              <a:cxnLst/>
              <a:rect l="l" t="t" r="r" b="b"/>
              <a:pathLst>
                <a:path w="338138" h="904875">
                  <a:moveTo>
                    <a:pt x="0" y="0"/>
                  </a:moveTo>
                  <a:lnTo>
                    <a:pt x="338138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939088" y="3786188"/>
              <a:ext cx="338138" cy="904875"/>
            </a:xfrm>
            <a:custGeom>
              <a:avLst/>
              <a:gdLst/>
              <a:ahLst/>
              <a:cxnLst/>
              <a:rect l="l" t="t" r="r" b="b"/>
              <a:pathLst>
                <a:path w="338138" h="904875">
                  <a:moveTo>
                    <a:pt x="338138" y="0"/>
                  </a:moveTo>
                  <a:lnTo>
                    <a:pt x="0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277225" y="3786188"/>
              <a:ext cx="338138" cy="904875"/>
            </a:xfrm>
            <a:custGeom>
              <a:avLst/>
              <a:gdLst/>
              <a:ahLst/>
              <a:cxnLst/>
              <a:rect l="l" t="t" r="r" b="b"/>
              <a:pathLst>
                <a:path w="338138" h="904875">
                  <a:moveTo>
                    <a:pt x="0" y="0"/>
                  </a:moveTo>
                  <a:lnTo>
                    <a:pt x="338138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924675" y="2881312"/>
              <a:ext cx="676275" cy="904875"/>
            </a:xfrm>
            <a:custGeom>
              <a:avLst/>
              <a:gdLst/>
              <a:ahLst/>
              <a:cxnLst/>
              <a:rect l="l" t="t" r="r" b="b"/>
              <a:pathLst>
                <a:path w="676275" h="904875">
                  <a:moveTo>
                    <a:pt x="676275" y="0"/>
                  </a:moveTo>
                  <a:lnTo>
                    <a:pt x="0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600950" y="2881312"/>
              <a:ext cx="676275" cy="904875"/>
            </a:xfrm>
            <a:custGeom>
              <a:avLst/>
              <a:gdLst/>
              <a:ahLst/>
              <a:cxnLst/>
              <a:rect l="l" t="t" r="r" b="b"/>
              <a:pathLst>
                <a:path w="676275" h="904875">
                  <a:moveTo>
                    <a:pt x="0" y="0"/>
                  </a:moveTo>
                  <a:lnTo>
                    <a:pt x="676275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291638" y="3786188"/>
              <a:ext cx="338138" cy="904875"/>
            </a:xfrm>
            <a:custGeom>
              <a:avLst/>
              <a:gdLst/>
              <a:ahLst/>
              <a:cxnLst/>
              <a:rect l="l" t="t" r="r" b="b"/>
              <a:pathLst>
                <a:path w="338138" h="904875">
                  <a:moveTo>
                    <a:pt x="338138" y="0"/>
                  </a:moveTo>
                  <a:lnTo>
                    <a:pt x="0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629775" y="3786188"/>
              <a:ext cx="338138" cy="904875"/>
            </a:xfrm>
            <a:custGeom>
              <a:avLst/>
              <a:gdLst/>
              <a:ahLst/>
              <a:cxnLst/>
              <a:rect l="l" t="t" r="r" b="b"/>
              <a:pathLst>
                <a:path w="338138" h="904875">
                  <a:moveTo>
                    <a:pt x="0" y="0"/>
                  </a:moveTo>
                  <a:lnTo>
                    <a:pt x="338138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644188" y="3786188"/>
              <a:ext cx="338138" cy="904875"/>
            </a:xfrm>
            <a:custGeom>
              <a:avLst/>
              <a:gdLst/>
              <a:ahLst/>
              <a:cxnLst/>
              <a:rect l="l" t="t" r="r" b="b"/>
              <a:pathLst>
                <a:path w="338138" h="904875">
                  <a:moveTo>
                    <a:pt x="338138" y="0"/>
                  </a:moveTo>
                  <a:lnTo>
                    <a:pt x="0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982325" y="3786188"/>
              <a:ext cx="338138" cy="904875"/>
            </a:xfrm>
            <a:custGeom>
              <a:avLst/>
              <a:gdLst/>
              <a:ahLst/>
              <a:cxnLst/>
              <a:rect l="l" t="t" r="r" b="b"/>
              <a:pathLst>
                <a:path w="338138" h="904875">
                  <a:moveTo>
                    <a:pt x="0" y="0"/>
                  </a:moveTo>
                  <a:lnTo>
                    <a:pt x="338138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629775" y="2881312"/>
              <a:ext cx="676275" cy="904875"/>
            </a:xfrm>
            <a:custGeom>
              <a:avLst/>
              <a:gdLst/>
              <a:ahLst/>
              <a:cxnLst/>
              <a:rect l="l" t="t" r="r" b="b"/>
              <a:pathLst>
                <a:path w="676275" h="904875">
                  <a:moveTo>
                    <a:pt x="676275" y="0"/>
                  </a:moveTo>
                  <a:lnTo>
                    <a:pt x="0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306050" y="2881312"/>
              <a:ext cx="676275" cy="904875"/>
            </a:xfrm>
            <a:custGeom>
              <a:avLst/>
              <a:gdLst/>
              <a:ahLst/>
              <a:cxnLst/>
              <a:rect l="l" t="t" r="r" b="b"/>
              <a:pathLst>
                <a:path w="676275" h="904875">
                  <a:moveTo>
                    <a:pt x="0" y="0"/>
                  </a:moveTo>
                  <a:lnTo>
                    <a:pt x="676275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600950" y="1976438"/>
              <a:ext cx="1352550" cy="904875"/>
            </a:xfrm>
            <a:custGeom>
              <a:avLst/>
              <a:gdLst/>
              <a:ahLst/>
              <a:cxnLst/>
              <a:rect l="l" t="t" r="r" b="b"/>
              <a:pathLst>
                <a:path w="1352550" h="904875">
                  <a:moveTo>
                    <a:pt x="1352550" y="0"/>
                  </a:moveTo>
                  <a:lnTo>
                    <a:pt x="0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953500" y="1976438"/>
              <a:ext cx="1352550" cy="904875"/>
            </a:xfrm>
            <a:custGeom>
              <a:avLst/>
              <a:gdLst/>
              <a:ahLst/>
              <a:cxnLst/>
              <a:rect l="l" t="t" r="r" b="b"/>
              <a:pathLst>
                <a:path w="1352550" h="904875">
                  <a:moveTo>
                    <a:pt x="0" y="0"/>
                  </a:moveTo>
                  <a:lnTo>
                    <a:pt x="1352550" y="904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376988" y="448151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053262" y="448151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6715125" y="357663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729538" y="448151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405812" y="448151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067675" y="357663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7391400" y="26717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082088" y="448151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758362" y="448151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9420225" y="357663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434638" y="448151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1110912" y="448151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10772775" y="357663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0096500" y="26717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8743950" y="1766888"/>
              <a:ext cx="419100" cy="41910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87150" y="46167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63425" y="46167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71933" y="37118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39700" y="46167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15975" y="46167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a₄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24483" y="37118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48208" y="28070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92250" y="46167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a₅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68525" y="46167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a₆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77033" y="37118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44800" y="46167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a₇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21075" y="46167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a₈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929583" y="37118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253308" y="28070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00758" y="1902143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</p:grpSp>
      <p:grpSp>
        <p:nvGrpSpPr>
          <p:cNvPr id="72" name="c2-text-2"/>
          <p:cNvGrpSpPr/>
          <p:nvPr/>
        </p:nvGrpSpPr>
        <p:grpSpPr>
          <a:xfrm>
            <a:off x="6241923" y="5355431"/>
            <a:ext cx="5076698" cy="500824"/>
            <a:chOff x="6241923" y="5355431"/>
            <a:chExt cx="5076698" cy="500824"/>
          </a:xfrm>
        </p:grpSpPr>
        <p:sp>
          <p:nvSpPr>
            <p:cNvPr id="71" name="TextBox 71"/>
            <p:cNvSpPr txBox="1"/>
            <p:nvPr/>
          </p:nvSpPr>
          <p:spPr>
            <a:xfrm>
              <a:off x="6241923" y="5355431"/>
              <a:ext cx="507669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个数求和：串行做 7 次加法、7 步；并行时第 1 步同时做 4 次加法，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2 步 2 次，第 3 步 1 次，共 3 步。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并行算法基础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并行算法的分类：三组互相独立的划分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33400" y="1524000"/>
            <a:ext cx="11125200" cy="4074796"/>
            <a:chOff x="533400" y="1524000"/>
            <a:chExt cx="11125200" cy="407479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005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6686" y="16454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划分依据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69222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40094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22472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6935" y="20654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运算性质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95716" y="2065496"/>
              <a:ext cx="15605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数值计算 Numerical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87380" y="206549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基于代数关系的一类运算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37460" y="206549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矩阵运算、多项式求解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593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64105"/>
              <a:ext cx="11125200" cy="6467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6935" y="25988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运算性质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95716" y="2485549"/>
              <a:ext cx="11264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非数值计算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Non-Numerical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87380" y="259889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基于比较关系的一类运算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37460" y="259889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排序、选择、搜索、匹配、图论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070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6935" y="32456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要不要等别人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95716" y="3132296"/>
              <a:ext cx="10452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同步运算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Synchronized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87380" y="324564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某些进程必须等待别的进程的结果才能执行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37460" y="3245644"/>
              <a:ext cx="2165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 的超级步、APRAM 的相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6537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658552"/>
              <a:ext cx="11125200" cy="6467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6935" y="389239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要不要等别人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95716" y="3779044"/>
              <a:ext cx="11346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异步运算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Asynchronized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87380" y="389239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某些进程不必等待别的进程的结果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37460" y="389239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异步迭代解方程组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3005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6935" y="454009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下一步怎么定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95716" y="4426744"/>
              <a:ext cx="10858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确定运算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Deterministic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87380" y="454009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每一步都能明确指明下一步如何进行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37460" y="454009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二叉树归约求和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9472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952048"/>
              <a:ext cx="11125200" cy="6467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6935" y="518683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下一步怎么定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295716" y="5186839"/>
              <a:ext cx="16986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随机运算 Randomized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87380" y="5073491"/>
              <a:ext cx="4076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某一步从指定范围内随机选取若干参数，由它们确定下一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步操作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37460" y="518683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随机选主元的快速排序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11125200" cy="40747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2197418" y="1524000"/>
              <a:ext cx="9525" cy="40747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089082" y="1524000"/>
              <a:ext cx="9525" cy="40747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539162" y="1524000"/>
              <a:ext cx="9525" cy="40747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1-callout-2"/>
          <p:cNvGrpSpPr/>
          <p:nvPr/>
        </p:nvGrpSpPr>
        <p:grpSpPr>
          <a:xfrm>
            <a:off x="533400" y="5763578"/>
            <a:ext cx="11125200" cy="599122"/>
            <a:chOff x="533400" y="5763578"/>
            <a:chExt cx="11125200" cy="599122"/>
          </a:xfrm>
        </p:grpSpPr>
        <p:sp>
          <p:nvSpPr>
            <p:cNvPr id="49" name="Rectangle 49"/>
            <p:cNvSpPr/>
            <p:nvPr/>
          </p:nvSpPr>
          <p:spPr>
            <a:xfrm>
              <a:off x="533400" y="5763578"/>
              <a:ext cx="11125200" cy="599122"/>
            </a:xfrm>
            <a:prstGeom prst="roundRect">
              <a:avLst>
                <a:gd name="adj" fmla="val 1907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963603"/>
              <a:ext cx="200026" cy="200026"/>
              <a:chOff x="738188" y="5963603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9636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60302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7088" y="60636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5974556"/>
              <a:ext cx="9490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三组划分彼此独立，一个算法在每组里各占一类。上页的二叉树求和是数值计算、同步运算（每层要等下一层）、确定运算。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并行算法基础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复杂度：时间和空间常常此消彼长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2707958"/>
            <a:chOff x="533400" y="1524000"/>
            <a:chExt cx="5626418" cy="2707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707958"/>
            </a:xfrm>
            <a:prstGeom prst="roundRect">
              <a:avLst>
                <a:gd name="adj" fmla="val 49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4125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058" y="17564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算法的复杂度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97382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为问题规模，f(n) 为 n 的函数。时间复杂度和空间复杂度合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称算法的复杂度。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73177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672239"/>
              <a:ext cx="476643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时间复杂度：运行过程中占用执行时间的量度，记作 T(n) =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O(f(n))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332136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3260884"/>
              <a:ext cx="476643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空间复杂度：运行过程中占用存储空间的量度，记作 S(n) =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O(f(n))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3524" y="3847148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追求较好的时间复杂度，可能使空间复杂度变差，反之亦然。</a:t>
              </a:r>
            </a:p>
          </p:txBody>
        </p:sp>
      </p:grpSp>
      <p:grpSp>
        <p:nvGrpSpPr>
          <p:cNvPr id="38" name="c1-table-2"/>
          <p:cNvGrpSpPr/>
          <p:nvPr/>
        </p:nvGrpSpPr>
        <p:grpSpPr>
          <a:xfrm>
            <a:off x="528066" y="4412932"/>
            <a:ext cx="5631752" cy="1977010"/>
            <a:chOff x="528066" y="4412932"/>
            <a:chExt cx="5631752" cy="1977010"/>
          </a:xfrm>
        </p:grpSpPr>
        <p:sp>
          <p:nvSpPr>
            <p:cNvPr id="18" name="Rectangle 18"/>
            <p:cNvSpPr/>
            <p:nvPr/>
          </p:nvSpPr>
          <p:spPr>
            <a:xfrm>
              <a:off x="533400" y="4412932"/>
              <a:ext cx="5626418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90438" y="4540568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 n 个数有无重复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82390" y="45405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27688" y="454056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额外空间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889" y="49653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两两比较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49574" y="4965382"/>
              <a:ext cx="502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55464" y="4965382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2568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5261610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5889" y="5390198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原地排序后比较相邻元素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49574" y="5390198"/>
              <a:ext cx="819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55464" y="5390198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6807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889" y="58140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用哈希表记下见过的数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49574" y="5814060"/>
              <a:ext cx="7837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 O(n)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55464" y="5814060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412932"/>
              <a:ext cx="5626418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342322" y="441293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748212" y="441293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066" y="6184583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多占空间换来更少的时间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464618" y="1524000"/>
            <a:ext cx="5193982" cy="1840230"/>
            <a:chOff x="6464618" y="1524000"/>
            <a:chExt cx="5193982" cy="1840230"/>
          </a:xfrm>
        </p:grpSpPr>
        <p:sp>
          <p:nvSpPr>
            <p:cNvPr id="39" name="Rectangle 39"/>
            <p:cNvSpPr/>
            <p:nvPr/>
          </p:nvSpPr>
          <p:spPr>
            <a:xfrm>
              <a:off x="6464618" y="1524000"/>
              <a:ext cx="5193982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4142" y="1657350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00838" y="172212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60274" y="17564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串行算法的复杂性度量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708458" y="214312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65048" y="2082641"/>
              <a:ext cx="437870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最坏情况下的复杂度（Worst-Case Complexity）：所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有规模为 n 的输入中最慢的那个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708458" y="273177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65048" y="2672239"/>
              <a:ext cx="432460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期望复杂度（Expected Complexity）：按输入的概率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分布求平均</a:t>
              </a:r>
            </a:p>
          </p:txBody>
        </p:sp>
      </p:grpSp>
      <p:grpSp>
        <p:nvGrpSpPr>
          <p:cNvPr id="64" name="c2-table-2"/>
          <p:cNvGrpSpPr/>
          <p:nvPr/>
        </p:nvGrpSpPr>
        <p:grpSpPr>
          <a:xfrm>
            <a:off x="6459284" y="3544252"/>
            <a:ext cx="5199316" cy="1553147"/>
            <a:chOff x="6459284" y="3544252"/>
            <a:chExt cx="5199316" cy="1553147"/>
          </a:xfrm>
        </p:grpSpPr>
        <p:sp>
          <p:nvSpPr>
            <p:cNvPr id="48" name="Rectangle 48"/>
            <p:cNvSpPr/>
            <p:nvPr/>
          </p:nvSpPr>
          <p:spPr>
            <a:xfrm>
              <a:off x="6464618" y="3544252"/>
              <a:ext cx="5193982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32332" y="36728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36724" y="36728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最坏情况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60380" y="36728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期望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67106" y="40976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36864" y="4097655"/>
              <a:ext cx="502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98976" y="4097655"/>
              <a:ext cx="819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43881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64618" y="4392930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67106" y="452151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顺序查找（一定查到）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6864" y="4521518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次比较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098976" y="4521518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(n+1)/2 次比较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64618" y="3544252"/>
              <a:ext cx="5193982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329612" y="3544252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991725" y="3544252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59284" y="489204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顺序查找假设目标在每个位置的概率相等</a:t>
              </a:r>
            </a:p>
          </p:txBody>
        </p:sp>
      </p:grpSp>
      <p:grpSp>
        <p:nvGrpSpPr>
          <p:cNvPr id="71" name="c2-callout-3"/>
          <p:cNvGrpSpPr/>
          <p:nvPr/>
        </p:nvGrpSpPr>
        <p:grpSpPr>
          <a:xfrm>
            <a:off x="6464618" y="5236845"/>
            <a:ext cx="5193982" cy="1112520"/>
            <a:chOff x="6464618" y="5236845"/>
            <a:chExt cx="5193982" cy="1112520"/>
          </a:xfrm>
        </p:grpSpPr>
        <p:sp>
          <p:nvSpPr>
            <p:cNvPr id="65" name="Rectangle 65"/>
            <p:cNvSpPr/>
            <p:nvPr/>
          </p:nvSpPr>
          <p:spPr>
            <a:xfrm>
              <a:off x="6464618" y="5236845"/>
              <a:ext cx="5193982" cy="1112520"/>
            </a:xfrm>
            <a:prstGeom prst="roundRect">
              <a:avLst>
                <a:gd name="adj" fmla="val 1027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669405" y="5693093"/>
              <a:ext cx="200026" cy="200025"/>
              <a:chOff x="6669405" y="5693093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669405" y="56930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709144" y="57375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743859" y="58486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971729" y="5430679"/>
              <a:ext cx="418033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并行算法沿用这两种度量，但“时间”要重新定义：多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台处理机同时工作，从哪台开始算、算到哪台结束，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见下页。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35922" cy="909257"/>
            <a:chOff x="520446" y="342900"/>
            <a:chExt cx="81359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并行算法基础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359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并行运行时间 t(n)：从第一台开始，到最后一台结束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522095"/>
            <a:chOff x="533400" y="1524000"/>
            <a:chExt cx="4977765" cy="15220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09347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96" y="1756410"/>
              <a:ext cx="9471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运行时间 t(n)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36968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在给定模型上求解规模为 n 的问题所需的时间，即算法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从第一台处理机开始执行，到最后一台处理机执行终止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所需的时间。</a:t>
              </a:r>
            </a:p>
          </p:txBody>
        </p:sp>
      </p:grpSp>
      <p:grpSp>
        <p:nvGrpSpPr>
          <p:cNvPr id="21" name="c1-kv-2"/>
          <p:cNvGrpSpPr/>
          <p:nvPr/>
        </p:nvGrpSpPr>
        <p:grpSpPr>
          <a:xfrm>
            <a:off x="526161" y="3250406"/>
            <a:ext cx="4985004" cy="1111187"/>
            <a:chOff x="526161" y="3250406"/>
            <a:chExt cx="4985004" cy="1111187"/>
          </a:xfrm>
        </p:grpSpPr>
        <p:sp>
          <p:nvSpPr>
            <p:cNvPr id="13" name="TextBox 13"/>
            <p:cNvSpPr txBox="1"/>
            <p:nvPr/>
          </p:nvSpPr>
          <p:spPr>
            <a:xfrm>
              <a:off x="526161" y="3250406"/>
              <a:ext cx="10601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计算时间 tc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01559" y="3250406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在某一处理器上执行运算所需的时间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55377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3666649"/>
              <a:ext cx="10601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通信时间 tr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01559" y="366664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数据从源处理机传到目的处理机所需的时间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97002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161" y="408289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通信复杂度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01559" y="408289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算法在整个执行期间传送的报文总数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4485322"/>
            <a:ext cx="4977765" cy="1819275"/>
            <a:chOff x="533400" y="4485322"/>
            <a:chExt cx="4977765" cy="1819275"/>
          </a:xfrm>
        </p:grpSpPr>
        <p:sp>
          <p:nvSpPr>
            <p:cNvPr id="22" name="Rectangle 22"/>
            <p:cNvSpPr/>
            <p:nvPr/>
          </p:nvSpPr>
          <p:spPr>
            <a:xfrm>
              <a:off x="533400" y="4485322"/>
              <a:ext cx="4977765" cy="1819275"/>
            </a:xfrm>
            <a:prstGeom prst="roundRect">
              <a:avLst>
                <a:gd name="adj" fmla="val 628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26129" y="5291256"/>
              <a:ext cx="224134" cy="192560"/>
              <a:chOff x="726129" y="5291256"/>
              <a:chExt cx="224134" cy="1925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38200" y="536162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6129" y="529125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543941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511" y="5164931"/>
              <a:ext cx="400900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只数加法会以为 3 步就够。分布存储的机器上一次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通信常比一次加法慢得多，tr 往往才是大头。</a:t>
              </a:r>
            </a:p>
          </p:txBody>
        </p:sp>
      </p:grpSp>
      <p:grpSp>
        <p:nvGrpSpPr>
          <p:cNvPr id="71" name="c2-cells-1"/>
          <p:cNvGrpSpPr/>
          <p:nvPr/>
        </p:nvGrpSpPr>
        <p:grpSpPr>
          <a:xfrm>
            <a:off x="5810250" y="1524000"/>
            <a:ext cx="4912995" cy="2275046"/>
            <a:chOff x="5810250" y="1524000"/>
            <a:chExt cx="4912995" cy="2275046"/>
          </a:xfrm>
        </p:grpSpPr>
        <p:sp>
          <p:nvSpPr>
            <p:cNvPr id="29" name="TextBox 29"/>
            <p:cNvSpPr txBox="1"/>
            <p:nvPr/>
          </p:nvSpPr>
          <p:spPr>
            <a:xfrm>
              <a:off x="5810250" y="165115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113145" y="1524000"/>
              <a:ext cx="922020" cy="3943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93053" y="165115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035165" y="1524000"/>
              <a:ext cx="9220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15073" y="165115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957185" y="1524000"/>
              <a:ext cx="922020" cy="3943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37093" y="165115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879205" y="1524000"/>
              <a:ext cx="9220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59113" y="165115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801225" y="1524000"/>
              <a:ext cx="922020" cy="3943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181133" y="165115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10250" y="22064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113145" y="2079308"/>
              <a:ext cx="922020" cy="3943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93053" y="22064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035165" y="2079308"/>
              <a:ext cx="9220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15073" y="22064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957185" y="2079308"/>
              <a:ext cx="92202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879205" y="2079308"/>
              <a:ext cx="92202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801225" y="2079308"/>
              <a:ext cx="92202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810250" y="276082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113145" y="2634615"/>
              <a:ext cx="922020" cy="3943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93053" y="27608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035165" y="2634615"/>
              <a:ext cx="9220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15073" y="27608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957185" y="2634615"/>
              <a:ext cx="922020" cy="3943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337093" y="27608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879205" y="2634615"/>
              <a:ext cx="9220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259113" y="27608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801225" y="2634615"/>
              <a:ext cx="92202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10250" y="331612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113145" y="3188970"/>
              <a:ext cx="922020" cy="3943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93053" y="331612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035165" y="3188970"/>
              <a:ext cx="9220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15073" y="331612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957185" y="3188970"/>
              <a:ext cx="92202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879205" y="3188970"/>
              <a:ext cx="92202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801225" y="3188970"/>
              <a:ext cx="92202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39036" y="36371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61056" y="36371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83076" y="36371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305096" y="36371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227116" y="36371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91" name="c2-table-2"/>
          <p:cNvGrpSpPr/>
          <p:nvPr/>
        </p:nvGrpSpPr>
        <p:grpSpPr>
          <a:xfrm>
            <a:off x="5810631" y="3944302"/>
            <a:ext cx="5847969" cy="2401825"/>
            <a:chOff x="5810631" y="3944302"/>
            <a:chExt cx="5847969" cy="2401825"/>
          </a:xfrm>
        </p:grpSpPr>
        <p:sp>
          <p:nvSpPr>
            <p:cNvPr id="72" name="Rectangle 72"/>
            <p:cNvSpPr/>
            <p:nvPr/>
          </p:nvSpPr>
          <p:spPr>
            <a:xfrm>
              <a:off x="5815965" y="3944302"/>
              <a:ext cx="5842635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896862" y="407289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738360" y="40728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918454" y="449770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54936" y="4497705"/>
              <a:ext cx="2749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步（第 1 步开始，第 5 步 P1 结束）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815965" y="47882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5815965" y="4792980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918454" y="492156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其中计算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254936" y="4921567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步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815965" y="52130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918454" y="53463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其中通信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254936" y="5346382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步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815965" y="563784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5815965" y="5642610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918454" y="57702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通信复杂度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254936" y="5770245"/>
              <a:ext cx="26884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条报文（P2→P1、P4→P3、P3→P1）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815965" y="3944302"/>
              <a:ext cx="5842635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8147685" y="39443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810631" y="6140768"/>
              <a:ext cx="3565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 台处理机、各有 2 个数，求 8 个数的和；空格表示空闲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80117" cy="909257"/>
            <a:chOff x="520446" y="342900"/>
            <a:chExt cx="59801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并行算法基础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801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处理机数与成本：c(n) = t(n) × p(n)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760595" cy="3179445"/>
            <a:chOff x="533400" y="1524000"/>
            <a:chExt cx="4760595" cy="3179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3179445"/>
            </a:xfrm>
            <a:prstGeom prst="roundRect">
              <a:avLst>
                <a:gd name="adj" fmla="val 41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91274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三个指标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958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处理机数 p(n)：求解问题所用的处理机数量，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通常取 p(n) = nᶜ，0 &lt; c &lt; 1，即比问题规模少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3644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 c(n) = t(n) × p(n)：p 台机器各占用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t(n)，合计花掉的“机时”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52800"/>
              <a:ext cx="35490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成本最优：c(n) 与串行计算的步数同阶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7509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688080"/>
              <a:ext cx="3930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工作量最优：总运算量 W(n) 与串行步数同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阶。多做的运算少，耗电就少，原课件称其“功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耗低、环保”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893945"/>
            <a:ext cx="4760595" cy="1002982"/>
            <a:chOff x="533400" y="4893945"/>
            <a:chExt cx="4760595" cy="1002982"/>
          </a:xfrm>
        </p:grpSpPr>
        <p:sp>
          <p:nvSpPr>
            <p:cNvPr id="20" name="Rectangle 20"/>
            <p:cNvSpPr/>
            <p:nvPr/>
          </p:nvSpPr>
          <p:spPr>
            <a:xfrm>
              <a:off x="533400" y="4893945"/>
              <a:ext cx="4760595" cy="1002982"/>
            </a:xfrm>
            <a:prstGeom prst="roundRect">
              <a:avLst>
                <a:gd name="adj" fmla="val 1139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294950"/>
              <a:ext cx="200023" cy="200023"/>
              <a:chOff x="738188" y="5294950"/>
              <a:chExt cx="200023" cy="2000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2949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1538" y="53616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5152072"/>
              <a:ext cx="3729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判断成本最优只看阶：c(n) 与串行步数之比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 n 增大仍有界才算。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5593080" y="1524000"/>
            <a:ext cx="6065520" cy="2766537"/>
            <a:chOff x="5593080" y="1524000"/>
            <a:chExt cx="6065520" cy="2766537"/>
          </a:xfrm>
        </p:grpSpPr>
        <p:sp>
          <p:nvSpPr>
            <p:cNvPr id="26" name="Rectangle 26"/>
            <p:cNvSpPr/>
            <p:nvPr/>
          </p:nvSpPr>
          <p:spPr>
            <a:xfrm>
              <a:off x="5598795" y="1524000"/>
              <a:ext cx="6059805" cy="67532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67377" y="17730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77367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02945" y="17730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80436" y="177307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98633" y="177307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c(n)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32604" y="1659731"/>
              <a:ext cx="4823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÷</a:t>
              </a:r>
              <a:br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(n−1)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28162" y="2335054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55296" y="2335054"/>
              <a:ext cx="1172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A：每台 2 个数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48418" y="233505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03761" y="233505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89088" y="233505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58733" y="233505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98795" y="264795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28162" y="278368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55296" y="2783681"/>
              <a:ext cx="1465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B：每台 log n 个数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43191" y="278368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08988" y="278368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83861" y="278368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158733" y="278368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98795" y="3092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829140" y="3232309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65536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55296" y="3232309"/>
              <a:ext cx="1172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A：每台 2 个数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58873" y="323230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32768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08988" y="32323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999543" y="323230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524288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698480" y="3107055"/>
              <a:ext cx="95059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158733" y="323230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8.00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598795" y="35413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598795" y="354615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829140" y="3680936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65536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55296" y="3680936"/>
              <a:ext cx="1465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B：每台 log n 个数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53646" y="368093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4096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08988" y="368093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99543" y="368093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110592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698480" y="3555682"/>
              <a:ext cx="95059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158733" y="368093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1.69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598795" y="1524000"/>
              <a:ext cx="6059805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42710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261032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048750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714548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684192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593080" y="4070509"/>
              <a:ext cx="3652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每台先串行加自己的数，再对 p 个部分和做二叉树归约</a:t>
              </a:r>
            </a:p>
          </p:txBody>
        </p:sp>
      </p:grpSp>
      <p:grpSp>
        <p:nvGrpSpPr>
          <p:cNvPr id="81" name="c2-steps-2"/>
          <p:cNvGrpSpPr/>
          <p:nvPr/>
        </p:nvGrpSpPr>
        <p:grpSpPr>
          <a:xfrm>
            <a:off x="5598795" y="4446270"/>
            <a:ext cx="6111926" cy="1462373"/>
            <a:chOff x="5598795" y="4446270"/>
            <a:chExt cx="6111926" cy="1462373"/>
          </a:xfrm>
        </p:grpSpPr>
        <p:sp>
          <p:nvSpPr>
            <p:cNvPr id="72" name="Rectangle 72"/>
            <p:cNvSpPr/>
            <p:nvPr/>
          </p:nvSpPr>
          <p:spPr>
            <a:xfrm>
              <a:off x="5732145" y="4589145"/>
              <a:ext cx="19050" cy="885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5598795" y="444627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692419" y="4520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5598795" y="533209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692419" y="5405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010275" y="4480560"/>
              <a:ext cx="1723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 A（p = n/2）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011418" y="4774406"/>
              <a:ext cx="5393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log n，c = (n/2)·log n，与串行之比约 (log n)/2，随 n 增大，不是成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本最优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010275" y="5366385"/>
              <a:ext cx="2211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 B（p = n / log n）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011418" y="5659279"/>
              <a:ext cx="56993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 log n − 1 步加树归约不到 log n 步，t &lt; 2 log n，c &lt; 2n，是成本最优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47686" cy="909257"/>
            <a:chOff x="520446" y="342900"/>
            <a:chExt cx="94476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并行算法基础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476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Brent 定理：知道总运算量和步数，就能估算 p 台机器的时间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602105"/>
            <a:chOff x="533400" y="1524000"/>
            <a:chExt cx="5626418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4964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745" y="1769269"/>
              <a:ext cx="801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Brent 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9587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W(n) 是某并行算法 A 在运行时间 T(n) 内所执行的运算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量，则 A 使用 p 台处理器可在 t(n) = O(W(n)/p + T(n))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时间内执行完毕。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3326130"/>
            <a:ext cx="4926701" cy="1878615"/>
            <a:chOff x="533400" y="3326130"/>
            <a:chExt cx="4926701" cy="1878615"/>
          </a:xfrm>
        </p:grpSpPr>
        <p:sp>
          <p:nvSpPr>
            <p:cNvPr id="13" name="Rectangle 13"/>
            <p:cNvSpPr/>
            <p:nvPr/>
          </p:nvSpPr>
          <p:spPr>
            <a:xfrm>
              <a:off x="666750" y="346900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32613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999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7668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62724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7010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36042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654266"/>
              <a:ext cx="4514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A 看成 T 步，第 i 步有 wᵢ 次可同时做的运算，Σwᵢ = W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401097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每层分几轮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304824"/>
              <a:ext cx="4045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p 台处理器时，第 i 步要 ⌈wᵢ/p⌉ ≤ wᵢ/p + 1 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66153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955381"/>
              <a:ext cx="21573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≤ Σ(wᵢ/p + 1) = W/p + T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5383530"/>
            <a:ext cx="5626418" cy="782955"/>
            <a:chOff x="533400" y="5383530"/>
            <a:chExt cx="5626418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538353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674995"/>
              <a:ext cx="200026" cy="200025"/>
              <a:chOff x="738188" y="5674995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6749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57194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58305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5532120"/>
              <a:ext cx="4644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两项各有含义：W/p 是把全部运算平分给 p 台的时间；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 是最长依赖链，处理器再多也省不掉。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formula2"/>
              <p:cNvSpPr txBox="1">
                <a:spLocks noGrp="1"/>
              </p:cNvSpPr>
              <p:nvPr/>
            </p:nvSpPr>
            <p:spPr>
              <a:xfrm>
                <a:off x="6464618" y="1524000"/>
                <a:ext cx="5193982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num>
                            <m:den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pT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9" name="c2-card-2"/>
          <p:cNvGrpSpPr/>
          <p:nvPr/>
        </p:nvGrpSpPr>
        <p:grpSpPr>
          <a:xfrm>
            <a:off x="6464618" y="2280285"/>
            <a:ext cx="5193982" cy="1316355"/>
            <a:chOff x="6464618" y="2280285"/>
            <a:chExt cx="5193982" cy="1316355"/>
          </a:xfrm>
        </p:grpSpPr>
        <p:sp>
          <p:nvSpPr>
            <p:cNvPr id="35" name="Rectangle 35"/>
            <p:cNvSpPr/>
            <p:nvPr/>
          </p:nvSpPr>
          <p:spPr>
            <a:xfrm>
              <a:off x="6464618" y="2280285"/>
              <a:ext cx="5193982" cy="1316355"/>
            </a:xfrm>
            <a:prstGeom prst="roundRect">
              <a:avLst>
                <a:gd name="adj" fmla="val 1013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74168" y="2489835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22021" y="252555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什么时候成本与工作量一致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6548" y="2867025"/>
              <a:ext cx="3863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 p = O(W/T) 时，pT = O(W)，于是 c(n) =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O(W(n))，成本和工作量渐近一致。</a:t>
              </a:r>
            </a:p>
          </p:txBody>
        </p:sp>
      </p:grpSp>
      <p:grpSp>
        <p:nvGrpSpPr>
          <p:cNvPr id="46" name="c2-card-3"/>
          <p:cNvGrpSpPr/>
          <p:nvPr/>
        </p:nvGrpSpPr>
        <p:grpSpPr>
          <a:xfrm>
            <a:off x="6464618" y="3787140"/>
            <a:ext cx="5193982" cy="2379345"/>
            <a:chOff x="6464618" y="3787140"/>
            <a:chExt cx="5193982" cy="2379345"/>
          </a:xfrm>
        </p:grpSpPr>
        <p:sp>
          <p:nvSpPr>
            <p:cNvPr id="40" name="Rectangle 40"/>
            <p:cNvSpPr/>
            <p:nvPr/>
          </p:nvSpPr>
          <p:spPr>
            <a:xfrm>
              <a:off x="6464618" y="3787140"/>
              <a:ext cx="5193982" cy="2379345"/>
            </a:xfrm>
            <a:prstGeom prst="roundRect">
              <a:avLst>
                <a:gd name="adj" fmla="val 56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3920490"/>
              <a:ext cx="47625" cy="21126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12268" y="39966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03428" y="40324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04648" y="4373880"/>
              <a:ext cx="4501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原课件推论写作“对于任意的 p，c(n) &gt; W(n)”。p 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 t 步最多做 p·t 次运算，所以应为 c(n) 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W(n)。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05791" y="5277326"/>
              <a:ext cx="44833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等号在每台处理器每一步都不空闲时成立；c(n) 比 W(n) 大出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的部分就是空闲的机时。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07285" cy="909257"/>
            <a:chOff x="520446" y="342900"/>
            <a:chExt cx="72072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并行算法基础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072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例题：用 Brent 定理估算 256 个数求和的时间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842635" cy="1522095"/>
            <a:chOff x="533400" y="1524000"/>
            <a:chExt cx="5842635" cy="15220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519023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二叉树求 n = 256 个数的和，共 W = 255 次加法，深度 T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log₂256 = 8。用 p = 32 台处理器，最多要几步？实际按层调度要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几步？</a:t>
              </a:r>
            </a:p>
          </p:txBody>
        </p:sp>
      </p:grpSp>
      <p:grpSp>
        <p:nvGrpSpPr>
          <p:cNvPr id="55" name="c1-cells-2"/>
          <p:cNvGrpSpPr/>
          <p:nvPr/>
        </p:nvGrpSpPr>
        <p:grpSpPr>
          <a:xfrm>
            <a:off x="528066" y="3227070"/>
            <a:ext cx="5847969" cy="1164431"/>
            <a:chOff x="528066" y="3227070"/>
            <a:chExt cx="5847969" cy="1164431"/>
          </a:xfrm>
        </p:grpSpPr>
        <p:sp>
          <p:nvSpPr>
            <p:cNvPr id="13" name="TextBox 13"/>
            <p:cNvSpPr txBox="1"/>
            <p:nvPr/>
          </p:nvSpPr>
          <p:spPr>
            <a:xfrm>
              <a:off x="528066" y="3358515"/>
              <a:ext cx="530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每层 wᵢ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283970" y="3227070"/>
              <a:ext cx="636270" cy="39433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74326" y="335851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920240" y="3227070"/>
              <a:ext cx="636270" cy="39433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51411" y="33585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56510" y="3227070"/>
              <a:ext cx="636270" cy="39433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787681" y="33585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193732" y="3227070"/>
              <a:ext cx="636270" cy="39433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424903" y="33585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30002" y="3227070"/>
              <a:ext cx="636270" cy="39433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101988" y="33585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66272" y="3227070"/>
              <a:ext cx="636270" cy="39433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38258" y="33585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103495" y="3227070"/>
              <a:ext cx="636270" cy="39433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75481" y="33585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39765" y="3227070"/>
              <a:ext cx="636270" cy="39433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11751" y="33585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8066" y="3913823"/>
              <a:ext cx="664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p=32 轮数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283970" y="3781425"/>
              <a:ext cx="63627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55956" y="39138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920240" y="3781425"/>
              <a:ext cx="63627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192226" y="39138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556510" y="3781425"/>
              <a:ext cx="6362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828496" y="39138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193732" y="3781425"/>
              <a:ext cx="6362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465718" y="39138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830002" y="3781425"/>
              <a:ext cx="6362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101988" y="39138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466272" y="3781425"/>
              <a:ext cx="6362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38258" y="39138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03495" y="3781425"/>
              <a:ext cx="6362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375481" y="39138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739765" y="3781425"/>
              <a:ext cx="6362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11751" y="39138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566986" y="42295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03256" y="42295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839526" y="42295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76748" y="42295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113018" y="42295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49288" y="42295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386511" y="42295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22781" y="42295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69" name="c1-steps-3"/>
          <p:cNvGrpSpPr/>
          <p:nvPr/>
        </p:nvGrpSpPr>
        <p:grpSpPr>
          <a:xfrm>
            <a:off x="533400" y="4546282"/>
            <a:ext cx="3625901" cy="1782509"/>
            <a:chOff x="533400" y="4546282"/>
            <a:chExt cx="3625901" cy="1782509"/>
          </a:xfrm>
        </p:grpSpPr>
        <p:sp>
          <p:nvSpPr>
            <p:cNvPr id="56" name="Rectangle 56"/>
            <p:cNvSpPr/>
            <p:nvPr/>
          </p:nvSpPr>
          <p:spPr>
            <a:xfrm>
              <a:off x="666750" y="4689158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533400" y="454628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7024" y="46201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33400" y="516350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7024" y="52373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533400" y="577977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7024" y="58535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45261" y="4579144"/>
              <a:ext cx="10159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Brent 上界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6404" y="4859655"/>
              <a:ext cx="32128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W/p + T = 255/32 + 8 ≈ 15.97，最多 15 步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45261" y="519636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按层调度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46404" y="5476875"/>
              <a:ext cx="26292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+ 2 + 1 × 6 = 12 步，没有超过上界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5261" y="581358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6404" y="6094095"/>
              <a:ext cx="30383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32 × 12 = 384 ≥ W = 255，符合 c ≥ W</a:t>
              </a:r>
            </a:p>
          </p:txBody>
        </p:sp>
      </p:grpSp>
      <p:grpSp>
        <p:nvGrpSpPr>
          <p:cNvPr id="95" name="c2-table-1"/>
          <p:cNvGrpSpPr/>
          <p:nvPr/>
        </p:nvGrpSpPr>
        <p:grpSpPr>
          <a:xfrm>
            <a:off x="6680835" y="1524000"/>
            <a:ext cx="4977765" cy="1697355"/>
            <a:chOff x="6680835" y="1524000"/>
            <a:chExt cx="4977765" cy="1697355"/>
          </a:xfrm>
        </p:grpSpPr>
        <p:sp>
          <p:nvSpPr>
            <p:cNvPr id="70" name="Rectangle 70"/>
            <p:cNvSpPr/>
            <p:nvPr/>
          </p:nvSpPr>
          <p:spPr>
            <a:xfrm>
              <a:off x="6680835" y="1524000"/>
              <a:ext cx="4977765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08148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88327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实际步数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112815" y="1652588"/>
              <a:ext cx="1012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上界 W/p + T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695977" y="1652588"/>
              <a:ext cx="666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成本 p·t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285398" y="20764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545868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841420" y="207645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15.97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0409872" y="1958340"/>
              <a:ext cx="1239202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1277371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384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680835" y="236791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680835" y="2372678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285398" y="250126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634717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841420" y="250126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11.98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277371" y="250126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576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680835" y="279273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192107" y="292608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634717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930270" y="292608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9.99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188522" y="292608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680835" y="1524000"/>
              <a:ext cx="4977765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7581900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8833485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10395585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1" name="c2-callout-2"/>
          <p:cNvGrpSpPr/>
          <p:nvPr/>
        </p:nvGrpSpPr>
        <p:grpSpPr>
          <a:xfrm>
            <a:off x="6680835" y="3402330"/>
            <a:ext cx="4977765" cy="1018222"/>
            <a:chOff x="6680835" y="3402330"/>
            <a:chExt cx="4977765" cy="1018222"/>
          </a:xfrm>
        </p:grpSpPr>
        <p:sp>
          <p:nvSpPr>
            <p:cNvPr id="96" name="Rectangle 96"/>
            <p:cNvSpPr/>
            <p:nvPr/>
          </p:nvSpPr>
          <p:spPr>
            <a:xfrm>
              <a:off x="6680835" y="3402330"/>
              <a:ext cx="4977765" cy="1018222"/>
            </a:xfrm>
            <a:prstGeom prst="roundRect">
              <a:avLst>
                <a:gd name="adj" fmla="val 11225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6885623" y="3810955"/>
              <a:ext cx="200023" cy="200023"/>
              <a:chOff x="6885623" y="3810955"/>
              <a:chExt cx="200023" cy="200023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6885623" y="38109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7018973" y="38776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7187946" y="3549491"/>
              <a:ext cx="406311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 W/T = 255/8 ≈ 32。p 取 32 时成本 384，约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 W 的 1.5 倍；p 再加倍只少几步，成本却成倍上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涨。</a:t>
              </a:r>
            </a:p>
          </p:txBody>
        </p:sp>
      </p:grpSp>
      <p:grpSp>
        <p:nvGrpSpPr>
          <p:cNvPr id="108" name="c2-callout-3"/>
          <p:cNvGrpSpPr/>
          <p:nvPr/>
        </p:nvGrpSpPr>
        <p:grpSpPr>
          <a:xfrm>
            <a:off x="6680835" y="4600575"/>
            <a:ext cx="4977765" cy="1718310"/>
            <a:chOff x="6680835" y="4600575"/>
            <a:chExt cx="4977765" cy="1718310"/>
          </a:xfrm>
        </p:grpSpPr>
        <p:sp>
          <p:nvSpPr>
            <p:cNvPr id="102" name="Rectangle 102"/>
            <p:cNvSpPr/>
            <p:nvPr/>
          </p:nvSpPr>
          <p:spPr>
            <a:xfrm>
              <a:off x="6680835" y="4600575"/>
              <a:ext cx="4977765" cy="1718310"/>
            </a:xfrm>
            <a:prstGeom prst="roundRect">
              <a:avLst>
                <a:gd name="adj" fmla="val 665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6" name="Group 106"/>
            <p:cNvGrpSpPr/>
            <p:nvPr/>
          </p:nvGrpSpPr>
          <p:grpSpPr>
            <a:xfrm>
              <a:off x="6885623" y="5359718"/>
              <a:ext cx="200026" cy="200025"/>
              <a:chOff x="6885623" y="5359718"/>
              <a:chExt cx="200026" cy="200025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6885623" y="53597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6925361" y="54041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6960077" y="55152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7" name="TextBox 107"/>
            <p:cNvSpPr txBox="1"/>
            <p:nvPr/>
          </p:nvSpPr>
          <p:spPr>
            <a:xfrm>
              <a:off x="7187946" y="5229701"/>
              <a:ext cx="377456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 = 128 这一行就是上页的方案 A；p = 32 = n /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log n 就是方案 B，两条思路得出同一个结论。</a:t>
              </a:r>
            </a:p>
          </p:txBody>
        </p:sp>
      </p:grpSp>
      <p:grpSp>
        <p:nvGrpSpPr>
          <p:cNvPr id="11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9" name="TextBox 10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923347"/>
            <a:chOff x="667512" y="1835468"/>
            <a:chExt cx="5135499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990338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共享存储模型：PRAM 与</a:t>
              </a:r>
              <a:br/>
              <a:r>
                <a:rPr lang="en-US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APRAM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所有处理器读写同一个存储器，区别在是否锁步执行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 部分：并行计算模型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并行计算模型是什么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2797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PRAM 与 EREW、CREW、CRCW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2122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APRAM 的相与同步路障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299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0531" y="407194"/>
              <a:ext cx="3735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共享存储模型：PRAM 与 APRAM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并行计算模型：算法设计者与硬件设计者之间的约定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522095"/>
            <a:chOff x="533400" y="1524000"/>
            <a:chExt cx="5410200" cy="15220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从并行算法的设计和分析出发，把各种并行计算机（至少某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一类并行计算机）的基本特征抽象出来，形成的抽象计算模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型。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3227070"/>
            <a:ext cx="5410200" cy="2415540"/>
            <a:chOff x="533400" y="3227070"/>
            <a:chExt cx="5410200" cy="2415540"/>
          </a:xfrm>
        </p:grpSpPr>
        <p:sp>
          <p:nvSpPr>
            <p:cNvPr id="13" name="Rectangle 13"/>
            <p:cNvSpPr/>
            <p:nvPr/>
          </p:nvSpPr>
          <p:spPr>
            <a:xfrm>
              <a:off x="533400" y="3227070"/>
              <a:ext cx="5410200" cy="2415540"/>
            </a:xfrm>
            <a:prstGeom prst="roundRect">
              <a:avLst>
                <a:gd name="adj" fmla="val 552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1520" y="342519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0958" y="345948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更广的意义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281" y="3785711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并行计算模型为并行计算提供了硬件和软件的界面。在这个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界面的约定下，硬件设计者和软件设计者可以各自开发对并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行性的支持机制，从而提高系统性能。</a:t>
              </a:r>
            </a:p>
          </p:txBody>
        </p:sp>
      </p:grpSp>
      <p:grpSp>
        <p:nvGrpSpPr>
          <p:cNvPr id="32" name="c2-flow-1"/>
          <p:cNvGrpSpPr/>
          <p:nvPr/>
        </p:nvGrpSpPr>
        <p:grpSpPr>
          <a:xfrm>
            <a:off x="6627495" y="1690688"/>
            <a:ext cx="4652962" cy="1904047"/>
            <a:chOff x="6627495" y="1690688"/>
            <a:chExt cx="4652962" cy="1904047"/>
          </a:xfrm>
        </p:grpSpPr>
        <p:sp>
          <p:nvSpPr>
            <p:cNvPr id="18" name="Freeform 18"/>
            <p:cNvSpPr/>
            <p:nvPr/>
          </p:nvSpPr>
          <p:spPr>
            <a:xfrm>
              <a:off x="8953500" y="2103120"/>
              <a:ext cx="9525" cy="229552"/>
            </a:xfrm>
            <a:custGeom>
              <a:avLst/>
              <a:gdLst/>
              <a:ahLst/>
              <a:cxnLst/>
              <a:rect l="l" t="t" r="r" b="b"/>
              <a:pathLst>
                <a:path w="9525" h="229552">
                  <a:moveTo>
                    <a:pt x="0" y="0"/>
                  </a:moveTo>
                  <a:lnTo>
                    <a:pt x="0" y="2295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901112" y="23326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953500" y="2953702"/>
              <a:ext cx="9525" cy="229552"/>
            </a:xfrm>
            <a:custGeom>
              <a:avLst/>
              <a:gdLst/>
              <a:ahLst/>
              <a:cxnLst/>
              <a:rect l="l" t="t" r="r" b="b"/>
              <a:pathLst>
                <a:path w="9525" h="229552">
                  <a:moveTo>
                    <a:pt x="0" y="22955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901112" y="28489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27495" y="1690688"/>
              <a:ext cx="465296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27495" y="2437448"/>
              <a:ext cx="4652962" cy="411480"/>
            </a:xfrm>
            <a:prstGeom prst="roundRect">
              <a:avLst>
                <a:gd name="adj" fmla="val 23148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27495" y="3183255"/>
              <a:ext cx="465296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82000" y="18135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并行算法与软件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62772" y="255936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并行计算模型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82000" y="330517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并行计算机硬件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982075" y="2185035"/>
              <a:ext cx="109061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05697" y="22093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按模型设计与分析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82075" y="2930842"/>
              <a:ext cx="96678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05697" y="295513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实现模型的假设</a:t>
              </a:r>
            </a:p>
          </p:txBody>
        </p:sp>
      </p:grpSp>
      <p:grpSp>
        <p:nvGrpSpPr>
          <p:cNvPr id="44" name="c2-table-2"/>
          <p:cNvGrpSpPr/>
          <p:nvPr/>
        </p:nvGrpSpPr>
        <p:grpSpPr>
          <a:xfrm>
            <a:off x="6248400" y="3942398"/>
            <a:ext cx="5410200" cy="1700212"/>
            <a:chOff x="6248400" y="3942398"/>
            <a:chExt cx="5410200" cy="1700212"/>
          </a:xfrm>
        </p:grpSpPr>
        <p:sp>
          <p:nvSpPr>
            <p:cNvPr id="33" name="Rectangle 33"/>
            <p:cNvSpPr/>
            <p:nvPr/>
          </p:nvSpPr>
          <p:spPr>
            <a:xfrm>
              <a:off x="6248400" y="3942398"/>
              <a:ext cx="5410200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76072" y="40709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领域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77312" y="40709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充当桥梁的模型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50889" y="46024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41514" y="4495800"/>
              <a:ext cx="37536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冯·诺依曼模型：程序员不必关心具体机器，编译器和硬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件各自优化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49996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5004435"/>
              <a:ext cx="5410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0889" y="523970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41514" y="5133022"/>
              <a:ext cx="37536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PRAM、BSP、LogP 等：算法在模型上分析一次，结论适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用于一类机器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942398"/>
              <a:ext cx="5410200" cy="17002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434262" y="3942398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5" name="Rectangle 4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6011704"/>
              <a:ext cx="102890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本章的模型按存储组织分两类：共享存储（PRAM、APRAM）和分布存储（BSP、LogP）；Multi-BSP 再加上存储的层次。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70413" cy="909257"/>
            <a:chOff x="520446" y="342900"/>
            <a:chExt cx="68704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299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0531" y="407194"/>
              <a:ext cx="3735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共享存储模型：PRAM 与 APRAM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704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PRAM：共享存储器加锁步执行的 N 台处理器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6059805" cy="3826192"/>
            <a:chOff x="533400" y="1524000"/>
            <a:chExt cx="6059805" cy="38261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943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693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10868" y="2108359"/>
              <a:ext cx="3360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一个集中的共享存储器，假设容量 M 无限大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6703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10868" y="2556986"/>
              <a:ext cx="45402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个功能相同的处理器，能做简单的算术运算和逻辑判断，各有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局部存储器 LM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92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4590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数据交换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10868" y="3232309"/>
              <a:ext cx="456463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所有指令按锁步方式执行；每个计算步内，任一处理器都能通过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读写某个共享单元与其他任一处理器交换数据，因此共享单一的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数据地址空间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9947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999548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42476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10868" y="4134326"/>
              <a:ext cx="4564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处理器内部没有控制器，所有处理器共享一个控制器，因此共享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单一的程序地址空间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67010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9239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10868" y="4810601"/>
              <a:ext cx="4564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隐式同步：处理器间通信、存储管理、进程同步、存储带宽和延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迟等低级细节都隐含在模型中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6059805" cy="38261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498282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0" name="c1-text-2"/>
          <p:cNvGrpSpPr/>
          <p:nvPr/>
        </p:nvGrpSpPr>
        <p:grpSpPr>
          <a:xfrm>
            <a:off x="526923" y="5562124"/>
            <a:ext cx="5824474" cy="500824"/>
            <a:chOff x="526923" y="5562124"/>
            <a:chExt cx="5824474" cy="500824"/>
          </a:xfrm>
        </p:grpSpPr>
        <p:sp>
          <p:nvSpPr>
            <p:cNvPr id="29" name="TextBox 29"/>
            <p:cNvSpPr txBox="1"/>
            <p:nvPr/>
          </p:nvSpPr>
          <p:spPr>
            <a:xfrm>
              <a:off x="526923" y="5562124"/>
              <a:ext cx="582447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并行随机存取机器（Parallel Random Access Machine），也称 SIMD-SM 模型，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即共享存储的 SIMD 模型。</a:t>
              </a:r>
            </a:p>
          </p:txBody>
        </p:sp>
      </p:grpSp>
      <p:grpSp>
        <p:nvGrpSpPr>
          <p:cNvPr id="72" name="c2-graph-1"/>
          <p:cNvGrpSpPr/>
          <p:nvPr/>
        </p:nvGrpSpPr>
        <p:grpSpPr>
          <a:xfrm>
            <a:off x="7182802" y="1646872"/>
            <a:ext cx="4191000" cy="2897886"/>
            <a:chOff x="7182802" y="1646872"/>
            <a:chExt cx="4191000" cy="2897886"/>
          </a:xfrm>
        </p:grpSpPr>
        <p:sp>
          <p:nvSpPr>
            <p:cNvPr id="31" name="Freeform 31"/>
            <p:cNvSpPr/>
            <p:nvPr/>
          </p:nvSpPr>
          <p:spPr>
            <a:xfrm>
              <a:off x="7563802" y="2054542"/>
              <a:ext cx="9525" cy="313373"/>
            </a:xfrm>
            <a:custGeom>
              <a:avLst/>
              <a:gdLst/>
              <a:ahLst/>
              <a:cxnLst/>
              <a:rect l="l" t="t" r="r" b="b"/>
              <a:pathLst>
                <a:path w="9525" h="313373">
                  <a:moveTo>
                    <a:pt x="0" y="0"/>
                  </a:moveTo>
                  <a:lnTo>
                    <a:pt x="0" y="3133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516178" y="23679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706802" y="2054542"/>
              <a:ext cx="9525" cy="313373"/>
            </a:xfrm>
            <a:custGeom>
              <a:avLst/>
              <a:gdLst/>
              <a:ahLst/>
              <a:cxnLst/>
              <a:rect l="l" t="t" r="r" b="b"/>
              <a:pathLst>
                <a:path w="9525" h="313373">
                  <a:moveTo>
                    <a:pt x="0" y="0"/>
                  </a:moveTo>
                  <a:lnTo>
                    <a:pt x="0" y="3133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659178" y="23679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9849802" y="2054542"/>
              <a:ext cx="9525" cy="313373"/>
            </a:xfrm>
            <a:custGeom>
              <a:avLst/>
              <a:gdLst/>
              <a:ahLst/>
              <a:cxnLst/>
              <a:rect l="l" t="t" r="r" b="b"/>
              <a:pathLst>
                <a:path w="9525" h="313373">
                  <a:moveTo>
                    <a:pt x="0" y="0"/>
                  </a:moveTo>
                  <a:lnTo>
                    <a:pt x="0" y="3133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802178" y="23679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0991850" y="2054542"/>
              <a:ext cx="9525" cy="313373"/>
            </a:xfrm>
            <a:custGeom>
              <a:avLst/>
              <a:gdLst/>
              <a:ahLst/>
              <a:cxnLst/>
              <a:rect l="l" t="t" r="r" b="b"/>
              <a:pathLst>
                <a:path w="9525" h="313373">
                  <a:moveTo>
                    <a:pt x="0" y="0"/>
                  </a:moveTo>
                  <a:lnTo>
                    <a:pt x="0" y="3133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944225" y="23679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563802" y="3068955"/>
              <a:ext cx="9525" cy="312420"/>
            </a:xfrm>
            <a:custGeom>
              <a:avLst/>
              <a:gdLst/>
              <a:ahLst/>
              <a:cxnLst/>
              <a:rect l="l" t="t" r="r" b="b"/>
              <a:pathLst>
                <a:path w="9525" h="312420">
                  <a:moveTo>
                    <a:pt x="0" y="0"/>
                  </a:moveTo>
                  <a:lnTo>
                    <a:pt x="0" y="3124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516178" y="3381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7516178" y="29737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706802" y="3068955"/>
              <a:ext cx="9525" cy="312420"/>
            </a:xfrm>
            <a:custGeom>
              <a:avLst/>
              <a:gdLst/>
              <a:ahLst/>
              <a:cxnLst/>
              <a:rect l="l" t="t" r="r" b="b"/>
              <a:pathLst>
                <a:path w="9525" h="312420">
                  <a:moveTo>
                    <a:pt x="0" y="0"/>
                  </a:moveTo>
                  <a:lnTo>
                    <a:pt x="0" y="3124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659178" y="3381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659178" y="29737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849802" y="3068955"/>
              <a:ext cx="9525" cy="312420"/>
            </a:xfrm>
            <a:custGeom>
              <a:avLst/>
              <a:gdLst/>
              <a:ahLst/>
              <a:cxnLst/>
              <a:rect l="l" t="t" r="r" b="b"/>
              <a:pathLst>
                <a:path w="9525" h="312420">
                  <a:moveTo>
                    <a:pt x="0" y="0"/>
                  </a:moveTo>
                  <a:lnTo>
                    <a:pt x="0" y="3124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802178" y="3381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802178" y="29737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10991850" y="3068955"/>
              <a:ext cx="9525" cy="312420"/>
            </a:xfrm>
            <a:custGeom>
              <a:avLst/>
              <a:gdLst/>
              <a:ahLst/>
              <a:cxnLst/>
              <a:rect l="l" t="t" r="r" b="b"/>
              <a:pathLst>
                <a:path w="9525" h="312420">
                  <a:moveTo>
                    <a:pt x="0" y="0"/>
                  </a:moveTo>
                  <a:lnTo>
                    <a:pt x="0" y="3124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0944225" y="3381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10944225" y="29737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9278302" y="3878580"/>
              <a:ext cx="9525" cy="250508"/>
            </a:xfrm>
            <a:custGeom>
              <a:avLst/>
              <a:gdLst/>
              <a:ahLst/>
              <a:cxnLst/>
              <a:rect l="l" t="t" r="r" b="b"/>
              <a:pathLst>
                <a:path w="9525" h="250508">
                  <a:moveTo>
                    <a:pt x="0" y="0"/>
                  </a:moveTo>
                  <a:lnTo>
                    <a:pt x="0" y="2505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230678" y="41290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9230678" y="37833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754302" y="1646872"/>
              <a:ext cx="30480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259002" y="2463165"/>
              <a:ext cx="609600" cy="510540"/>
            </a:xfrm>
            <a:prstGeom prst="roundRect">
              <a:avLst>
                <a:gd name="adj" fmla="val 1865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402002" y="2463165"/>
              <a:ext cx="609600" cy="510540"/>
            </a:xfrm>
            <a:prstGeom prst="roundRect">
              <a:avLst>
                <a:gd name="adj" fmla="val 1865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545002" y="2463165"/>
              <a:ext cx="609600" cy="510540"/>
            </a:xfrm>
            <a:prstGeom prst="roundRect">
              <a:avLst>
                <a:gd name="adj" fmla="val 1865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687050" y="2463165"/>
              <a:ext cx="609600" cy="510540"/>
            </a:xfrm>
            <a:prstGeom prst="roundRect">
              <a:avLst>
                <a:gd name="adj" fmla="val 1865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182802" y="3469958"/>
              <a:ext cx="41910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849552" y="4224338"/>
              <a:ext cx="28575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502937" y="1732598"/>
              <a:ext cx="15507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控制器 Control Unit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08420" y="254889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41212" y="2739390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651420" y="254889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84212" y="2739390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LM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794420" y="254889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27212" y="2739390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LM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936468" y="254889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869259" y="2739390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LM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949118" y="35556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互连网络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868346" y="431006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共享存储器</a:t>
              </a:r>
            </a:p>
          </p:txBody>
        </p:sp>
      </p:grpSp>
      <p:grpSp>
        <p:nvGrpSpPr>
          <p:cNvPr id="79" name="c2-callout-2"/>
          <p:cNvGrpSpPr/>
          <p:nvPr/>
        </p:nvGrpSpPr>
        <p:grpSpPr>
          <a:xfrm>
            <a:off x="6898005" y="4857750"/>
            <a:ext cx="4760595" cy="1154430"/>
            <a:chOff x="6898005" y="4857750"/>
            <a:chExt cx="4760595" cy="1154430"/>
          </a:xfrm>
        </p:grpSpPr>
        <p:sp>
          <p:nvSpPr>
            <p:cNvPr id="73" name="Rectangle 73"/>
            <p:cNvSpPr/>
            <p:nvPr/>
          </p:nvSpPr>
          <p:spPr>
            <a:xfrm>
              <a:off x="6898005" y="4857750"/>
              <a:ext cx="4760595" cy="1154430"/>
            </a:xfrm>
            <a:prstGeom prst="roundRect">
              <a:avLst>
                <a:gd name="adj" fmla="val 990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102793" y="5334953"/>
              <a:ext cx="200026" cy="200025"/>
              <a:chOff x="7102793" y="5334953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102793" y="53349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142531" y="53794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177247" y="54905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7404735" y="5192078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锁步：每一步所有处理器同时读、同时算、同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时写，节拍完全一致。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3098" cy="909257"/>
            <a:chOff x="520446" y="342900"/>
            <a:chExt cx="82630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299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0531" y="407194"/>
              <a:ext cx="3735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共享存储模型：PRAM 与 APRAM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30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PRAM 的三种读写模式：同一单元能否同时读、同时写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5190236" cy="558736"/>
            <a:chOff x="526161" y="1547336"/>
            <a:chExt cx="5190236" cy="558736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190236" cy="558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根据各处理器对共享存储器的竞争如何处理，PRAM 又细分成三种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模式。</a:t>
              </a:r>
            </a:p>
          </p:txBody>
        </p:sp>
      </p:grpSp>
      <p:grpSp>
        <p:nvGrpSpPr>
          <p:cNvPr id="33" name="c1-table-2"/>
          <p:cNvGrpSpPr/>
          <p:nvPr/>
        </p:nvGrpSpPr>
        <p:grpSpPr>
          <a:xfrm>
            <a:off x="533400" y="2230755"/>
            <a:ext cx="5410200" cy="2867025"/>
            <a:chOff x="533400" y="2230755"/>
            <a:chExt cx="5410200" cy="2867025"/>
          </a:xfrm>
        </p:grpSpPr>
        <p:sp>
          <p:nvSpPr>
            <p:cNvPr id="9" name="Rectangle 9"/>
            <p:cNvSpPr/>
            <p:nvPr/>
          </p:nvSpPr>
          <p:spPr>
            <a:xfrm>
              <a:off x="533400" y="2230755"/>
              <a:ext cx="5410200" cy="7162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55116" y="248935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09901" y="2362676"/>
              <a:ext cx="9161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同时读同一</a:t>
              </a:r>
              <a:br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0526" y="2362676"/>
              <a:ext cx="9161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同时写同一</a:t>
              </a:r>
              <a:br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49888" y="248935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4746" y="3079909"/>
              <a:ext cx="1427442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EREW 互斥读互斥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65171" y="320659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55796" y="320659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49888" y="320659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最弱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6595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664268"/>
              <a:ext cx="5410200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4746" y="3796189"/>
              <a:ext cx="1427442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CREW 并发读互斥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65171" y="392287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55796" y="392287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49888" y="39228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居中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3757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746" y="4512469"/>
              <a:ext cx="1427442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CRCW 并发读并发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65171" y="463915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55796" y="463915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49888" y="463915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最强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230755"/>
              <a:ext cx="5410200" cy="28670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367915" y="2230755"/>
              <a:ext cx="9525" cy="28670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558540" y="2230755"/>
              <a:ext cx="9525" cy="28670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748212" y="2230755"/>
              <a:ext cx="9525" cy="28670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kv-3"/>
          <p:cNvGrpSpPr/>
          <p:nvPr/>
        </p:nvGrpSpPr>
        <p:grpSpPr>
          <a:xfrm>
            <a:off x="526161" y="5301139"/>
            <a:ext cx="5417439" cy="694944"/>
            <a:chOff x="526161" y="5301139"/>
            <a:chExt cx="5417439" cy="694944"/>
          </a:xfrm>
        </p:grpSpPr>
        <p:sp>
          <p:nvSpPr>
            <p:cNvPr id="34" name="TextBox 34"/>
            <p:cNvSpPr txBox="1"/>
            <p:nvPr/>
          </p:nvSpPr>
          <p:spPr>
            <a:xfrm>
              <a:off x="526161" y="5301139"/>
              <a:ext cx="16236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C（Concurrent）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42578" y="530113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允许并发操作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56045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6161" y="5717381"/>
              <a:ext cx="14122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E（Exclusive）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342578" y="571738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禁止并发操作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248400" y="1524000"/>
            <a:ext cx="5410200" cy="1568768"/>
            <a:chOff x="6248400" y="1524000"/>
            <a:chExt cx="5410200" cy="1568768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1657350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84620" y="1722120"/>
              <a:ext cx="252412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03014" y="1756410"/>
              <a:ext cx="24873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例：把 A[0] 中的值 x 发给 8 台处理器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92240" y="214312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48831" y="2082641"/>
              <a:ext cx="34319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CREW：8 台在同一步读 A[0]，1 步完成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92240" y="246030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48831" y="2400776"/>
              <a:ext cx="459511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EREW：一个单元一步只能一台读，只好逐步复制，每步把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已有副本各复制一份</a:t>
              </a:r>
            </a:p>
          </p:txBody>
        </p:sp>
      </p:grpSp>
      <p:grpSp>
        <p:nvGrpSpPr>
          <p:cNvPr id="100" name="c2-cells-2"/>
          <p:cNvGrpSpPr/>
          <p:nvPr/>
        </p:nvGrpSpPr>
        <p:grpSpPr>
          <a:xfrm>
            <a:off x="6243066" y="3272790"/>
            <a:ext cx="5415534" cy="2060257"/>
            <a:chOff x="6243066" y="3272790"/>
            <a:chExt cx="5415534" cy="2060257"/>
          </a:xfrm>
        </p:grpSpPr>
        <p:sp>
          <p:nvSpPr>
            <p:cNvPr id="49" name="TextBox 49"/>
            <p:cNvSpPr txBox="1"/>
            <p:nvPr/>
          </p:nvSpPr>
          <p:spPr>
            <a:xfrm>
              <a:off x="6243066" y="34042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开始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25602" y="3272790"/>
              <a:ext cx="616268" cy="3943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88063" y="34042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341870" y="3272790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959090" y="3272790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575358" y="3272790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191625" y="3272790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808845" y="3272790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425112" y="3272790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1042332" y="3272790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243066" y="3959543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第1步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725602" y="3828098"/>
              <a:ext cx="616268" cy="3943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988063" y="39595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341870" y="3828098"/>
              <a:ext cx="616268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04331" y="39595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959090" y="3828098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575358" y="3828098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9191625" y="3828098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9808845" y="3828098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425112" y="3828098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11042332" y="3828098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243066" y="4514850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第2步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725602" y="4383405"/>
              <a:ext cx="616268" cy="3943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988063" y="45148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341870" y="4383405"/>
              <a:ext cx="616268" cy="3943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604331" y="45148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959090" y="4383405"/>
              <a:ext cx="616268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220598" y="45148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575358" y="4383405"/>
              <a:ext cx="616268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837818" y="45148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9191625" y="4383405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9808845" y="4383405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10425112" y="4383405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11042332" y="4383405"/>
              <a:ext cx="616268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243066" y="5070158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第3步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725602" y="4938712"/>
              <a:ext cx="616268" cy="3943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988063" y="50701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341870" y="4938712"/>
              <a:ext cx="616268" cy="3943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604331" y="50701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7959090" y="4938712"/>
              <a:ext cx="616268" cy="3943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220598" y="50701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8575358" y="4938712"/>
              <a:ext cx="616268" cy="3943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837818" y="50701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9191625" y="4938712"/>
              <a:ext cx="616268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9454086" y="50701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9808845" y="4938712"/>
              <a:ext cx="616268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0071306" y="50701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10425112" y="4938712"/>
              <a:ext cx="616268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10687573" y="50701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11042332" y="4938712"/>
              <a:ext cx="616268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11303841" y="50701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</p:grpSp>
      <p:grpSp>
        <p:nvGrpSpPr>
          <p:cNvPr id="106" name="c2-callout-3"/>
          <p:cNvGrpSpPr/>
          <p:nvPr/>
        </p:nvGrpSpPr>
        <p:grpSpPr>
          <a:xfrm>
            <a:off x="6248400" y="5512118"/>
            <a:ext cx="5410200" cy="756285"/>
            <a:chOff x="6248400" y="5512118"/>
            <a:chExt cx="5410200" cy="756285"/>
          </a:xfrm>
        </p:grpSpPr>
        <p:sp>
          <p:nvSpPr>
            <p:cNvPr id="101" name="Rectangle 101"/>
            <p:cNvSpPr/>
            <p:nvPr/>
          </p:nvSpPr>
          <p:spPr>
            <a:xfrm>
              <a:off x="6248400" y="5512118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6453188" y="5790250"/>
              <a:ext cx="200023" cy="200023"/>
              <a:chOff x="6453188" y="5790250"/>
              <a:chExt cx="200023" cy="200023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6453188" y="57902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6586538" y="58569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6755511" y="5660231"/>
              <a:ext cx="421640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副本数 1 → 2 → 4 → 8，EREW 要 log₂8 = 3 步。p 台时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多出 log p 倍。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73223" cy="909257"/>
            <a:chOff x="520446" y="342900"/>
            <a:chExt cx="83732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299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0531" y="407194"/>
              <a:ext cx="3735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共享存储模型：PRAM 与 APRAM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732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三种模式的时间关系：EREW 最多比 CRCW 慢 log p 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7"/>
              <p:cNvSpPr txBox="1">
                <a:spLocks noGrp="1"/>
              </p:cNvSpPr>
              <p:nvPr/>
            </p:nvSpPr>
            <p:spPr>
              <a:xfrm>
                <a:off x="533400" y="1524000"/>
                <a:ext cx="59512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EREW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CREW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CRCW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8"/>
              <p:cNvSpPr txBox="1">
                <a:spLocks noGrp="1"/>
              </p:cNvSpPr>
              <p:nvPr/>
            </p:nvSpPr>
            <p:spPr>
              <a:xfrm>
                <a:off x="533400" y="2147888"/>
                <a:ext cx="595122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EREW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CREW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func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CRCW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func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4" name="c1-card-3"/>
          <p:cNvGrpSpPr/>
          <p:nvPr/>
        </p:nvGrpSpPr>
        <p:grpSpPr>
          <a:xfrm>
            <a:off x="533400" y="2732722"/>
            <a:ext cx="5951220" cy="1274445"/>
            <a:chOff x="533400" y="2732722"/>
            <a:chExt cx="5951220" cy="1274445"/>
          </a:xfrm>
        </p:grpSpPr>
        <p:sp>
          <p:nvSpPr>
            <p:cNvPr id="9" name="Rectangle 9"/>
            <p:cNvSpPr/>
            <p:nvPr/>
          </p:nvSpPr>
          <p:spPr>
            <a:xfrm>
              <a:off x="533400" y="2732722"/>
              <a:ext cx="595122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866072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93655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9722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3309461"/>
              <a:ext cx="519925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同一个算法在 PRAM-CREW 或 PRAM-CRCW 上的时间复杂度为 T，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则它可以在 PRAM-EREW 上以 log p × T 的时间复杂度运行。</a:t>
              </a:r>
            </a:p>
          </p:txBody>
        </p:sp>
      </p:grpSp>
      <p:grpSp>
        <p:nvGrpSpPr>
          <p:cNvPr id="23" name="c1-card-4"/>
          <p:cNvGrpSpPr/>
          <p:nvPr/>
        </p:nvGrpSpPr>
        <p:grpSpPr>
          <a:xfrm>
            <a:off x="533400" y="4192905"/>
            <a:ext cx="5951220" cy="1865948"/>
            <a:chOff x="533400" y="4192905"/>
            <a:chExt cx="5951220" cy="1865948"/>
          </a:xfrm>
        </p:grpSpPr>
        <p:sp>
          <p:nvSpPr>
            <p:cNvPr id="15" name="Rectangle 15"/>
            <p:cNvSpPr/>
            <p:nvPr/>
          </p:nvSpPr>
          <p:spPr>
            <a:xfrm>
              <a:off x="533400" y="4192905"/>
              <a:ext cx="5951220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326255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439674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8792" y="443245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两行各从哪来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2955" y="483012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9546" y="4769644"/>
              <a:ext cx="50098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第一行：强模型允许的操作包含弱模型的全部操作，EREW 上的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算法原样放到 CREW、CRCW 上照样能跑，时间不会变长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2955" y="542163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9546" y="5361146"/>
              <a:ext cx="50098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第二行：EREW 模拟一步并发读写时，要把访问同一单元的请求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排好序，再用上页的复制办法分发，每步多花 O(log p)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789420" y="1524000"/>
            <a:ext cx="4869180" cy="1594485"/>
            <a:chOff x="6789420" y="1524000"/>
            <a:chExt cx="4869180" cy="1594485"/>
          </a:xfrm>
        </p:grpSpPr>
        <p:sp>
          <p:nvSpPr>
            <p:cNvPr id="24" name="Rectangle 24"/>
            <p:cNvSpPr/>
            <p:nvPr/>
          </p:nvSpPr>
          <p:spPr>
            <a:xfrm>
              <a:off x="6789420" y="1524000"/>
              <a:ext cx="4869180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98945" y="165735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031355" y="1727835"/>
              <a:ext cx="183261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75764" y="1763554"/>
              <a:ext cx="1743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例：8 个位求“或”（OR）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038975" y="21612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95566" y="2100739"/>
              <a:ext cx="408114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Common CRCW：值为 1 的处理器同时往结果单元写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1，写的是同一个值，合法，1 步完成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038975" y="275272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95566" y="2692241"/>
              <a:ext cx="38445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EREW：两两求或，二叉树归约，log₂8 = 3 步</a:t>
              </a:r>
            </a:p>
          </p:txBody>
        </p:sp>
      </p:grpSp>
      <p:grpSp>
        <p:nvGrpSpPr>
          <p:cNvPr id="48" name="c2-table-2"/>
          <p:cNvGrpSpPr/>
          <p:nvPr/>
        </p:nvGrpSpPr>
        <p:grpSpPr>
          <a:xfrm>
            <a:off x="6789420" y="3304222"/>
            <a:ext cx="4869180" cy="1406843"/>
            <a:chOff x="6789420" y="3304222"/>
            <a:chExt cx="4869180" cy="1406843"/>
          </a:xfrm>
        </p:grpSpPr>
        <p:sp>
          <p:nvSpPr>
            <p:cNvPr id="33" name="Rectangle 33"/>
            <p:cNvSpPr/>
            <p:nvPr/>
          </p:nvSpPr>
          <p:spPr>
            <a:xfrm>
              <a:off x="6789420" y="3304222"/>
              <a:ext cx="4869180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90193" y="343900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58428" y="3439001"/>
              <a:ext cx="567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 个位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93845" y="3439001"/>
              <a:ext cx="567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个位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93624" y="3908584"/>
              <a:ext cx="13354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Common CRCW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58070" y="3908584"/>
              <a:ext cx="3681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27934" y="3908584"/>
              <a:ext cx="4992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789420" y="423767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89420" y="4242435"/>
              <a:ext cx="486918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93624" y="4377214"/>
              <a:ext cx="5234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EREW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58070" y="4377214"/>
              <a:ext cx="3681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73996" y="4377214"/>
              <a:ext cx="8071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 n)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789420" y="3304222"/>
              <a:ext cx="4869180" cy="14068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783002" y="3304222"/>
              <a:ext cx="9525" cy="14068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090785" y="3304222"/>
              <a:ext cx="9525" cy="14068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llout-3"/>
          <p:cNvGrpSpPr/>
          <p:nvPr/>
        </p:nvGrpSpPr>
        <p:grpSpPr>
          <a:xfrm>
            <a:off x="6789420" y="4896802"/>
            <a:ext cx="4869180" cy="1163002"/>
            <a:chOff x="6789420" y="4896802"/>
            <a:chExt cx="4869180" cy="1163002"/>
          </a:xfrm>
        </p:grpSpPr>
        <p:sp>
          <p:nvSpPr>
            <p:cNvPr id="49" name="Rectangle 49"/>
            <p:cNvSpPr/>
            <p:nvPr/>
          </p:nvSpPr>
          <p:spPr>
            <a:xfrm>
              <a:off x="6789420" y="4896802"/>
              <a:ext cx="4869180" cy="1163002"/>
            </a:xfrm>
            <a:prstGeom prst="roundRect">
              <a:avLst>
                <a:gd name="adj" fmla="val 9828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994208" y="5377817"/>
              <a:ext cx="200023" cy="200023"/>
              <a:chOff x="6994208" y="5377817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994208" y="53778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127558" y="54444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296531" y="5246846"/>
              <a:ext cx="396392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1024 时是 1 步对 10 步，差距正好是 log p 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（这里 p = n）。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3412" cy="909257"/>
            <a:chOff x="520446" y="342900"/>
            <a:chExt cx="62034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299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0531" y="407194"/>
              <a:ext cx="3735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共享存储模型：PRAM 与 APRAM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34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CRCW 的写冲突：三种规则决定谁写进去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304" y="1544002"/>
            <a:ext cx="5989015" cy="234696"/>
            <a:chOff x="527304" y="1544002"/>
            <a:chExt cx="5989015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544002"/>
              <a:ext cx="59890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例：同一步里 P1、P2、P3、P4 分别向单元 X 写 5、5、7、3，编号小的优先级高。</a:t>
              </a:r>
            </a:p>
          </p:txBody>
        </p:sp>
      </p:grpSp>
      <p:grpSp>
        <p:nvGrpSpPr>
          <p:cNvPr id="28" name="c1-table-2"/>
          <p:cNvGrpSpPr/>
          <p:nvPr/>
        </p:nvGrpSpPr>
        <p:grpSpPr>
          <a:xfrm>
            <a:off x="533400" y="1916430"/>
            <a:ext cx="5842635" cy="2636520"/>
            <a:chOff x="533400" y="1916430"/>
            <a:chExt cx="5842635" cy="2636520"/>
          </a:xfrm>
        </p:grpSpPr>
        <p:sp>
          <p:nvSpPr>
            <p:cNvPr id="9" name="Rectangle 9"/>
            <p:cNvSpPr/>
            <p:nvPr/>
          </p:nvSpPr>
          <p:spPr>
            <a:xfrm>
              <a:off x="533400" y="1916430"/>
              <a:ext cx="5842635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6041" y="205120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99259" y="205120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多台同时写同一单元时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93970" y="205120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本例结果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7604" y="2647474"/>
              <a:ext cx="764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39684" y="2520791"/>
              <a:ext cx="19982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仅允许所有处理器同时写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入相同的数据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94276" y="2520791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写的值不同，</a:t>
              </a: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非法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算法必须避免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1032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108008"/>
              <a:ext cx="5842635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04" y="3369469"/>
              <a:ext cx="8028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Priority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39684" y="3242786"/>
              <a:ext cx="19982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仅允许优先级最高的处理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器写入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94276" y="3369469"/>
              <a:ext cx="10938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写入 P1 的 5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82524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604" y="4092416"/>
              <a:ext cx="9637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Arbitrary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39684" y="3965734"/>
              <a:ext cx="19982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任选一台写入成功，其余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94276" y="4092416"/>
              <a:ext cx="17253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5、7、3 中的某一个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916430"/>
              <a:ext cx="5842635" cy="26365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930718" y="1916430"/>
              <a:ext cx="9525" cy="26365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85310" y="1916430"/>
              <a:ext cx="9525" cy="26365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3"/>
          <p:cNvGrpSpPr/>
          <p:nvPr/>
        </p:nvGrpSpPr>
        <p:grpSpPr>
          <a:xfrm>
            <a:off x="533400" y="4737735"/>
            <a:ext cx="5842635" cy="1545908"/>
            <a:chOff x="533400" y="4737735"/>
            <a:chExt cx="5842635" cy="1545908"/>
          </a:xfrm>
        </p:grpSpPr>
        <p:sp>
          <p:nvSpPr>
            <p:cNvPr id="29" name="Rectangle 29"/>
            <p:cNvSpPr/>
            <p:nvPr/>
          </p:nvSpPr>
          <p:spPr>
            <a:xfrm>
              <a:off x="533400" y="4737735"/>
              <a:ext cx="584263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87108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75335" y="494157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5543" y="49772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8096" y="5315426"/>
              <a:ext cx="513613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Arbitrary 写作“允许任意处理器自由写入”，容易读成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都能写进去。准确含义是冲突时随意成功一台，算法的正确性不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能依赖成功的是哪一台。</a:t>
              </a:r>
            </a:p>
          </p:txBody>
        </p:sp>
      </p:grpSp>
      <p:grpSp>
        <p:nvGrpSpPr>
          <p:cNvPr id="61" name="c2-graph-1"/>
          <p:cNvGrpSpPr/>
          <p:nvPr/>
        </p:nvGrpSpPr>
        <p:grpSpPr>
          <a:xfrm>
            <a:off x="7195185" y="1789748"/>
            <a:ext cx="3949065" cy="1990153"/>
            <a:chOff x="7195185" y="1789748"/>
            <a:chExt cx="3949065" cy="1990153"/>
          </a:xfrm>
        </p:grpSpPr>
        <p:sp>
          <p:nvSpPr>
            <p:cNvPr id="35" name="Freeform 35"/>
            <p:cNvSpPr/>
            <p:nvPr/>
          </p:nvSpPr>
          <p:spPr>
            <a:xfrm>
              <a:off x="7519988" y="2103120"/>
              <a:ext cx="1405890" cy="1291590"/>
            </a:xfrm>
            <a:custGeom>
              <a:avLst/>
              <a:gdLst/>
              <a:ahLst/>
              <a:cxnLst/>
              <a:rect l="l" t="t" r="r" b="b"/>
              <a:pathLst>
                <a:path w="1405890" h="1291590">
                  <a:moveTo>
                    <a:pt x="0" y="0"/>
                  </a:moveTo>
                  <a:lnTo>
                    <a:pt x="1405890" y="12915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893492" y="3359468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101917" y="100012"/>
                  </a:moveTo>
                  <a:lnTo>
                    <a:pt x="0" y="70485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638222" y="2154555"/>
              <a:ext cx="441008" cy="1215390"/>
            </a:xfrm>
            <a:custGeom>
              <a:avLst/>
              <a:gdLst/>
              <a:ahLst/>
              <a:cxnLst/>
              <a:rect l="l" t="t" r="r" b="b"/>
              <a:pathLst>
                <a:path w="441008" h="1215390">
                  <a:moveTo>
                    <a:pt x="0" y="0"/>
                  </a:moveTo>
                  <a:lnTo>
                    <a:pt x="441008" y="12153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034462" y="3353752"/>
              <a:ext cx="89535" cy="105727"/>
            </a:xfrm>
            <a:custGeom>
              <a:avLst/>
              <a:gdLst/>
              <a:ahLst/>
              <a:cxnLst/>
              <a:rect l="l" t="t" r="r" b="b"/>
              <a:pathLst>
                <a:path w="89535" h="105727">
                  <a:moveTo>
                    <a:pt x="77153" y="105727"/>
                  </a:moveTo>
                  <a:lnTo>
                    <a:pt x="0" y="32385"/>
                  </a:lnTo>
                  <a:lnTo>
                    <a:pt x="895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9260205" y="2154555"/>
              <a:ext cx="441007" cy="1215390"/>
            </a:xfrm>
            <a:custGeom>
              <a:avLst/>
              <a:gdLst/>
              <a:ahLst/>
              <a:cxnLst/>
              <a:rect l="l" t="t" r="r" b="b"/>
              <a:pathLst>
                <a:path w="441007" h="1215390">
                  <a:moveTo>
                    <a:pt x="441007" y="0"/>
                  </a:moveTo>
                  <a:lnTo>
                    <a:pt x="0" y="12153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215438" y="3353752"/>
              <a:ext cx="89535" cy="105727"/>
            </a:xfrm>
            <a:custGeom>
              <a:avLst/>
              <a:gdLst/>
              <a:ahLst/>
              <a:cxnLst/>
              <a:rect l="l" t="t" r="r" b="b"/>
              <a:pathLst>
                <a:path w="89535" h="105727">
                  <a:moveTo>
                    <a:pt x="12382" y="105727"/>
                  </a:moveTo>
                  <a:lnTo>
                    <a:pt x="0" y="0"/>
                  </a:lnTo>
                  <a:lnTo>
                    <a:pt x="89535" y="3238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414510" y="2103120"/>
              <a:ext cx="1404938" cy="1291590"/>
            </a:xfrm>
            <a:custGeom>
              <a:avLst/>
              <a:gdLst/>
              <a:ahLst/>
              <a:cxnLst/>
              <a:rect l="l" t="t" r="r" b="b"/>
              <a:pathLst>
                <a:path w="1404938" h="1291590">
                  <a:moveTo>
                    <a:pt x="1404938" y="0"/>
                  </a:moveTo>
                  <a:lnTo>
                    <a:pt x="0" y="12915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344025" y="3359468"/>
              <a:ext cx="102870" cy="100012"/>
            </a:xfrm>
            <a:custGeom>
              <a:avLst/>
              <a:gdLst/>
              <a:ahLst/>
              <a:cxnLst/>
              <a:rect l="l" t="t" r="r" b="b"/>
              <a:pathLst>
                <a:path w="102870" h="100012">
                  <a:moveTo>
                    <a:pt x="0" y="100012"/>
                  </a:moveTo>
                  <a:lnTo>
                    <a:pt x="38100" y="0"/>
                  </a:lnTo>
                  <a:lnTo>
                    <a:pt x="102870" y="7048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195185" y="1789748"/>
              <a:ext cx="365760" cy="36576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389620" y="1789748"/>
              <a:ext cx="365760" cy="36576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9584055" y="1789748"/>
              <a:ext cx="365760" cy="36576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0778490" y="1789748"/>
              <a:ext cx="365760" cy="36576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522970" y="3459480"/>
              <a:ext cx="1293495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73397" y="18983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67832" y="18983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62267" y="18983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56702" y="18983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25908" y="3545205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单元 X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104822" y="2688908"/>
              <a:ext cx="30670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131189" y="2723674"/>
              <a:ext cx="2539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 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722042" y="2713672"/>
              <a:ext cx="30670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748409" y="2748439"/>
              <a:ext cx="2539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 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311640" y="2713672"/>
              <a:ext cx="30670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38006" y="2748439"/>
              <a:ext cx="2539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 7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928860" y="2688908"/>
              <a:ext cx="30670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955226" y="2723674"/>
              <a:ext cx="2539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 3</a:t>
              </a:r>
            </a:p>
          </p:txBody>
        </p:sp>
      </p:grpSp>
      <p:grpSp>
        <p:nvGrpSpPr>
          <p:cNvPr id="68" name="c2-callout-2"/>
          <p:cNvGrpSpPr/>
          <p:nvPr/>
        </p:nvGrpSpPr>
        <p:grpSpPr>
          <a:xfrm>
            <a:off x="6680835" y="4204335"/>
            <a:ext cx="4977765" cy="2080260"/>
            <a:chOff x="6680835" y="4204335"/>
            <a:chExt cx="4977765" cy="2080260"/>
          </a:xfrm>
        </p:grpSpPr>
        <p:sp>
          <p:nvSpPr>
            <p:cNvPr id="62" name="Rectangle 62"/>
            <p:cNvSpPr/>
            <p:nvPr/>
          </p:nvSpPr>
          <p:spPr>
            <a:xfrm>
              <a:off x="6680835" y="4204335"/>
              <a:ext cx="4977765" cy="2080260"/>
            </a:xfrm>
            <a:prstGeom prst="roundRect">
              <a:avLst>
                <a:gd name="adj" fmla="val 54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885623" y="5144453"/>
              <a:ext cx="200026" cy="200025"/>
              <a:chOff x="6885623" y="5144453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885623" y="51444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925361" y="51889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960077" y="53000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187946" y="4882039"/>
              <a:ext cx="409016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能力从弱到强是 Common、Arbitrary、Priority。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 Common 上正确的算法，放到另两种上照样正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确。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41904" cy="909257"/>
            <a:chOff x="520446" y="342900"/>
            <a:chExt cx="66419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299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0531" y="407194"/>
              <a:ext cx="3735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共享存储模型：PRAM 与 APRAM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419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APRAM：每台处理器有自己的控制器和时钟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3372802"/>
            <a:chOff x="533400" y="1524000"/>
            <a:chExt cx="5842635" cy="33728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22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4360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6578" y="2108359"/>
              <a:ext cx="3360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一个集中的共享存储器，假设容量 M 无限大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6703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76578" y="2556986"/>
              <a:ext cx="43776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个处理器，各有算术运算和逻辑判断电路、独立的控制器、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局部存储器 LM 和局部时钟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92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2323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76578" y="323230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处理器之间通过共享存储器通信，共享单一的数据地址空间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13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54615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6809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76578" y="368093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各有独立的控制器，因此各有独立的程序地址空间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00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3572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76578" y="4130516"/>
              <a:ext cx="44020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异步操作加显式同步：没有全局时钟，处理器间的时间依赖靠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在局部程序中加入同步路障（Synchronization Barrier）实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现，两次路障之间称为一个相（phase）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33728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463992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0" name="c1-text-2"/>
          <p:cNvGrpSpPr/>
          <p:nvPr/>
        </p:nvGrpSpPr>
        <p:grpSpPr>
          <a:xfrm>
            <a:off x="526923" y="5108734"/>
            <a:ext cx="5556250" cy="500824"/>
            <a:chOff x="526923" y="5108734"/>
            <a:chExt cx="5556250" cy="500824"/>
          </a:xfrm>
        </p:grpSpPr>
        <p:sp>
          <p:nvSpPr>
            <p:cNvPr id="29" name="TextBox 29"/>
            <p:cNvSpPr txBox="1"/>
            <p:nvPr/>
          </p:nvSpPr>
          <p:spPr>
            <a:xfrm>
              <a:off x="526923" y="5108734"/>
              <a:ext cx="555625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异步并行随机存取机器（Asynchronous PRAM），也称 MIMD-SM 模型、分相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（Phase）PRAM 模型。</a:t>
              </a:r>
            </a:p>
          </p:txBody>
        </p:sp>
      </p:grpSp>
      <p:grpSp>
        <p:nvGrpSpPr>
          <p:cNvPr id="64" name="c2-graph-1"/>
          <p:cNvGrpSpPr/>
          <p:nvPr/>
        </p:nvGrpSpPr>
        <p:grpSpPr>
          <a:xfrm>
            <a:off x="6931342" y="1706880"/>
            <a:ext cx="4476750" cy="2434971"/>
            <a:chOff x="6931342" y="1706880"/>
            <a:chExt cx="4476750" cy="2434971"/>
          </a:xfrm>
        </p:grpSpPr>
        <p:sp>
          <p:nvSpPr>
            <p:cNvPr id="31" name="Freeform 31"/>
            <p:cNvSpPr/>
            <p:nvPr/>
          </p:nvSpPr>
          <p:spPr>
            <a:xfrm>
              <a:off x="7477125" y="2026920"/>
              <a:ext cx="9525" cy="432435"/>
            </a:xfrm>
            <a:custGeom>
              <a:avLst/>
              <a:gdLst/>
              <a:ahLst/>
              <a:cxnLst/>
              <a:rect l="l" t="t" r="r" b="b"/>
              <a:pathLst>
                <a:path w="9525" h="432435">
                  <a:moveTo>
                    <a:pt x="0" y="0"/>
                  </a:moveTo>
                  <a:lnTo>
                    <a:pt x="0" y="4324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429500" y="24593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970645" y="2026920"/>
              <a:ext cx="9525" cy="432435"/>
            </a:xfrm>
            <a:custGeom>
              <a:avLst/>
              <a:gdLst/>
              <a:ahLst/>
              <a:cxnLst/>
              <a:rect l="l" t="t" r="r" b="b"/>
              <a:pathLst>
                <a:path w="9525" h="432435">
                  <a:moveTo>
                    <a:pt x="0" y="0"/>
                  </a:moveTo>
                  <a:lnTo>
                    <a:pt x="0" y="4324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923020" y="24593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0911840" y="2026920"/>
              <a:ext cx="9525" cy="432435"/>
            </a:xfrm>
            <a:custGeom>
              <a:avLst/>
              <a:gdLst/>
              <a:ahLst/>
              <a:cxnLst/>
              <a:rect l="l" t="t" r="r" b="b"/>
              <a:pathLst>
                <a:path w="9525" h="432435">
                  <a:moveTo>
                    <a:pt x="0" y="0"/>
                  </a:moveTo>
                  <a:lnTo>
                    <a:pt x="0" y="4324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864215" y="24593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477125" y="3160395"/>
              <a:ext cx="9525" cy="575310"/>
            </a:xfrm>
            <a:custGeom>
              <a:avLst/>
              <a:gdLst/>
              <a:ahLst/>
              <a:cxnLst/>
              <a:rect l="l" t="t" r="r" b="b"/>
              <a:pathLst>
                <a:path w="9525" h="575310">
                  <a:moveTo>
                    <a:pt x="0" y="0"/>
                  </a:moveTo>
                  <a:lnTo>
                    <a:pt x="0" y="5753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429500" y="37357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429500" y="30651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970645" y="3160395"/>
              <a:ext cx="9525" cy="575310"/>
            </a:xfrm>
            <a:custGeom>
              <a:avLst/>
              <a:gdLst/>
              <a:ahLst/>
              <a:cxnLst/>
              <a:rect l="l" t="t" r="r" b="b"/>
              <a:pathLst>
                <a:path w="9525" h="575310">
                  <a:moveTo>
                    <a:pt x="0" y="0"/>
                  </a:moveTo>
                  <a:lnTo>
                    <a:pt x="0" y="5753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923020" y="37357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923020" y="30651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10911840" y="3160395"/>
              <a:ext cx="9525" cy="575310"/>
            </a:xfrm>
            <a:custGeom>
              <a:avLst/>
              <a:gdLst/>
              <a:ahLst/>
              <a:cxnLst/>
              <a:rect l="l" t="t" r="r" b="b"/>
              <a:pathLst>
                <a:path w="9525" h="575310">
                  <a:moveTo>
                    <a:pt x="0" y="0"/>
                  </a:moveTo>
                  <a:lnTo>
                    <a:pt x="0" y="5753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864215" y="37357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10864215" y="30651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066598" y="1706880"/>
              <a:ext cx="822008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058025" y="2554605"/>
              <a:ext cx="838200" cy="510540"/>
            </a:xfrm>
            <a:prstGeom prst="roundRect">
              <a:avLst>
                <a:gd name="adj" fmla="val 1865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560118" y="1706880"/>
              <a:ext cx="822008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551545" y="2554605"/>
              <a:ext cx="838200" cy="510540"/>
            </a:xfrm>
            <a:prstGeom prst="roundRect">
              <a:avLst>
                <a:gd name="adj" fmla="val 1865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501312" y="1706880"/>
              <a:ext cx="822008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492740" y="2554605"/>
              <a:ext cx="838200" cy="510540"/>
            </a:xfrm>
            <a:prstGeom prst="roundRect">
              <a:avLst>
                <a:gd name="adj" fmla="val 1865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931342" y="3821430"/>
              <a:ext cx="447675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56624" y="1792605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控制器 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28713" y="264033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47941" y="28308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局部存储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50144" y="1792605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控制器 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722233" y="264033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41461" y="28308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局部存储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13266" y="23069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591339" y="1792605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控制器 p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63428" y="264033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582656" y="28308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局部存储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94358" y="390715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经互连网络访问共享存储器</a:t>
              </a:r>
            </a:p>
          </p:txBody>
        </p:sp>
      </p:grpSp>
      <p:grpSp>
        <p:nvGrpSpPr>
          <p:cNvPr id="66" name="c2-text-2"/>
          <p:cNvGrpSpPr/>
          <p:nvPr/>
        </p:nvGrpSpPr>
        <p:grpSpPr>
          <a:xfrm>
            <a:off x="6674358" y="4593431"/>
            <a:ext cx="4523994" cy="500824"/>
            <a:chOff x="6674358" y="4593431"/>
            <a:chExt cx="4523994" cy="500824"/>
          </a:xfrm>
        </p:grpSpPr>
        <p:sp>
          <p:nvSpPr>
            <p:cNvPr id="65" name="TextBox 65"/>
            <p:cNvSpPr txBox="1"/>
            <p:nvPr/>
          </p:nvSpPr>
          <p:spPr>
            <a:xfrm>
              <a:off x="6674358" y="4593431"/>
              <a:ext cx="452399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原课件第19页结构图把三个控制器都标作“控制器1”，这里改为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1、2、p。</a:t>
              </a:r>
            </a:p>
          </p:txBody>
        </p:sp>
      </p:grpSp>
      <p:grpSp>
        <p:nvGrpSpPr>
          <p:cNvPr id="72" name="c2-callout-3"/>
          <p:cNvGrpSpPr/>
          <p:nvPr/>
        </p:nvGrpSpPr>
        <p:grpSpPr>
          <a:xfrm>
            <a:off x="6680835" y="5233988"/>
            <a:ext cx="4977765" cy="1059180"/>
            <a:chOff x="6680835" y="5233988"/>
            <a:chExt cx="4977765" cy="1059180"/>
          </a:xfrm>
        </p:grpSpPr>
        <p:sp>
          <p:nvSpPr>
            <p:cNvPr id="67" name="Rectangle 67"/>
            <p:cNvSpPr/>
            <p:nvPr/>
          </p:nvSpPr>
          <p:spPr>
            <a:xfrm>
              <a:off x="6680835" y="5233988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885623" y="5663567"/>
              <a:ext cx="200023" cy="200023"/>
              <a:chOff x="6885623" y="5663567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885623" y="56635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018973" y="57302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187565" y="5382578"/>
              <a:ext cx="4015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 PRAM 相比，共享存储器没变，变的是控制：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从一个控制器锁步，变成各走各的，到路障再对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齐。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42721" cy="909257"/>
            <a:chOff x="520446" y="342900"/>
            <a:chExt cx="74427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299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0531" y="407194"/>
              <a:ext cx="3735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共享存储模型：PRAM 与 APRAM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427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APRAM 的计算过程：相与相之间用同步路障隔开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27685" y="1524000"/>
            <a:ext cx="6065520" cy="4117182"/>
            <a:chOff x="527685" y="1524000"/>
            <a:chExt cx="6065520" cy="41171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5589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08928" y="1659731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06283" y="1659731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 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02685" y="1659731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 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221706"/>
              <a:ext cx="664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phase 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10868" y="2108359"/>
              <a:ext cx="11833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 x₁；read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x₂；*；write 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07270" y="2108359"/>
              <a:ext cx="13296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 x₃；*；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 B；write 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03673" y="2108359"/>
              <a:ext cx="12646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 xₙ；*；*；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 D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2657475"/>
              <a:ext cx="95059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7836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同步路障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10868" y="27836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到达后等待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07270" y="27836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到达后等待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3673" y="27836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到达后等待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92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345656"/>
              <a:ext cx="664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phase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10868" y="3232309"/>
              <a:ext cx="9232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 B；*；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 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07270" y="3232309"/>
              <a:ext cx="9232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 A；*；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 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03673" y="3345656"/>
              <a:ext cx="8115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 C；*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680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782378"/>
              <a:ext cx="95059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9076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同步路障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10868" y="39076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到达后等待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07270" y="39076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到达后等待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03673" y="39076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到达后等待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2167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470559"/>
              <a:ext cx="664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phase 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10868" y="4470559"/>
              <a:ext cx="8115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*；read 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07270" y="4470559"/>
              <a:ext cx="630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 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03673" y="4357211"/>
              <a:ext cx="1110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 B；read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A；write B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89204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906328"/>
              <a:ext cx="95059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50325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同步路障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610868" y="50325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到达后等待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07270" y="50325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到达后等待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03673" y="50325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到达后等待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6059805" cy="38214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498282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194685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891088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7685" y="5421154"/>
              <a:ext cx="485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据原课件第20页计算模式图；* 表示局部操作，第 3 相在原图中未标名称</a:t>
              </a:r>
            </a:p>
          </p:txBody>
        </p:sp>
      </p:grpSp>
      <p:grpSp>
        <p:nvGrpSpPr>
          <p:cNvPr id="65" name="c2-bullets-1"/>
          <p:cNvGrpSpPr/>
          <p:nvPr/>
        </p:nvGrpSpPr>
        <p:grpSpPr>
          <a:xfrm>
            <a:off x="6898005" y="1533525"/>
            <a:ext cx="4513001" cy="1727168"/>
            <a:chOff x="6898005" y="1533525"/>
            <a:chExt cx="4513001" cy="1727168"/>
          </a:xfrm>
        </p:grpSpPr>
        <p:sp>
          <p:nvSpPr>
            <p:cNvPr id="50" name="Ellipse 50"/>
            <p:cNvSpPr/>
            <p:nvPr/>
          </p:nvSpPr>
          <p:spPr>
            <a:xfrm>
              <a:off x="6898005" y="1533525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49912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67753" y="154543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整个计算由一系列同步路障分开的全局相组成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898005" y="1840230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49912" y="18749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67753" y="185118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每个全局相内，各处理器异步运行自己的局部程序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898005" y="2145982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49912" y="21816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67753" y="215693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每个局部程序的最后一条指令是同步路障指令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98005" y="2451735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49912" y="248735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67753" y="2462689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各处理器可异步读写全局存储器，但同一全局相内不允许两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个处理器访问同一存储单元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898005" y="3000375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49912" y="303599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67753" y="3011329"/>
              <a:ext cx="42432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程序内的指令分三类：全局同步、全局读/写、局部操作</a:t>
              </a:r>
            </a:p>
          </p:txBody>
        </p:sp>
      </p:grpSp>
      <p:grpSp>
        <p:nvGrpSpPr>
          <p:cNvPr id="72" name="c2-callout-2"/>
          <p:cNvGrpSpPr/>
          <p:nvPr/>
        </p:nvGrpSpPr>
        <p:grpSpPr>
          <a:xfrm>
            <a:off x="6898005" y="3401378"/>
            <a:ext cx="4760595" cy="2195512"/>
            <a:chOff x="6898005" y="3401378"/>
            <a:chExt cx="4760595" cy="2195512"/>
          </a:xfrm>
        </p:grpSpPr>
        <p:sp>
          <p:nvSpPr>
            <p:cNvPr id="66" name="Rectangle 66"/>
            <p:cNvSpPr/>
            <p:nvPr/>
          </p:nvSpPr>
          <p:spPr>
            <a:xfrm>
              <a:off x="6898005" y="3401378"/>
              <a:ext cx="4760595" cy="2195512"/>
            </a:xfrm>
            <a:prstGeom prst="roundRect">
              <a:avLst>
                <a:gd name="adj" fmla="val 520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102793" y="4399598"/>
              <a:ext cx="200026" cy="200025"/>
              <a:chOff x="7102793" y="4399598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102793" y="43995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142531" y="44440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177247" y="45551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404735" y="3980498"/>
              <a:ext cx="385381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核对第 4 条：第 1 相 A、B、C、D 各只被一台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写；第 2 相 B 只被处理器 1 访问。同一台处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理器在一相内多次访问同一单元（处理器 p 两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次写 B）不违反规则。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42721" cy="909257"/>
            <a:chOff x="520446" y="342900"/>
            <a:chExt cx="74427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299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0531" y="407194"/>
              <a:ext cx="3735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共享存储模型：PRAM 与 APRAM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427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APRAM 的时间：各相最长者之和，加上路障开销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6161" y="1547336"/>
            <a:ext cx="5201221" cy="1811275"/>
            <a:chOff x="526161" y="1547336"/>
            <a:chExt cx="5201221" cy="1811275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局部操作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33919" y="1547336"/>
              <a:ext cx="9416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单位时间 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5356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1969294"/>
              <a:ext cx="889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全局读/写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3919" y="1969294"/>
              <a:ext cx="32355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平均时间 d，随处理器数目增加而增加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745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23912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同步路障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33919" y="2391251"/>
              <a:ext cx="3864737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 B = B(p)，是 p 的非降函数，处理器越多同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步越慢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9641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3079909"/>
              <a:ext cx="247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33919" y="3079909"/>
              <a:ext cx="3627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个全局相内各处理器执行时间的最长者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13"/>
              <p:cNvSpPr txBox="1">
                <a:spLocks noGrp="1"/>
              </p:cNvSpPr>
              <p:nvPr/>
            </p:nvSpPr>
            <p:spPr>
              <a:xfrm>
                <a:off x="533400" y="3488055"/>
                <a:ext cx="5193982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5" name="c1-card-3"/>
          <p:cNvGrpSpPr/>
          <p:nvPr/>
        </p:nvGrpSpPr>
        <p:grpSpPr>
          <a:xfrm>
            <a:off x="533400" y="4111942"/>
            <a:ext cx="5193982" cy="2120265"/>
            <a:chOff x="533400" y="4111942"/>
            <a:chExt cx="5193982" cy="2120265"/>
          </a:xfrm>
        </p:grpSpPr>
        <p:sp>
          <p:nvSpPr>
            <p:cNvPr id="20" name="Rectangle 20"/>
            <p:cNvSpPr/>
            <p:nvPr/>
          </p:nvSpPr>
          <p:spPr>
            <a:xfrm>
              <a:off x="533400" y="4111942"/>
              <a:ext cx="5193982" cy="2120265"/>
            </a:xfrm>
            <a:prstGeom prst="roundRect">
              <a:avLst>
                <a:gd name="adj" fmla="val 62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245292"/>
              <a:ext cx="47625" cy="18535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75335" y="43157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5543" y="4351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8096" y="4688681"/>
              <a:ext cx="452297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T = T₁ + … + Tₙ + B × (n−1)。按上页第 3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条，每个局部程序最后一条都是路障指令，n 个相有 n 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路障（第20页的图里 3 个相画了 3 条路障），应为 B 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n。只有约定最后一相结束后不再同步时，才是 n−1。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032182" y="1524000"/>
            <a:ext cx="5626418" cy="1274445"/>
            <a:chOff x="6032182" y="1524000"/>
            <a:chExt cx="5626418" cy="1274445"/>
          </a:xfrm>
        </p:grpSpPr>
        <p:sp>
          <p:nvSpPr>
            <p:cNvPr id="26" name="Rectangle 26"/>
            <p:cNvSpPr/>
            <p:nvPr/>
          </p:nvSpPr>
          <p:spPr>
            <a:xfrm>
              <a:off x="6032182" y="1524000"/>
              <a:ext cx="5626418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41708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74118" y="1727835"/>
              <a:ext cx="284226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77761" y="1763554"/>
              <a:ext cx="2834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例：按上页的图计算 T，取 d = 4，B = 10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66879" y="210073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每台处理器在一相内的时间 = 全局读写次数 × d + 局部操作次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64" name="c2-table-2"/>
          <p:cNvGrpSpPr/>
          <p:nvPr/>
        </p:nvGrpSpPr>
        <p:grpSpPr>
          <a:xfrm>
            <a:off x="6032182" y="2984182"/>
            <a:ext cx="5626418" cy="1720215"/>
            <a:chOff x="6032182" y="2984182"/>
            <a:chExt cx="5626418" cy="1720215"/>
          </a:xfrm>
        </p:grpSpPr>
        <p:sp>
          <p:nvSpPr>
            <p:cNvPr id="32" name="Rectangle 32"/>
            <p:cNvSpPr/>
            <p:nvPr/>
          </p:nvSpPr>
          <p:spPr>
            <a:xfrm>
              <a:off x="6032182" y="2984182"/>
              <a:ext cx="5626418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37744" y="3115627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68054" y="3115627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12984" y="3115627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57914" y="3115627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 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50072" y="311562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1871" y="35452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23024" y="3545205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3d+1 = 13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67954" y="3545205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3d+1 = 13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12884" y="3545205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2d+2 = 10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859452" y="3424238"/>
              <a:ext cx="78962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159795" y="354520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38395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32182" y="3844290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71871" y="39757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67448" y="3975735"/>
              <a:ext cx="642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2d+1 = 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12378" y="3975735"/>
              <a:ext cx="642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2d+1 = 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901733" y="39757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d+1 = 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859452" y="3853815"/>
              <a:ext cx="78962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204219" y="39757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42700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71871" y="4406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11873" y="440626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d+1 = 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45652" y="4406265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01733" y="440626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3d = 12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859452" y="4284345"/>
              <a:ext cx="78962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159795" y="4406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032182" y="2984182"/>
              <a:ext cx="5626418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812280" y="298418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156258" y="298418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501188" y="298418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845165" y="298418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formula14"/>
              <p:cNvSpPr txBox="1">
                <a:spLocks noGrp="1"/>
              </p:cNvSpPr>
              <p:nvPr/>
            </p:nvSpPr>
            <p:spPr>
              <a:xfrm>
                <a:off x="6032182" y="4890135"/>
                <a:ext cx="5626418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13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9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12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64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72" name="c2-callout-4"/>
          <p:cNvGrpSpPr/>
          <p:nvPr/>
        </p:nvGrpSpPr>
        <p:grpSpPr>
          <a:xfrm>
            <a:off x="6032182" y="5475922"/>
            <a:ext cx="5626418" cy="756285"/>
            <a:chOff x="6032182" y="5475922"/>
            <a:chExt cx="5626418" cy="756285"/>
          </a:xfrm>
        </p:grpSpPr>
        <p:sp>
          <p:nvSpPr>
            <p:cNvPr id="66" name="Rectangle 66"/>
            <p:cNvSpPr/>
            <p:nvPr/>
          </p:nvSpPr>
          <p:spPr>
            <a:xfrm>
              <a:off x="6032182" y="5475922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236970" y="5754053"/>
              <a:ext cx="200026" cy="200025"/>
              <a:chOff x="6236970" y="5754053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236970" y="57540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276709" y="57985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311424" y="59096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539294" y="5623084"/>
              <a:ext cx="457708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一次全局读写顶 4 次局部操作，第 3 相最慢的是全局读写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最多的处理器 p。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91253" cy="3351847"/>
            <a:chOff x="667512" y="1835468"/>
            <a:chExt cx="46912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05429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 模型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分布存储，按超级步推进，每一步末尾全体对齐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428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 的组成与别名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80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超级步、h-relation 与周期 L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代价公式与例题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8063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小结以及与 MapReduce 的对比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33365" cy="909257"/>
            <a:chOff x="520446" y="342900"/>
            <a:chExt cx="68333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45" y="407194"/>
              <a:ext cx="2172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BSP 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333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BSP：计算节点、路由器、路障同步器三部分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545908"/>
            <a:chOff x="533400" y="1524000"/>
            <a:chExt cx="5626418" cy="15459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83857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块同步并行（Bulk Synchronous Parallel）模型，也称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MIMD-DM（distributed memory）模型、大同步模型、桥模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型、桶同步并行模型。</a:t>
              </a:r>
            </a:p>
          </p:txBody>
        </p:sp>
      </p:grpSp>
      <p:grpSp>
        <p:nvGrpSpPr>
          <p:cNvPr id="27" name="c1-table-2"/>
          <p:cNvGrpSpPr/>
          <p:nvPr/>
        </p:nvGrpSpPr>
        <p:grpSpPr>
          <a:xfrm>
            <a:off x="533400" y="3255645"/>
            <a:ext cx="5626418" cy="2360295"/>
            <a:chOff x="533400" y="3255645"/>
            <a:chExt cx="5626418" cy="2360295"/>
          </a:xfrm>
        </p:grpSpPr>
        <p:sp>
          <p:nvSpPr>
            <p:cNvPr id="13" name="Rectangle 13"/>
            <p:cNvSpPr/>
            <p:nvPr/>
          </p:nvSpPr>
          <p:spPr>
            <a:xfrm>
              <a:off x="533400" y="3255645"/>
              <a:ext cx="5626418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4885" y="33870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97618" y="33870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8746" y="3923348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个计算节点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76996" y="3816668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各有独立的运算器、控制器、存储器和局部时钟，有独立的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数据地址空间和程序地址空间，异步执行局部程序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3243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4329112"/>
              <a:ext cx="5626418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456723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路由器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76996" y="4460558"/>
              <a:ext cx="38831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连接所有节点，实施点到点的消息传递；吞吐率 th（字节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每秒）和传输延迟 tl（秒）都是有限的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9682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521112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路障同步器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76996" y="5104448"/>
              <a:ext cx="39974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每隔时间 L 完成一次全局路障同步，实现节点之间的时间依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赖关系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255645"/>
              <a:ext cx="5626418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766888" y="3255645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9" name="c1-text-3"/>
          <p:cNvGrpSpPr/>
          <p:nvPr/>
        </p:nvGrpSpPr>
        <p:grpSpPr>
          <a:xfrm>
            <a:off x="527304" y="5821680"/>
            <a:ext cx="4660392" cy="470916"/>
            <a:chOff x="527304" y="5821680"/>
            <a:chExt cx="4660392" cy="470916"/>
          </a:xfrm>
        </p:grpSpPr>
        <p:sp>
          <p:nvSpPr>
            <p:cNvPr id="28" name="TextBox 28"/>
            <p:cNvSpPr txBox="1"/>
            <p:nvPr/>
          </p:nvSpPr>
          <p:spPr>
            <a:xfrm>
              <a:off x="527304" y="5821680"/>
              <a:ext cx="466039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原课件英文名写作 Bulk Synchronization Parallel，通行写法是 Bulk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Synchronous Parallel。</a:t>
              </a:r>
            </a:p>
          </p:txBody>
        </p:sp>
      </p:grpSp>
      <p:grpSp>
        <p:nvGrpSpPr>
          <p:cNvPr id="59" name="c2-graph-1"/>
          <p:cNvGrpSpPr/>
          <p:nvPr/>
        </p:nvGrpSpPr>
        <p:grpSpPr>
          <a:xfrm>
            <a:off x="6733222" y="1638300"/>
            <a:ext cx="4656772" cy="2728912"/>
            <a:chOff x="6733222" y="1638300"/>
            <a:chExt cx="4656772" cy="2728912"/>
          </a:xfrm>
        </p:grpSpPr>
        <p:sp>
          <p:nvSpPr>
            <p:cNvPr id="30" name="Freeform 30"/>
            <p:cNvSpPr/>
            <p:nvPr/>
          </p:nvSpPr>
          <p:spPr>
            <a:xfrm>
              <a:off x="7243762" y="2011680"/>
              <a:ext cx="9525" cy="594360"/>
            </a:xfrm>
            <a:custGeom>
              <a:avLst/>
              <a:gdLst/>
              <a:ahLst/>
              <a:cxnLst/>
              <a:rect l="l" t="t" r="r" b="b"/>
              <a:pathLst>
                <a:path w="9525" h="594360">
                  <a:moveTo>
                    <a:pt x="0" y="0"/>
                  </a:moveTo>
                  <a:lnTo>
                    <a:pt x="0" y="59436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1" name="Freeform 31"/>
            <p:cNvSpPr/>
            <p:nvPr/>
          </p:nvSpPr>
          <p:spPr>
            <a:xfrm>
              <a:off x="8802052" y="2011680"/>
              <a:ext cx="9525" cy="594360"/>
            </a:xfrm>
            <a:custGeom>
              <a:avLst/>
              <a:gdLst/>
              <a:ahLst/>
              <a:cxnLst/>
              <a:rect l="l" t="t" r="r" b="b"/>
              <a:pathLst>
                <a:path w="9525" h="594360">
                  <a:moveTo>
                    <a:pt x="0" y="0"/>
                  </a:moveTo>
                  <a:lnTo>
                    <a:pt x="0" y="59436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10879455" y="2011680"/>
              <a:ext cx="9525" cy="594360"/>
            </a:xfrm>
            <a:custGeom>
              <a:avLst/>
              <a:gdLst/>
              <a:ahLst/>
              <a:cxnLst/>
              <a:rect l="l" t="t" r="r" b="b"/>
              <a:pathLst>
                <a:path w="9525" h="594360">
                  <a:moveTo>
                    <a:pt x="0" y="0"/>
                  </a:moveTo>
                  <a:lnTo>
                    <a:pt x="0" y="59436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3" name="Freeform 33"/>
            <p:cNvSpPr/>
            <p:nvPr/>
          </p:nvSpPr>
          <p:spPr>
            <a:xfrm>
              <a:off x="7243762" y="3402330"/>
              <a:ext cx="9525" cy="557212"/>
            </a:xfrm>
            <a:custGeom>
              <a:avLst/>
              <a:gdLst/>
              <a:ahLst/>
              <a:cxnLst/>
              <a:rect l="l" t="t" r="r" b="b"/>
              <a:pathLst>
                <a:path w="9525" h="557212">
                  <a:moveTo>
                    <a:pt x="0" y="0"/>
                  </a:moveTo>
                  <a:lnTo>
                    <a:pt x="0" y="5572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196138" y="39595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196138" y="33070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802052" y="3402330"/>
              <a:ext cx="9525" cy="557212"/>
            </a:xfrm>
            <a:custGeom>
              <a:avLst/>
              <a:gdLst/>
              <a:ahLst/>
              <a:cxnLst/>
              <a:rect l="l" t="t" r="r" b="b"/>
              <a:pathLst>
                <a:path w="9525" h="557212">
                  <a:moveTo>
                    <a:pt x="0" y="0"/>
                  </a:moveTo>
                  <a:lnTo>
                    <a:pt x="0" y="5572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754428" y="39595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754428" y="33070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10879455" y="3402330"/>
              <a:ext cx="9525" cy="557212"/>
            </a:xfrm>
            <a:custGeom>
              <a:avLst/>
              <a:gdLst/>
              <a:ahLst/>
              <a:cxnLst/>
              <a:rect l="l" t="t" r="r" b="b"/>
              <a:pathLst>
                <a:path w="9525" h="557212">
                  <a:moveTo>
                    <a:pt x="0" y="0"/>
                  </a:moveTo>
                  <a:lnTo>
                    <a:pt x="0" y="5572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831830" y="39595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10831830" y="33070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890385" y="1638300"/>
              <a:ext cx="4342448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33222" y="2606040"/>
              <a:ext cx="1022032" cy="701040"/>
            </a:xfrm>
            <a:prstGeom prst="roundRect">
              <a:avLst>
                <a:gd name="adj" fmla="val 1358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290560" y="2606040"/>
              <a:ext cx="1022032" cy="701040"/>
            </a:xfrm>
            <a:prstGeom prst="roundRect">
              <a:avLst>
                <a:gd name="adj" fmla="val 1358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367962" y="2606040"/>
              <a:ext cx="1022032" cy="701040"/>
            </a:xfrm>
            <a:prstGeom prst="roundRect">
              <a:avLst>
                <a:gd name="adj" fmla="val 1358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890385" y="4047172"/>
              <a:ext cx="4342448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983672" y="1724025"/>
              <a:ext cx="2156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路障同步器：每隔 L 检查一次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04033" y="269176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 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17046" y="2882265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 · 控制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14579" y="30727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局部存储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62323" y="269176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 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75336" y="2882265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 · 控制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72868" y="30727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局部存储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88488" y="2882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639726" y="269176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 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452739" y="2882265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 · 控制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550271" y="30727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局部存储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167497" y="413194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路由器：点到点传递消息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6464618" y="4758690"/>
            <a:ext cx="5193982" cy="1486852"/>
            <a:chOff x="6464618" y="4758690"/>
            <a:chExt cx="5193982" cy="1486852"/>
          </a:xfrm>
        </p:grpSpPr>
        <p:sp>
          <p:nvSpPr>
            <p:cNvPr id="60" name="Rectangle 60"/>
            <p:cNvSpPr/>
            <p:nvPr/>
          </p:nvSpPr>
          <p:spPr>
            <a:xfrm>
              <a:off x="6464618" y="4758690"/>
              <a:ext cx="5193982" cy="1486852"/>
            </a:xfrm>
            <a:prstGeom prst="roundRect">
              <a:avLst>
                <a:gd name="adj" fmla="val 768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669405" y="5401628"/>
              <a:ext cx="200026" cy="200025"/>
              <a:chOff x="6669405" y="5401628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669405" y="54016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709144" y="54460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43859" y="55572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971729" y="5270659"/>
              <a:ext cx="426148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与 APRAM 相比，存储器从共享变为分布，节点不能直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接读别人的存储器，只能发消息。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45" y="407194"/>
              <a:ext cx="2172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BSP 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超级步：局部计算、全局通信、路障同步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5" name="c1-cells-1"/>
          <p:cNvGrpSpPr/>
          <p:nvPr/>
        </p:nvGrpSpPr>
        <p:grpSpPr>
          <a:xfrm>
            <a:off x="527685" y="1524000"/>
            <a:ext cx="5849303" cy="2340769"/>
            <a:chOff x="527685" y="1524000"/>
            <a:chExt cx="5849303" cy="2340769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5687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30580" y="1524000"/>
              <a:ext cx="69342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6188" y="16568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24000" y="1524000"/>
              <a:ext cx="69342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89608" y="16568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217420" y="1524000"/>
              <a:ext cx="69342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83028" y="16568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910840" y="1524000"/>
              <a:ext cx="69342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76448" y="16568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603308" y="1524000"/>
              <a:ext cx="69342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868915" y="16568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96728" y="1524000"/>
              <a:ext cx="69342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62335" y="16568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990148" y="1524000"/>
              <a:ext cx="69342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5755" y="16568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683568" y="1524000"/>
              <a:ext cx="693420" cy="406718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49175" y="16568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7685" y="223027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0580" y="2096452"/>
              <a:ext cx="69342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6188" y="223027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524000" y="2096452"/>
              <a:ext cx="69342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789608" y="223027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217420" y="2096452"/>
              <a:ext cx="69342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483028" y="223027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10840" y="2096452"/>
              <a:ext cx="69342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176448" y="223027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603308" y="2096452"/>
              <a:ext cx="69342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68915" y="223027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296728" y="2096452"/>
              <a:ext cx="69342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990148" y="2096452"/>
              <a:ext cx="69342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683568" y="2096452"/>
              <a:ext cx="693420" cy="406718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49175" y="223027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7685" y="28027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30580" y="2669858"/>
              <a:ext cx="69342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6188" y="28027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524000" y="2669858"/>
              <a:ext cx="69342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789608" y="28027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217420" y="2669858"/>
              <a:ext cx="69342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483028" y="28027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910840" y="2669858"/>
              <a:ext cx="69342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176448" y="28027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603308" y="2669858"/>
              <a:ext cx="69342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868915" y="28027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296728" y="2669858"/>
              <a:ext cx="69342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990148" y="2669858"/>
              <a:ext cx="69342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683568" y="2669858"/>
              <a:ext cx="693420" cy="406718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49175" y="28027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障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7685" y="337613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30580" y="3242310"/>
              <a:ext cx="69342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96188" y="33761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524000" y="3242310"/>
              <a:ext cx="69342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789608" y="33761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217420" y="3242310"/>
              <a:ext cx="69342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483028" y="33761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2910840" y="3242310"/>
              <a:ext cx="69342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3603308" y="3242310"/>
              <a:ext cx="69342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4296728" y="3242310"/>
              <a:ext cx="69342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4990148" y="3242310"/>
              <a:ext cx="69342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683568" y="3242310"/>
              <a:ext cx="693420" cy="406718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49175" y="33761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障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42171" y="37028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835591" y="37028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529011" y="37028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222431" y="37028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914898" y="37028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608318" y="37028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301738" y="37028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995158" y="37028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77" name="c1-text-2"/>
          <p:cNvGrpSpPr/>
          <p:nvPr/>
        </p:nvGrpSpPr>
        <p:grpSpPr>
          <a:xfrm>
            <a:off x="527304" y="4034790"/>
            <a:ext cx="5567172" cy="470916"/>
            <a:chOff x="527304" y="4034790"/>
            <a:chExt cx="5567172" cy="470916"/>
          </a:xfrm>
        </p:grpSpPr>
        <p:sp>
          <p:nvSpPr>
            <p:cNvPr id="76" name="TextBox 76"/>
            <p:cNvSpPr txBox="1"/>
            <p:nvPr/>
          </p:nvSpPr>
          <p:spPr>
            <a:xfrm>
              <a:off x="527304" y="4034790"/>
              <a:ext cx="556717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一个超级步的时空图：算 = 局部计算，通 = 收发消息，障 = 路障同步；灰格是先完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成的节点在路障前的等待。</a:t>
              </a:r>
            </a:p>
          </p:txBody>
        </p:sp>
      </p:grpSp>
      <p:grpSp>
        <p:nvGrpSpPr>
          <p:cNvPr id="96" name="c1-flow-3"/>
          <p:cNvGrpSpPr/>
          <p:nvPr/>
        </p:nvGrpSpPr>
        <p:grpSpPr>
          <a:xfrm>
            <a:off x="666750" y="5054918"/>
            <a:ext cx="5576888" cy="424815"/>
            <a:chOff x="666750" y="5054918"/>
            <a:chExt cx="5576888" cy="424815"/>
          </a:xfrm>
        </p:grpSpPr>
        <p:sp>
          <p:nvSpPr>
            <p:cNvPr id="78" name="Freeform 78"/>
            <p:cNvSpPr/>
            <p:nvPr/>
          </p:nvSpPr>
          <p:spPr>
            <a:xfrm>
              <a:off x="1568768" y="526827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1730692" y="52158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80" name="Freeform 80"/>
            <p:cNvSpPr/>
            <p:nvPr/>
          </p:nvSpPr>
          <p:spPr>
            <a:xfrm>
              <a:off x="2737485" y="526827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2899410" y="52158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82" name="Freeform 82"/>
            <p:cNvSpPr/>
            <p:nvPr/>
          </p:nvSpPr>
          <p:spPr>
            <a:xfrm>
              <a:off x="3906202" y="526827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4068128" y="52158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84" name="Freeform 84"/>
            <p:cNvSpPr/>
            <p:nvPr/>
          </p:nvSpPr>
          <p:spPr>
            <a:xfrm>
              <a:off x="5074920" y="526827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5236845" y="52158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66750" y="5054918"/>
              <a:ext cx="902018" cy="4248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1835468" y="5054918"/>
              <a:ext cx="902018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3004185" y="5054918"/>
              <a:ext cx="902018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4172902" y="5054918"/>
              <a:ext cx="902018" cy="424815"/>
            </a:xfrm>
            <a:prstGeom prst="roundRect">
              <a:avLst>
                <a:gd name="adj" fmla="val 22422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5341620" y="5054918"/>
              <a:ext cx="902018" cy="4248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49642" y="518445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968932" y="5184458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超级步 1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3137649" y="5184458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超级步 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4572914" y="518445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5624512" y="518445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</p:grpSp>
      <p:grpSp>
        <p:nvGrpSpPr>
          <p:cNvPr id="109" name="c2-bullets-1"/>
          <p:cNvGrpSpPr/>
          <p:nvPr/>
        </p:nvGrpSpPr>
        <p:grpSpPr>
          <a:xfrm>
            <a:off x="6680835" y="1532572"/>
            <a:ext cx="4730496" cy="1803464"/>
            <a:chOff x="6680835" y="1532572"/>
            <a:chExt cx="4730496" cy="1803464"/>
          </a:xfrm>
        </p:grpSpPr>
        <p:sp>
          <p:nvSpPr>
            <p:cNvPr id="97" name="Ellipse 97"/>
            <p:cNvSpPr/>
            <p:nvPr/>
          </p:nvSpPr>
          <p:spPr>
            <a:xfrm>
              <a:off x="6680835" y="1532572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729923" y="1567196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941439" y="1544002"/>
              <a:ext cx="44698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整个计算由一系列用全局同步隔开的超级步（super step）组成，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同步周期为 L</a:t>
              </a:r>
            </a:p>
          </p:txBody>
        </p:sp>
        <p:sp>
          <p:nvSpPr>
            <p:cNvPr id="100" name="Ellipse 100"/>
            <p:cNvSpPr/>
            <p:nvPr/>
          </p:nvSpPr>
          <p:spPr>
            <a:xfrm>
              <a:off x="6680835" y="2051685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729923" y="2085356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941439" y="2063115"/>
              <a:ext cx="44089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每个超级步内，p 个节点异步运行各自的局部程序，并通过路由器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收发消息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6680835" y="2570798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729923" y="2604468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941439" y="2582227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路由器只做点到点的消息传递，不提供组播、广播这类功能</a:t>
              </a:r>
            </a:p>
          </p:txBody>
        </p:sp>
        <p:sp>
          <p:nvSpPr>
            <p:cNvPr id="106" name="Ellipse 106"/>
            <p:cNvSpPr/>
            <p:nvPr/>
          </p:nvSpPr>
          <p:spPr>
            <a:xfrm>
              <a:off x="6680835" y="2861310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729923" y="2894981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941439" y="2872740"/>
              <a:ext cx="44546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每个超级步的时间片 L 用完时，路障同步器检查是否所有节点都已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完成本超级步</a:t>
              </a:r>
            </a:p>
          </p:txBody>
        </p:sp>
      </p:grpSp>
      <p:grpSp>
        <p:nvGrpSpPr>
          <p:cNvPr id="118" name="c2-kv-2"/>
          <p:cNvGrpSpPr/>
          <p:nvPr/>
        </p:nvGrpSpPr>
        <p:grpSpPr>
          <a:xfrm>
            <a:off x="6673596" y="3497104"/>
            <a:ext cx="4985004" cy="1925574"/>
            <a:chOff x="6673596" y="3497104"/>
            <a:chExt cx="4985004" cy="1925574"/>
          </a:xfrm>
        </p:grpSpPr>
        <p:sp>
          <p:nvSpPr>
            <p:cNvPr id="110" name="TextBox 110"/>
            <p:cNvSpPr txBox="1"/>
            <p:nvPr/>
          </p:nvSpPr>
          <p:spPr>
            <a:xfrm>
              <a:off x="6673596" y="349710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局部计算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672768" y="3497104"/>
              <a:ext cx="36212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只用本节点存储器里的数据，包括上一超级步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收到的消息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6680835" y="407098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673596" y="418671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全局通信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7672768" y="4186714"/>
              <a:ext cx="36212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把要给别人的数据发出去，接收别人发来的数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6680835" y="47605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6673596" y="487632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路障同步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672768" y="4876324"/>
              <a:ext cx="36212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等所有节点都完成前两步，再一起进入下一超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级步</a:t>
              </a:r>
            </a:p>
          </p:txBody>
        </p:sp>
      </p:grpSp>
      <p:grpSp>
        <p:nvGrpSpPr>
          <p:cNvPr id="124" name="c2-callout-3"/>
          <p:cNvGrpSpPr/>
          <p:nvPr/>
        </p:nvGrpSpPr>
        <p:grpSpPr>
          <a:xfrm>
            <a:off x="6680835" y="5552122"/>
            <a:ext cx="4977765" cy="756285"/>
            <a:chOff x="6680835" y="5552122"/>
            <a:chExt cx="4977765" cy="756285"/>
          </a:xfrm>
        </p:grpSpPr>
        <p:sp>
          <p:nvSpPr>
            <p:cNvPr id="119" name="Rectangle 119"/>
            <p:cNvSpPr/>
            <p:nvPr/>
          </p:nvSpPr>
          <p:spPr>
            <a:xfrm>
              <a:off x="6680835" y="5552122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22" name="Group 122"/>
            <p:cNvGrpSpPr/>
            <p:nvPr/>
          </p:nvGrpSpPr>
          <p:grpSpPr>
            <a:xfrm>
              <a:off x="6885623" y="5830255"/>
              <a:ext cx="200023" cy="200023"/>
              <a:chOff x="6885623" y="5830255"/>
              <a:chExt cx="200023" cy="200023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6885623" y="58302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1" name="Freeform 121"/>
              <p:cNvSpPr/>
              <p:nvPr/>
            </p:nvSpPr>
            <p:spPr>
              <a:xfrm>
                <a:off x="7018973" y="58969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23" name="TextBox 123"/>
            <p:cNvSpPr txBox="1"/>
            <p:nvPr/>
          </p:nvSpPr>
          <p:spPr>
            <a:xfrm>
              <a:off x="7187946" y="5699284"/>
              <a:ext cx="38016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一个超级步的时长由最慢的节点决定：计算最久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的、收发最多的，都会拖住所有人。</a:t>
              </a:r>
            </a:p>
          </p:txBody>
        </p:sp>
      </p:grpSp>
      <p:grpSp>
        <p:nvGrpSpPr>
          <p:cNvPr id="12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5" name="TextBox 12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52483" cy="909257"/>
            <a:chOff x="520446" y="342900"/>
            <a:chExt cx="77524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45" y="407194"/>
              <a:ext cx="2172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BSP 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524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h-relation 与周期 L：消息太多就拆成几个超级步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602105"/>
            <a:chOff x="533400" y="1524000"/>
            <a:chExt cx="5410200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5631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707" y="1769269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h-relation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44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路由器的收发能力用 h 描述：每个处理器在一个超级步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内至多发送或接收 h 条消息。某节点收发总量超过 h 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导致路由器拥塞，要把该超级步扩展成多个超级步。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16605"/>
            <a:ext cx="5410200" cy="1316355"/>
            <a:chOff x="533400" y="3316605"/>
            <a:chExt cx="5410200" cy="1316355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44995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52615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6160" y="35618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3903345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3，某节点这一步要发 7 条消息，拆成 ⌈7/3⌉ = 3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个超级步，依次发 3、3、1 条。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823460"/>
            <a:ext cx="5410200" cy="1316355"/>
            <a:chOff x="533400" y="4823460"/>
            <a:chExt cx="5410200" cy="1316355"/>
          </a:xfrm>
        </p:grpSpPr>
        <p:sp>
          <p:nvSpPr>
            <p:cNvPr id="19" name="Rectangle 19"/>
            <p:cNvSpPr/>
            <p:nvPr/>
          </p:nvSpPr>
          <p:spPr>
            <a:xfrm>
              <a:off x="533400" y="482346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95681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50330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1258" y="50687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541020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当前超级步接收的消息，要到下一个超级步的计算中才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能使用。</a:t>
              </a:r>
            </a:p>
          </p:txBody>
        </p:sp>
      </p:grpSp>
      <p:grpSp>
        <p:nvGrpSpPr>
          <p:cNvPr id="47" name="c2-flow-1"/>
          <p:cNvGrpSpPr/>
          <p:nvPr/>
        </p:nvGrpSpPr>
        <p:grpSpPr>
          <a:xfrm>
            <a:off x="6437948" y="2074545"/>
            <a:ext cx="5031105" cy="3610927"/>
            <a:chOff x="6437948" y="2074545"/>
            <a:chExt cx="5031105" cy="3610927"/>
          </a:xfrm>
        </p:grpSpPr>
        <p:sp>
          <p:nvSpPr>
            <p:cNvPr id="25" name="Freeform 25"/>
            <p:cNvSpPr/>
            <p:nvPr/>
          </p:nvSpPr>
          <p:spPr>
            <a:xfrm>
              <a:off x="7600950" y="2512695"/>
              <a:ext cx="9525" cy="804862"/>
            </a:xfrm>
            <a:custGeom>
              <a:avLst/>
              <a:gdLst/>
              <a:ahLst/>
              <a:cxnLst/>
              <a:rect l="l" t="t" r="r" b="b"/>
              <a:pathLst>
                <a:path w="9525" h="804862">
                  <a:moveTo>
                    <a:pt x="0" y="0"/>
                  </a:moveTo>
                  <a:lnTo>
                    <a:pt x="0" y="804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548562" y="33175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7600950" y="4241482"/>
              <a:ext cx="9525" cy="709612"/>
            </a:xfrm>
            <a:custGeom>
              <a:avLst/>
              <a:gdLst/>
              <a:ahLst/>
              <a:cxnLst/>
              <a:rect l="l" t="t" r="r" b="b"/>
              <a:pathLst>
                <a:path w="9525" h="709612">
                  <a:moveTo>
                    <a:pt x="0" y="0"/>
                  </a:moveTo>
                  <a:lnTo>
                    <a:pt x="0" y="7096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548562" y="49510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763952" y="3831908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038272" y="37795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600950" y="2908935"/>
              <a:ext cx="2705100" cy="608648"/>
            </a:xfrm>
            <a:custGeom>
              <a:avLst/>
              <a:gdLst/>
              <a:ahLst/>
              <a:cxnLst/>
              <a:rect l="l" t="t" r="r" b="b"/>
              <a:pathLst>
                <a:path w="2705100" h="608648">
                  <a:moveTo>
                    <a:pt x="2705100" y="608648"/>
                  </a:moveTo>
                  <a:lnTo>
                    <a:pt x="2705100" y="399098"/>
                  </a:lnTo>
                  <a:lnTo>
                    <a:pt x="2705100" y="0"/>
                  </a:lnTo>
                  <a:lnTo>
                    <a:pt x="0" y="0"/>
                  </a:lnTo>
                  <a:lnTo>
                    <a:pt x="0" y="303848"/>
                  </a:lnTo>
                  <a:lnTo>
                    <a:pt x="0" y="40862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548562" y="33175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37948" y="2074545"/>
              <a:ext cx="2326005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6437948" y="3422332"/>
              <a:ext cx="2326005" cy="819150"/>
            </a:xfrm>
            <a:custGeom>
              <a:avLst/>
              <a:gdLst/>
              <a:ahLst/>
              <a:cxnLst/>
              <a:rect l="l" t="t" r="r" b="b"/>
              <a:pathLst>
                <a:path w="2326005" h="819150">
                  <a:moveTo>
                    <a:pt x="1163003" y="0"/>
                  </a:moveTo>
                  <a:lnTo>
                    <a:pt x="2326005" y="409575"/>
                  </a:lnTo>
                  <a:lnTo>
                    <a:pt x="1163003" y="819150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37948" y="5055870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143048" y="3517582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53766" y="2204561"/>
              <a:ext cx="10943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时间片 L 用完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25513" y="3633311"/>
              <a:ext cx="11508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所有节点都完成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本超级步？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62953" y="5172551"/>
              <a:ext cx="14759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打开路障，一起进入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下一个超级步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05493" y="3633311"/>
              <a:ext cx="18011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保持路障：已到的等待，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未到的再给一个 L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629525" y="455676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52766" y="458343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839200" y="361569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877490" y="364236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648700" y="2692718"/>
              <a:ext cx="60864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672665" y="2719388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又过了 L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45" y="407194"/>
              <a:ext cx="2172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BSP 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实际实现：各节点显式调用路障同步原语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626418" cy="2327910"/>
            <a:chOff x="533400" y="1524000"/>
            <a:chExt cx="5626418" cy="23279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507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BSP 的代表性进程代码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504122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518535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035" y="1937861"/>
              <a:ext cx="4435094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...     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局部程序代码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Send(source, target, message);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Receive(source, target, message);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Global-Syn(k);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 k 次全局路障同步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...     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局部程序代码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Send(source, target, message);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Receive(source, target, message);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Global-Syn(k+1);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 k+1 次全局路障同步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4042410"/>
            <a:ext cx="5626418" cy="1719262"/>
            <a:chOff x="533400" y="4042410"/>
            <a:chExt cx="5626418" cy="1719262"/>
          </a:xfrm>
        </p:grpSpPr>
        <p:sp>
          <p:nvSpPr>
            <p:cNvPr id="13" name="Rectangle 13"/>
            <p:cNvSpPr/>
            <p:nvPr/>
          </p:nvSpPr>
          <p:spPr>
            <a:xfrm>
              <a:off x="533400" y="4042410"/>
              <a:ext cx="5626418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4194334"/>
              <a:ext cx="21788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MPI 把程序组织成超级步（示意）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52450" y="5225415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035" y="4456271"/>
              <a:ext cx="4733798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= 0; k &lt; S; k++)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local_compute(k);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局部计算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MPI_Isend(...);  MPI_Irecv(...);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发出、登记本步消息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MPI_Waitall(...);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本步收发完成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MPI_Barrier(MPI_COMM_WORLD);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路障：超级步结束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2-card-1"/>
          <p:cNvGrpSpPr/>
          <p:nvPr/>
        </p:nvGrpSpPr>
        <p:grpSpPr>
          <a:xfrm>
            <a:off x="6464618" y="1524000"/>
            <a:ext cx="5193982" cy="1887855"/>
            <a:chOff x="6464618" y="1524000"/>
            <a:chExt cx="5193982" cy="1887855"/>
          </a:xfrm>
        </p:grpSpPr>
        <p:sp>
          <p:nvSpPr>
            <p:cNvPr id="18" name="Rectangle 18"/>
            <p:cNvSpPr/>
            <p:nvPr/>
          </p:nvSpPr>
          <p:spPr>
            <a:xfrm>
              <a:off x="6464618" y="1524000"/>
              <a:ext cx="5193982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74142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712268" y="1733550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65023" y="176926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用显式同步代替周期检测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04648" y="2110740"/>
              <a:ext cx="45110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实际系统里，每个超级步结束后由各节点显式执行路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障同步原语完成全局同步，代替路障同步器按周期 L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检测。先到的节点在 Global-Syn 里等，最后一个到达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后大家一起返回。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464618" y="3602355"/>
            <a:ext cx="5193982" cy="1602105"/>
            <a:chOff x="6464618" y="3602355"/>
            <a:chExt cx="5193982" cy="1602105"/>
          </a:xfrm>
        </p:grpSpPr>
        <p:sp>
          <p:nvSpPr>
            <p:cNvPr id="24" name="Rectangle 24"/>
            <p:cNvSpPr/>
            <p:nvPr/>
          </p:nvSpPr>
          <p:spPr>
            <a:xfrm>
              <a:off x="6464618" y="3602355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4142" y="373570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12268" y="3811905"/>
              <a:ext cx="1331595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67876" y="3847624"/>
              <a:ext cx="1220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和第3章 MPI 对照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04648" y="4189095"/>
              <a:ext cx="44062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MPI_Barrier 就是这样的路障原语。左下的循环每转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一圈是一个超级步，收到的数据在下一圈的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local_compute 里使用，正好是 BSP 的规则。</a:t>
              </a:r>
            </a:p>
          </p:txBody>
        </p:sp>
      </p:grpSp>
      <p:grpSp>
        <p:nvGrpSpPr>
          <p:cNvPr id="36" name="c2-callout-3"/>
          <p:cNvGrpSpPr/>
          <p:nvPr/>
        </p:nvGrpSpPr>
        <p:grpSpPr>
          <a:xfrm>
            <a:off x="6464618" y="5394960"/>
            <a:ext cx="5193982" cy="782955"/>
            <a:chOff x="6464618" y="5394960"/>
            <a:chExt cx="5193982" cy="782955"/>
          </a:xfrm>
        </p:grpSpPr>
        <p:sp>
          <p:nvSpPr>
            <p:cNvPr id="30" name="Rectangle 30"/>
            <p:cNvSpPr/>
            <p:nvPr/>
          </p:nvSpPr>
          <p:spPr>
            <a:xfrm>
              <a:off x="6464618" y="539496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669405" y="5686425"/>
              <a:ext cx="200026" cy="200026"/>
              <a:chOff x="6669405" y="5686425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669405" y="56864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69418" y="5753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758305" y="57864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971348" y="5543550"/>
              <a:ext cx="4320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代码里每两次 Global-Syn 之间的部分就是一个超级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步：先算，再收发，最后同步。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90080" cy="909257"/>
            <a:chOff x="520446" y="342900"/>
            <a:chExt cx="70900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45" y="407194"/>
              <a:ext cx="2172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BSP 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900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 的代价：最长计算 + 最多收发 + 一次路障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kv-1"/>
          <p:cNvGrpSpPr/>
          <p:nvPr/>
        </p:nvGrpSpPr>
        <p:grpSpPr>
          <a:xfrm>
            <a:off x="526161" y="1547336"/>
            <a:ext cx="5417439" cy="1965580"/>
            <a:chOff x="526161" y="1547336"/>
            <a:chExt cx="5417439" cy="1965580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901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Wₖ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0034" y="1547336"/>
              <a:ext cx="38663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个超级步内各节点本地计算时间的最长者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535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1969294"/>
              <a:ext cx="247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Hₖ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0034" y="1969294"/>
              <a:ext cx="44398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个超级步内收发消息个数最多的节点的收发时间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745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239125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0034" y="239125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该节点收发的消息条数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6965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281225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0034" y="281225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每个数据包的字节数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1184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161" y="3234214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0034" y="323421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每次全局同步路障的开销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ormula21"/>
              <p:cNvSpPr txBox="1">
                <a:spLocks noGrp="1"/>
              </p:cNvSpPr>
              <p:nvPr/>
            </p:nvSpPr>
            <p:spPr>
              <a:xfrm>
                <a:off x="533400" y="3642360"/>
                <a:ext cx="5410200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num>
                            <m:den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4" name="c1-text-3"/>
          <p:cNvGrpSpPr/>
          <p:nvPr/>
        </p:nvGrpSpPr>
        <p:grpSpPr>
          <a:xfrm>
            <a:off x="527304" y="4438650"/>
            <a:ext cx="4462729" cy="234696"/>
            <a:chOff x="527304" y="4438650"/>
            <a:chExt cx="4462729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527304" y="4438650"/>
              <a:ext cx="44627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tl 是传输延迟，th 是吞吐率；括号里是一条消息的收发时间。</a:t>
              </a:r>
            </a:p>
          </p:txBody>
        </p:sp>
      </p:grpSp>
      <p:grpSp>
        <p:nvGrpSpPr>
          <p:cNvPr id="30" name="c1-card-4"/>
          <p:cNvGrpSpPr/>
          <p:nvPr/>
        </p:nvGrpSpPr>
        <p:grpSpPr>
          <a:xfrm>
            <a:off x="533400" y="4812030"/>
            <a:ext cx="5410200" cy="1274445"/>
            <a:chOff x="533400" y="4812030"/>
            <a:chExt cx="5410200" cy="1274445"/>
          </a:xfrm>
        </p:grpSpPr>
        <p:sp>
          <p:nvSpPr>
            <p:cNvPr id="25" name="Rectangle 25"/>
            <p:cNvSpPr/>
            <p:nvPr/>
          </p:nvSpPr>
          <p:spPr>
            <a:xfrm>
              <a:off x="533400" y="4812030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94538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75335" y="501586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9940" y="505158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为什么都取最大值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8096" y="538876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路障要等最后一个节点到达，快节点省下的时间只是在路障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前空等，所以 Wₖ、Hₖ 都取各节点中的最大者，不取平均。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formula22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23"/>
              <p:cNvSpPr txBox="1">
                <a:spLocks noGrp="1"/>
              </p:cNvSpPr>
              <p:nvPr/>
            </p:nvSpPr>
            <p:spPr>
              <a:xfrm>
                <a:off x="6248400" y="2147888"/>
                <a:ext cx="5410200" cy="66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p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p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8" name="c2-table-3"/>
          <p:cNvGrpSpPr/>
          <p:nvPr/>
        </p:nvGrpSpPr>
        <p:grpSpPr>
          <a:xfrm>
            <a:off x="6248400" y="2992755"/>
            <a:ext cx="5410200" cy="1290638"/>
            <a:chOff x="6248400" y="2992755"/>
            <a:chExt cx="5410200" cy="1290638"/>
          </a:xfrm>
        </p:grpSpPr>
        <p:sp>
          <p:nvSpPr>
            <p:cNvPr id="33" name="Rectangle 33"/>
            <p:cNvSpPr/>
            <p:nvPr/>
          </p:nvSpPr>
          <p:spPr>
            <a:xfrm>
              <a:off x="6248400" y="2992755"/>
              <a:ext cx="541020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66598" y="31242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范围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10625" y="31242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29887" y="31242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53747" y="355473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一个超级步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78291" y="355473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52468" y="3554730"/>
              <a:ext cx="4901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Tₖ / L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8481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3852862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3747" y="3984307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个超级步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25230" y="3984307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18432" y="3984307"/>
              <a:ext cx="758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/ (s·L)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2992755"/>
              <a:ext cx="5410200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216265" y="299275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731692" y="299275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rd-4"/>
          <p:cNvGrpSpPr/>
          <p:nvPr/>
        </p:nvGrpSpPr>
        <p:grpSpPr>
          <a:xfrm>
            <a:off x="6248400" y="4469130"/>
            <a:ext cx="5410200" cy="1617345"/>
            <a:chOff x="6248400" y="4469130"/>
            <a:chExt cx="5410200" cy="1617345"/>
          </a:xfrm>
        </p:grpSpPr>
        <p:sp>
          <p:nvSpPr>
            <p:cNvPr id="49" name="Rectangle 49"/>
            <p:cNvSpPr/>
            <p:nvPr/>
          </p:nvSpPr>
          <p:spPr>
            <a:xfrm>
              <a:off x="6248400" y="4469130"/>
              <a:ext cx="5410200" cy="1617345"/>
            </a:xfrm>
            <a:prstGeom prst="roundRect">
              <a:avLst>
                <a:gd name="adj" fmla="val 8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4602480"/>
              <a:ext cx="47625" cy="13506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90335" y="467296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63792" y="470868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对照常见写法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83096" y="5045869"/>
              <a:ext cx="473036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许多教材把一个超级步的代价写成 w + h·g + l：g 是一条消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息的通信代价，相当于这里的 tl + q/th；l 是路障开销，相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当于 B。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48435" cy="909257"/>
            <a:chOff x="520446" y="342900"/>
            <a:chExt cx="77484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45" y="407194"/>
              <a:ext cx="2172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BSP 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484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例题：三个超级步的 BSP 程序要多久，效率是多少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466850"/>
            <a:chOff x="533400" y="1524000"/>
            <a:chExt cx="5626418" cy="1466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90861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 BSP 程序有 3 个超级步，各步最长本地计算 Wₖ = 40、25、30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μs，收发最多的节点分别收发 h = 3、5、2 条消息。tl = 3 μs，q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800 字节，th = 400 字节/μs，B = 10 μs，L = 70 μs。</a:t>
              </a:r>
            </a:p>
          </p:txBody>
        </p:sp>
      </p:grpSp>
      <p:grpSp>
        <p:nvGrpSpPr>
          <p:cNvPr id="30" name="c1-steps-2"/>
          <p:cNvGrpSpPr/>
          <p:nvPr/>
        </p:nvGrpSpPr>
        <p:grpSpPr>
          <a:xfrm>
            <a:off x="533400" y="3175635"/>
            <a:ext cx="4070142" cy="2279809"/>
            <a:chOff x="533400" y="3175635"/>
            <a:chExt cx="4070142" cy="2279809"/>
          </a:xfrm>
        </p:grpSpPr>
        <p:sp>
          <p:nvSpPr>
            <p:cNvPr id="13" name="Rectangle 13"/>
            <p:cNvSpPr/>
            <p:nvPr/>
          </p:nvSpPr>
          <p:spPr>
            <a:xfrm>
              <a:off x="666750" y="331851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17563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494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6237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361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34911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422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9358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0096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207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一条消息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47424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tl + q/th = 3 + 800/400 = 5 μs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79380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各步收发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061936"/>
              <a:ext cx="19022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Hₖ = h × 5 = 15、25、10 μs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438054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各步总时间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648676"/>
              <a:ext cx="3656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Tₖ = Wₖ + Hₖ + B = 65、60、50 μs，都不超过 L = 70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496824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合计与效率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5235416"/>
              <a:ext cx="2867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175 μs，效率 175 / (3 × 70) ≈ 83.3%</a:t>
              </a:r>
            </a:p>
          </p:txBody>
        </p:sp>
      </p:grpSp>
      <p:grpSp>
        <p:nvGrpSpPr>
          <p:cNvPr id="75" name="c2-table-1"/>
          <p:cNvGrpSpPr/>
          <p:nvPr/>
        </p:nvGrpSpPr>
        <p:grpSpPr>
          <a:xfrm>
            <a:off x="6464618" y="1524000"/>
            <a:ext cx="5193982" cy="2028825"/>
            <a:chOff x="6464618" y="1524000"/>
            <a:chExt cx="5193982" cy="2028825"/>
          </a:xfrm>
        </p:grpSpPr>
        <p:sp>
          <p:nvSpPr>
            <p:cNvPr id="31" name="Rectangle 31"/>
            <p:cNvSpPr/>
            <p:nvPr/>
          </p:nvSpPr>
          <p:spPr>
            <a:xfrm>
              <a:off x="6464618" y="1524000"/>
              <a:ext cx="5193982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4232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超级步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63684" y="16483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51937" y="164830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55175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07369" y="164830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01494" y="1648301"/>
              <a:ext cx="479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Tₖ / 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24954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94216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51453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08691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47843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102373" y="205406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92.9%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2330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64618" y="233553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24954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94216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51453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08691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47843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02373" y="2459831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85.7%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27365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24954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94216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751453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508691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47843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102373" y="286559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71.4%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31422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64618" y="314706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17716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94216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51453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08691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795510" y="3156585"/>
              <a:ext cx="82010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264917" y="32713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175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0634662" y="3156585"/>
              <a:ext cx="101441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1102373" y="3271361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83.3%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64618" y="1524000"/>
              <a:ext cx="5193982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479982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266748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023985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9781222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10620375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1" name="c2-card-2"/>
          <p:cNvGrpSpPr/>
          <p:nvPr/>
        </p:nvGrpSpPr>
        <p:grpSpPr>
          <a:xfrm>
            <a:off x="6464618" y="3728085"/>
            <a:ext cx="5193982" cy="1721168"/>
            <a:chOff x="6464618" y="3728085"/>
            <a:chExt cx="5193982" cy="1721168"/>
          </a:xfrm>
        </p:grpSpPr>
        <p:sp>
          <p:nvSpPr>
            <p:cNvPr id="76" name="Rectangle 76"/>
            <p:cNvSpPr/>
            <p:nvPr/>
          </p:nvSpPr>
          <p:spPr>
            <a:xfrm>
              <a:off x="6464618" y="3728085"/>
              <a:ext cx="5193982" cy="1721168"/>
            </a:xfrm>
            <a:prstGeom prst="roundRect">
              <a:avLst>
                <a:gd name="adj" fmla="val 77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474142" y="3861435"/>
              <a:ext cx="47625" cy="145446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695122" y="3920490"/>
              <a:ext cx="1387792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755397" y="3954780"/>
              <a:ext cx="12662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变式：L 改为 60 μs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688264" y="4276725"/>
              <a:ext cx="453999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超级步 65 &gt; 60，第一次检查时还没完成，要再给一个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L，这一步实际占 120 μs。三步共 4 个周期 240 μs，效率降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175 / 240 ≈ 72.9%。</a:t>
              </a:r>
            </a:p>
          </p:txBody>
        </p:sp>
      </p:grpSp>
      <p:grpSp>
        <p:nvGrpSpPr>
          <p:cNvPr id="8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2" name="Rectangle 8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1040892" y="6023610"/>
              <a:ext cx="78465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算每个超级步先找“最慢的节点”：计算取最长者，通信取收发最多者，二者可以不是同一个节点。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34181" cy="909257"/>
            <a:chOff x="520446" y="342900"/>
            <a:chExt cx="76341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45" y="407194"/>
              <a:ext cx="2172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BSP 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341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 小结：结构清楚，代价是同步开销和硬件气泡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6276022" cy="3826192"/>
            <a:chOff x="533400" y="1524000"/>
            <a:chExt cx="6276022" cy="38261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94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5697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避免死锁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70888" y="2108359"/>
              <a:ext cx="47271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计算划分为超级步，消息在步末统一交付，进程之间不会互相等待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对方的消息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6276022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30103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延迟通信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0888" y="2783681"/>
              <a:ext cx="472719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把全部计算和通信视为一个整体行为，让每个进程把超级步内的收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发尽量押后、组成一次大通信。好处是有更多优化通信的机会，坏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处是延迟发送也意味着延迟接收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5461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7990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同步开销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70888" y="3685699"/>
              <a:ext cx="47271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依赖路障同步器：用硬件实现横跨所有节点的同步器成本过大，用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软件同步库则开销随节点数增加而增大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22148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4226242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44743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硬件气泡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70888" y="4361021"/>
              <a:ext cx="4564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计算时网络空闲，收发时计算资源空闲，快进程在路障处等慢进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程；可用节点内多进程或多线程填充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8968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50372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70888" y="5037296"/>
              <a:ext cx="2373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编程的结构性 vs 资源的有效性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6276022" cy="38261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658302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2-image-1"/>
          <p:cNvGrpSpPr/>
          <p:nvPr/>
        </p:nvGrpSpPr>
        <p:grpSpPr>
          <a:xfrm>
            <a:off x="7114222" y="1524000"/>
            <a:ext cx="4544378" cy="3722847"/>
            <a:chOff x="7114222" y="1524000"/>
            <a:chExt cx="4544378" cy="3722847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5552" t="0" r="5553" b="0"/>
            <a:stretch>
              <a:fillRect/>
            </a:stretch>
          </p:blipFill>
          <p:spPr>
            <a:xfrm>
              <a:off x="7114222" y="1524000"/>
              <a:ext cx="4544378" cy="3408045"/>
            </a:xfrm>
            <a:prstGeom prst="roundRect">
              <a:avLst>
                <a:gd name="adj" fmla="val 3912"/>
              </a:avLst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7420153" y="5026819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先到检查站的人也得等最慢的人，等待的时间就是硬件气泡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728335"/>
              <a:ext cx="992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减少气泡的办法：让各节点每个超级步的计算量和收发量尽量相等（负载均衡），再在节点内开多个进程或线程填补空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闲。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77068" cy="909257"/>
            <a:chOff x="520446" y="342900"/>
            <a:chExt cx="68770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45" y="407194"/>
              <a:ext cx="2172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BSP 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770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 与 MapReduce：状态模型对数据流模型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708458" cy="3830955"/>
            <a:chOff x="533400" y="1524000"/>
            <a:chExt cx="6708458" cy="38309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233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38350" y="1659731"/>
              <a:ext cx="9564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MapReduce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02255" y="165973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BSP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48993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98860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状态模型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708458" cy="112871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怎样交换数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48993" y="2556986"/>
              <a:ext cx="2288794" cy="92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每个任务只处理输入、产生输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出，输出作为另一个任务的输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入；串行任务之间以磁盘和数据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复制为交换介质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98860" y="2556986"/>
              <a:ext cx="2288794" cy="92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各子任务在本地的子图数据上计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算、通信、修改图的状态，通过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消息交流中间结果，不需要复制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全体数据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615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40257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设计初衷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48993" y="3685699"/>
              <a:ext cx="2288794" cy="92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大规模、非实时的数据处理。大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规模意味着数据有局部性、可划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分、可批处理；非实时意味着响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应时间可以较长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98860" y="3799046"/>
              <a:ext cx="228879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原课件称其在实时处理上表现优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异，并把这一点视为两者最大的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区别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67487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679632"/>
              <a:ext cx="670845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9277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典型系统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48993" y="4927759"/>
              <a:ext cx="2321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MapReduce（第5章）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98860" y="4814411"/>
              <a:ext cx="22969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 Pregel、Apache Giraph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等图计算系统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708458" cy="38309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736408" y="1524000"/>
              <a:ext cx="9525" cy="38309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486275" y="1524000"/>
              <a:ext cx="9525" cy="38309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2-card-1"/>
          <p:cNvGrpSpPr/>
          <p:nvPr/>
        </p:nvGrpSpPr>
        <p:grpSpPr>
          <a:xfrm>
            <a:off x="7546658" y="1524000"/>
            <a:ext cx="4111942" cy="2653665"/>
            <a:chOff x="7546658" y="1524000"/>
            <a:chExt cx="4111942" cy="2653665"/>
          </a:xfrm>
        </p:grpSpPr>
        <p:sp>
          <p:nvSpPr>
            <p:cNvPr id="32" name="Rectangle 32"/>
            <p:cNvSpPr/>
            <p:nvPr/>
          </p:nvSpPr>
          <p:spPr>
            <a:xfrm>
              <a:off x="7546658" y="1524000"/>
              <a:ext cx="4111942" cy="2653665"/>
            </a:xfrm>
            <a:prstGeom prst="roundRect">
              <a:avLst>
                <a:gd name="adj" fmla="val 50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56182" y="1657350"/>
              <a:ext cx="47625" cy="23869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9430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8546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86688" y="2110740"/>
              <a:ext cx="3444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Pregel 这类 BSP 系统的长处主要在迭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代：图的状态一直留在各节点内存里，每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轮只传消息；多轮 MapReduce 则每轮都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要读写磁盘。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87830" y="3299936"/>
              <a:ext cx="344297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所以把区别概括为“实时与否”偏宽泛，考试按原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课件答，理解时抓住“状态留在内存、只传消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息”。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7546658" y="4368165"/>
            <a:ext cx="4111942" cy="1059180"/>
            <a:chOff x="7546658" y="4368165"/>
            <a:chExt cx="4111942" cy="1059180"/>
          </a:xfrm>
        </p:grpSpPr>
        <p:sp>
          <p:nvSpPr>
            <p:cNvPr id="39" name="Rectangle 39"/>
            <p:cNvSpPr/>
            <p:nvPr/>
          </p:nvSpPr>
          <p:spPr>
            <a:xfrm>
              <a:off x="7546658" y="4368165"/>
              <a:ext cx="411194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751445" y="4797743"/>
              <a:ext cx="200026" cy="200025"/>
              <a:chOff x="7751445" y="4797743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751445" y="47977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91184" y="48421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825899" y="49533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8053388" y="4516755"/>
              <a:ext cx="31489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并行任务之间，MapReduce 各自独立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地进行，BSP 则在每个超级步交换消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息。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39234" cy="533400"/>
            <a:chOff x="533400" y="5829300"/>
            <a:chExt cx="11139234" cy="533400"/>
          </a:xfrm>
        </p:grpSpPr>
        <p:sp>
          <p:nvSpPr>
            <p:cNvPr id="46" name="Rectangle 4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106325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区分两者看中间结果放在哪：MapReduce 每轮写盘交给下一轮任务，BSP 的状态留在节点上，超级步之间只交换消息。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706428" cy="3351847"/>
            <a:chOff x="667512" y="1835468"/>
            <a:chExt cx="570642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7064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LogP 模型与四种模型对照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去掉全局路障，用四个参数描述点到点通信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9495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L、o、g、P 四个参数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221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LogP 与 BSP 的关系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单条消息与连续发送的时间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四种模型对照与选用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74863" cy="909257"/>
            <a:chOff x="520446" y="342900"/>
            <a:chExt cx="74748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566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26" y="407194"/>
              <a:ext cx="3303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LogP 模型与四种模型对照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748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LogP 的四个参数：延迟、开销、间隔、处理器数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059805" cy="2790825"/>
            <a:chOff x="533400" y="1524000"/>
            <a:chExt cx="6059805" cy="2790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299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9855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89498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限制谁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10921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L（Latency）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53222" y="2085022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消息从源节点到目的节点所需的时间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88914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6059805" cy="8572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728912"/>
              <a:ext cx="11749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o（overhead）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53222" y="2515552"/>
              <a:ext cx="32125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节点发送或接收一条消息所需的额外开销（操作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系统和网络软件开销），此期间节点不能做任何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其他操作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88914" y="272891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65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3479482"/>
              <a:ext cx="7084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g（gap）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53222" y="3372802"/>
              <a:ext cx="3212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节点连续两次发送或接收消息之间必须有的最短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间隔，1/g 就是节点可用的通信带宽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88914" y="34794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8795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88429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4015740"/>
              <a:ext cx="12787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P（Processor）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53222" y="401574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节点的数目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88914" y="40157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059805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043112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678805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4500562"/>
            <a:ext cx="6059805" cy="1545908"/>
            <a:chOff x="533400" y="4500562"/>
            <a:chExt cx="6059805" cy="1545908"/>
          </a:xfrm>
        </p:grpSpPr>
        <p:sp>
          <p:nvSpPr>
            <p:cNvPr id="32" name="Rectangle 32"/>
            <p:cNvSpPr/>
            <p:nvPr/>
          </p:nvSpPr>
          <p:spPr>
            <a:xfrm>
              <a:off x="533400" y="4500562"/>
              <a:ext cx="605980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63391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5335" y="47043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5543" y="47401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8096" y="5077301"/>
              <a:ext cx="536155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原课件写“超过此间隔则数据包会因拥塞而被网络丢弃”。拥塞发生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在间隔短于 g、发得太快的时候；按 LogP 原论文，超出网络容量时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发送方停下来等待，不丢包。</a:t>
              </a:r>
            </a:p>
          </p:txBody>
        </p:sp>
      </p:grpSp>
      <p:grpSp>
        <p:nvGrpSpPr>
          <p:cNvPr id="91" name="c2-cells-1"/>
          <p:cNvGrpSpPr/>
          <p:nvPr/>
        </p:nvGrpSpPr>
        <p:grpSpPr>
          <a:xfrm>
            <a:off x="6892671" y="1524000"/>
            <a:ext cx="4765929" cy="1768316"/>
            <a:chOff x="6892671" y="1524000"/>
            <a:chExt cx="4765929" cy="1768316"/>
          </a:xfrm>
        </p:grpSpPr>
        <p:sp>
          <p:nvSpPr>
            <p:cNvPr id="38" name="TextBox 38"/>
            <p:cNvSpPr txBox="1"/>
            <p:nvPr/>
          </p:nvSpPr>
          <p:spPr>
            <a:xfrm>
              <a:off x="6892671" y="166211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发送方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431405" y="1524000"/>
              <a:ext cx="42291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96711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853362" y="1524000"/>
              <a:ext cx="42291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018668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276272" y="1524000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699182" y="1524000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122092" y="1524000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545002" y="1524000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967912" y="1524000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389870" y="1524000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812780" y="1524000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1235690" y="1524000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92671" y="22345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431405" y="2096452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853362" y="2096452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276272" y="2096452"/>
              <a:ext cx="42291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39268" y="22345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699182" y="2096452"/>
              <a:ext cx="42291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862178" y="22345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122092" y="2096452"/>
              <a:ext cx="42291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285088" y="22345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545002" y="2096452"/>
              <a:ext cx="42291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707998" y="22345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967912" y="2096452"/>
              <a:ext cx="42291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130908" y="22345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0389870" y="2096452"/>
              <a:ext cx="42291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552866" y="22345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812780" y="2096452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1235690" y="2096452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892671" y="2807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接收方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431405" y="2669858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853362" y="2669858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8276272" y="2669858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8699182" y="2669858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9122092" y="2669858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9545002" y="2669858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9967912" y="2669858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389870" y="2669858"/>
              <a:ext cx="42291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10812780" y="2669858"/>
              <a:ext cx="42291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978086" y="2807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1235690" y="2669858"/>
              <a:ext cx="42291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1400996" y="2807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07741" y="3130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029698" y="3130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452608" y="3130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875518" y="3130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298428" y="3130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721338" y="3130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144248" y="3130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566206" y="3130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989116" y="3130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381669" y="31303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93" name="c2-text-2"/>
          <p:cNvGrpSpPr/>
          <p:nvPr/>
        </p:nvGrpSpPr>
        <p:grpSpPr>
          <a:xfrm>
            <a:off x="6891909" y="3462338"/>
            <a:ext cx="2746705" cy="234696"/>
            <a:chOff x="6891909" y="3462338"/>
            <a:chExt cx="2746705" cy="234696"/>
          </a:xfrm>
        </p:grpSpPr>
        <p:sp>
          <p:nvSpPr>
            <p:cNvPr id="92" name="TextBox 92"/>
            <p:cNvSpPr txBox="1"/>
            <p:nvPr/>
          </p:nvSpPr>
          <p:spPr>
            <a:xfrm>
              <a:off x="6891909" y="3462338"/>
              <a:ext cx="27467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一条消息的时间线，取 o = 2、L = 6。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formula27"/>
              <p:cNvSpPr txBox="1">
                <a:spLocks noGrp="1"/>
              </p:cNvSpPr>
              <p:nvPr/>
            </p:nvSpPr>
            <p:spPr>
              <a:xfrm>
                <a:off x="6898005" y="3834765"/>
                <a:ext cx="476059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01" name="c2-callout-4"/>
          <p:cNvGrpSpPr/>
          <p:nvPr/>
        </p:nvGrpSpPr>
        <p:grpSpPr>
          <a:xfrm>
            <a:off x="6898005" y="4420552"/>
            <a:ext cx="4760595" cy="1625918"/>
            <a:chOff x="6898005" y="4420552"/>
            <a:chExt cx="4760595" cy="1625918"/>
          </a:xfrm>
        </p:grpSpPr>
        <p:sp>
          <p:nvSpPr>
            <p:cNvPr id="95" name="Rectangle 95"/>
            <p:cNvSpPr/>
            <p:nvPr/>
          </p:nvSpPr>
          <p:spPr>
            <a:xfrm>
              <a:off x="6898005" y="4420552"/>
              <a:ext cx="4760595" cy="1625918"/>
            </a:xfrm>
            <a:prstGeom prst="roundRect">
              <a:avLst>
                <a:gd name="adj" fmla="val 703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7102793" y="5133975"/>
              <a:ext cx="200026" cy="200025"/>
              <a:chOff x="7102793" y="5133975"/>
              <a:chExt cx="200026" cy="200025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7102793" y="51339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7142531" y="51784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7177247" y="52895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7405116" y="5003006"/>
              <a:ext cx="389178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LogP 面向分布式存储、点对点通信的多计算机系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统，名字取自四个参数。</a:t>
              </a:r>
            </a:p>
          </p:txBody>
        </p:sp>
      </p:grpSp>
      <p:grpSp>
        <p:nvGrpSpPr>
          <p:cNvPr id="10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2" name="TextBox 10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31582" cy="909257"/>
            <a:chOff x="520446" y="342900"/>
            <a:chExt cx="71315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566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26" y="407194"/>
              <a:ext cx="3303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LogP 模型与四种模型对照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315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LogP 的特点：没有全局路障，消息一到就能用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able-1"/>
          <p:cNvGrpSpPr/>
          <p:nvPr/>
        </p:nvGrpSpPr>
        <p:grpSpPr>
          <a:xfrm>
            <a:off x="533400" y="1524000"/>
            <a:ext cx="5951220" cy="2928938"/>
            <a:chOff x="533400" y="1524000"/>
            <a:chExt cx="5951220" cy="29289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8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0646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33505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93723" y="2108359"/>
              <a:ext cx="4377690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个计算节点，各有独立的运算器、控制器、存储器和局部时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钟，有独立的数据和程序地址空间，异步执行局部程序（与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 相同）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6988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874645"/>
              <a:ext cx="5951220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32370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93723" y="3010376"/>
              <a:ext cx="4589018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一个大型互连网络（多个路由器节点组成的数据交换阵列）连接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所有节点，做点到点的消息传递；带宽为 g 的倒数，传输延迟为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77285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40257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93723" y="3912394"/>
              <a:ext cx="4564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通过节点间的个体消息传递实现同步，一旦消息到达处理器就可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以立即使用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951220" cy="29289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481138" y="1524000"/>
              <a:ext cx="9525" cy="29289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7" name="c1-callout-2"/>
          <p:cNvGrpSpPr/>
          <p:nvPr/>
        </p:nvGrpSpPr>
        <p:grpSpPr>
          <a:xfrm>
            <a:off x="533400" y="4643438"/>
            <a:ext cx="5951220" cy="782955"/>
            <a:chOff x="533400" y="4643438"/>
            <a:chExt cx="5951220" cy="782955"/>
          </a:xfrm>
        </p:grpSpPr>
        <p:sp>
          <p:nvSpPr>
            <p:cNvPr id="22" name="Rectangle 22"/>
            <p:cNvSpPr/>
            <p:nvPr/>
          </p:nvSpPr>
          <p:spPr>
            <a:xfrm>
              <a:off x="533400" y="4643438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934905"/>
              <a:ext cx="200023" cy="200023"/>
              <a:chOff x="738188" y="4934905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493490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71538" y="50015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4792028"/>
              <a:ext cx="49777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 BSP 的根本差别在第 3 条：同步从“全体到路障”变成“一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对进程之间的收发”。</a:t>
              </a:r>
            </a:p>
          </p:txBody>
        </p:sp>
      </p:grpSp>
      <p:grpSp>
        <p:nvGrpSpPr>
          <p:cNvPr id="31" name="c2-code-1"/>
          <p:cNvGrpSpPr/>
          <p:nvPr/>
        </p:nvGrpSpPr>
        <p:grpSpPr>
          <a:xfrm>
            <a:off x="6789420" y="1524000"/>
            <a:ext cx="4869180" cy="1922145"/>
            <a:chOff x="6789420" y="1524000"/>
            <a:chExt cx="4869180" cy="1922145"/>
          </a:xfrm>
        </p:grpSpPr>
        <p:sp>
          <p:nvSpPr>
            <p:cNvPr id="28" name="Rectangle 28"/>
            <p:cNvSpPr/>
            <p:nvPr/>
          </p:nvSpPr>
          <p:spPr>
            <a:xfrm>
              <a:off x="6789420" y="1524000"/>
              <a:ext cx="4869180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17817" y="1675924"/>
              <a:ext cx="14214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LogP 的代表性进程代码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17055" y="1937861"/>
              <a:ext cx="3759454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...     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局部程序代码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Send(source, target, message);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Receive(source, target, message);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...     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局部程序代码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Receive(source, target, message);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Send(source, target, message);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...     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局部程序代码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789420" y="3636645"/>
            <a:ext cx="4869180" cy="1789748"/>
            <a:chOff x="6789420" y="3636645"/>
            <a:chExt cx="4869180" cy="1789748"/>
          </a:xfrm>
        </p:grpSpPr>
        <p:sp>
          <p:nvSpPr>
            <p:cNvPr id="32" name="Rectangle 32"/>
            <p:cNvSpPr/>
            <p:nvPr/>
          </p:nvSpPr>
          <p:spPr>
            <a:xfrm>
              <a:off x="6789420" y="3636645"/>
              <a:ext cx="4869180" cy="1789748"/>
            </a:xfrm>
            <a:prstGeom prst="roundRect">
              <a:avLst>
                <a:gd name="adj" fmla="val 74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98945" y="3769995"/>
              <a:ext cx="47625" cy="152304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37070" y="38461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27278" y="38819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29450" y="4223385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由各计算节点显式执行通信原语完成局部同步，代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替周期性的同步检测。和上一部分的 BSP 代码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比，这里没有 Global-Syn。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8" name="Rectangle 3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991225"/>
              <a:ext cx="105166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收发要配对：一方 Send 时另一方要有对应的 Receive。若两个进程都先做阻塞的 Receive 等对方，就会互相等下去。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28729" cy="909257"/>
            <a:chOff x="520446" y="342900"/>
            <a:chExt cx="67287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566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26" y="407194"/>
              <a:ext cx="3303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LogP 模型与四种模型对照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287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LogP = BSP + Overhead − GlobalBarrier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1887855"/>
            <a:chOff x="533400" y="1524000"/>
            <a:chExt cx="5193982" cy="1887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4588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963" y="1769269"/>
              <a:ext cx="12471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从 BSP 推到 LogP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4443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BSP 为基础，把所有并行进程按快、慢程度分成若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干子集，以每个子集内的小规模同步代替全局大同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步。子集小到每个只含两个进程（一个发送、一个接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收）时，BSP 就变成了 LogP。</a:t>
              </a:r>
            </a:p>
          </p:txBody>
        </p:sp>
      </p:grpSp>
      <p:grpSp>
        <p:nvGrpSpPr>
          <p:cNvPr id="18" name="c1-kv-2"/>
          <p:cNvGrpSpPr/>
          <p:nvPr/>
        </p:nvGrpSpPr>
        <p:grpSpPr>
          <a:xfrm>
            <a:off x="525780" y="3627120"/>
            <a:ext cx="5201602" cy="1297305"/>
            <a:chOff x="525780" y="3627120"/>
            <a:chExt cx="5201602" cy="1297305"/>
          </a:xfrm>
        </p:grpSpPr>
        <p:sp>
          <p:nvSpPr>
            <p:cNvPr id="13" name="TextBox 13"/>
            <p:cNvSpPr txBox="1"/>
            <p:nvPr/>
          </p:nvSpPr>
          <p:spPr>
            <a:xfrm>
              <a:off x="525780" y="3627120"/>
              <a:ext cx="1178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+ Overhead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84095" y="3627120"/>
              <a:ext cx="30918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把收发消息占用处理器的开销 o 单独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列为参数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2291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4349115"/>
              <a:ext cx="15658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− GlobalBarrier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84095" y="4349115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不再有路障同步器，同步缩小到一对进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程之间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5055870"/>
            <a:ext cx="5193982" cy="1059180"/>
            <a:chOff x="533400" y="5055870"/>
            <a:chExt cx="5193982" cy="1059180"/>
          </a:xfrm>
        </p:grpSpPr>
        <p:sp>
          <p:nvSpPr>
            <p:cNvPr id="19" name="Rectangle 19"/>
            <p:cNvSpPr/>
            <p:nvPr/>
          </p:nvSpPr>
          <p:spPr>
            <a:xfrm>
              <a:off x="533400" y="505587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26129" y="5481756"/>
              <a:ext cx="224134" cy="192560"/>
              <a:chOff x="726129" y="5481756"/>
              <a:chExt cx="224134" cy="1925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38200" y="555212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6129" y="548175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562991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5204460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代价是每个进程要自己决定何时、和谁同步，漏掉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一次接收或顺序写错，程序就会卡住，也更难推算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总时间。</a:t>
              </a:r>
            </a:p>
          </p:txBody>
        </p:sp>
      </p:grpSp>
      <p:grpSp>
        <p:nvGrpSpPr>
          <p:cNvPr id="62" name="c2-graph-1"/>
          <p:cNvGrpSpPr/>
          <p:nvPr/>
        </p:nvGrpSpPr>
        <p:grpSpPr>
          <a:xfrm>
            <a:off x="6693217" y="1555909"/>
            <a:ext cx="4304348" cy="2711291"/>
            <a:chOff x="6693217" y="1555909"/>
            <a:chExt cx="4304348" cy="2711291"/>
          </a:xfrm>
        </p:grpSpPr>
        <p:sp>
          <p:nvSpPr>
            <p:cNvPr id="26" name="Freeform 26"/>
            <p:cNvSpPr/>
            <p:nvPr/>
          </p:nvSpPr>
          <p:spPr>
            <a:xfrm>
              <a:off x="6876098" y="2265045"/>
              <a:ext cx="9525" cy="291465"/>
            </a:xfrm>
            <a:custGeom>
              <a:avLst/>
              <a:gdLst/>
              <a:ahLst/>
              <a:cxnLst/>
              <a:rect l="l" t="t" r="r" b="b"/>
              <a:pathLst>
                <a:path w="9525" h="291465">
                  <a:moveTo>
                    <a:pt x="0" y="0"/>
                  </a:moveTo>
                  <a:lnTo>
                    <a:pt x="0" y="2914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828472" y="25565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170545" y="2265045"/>
              <a:ext cx="9525" cy="291465"/>
            </a:xfrm>
            <a:custGeom>
              <a:avLst/>
              <a:gdLst/>
              <a:ahLst/>
              <a:cxnLst/>
              <a:rect l="l" t="t" r="r" b="b"/>
              <a:pathLst>
                <a:path w="9525" h="291465">
                  <a:moveTo>
                    <a:pt x="0" y="0"/>
                  </a:moveTo>
                  <a:lnTo>
                    <a:pt x="0" y="2914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122920" y="25565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9520238" y="2265045"/>
              <a:ext cx="9525" cy="291465"/>
            </a:xfrm>
            <a:custGeom>
              <a:avLst/>
              <a:gdLst/>
              <a:ahLst/>
              <a:cxnLst/>
              <a:rect l="l" t="t" r="r" b="b"/>
              <a:pathLst>
                <a:path w="9525" h="291465">
                  <a:moveTo>
                    <a:pt x="0" y="0"/>
                  </a:moveTo>
                  <a:lnTo>
                    <a:pt x="0" y="2914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472612" y="25565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814685" y="2265045"/>
              <a:ext cx="9525" cy="291465"/>
            </a:xfrm>
            <a:custGeom>
              <a:avLst/>
              <a:gdLst/>
              <a:ahLst/>
              <a:cxnLst/>
              <a:rect l="l" t="t" r="r" b="b"/>
              <a:pathLst>
                <a:path w="9525" h="291465">
                  <a:moveTo>
                    <a:pt x="0" y="0"/>
                  </a:moveTo>
                  <a:lnTo>
                    <a:pt x="0" y="2914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767060" y="25565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068502" y="4084320"/>
              <a:ext cx="813435" cy="9525"/>
            </a:xfrm>
            <a:custGeom>
              <a:avLst/>
              <a:gdLst/>
              <a:ahLst/>
              <a:cxnLst/>
              <a:rect l="l" t="t" r="r" b="b"/>
              <a:pathLst>
                <a:path w="813435" h="9525">
                  <a:moveTo>
                    <a:pt x="0" y="0"/>
                  </a:moveTo>
                  <a:lnTo>
                    <a:pt x="8134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881938" y="40366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713595" y="4084320"/>
              <a:ext cx="813435" cy="9525"/>
            </a:xfrm>
            <a:custGeom>
              <a:avLst/>
              <a:gdLst/>
              <a:ahLst/>
              <a:cxnLst/>
              <a:rect l="l" t="t" r="r" b="b"/>
              <a:pathLst>
                <a:path w="813435" h="9525">
                  <a:moveTo>
                    <a:pt x="0" y="0"/>
                  </a:moveTo>
                  <a:lnTo>
                    <a:pt x="8134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527030" y="40366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693217" y="1889760"/>
              <a:ext cx="365760" cy="36576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7987665" y="1889760"/>
              <a:ext cx="365760" cy="36576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9337358" y="1889760"/>
              <a:ext cx="365760" cy="36576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0631805" y="1889760"/>
              <a:ext cx="365760" cy="36576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49415" y="2644140"/>
              <a:ext cx="41910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693217" y="3901440"/>
              <a:ext cx="365760" cy="36576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7987665" y="3901440"/>
              <a:ext cx="365760" cy="36576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9337358" y="3901440"/>
              <a:ext cx="365760" cy="36576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0631805" y="3901440"/>
              <a:ext cx="365760" cy="36576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71429" y="199834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65877" y="199834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15569" y="199834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710017" y="199834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15731" y="27298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全局路障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71429" y="401002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65877" y="401002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15569" y="401002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710017" y="401002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360920" y="3991928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385964" y="40257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消息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005060" y="3991928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031057" y="40257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消息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98978" y="1555909"/>
              <a:ext cx="1691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BSP：全体到齐才放行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09647" y="3337084"/>
              <a:ext cx="24705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LogP：只在收发的一对之间同步</a:t>
              </a:r>
            </a:p>
          </p:txBody>
        </p:sp>
      </p:grpSp>
      <p:grpSp>
        <p:nvGrpSpPr>
          <p:cNvPr id="69" name="c2-callout-2"/>
          <p:cNvGrpSpPr/>
          <p:nvPr/>
        </p:nvGrpSpPr>
        <p:grpSpPr>
          <a:xfrm>
            <a:off x="6032182" y="4762500"/>
            <a:ext cx="5626418" cy="1352550"/>
            <a:chOff x="6032182" y="4762500"/>
            <a:chExt cx="5626418" cy="1352550"/>
          </a:xfrm>
        </p:grpSpPr>
        <p:sp>
          <p:nvSpPr>
            <p:cNvPr id="63" name="Rectangle 63"/>
            <p:cNvSpPr/>
            <p:nvPr/>
          </p:nvSpPr>
          <p:spPr>
            <a:xfrm>
              <a:off x="6032182" y="4762500"/>
              <a:ext cx="5626418" cy="1352550"/>
            </a:xfrm>
            <a:prstGeom prst="roundRect">
              <a:avLst>
                <a:gd name="adj" fmla="val 845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236970" y="5338763"/>
              <a:ext cx="200026" cy="200025"/>
              <a:chOff x="6236970" y="5338763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236970" y="53387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276709" y="53832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311424" y="54943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538912" y="5195888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同步范围从全体缩到一对，快的进程不必再等所有慢进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程。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88301" cy="909257"/>
            <a:chOff x="520446" y="342900"/>
            <a:chExt cx="67883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566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26" y="407194"/>
              <a:ext cx="3303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LogP 模型与四种模型对照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883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LogP 的复杂度：把互连网络看成一条流水线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bullets-1"/>
          <p:cNvGrpSpPr/>
          <p:nvPr/>
        </p:nvGrpSpPr>
        <p:grpSpPr>
          <a:xfrm>
            <a:off x="542925" y="1545431"/>
            <a:ext cx="5414457" cy="1957197"/>
            <a:chOff x="542925" y="1545431"/>
            <a:chExt cx="5414457" cy="1957197"/>
          </a:xfrm>
        </p:grpSpPr>
        <p:sp>
          <p:nvSpPr>
            <p:cNvPr id="7" name="Ellipse 7"/>
            <p:cNvSpPr/>
            <p:nvPr/>
          </p:nvSpPr>
          <p:spPr>
            <a:xfrm>
              <a:off x="542925" y="159734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8373" y="1545431"/>
              <a:ext cx="48460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互连网络看作流水线部件：每隔 g 可以送入一条消息，延迟为 L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2925" y="189071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8373" y="1837849"/>
              <a:ext cx="52590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网络容量有限：源到目的的路径上，任何时刻最多容纳 ⌈L/g⌉ 条消息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2925" y="218408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8373" y="2131219"/>
              <a:ext cx="2999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点到点传输一条消息的时间为 o + L + o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2925" y="247650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8373" y="2424589"/>
              <a:ext cx="36144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g = 0、L = 0、o = 0 时，LogP 等同于 PRAM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42925" y="276987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8373" y="2717006"/>
              <a:ext cx="51823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LogP 和 BSP 已被证明等效，可以相互模拟：用 BSP 模拟 LogP 通常慢常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数倍，用 LogP 模拟 BSP 通常慢对数倍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42925" y="330612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8373" y="3253264"/>
              <a:ext cx="3415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共享存储（SM）可以用分布存储（DM）模拟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617595"/>
            <a:ext cx="5626418" cy="2338388"/>
            <a:chOff x="533400" y="3617595"/>
            <a:chExt cx="5626418" cy="2338388"/>
          </a:xfrm>
        </p:grpSpPr>
        <p:sp>
          <p:nvSpPr>
            <p:cNvPr id="20" name="Rectangle 20"/>
            <p:cNvSpPr/>
            <p:nvPr/>
          </p:nvSpPr>
          <p:spPr>
            <a:xfrm>
              <a:off x="533400" y="3617595"/>
              <a:ext cx="5626418" cy="2338388"/>
            </a:xfrm>
            <a:prstGeom prst="roundRect">
              <a:avLst>
                <a:gd name="adj" fmla="val 57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750945"/>
              <a:ext cx="47625" cy="20716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2475" y="379857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5147" y="383143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5998" y="4138136"/>
              <a:ext cx="503605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原课件写“启动率为 g，……端点处理器开销为零”。g 是间隔，启动率是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1/g；“端点开销为零”只是说流水线这个比喻不含处理器开销，o 另外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计入，所以单条消息是 o + L + o。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7141" y="4905375"/>
              <a:ext cx="45268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例：g = 4 时每隔 4 个时间单位送入一条，启动率是每单位时间 1/4 条。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464618" y="1524000"/>
            <a:ext cx="5193982" cy="1143952"/>
            <a:chOff x="6464618" y="1524000"/>
            <a:chExt cx="5193982" cy="1143952"/>
          </a:xfrm>
        </p:grpSpPr>
        <p:sp>
          <p:nvSpPr>
            <p:cNvPr id="27" name="Rectangle 27"/>
            <p:cNvSpPr/>
            <p:nvPr/>
          </p:nvSpPr>
          <p:spPr>
            <a:xfrm>
              <a:off x="6464618" y="1524000"/>
              <a:ext cx="5193982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4142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83692" y="1704975"/>
              <a:ext cx="373094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69420" y="1737836"/>
              <a:ext cx="37604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例：L = 6，o = 2，g = 4，一个节点连续给另一节点发 5 条消息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77216" y="2045494"/>
              <a:ext cx="45565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&gt; o，发送间隔由 g 决定；第 i 条在 4(i−1) 时刻开始发送，再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 o + L + o = 10 收完。</a:t>
              </a:r>
            </a:p>
          </p:txBody>
        </p:sp>
      </p:grpSp>
      <p:grpSp>
        <p:nvGrpSpPr>
          <p:cNvPr id="69" name="c2-table-2"/>
          <p:cNvGrpSpPr/>
          <p:nvPr/>
        </p:nvGrpSpPr>
        <p:grpSpPr>
          <a:xfrm>
            <a:off x="6464618" y="2832735"/>
            <a:ext cx="5193982" cy="2287905"/>
            <a:chOff x="6464618" y="2832735"/>
            <a:chExt cx="5193982" cy="2287905"/>
          </a:xfrm>
        </p:grpSpPr>
        <p:sp>
          <p:nvSpPr>
            <p:cNvPr id="33" name="Rectangle 33"/>
            <p:cNvSpPr/>
            <p:nvPr/>
          </p:nvSpPr>
          <p:spPr>
            <a:xfrm>
              <a:off x="6464618" y="2832735"/>
              <a:ext cx="5193982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00862" y="29498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57769" y="294989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开始发送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89377" y="294989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进入网络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28985" y="29498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01398" y="33318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01599" y="33318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33207" y="33318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92593" y="333184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359092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64618" y="3595688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01398" y="37128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01599" y="37128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33207" y="37128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92593" y="371284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397192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01398" y="4094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01599" y="4094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94335" y="409479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992593" y="409479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43538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64618" y="4358640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01398" y="4475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62728" y="447579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94335" y="447579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992593" y="447579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47348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01398" y="4856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62728" y="485679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694335" y="485679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0503218" y="4749165"/>
              <a:ext cx="114585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992593" y="485679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464618" y="2832735"/>
              <a:ext cx="5193982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624762" y="283273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057322" y="283273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488930" y="283273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formula34"/>
              <p:cNvSpPr txBox="1">
                <a:spLocks noGrp="1"/>
              </p:cNvSpPr>
              <p:nvPr/>
            </p:nvSpPr>
            <p:spPr>
              <a:xfrm>
                <a:off x="6464618" y="5286375"/>
                <a:ext cx="5193982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2o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26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72" name="c2-text-4"/>
          <p:cNvGrpSpPr/>
          <p:nvPr/>
        </p:nvGrpSpPr>
        <p:grpSpPr>
          <a:xfrm>
            <a:off x="6459284" y="5792152"/>
            <a:ext cx="5106372" cy="205359"/>
            <a:chOff x="6459284" y="5792152"/>
            <a:chExt cx="5106372" cy="205359"/>
          </a:xfrm>
        </p:grpSpPr>
        <p:sp>
          <p:nvSpPr>
            <p:cNvPr id="71" name="TextBox 71"/>
            <p:cNvSpPr txBox="1"/>
            <p:nvPr/>
          </p:nvSpPr>
          <p:spPr>
            <a:xfrm>
              <a:off x="6459284" y="5792152"/>
              <a:ext cx="51063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同一时刻在网络中的消息最多 ⌈6/4⌉ = 2 条，例如时刻 6 到 8 之间的第 1、2 条。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55679" cy="909257"/>
            <a:chOff x="520446" y="342900"/>
            <a:chExt cx="45556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566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26" y="407194"/>
              <a:ext cx="3303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LogP 模型与四种模型对照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556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LogP 小结：与 BSP 逐项对照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11125200" cy="3947160"/>
            <a:chOff x="533400" y="1524000"/>
            <a:chExt cx="11125200" cy="39471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299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90022" y="166306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BSP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19423" y="1663065"/>
              <a:ext cx="494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LogP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2840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通信时机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97418" y="2150745"/>
              <a:ext cx="420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延迟通信：把超级步内的收发押后，合成一次大通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81825" y="2150745"/>
              <a:ext cx="420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即时通信：每个进程按需排布计算和收发，收到消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息立即可用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2905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看待方式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97418" y="29051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把所有计算和通信视为一个整体行为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81825" y="29051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视为单个进程的个体活动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489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5261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同步开销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97418" y="352615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依赖路障同步器，开销随节点数增加而增大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1825" y="3392805"/>
              <a:ext cx="420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不需要路障同步器，开销降为两个进程之间的信息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收发时间差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003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0081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41471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硬件气泡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97418" y="41471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快进程在路障处等慢进程，节点空转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81825" y="414718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非阻塞进程不必等待阻塞进程，避免了空转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4910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0080" y="46348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填充气泡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97418" y="46348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节点内多进程或多线程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81825" y="46348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节点内多进程或多线程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9787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98348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0080" y="51225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97418" y="5122545"/>
              <a:ext cx="2781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编程的结构性 vs 资源的有效性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81825" y="5122545"/>
              <a:ext cx="2983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编程的随意性 vs 性能的可预测性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11125200" cy="39471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085975" y="1524000"/>
              <a:ext cx="9525" cy="39471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70382" y="1524000"/>
              <a:ext cx="9525" cy="39471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991225"/>
              <a:ext cx="94314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BSP 好写、好分析，性能容易预测；LogP 更贴近真实网络、更灵活，代价是程序难推理，性能不易预测。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566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26" y="407194"/>
              <a:ext cx="3303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LogP 模型与四种模型对照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四种模型对照：体系结构、同步方式与参数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3" name="c1-table-1"/>
          <p:cNvGrpSpPr/>
          <p:nvPr/>
        </p:nvGrpSpPr>
        <p:grpSpPr>
          <a:xfrm>
            <a:off x="528066" y="1524000"/>
            <a:ext cx="11130534" cy="4077271"/>
            <a:chOff x="528066" y="1524000"/>
            <a:chExt cx="11130534" cy="407727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3950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属性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87762" y="1651635"/>
              <a:ext cx="4976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PRAM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45912" y="1651635"/>
              <a:ext cx="608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APRAM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80139" y="1651635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BSP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00490" y="1651635"/>
              <a:ext cx="4454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LogP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2270" y="20964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体系结构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89607" y="2096452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SIMD-SM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81272" y="2096452"/>
              <a:ext cx="820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MIMD-SM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7754" y="2096452"/>
              <a:ext cx="820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MIMD-DM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7612" y="2096452"/>
              <a:ext cx="820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MIMD-DM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088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13635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2270" y="25412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计算模式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89607" y="25412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同步计算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81272" y="25412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异步计算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17754" y="25412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异步计算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7612" y="25412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异步计算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527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2270" y="29860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同步方式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9607" y="29860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自动同步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81272" y="29860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路障同步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17754" y="29860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路障同步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87612" y="29860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隐式同步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2975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302318"/>
              <a:ext cx="1112520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2270" y="355092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模型参数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89607" y="3550920"/>
              <a:ext cx="1385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1（单位时间步）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81272" y="3430905"/>
              <a:ext cx="2011108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d：读/写时间；B：同步时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17754" y="3430905"/>
              <a:ext cx="225971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p：处理器数；g：带宽因子；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L：同步间隔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87612" y="3430905"/>
              <a:ext cx="225971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L：通信延迟；o：额外开销；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g：带宽因子；p：处理器数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9824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2270" y="41148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计算粒度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89607" y="4114800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细粒度 / 中粒度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81272" y="4114800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中粒度 / 大粒度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17754" y="4114800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中粒度 / 大粒度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87612" y="4114800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中粒度 / 大粒度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4272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4431982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2270" y="4559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通信方式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189607" y="4559618"/>
              <a:ext cx="1204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读/写共享变量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81272" y="4559618"/>
              <a:ext cx="1204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读/写共享变量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17754" y="4559618"/>
              <a:ext cx="1204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发送/接收消息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87612" y="4559618"/>
              <a:ext cx="1204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发送/接收消息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8720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2270" y="500443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编程地址空间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189607" y="500443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全局地址空间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081272" y="500443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单一地址空间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17754" y="5004435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单地址 / 多地址空间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87612" y="5004435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单地址 / 多地址空间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1524000"/>
              <a:ext cx="11125200" cy="37966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2085975" y="1524000"/>
              <a:ext cx="9525" cy="3796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3977640" y="1524000"/>
              <a:ext cx="9525" cy="3796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314122" y="1524000"/>
              <a:ext cx="9525" cy="3796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983980" y="1524000"/>
              <a:ext cx="9525" cy="3796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8066" y="5395912"/>
              <a:ext cx="1721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据原课件第38页对照表整理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4" name="Rectangle 6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892" y="6023610"/>
              <a:ext cx="8913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记忆线索：前两个共享存储、后两个分布存储；除 PRAM 外都是异步 MIMD；参数越多，模型越接近真实机器。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566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26" y="407194"/>
              <a:ext cx="3303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LogP 模型与四种模型对照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怎样选模型：先看存储，再看同步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7" name="c1-flow-1"/>
          <p:cNvGrpSpPr/>
          <p:nvPr/>
        </p:nvGrpSpPr>
        <p:grpSpPr>
          <a:xfrm>
            <a:off x="666750" y="1620202"/>
            <a:ext cx="6009323" cy="2787968"/>
            <a:chOff x="666750" y="1620202"/>
            <a:chExt cx="6009323" cy="2787968"/>
          </a:xfrm>
        </p:grpSpPr>
        <p:sp>
          <p:nvSpPr>
            <p:cNvPr id="7" name="Freeform 7"/>
            <p:cNvSpPr/>
            <p:nvPr/>
          </p:nvSpPr>
          <p:spPr>
            <a:xfrm>
              <a:off x="3537585" y="190785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699510" y="18554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887028" y="2195512"/>
              <a:ext cx="9525" cy="86677"/>
            </a:xfrm>
            <a:custGeom>
              <a:avLst/>
              <a:gdLst/>
              <a:ahLst/>
              <a:cxnLst/>
              <a:rect l="l" t="t" r="r" b="b"/>
              <a:pathLst>
                <a:path w="9525" h="86677">
                  <a:moveTo>
                    <a:pt x="0" y="0"/>
                  </a:moveTo>
                  <a:lnTo>
                    <a:pt x="0" y="866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34640" y="22821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318260" y="2962275"/>
              <a:ext cx="1568768" cy="96203"/>
            </a:xfrm>
            <a:custGeom>
              <a:avLst/>
              <a:gdLst/>
              <a:ahLst/>
              <a:cxnLst/>
              <a:rect l="l" t="t" r="r" b="b"/>
              <a:pathLst>
                <a:path w="1568768" h="96203">
                  <a:moveTo>
                    <a:pt x="1568768" y="0"/>
                  </a:moveTo>
                  <a:lnTo>
                    <a:pt x="1568768" y="96203"/>
                  </a:lnTo>
                  <a:lnTo>
                    <a:pt x="0" y="96203"/>
                  </a:lnTo>
                  <a:lnTo>
                    <a:pt x="0" y="866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65872" y="30489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887028" y="2962275"/>
              <a:ext cx="1568768" cy="96203"/>
            </a:xfrm>
            <a:custGeom>
              <a:avLst/>
              <a:gdLst/>
              <a:ahLst/>
              <a:cxnLst/>
              <a:rect l="l" t="t" r="r" b="b"/>
              <a:pathLst>
                <a:path w="1568768" h="96203">
                  <a:moveTo>
                    <a:pt x="0" y="0"/>
                  </a:moveTo>
                  <a:lnTo>
                    <a:pt x="0" y="96203"/>
                  </a:lnTo>
                  <a:lnTo>
                    <a:pt x="1568768" y="96203"/>
                  </a:lnTo>
                  <a:lnTo>
                    <a:pt x="1568768" y="866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403408" y="30489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318260" y="3729038"/>
              <a:ext cx="9525" cy="175260"/>
            </a:xfrm>
            <a:custGeom>
              <a:avLst/>
              <a:gdLst/>
              <a:ahLst/>
              <a:cxnLst/>
              <a:rect l="l" t="t" r="r" b="b"/>
              <a:pathLst>
                <a:path w="9525" h="175260">
                  <a:moveTo>
                    <a:pt x="0" y="0"/>
                  </a:moveTo>
                  <a:lnTo>
                    <a:pt x="0" y="1752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265872" y="39042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968818" y="3441382"/>
              <a:ext cx="918210" cy="462915"/>
            </a:xfrm>
            <a:custGeom>
              <a:avLst/>
              <a:gdLst/>
              <a:ahLst/>
              <a:cxnLst/>
              <a:rect l="l" t="t" r="r" b="b"/>
              <a:pathLst>
                <a:path w="918210" h="462915">
                  <a:moveTo>
                    <a:pt x="0" y="0"/>
                  </a:moveTo>
                  <a:lnTo>
                    <a:pt x="209550" y="0"/>
                  </a:lnTo>
                  <a:lnTo>
                    <a:pt x="918210" y="0"/>
                  </a:lnTo>
                  <a:lnTo>
                    <a:pt x="918210" y="358140"/>
                  </a:lnTo>
                  <a:lnTo>
                    <a:pt x="918210" y="4629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834640" y="39042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455795" y="3729038"/>
              <a:ext cx="9525" cy="175260"/>
            </a:xfrm>
            <a:custGeom>
              <a:avLst/>
              <a:gdLst/>
              <a:ahLst/>
              <a:cxnLst/>
              <a:rect l="l" t="t" r="r" b="b"/>
              <a:pathLst>
                <a:path w="9525" h="175260">
                  <a:moveTo>
                    <a:pt x="0" y="0"/>
                  </a:moveTo>
                  <a:lnTo>
                    <a:pt x="0" y="1752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403408" y="39042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107305" y="3441382"/>
              <a:ext cx="917257" cy="462915"/>
            </a:xfrm>
            <a:custGeom>
              <a:avLst/>
              <a:gdLst/>
              <a:ahLst/>
              <a:cxnLst/>
              <a:rect l="l" t="t" r="r" b="b"/>
              <a:pathLst>
                <a:path w="917257" h="462915">
                  <a:moveTo>
                    <a:pt x="0" y="0"/>
                  </a:moveTo>
                  <a:lnTo>
                    <a:pt x="209550" y="0"/>
                  </a:lnTo>
                  <a:lnTo>
                    <a:pt x="917257" y="0"/>
                  </a:lnTo>
                  <a:lnTo>
                    <a:pt x="917257" y="358140"/>
                  </a:lnTo>
                  <a:lnTo>
                    <a:pt x="917257" y="4629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972175" y="39042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235518" y="1620202"/>
              <a:ext cx="1302068" cy="575310"/>
            </a:xfrm>
            <a:custGeom>
              <a:avLst/>
              <a:gdLst/>
              <a:ahLst/>
              <a:cxnLst/>
              <a:rect l="l" t="t" r="r" b="b"/>
              <a:pathLst>
                <a:path w="1302068" h="575310">
                  <a:moveTo>
                    <a:pt x="651510" y="0"/>
                  </a:moveTo>
                  <a:lnTo>
                    <a:pt x="1302068" y="287655"/>
                  </a:lnTo>
                  <a:lnTo>
                    <a:pt x="651510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804285" y="1707832"/>
              <a:ext cx="130206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2235518" y="2386965"/>
              <a:ext cx="1302068" cy="575310"/>
            </a:xfrm>
            <a:custGeom>
              <a:avLst/>
              <a:gdLst/>
              <a:ahLst/>
              <a:cxnLst/>
              <a:rect l="l" t="t" r="r" b="b"/>
              <a:pathLst>
                <a:path w="1302068" h="575310">
                  <a:moveTo>
                    <a:pt x="651510" y="0"/>
                  </a:moveTo>
                  <a:lnTo>
                    <a:pt x="1302068" y="287655"/>
                  </a:lnTo>
                  <a:lnTo>
                    <a:pt x="651510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66750" y="3153728"/>
              <a:ext cx="1302068" cy="575310"/>
            </a:xfrm>
            <a:custGeom>
              <a:avLst/>
              <a:gdLst/>
              <a:ahLst/>
              <a:cxnLst/>
              <a:rect l="l" t="t" r="r" b="b"/>
              <a:pathLst>
                <a:path w="1302068" h="575310">
                  <a:moveTo>
                    <a:pt x="651510" y="0"/>
                  </a:moveTo>
                  <a:lnTo>
                    <a:pt x="1302068" y="287655"/>
                  </a:lnTo>
                  <a:lnTo>
                    <a:pt x="651510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804285" y="3153728"/>
              <a:ext cx="1303020" cy="575310"/>
            </a:xfrm>
            <a:custGeom>
              <a:avLst/>
              <a:gdLst/>
              <a:ahLst/>
              <a:cxnLst/>
              <a:rect l="l" t="t" r="r" b="b"/>
              <a:pathLst>
                <a:path w="1303020" h="575310">
                  <a:moveTo>
                    <a:pt x="651510" y="0"/>
                  </a:moveTo>
                  <a:lnTo>
                    <a:pt x="1303020" y="287655"/>
                  </a:lnTo>
                  <a:lnTo>
                    <a:pt x="651510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6750" y="4009072"/>
              <a:ext cx="130206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235518" y="4009072"/>
              <a:ext cx="130206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04285" y="4009072"/>
              <a:ext cx="130206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74005" y="4009072"/>
              <a:ext cx="130206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504376" y="182927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多级存储？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89608" y="1829276"/>
              <a:ext cx="7323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Multi-BSP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04376" y="259603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共享存储？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6383" y="33628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锁步？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73144" y="33628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全局路障？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1374" y="4130516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PRAM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46332" y="4130516"/>
              <a:ext cx="4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APRAM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18650" y="413051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48302" y="4130516"/>
              <a:ext cx="352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LogP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561398" y="1701165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600018" y="172640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915602" y="2205990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939225" y="223027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992630" y="2851785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031251" y="287702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561398" y="2851785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00018" y="287702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346835" y="3784282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370457" y="380857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423160" y="3235642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461781" y="325993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484370" y="3784282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507992" y="380857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560695" y="3235642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599316" y="325993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69" name="c1-kv-2"/>
          <p:cNvGrpSpPr/>
          <p:nvPr/>
        </p:nvGrpSpPr>
        <p:grpSpPr>
          <a:xfrm>
            <a:off x="526542" y="4790122"/>
            <a:ext cx="6282880" cy="1457516"/>
            <a:chOff x="526542" y="4790122"/>
            <a:chExt cx="6282880" cy="1457516"/>
          </a:xfrm>
        </p:grpSpPr>
        <p:sp>
          <p:nvSpPr>
            <p:cNvPr id="58" name="TextBox 58"/>
            <p:cNvSpPr txBox="1"/>
            <p:nvPr/>
          </p:nvSpPr>
          <p:spPr>
            <a:xfrm>
              <a:off x="526542" y="479012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多级存储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488567" y="479012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分析时要不要把各级缓存的容量和带宽算进来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507873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6542" y="518731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共享存储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88567" y="518731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处理器是否读写同一个存储器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54768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6542" y="558546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锁步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488567" y="558546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是否每一步节拍一致、隐式同步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58740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26542" y="598360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全局路障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488567" y="598360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是否按超级步让全体一起同步</a:t>
              </a:r>
            </a:p>
          </p:txBody>
        </p:sp>
      </p:grpSp>
      <p:grpSp>
        <p:nvGrpSpPr>
          <p:cNvPr id="88" name="c2-card-1"/>
          <p:cNvGrpSpPr/>
          <p:nvPr/>
        </p:nvGrpSpPr>
        <p:grpSpPr>
          <a:xfrm>
            <a:off x="7114222" y="1524000"/>
            <a:ext cx="4544378" cy="2359342"/>
            <a:chOff x="7114222" y="1524000"/>
            <a:chExt cx="4544378" cy="2359342"/>
          </a:xfrm>
        </p:grpSpPr>
        <p:sp>
          <p:nvSpPr>
            <p:cNvPr id="70" name="Rectangle 70"/>
            <p:cNvSpPr/>
            <p:nvPr/>
          </p:nvSpPr>
          <p:spPr>
            <a:xfrm>
              <a:off x="7114222" y="1524000"/>
              <a:ext cx="4544378" cy="2359342"/>
            </a:xfrm>
            <a:prstGeom prst="roundRect">
              <a:avLst>
                <a:gd name="adj" fmla="val 56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123748" y="1657350"/>
              <a:ext cx="47625" cy="209264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344728" y="1716405"/>
              <a:ext cx="167640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400163" y="175069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同一个参数在两处的写法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344728" y="2050732"/>
              <a:ext cx="4121468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080754" y="2175034"/>
              <a:ext cx="812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第23、28页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229036" y="2175034"/>
              <a:ext cx="637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第38页表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444740" y="2580799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个计算节点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28835" y="2580799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p：处理器数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344728" y="2857500"/>
              <a:ext cx="412146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7344728" y="2862262"/>
              <a:ext cx="412146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444740" y="2986564"/>
              <a:ext cx="1326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一条消息 tl + q/th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728835" y="2986564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g：带宽因子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344728" y="3263265"/>
              <a:ext cx="412146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444740" y="3392329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路障周期 L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728835" y="3392329"/>
              <a:ext cx="852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L：同步间隔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344728" y="2050732"/>
              <a:ext cx="4121468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9624060" y="205073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0" name="c2-card-2"/>
          <p:cNvGrpSpPr/>
          <p:nvPr/>
        </p:nvGrpSpPr>
        <p:grpSpPr>
          <a:xfrm>
            <a:off x="7114222" y="4058602"/>
            <a:ext cx="4544378" cy="2135505"/>
            <a:chOff x="7114222" y="4058602"/>
            <a:chExt cx="4544378" cy="2135505"/>
          </a:xfrm>
        </p:grpSpPr>
        <p:sp>
          <p:nvSpPr>
            <p:cNvPr id="89" name="Rectangle 89"/>
            <p:cNvSpPr/>
            <p:nvPr/>
          </p:nvSpPr>
          <p:spPr>
            <a:xfrm>
              <a:off x="7114222" y="4058602"/>
              <a:ext cx="4544378" cy="2135505"/>
            </a:xfrm>
            <a:prstGeom prst="roundRect">
              <a:avLst>
                <a:gd name="adj" fmla="val 62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7123748" y="4191952"/>
              <a:ext cx="47625" cy="18688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7344728" y="425100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420166" y="428529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按分析目的选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7353300" y="466344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509320" y="4607242"/>
              <a:ext cx="2291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只关心并行度、步数：PRAM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7353300" y="496633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509320" y="4910138"/>
              <a:ext cx="303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关心通信和同步的开销：BSP 或 LogP</a:t>
              </a:r>
            </a:p>
          </p:txBody>
        </p:sp>
        <p:sp>
          <p:nvSpPr>
            <p:cNvPr id="97" name="Ellipse 97"/>
            <p:cNvSpPr/>
            <p:nvPr/>
          </p:nvSpPr>
          <p:spPr>
            <a:xfrm>
              <a:off x="7353300" y="52692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509320" y="5213033"/>
              <a:ext cx="2700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关心缓存层次和容量：Multi-BSP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339012" y="5511641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模型越简单，分析越容易，结论离真实机器也越远。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565268" cy="3351847"/>
            <a:chOff x="667512" y="1835468"/>
            <a:chExt cx="456526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5652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Multi-BSP 层次模型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多核芯片的存储分好几层，模型也跟着分层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多核架构带来的难题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34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每层四个参数 pᵢ、gᵢ、Lᵢ、mᵢ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表达能力与派生量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226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Niagara 实例与算法评价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118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5137" y="407194"/>
              <a:ext cx="2948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Multi-BSP 层次模型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多核架构：处理器、缓存、存储器分成好几层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923" y="1545431"/>
            <a:ext cx="4572762" cy="500824"/>
            <a:chOff x="526923" y="1545431"/>
            <a:chExt cx="4572762" cy="50082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457276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多核架构中有许多处理器、多个本地 cache、多个存储器。多核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的产生催生了新的并行算法，设计和实施都有难度：</a:t>
              </a:r>
            </a:p>
          </p:txBody>
        </p:sp>
      </p:grpSp>
      <p:grpSp>
        <p:nvGrpSpPr>
          <p:cNvPr id="21" name="c1-bullets-2"/>
          <p:cNvGrpSpPr/>
          <p:nvPr/>
        </p:nvGrpSpPr>
        <p:grpSpPr>
          <a:xfrm>
            <a:off x="533400" y="2195512"/>
            <a:ext cx="4509262" cy="1421416"/>
            <a:chOff x="533400" y="2195512"/>
            <a:chExt cx="4509262" cy="1421416"/>
          </a:xfrm>
        </p:grpSpPr>
        <p:sp>
          <p:nvSpPr>
            <p:cNvPr id="9" name="Ellipse 9"/>
            <p:cNvSpPr/>
            <p:nvPr/>
          </p:nvSpPr>
          <p:spPr>
            <a:xfrm>
              <a:off x="533400" y="2195512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5307" y="223113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3148" y="220646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并行底层算法的设计比串行底层算法复杂得多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01265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5307" y="2536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3148" y="251317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设计出的并行算法要在性能上优于串行算法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2807970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5307" y="284264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3148" y="281892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设计结果可能只是简单地增加处理器的数量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113722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5307" y="31493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3148" y="3124676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受硬件影响，在本机上优化过的并行算法，换一台电脑可能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不起作用，甚至起反作用</a:t>
              </a:r>
            </a:p>
          </p:txBody>
        </p:sp>
      </p:grpSp>
      <p:grpSp>
        <p:nvGrpSpPr>
          <p:cNvPr id="27" name="c1-callout-3"/>
          <p:cNvGrpSpPr/>
          <p:nvPr/>
        </p:nvGrpSpPr>
        <p:grpSpPr>
          <a:xfrm>
            <a:off x="533400" y="3757612"/>
            <a:ext cx="4760595" cy="1857375"/>
            <a:chOff x="533400" y="3757612"/>
            <a:chExt cx="4760595" cy="1857375"/>
          </a:xfrm>
        </p:grpSpPr>
        <p:sp>
          <p:nvSpPr>
            <p:cNvPr id="22" name="Rectangle 22"/>
            <p:cNvSpPr/>
            <p:nvPr/>
          </p:nvSpPr>
          <p:spPr>
            <a:xfrm>
              <a:off x="533400" y="3757612"/>
              <a:ext cx="4760595" cy="1857375"/>
            </a:xfrm>
            <a:prstGeom prst="roundRect">
              <a:avLst>
                <a:gd name="adj" fmla="val 615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586290"/>
              <a:ext cx="200023" cy="200023"/>
              <a:chOff x="738188" y="4586290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45862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71538" y="46529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4305300"/>
              <a:ext cx="38538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4 条最麻烦：缓存有几级、每级多大、谁和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谁共享，都会改变算法的最佳分块方式，只有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一层的 BSP 描述不了这些差别。</a:t>
              </a:r>
            </a:p>
          </p:txBody>
        </p:sp>
      </p:grpSp>
      <p:grpSp>
        <p:nvGrpSpPr>
          <p:cNvPr id="58" name="c2-graph-1"/>
          <p:cNvGrpSpPr/>
          <p:nvPr/>
        </p:nvGrpSpPr>
        <p:grpSpPr>
          <a:xfrm>
            <a:off x="5866448" y="1722120"/>
            <a:ext cx="5524500" cy="3116961"/>
            <a:chOff x="5866448" y="1722120"/>
            <a:chExt cx="5524500" cy="3116961"/>
          </a:xfrm>
        </p:grpSpPr>
        <p:sp>
          <p:nvSpPr>
            <p:cNvPr id="28" name="Freeform 28"/>
            <p:cNvSpPr/>
            <p:nvPr/>
          </p:nvSpPr>
          <p:spPr>
            <a:xfrm>
              <a:off x="6447472" y="2423160"/>
              <a:ext cx="9525" cy="487680"/>
            </a:xfrm>
            <a:custGeom>
              <a:avLst/>
              <a:gdLst/>
              <a:ahLst/>
              <a:cxnLst/>
              <a:rect l="l" t="t" r="r" b="b"/>
              <a:pathLst>
                <a:path w="9525" h="487680">
                  <a:moveTo>
                    <a:pt x="0" y="0"/>
                  </a:moveTo>
                  <a:lnTo>
                    <a:pt x="0" y="4876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022908" y="2423160"/>
              <a:ext cx="9525" cy="487680"/>
            </a:xfrm>
            <a:custGeom>
              <a:avLst/>
              <a:gdLst/>
              <a:ahLst/>
              <a:cxnLst/>
              <a:rect l="l" t="t" r="r" b="b"/>
              <a:pathLst>
                <a:path w="9525" h="487680">
                  <a:moveTo>
                    <a:pt x="0" y="0"/>
                  </a:moveTo>
                  <a:lnTo>
                    <a:pt x="0" y="4876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688955" y="2423160"/>
              <a:ext cx="9525" cy="487680"/>
            </a:xfrm>
            <a:custGeom>
              <a:avLst/>
              <a:gdLst/>
              <a:ahLst/>
              <a:cxnLst/>
              <a:rect l="l" t="t" r="r" b="b"/>
              <a:pathLst>
                <a:path w="9525" h="487680">
                  <a:moveTo>
                    <a:pt x="0" y="0"/>
                  </a:moveTo>
                  <a:lnTo>
                    <a:pt x="0" y="4876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568440" y="3188970"/>
              <a:ext cx="9525" cy="575310"/>
            </a:xfrm>
            <a:custGeom>
              <a:avLst/>
              <a:gdLst/>
              <a:ahLst/>
              <a:cxnLst/>
              <a:rect l="l" t="t" r="r" b="b"/>
              <a:pathLst>
                <a:path w="9525" h="575310">
                  <a:moveTo>
                    <a:pt x="0" y="0"/>
                  </a:moveTo>
                  <a:lnTo>
                    <a:pt x="0" y="5753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568440" y="4084320"/>
              <a:ext cx="9525" cy="434340"/>
            </a:xfrm>
            <a:custGeom>
              <a:avLst/>
              <a:gdLst/>
              <a:ahLst/>
              <a:cxnLst/>
              <a:rect l="l" t="t" r="r" b="b"/>
              <a:pathLst>
                <a:path w="9525" h="434340">
                  <a:moveTo>
                    <a:pt x="0" y="0"/>
                  </a:moveTo>
                  <a:lnTo>
                    <a:pt x="0" y="4343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628698" y="3188970"/>
              <a:ext cx="9525" cy="643890"/>
            </a:xfrm>
            <a:custGeom>
              <a:avLst/>
              <a:gdLst/>
              <a:ahLst/>
              <a:cxnLst/>
              <a:rect l="l" t="t" r="r" b="b"/>
              <a:pathLst>
                <a:path w="9525" h="643890">
                  <a:moveTo>
                    <a:pt x="0" y="0"/>
                  </a:moveTo>
                  <a:lnTo>
                    <a:pt x="0" y="6438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688955" y="3188970"/>
              <a:ext cx="9525" cy="643890"/>
            </a:xfrm>
            <a:custGeom>
              <a:avLst/>
              <a:gdLst/>
              <a:ahLst/>
              <a:cxnLst/>
              <a:rect l="l" t="t" r="r" b="b"/>
              <a:pathLst>
                <a:path w="9525" h="643890">
                  <a:moveTo>
                    <a:pt x="0" y="0"/>
                  </a:moveTo>
                  <a:lnTo>
                    <a:pt x="0" y="6438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28372" y="1722120"/>
              <a:ext cx="838200" cy="701040"/>
            </a:xfrm>
            <a:prstGeom prst="roundRect">
              <a:avLst>
                <a:gd name="adj" fmla="val 1358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03808" y="1722120"/>
              <a:ext cx="838200" cy="701040"/>
            </a:xfrm>
            <a:prstGeom prst="roundRect">
              <a:avLst>
                <a:gd name="adj" fmla="val 1358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269855" y="1722120"/>
              <a:ext cx="838200" cy="701040"/>
            </a:xfrm>
            <a:prstGeom prst="roundRect">
              <a:avLst>
                <a:gd name="adj" fmla="val 1358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66448" y="2975610"/>
              <a:ext cx="5524500" cy="11430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149340" y="376428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301740" y="4518660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209598" y="383286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117455" y="3832860"/>
              <a:ext cx="11430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79044" y="1807845"/>
              <a:ext cx="536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Core 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46540" y="1998345"/>
              <a:ext cx="601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 … Pn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18288" y="21888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一级缓存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54479" y="1807845"/>
              <a:ext cx="536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Core 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21975" y="1998345"/>
              <a:ext cx="601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 … Pn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93724" y="21888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一级缓存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42706" y="19983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21258" y="1807845"/>
              <a:ext cx="535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Core 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388022" y="1998345"/>
              <a:ext cx="601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 … Pn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359771" y="21888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一级缓存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39256" y="38500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二级缓存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00800" y="46043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99514" y="3918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外围设备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198227" y="39185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硬件加速单元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05303" y="26550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高速互连</a:t>
              </a:r>
            </a:p>
          </p:txBody>
        </p:sp>
      </p:grpSp>
      <p:grpSp>
        <p:nvGrpSpPr>
          <p:cNvPr id="60" name="c2-text-2"/>
          <p:cNvGrpSpPr/>
          <p:nvPr/>
        </p:nvGrpSpPr>
        <p:grpSpPr>
          <a:xfrm>
            <a:off x="5592318" y="5164931"/>
            <a:ext cx="5735066" cy="500824"/>
            <a:chOff x="5592318" y="5164931"/>
            <a:chExt cx="5735066" cy="500824"/>
          </a:xfrm>
        </p:grpSpPr>
        <p:sp>
          <p:nvSpPr>
            <p:cNvPr id="59" name="TextBox 59"/>
            <p:cNvSpPr txBox="1"/>
            <p:nvPr/>
          </p:nvSpPr>
          <p:spPr>
            <a:xfrm>
              <a:off x="5592318" y="5164931"/>
              <a:ext cx="573506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据原课件第39页“多核硬件架构图”重画：每个核有一级缓存，经高速互连共享二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级缓存和内存。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13140" cy="909257"/>
            <a:chOff x="520446" y="342900"/>
            <a:chExt cx="73131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118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5137" y="407194"/>
              <a:ext cx="2948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Multi-BSP 层次模型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131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Multi-BSP：一棵深度为 d 的树，每层四个参数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2185988"/>
            <a:chOff x="533400" y="1524000"/>
            <a:chExt cx="5626418" cy="21859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185988"/>
            </a:xfrm>
            <a:prstGeom prst="roundRect">
              <a:avLst>
                <a:gd name="adj" fmla="val 61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1928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49637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7482" y="1763554"/>
              <a:ext cx="1393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从两个方向拓展 BSP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层次：能表示单芯片或多芯片架构中的多个 memory、多个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75272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69224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容量：每一层都把存储大小作为一个参数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8096" y="3012281"/>
              <a:ext cx="491972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整个模型是一棵深度为 d 的树：内部节点表示存储器或 cache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（模型不区分两者），叶子表示处理器。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27685" y="3895725"/>
            <a:ext cx="5632133" cy="2446497"/>
            <a:chOff x="527685" y="3895725"/>
            <a:chExt cx="5632133" cy="2446497"/>
          </a:xfrm>
        </p:grpSpPr>
        <p:sp>
          <p:nvSpPr>
            <p:cNvPr id="17" name="Rectangle 17"/>
            <p:cNvSpPr/>
            <p:nvPr/>
          </p:nvSpPr>
          <p:spPr>
            <a:xfrm>
              <a:off x="533400" y="3895725"/>
              <a:ext cx="5626418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2490" y="402717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85223" y="402717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8746" y="445674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51254" y="445674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子组件的数量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7510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755832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488727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51254" y="4887278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通信带宽（以代价的形式给出，越大越慢）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1816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46" y="531780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51254" y="531780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同步成本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6111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5615940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8746" y="5747385"/>
              <a:ext cx="232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51254" y="5747385"/>
              <a:ext cx="18457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memory 或 cache 的大小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895725"/>
              <a:ext cx="5626418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541145" y="389572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685" y="6122194"/>
              <a:ext cx="2359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i 层的四元组 (pᵢ, gᵢ, Lᵢ, mᵢ)</a:t>
              </a:r>
            </a:p>
          </p:txBody>
        </p:sp>
      </p:grpSp>
      <p:grpSp>
        <p:nvGrpSpPr>
          <p:cNvPr id="81" name="c2-tree-1"/>
          <p:cNvGrpSpPr/>
          <p:nvPr/>
        </p:nvGrpSpPr>
        <p:grpSpPr>
          <a:xfrm>
            <a:off x="6586538" y="1655445"/>
            <a:ext cx="4950142" cy="2415540"/>
            <a:chOff x="6586538" y="1655445"/>
            <a:chExt cx="4950142" cy="2415540"/>
          </a:xfrm>
        </p:grpSpPr>
        <p:sp>
          <p:nvSpPr>
            <p:cNvPr id="37" name="Freeform 37"/>
            <p:cNvSpPr/>
            <p:nvPr/>
          </p:nvSpPr>
          <p:spPr>
            <a:xfrm>
              <a:off x="6789420" y="3198495"/>
              <a:ext cx="324803" cy="669608"/>
            </a:xfrm>
            <a:custGeom>
              <a:avLst/>
              <a:gdLst/>
              <a:ahLst/>
              <a:cxnLst/>
              <a:rect l="l" t="t" r="r" b="b"/>
              <a:pathLst>
                <a:path w="324803" h="669608">
                  <a:moveTo>
                    <a:pt x="324803" y="0"/>
                  </a:moveTo>
                  <a:lnTo>
                    <a:pt x="0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114222" y="3198495"/>
              <a:ext cx="324803" cy="669608"/>
            </a:xfrm>
            <a:custGeom>
              <a:avLst/>
              <a:gdLst/>
              <a:ahLst/>
              <a:cxnLst/>
              <a:rect l="l" t="t" r="r" b="b"/>
              <a:pathLst>
                <a:path w="324803" h="669608">
                  <a:moveTo>
                    <a:pt x="0" y="0"/>
                  </a:moveTo>
                  <a:lnTo>
                    <a:pt x="324803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087678" y="3198495"/>
              <a:ext cx="324803" cy="669608"/>
            </a:xfrm>
            <a:custGeom>
              <a:avLst/>
              <a:gdLst/>
              <a:ahLst/>
              <a:cxnLst/>
              <a:rect l="l" t="t" r="r" b="b"/>
              <a:pathLst>
                <a:path w="324803" h="669608">
                  <a:moveTo>
                    <a:pt x="324803" y="0"/>
                  </a:moveTo>
                  <a:lnTo>
                    <a:pt x="0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412480" y="3198495"/>
              <a:ext cx="324802" cy="669608"/>
            </a:xfrm>
            <a:custGeom>
              <a:avLst/>
              <a:gdLst/>
              <a:ahLst/>
              <a:cxnLst/>
              <a:rect l="l" t="t" r="r" b="b"/>
              <a:pathLst>
                <a:path w="324802" h="669608">
                  <a:moveTo>
                    <a:pt x="0" y="0"/>
                  </a:moveTo>
                  <a:lnTo>
                    <a:pt x="324802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114222" y="2528888"/>
              <a:ext cx="648653" cy="669608"/>
            </a:xfrm>
            <a:custGeom>
              <a:avLst/>
              <a:gdLst/>
              <a:ahLst/>
              <a:cxnLst/>
              <a:rect l="l" t="t" r="r" b="b"/>
              <a:pathLst>
                <a:path w="648653" h="669608">
                  <a:moveTo>
                    <a:pt x="648653" y="0"/>
                  </a:moveTo>
                  <a:lnTo>
                    <a:pt x="0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762875" y="2528888"/>
              <a:ext cx="649605" cy="669608"/>
            </a:xfrm>
            <a:custGeom>
              <a:avLst/>
              <a:gdLst/>
              <a:ahLst/>
              <a:cxnLst/>
              <a:rect l="l" t="t" r="r" b="b"/>
              <a:pathLst>
                <a:path w="649605" h="669608">
                  <a:moveTo>
                    <a:pt x="0" y="0"/>
                  </a:moveTo>
                  <a:lnTo>
                    <a:pt x="649605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385935" y="3198495"/>
              <a:ext cx="324803" cy="669608"/>
            </a:xfrm>
            <a:custGeom>
              <a:avLst/>
              <a:gdLst/>
              <a:ahLst/>
              <a:cxnLst/>
              <a:rect l="l" t="t" r="r" b="b"/>
              <a:pathLst>
                <a:path w="324803" h="669608">
                  <a:moveTo>
                    <a:pt x="324803" y="0"/>
                  </a:moveTo>
                  <a:lnTo>
                    <a:pt x="0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710738" y="3198495"/>
              <a:ext cx="324802" cy="669608"/>
            </a:xfrm>
            <a:custGeom>
              <a:avLst/>
              <a:gdLst/>
              <a:ahLst/>
              <a:cxnLst/>
              <a:rect l="l" t="t" r="r" b="b"/>
              <a:pathLst>
                <a:path w="324802" h="669608">
                  <a:moveTo>
                    <a:pt x="0" y="0"/>
                  </a:moveTo>
                  <a:lnTo>
                    <a:pt x="324802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685145" y="3198495"/>
              <a:ext cx="323850" cy="669608"/>
            </a:xfrm>
            <a:custGeom>
              <a:avLst/>
              <a:gdLst/>
              <a:ahLst/>
              <a:cxnLst/>
              <a:rect l="l" t="t" r="r" b="b"/>
              <a:pathLst>
                <a:path w="323850" h="669608">
                  <a:moveTo>
                    <a:pt x="323850" y="0"/>
                  </a:moveTo>
                  <a:lnTo>
                    <a:pt x="0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1008995" y="3198495"/>
              <a:ext cx="324803" cy="669608"/>
            </a:xfrm>
            <a:custGeom>
              <a:avLst/>
              <a:gdLst/>
              <a:ahLst/>
              <a:cxnLst/>
              <a:rect l="l" t="t" r="r" b="b"/>
              <a:pathLst>
                <a:path w="324803" h="669608">
                  <a:moveTo>
                    <a:pt x="0" y="0"/>
                  </a:moveTo>
                  <a:lnTo>
                    <a:pt x="324803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710738" y="2528888"/>
              <a:ext cx="649605" cy="669608"/>
            </a:xfrm>
            <a:custGeom>
              <a:avLst/>
              <a:gdLst/>
              <a:ahLst/>
              <a:cxnLst/>
              <a:rect l="l" t="t" r="r" b="b"/>
              <a:pathLst>
                <a:path w="649605" h="669608">
                  <a:moveTo>
                    <a:pt x="649605" y="0"/>
                  </a:moveTo>
                  <a:lnTo>
                    <a:pt x="0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360342" y="2528888"/>
              <a:ext cx="648652" cy="669608"/>
            </a:xfrm>
            <a:custGeom>
              <a:avLst/>
              <a:gdLst/>
              <a:ahLst/>
              <a:cxnLst/>
              <a:rect l="l" t="t" r="r" b="b"/>
              <a:pathLst>
                <a:path w="648652" h="669608">
                  <a:moveTo>
                    <a:pt x="0" y="0"/>
                  </a:moveTo>
                  <a:lnTo>
                    <a:pt x="648652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762875" y="1859280"/>
              <a:ext cx="1299210" cy="669608"/>
            </a:xfrm>
            <a:custGeom>
              <a:avLst/>
              <a:gdLst/>
              <a:ahLst/>
              <a:cxnLst/>
              <a:rect l="l" t="t" r="r" b="b"/>
              <a:pathLst>
                <a:path w="1299210" h="669608">
                  <a:moveTo>
                    <a:pt x="1299210" y="0"/>
                  </a:moveTo>
                  <a:lnTo>
                    <a:pt x="0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062085" y="1859280"/>
              <a:ext cx="1298258" cy="669608"/>
            </a:xfrm>
            <a:custGeom>
              <a:avLst/>
              <a:gdLst/>
              <a:ahLst/>
              <a:cxnLst/>
              <a:rect l="l" t="t" r="r" b="b"/>
              <a:pathLst>
                <a:path w="1298258" h="669608">
                  <a:moveTo>
                    <a:pt x="0" y="0"/>
                  </a:moveTo>
                  <a:lnTo>
                    <a:pt x="1298258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6586538" y="366522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7236142" y="366522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05625" y="2995612"/>
              <a:ext cx="417195" cy="406718"/>
            </a:xfrm>
            <a:prstGeom prst="roundRect">
              <a:avLst>
                <a:gd name="adj" fmla="val 18735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7884795" y="366522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8534400" y="366522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203882" y="2995612"/>
              <a:ext cx="417195" cy="406718"/>
            </a:xfrm>
            <a:prstGeom prst="roundRect">
              <a:avLst>
                <a:gd name="adj" fmla="val 18735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554278" y="2325052"/>
              <a:ext cx="417195" cy="406718"/>
            </a:xfrm>
            <a:prstGeom prst="roundRect">
              <a:avLst>
                <a:gd name="adj" fmla="val 18735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9183052" y="366522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9832658" y="366522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9502140" y="2995612"/>
              <a:ext cx="417195" cy="406718"/>
            </a:xfrm>
            <a:prstGeom prst="roundRect">
              <a:avLst>
                <a:gd name="adj" fmla="val 18735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10482262" y="366522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11130915" y="366522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800398" y="2995612"/>
              <a:ext cx="417195" cy="406718"/>
            </a:xfrm>
            <a:prstGeom prst="roundRect">
              <a:avLst>
                <a:gd name="adj" fmla="val 18735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151745" y="2325052"/>
              <a:ext cx="417195" cy="406718"/>
            </a:xfrm>
            <a:prstGeom prst="roundRect">
              <a:avLst>
                <a:gd name="adj" fmla="val 18735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852535" y="1655445"/>
              <a:ext cx="417195" cy="406718"/>
            </a:xfrm>
            <a:prstGeom prst="roundRect">
              <a:avLst>
                <a:gd name="adj" fmla="val 18735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34038" y="379380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83643" y="379380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997873" y="3124200"/>
              <a:ext cx="232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m₁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032295" y="379380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81900" y="379380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96130" y="3124200"/>
              <a:ext cx="232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m₁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46525" y="2453640"/>
              <a:ext cx="232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330553" y="379380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980158" y="379380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594388" y="3124200"/>
              <a:ext cx="232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m₁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629763" y="379380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278415" y="379380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892645" y="3124200"/>
              <a:ext cx="232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m₁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243993" y="2453640"/>
              <a:ext cx="232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m₂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945735" y="1784032"/>
              <a:ext cx="232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m₃</a:t>
              </a:r>
            </a:p>
          </p:txBody>
        </p:sp>
      </p:grpSp>
      <p:grpSp>
        <p:nvGrpSpPr>
          <p:cNvPr id="83" name="c2-text-2"/>
          <p:cNvGrpSpPr/>
          <p:nvPr/>
        </p:nvGrpSpPr>
        <p:grpSpPr>
          <a:xfrm>
            <a:off x="6458522" y="4408170"/>
            <a:ext cx="4731715" cy="234696"/>
            <a:chOff x="6458522" y="4408170"/>
            <a:chExt cx="4731715" cy="234696"/>
          </a:xfrm>
        </p:grpSpPr>
        <p:sp>
          <p:nvSpPr>
            <p:cNvPr id="82" name="TextBox 82"/>
            <p:cNvSpPr txBox="1"/>
            <p:nvPr/>
          </p:nvSpPr>
          <p:spPr>
            <a:xfrm>
              <a:off x="6458522" y="4408170"/>
              <a:ext cx="4731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图中 d = 3，p₁ = p₂ = p₃ = 2；叶子 P 是处理器，可看作第 0 层。</a:t>
              </a:r>
            </a:p>
          </p:txBody>
        </p:sp>
      </p:grpSp>
      <p:grpSp>
        <p:nvGrpSpPr>
          <p:cNvPr id="90" name="c2-callout-3"/>
          <p:cNvGrpSpPr/>
          <p:nvPr/>
        </p:nvGrpSpPr>
        <p:grpSpPr>
          <a:xfrm>
            <a:off x="6464618" y="4781550"/>
            <a:ext cx="5193982" cy="1516380"/>
            <a:chOff x="6464618" y="4781550"/>
            <a:chExt cx="5193982" cy="1516380"/>
          </a:xfrm>
        </p:grpSpPr>
        <p:sp>
          <p:nvSpPr>
            <p:cNvPr id="84" name="Rectangle 84"/>
            <p:cNvSpPr/>
            <p:nvPr/>
          </p:nvSpPr>
          <p:spPr>
            <a:xfrm>
              <a:off x="6464618" y="4781550"/>
              <a:ext cx="5193982" cy="1516380"/>
            </a:xfrm>
            <a:prstGeom prst="roundRect">
              <a:avLst>
                <a:gd name="adj" fmla="val 753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6669405" y="5439728"/>
              <a:ext cx="200026" cy="200026"/>
              <a:chOff x="6669405" y="5439728"/>
              <a:chExt cx="200026" cy="200026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6669405" y="54397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6769418" y="55064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6758305" y="55397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6971729" y="5046821"/>
              <a:ext cx="4171315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原课件第41页：Multi-BSP 的定量分析表明，对矩阵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乘法、快速傅里叶变换、比较排序等问题，即使参数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很多，算法也能在近似与参数无关的意义上达到最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01671" cy="909257"/>
            <a:chOff x="520446" y="342900"/>
            <a:chExt cx="77016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118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5137" y="407194"/>
              <a:ext cx="2948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Multi-BSP 层次模型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016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一个第 i 层组件：pᵢ 个子组件共用一块第 i 层存储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graph-1"/>
          <p:cNvGrpSpPr/>
          <p:nvPr/>
        </p:nvGrpSpPr>
        <p:grpSpPr>
          <a:xfrm>
            <a:off x="858202" y="1564481"/>
            <a:ext cx="4770121" cy="4256247"/>
            <a:chOff x="858202" y="1564481"/>
            <a:chExt cx="4770121" cy="4256247"/>
          </a:xfrm>
        </p:grpSpPr>
        <p:sp>
          <p:nvSpPr>
            <p:cNvPr id="7" name="Freeform 7"/>
            <p:cNvSpPr/>
            <p:nvPr/>
          </p:nvSpPr>
          <p:spPr>
            <a:xfrm>
              <a:off x="858202" y="2059305"/>
              <a:ext cx="4760595" cy="9525"/>
            </a:xfrm>
            <a:custGeom>
              <a:avLst/>
              <a:gdLst/>
              <a:ahLst/>
              <a:cxnLst/>
              <a:rect l="l" t="t" r="r" b="b"/>
              <a:pathLst>
                <a:path w="4760595" h="9525">
                  <a:moveTo>
                    <a:pt x="0" y="0"/>
                  </a:moveTo>
                  <a:lnTo>
                    <a:pt x="47605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858202" y="5094922"/>
              <a:ext cx="4760595" cy="9525"/>
            </a:xfrm>
            <a:custGeom>
              <a:avLst/>
              <a:gdLst/>
              <a:ahLst/>
              <a:cxnLst/>
              <a:rect l="l" t="t" r="r" b="b"/>
              <a:pathLst>
                <a:path w="4760595" h="9525">
                  <a:moveTo>
                    <a:pt x="0" y="0"/>
                  </a:moveTo>
                  <a:lnTo>
                    <a:pt x="47605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858202" y="2021205"/>
              <a:ext cx="9525" cy="3111818"/>
            </a:xfrm>
            <a:custGeom>
              <a:avLst/>
              <a:gdLst/>
              <a:ahLst/>
              <a:cxnLst/>
              <a:rect l="l" t="t" r="r" b="b"/>
              <a:pathLst>
                <a:path w="9525" h="3111818">
                  <a:moveTo>
                    <a:pt x="0" y="0"/>
                  </a:moveTo>
                  <a:lnTo>
                    <a:pt x="0" y="311181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5618798" y="2021205"/>
              <a:ext cx="9525" cy="3111818"/>
            </a:xfrm>
            <a:custGeom>
              <a:avLst/>
              <a:gdLst/>
              <a:ahLst/>
              <a:cxnLst/>
              <a:rect l="l" t="t" r="r" b="b"/>
              <a:pathLst>
                <a:path w="9525" h="3111818">
                  <a:moveTo>
                    <a:pt x="0" y="0"/>
                  </a:moveTo>
                  <a:lnTo>
                    <a:pt x="0" y="311181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1831658" y="3168968"/>
              <a:ext cx="9525" cy="944880"/>
            </a:xfrm>
            <a:custGeom>
              <a:avLst/>
              <a:gdLst/>
              <a:ahLst/>
              <a:cxnLst/>
              <a:rect l="l" t="t" r="r" b="b"/>
              <a:pathLst>
                <a:path w="9525" h="944880">
                  <a:moveTo>
                    <a:pt x="0" y="0"/>
                  </a:moveTo>
                  <a:lnTo>
                    <a:pt x="0" y="9448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84032" y="41138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84032" y="30737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4645342" y="3168968"/>
              <a:ext cx="9525" cy="944880"/>
            </a:xfrm>
            <a:custGeom>
              <a:avLst/>
              <a:gdLst/>
              <a:ahLst/>
              <a:cxnLst/>
              <a:rect l="l" t="t" r="r" b="b"/>
              <a:pathLst>
                <a:path w="9525" h="944880">
                  <a:moveTo>
                    <a:pt x="0" y="0"/>
                  </a:moveTo>
                  <a:lnTo>
                    <a:pt x="0" y="9448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597718" y="41138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4597718" y="30737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238500" y="5151120"/>
              <a:ext cx="9525" cy="574358"/>
            </a:xfrm>
            <a:custGeom>
              <a:avLst/>
              <a:gdLst/>
              <a:ahLst/>
              <a:cxnLst/>
              <a:rect l="l" t="t" r="r" b="b"/>
              <a:pathLst>
                <a:path w="9525" h="574358">
                  <a:moveTo>
                    <a:pt x="0" y="0"/>
                  </a:moveTo>
                  <a:lnTo>
                    <a:pt x="0" y="5743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190875" y="57254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190875" y="50558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404938" y="2563178"/>
              <a:ext cx="853440" cy="510540"/>
            </a:xfrm>
            <a:prstGeom prst="roundRect">
              <a:avLst>
                <a:gd name="adj" fmla="val 1865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18622" y="2563178"/>
              <a:ext cx="853440" cy="510540"/>
            </a:xfrm>
            <a:prstGeom prst="roundRect">
              <a:avLst>
                <a:gd name="adj" fmla="val 1865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143000" y="4220528"/>
              <a:ext cx="41910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94396" y="2647950"/>
              <a:ext cx="674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第 i−1 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64018" y="2838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组件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82504" y="2743200"/>
              <a:ext cx="911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 共 pᵢ 个 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08081" y="2647950"/>
              <a:ext cx="674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第 i−1 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77702" y="2838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组件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74202" y="4305300"/>
              <a:ext cx="17285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i 层存储器：容量 mᵢ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89698" y="3549015"/>
              <a:ext cx="88487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97940" y="3582829"/>
              <a:ext cx="8674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数据速率 gᵢ₋₁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428875" y="5345430"/>
              <a:ext cx="161925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415596" y="5380196"/>
              <a:ext cx="16458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数据速率 gᵢ，通往第 i+1 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75194" y="1564481"/>
              <a:ext cx="17266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 i 层组件（虚线框）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409554" y="3483769"/>
              <a:ext cx="957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同步开销 Lᵢ</a:t>
              </a:r>
            </a:p>
          </p:txBody>
        </p:sp>
      </p:grpSp>
      <p:grpSp>
        <p:nvGrpSpPr>
          <p:cNvPr id="47" name="c2-kv-1"/>
          <p:cNvGrpSpPr/>
          <p:nvPr/>
        </p:nvGrpSpPr>
        <p:grpSpPr>
          <a:xfrm>
            <a:off x="6240780" y="1548765"/>
            <a:ext cx="5417820" cy="2459355"/>
            <a:chOff x="6240780" y="1548765"/>
            <a:chExt cx="5417820" cy="2459355"/>
          </a:xfrm>
        </p:grpSpPr>
        <p:sp>
          <p:nvSpPr>
            <p:cNvPr id="36" name="TextBox 36"/>
            <p:cNvSpPr txBox="1"/>
            <p:nvPr/>
          </p:nvSpPr>
          <p:spPr>
            <a:xfrm>
              <a:off x="6240780" y="154876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58940" y="1548765"/>
              <a:ext cx="45110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层组件里第 i−1 层子组件的数量；i = 1 时，p₁ 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假想的第 0 层处理器（即真正的处理器）的数量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1507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40780" y="227076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gᵢ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58940" y="2270760"/>
              <a:ext cx="44062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处理器一秒内执行的操作次数 ÷ 第 i 层与第 i+1 层存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储器之间一秒内传输的字数；约定 g₁ = 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8727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40780" y="299275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Lᵢ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58940" y="2992755"/>
              <a:ext cx="45681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层超级步的栅栏同步开销，指组件与组件之间的同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步，不是分支语句引起的；约定 L₁ = 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5947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40780" y="3714750"/>
              <a:ext cx="29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58940" y="3714750"/>
              <a:ext cx="18124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层存储器的容量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248400" y="4139565"/>
            <a:ext cx="5410200" cy="1847850"/>
            <a:chOff x="6248400" y="4139565"/>
            <a:chExt cx="5410200" cy="1847850"/>
          </a:xfrm>
        </p:grpSpPr>
        <p:sp>
          <p:nvSpPr>
            <p:cNvPr id="48" name="Rectangle 48"/>
            <p:cNvSpPr/>
            <p:nvPr/>
          </p:nvSpPr>
          <p:spPr>
            <a:xfrm>
              <a:off x="6248400" y="4139565"/>
              <a:ext cx="5410200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4272915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96050" y="43491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86258" y="43848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88430" y="4726305"/>
              <a:ext cx="4720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原课件第46页写“mᵢ 表示第 i 层中存储器的数量”，与第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40页“memory 或 cache 的大小”矛盾，应为容量。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89573" y="5344001"/>
              <a:ext cx="46540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原课件说“1 Word = 2 Byte”。字长随机器而定，模型里的字只是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一次处理器操作所用的数据量。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62177" cy="909257"/>
            <a:chOff x="520446" y="342900"/>
            <a:chExt cx="99621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118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5137" y="407194"/>
              <a:ext cx="2948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Multi-BSP 层次模型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621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层的超级步：子组件各自计算，到栅栏后与上层存储交换数据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424297" cy="2764440"/>
            <a:chOff x="533400" y="1533525"/>
            <a:chExt cx="5424297" cy="276444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独立执行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i−1 层的所有组件各自运行，直到到达同步栅栏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交换信息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41657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全部到达 barrier 后，它们和第 i 层的存储器交换信息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通信代价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62776"/>
              <a:ext cx="50116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通常记作 m·gᵢ₋₁，m 是第 i 层存储器与任一个第 i−1 层子组件存储器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之间传送的最大字数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54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48601"/>
              <a:ext cx="3352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付出同步开销 Lᵢ，下一个第 i 层超级步开始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475798"/>
            <a:ext cx="5626418" cy="1059180"/>
            <a:chOff x="533400" y="4475798"/>
            <a:chExt cx="5626418" cy="1059180"/>
          </a:xfrm>
        </p:grpSpPr>
        <p:sp>
          <p:nvSpPr>
            <p:cNvPr id="25" name="Rectangle 25"/>
            <p:cNvSpPr/>
            <p:nvPr/>
          </p:nvSpPr>
          <p:spPr>
            <a:xfrm>
              <a:off x="533400" y="4475798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905375"/>
              <a:ext cx="200026" cy="200025"/>
              <a:chOff x="738188" y="4905375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9053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49498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50609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4624388"/>
              <a:ext cx="4587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BSP 只有“节点和网络”一层，Multi-BSP 在每一层都重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复“计算、通信、同步”这套规则，第 i 层的一个超级步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里包含许多个第 i−1 层的超级步。</a:t>
              </a:r>
            </a:p>
          </p:txBody>
        </p:sp>
      </p:grpSp>
      <p:grpSp>
        <p:nvGrpSpPr>
          <p:cNvPr id="34" name="c2-image-1"/>
          <p:cNvGrpSpPr/>
          <p:nvPr/>
        </p:nvGrpSpPr>
        <p:grpSpPr>
          <a:xfrm>
            <a:off x="6447973" y="1524000"/>
            <a:ext cx="5228224" cy="4210527"/>
            <a:chOff x="6447973" y="1524000"/>
            <a:chExt cx="5228224" cy="4210527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rcRect l="5558" t="0" r="5559" b="0"/>
            <a:stretch>
              <a:fillRect/>
            </a:stretch>
          </p:blipFill>
          <p:spPr>
            <a:xfrm>
              <a:off x="6464618" y="1524000"/>
              <a:ext cx="5193982" cy="3895725"/>
            </a:xfrm>
            <a:prstGeom prst="roundRect">
              <a:avLst>
                <a:gd name="adj" fmla="val 3422"/>
              </a:avLst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6447973" y="5514499"/>
              <a:ext cx="5228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越往上的仓库越大，但离工位越远，搬一次货越慢，对应 mᵢ 与 gᵢ 随层数增大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19229" cy="909257"/>
            <a:chOff x="520446" y="342900"/>
            <a:chExt cx="93192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118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5137" y="407194"/>
              <a:ext cx="2948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Multi-BSP 层次模型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192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表达能力：冯·诺依曼、PRAM、BSP 都是 Multi-BSP 的特例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2079010" cy="278702"/>
            <a:chOff x="526161" y="1547336"/>
            <a:chExt cx="207901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0790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冯·诺依曼模型（d = 1）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44"/>
              <p:cNvSpPr txBox="1">
                <a:spLocks noGrp="1"/>
              </p:cNvSpPr>
              <p:nvPr/>
            </p:nvSpPr>
            <p:spPr>
              <a:xfrm>
                <a:off x="533400" y="1955482"/>
                <a:ext cx="59512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=∞,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6161" y="2602706"/>
            <a:ext cx="1754579" cy="278702"/>
            <a:chOff x="526161" y="2602706"/>
            <a:chExt cx="1754579" cy="278702"/>
          </a:xfrm>
        </p:grpSpPr>
        <p:sp>
          <p:nvSpPr>
            <p:cNvPr id="10" name="TextBox 10"/>
            <p:cNvSpPr txBox="1"/>
            <p:nvPr/>
          </p:nvSpPr>
          <p:spPr>
            <a:xfrm>
              <a:off x="526161" y="2602706"/>
              <a:ext cx="17545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PRAM 模型（d = 1）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45"/>
              <p:cNvSpPr txBox="1">
                <a:spLocks noGrp="1"/>
              </p:cNvSpPr>
              <p:nvPr/>
            </p:nvSpPr>
            <p:spPr>
              <a:xfrm>
                <a:off x="533400" y="3010852"/>
                <a:ext cx="59512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=∞,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4" name="c1-text-5"/>
          <p:cNvGrpSpPr/>
          <p:nvPr/>
        </p:nvGrpSpPr>
        <p:grpSpPr>
          <a:xfrm>
            <a:off x="526161" y="3657124"/>
            <a:ext cx="1603093" cy="278702"/>
            <a:chOff x="526161" y="3657124"/>
            <a:chExt cx="1603093" cy="278702"/>
          </a:xfrm>
        </p:grpSpPr>
        <p:sp>
          <p:nvSpPr>
            <p:cNvPr id="13" name="TextBox 13"/>
            <p:cNvSpPr txBox="1"/>
            <p:nvPr/>
          </p:nvSpPr>
          <p:spPr>
            <a:xfrm>
              <a:off x="526161" y="3657124"/>
              <a:ext cx="16030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 模型（d = 2）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46"/>
              <p:cNvSpPr txBox="1">
                <a:spLocks noGrp="1"/>
              </p:cNvSpPr>
              <p:nvPr/>
            </p:nvSpPr>
            <p:spPr>
              <a:xfrm>
                <a:off x="533400" y="4065270"/>
                <a:ext cx="59512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47"/>
              <p:cNvSpPr txBox="1">
                <a:spLocks noGrp="1"/>
              </p:cNvSpPr>
              <p:nvPr/>
            </p:nvSpPr>
            <p:spPr>
              <a:xfrm>
                <a:off x="533400" y="4689158"/>
                <a:ext cx="59512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=∞,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4" name="c2-kv-1"/>
          <p:cNvGrpSpPr/>
          <p:nvPr/>
        </p:nvGrpSpPr>
        <p:grpSpPr>
          <a:xfrm>
            <a:off x="6782181" y="1547336"/>
            <a:ext cx="4876419" cy="3190495"/>
            <a:chOff x="6782181" y="1547336"/>
            <a:chExt cx="4876419" cy="3190495"/>
          </a:xfrm>
        </p:grpSpPr>
        <p:sp>
          <p:nvSpPr>
            <p:cNvPr id="17" name="TextBox 17"/>
            <p:cNvSpPr txBox="1"/>
            <p:nvPr/>
          </p:nvSpPr>
          <p:spPr>
            <a:xfrm>
              <a:off x="6782181" y="154733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6621" y="1547336"/>
              <a:ext cx="3359785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树的深度，也就是层数；d = 1 只有一层存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789420" y="212121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82181" y="2236946"/>
              <a:ext cx="466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g = ∞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16621" y="2236946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最顶层不再往外通信，模型到此为止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789420" y="254317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82181" y="2658904"/>
              <a:ext cx="889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冯·诺依曼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16621" y="265890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一台处理器加一块存储器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789420" y="296418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82181" y="3079909"/>
              <a:ext cx="5234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PRAM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16621" y="3079909"/>
              <a:ext cx="336880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多台处理器共用一块存储器 m₁，访问不计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通信代价，也不计同步开销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789420" y="365379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82181" y="3769519"/>
              <a:ext cx="10411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BSP 第 1 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16621" y="3769519"/>
              <a:ext cx="3323717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每个节点一台处理器和容量为 m 的本地存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储，向上传一个字代价为 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89420" y="434340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82181" y="4459129"/>
              <a:ext cx="10411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BSP 第 2 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16621" y="4459129"/>
              <a:ext cx="28337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个节点连成整机，同步代价为 L</a:t>
              </a:r>
            </a:p>
          </p:txBody>
        </p:sp>
      </p:grpSp>
      <p:grpSp>
        <p:nvGrpSpPr>
          <p:cNvPr id="40" name="c2-callout-2"/>
          <p:cNvGrpSpPr/>
          <p:nvPr/>
        </p:nvGrpSpPr>
        <p:grpSpPr>
          <a:xfrm>
            <a:off x="6789420" y="4867275"/>
            <a:ext cx="4869180" cy="756285"/>
            <a:chOff x="6789420" y="4867275"/>
            <a:chExt cx="4869180" cy="756285"/>
          </a:xfrm>
        </p:grpSpPr>
        <p:sp>
          <p:nvSpPr>
            <p:cNvPr id="35" name="Rectangle 35"/>
            <p:cNvSpPr/>
            <p:nvPr/>
          </p:nvSpPr>
          <p:spPr>
            <a:xfrm>
              <a:off x="6789420" y="4867275"/>
              <a:ext cx="4869180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994208" y="5145407"/>
              <a:ext cx="200023" cy="200023"/>
              <a:chOff x="6994208" y="5145407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994208" y="51454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127558" y="52120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296531" y="5014436"/>
              <a:ext cx="32605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参数取特定值就退化成已有的模型，所以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Multi-BSP 是它们的推广。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1" name="Rectangle 4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511" y="6004084"/>
              <a:ext cx="104738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冯·诺依曼与 PRAM 的差别只在 p₁：一台处理器还是多台；BSP 比 PRAM 多出一层，通信代价 g 和同步代价 L 才进入模型。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118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5137" y="407194"/>
              <a:ext cx="2948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Multi-BSP 层次模型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派生量：处理器总数、组件数、可用存储、累计通信代价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923" y="1545431"/>
            <a:ext cx="5509758" cy="249364"/>
            <a:chOff x="526923" y="1545431"/>
            <a:chExt cx="5509758" cy="24936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55097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一个第 i 层组件里的处理器总数（原课件称“第 i 层中节点的组件总数”）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52"/>
              <p:cNvSpPr txBox="1">
                <a:spLocks noGrp="1"/>
              </p:cNvSpPr>
              <p:nvPr/>
            </p:nvSpPr>
            <p:spPr>
              <a:xfrm>
                <a:off x="533400" y="1934528"/>
                <a:ext cx="605980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6923" y="2527459"/>
            <a:ext cx="5791962" cy="500824"/>
            <a:chOff x="526923" y="2527459"/>
            <a:chExt cx="5791962" cy="500824"/>
          </a:xfrm>
        </p:grpSpPr>
        <p:sp>
          <p:nvSpPr>
            <p:cNvPr id="10" name="TextBox 10"/>
            <p:cNvSpPr txBox="1"/>
            <p:nvPr/>
          </p:nvSpPr>
          <p:spPr>
            <a:xfrm>
              <a:off x="526923" y="2527459"/>
              <a:ext cx="579196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一个第 j 层组件里第 i 层组件的数量；整个系统（d 为树的深度）中第 i 层组件的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53"/>
              <p:cNvSpPr txBox="1">
                <a:spLocks noGrp="1"/>
              </p:cNvSpPr>
              <p:nvPr/>
            </p:nvSpPr>
            <p:spPr>
              <a:xfrm>
                <a:off x="533400" y="3168015"/>
                <a:ext cx="605980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14" name="c1-text-5"/>
          <p:cNvGrpSpPr/>
          <p:nvPr/>
        </p:nvGrpSpPr>
        <p:grpSpPr>
          <a:xfrm>
            <a:off x="526923" y="3760946"/>
            <a:ext cx="2925054" cy="249364"/>
            <a:chOff x="526923" y="3760946"/>
            <a:chExt cx="2925054" cy="249364"/>
          </a:xfrm>
        </p:grpSpPr>
        <p:sp>
          <p:nvSpPr>
            <p:cNvPr id="13" name="TextBox 13"/>
            <p:cNvSpPr txBox="1"/>
            <p:nvPr/>
          </p:nvSpPr>
          <p:spPr>
            <a:xfrm>
              <a:off x="526923" y="3760946"/>
              <a:ext cx="29250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一个第 i 层组件中可用的存储器总容量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54"/>
              <p:cNvSpPr txBox="1">
                <a:spLocks noGrp="1"/>
              </p:cNvSpPr>
              <p:nvPr/>
            </p:nvSpPr>
            <p:spPr>
              <a:xfrm>
                <a:off x="533400" y="4150042"/>
                <a:ext cx="605980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17" name="c1-text-7"/>
          <p:cNvGrpSpPr/>
          <p:nvPr/>
        </p:nvGrpSpPr>
        <p:grpSpPr>
          <a:xfrm>
            <a:off x="526923" y="4742974"/>
            <a:ext cx="5182362" cy="249364"/>
            <a:chOff x="526923" y="4742974"/>
            <a:chExt cx="5182362" cy="249364"/>
          </a:xfrm>
        </p:grpSpPr>
        <p:sp>
          <p:nvSpPr>
            <p:cNvPr id="16" name="TextBox 16"/>
            <p:cNvSpPr txBox="1"/>
            <p:nvPr/>
          </p:nvSpPr>
          <p:spPr>
            <a:xfrm>
              <a:off x="526923" y="4742974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从第 1 层起逐级往上传一个字的累计通信代价，每经过一层加一个 g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55"/>
              <p:cNvSpPr txBox="1">
                <a:spLocks noGrp="1"/>
              </p:cNvSpPr>
              <p:nvPr/>
            </p:nvSpPr>
            <p:spPr>
              <a:xfrm>
                <a:off x="533400" y="5132070"/>
                <a:ext cx="605980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24" name="c2-card-1"/>
          <p:cNvGrpSpPr/>
          <p:nvPr/>
        </p:nvGrpSpPr>
        <p:grpSpPr>
          <a:xfrm>
            <a:off x="6898005" y="1524000"/>
            <a:ext cx="4760595" cy="1602105"/>
            <a:chOff x="6898005" y="1524000"/>
            <a:chExt cx="4760595" cy="1602105"/>
          </a:xfrm>
        </p:grpSpPr>
        <p:sp>
          <p:nvSpPr>
            <p:cNvPr id="19" name="Rectangle 19"/>
            <p:cNvSpPr/>
            <p:nvPr/>
          </p:nvSpPr>
          <p:spPr>
            <a:xfrm>
              <a:off x="6898005" y="1524000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907530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45655" y="1733550"/>
              <a:ext cx="1160145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08305" y="1769269"/>
              <a:ext cx="10329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Mᵢ 怎么数出来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8035" y="2110740"/>
              <a:ext cx="41300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层自己有 mᵢ；它下面有 pᵢ 个第 i−1 层组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件，各有 mᵢ₋₁；再往下共 pᵢ₋₁pᵢ 个第 i−2 层组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件，各有 mᵢ₋₂……一直加到第 1 层。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898005" y="3316605"/>
            <a:ext cx="4760595" cy="1316355"/>
            <a:chOff x="6898005" y="3316605"/>
            <a:chExt cx="4760595" cy="1316355"/>
          </a:xfrm>
        </p:grpSpPr>
        <p:sp>
          <p:nvSpPr>
            <p:cNvPr id="25" name="Rectangle 25"/>
            <p:cNvSpPr/>
            <p:nvPr/>
          </p:nvSpPr>
          <p:spPr>
            <a:xfrm>
              <a:off x="6898005" y="3316605"/>
              <a:ext cx="476059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907530" y="344995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145655" y="352615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27011" y="35618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简化假设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38035" y="3903345"/>
              <a:ext cx="3834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对所有的 i 都有 mᵢ ≥ mᵢ₋₁，即越往上存储越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大。</a:t>
              </a:r>
            </a:p>
          </p:txBody>
        </p:sp>
      </p:grpSp>
      <p:grpSp>
        <p:nvGrpSpPr>
          <p:cNvPr id="37" name="c2-callout-3"/>
          <p:cNvGrpSpPr/>
          <p:nvPr/>
        </p:nvGrpSpPr>
        <p:grpSpPr>
          <a:xfrm>
            <a:off x="6898005" y="4823460"/>
            <a:ext cx="4760595" cy="782955"/>
            <a:chOff x="6898005" y="4823460"/>
            <a:chExt cx="4760595" cy="782955"/>
          </a:xfrm>
        </p:grpSpPr>
        <p:sp>
          <p:nvSpPr>
            <p:cNvPr id="31" name="Rectangle 31"/>
            <p:cNvSpPr/>
            <p:nvPr/>
          </p:nvSpPr>
          <p:spPr>
            <a:xfrm>
              <a:off x="6898005" y="4823460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102793" y="5114925"/>
              <a:ext cx="200026" cy="200026"/>
              <a:chOff x="7102793" y="5114925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102793" y="51149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202805" y="518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191693" y="52149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404735" y="4972050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这四个量都只由各层参数相乘或相加得到，下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页用 Niagara 的真实参数算一遍。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97775" cy="909257"/>
            <a:chOff x="520446" y="342900"/>
            <a:chExt cx="74977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118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5137" y="407194"/>
              <a:ext cx="2948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Multi-BSP 层次模型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977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实例：Sun Niagara UltraSPARC T1 的三层参数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27685" y="1524000"/>
            <a:ext cx="6065520" cy="2544604"/>
            <a:chOff x="527685" y="1524000"/>
            <a:chExt cx="6065520" cy="254460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2701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119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60209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65999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44065" y="165973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Lᵢ*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92861" y="1659731"/>
              <a:ext cx="2481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9102" y="22217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6046" y="2108359"/>
              <a:ext cx="21018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一个内核：4 个线程，一个一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 cache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12334" y="22217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8124" y="22217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54394" y="22217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17397" y="2221706"/>
              <a:ext cx="367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KB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64795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9102" y="28970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6046" y="2783681"/>
              <a:ext cx="21018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一个芯片：8 个内核，一个二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 cache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12334" y="289702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18124" y="289702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07008" y="289702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80984" y="2897029"/>
              <a:ext cx="404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MB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9102" y="34590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6046" y="3459004"/>
              <a:ext cx="20548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个多核芯片，外部存储器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12334" y="345900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18124" y="345900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59622" y="345900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62366" y="3459004"/>
              <a:ext cx="7230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128 GB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524000"/>
              <a:ext cx="6059805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13460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558540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164330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770120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36870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7685" y="3848576"/>
              <a:ext cx="3773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据原课件第49页；第 3 层的芯片经 g₂ 与外部存储器通信</a:t>
              </a:r>
            </a:p>
          </p:txBody>
        </p:sp>
      </p:grpSp>
      <p:grpSp>
        <p:nvGrpSpPr>
          <p:cNvPr id="48" name="c1-card-2"/>
          <p:cNvGrpSpPr/>
          <p:nvPr/>
        </p:nvGrpSpPr>
        <p:grpSpPr>
          <a:xfrm>
            <a:off x="533400" y="4214812"/>
            <a:ext cx="6059805" cy="1651635"/>
            <a:chOff x="533400" y="4214812"/>
            <a:chExt cx="6059805" cy="1651635"/>
          </a:xfrm>
        </p:grpSpPr>
        <p:sp>
          <p:nvSpPr>
            <p:cNvPr id="43" name="Rectangle 43"/>
            <p:cNvSpPr/>
            <p:nvPr/>
          </p:nvSpPr>
          <p:spPr>
            <a:xfrm>
              <a:off x="533400" y="4214812"/>
              <a:ext cx="6059805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42925" y="4348162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81050" y="442436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71258" y="44600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3430" y="4801552"/>
              <a:ext cx="5263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 层写作“一个芯片有 1 个拥有 4 个线程的处理器”。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 一个芯片有 8 个内核，第 1 层组件是一个内核（4 个硬件线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程加 8 KB 一级 cache），第 2 层才是整个芯片。</a:t>
              </a:r>
            </a:p>
          </p:txBody>
        </p:sp>
      </p:grpSp>
      <p:grpSp>
        <p:nvGrpSpPr>
          <p:cNvPr id="84" name="c2-table-1"/>
          <p:cNvGrpSpPr/>
          <p:nvPr/>
        </p:nvGrpSpPr>
        <p:grpSpPr>
          <a:xfrm>
            <a:off x="6898005" y="1524000"/>
            <a:ext cx="4760595" cy="3368040"/>
            <a:chOff x="6898005" y="1524000"/>
            <a:chExt cx="4760595" cy="3368040"/>
          </a:xfrm>
        </p:grpSpPr>
        <p:sp>
          <p:nvSpPr>
            <p:cNvPr id="49" name="Rectangle 49"/>
            <p:cNvSpPr/>
            <p:nvPr/>
          </p:nvSpPr>
          <p:spPr>
            <a:xfrm>
              <a:off x="6898005" y="1524000"/>
              <a:ext cx="476059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6073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派生量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6613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7178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05828" y="210835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6212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43375" y="210835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个线程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898005" y="24164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98005" y="2421255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05828" y="255698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62126" y="2556986"/>
              <a:ext cx="977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p₁p₂ = 4 × 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43375" y="255698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个线程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898005" y="286607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05828" y="300561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62126" y="3005614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p₁p₂p₃ = 32 × p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243375" y="300561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32p 个线程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898005" y="331470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898005" y="3319462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005828" y="3454241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62126" y="3454241"/>
              <a:ext cx="977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p₂p₃ = 8 × p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243375" y="345424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8p 个内核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898005" y="376332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005828" y="4017169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862126" y="3903821"/>
              <a:ext cx="18905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m₂ + p₂m₁ = 3 MB + 8 × 8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KB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0145078" y="3777615"/>
              <a:ext cx="1503998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243375" y="4017169"/>
              <a:ext cx="668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3136 KB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898005" y="443865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898005" y="4443412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005828" y="457914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862126" y="4579144"/>
              <a:ext cx="1176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g₂ + g₁ = 3 + 1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145078" y="4452938"/>
              <a:ext cx="150399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243375" y="457914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898005" y="1524000"/>
              <a:ext cx="4760595" cy="3368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7749540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10130790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1" name="c2-callout-2"/>
          <p:cNvGrpSpPr/>
          <p:nvPr/>
        </p:nvGrpSpPr>
        <p:grpSpPr>
          <a:xfrm>
            <a:off x="6898005" y="5082540"/>
            <a:ext cx="4760595" cy="782955"/>
            <a:chOff x="6898005" y="5082540"/>
            <a:chExt cx="4760595" cy="782955"/>
          </a:xfrm>
        </p:grpSpPr>
        <p:sp>
          <p:nvSpPr>
            <p:cNvPr id="85" name="Rectangle 85"/>
            <p:cNvSpPr/>
            <p:nvPr/>
          </p:nvSpPr>
          <p:spPr>
            <a:xfrm>
              <a:off x="6898005" y="5082540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7102793" y="5374005"/>
              <a:ext cx="200026" cy="200025"/>
              <a:chOff x="7102793" y="5374005"/>
              <a:chExt cx="200026" cy="200025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7102793" y="53740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7142531" y="54184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177247" y="55295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7404735" y="5231130"/>
              <a:ext cx="37204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G₂ = 4 表示从一级 cache 把一个字送到芯片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之外，代价相当于 4 次处理器操作。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88018" cy="909257"/>
            <a:chOff x="520446" y="342900"/>
            <a:chExt cx="72880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118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5137" y="407194"/>
              <a:ext cx="2948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Multi-BSP 层次模型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880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算法评价（一）：两种“差不多”记号与三种开销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842635" cy="1274445"/>
            <a:chOff x="533400" y="1524000"/>
            <a:chExt cx="5842635" cy="1274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约定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85660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min{mᵢ | 1 ≤ i ≤ d}，输入量 n 是一个很大的数；F₁、F₂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是随参数 {pᵢ, gᵢ, Lᵢ, mᵢ | 1 ≤ i ≤ d} 取值而变的代价。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60"/>
              <p:cNvSpPr txBox="1">
                <a:spLocks noGrp="1"/>
              </p:cNvSpPr>
              <p:nvPr/>
            </p:nvSpPr>
            <p:spPr>
              <a:xfrm>
                <a:off x="533400" y="2984182"/>
                <a:ext cx="584263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≾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∀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</m:d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61"/>
              <p:cNvSpPr txBox="1">
                <a:spLocks noGrp="1"/>
              </p:cNvSpPr>
              <p:nvPr/>
            </p:nvSpPr>
            <p:spPr>
              <a:xfrm>
                <a:off x="533400" y="3569970"/>
                <a:ext cx="584263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≾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16" name="c1-text-4"/>
          <p:cNvGrpSpPr/>
          <p:nvPr/>
        </p:nvGrpSpPr>
        <p:grpSpPr>
          <a:xfrm>
            <a:off x="527304" y="4174807"/>
            <a:ext cx="4519270" cy="234696"/>
            <a:chOff x="527304" y="4174807"/>
            <a:chExt cx="4519270" cy="234696"/>
          </a:xfrm>
        </p:grpSpPr>
        <p:sp>
          <p:nvSpPr>
            <p:cNvPr id="15" name="TextBox 15"/>
            <p:cNvSpPr txBox="1"/>
            <p:nvPr/>
          </p:nvSpPr>
          <p:spPr>
            <a:xfrm>
              <a:off x="527304" y="4174807"/>
              <a:ext cx="45192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两式都要求 m、n 足够大；第二式中的常量 c 只依赖于层数 d。</a:t>
              </a:r>
            </a:p>
          </p:txBody>
        </p:sp>
      </p:grpSp>
      <p:grpSp>
        <p:nvGrpSpPr>
          <p:cNvPr id="41" name="c1-table-5"/>
          <p:cNvGrpSpPr/>
          <p:nvPr/>
        </p:nvGrpSpPr>
        <p:grpSpPr>
          <a:xfrm>
            <a:off x="533400" y="4547235"/>
            <a:ext cx="5842635" cy="1720215"/>
            <a:chOff x="533400" y="4547235"/>
            <a:chExt cx="5842635" cy="1720215"/>
          </a:xfrm>
        </p:grpSpPr>
        <p:sp>
          <p:nvSpPr>
            <p:cNvPr id="17" name="Rectangle 17"/>
            <p:cNvSpPr/>
            <p:nvPr/>
          </p:nvSpPr>
          <p:spPr>
            <a:xfrm>
              <a:off x="533400" y="4547235"/>
              <a:ext cx="584263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83099" y="467868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31814" y="467868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48787" y="467868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第一种成立？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22342" y="467868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第二种成立？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0848" y="5109210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+ 5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85962" y="51092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36671" y="510921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比值趋于 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26202" y="5109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403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540829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88380" y="55387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85962" y="553878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36671" y="5538788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比值恒为 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90998" y="5538788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常量取 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8331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8759" y="5969317"/>
              <a:ext cx="538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log 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85962" y="596931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52647" y="5969317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78882" y="5969317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比值无界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47235"/>
              <a:ext cx="584263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837372" y="4547235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825115" y="4547235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644390" y="4547235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1"/>
          <p:cNvGrpSpPr/>
          <p:nvPr/>
        </p:nvGrpSpPr>
        <p:grpSpPr>
          <a:xfrm>
            <a:off x="6680835" y="1524000"/>
            <a:ext cx="4977765" cy="2145982"/>
            <a:chOff x="6680835" y="1524000"/>
            <a:chExt cx="4977765" cy="2145982"/>
          </a:xfrm>
        </p:grpSpPr>
        <p:sp>
          <p:nvSpPr>
            <p:cNvPr id="42" name="Rectangle 42"/>
            <p:cNvSpPr/>
            <p:nvPr/>
          </p:nvSpPr>
          <p:spPr>
            <a:xfrm>
              <a:off x="6680835" y="1524000"/>
              <a:ext cx="4977765" cy="2145982"/>
            </a:xfrm>
            <a:prstGeom prst="roundRect">
              <a:avLst>
                <a:gd name="adj" fmla="val 62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90360" y="1657350"/>
              <a:ext cx="47625" cy="187928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22770" y="1727835"/>
              <a:ext cx="2527935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33021" y="1763554"/>
              <a:ext cx="2507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对 Multi-BSP 算法 A* 定义三种开销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15531" y="2100739"/>
              <a:ext cx="9586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Comp(A*)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39494" y="210073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并行计算的开销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922770" y="2406968"/>
              <a:ext cx="45319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15531" y="2522696"/>
              <a:ext cx="9997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Comm(A*)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39494" y="252269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并行通信的开销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922770" y="2827972"/>
              <a:ext cx="45319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15531" y="2944654"/>
              <a:ext cx="10267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Synch(A*)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39494" y="294465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并行同步的开销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16674" y="3279457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三种开销都以处理器的基本时间单位表示。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680835" y="3855720"/>
            <a:ext cx="4977765" cy="1545908"/>
            <a:chOff x="6680835" y="3855720"/>
            <a:chExt cx="4977765" cy="1545908"/>
          </a:xfrm>
        </p:grpSpPr>
        <p:sp>
          <p:nvSpPr>
            <p:cNvPr id="56" name="Rectangle 56"/>
            <p:cNvSpPr/>
            <p:nvPr/>
          </p:nvSpPr>
          <p:spPr>
            <a:xfrm>
              <a:off x="6680835" y="3855720"/>
              <a:ext cx="497776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90360" y="398907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922770" y="4059555"/>
              <a:ext cx="1541145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71734" y="4095274"/>
              <a:ext cx="1443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与 BSP 代价公式对照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15531" y="4432459"/>
              <a:ext cx="427050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 对应各超级步计算时间之和 ΣWₖ，Comm 对应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ΣHₖ，Synch 对应 s·B；Multi-BSP 要在每一层分别累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计。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6680835" y="5587365"/>
            <a:ext cx="4977765" cy="756285"/>
            <a:chOff x="6680835" y="5587365"/>
            <a:chExt cx="4977765" cy="756285"/>
          </a:xfrm>
        </p:grpSpPr>
        <p:sp>
          <p:nvSpPr>
            <p:cNvPr id="62" name="Rectangle 62"/>
            <p:cNvSpPr/>
            <p:nvPr/>
          </p:nvSpPr>
          <p:spPr>
            <a:xfrm>
              <a:off x="6680835" y="5587365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885623" y="5865497"/>
              <a:ext cx="200023" cy="200023"/>
              <a:chOff x="6885623" y="5865497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885623" y="58654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018973" y="59321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187946" y="5734526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第一种只允许多出任意小的比例，几乎一样；第二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种允许差一个常数倍，只要求同阶。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05970" cy="909257"/>
            <a:chOff x="520446" y="342900"/>
            <a:chExt cx="82059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118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5137" y="407194"/>
              <a:ext cx="2948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 · Multi-BSP 层次模型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059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算法评价（二）：A* 比基线算法 A 更有效的三个条件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923" y="1545431"/>
            <a:ext cx="5157978" cy="500824"/>
            <a:chOff x="526923" y="1545431"/>
            <a:chExt cx="5157978" cy="50082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515797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为了量化 A* 的效率，定义 A* 的基线算法 A，并在 Multi-BSP 机器 H 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比较两者。</a:t>
              </a:r>
            </a:p>
          </p:txBody>
        </p:sp>
      </p:grpSp>
      <p:grpSp>
        <p:nvGrpSpPr>
          <p:cNvPr id="20" name="c1-kv-2"/>
          <p:cNvGrpSpPr/>
          <p:nvPr/>
        </p:nvGrpSpPr>
        <p:grpSpPr>
          <a:xfrm>
            <a:off x="525780" y="2210752"/>
            <a:ext cx="5417820" cy="1895476"/>
            <a:chOff x="525780" y="2210752"/>
            <a:chExt cx="5417820" cy="1895476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2210752"/>
              <a:ext cx="13591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Comp_seq(A)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75497" y="2210752"/>
              <a:ext cx="24178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执行的计算操作的总次数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5307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2650808"/>
              <a:ext cx="893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Comp(A)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75497" y="2650808"/>
              <a:ext cx="35775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Comp_seq(A) 除以 H 中处理器的数量，即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每个处理器计算操作的平均次数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2527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3372802"/>
              <a:ext cx="9367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Comm(A)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75497" y="3372802"/>
              <a:ext cx="2727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H 上运行 A 的最小通信开销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6928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3812858"/>
              <a:ext cx="9657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Synch(A)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75497" y="3812858"/>
              <a:ext cx="2727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H 上运行 A 的最小同步开销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66"/>
              <p:cNvSpPr txBox="1">
                <a:spLocks noGrp="1"/>
              </p:cNvSpPr>
              <p:nvPr/>
            </p:nvSpPr>
            <p:spPr>
              <a:xfrm>
                <a:off x="533400" y="4237672"/>
                <a:ext cx="54102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Comp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Comp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seq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/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23" name="c1-text-4"/>
          <p:cNvGrpSpPr/>
          <p:nvPr/>
        </p:nvGrpSpPr>
        <p:grpSpPr>
          <a:xfrm>
            <a:off x="526923" y="4867751"/>
            <a:ext cx="4165062" cy="249364"/>
            <a:chOff x="526923" y="4867751"/>
            <a:chExt cx="4165062" cy="249364"/>
          </a:xfrm>
        </p:grpSpPr>
        <p:sp>
          <p:nvSpPr>
            <p:cNvPr id="22" name="TextBox 22"/>
            <p:cNvSpPr txBox="1"/>
            <p:nvPr/>
          </p:nvSpPr>
          <p:spPr>
            <a:xfrm>
              <a:off x="526923" y="4867751"/>
              <a:ext cx="41650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分母是整台机器的处理器总数，即前面的 Pᵢ 取 i = d。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2085975"/>
            <a:chOff x="6248400" y="1524000"/>
            <a:chExt cx="5410200" cy="2085975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2085975"/>
            </a:xfrm>
            <a:prstGeom prst="roundRect">
              <a:avLst>
                <a:gd name="adj" fmla="val 639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57950" y="1733550"/>
              <a:ext cx="276891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67044" y="1769269"/>
              <a:ext cx="27497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规定：满足以下三条，则 A* 比 A 更有效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67"/>
                <p:cNvSpPr txBox="1">
                  <a:spLocks noGrp="1"/>
                </p:cNvSpPr>
                <p:nvPr/>
              </p:nvSpPr>
              <p:spPr>
                <a:xfrm>
                  <a:off x="6457950" y="2085975"/>
                  <a:ext cx="49911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Comp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≾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Comp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Comp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seq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≾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Comp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seq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68"/>
                <p:cNvSpPr txBox="1">
                  <a:spLocks noGrp="1"/>
                </p:cNvSpPr>
                <p:nvPr/>
              </p:nvSpPr>
              <p:spPr>
                <a:xfrm>
                  <a:off x="6457950" y="2524125"/>
                  <a:ext cx="49911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2.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Comm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≾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Comm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69"/>
                <p:cNvSpPr txBox="1">
                  <a:spLocks noGrp="1"/>
                </p:cNvSpPr>
                <p:nvPr/>
              </p:nvSpPr>
              <p:spPr>
                <a:xfrm>
                  <a:off x="6457950" y="3000375"/>
                  <a:ext cx="49911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3.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Synch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≾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Synch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7" name="c2-callout-2"/>
          <p:cNvGrpSpPr/>
          <p:nvPr/>
        </p:nvGrpSpPr>
        <p:grpSpPr>
          <a:xfrm>
            <a:off x="6248400" y="3800475"/>
            <a:ext cx="5410200" cy="1266825"/>
            <a:chOff x="6248400" y="3800475"/>
            <a:chExt cx="5410200" cy="1266825"/>
          </a:xfrm>
        </p:grpSpPr>
        <p:sp>
          <p:nvSpPr>
            <p:cNvPr id="31" name="Rectangle 31"/>
            <p:cNvSpPr/>
            <p:nvPr/>
          </p:nvSpPr>
          <p:spPr>
            <a:xfrm>
              <a:off x="6248400" y="3800475"/>
              <a:ext cx="5410200" cy="1266825"/>
            </a:xfrm>
            <a:prstGeom prst="roundRect">
              <a:avLst>
                <a:gd name="adj" fmla="val 902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453188" y="4333875"/>
              <a:ext cx="200026" cy="200025"/>
              <a:chOff x="6453188" y="4333875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453188" y="43338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492926" y="43783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27642" y="44894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755130" y="419100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读法：总计算量几乎不能比基线多；每个处理器的计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算、通信、同步，都只允许比基线多出常数倍。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8" name="Rectangle 3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991225"/>
              <a:ext cx="10355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例：A* 的总运算量与 A 相同，每台处理器的通信量是 A 的 2 倍，条件 2 仍成立；若是 log n 倍，条件 2 就不成立。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194560" cy="264033"/>
            <a:chOff x="526542" y="1545907"/>
            <a:chExt cx="21945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914525"/>
            <a:chOff x="533400" y="1928812"/>
            <a:chExt cx="5410200" cy="19145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818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PRAM 和 APRAM 都是共享存储，二者在控制器、时钟和同步方式上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有什么不同？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484098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PRAM 所有处理器共享一个控制器，锁步执行，隐式同步，程序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地址空间单一；APRAM 每台有独立控制器和局部时钟，异步执行，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靠同步路障显式同步，各有独立的程序地址空间。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8120"/>
            <a:ext cx="5410200" cy="1671638"/>
            <a:chOff x="533400" y="4008120"/>
            <a:chExt cx="5410200" cy="1671638"/>
          </a:xfrm>
        </p:grpSpPr>
        <p:sp>
          <p:nvSpPr>
            <p:cNvPr id="15" name="Rectangle 15"/>
            <p:cNvSpPr/>
            <p:nvPr/>
          </p:nvSpPr>
          <p:spPr>
            <a:xfrm>
              <a:off x="533400" y="4008120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529614"/>
              <a:ext cx="476864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 中第 k 个超级步收到的消息，能在同一超级步内参与计算吗？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 为什么能避免死锁？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057299"/>
              <a:ext cx="4767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不能，要到第 k+1 个超级步才能用。计算按超级步切开，消息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在路障处统一交付，进程之间不会互相等待对方的消息。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914525"/>
            <a:chOff x="6248400" y="1928812"/>
            <a:chExt cx="5410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39679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CRCW 下 P1、P2 同一步向单元 X 分别写 4 和 9，Common、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Priority、Arbitrary 三种规则的结果各是什么？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977991"/>
              <a:ext cx="483285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Common：两值不同，这一步非法；Priority：写入优先级高的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（通常是编号小的 P1）4；Arbitrary：4 或 9 之一，算法不能依赖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是哪个。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4008120"/>
            <a:ext cx="5410200" cy="1671638"/>
            <a:chOff x="6248400" y="4008120"/>
            <a:chExt cx="5410200" cy="1671638"/>
          </a:xfrm>
        </p:grpSpPr>
        <p:sp>
          <p:nvSpPr>
            <p:cNvPr id="27" name="Rectangle 27"/>
            <p:cNvSpPr/>
            <p:nvPr/>
          </p:nvSpPr>
          <p:spPr>
            <a:xfrm>
              <a:off x="6248400" y="4008120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529614"/>
              <a:ext cx="43529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 和 LogP 各靠什么同步？哪一个的性能更容易预测？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814411"/>
              <a:ext cx="48003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 靠全局路障；LogP 没有路障同步器，靠进程之间的个体消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息收发。BSP 结构性强、性能更容易预测，LogP 更灵活但可预测性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6061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概念题答不上时，回到对应模型的“特点”表，逐行比较存储、控制、同步三列。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3284982" cy="264033"/>
            <a:chOff x="526542" y="1545907"/>
            <a:chExt cx="328498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带计算的题请把代入的每一步都写出来。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671638"/>
            <a:chOff x="533400" y="1928812"/>
            <a:chExt cx="5410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64550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p = n/2 台处理器以二叉树求 n = 1024 个数的和，求 t(n)、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c(n)，是否成本最优？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47515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各加 2 个数 1 步，再树归约 9 步，t = 10；c = 5120，约为串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 1023 步的 5 倍，比值 (log n)/2 随 n 增大，不是成本最优。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5410200" cy="1671638"/>
            <a:chOff x="533400" y="3765232"/>
            <a:chExt cx="5410200" cy="1671638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4642663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 某超级步 Wₖ = 50 μs，h = 4，tl = 2 μs，q = 1200 字节，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 = 400 字节/μs，B = 8 μs，L = 80 μs。求 Tₖ 和效率。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46296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 2 + 1200/400 = 5 μs，Hₖ = 20 μs；Tₖ = 50 + 20 + 8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 μs；效率 78/80 = 97.5%。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671638"/>
            <a:chOff x="6248400" y="1928812"/>
            <a:chExt cx="5410200" cy="1671638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7637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某算法 W = 4096、T = 12，按 Brent 定理 p = 256 时运行时间的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上界是多少？p 取多大量级时成本与 W 同阶？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977991"/>
              <a:ext cx="47190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4096/256 + 12 = 16 + 12 = 28；p = O(W/T)，即约 4096/12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341 的量级。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765232"/>
            <a:ext cx="5410200" cy="1671638"/>
            <a:chOff x="6248400" y="3765232"/>
            <a:chExt cx="5410200" cy="1671638"/>
          </a:xfrm>
        </p:grpSpPr>
        <p:sp>
          <p:nvSpPr>
            <p:cNvPr id="27" name="Rectangle 27"/>
            <p:cNvSpPr/>
            <p:nvPr/>
          </p:nvSpPr>
          <p:spPr>
            <a:xfrm>
              <a:off x="6248400" y="376523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286726"/>
              <a:ext cx="48592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LogP 中 L = 10，o = 3，g = 5。一个节点连续给另一节点发 4 条消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息，最后一条何时收完？网络中同时最多几条？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814411"/>
              <a:ext cx="46134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&gt; o，间隔取 g：(4−1) × 5 + 2 × 3 + 10 = 31；在途最多 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10/5⌉ = 2 条。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58942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BSP 题先算一条消息 tl + q/th；LogP 题先比较 g 和 o，取大者作发送间隔。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544574" cy="909257"/>
            <a:chOff x="520446" y="342900"/>
            <a:chExt cx="15445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并行计算模型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2572"/>
            <a:ext cx="5990412" cy="1848327"/>
            <a:chOff x="533400" y="1532572"/>
            <a:chExt cx="5990412" cy="1848327"/>
          </a:xfrm>
        </p:grpSpPr>
        <p:sp>
          <p:nvSpPr>
            <p:cNvPr id="7" name="Ellipse 7"/>
            <p:cNvSpPr/>
            <p:nvPr/>
          </p:nvSpPr>
          <p:spPr>
            <a:xfrm>
              <a:off x="533400" y="1532572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9105" y="156429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2955" y="1542574"/>
              <a:ext cx="5740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并行算法是可同时执行、相互协调的进程集合，按运算性质、同步与否、确定与否分类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02130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9105" y="1833848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2955" y="1812131"/>
              <a:ext cx="4723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运行时间从第一台开始到最后一台结束，含计算与通信；成本 c = t × p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071688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9105" y="210340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81689"/>
              <a:ext cx="4439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Brent 定理：t = O(W/p + T)，p = O(W/T) 时成本与工作量同阶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342198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9105" y="237391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2955" y="2352199"/>
              <a:ext cx="3739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PRAM 锁步、共享存储，EREW 最多比 CRCW 慢 log p 倍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611755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9105" y="2643473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2955" y="2621756"/>
              <a:ext cx="35899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APRAM 异步分相，时间 = 各相最长者之和 + 路障开销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881312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9105" y="291303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2955" y="2891314"/>
              <a:ext cx="38113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BSP 超级步 Tₖ = Wₖ + Hₖ + B；LogP 单条消息 o + L + o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3150870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9105" y="3182588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2955" y="3160871"/>
              <a:ext cx="51237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Multi-BSP 每层 (pᵢ, gᵢ, Lᵢ, mᵢ)，冯·诺依曼、PRAM、BSP 都是它的特例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3507105"/>
            <a:ext cx="6059805" cy="2173605"/>
            <a:chOff x="533400" y="3507105"/>
            <a:chExt cx="6059805" cy="2173605"/>
          </a:xfrm>
        </p:grpSpPr>
        <p:sp>
          <p:nvSpPr>
            <p:cNvPr id="29" name="Rectangle 29"/>
            <p:cNvSpPr/>
            <p:nvPr/>
          </p:nvSpPr>
          <p:spPr>
            <a:xfrm>
              <a:off x="533400" y="3507105"/>
              <a:ext cx="6059805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640455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8190" y="369379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0357" y="372665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6762" y="409384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2782" y="4037648"/>
              <a:ext cx="509720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Brent 推论应为 c(n) ≥ W(n)（第9页）；Arbitrary 是随意成功一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台（第16页）；APRAM 路障开销为 B × n（第19页）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6762" y="465105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2782" y="4594860"/>
              <a:ext cx="514864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LogP 间隔短于 g 才拥塞，且不丢包（第30页）；启动率是 1/g（第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33页）；mᵢ 是容量（第40页）；Niagara 第 1 层是一个内核（第44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6898005" y="1524000"/>
            <a:ext cx="4760595" cy="2800350"/>
            <a:chOff x="6898005" y="1524000"/>
            <a:chExt cx="4760595" cy="2800350"/>
          </a:xfrm>
        </p:grpSpPr>
        <p:sp>
          <p:nvSpPr>
            <p:cNvPr id="38" name="Rectangle 38"/>
            <p:cNvSpPr/>
            <p:nvPr/>
          </p:nvSpPr>
          <p:spPr>
            <a:xfrm>
              <a:off x="6898005" y="1524000"/>
              <a:ext cx="4760595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5493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60801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95160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成本最优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2958" y="2045494"/>
              <a:ext cx="1443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c(n) 与串行步数同阶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898005" y="23193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898005" y="23241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95160" y="2445544"/>
              <a:ext cx="1006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EREW / CRCW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22958" y="2445544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读写都互斥 / 读写都可并发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98005" y="27193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95160" y="2845594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 / 超级步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22958" y="284559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两次路障之间的一段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898005" y="31194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98005" y="31242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95160" y="3245644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h-relation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22958" y="3245644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每步每节点至多收发 h 条消息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898005" y="35194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95160" y="3645694"/>
              <a:ext cx="7581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g（LogP）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22958" y="364569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连续两次收发的最短间隔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898005" y="39195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898005" y="39243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95160" y="404574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Mᵢ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22958" y="4045744"/>
              <a:ext cx="21071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一个第 i 层组件能用的全部存储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898005" y="1524000"/>
              <a:ext cx="4760595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32104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rd-2"/>
          <p:cNvGrpSpPr/>
          <p:nvPr/>
        </p:nvGrpSpPr>
        <p:grpSpPr>
          <a:xfrm>
            <a:off x="6898005" y="4493895"/>
            <a:ext cx="4760595" cy="1185862"/>
            <a:chOff x="6898005" y="4493895"/>
            <a:chExt cx="4760595" cy="1185862"/>
          </a:xfrm>
        </p:grpSpPr>
        <p:sp>
          <p:nvSpPr>
            <p:cNvPr id="64" name="Rectangle 64"/>
            <p:cNvSpPr/>
            <p:nvPr/>
          </p:nvSpPr>
          <p:spPr>
            <a:xfrm>
              <a:off x="6898005" y="4493895"/>
              <a:ext cx="4760595" cy="1185862"/>
            </a:xfrm>
            <a:prstGeom prst="roundRect">
              <a:avLst>
                <a:gd name="adj" fmla="val 1124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084695" y="468058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173316" y="47134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77837" y="5025390"/>
              <a:ext cx="41027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第9章 算法设计：在这些模型上设计并行算法，用本章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的成本、Brent 定理和 BSP 代价公式分析它们。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9" name="Rectangle 6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892" y="6028373"/>
              <a:ext cx="81402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复习时动手算四类题：成本与成本最优、Brent 上界、BSP 超级步时间与效率、LogP 连续发送时间。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第8章 并行计算模型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dc_ch08">
  <a:themeElements>
    <a:clrScheme name="pdc_ch0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dc_ch08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dc_ch0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2026-09-23T08:59:27Z</dcterms:created>
  <dcterms:modified xsi:type="dcterms:W3CDTF">2026-09-23T08:59:27Z</dcterms:modified>
  <cp:category/>
  <cp:contentStatus/>
</cp:coreProperties>
</file>