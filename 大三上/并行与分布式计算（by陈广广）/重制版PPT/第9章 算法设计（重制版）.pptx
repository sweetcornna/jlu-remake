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dc_ch0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dc_ch0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5ab9c4fa8721870f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07295310931fe22.png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bbbf897f3ec7ab4.png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73346" cy="3437763"/>
            <a:chOff x="666750" y="1619250"/>
            <a:chExt cx="467334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139315" cy="3429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97463" y="1718310"/>
              <a:ext cx="1915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并行与分布式计算 · 第9章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算法设计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634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PCAM 设计过程到六种并行算法设计技术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226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PCAM 四阶段与判据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划分与分治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平衡树与倍增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流水线与破对称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632846" cy="205359"/>
            <a:chOff x="680466" y="6192202"/>
            <a:chExt cx="4632846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632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自学复习版｜据吉林大学《并行与分布式计算》第9章课件整理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5706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PCAM 设计过程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划分、通信、组合、映射四个阶段及各阶段判据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划分技术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57291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均匀划分 PSRS、方根划分 Valiant 归并、对数划分、功能划分 (m,n) 选择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分治技术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146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双调序列、Batcher 定理、双调归并网络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平衡树技术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平衡树求最大值、求前缀和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倍增技术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指针跳跃求链表中每个元素的位序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流水线与破对称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31508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一维脉动阵列上的 DFT；有向环的 3 着色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PCAM 每个阶段做什么、用哪些判据检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739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用表面-容积效应比较条带划分和块划分的通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信量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7680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 PSRS、Valiant 归并和 (m,n) 选择的每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在比较器网络上走一遍双调归并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37197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30911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手算平衡树前缀和与倍增表序的中间数组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67588" y="47072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25702" y="464439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算出脉动阵列的步数、加速比和效率，手算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一轮破对称着色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680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PCAM 设计过程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先把并行性尽量拆出来，再按目标机器收拢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设计过程：划分、通信、组合、映射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每个阶段都有一组自查判据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负载平衡与任务调度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48843" cy="909257"/>
            <a:chOff x="520446" y="342900"/>
            <a:chExt cx="814884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4884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PCAM：四个阶段，前两步只看问题，后两步才看机器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560685" cy="597598"/>
            <a:chOff x="525399" y="1550194"/>
            <a:chExt cx="10560685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560685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并行算法设计过程分为划分（Partitioning）、通信（Communication）、组合（Agglomeration）、映射（Mapping）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四个阶段，取首字母叫 PCAM。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2266950"/>
            <a:ext cx="5952617" cy="2764440"/>
            <a:chOff x="533400" y="2266950"/>
            <a:chExt cx="5952617" cy="2764440"/>
          </a:xfrm>
        </p:grpSpPr>
        <p:sp>
          <p:nvSpPr>
            <p:cNvPr id="9" name="Rectangle 9"/>
            <p:cNvSpPr/>
            <p:nvPr/>
          </p:nvSpPr>
          <p:spPr>
            <a:xfrm>
              <a:off x="666750" y="240982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22669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340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9175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9913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680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418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4538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5277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3012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9508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将大任务分解成小任务，尽量开拓并发性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95179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24564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确定诸任务间的数据交换，检查任务划分是否合理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60235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96201"/>
              <a:ext cx="55399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依据任务的局部性优化通信成本或提高性能，必要时把小任务组合成更大的任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4881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782026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将每个任务分配到处理器上执行，监测执行性能，以备下一轮迭代优化</a:t>
              </a:r>
            </a:p>
          </p:txBody>
        </p:sp>
      </p:grpSp>
      <p:grpSp>
        <p:nvGrpSpPr>
          <p:cNvPr id="49" name="c2-flow-1"/>
          <p:cNvGrpSpPr/>
          <p:nvPr/>
        </p:nvGrpSpPr>
        <p:grpSpPr>
          <a:xfrm>
            <a:off x="7432358" y="2352675"/>
            <a:ext cx="4117657" cy="2952750"/>
            <a:chOff x="7432358" y="2352675"/>
            <a:chExt cx="4117657" cy="2952750"/>
          </a:xfrm>
        </p:grpSpPr>
        <p:sp>
          <p:nvSpPr>
            <p:cNvPr id="27" name="Freeform 27"/>
            <p:cNvSpPr/>
            <p:nvPr/>
          </p:nvSpPr>
          <p:spPr>
            <a:xfrm>
              <a:off x="9385935" y="2790825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333548" y="28765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385935" y="3419475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333548" y="35052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9385935" y="4048125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333548" y="41338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9385935" y="4676775"/>
              <a:ext cx="9525" cy="85725"/>
            </a:xfrm>
            <a:custGeom>
              <a:avLst/>
              <a:gdLst/>
              <a:ahLst/>
              <a:cxnLst/>
              <a:rect l="l" t="t" r="r" b="b"/>
              <a:pathLst>
                <a:path w="9525" h="85725">
                  <a:moveTo>
                    <a:pt x="0" y="0"/>
                  </a:moveTo>
                  <a:lnTo>
                    <a:pt x="0" y="8572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333548" y="4762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11340465" y="3200400"/>
              <a:ext cx="209550" cy="1885950"/>
            </a:xfrm>
            <a:custGeom>
              <a:avLst/>
              <a:gdLst/>
              <a:ahLst/>
              <a:cxnLst/>
              <a:rect l="l" t="t" r="r" b="b"/>
              <a:pathLst>
                <a:path w="209550" h="1885950">
                  <a:moveTo>
                    <a:pt x="0" y="1885950"/>
                  </a:moveTo>
                  <a:lnTo>
                    <a:pt x="209550" y="1885950"/>
                  </a:lnTo>
                  <a:lnTo>
                    <a:pt x="20955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11340465" y="31480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432358" y="2352675"/>
              <a:ext cx="3908108" cy="43815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432358" y="2981325"/>
              <a:ext cx="390810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432358" y="3609975"/>
              <a:ext cx="390810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432358" y="4238625"/>
              <a:ext cx="3908108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432358" y="4867275"/>
              <a:ext cx="3908108" cy="438150"/>
            </a:xfrm>
            <a:prstGeom prst="roundRect">
              <a:avLst>
                <a:gd name="adj" fmla="val 21739"/>
              </a:avLst>
            </a:prstGeom>
            <a:solidFill>
              <a:srgbClr val="E7EDF3"/>
            </a:solidFill>
            <a:ln w="1905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07144" y="24826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07144" y="3111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07144" y="37399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07144" y="43686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07144" y="49972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759440" y="4051935"/>
              <a:ext cx="7620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780776" y="407860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性能不满意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50" name="Rectangle 50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728335"/>
              <a:ext cx="9921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划分和通信阶段不考虑处理器个数，目的是找出尽可能多的并发性；组合和映射阶段才结合具体并行机考虑局部性和性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划分：先分解数据，再分解计算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193982" cy="2501265"/>
            <a:chOff x="533400" y="1524000"/>
            <a:chExt cx="5193982" cy="25012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501265"/>
            </a:xfrm>
            <a:prstGeom prst="roundRect">
              <a:avLst>
                <a:gd name="adj" fmla="val 533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3456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任务的划分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564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将原始计算问题分割成一些小的计算任务，以充分开拓算法中存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在的并行性。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43045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先做数据分解（域分解，domain decomposition），再做计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算功能的分解（功能分解，functional decomposition）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316992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311705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要点：力图避免数据复制和计算复制，使数据集和计算集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互不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相交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62000" y="369760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7448" y="364474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划分阶段忽略处理器数目和目标机器的体系结构</a:t>
              </a:r>
            </a:p>
          </p:txBody>
        </p:sp>
      </p:grpSp>
      <p:grpSp>
        <p:nvGrpSpPr>
          <p:cNvPr id="32" name="c1-card-2"/>
          <p:cNvGrpSpPr/>
          <p:nvPr/>
        </p:nvGrpSpPr>
        <p:grpSpPr>
          <a:xfrm>
            <a:off x="533400" y="4190048"/>
            <a:ext cx="5193982" cy="1926908"/>
            <a:chOff x="533400" y="4190048"/>
            <a:chExt cx="5193982" cy="1926908"/>
          </a:xfrm>
        </p:grpSpPr>
        <p:sp>
          <p:nvSpPr>
            <p:cNvPr id="20" name="Rectangle 20"/>
            <p:cNvSpPr/>
            <p:nvPr/>
          </p:nvSpPr>
          <p:spPr>
            <a:xfrm>
              <a:off x="533400" y="4190048"/>
              <a:ext cx="5193982" cy="1926908"/>
            </a:xfrm>
            <a:prstGeom prst="roundRect">
              <a:avLst>
                <a:gd name="adj" fmla="val 692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42925" y="4323398"/>
              <a:ext cx="47625" cy="1660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2475" y="4371022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8246" y="4403884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94625" y="441055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三维网格的三种域分解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762000" y="4779645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17448" y="4726781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一维：按 z 切成若干薄片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62000" y="5064442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17448" y="5012531"/>
              <a:ext cx="2201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二维：按 x、y 切成若干立柱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62000" y="5349240"/>
              <a:ext cx="57150" cy="571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7448" y="529732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三维：切成小立方块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7141" y="5578792"/>
              <a:ext cx="435121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维数越高，每块与邻居的接触面越小，通信越少（组合阶段的表面-容积效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应）。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032182" y="1524000"/>
            <a:ext cx="5626418" cy="2300288"/>
            <a:chOff x="6032182" y="1524000"/>
            <a:chExt cx="5626418" cy="2300288"/>
          </a:xfrm>
        </p:grpSpPr>
        <p:sp>
          <p:nvSpPr>
            <p:cNvPr id="33" name="Rectangle 33"/>
            <p:cNvSpPr/>
            <p:nvPr/>
          </p:nvSpPr>
          <p:spPr>
            <a:xfrm>
              <a:off x="6032182" y="1524000"/>
              <a:ext cx="5626418" cy="2300288"/>
            </a:xfrm>
            <a:prstGeom prst="roundRect">
              <a:avLst>
                <a:gd name="adj" fmla="val 579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41708" y="1657350"/>
              <a:ext cx="47625" cy="203358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1258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39878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域分解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42011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划分的对象是数据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44780" y="206168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可以是算法的输入数据、中间处理数据和输出数据。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251258" y="2335530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03164" y="237020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21006" y="2346484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优先集中划分最大的数据，分解成大致相等的小数据片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251258" y="2620328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03164" y="26559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21006" y="263128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划分时考虑数据上的计算操作：不同阶段可能要对不同的数据结构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操作，或对同一数据结构做不同的分解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251258" y="3148012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303164" y="318363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21006" y="315896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一个任务需要别的任务中的数据，就产生任务间的通信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51258" y="3432810"/>
              <a:ext cx="180975" cy="18097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03164" y="346843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21006" y="344376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主要依据时空局部性原理，注意时空窗口的粒度</a:t>
              </a:r>
            </a:p>
          </p:txBody>
        </p:sp>
      </p:grpSp>
      <p:grpSp>
        <p:nvGrpSpPr>
          <p:cNvPr id="69" name="c2-cells-2"/>
          <p:cNvGrpSpPr/>
          <p:nvPr/>
        </p:nvGrpSpPr>
        <p:grpSpPr>
          <a:xfrm>
            <a:off x="6026848" y="3989070"/>
            <a:ext cx="5631752" cy="356235"/>
            <a:chOff x="6026848" y="3989070"/>
            <a:chExt cx="5631752" cy="356235"/>
          </a:xfrm>
        </p:grpSpPr>
        <p:sp>
          <p:nvSpPr>
            <p:cNvPr id="52" name="TextBox 52"/>
            <p:cNvSpPr txBox="1"/>
            <p:nvPr/>
          </p:nvSpPr>
          <p:spPr>
            <a:xfrm>
              <a:off x="6026848" y="4101465"/>
              <a:ext cx="13188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8×8 网格按行分 4 块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446645" y="3989070"/>
              <a:ext cx="52673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617950" y="41014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972425" y="3989070"/>
              <a:ext cx="52673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144683" y="41014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499158" y="3989070"/>
              <a:ext cx="52673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671415" y="41014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25890" y="3989070"/>
              <a:ext cx="52673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197195" y="41014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552622" y="3989070"/>
              <a:ext cx="52673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723928" y="41014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079355" y="3989070"/>
              <a:ext cx="526732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250660" y="41014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605135" y="3989070"/>
              <a:ext cx="52673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777393" y="41014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1131868" y="3989070"/>
              <a:ext cx="526732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1304125" y="410146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</p:grpSp>
      <p:grpSp>
        <p:nvGrpSpPr>
          <p:cNvPr id="76" name="c2-callout-3"/>
          <p:cNvGrpSpPr/>
          <p:nvPr/>
        </p:nvGrpSpPr>
        <p:grpSpPr>
          <a:xfrm>
            <a:off x="6032182" y="4510088"/>
            <a:ext cx="5626418" cy="1606868"/>
            <a:chOff x="6032182" y="4510088"/>
            <a:chExt cx="5626418" cy="1606868"/>
          </a:xfrm>
        </p:grpSpPr>
        <p:sp>
          <p:nvSpPr>
            <p:cNvPr id="70" name="Rectangle 70"/>
            <p:cNvSpPr/>
            <p:nvPr/>
          </p:nvSpPr>
          <p:spPr>
            <a:xfrm>
              <a:off x="6032182" y="4510088"/>
              <a:ext cx="5626418" cy="1606868"/>
            </a:xfrm>
            <a:prstGeom prst="roundRect">
              <a:avLst>
                <a:gd name="adj" fmla="val 7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236970" y="5213033"/>
              <a:ext cx="200026" cy="200026"/>
              <a:chOff x="6236970" y="5213033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236970" y="521303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6336983" y="52797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325870" y="531304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6540056" y="5106829"/>
              <a:ext cx="4654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图中每格代表网格的一行，每个任务管两行。T1 算第 2 行时要用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 的第 3 行，这就是第 3 条说的任务间通信。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功能分解：按计算步骤切分，数据不相交才算成功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966912"/>
            <a:chOff x="533400" y="1524000"/>
            <a:chExt cx="5626418" cy="19669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966912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002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功能分解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划分的对象是计算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19265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12979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把全部计算过程划分为不同的任务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46507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划分后，如果不同任务所需的数据不相交，划分就是成功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4573" y="3082766"/>
              <a:ext cx="483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如果数据大量重叠，说明这里不适合功能分解，应改用域分解。</a:t>
              </a:r>
            </a:p>
          </p:txBody>
        </p:sp>
      </p:grpSp>
      <p:grpSp>
        <p:nvGrpSpPr>
          <p:cNvPr id="37" name="c1-table-2"/>
          <p:cNvGrpSpPr/>
          <p:nvPr/>
        </p:nvGrpSpPr>
        <p:grpSpPr>
          <a:xfrm>
            <a:off x="533400" y="3681412"/>
            <a:ext cx="5626418" cy="2248852"/>
            <a:chOff x="533400" y="3681412"/>
            <a:chExt cx="5626418" cy="2248852"/>
          </a:xfrm>
        </p:grpSpPr>
        <p:sp>
          <p:nvSpPr>
            <p:cNvPr id="18" name="Rectangle 18"/>
            <p:cNvSpPr/>
            <p:nvPr/>
          </p:nvSpPr>
          <p:spPr>
            <a:xfrm>
              <a:off x="533400" y="3681412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3734" y="38171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03030" y="38171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域分解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11433" y="38171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功能分解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223" y="42657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先切什么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79473" y="42657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73080" y="426577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57485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57962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8277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得到的任务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79473" y="471439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做同样的事、管不同的数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73080" y="482774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做不同的事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25018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550306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典型问题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79473" y="538972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网格计算、矩阵运算、排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73080" y="538972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多模块耦合的模拟、流水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681412"/>
              <a:ext cx="5626418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766888" y="3681412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960495" y="3681412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graph-1"/>
          <p:cNvGrpSpPr/>
          <p:nvPr/>
        </p:nvGrpSpPr>
        <p:grpSpPr>
          <a:xfrm>
            <a:off x="6980872" y="1764030"/>
            <a:ext cx="4313873" cy="2434971"/>
            <a:chOff x="6980872" y="1764030"/>
            <a:chExt cx="4313873" cy="2434971"/>
          </a:xfrm>
        </p:grpSpPr>
        <p:sp>
          <p:nvSpPr>
            <p:cNvPr id="38" name="Freeform 38"/>
            <p:cNvSpPr/>
            <p:nvPr/>
          </p:nvSpPr>
          <p:spPr>
            <a:xfrm>
              <a:off x="7724775" y="2136458"/>
              <a:ext cx="1012507" cy="661035"/>
            </a:xfrm>
            <a:custGeom>
              <a:avLst/>
              <a:gdLst/>
              <a:ahLst/>
              <a:cxnLst/>
              <a:rect l="l" t="t" r="r" b="b"/>
              <a:pathLst>
                <a:path w="1012507" h="661035">
                  <a:moveTo>
                    <a:pt x="1012507" y="0"/>
                  </a:moveTo>
                  <a:lnTo>
                    <a:pt x="0" y="6610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644765" y="2757488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0" y="92392"/>
                  </a:moveTo>
                  <a:lnTo>
                    <a:pt x="53340" y="0"/>
                  </a:lnTo>
                  <a:lnTo>
                    <a:pt x="105728" y="8001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710612" y="2084070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105728" y="0"/>
                  </a:moveTo>
                  <a:lnTo>
                    <a:pt x="52388" y="92392"/>
                  </a:lnTo>
                  <a:lnTo>
                    <a:pt x="0" y="1238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9385935" y="2136458"/>
              <a:ext cx="1013460" cy="661035"/>
            </a:xfrm>
            <a:custGeom>
              <a:avLst/>
              <a:gdLst/>
              <a:ahLst/>
              <a:cxnLst/>
              <a:rect l="l" t="t" r="r" b="b"/>
              <a:pathLst>
                <a:path w="1013460" h="661035">
                  <a:moveTo>
                    <a:pt x="0" y="0"/>
                  </a:moveTo>
                  <a:lnTo>
                    <a:pt x="1013460" y="6610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372725" y="2757488"/>
              <a:ext cx="105727" cy="92392"/>
            </a:xfrm>
            <a:custGeom>
              <a:avLst/>
              <a:gdLst/>
              <a:ahLst/>
              <a:cxnLst/>
              <a:rect l="l" t="t" r="r" b="b"/>
              <a:pathLst>
                <a:path w="105727" h="92392">
                  <a:moveTo>
                    <a:pt x="105727" y="92392"/>
                  </a:moveTo>
                  <a:lnTo>
                    <a:pt x="0" y="80010"/>
                  </a:lnTo>
                  <a:lnTo>
                    <a:pt x="5238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306878" y="2084070"/>
              <a:ext cx="105728" cy="92392"/>
            </a:xfrm>
            <a:custGeom>
              <a:avLst/>
              <a:gdLst/>
              <a:ahLst/>
              <a:cxnLst/>
              <a:rect l="l" t="t" r="r" b="b"/>
              <a:pathLst>
                <a:path w="105728" h="92392">
                  <a:moveTo>
                    <a:pt x="0" y="0"/>
                  </a:moveTo>
                  <a:lnTo>
                    <a:pt x="105728" y="12382"/>
                  </a:lnTo>
                  <a:lnTo>
                    <a:pt x="53340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062085" y="2179320"/>
              <a:ext cx="9525" cy="1604010"/>
            </a:xfrm>
            <a:custGeom>
              <a:avLst/>
              <a:gdLst/>
              <a:ahLst/>
              <a:cxnLst/>
              <a:rect l="l" t="t" r="r" b="b"/>
              <a:pathLst>
                <a:path w="9525" h="1604010">
                  <a:moveTo>
                    <a:pt x="0" y="0"/>
                  </a:moveTo>
                  <a:lnTo>
                    <a:pt x="0" y="160401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9014460" y="378333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9014460" y="208407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7739062" y="3220402"/>
              <a:ext cx="982980" cy="607695"/>
            </a:xfrm>
            <a:custGeom>
              <a:avLst/>
              <a:gdLst/>
              <a:ahLst/>
              <a:cxnLst/>
              <a:rect l="l" t="t" r="r" b="b"/>
              <a:pathLst>
                <a:path w="982980" h="607695">
                  <a:moveTo>
                    <a:pt x="0" y="0"/>
                  </a:moveTo>
                  <a:lnTo>
                    <a:pt x="982980" y="60769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8697278" y="3788092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90488"/>
                  </a:moveTo>
                  <a:lnTo>
                    <a:pt x="0" y="80962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658100" y="3169920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0"/>
                  </a:moveTo>
                  <a:lnTo>
                    <a:pt x="105728" y="9525"/>
                  </a:lnTo>
                  <a:lnTo>
                    <a:pt x="56197" y="9048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401175" y="3220402"/>
              <a:ext cx="982980" cy="607695"/>
            </a:xfrm>
            <a:custGeom>
              <a:avLst/>
              <a:gdLst/>
              <a:ahLst/>
              <a:cxnLst/>
              <a:rect l="l" t="t" r="r" b="b"/>
              <a:pathLst>
                <a:path w="982980" h="607695">
                  <a:moveTo>
                    <a:pt x="982980" y="0"/>
                  </a:moveTo>
                  <a:lnTo>
                    <a:pt x="0" y="60769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51" name="Freeform 51"/>
            <p:cNvSpPr/>
            <p:nvPr/>
          </p:nvSpPr>
          <p:spPr>
            <a:xfrm>
              <a:off x="9320212" y="3788092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0" y="90488"/>
                  </a:moveTo>
                  <a:lnTo>
                    <a:pt x="56197" y="0"/>
                  </a:lnTo>
                  <a:lnTo>
                    <a:pt x="105728" y="8096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10359390" y="3169920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0"/>
                  </a:moveTo>
                  <a:lnTo>
                    <a:pt x="49530" y="90488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642985" y="176403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80872" y="284988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151745" y="2849880"/>
              <a:ext cx="11430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642985" y="3878580"/>
              <a:ext cx="838200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732901" y="184975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大气模型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70788" y="29356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海洋模型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32517" y="293560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陆地表面模型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32901" y="396430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水文模型</a:t>
              </a:r>
            </a:p>
          </p:txBody>
        </p:sp>
      </p:grpSp>
      <p:grpSp>
        <p:nvGrpSpPr>
          <p:cNvPr id="68" name="c2-callout-2"/>
          <p:cNvGrpSpPr/>
          <p:nvPr/>
        </p:nvGrpSpPr>
        <p:grpSpPr>
          <a:xfrm>
            <a:off x="6464618" y="4572000"/>
            <a:ext cx="5193982" cy="1358265"/>
            <a:chOff x="6464618" y="4572000"/>
            <a:chExt cx="5193982" cy="1358265"/>
          </a:xfrm>
        </p:grpSpPr>
        <p:sp>
          <p:nvSpPr>
            <p:cNvPr id="62" name="Rectangle 62"/>
            <p:cNvSpPr/>
            <p:nvPr/>
          </p:nvSpPr>
          <p:spPr>
            <a:xfrm>
              <a:off x="6464618" y="4572000"/>
              <a:ext cx="5193982" cy="1358265"/>
            </a:xfrm>
            <a:prstGeom prst="roundRect">
              <a:avLst>
                <a:gd name="adj" fmla="val 841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6669405" y="5151120"/>
              <a:ext cx="200026" cy="200026"/>
              <a:chOff x="6669405" y="5151120"/>
              <a:chExt cx="200026" cy="20002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669405" y="51511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769418" y="52177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758305" y="52511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6971348" y="4870132"/>
              <a:ext cx="4206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补充例：气候模拟按功能分成四个子模型，各子模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型内部再做域分解。箭头是子模型之间要交换的边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界数据。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划分判据：四个问题检查划分得够不够好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11125200" cy="2705100"/>
            <a:chOff x="533400" y="1524000"/>
            <a:chExt cx="11125200" cy="2705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15515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7500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942070" y="16630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不满足时的后果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40080" y="21507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划分是否具有灵活性？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25302" y="2021205"/>
              <a:ext cx="3318510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22458" y="215074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任务数多倍于处理器数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60018" y="215074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后续组合、映射阶段没有调整余地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26384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划分是否避免了冗余计算和存储？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22458" y="26384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至少满足局部极小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60018" y="26384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问题规模变大后开销跟着膨胀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0080" y="312610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划分任务尺寸是否大致相当？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22458" y="31261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负载均衡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60018" y="31261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快的处理器等慢的处理器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3474720"/>
              <a:ext cx="11125200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0080" y="374713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任务数与问题尺寸是否成比例？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325302" y="3484245"/>
              <a:ext cx="3318510" cy="7353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22458" y="3613785"/>
              <a:ext cx="2872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问题变大应增加任务数，而非任务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尺寸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60018" y="374713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问题再大也用不上更多处理器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11125200" cy="2705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11015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48575" y="1524000"/>
              <a:ext cx="9525" cy="2705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ompare-2"/>
          <p:cNvGrpSpPr/>
          <p:nvPr/>
        </p:nvGrpSpPr>
        <p:grpSpPr>
          <a:xfrm>
            <a:off x="533400" y="4419600"/>
            <a:ext cx="11125200" cy="1943100"/>
            <a:chOff x="533400" y="4419600"/>
            <a:chExt cx="11125200" cy="1943100"/>
          </a:xfrm>
        </p:grpSpPr>
        <p:sp>
          <p:nvSpPr>
            <p:cNvPr id="34" name="Rectangle 34"/>
            <p:cNvSpPr/>
            <p:nvPr/>
          </p:nvSpPr>
          <p:spPr>
            <a:xfrm>
              <a:off x="533400" y="4419600"/>
              <a:ext cx="5353050" cy="1943100"/>
            </a:xfrm>
            <a:prstGeom prst="roundRect">
              <a:avLst>
                <a:gd name="adj" fmla="val 6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552950"/>
              <a:ext cx="47625" cy="16764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3430" y="46539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满足判据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6765" y="50711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4880" y="5008245"/>
              <a:ext cx="43491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1024×1024 网格按行切成 1024 个任务，给 16 个处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86765" y="56921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44880" y="5629275"/>
              <a:ext cx="4205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网格扩大到 2048×2048，任务数跟着变成 2048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305550" y="4419600"/>
              <a:ext cx="5353050" cy="1943100"/>
            </a:xfrm>
            <a:prstGeom prst="roundRect">
              <a:avLst>
                <a:gd name="adj" fmla="val 68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315075" y="4552950"/>
              <a:ext cx="47625" cy="16764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45580" y="46539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违反判据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58915" y="507111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17030" y="5008245"/>
              <a:ext cx="37913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同一网格只切成 16 块，正好等于处理器数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558915" y="54063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17030" y="5343525"/>
              <a:ext cx="4195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网格扩大后仍是 16 块，每块变大，灵活性为零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5934075" y="522922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019991" y="532542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84507" cy="909257"/>
            <a:chOff x="520446" y="342900"/>
            <a:chExt cx="76845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845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通信：数据从“生产者”流向“消费者”，限制了并发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4760595" cy="4547235"/>
            <a:chOff x="533400" y="1524000"/>
            <a:chExt cx="4760595" cy="45472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547235"/>
            </a:xfrm>
            <a:prstGeom prst="roundRect">
              <a:avLst>
                <a:gd name="adj" fmla="val 29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28053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任务的通信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8016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为了实现并行计算，诸任务之间所进行的数据传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2955" y="2770823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546" y="2711291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划分产生的任务一般不能完全独立执行，需要交换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2955" y="3362325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9546" y="3302794"/>
              <a:ext cx="398195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“生产”和“消费”都是操作，并且有时序关系，所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以通信的划分无法通过域分解确定，只能通过功能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分解确定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2955" y="422529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9546" y="4165759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诸任务本来可以并发执行，通信限制了这种并发性</a:t>
              </a:r>
            </a:p>
          </p:txBody>
        </p:sp>
      </p:grpSp>
      <p:grpSp>
        <p:nvGrpSpPr>
          <p:cNvPr id="44" name="c2-table-1"/>
          <p:cNvGrpSpPr/>
          <p:nvPr/>
        </p:nvGrpSpPr>
        <p:grpSpPr>
          <a:xfrm>
            <a:off x="5598795" y="1524000"/>
            <a:ext cx="6059805" cy="2790825"/>
            <a:chOff x="5598795" y="1524000"/>
            <a:chExt cx="6059805" cy="2790825"/>
          </a:xfrm>
        </p:grpSpPr>
        <p:sp>
          <p:nvSpPr>
            <p:cNvPr id="20" name="Rectangle 20"/>
            <p:cNvSpPr/>
            <p:nvPr/>
          </p:nvSpPr>
          <p:spPr>
            <a:xfrm>
              <a:off x="5598795" y="1524000"/>
              <a:ext cx="605980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9732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通信模式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51788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区分依据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1552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04142" y="219170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 / 全局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58609" y="21917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空间局部性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13076" y="2085022"/>
              <a:ext cx="2778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只和上下左右邻居交换 / 所有任务一起求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598795" y="25927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598795" y="2597468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04142" y="2728912"/>
              <a:ext cx="111061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结构化 / 非结构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58609" y="28355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13076" y="2835592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规则网格、树 / 不规则有限元网格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598795" y="323659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04142" y="3372802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静态 / 动态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58609" y="337280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身份和角色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13076" y="3372802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通信伙伴固定 / 运行时才确定（任务池）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598795" y="36661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598795" y="3670935"/>
              <a:ext cx="6059805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704142" y="3909060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同步 / 异步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58609" y="3909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是否阻塞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13076" y="3802380"/>
              <a:ext cx="27782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收发双方协同进行 / 消费者不等生产者配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合就取数据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598795" y="1524000"/>
              <a:ext cx="6059805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48500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850296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2-graph-2"/>
          <p:cNvGrpSpPr/>
          <p:nvPr/>
        </p:nvGrpSpPr>
        <p:grpSpPr>
          <a:xfrm>
            <a:off x="6428422" y="4528185"/>
            <a:ext cx="5155121" cy="1514475"/>
            <a:chOff x="6428422" y="4528185"/>
            <a:chExt cx="5155121" cy="1514475"/>
          </a:xfrm>
        </p:grpSpPr>
        <p:sp>
          <p:nvSpPr>
            <p:cNvPr id="45" name="Freeform 45"/>
            <p:cNvSpPr/>
            <p:nvPr/>
          </p:nvSpPr>
          <p:spPr>
            <a:xfrm>
              <a:off x="8628698" y="4848225"/>
              <a:ext cx="9525" cy="181928"/>
            </a:xfrm>
            <a:custGeom>
              <a:avLst/>
              <a:gdLst/>
              <a:ahLst/>
              <a:cxnLst/>
              <a:rect l="l" t="t" r="r" b="b"/>
              <a:pathLst>
                <a:path w="9525" h="181928">
                  <a:moveTo>
                    <a:pt x="0" y="0"/>
                  </a:moveTo>
                  <a:lnTo>
                    <a:pt x="0" y="1819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581072" y="503015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95250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628698" y="5540692"/>
              <a:ext cx="9525" cy="181927"/>
            </a:xfrm>
            <a:custGeom>
              <a:avLst/>
              <a:gdLst/>
              <a:ahLst/>
              <a:cxnLst/>
              <a:rect l="l" t="t" r="r" b="b"/>
              <a:pathLst>
                <a:path w="9525" h="181927">
                  <a:moveTo>
                    <a:pt x="0" y="18192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581072" y="544544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7193280" y="5285422"/>
              <a:ext cx="869632" cy="9525"/>
            </a:xfrm>
            <a:custGeom>
              <a:avLst/>
              <a:gdLst/>
              <a:ahLst/>
              <a:cxnLst/>
              <a:rect l="l" t="t" r="r" b="b"/>
              <a:pathLst>
                <a:path w="869632" h="9525">
                  <a:moveTo>
                    <a:pt x="0" y="0"/>
                  </a:moveTo>
                  <a:lnTo>
                    <a:pt x="86963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8062912" y="52377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194482" y="5285422"/>
              <a:ext cx="869632" cy="9525"/>
            </a:xfrm>
            <a:custGeom>
              <a:avLst/>
              <a:gdLst/>
              <a:ahLst/>
              <a:cxnLst/>
              <a:rect l="l" t="t" r="r" b="b"/>
              <a:pathLst>
                <a:path w="869632" h="9525">
                  <a:moveTo>
                    <a:pt x="869632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099232" y="523779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158162" y="5125402"/>
              <a:ext cx="94107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8246745" y="4528185"/>
              <a:ext cx="764858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246745" y="5722620"/>
              <a:ext cx="764858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6428422" y="5125402"/>
              <a:ext cx="764858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064115" y="5125402"/>
              <a:ext cx="764858" cy="320040"/>
            </a:xfrm>
            <a:prstGeom prst="roundRect">
              <a:avLst>
                <a:gd name="adj" fmla="val 2976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244790" y="5211128"/>
              <a:ext cx="767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 (i,j)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338486" y="4613910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(i-1,j)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338486" y="5807392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(i+1,j)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21116" y="5211128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(i,j-1)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156808" y="5211128"/>
              <a:ext cx="580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(i,j+1)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94367" y="455866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局部、结构化、静态通信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通信判据：能并行的通信要并行，能局部化的全局通信要局部化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bullets-1"/>
          <p:cNvGrpSpPr/>
          <p:nvPr/>
        </p:nvGrpSpPr>
        <p:grpSpPr>
          <a:xfrm>
            <a:off x="525780" y="1548765"/>
            <a:ext cx="4654868" cy="1967865"/>
            <a:chOff x="525780" y="1548765"/>
            <a:chExt cx="4654868" cy="1967865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通信判据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533400" y="193452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83908" y="190309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所有任务是否执行大致相当的通信量？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33400" y="2279332"/>
              <a:ext cx="143827" cy="117157"/>
            </a:xfrm>
            <a:custGeom>
              <a:avLst/>
              <a:gdLst/>
              <a:ahLst/>
              <a:cxnLst/>
              <a:rect l="l" t="t" r="r" b="b"/>
              <a:pathLst>
                <a:path w="143827" h="117157">
                  <a:moveTo>
                    <a:pt x="0" y="61912"/>
                  </a:moveTo>
                  <a:lnTo>
                    <a:pt x="55245" y="117157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83908" y="22479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是否尽可能地将全局通信化成局部通信？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533400" y="2624138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83908" y="259270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各个通信操作是否能并行执行？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33400" y="2968942"/>
              <a:ext cx="143827" cy="117158"/>
            </a:xfrm>
            <a:custGeom>
              <a:avLst/>
              <a:gdLst/>
              <a:ahLst/>
              <a:cxnLst/>
              <a:rect l="l" t="t" r="r" b="b"/>
              <a:pathLst>
                <a:path w="143827" h="117158">
                  <a:moveTo>
                    <a:pt x="0" y="61912"/>
                  </a:moveTo>
                  <a:lnTo>
                    <a:pt x="55245" y="117158"/>
                  </a:lnTo>
                  <a:lnTo>
                    <a:pt x="143827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3908" y="293751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通信操作与同步点的距离是否合适，便于异步并行执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行？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3648075"/>
            <a:ext cx="4977765" cy="1956435"/>
            <a:chOff x="533400" y="3648075"/>
            <a:chExt cx="4977765" cy="1956435"/>
          </a:xfrm>
        </p:grpSpPr>
        <p:sp>
          <p:nvSpPr>
            <p:cNvPr id="17" name="Rectangle 17"/>
            <p:cNvSpPr/>
            <p:nvPr/>
          </p:nvSpPr>
          <p:spPr>
            <a:xfrm>
              <a:off x="533400" y="3648075"/>
              <a:ext cx="4977765" cy="1956435"/>
            </a:xfrm>
            <a:prstGeom prst="roundRect">
              <a:avLst>
                <a:gd name="adj" fmla="val 68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42925" y="3781425"/>
              <a:ext cx="47625" cy="168973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81050" y="385762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6160" y="38933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39202" y="3892868"/>
              <a:ext cx="18109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个任务的数据求和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6765" y="43167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253865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集中式：一个经理任务依次接收另外 7 个任务的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数，要 7 步，经理是瓶颈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86765" y="49377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874895"/>
              <a:ext cx="4025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树形：每步两两相加，3 步完成；n = 1024 时是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1023 步对 10 步</a:t>
              </a:r>
            </a:p>
          </p:txBody>
        </p:sp>
      </p:grpSp>
      <p:grpSp>
        <p:nvGrpSpPr>
          <p:cNvPr id="117" name="c2-graph-1"/>
          <p:cNvGrpSpPr/>
          <p:nvPr/>
        </p:nvGrpSpPr>
        <p:grpSpPr>
          <a:xfrm>
            <a:off x="6081712" y="1608772"/>
            <a:ext cx="5411344" cy="4051269"/>
            <a:chOff x="6081712" y="1608772"/>
            <a:chExt cx="5411344" cy="4051269"/>
          </a:xfrm>
        </p:grpSpPr>
        <p:sp>
          <p:nvSpPr>
            <p:cNvPr id="27" name="Freeform 27"/>
            <p:cNvSpPr/>
            <p:nvPr/>
          </p:nvSpPr>
          <p:spPr>
            <a:xfrm>
              <a:off x="6429375" y="1869758"/>
              <a:ext cx="1949768" cy="551497"/>
            </a:xfrm>
            <a:custGeom>
              <a:avLst/>
              <a:gdLst/>
              <a:ahLst/>
              <a:cxnLst/>
              <a:rect l="l" t="t" r="r" b="b"/>
              <a:pathLst>
                <a:path w="1949768" h="551497">
                  <a:moveTo>
                    <a:pt x="0" y="551497"/>
                  </a:moveTo>
                  <a:lnTo>
                    <a:pt x="194976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8365808" y="1824038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104775" y="20002"/>
                  </a:moveTo>
                  <a:lnTo>
                    <a:pt x="25718" y="92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240905" y="1919288"/>
              <a:ext cx="1142047" cy="483870"/>
            </a:xfrm>
            <a:custGeom>
              <a:avLst/>
              <a:gdLst/>
              <a:ahLst/>
              <a:cxnLst/>
              <a:rect l="l" t="t" r="r" b="b"/>
              <a:pathLst>
                <a:path w="1142047" h="483870">
                  <a:moveTo>
                    <a:pt x="0" y="483870"/>
                  </a:moveTo>
                  <a:lnTo>
                    <a:pt x="11420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8363902" y="1875472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6667"/>
                  </a:moveTo>
                  <a:lnTo>
                    <a:pt x="37147" y="876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8035290" y="1990725"/>
              <a:ext cx="440055" cy="373380"/>
            </a:xfrm>
            <a:custGeom>
              <a:avLst/>
              <a:gdLst/>
              <a:ahLst/>
              <a:cxnLst/>
              <a:rect l="l" t="t" r="r" b="b"/>
              <a:pathLst>
                <a:path w="440055" h="373380">
                  <a:moveTo>
                    <a:pt x="0" y="373380"/>
                  </a:moveTo>
                  <a:lnTo>
                    <a:pt x="4400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8444865" y="1928812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103822" y="0"/>
                  </a:moveTo>
                  <a:lnTo>
                    <a:pt x="61912" y="98108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737282" y="2024062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28575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4" name="Freeform 34"/>
            <p:cNvSpPr/>
            <p:nvPr/>
          </p:nvSpPr>
          <p:spPr>
            <a:xfrm>
              <a:off x="8689658" y="192881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47625" y="0"/>
                  </a:moveTo>
                  <a:lnTo>
                    <a:pt x="95250" y="9525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8998268" y="1990725"/>
              <a:ext cx="441007" cy="373380"/>
            </a:xfrm>
            <a:custGeom>
              <a:avLst/>
              <a:gdLst/>
              <a:ahLst/>
              <a:cxnLst/>
              <a:rect l="l" t="t" r="r" b="b"/>
              <a:pathLst>
                <a:path w="441007" h="373380">
                  <a:moveTo>
                    <a:pt x="441007" y="37338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6" name="Freeform 36"/>
            <p:cNvSpPr/>
            <p:nvPr/>
          </p:nvSpPr>
          <p:spPr>
            <a:xfrm>
              <a:off x="8925878" y="1928812"/>
              <a:ext cx="103822" cy="98108"/>
            </a:xfrm>
            <a:custGeom>
              <a:avLst/>
              <a:gdLst/>
              <a:ahLst/>
              <a:cxnLst/>
              <a:rect l="l" t="t" r="r" b="b"/>
              <a:pathLst>
                <a:path w="103822" h="98108">
                  <a:moveTo>
                    <a:pt x="0" y="0"/>
                  </a:moveTo>
                  <a:lnTo>
                    <a:pt x="103822" y="25717"/>
                  </a:lnTo>
                  <a:lnTo>
                    <a:pt x="41910" y="9810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9091612" y="1919288"/>
              <a:ext cx="1141095" cy="483870"/>
            </a:xfrm>
            <a:custGeom>
              <a:avLst/>
              <a:gdLst/>
              <a:ahLst/>
              <a:cxnLst/>
              <a:rect l="l" t="t" r="r" b="b"/>
              <a:pathLst>
                <a:path w="1141095" h="483870">
                  <a:moveTo>
                    <a:pt x="1141095" y="48387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38" name="Freeform 38"/>
            <p:cNvSpPr/>
            <p:nvPr/>
          </p:nvSpPr>
          <p:spPr>
            <a:xfrm>
              <a:off x="9003982" y="1875472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0" y="6667"/>
                  </a:moveTo>
                  <a:lnTo>
                    <a:pt x="105728" y="0"/>
                  </a:lnTo>
                  <a:lnTo>
                    <a:pt x="68580" y="876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9095422" y="1869758"/>
              <a:ext cx="1948815" cy="551497"/>
            </a:xfrm>
            <a:custGeom>
              <a:avLst/>
              <a:gdLst/>
              <a:ahLst/>
              <a:cxnLst/>
              <a:rect l="l" t="t" r="r" b="b"/>
              <a:pathLst>
                <a:path w="1948815" h="551497">
                  <a:moveTo>
                    <a:pt x="1948815" y="55149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40" name="Freeform 40"/>
            <p:cNvSpPr/>
            <p:nvPr/>
          </p:nvSpPr>
          <p:spPr>
            <a:xfrm>
              <a:off x="9003982" y="1824038"/>
              <a:ext cx="104775" cy="92392"/>
            </a:xfrm>
            <a:custGeom>
              <a:avLst/>
              <a:gdLst/>
              <a:ahLst/>
              <a:cxnLst/>
              <a:rect l="l" t="t" r="r" b="b"/>
              <a:pathLst>
                <a:path w="104775" h="92392">
                  <a:moveTo>
                    <a:pt x="0" y="20002"/>
                  </a:moveTo>
                  <a:lnTo>
                    <a:pt x="104775" y="0"/>
                  </a:lnTo>
                  <a:lnTo>
                    <a:pt x="78105" y="9239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300788" y="3778568"/>
              <a:ext cx="156210" cy="272415"/>
            </a:xfrm>
            <a:custGeom>
              <a:avLst/>
              <a:gdLst/>
              <a:ahLst/>
              <a:cxnLst/>
              <a:rect l="l" t="t" r="r" b="b"/>
              <a:pathLst>
                <a:path w="156210" h="272415">
                  <a:moveTo>
                    <a:pt x="0" y="0"/>
                  </a:moveTo>
                  <a:lnTo>
                    <a:pt x="156210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415088" y="4027170"/>
              <a:ext cx="89535" cy="106680"/>
            </a:xfrm>
            <a:custGeom>
              <a:avLst/>
              <a:gdLst/>
              <a:ahLst/>
              <a:cxnLst/>
              <a:rect l="l" t="t" r="r" b="b"/>
              <a:pathLst>
                <a:path w="89535" h="106680">
                  <a:moveTo>
                    <a:pt x="89535" y="106680"/>
                  </a:moveTo>
                  <a:lnTo>
                    <a:pt x="0" y="47625"/>
                  </a:lnTo>
                  <a:lnTo>
                    <a:pt x="8286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693218" y="3778568"/>
              <a:ext cx="157162" cy="272415"/>
            </a:xfrm>
            <a:custGeom>
              <a:avLst/>
              <a:gdLst/>
              <a:ahLst/>
              <a:cxnLst/>
              <a:rect l="l" t="t" r="r" b="b"/>
              <a:pathLst>
                <a:path w="157162" h="272415">
                  <a:moveTo>
                    <a:pt x="157162" y="0"/>
                  </a:moveTo>
                  <a:lnTo>
                    <a:pt x="0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646545" y="4027170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0" y="106680"/>
                  </a:moveTo>
                  <a:lnTo>
                    <a:pt x="5715" y="0"/>
                  </a:lnTo>
                  <a:lnTo>
                    <a:pt x="88583" y="476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7702868" y="3778568"/>
              <a:ext cx="156210" cy="272415"/>
            </a:xfrm>
            <a:custGeom>
              <a:avLst/>
              <a:gdLst/>
              <a:ahLst/>
              <a:cxnLst/>
              <a:rect l="l" t="t" r="r" b="b"/>
              <a:pathLst>
                <a:path w="156210" h="272415">
                  <a:moveTo>
                    <a:pt x="0" y="0"/>
                  </a:moveTo>
                  <a:lnTo>
                    <a:pt x="156210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7818120" y="4027170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8583" y="106680"/>
                  </a:moveTo>
                  <a:lnTo>
                    <a:pt x="0" y="47625"/>
                  </a:lnTo>
                  <a:lnTo>
                    <a:pt x="819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8096250" y="3778568"/>
              <a:ext cx="156210" cy="272415"/>
            </a:xfrm>
            <a:custGeom>
              <a:avLst/>
              <a:gdLst/>
              <a:ahLst/>
              <a:cxnLst/>
              <a:rect l="l" t="t" r="r" b="b"/>
              <a:pathLst>
                <a:path w="156210" h="272415">
                  <a:moveTo>
                    <a:pt x="156210" y="0"/>
                  </a:moveTo>
                  <a:lnTo>
                    <a:pt x="0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048625" y="4027170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0" y="106680"/>
                  </a:moveTo>
                  <a:lnTo>
                    <a:pt x="5715" y="0"/>
                  </a:lnTo>
                  <a:lnTo>
                    <a:pt x="88582" y="476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9222105" y="3778568"/>
              <a:ext cx="156210" cy="272415"/>
            </a:xfrm>
            <a:custGeom>
              <a:avLst/>
              <a:gdLst/>
              <a:ahLst/>
              <a:cxnLst/>
              <a:rect l="l" t="t" r="r" b="b"/>
              <a:pathLst>
                <a:path w="156210" h="272415">
                  <a:moveTo>
                    <a:pt x="0" y="0"/>
                  </a:moveTo>
                  <a:lnTo>
                    <a:pt x="156210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337358" y="4027170"/>
              <a:ext cx="88583" cy="106680"/>
            </a:xfrm>
            <a:custGeom>
              <a:avLst/>
              <a:gdLst/>
              <a:ahLst/>
              <a:cxnLst/>
              <a:rect l="l" t="t" r="r" b="b"/>
              <a:pathLst>
                <a:path w="88583" h="106680">
                  <a:moveTo>
                    <a:pt x="88583" y="106680"/>
                  </a:moveTo>
                  <a:lnTo>
                    <a:pt x="0" y="47625"/>
                  </a:lnTo>
                  <a:lnTo>
                    <a:pt x="8191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615488" y="3778568"/>
              <a:ext cx="156210" cy="272415"/>
            </a:xfrm>
            <a:custGeom>
              <a:avLst/>
              <a:gdLst/>
              <a:ahLst/>
              <a:cxnLst/>
              <a:rect l="l" t="t" r="r" b="b"/>
              <a:pathLst>
                <a:path w="156210" h="272415">
                  <a:moveTo>
                    <a:pt x="156210" y="0"/>
                  </a:moveTo>
                  <a:lnTo>
                    <a:pt x="0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567862" y="4027170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0" y="106680"/>
                  </a:moveTo>
                  <a:lnTo>
                    <a:pt x="5715" y="0"/>
                  </a:lnTo>
                  <a:lnTo>
                    <a:pt x="88582" y="476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10624185" y="3778568"/>
              <a:ext cx="156210" cy="272415"/>
            </a:xfrm>
            <a:custGeom>
              <a:avLst/>
              <a:gdLst/>
              <a:ahLst/>
              <a:cxnLst/>
              <a:rect l="l" t="t" r="r" b="b"/>
              <a:pathLst>
                <a:path w="156210" h="272415">
                  <a:moveTo>
                    <a:pt x="0" y="0"/>
                  </a:moveTo>
                  <a:lnTo>
                    <a:pt x="156210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739438" y="4027170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88582" y="106680"/>
                  </a:moveTo>
                  <a:lnTo>
                    <a:pt x="0" y="47625"/>
                  </a:lnTo>
                  <a:lnTo>
                    <a:pt x="8286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11017568" y="3778568"/>
              <a:ext cx="156210" cy="272415"/>
            </a:xfrm>
            <a:custGeom>
              <a:avLst/>
              <a:gdLst/>
              <a:ahLst/>
              <a:cxnLst/>
              <a:rect l="l" t="t" r="r" b="b"/>
              <a:pathLst>
                <a:path w="156210" h="272415">
                  <a:moveTo>
                    <a:pt x="156210" y="0"/>
                  </a:moveTo>
                  <a:lnTo>
                    <a:pt x="0" y="2724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0969942" y="4027170"/>
              <a:ext cx="88582" cy="106680"/>
            </a:xfrm>
            <a:custGeom>
              <a:avLst/>
              <a:gdLst/>
              <a:ahLst/>
              <a:cxnLst/>
              <a:rect l="l" t="t" r="r" b="b"/>
              <a:pathLst>
                <a:path w="88582" h="106680">
                  <a:moveTo>
                    <a:pt x="0" y="106680"/>
                  </a:moveTo>
                  <a:lnTo>
                    <a:pt x="5715" y="0"/>
                  </a:lnTo>
                  <a:lnTo>
                    <a:pt x="88582" y="476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6685598" y="4348162"/>
              <a:ext cx="405765" cy="330517"/>
            </a:xfrm>
            <a:custGeom>
              <a:avLst/>
              <a:gdLst/>
              <a:ahLst/>
              <a:cxnLst/>
              <a:rect l="l" t="t" r="r" b="b"/>
              <a:pathLst>
                <a:path w="405765" h="330517">
                  <a:moveTo>
                    <a:pt x="0" y="0"/>
                  </a:moveTo>
                  <a:lnTo>
                    <a:pt x="405765" y="3305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7061835" y="4641532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97155"/>
                  </a:moveTo>
                  <a:lnTo>
                    <a:pt x="0" y="74295"/>
                  </a:lnTo>
                  <a:lnTo>
                    <a:pt x="6000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7460932" y="4348162"/>
              <a:ext cx="405765" cy="330517"/>
            </a:xfrm>
            <a:custGeom>
              <a:avLst/>
              <a:gdLst/>
              <a:ahLst/>
              <a:cxnLst/>
              <a:rect l="l" t="t" r="r" b="b"/>
              <a:pathLst>
                <a:path w="405765" h="330517">
                  <a:moveTo>
                    <a:pt x="405765" y="0"/>
                  </a:moveTo>
                  <a:lnTo>
                    <a:pt x="0" y="3305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386638" y="4641532"/>
              <a:ext cx="104775" cy="97155"/>
            </a:xfrm>
            <a:custGeom>
              <a:avLst/>
              <a:gdLst/>
              <a:ahLst/>
              <a:cxnLst/>
              <a:rect l="l" t="t" r="r" b="b"/>
              <a:pathLst>
                <a:path w="104775" h="97155">
                  <a:moveTo>
                    <a:pt x="0" y="97155"/>
                  </a:moveTo>
                  <a:lnTo>
                    <a:pt x="43815" y="0"/>
                  </a:lnTo>
                  <a:lnTo>
                    <a:pt x="104775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9607868" y="4348162"/>
              <a:ext cx="405765" cy="330517"/>
            </a:xfrm>
            <a:custGeom>
              <a:avLst/>
              <a:gdLst/>
              <a:ahLst/>
              <a:cxnLst/>
              <a:rect l="l" t="t" r="r" b="b"/>
              <a:pathLst>
                <a:path w="405765" h="330517">
                  <a:moveTo>
                    <a:pt x="0" y="0"/>
                  </a:moveTo>
                  <a:lnTo>
                    <a:pt x="405765" y="3305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9983152" y="4641532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103823" y="97155"/>
                  </a:moveTo>
                  <a:lnTo>
                    <a:pt x="0" y="74295"/>
                  </a:lnTo>
                  <a:lnTo>
                    <a:pt x="6000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10382250" y="4348162"/>
              <a:ext cx="405765" cy="330517"/>
            </a:xfrm>
            <a:custGeom>
              <a:avLst/>
              <a:gdLst/>
              <a:ahLst/>
              <a:cxnLst/>
              <a:rect l="l" t="t" r="r" b="b"/>
              <a:pathLst>
                <a:path w="405765" h="330517">
                  <a:moveTo>
                    <a:pt x="405765" y="0"/>
                  </a:moveTo>
                  <a:lnTo>
                    <a:pt x="0" y="33051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10308908" y="4641532"/>
              <a:ext cx="103823" cy="97155"/>
            </a:xfrm>
            <a:custGeom>
              <a:avLst/>
              <a:gdLst/>
              <a:ahLst/>
              <a:cxnLst/>
              <a:rect l="l" t="t" r="r" b="b"/>
              <a:pathLst>
                <a:path w="103823" h="97155">
                  <a:moveTo>
                    <a:pt x="0" y="97155"/>
                  </a:moveTo>
                  <a:lnTo>
                    <a:pt x="43815" y="0"/>
                  </a:lnTo>
                  <a:lnTo>
                    <a:pt x="103823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7410450" y="4877752"/>
              <a:ext cx="1084897" cy="394335"/>
            </a:xfrm>
            <a:custGeom>
              <a:avLst/>
              <a:gdLst/>
              <a:ahLst/>
              <a:cxnLst/>
              <a:rect l="l" t="t" r="r" b="b"/>
              <a:pathLst>
                <a:path w="1084897" h="394335">
                  <a:moveTo>
                    <a:pt x="0" y="0"/>
                  </a:moveTo>
                  <a:lnTo>
                    <a:pt x="1084897" y="3943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479155" y="522732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77153"/>
                  </a:moveTo>
                  <a:lnTo>
                    <a:pt x="0" y="89535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8979218" y="4877752"/>
              <a:ext cx="1083945" cy="394335"/>
            </a:xfrm>
            <a:custGeom>
              <a:avLst/>
              <a:gdLst/>
              <a:ahLst/>
              <a:cxnLst/>
              <a:rect l="l" t="t" r="r" b="b"/>
              <a:pathLst>
                <a:path w="1083945" h="394335">
                  <a:moveTo>
                    <a:pt x="1083945" y="0"/>
                  </a:moveTo>
                  <a:lnTo>
                    <a:pt x="0" y="39433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8889682" y="5227320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77153"/>
                  </a:moveTo>
                  <a:lnTo>
                    <a:pt x="73343" y="0"/>
                  </a:lnTo>
                  <a:lnTo>
                    <a:pt x="105728" y="8953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470582" y="1608772"/>
              <a:ext cx="533400" cy="320040"/>
            </a:xfrm>
            <a:prstGeom prst="roundRect">
              <a:avLst>
                <a:gd name="adj" fmla="val 2976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6139815" y="231933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6958012" y="231933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776210" y="231933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8594408" y="231933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9412605" y="231933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10229850" y="231933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11048048" y="231933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6081712" y="35032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6782752" y="35032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7483792" y="35032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8184832" y="35032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9003030" y="35032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9704070" y="35032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10405110" y="35032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11107102" y="350329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6441758" y="4124325"/>
              <a:ext cx="266700" cy="2667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7843838" y="4124325"/>
              <a:ext cx="266700" cy="2667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9363075" y="4124325"/>
              <a:ext cx="266700" cy="2667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88" name="Ellipse 88"/>
            <p:cNvSpPr/>
            <p:nvPr/>
          </p:nvSpPr>
          <p:spPr>
            <a:xfrm>
              <a:off x="10766108" y="4124325"/>
              <a:ext cx="266700" cy="2667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89" name="Ellipse 89"/>
            <p:cNvSpPr/>
            <p:nvPr/>
          </p:nvSpPr>
          <p:spPr>
            <a:xfrm>
              <a:off x="7142798" y="4695825"/>
              <a:ext cx="266700" cy="2667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10064115" y="4695825"/>
              <a:ext cx="266700" cy="26670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91" name="Ellipse 91"/>
            <p:cNvSpPr/>
            <p:nvPr/>
          </p:nvSpPr>
          <p:spPr>
            <a:xfrm>
              <a:off x="8584882" y="5207318"/>
              <a:ext cx="304800" cy="3048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569642" y="16944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经理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178022" y="23879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996219" y="23879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814417" y="23879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632614" y="23879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450812" y="23879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T5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268057" y="23879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T6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086254" y="2387918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T7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119919" y="357092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T1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6820959" y="357092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T2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521999" y="357092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T3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223039" y="357092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T4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041237" y="357092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T5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9742277" y="357092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T6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443317" y="357092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T7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145309" y="3570922"/>
              <a:ext cx="2093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T8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522366" y="41833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924446" y="41833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443683" y="41833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0846716" y="41833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223406" y="47548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144723" y="475488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681900" y="528542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Σ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623691" y="2814161"/>
              <a:ext cx="2227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集中式：7 条消息排队进经理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187750" y="5191601"/>
              <a:ext cx="1305306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树形：第 1、2、3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步</a:t>
              </a:r>
            </a:p>
          </p:txBody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组合：合并小任务，用更大的粒度换更少的通信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4465320"/>
            <a:chOff x="533400" y="1524000"/>
            <a:chExt cx="5410200" cy="44653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65320"/>
            </a:xfrm>
            <a:prstGeom prst="roundRect">
              <a:avLst>
                <a:gd name="adj" fmla="val 2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198620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由抽象到具体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使组合后的任务能在一类并行机上有效地执行。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5279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46507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合并小尺寸任务，减少任务数；任务数恰好等于处理器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数时，也就完成了映射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通过增加任务的粒度和重复计算，可以减少通信成本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86765" y="34842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44880" y="342138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保持映射和扩展的灵活性，降低软件工程成本，注意负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载均衡</a:t>
              </a:r>
            </a:p>
          </p:txBody>
        </p:sp>
      </p:grpSp>
      <p:grpSp>
        <p:nvGrpSpPr>
          <p:cNvPr id="25" name="c2-card-1"/>
          <p:cNvGrpSpPr/>
          <p:nvPr/>
        </p:nvGrpSpPr>
        <p:grpSpPr>
          <a:xfrm>
            <a:off x="6248400" y="1524000"/>
            <a:ext cx="5410200" cy="1316355"/>
            <a:chOff x="6248400" y="1524000"/>
            <a:chExt cx="5410200" cy="1316355"/>
          </a:xfrm>
        </p:grpSpPr>
        <p:sp>
          <p:nvSpPr>
            <p:cNvPr id="20" name="Rectangle 20"/>
            <p:cNvSpPr/>
            <p:nvPr/>
          </p:nvSpPr>
          <p:spPr>
            <a:xfrm>
              <a:off x="6248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57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粒度控制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88430" y="21107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大量细粒度的任务未必能产生有效的并行算法，反而可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能增加通信代价和任务调度代价。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formula2"/>
              <p:cNvSpPr txBox="1">
                <a:spLocks noGrp="1"/>
              </p:cNvSpPr>
              <p:nvPr/>
            </p:nvSpPr>
            <p:spPr>
              <a:xfrm>
                <a:off x="6248400" y="3030855"/>
                <a:ext cx="54102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总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计算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m:rPr>
                              <m:nor m:val="on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通信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37" name="c2-card-3"/>
          <p:cNvGrpSpPr/>
          <p:nvPr/>
        </p:nvGrpSpPr>
        <p:grpSpPr>
          <a:xfrm>
            <a:off x="6248400" y="3716655"/>
            <a:ext cx="5410200" cy="2272665"/>
            <a:chOff x="6248400" y="3716655"/>
            <a:chExt cx="5410200" cy="2272665"/>
          </a:xfrm>
        </p:grpSpPr>
        <p:sp>
          <p:nvSpPr>
            <p:cNvPr id="27" name="Rectangle 27"/>
            <p:cNvSpPr/>
            <p:nvPr/>
          </p:nvSpPr>
          <p:spPr>
            <a:xfrm>
              <a:off x="6248400" y="3716655"/>
              <a:ext cx="541020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57925" y="3850005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96050" y="3926205"/>
              <a:ext cx="1144905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6928" y="3961924"/>
              <a:ext cx="1003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表面-容积效应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6501765" y="43662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59880" y="430339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任务的通信需求与它所操作的数据子域的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表面积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成正比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6501765" y="470154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59880" y="4638675"/>
              <a:ext cx="4425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任务的计算需求与子域的</a:t>
              </a: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体积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成正比（体积 = 表面积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× 计算操作的深度）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6501765" y="532257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59880" y="5259705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体积不变时增加计算操作深度（重复计算、冗余计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算），可以减少子域表面积，进而减少通信量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426464" cy="909257"/>
            <a:chOff x="520446" y="342900"/>
            <a:chExt cx="104264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4264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例：1024×1024 网格给 16 个处理器，块划分的通信只有条带的一半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580751" cy="597598"/>
            <a:chOff x="525399" y="1550194"/>
            <a:chExt cx="10580751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580751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五点差分每次迭代，每个格点要用上下左右 4 个邻居的值。每个处理器计算量相同，都是 1024² / 16 = 65536 个格点，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差别只在边界。</a:t>
              </a:r>
            </a:p>
          </p:txBody>
        </p:sp>
      </p:grpSp>
      <p:grpSp>
        <p:nvGrpSpPr>
          <p:cNvPr id="35" name="c1-table-1"/>
          <p:cNvGrpSpPr/>
          <p:nvPr/>
        </p:nvGrpSpPr>
        <p:grpSpPr>
          <a:xfrm>
            <a:off x="533400" y="2257425"/>
            <a:ext cx="5951220" cy="2022158"/>
            <a:chOff x="533400" y="2257425"/>
            <a:chExt cx="5951220" cy="2022158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951220" cy="675322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663" y="2506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划分方式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5413" y="25065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子域形状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66668" y="2393156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每次迭代收发的边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界点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315106" y="250650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通信 / 计算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306847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条带（按行）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26643" y="3068479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64 × 1024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92271" y="3068479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× 1024 = 2048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56992" y="3068479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3.1%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37756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382328"/>
              <a:ext cx="595122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517106"/>
              <a:ext cx="9369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块（4 × 4）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26643" y="3517106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256 × 256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99472" y="3391852"/>
              <a:ext cx="164687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39657" y="3517106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× 256 = 1024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556992" y="3517106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1.6%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8261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96573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每点一个任务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16188" y="3965734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× 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69522" y="3965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065395" y="3840480"/>
              <a:ext cx="1409700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556992" y="3965734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400%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257425"/>
              <a:ext cx="595122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1838325" y="225742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385185" y="225742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051108" y="2257425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4"/>
              <p:cNvSpPr txBox="1">
                <a:spLocks noGrp="1"/>
              </p:cNvSpPr>
              <p:nvPr/>
            </p:nvSpPr>
            <p:spPr>
              <a:xfrm>
                <a:off x="533400" y="4470082"/>
                <a:ext cx="5951220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nor m:val="on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条带：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2N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nor m:val="on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块：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4N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p</m:t>
                              </m:r>
                            </m:e>
                          </m:rad>
                        </m:den>
                      </m:f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m:rPr>
                          <m:nor m:val="on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计算：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sSup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43" name="c1-callout-3"/>
          <p:cNvGrpSpPr/>
          <p:nvPr/>
        </p:nvGrpSpPr>
        <p:grpSpPr>
          <a:xfrm>
            <a:off x="533400" y="5329238"/>
            <a:ext cx="5951220" cy="782955"/>
            <a:chOff x="533400" y="5329238"/>
            <a:chExt cx="5951220" cy="782955"/>
          </a:xfrm>
        </p:grpSpPr>
        <p:sp>
          <p:nvSpPr>
            <p:cNvPr id="37" name="Rectangle 37"/>
            <p:cNvSpPr/>
            <p:nvPr/>
          </p:nvSpPr>
          <p:spPr>
            <a:xfrm>
              <a:off x="533400" y="5329238"/>
              <a:ext cx="595122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620703"/>
              <a:ext cx="200026" cy="200025"/>
              <a:chOff x="738188" y="5620703"/>
              <a:chExt cx="200026" cy="20002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738188" y="562070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77926" y="566515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12642" y="577627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477828"/>
              <a:ext cx="5053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p 越大，块划分的优势越明显：p = 64 时条带仍是 2048，块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只有 512。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789420" y="2257425"/>
            <a:ext cx="4869180" cy="3854768"/>
            <a:chOff x="6789420" y="2257425"/>
            <a:chExt cx="4869180" cy="3854768"/>
          </a:xfrm>
        </p:grpSpPr>
        <p:sp>
          <p:nvSpPr>
            <p:cNvPr id="44" name="Rectangle 44"/>
            <p:cNvSpPr/>
            <p:nvPr/>
          </p:nvSpPr>
          <p:spPr>
            <a:xfrm>
              <a:off x="6789420" y="2257425"/>
              <a:ext cx="4869180" cy="3854768"/>
            </a:xfrm>
            <a:prstGeom prst="roundRect">
              <a:avLst>
                <a:gd name="adj" fmla="val 345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98945" y="2390775"/>
              <a:ext cx="47625" cy="35880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037070" y="246697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01675" y="250269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用重复计算换通信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29450" y="2844165"/>
              <a:ext cx="3958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每个块向外多存两圈邻居数据（宽度 2 的“幽灵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区”），交换一次就能连算两次迭代。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042785" y="352806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200900" y="346519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第二次迭代时，外圈那一层邻居值要由本处理器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自己再算一遍，这就是重复计算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042785" y="414909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200900" y="40862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通信次数减半，每次消息稍长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30593" y="4418171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值不值得，看多算的那一圈和省下的一次通信启动开销谁更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大。组合判据第 2 条问的就是这个。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组合判据：六个问题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3" name="c1-table-1"/>
          <p:cNvGrpSpPr/>
          <p:nvPr/>
        </p:nvGrpSpPr>
        <p:grpSpPr>
          <a:xfrm>
            <a:off x="533400" y="1524000"/>
            <a:ext cx="11125200" cy="3680460"/>
            <a:chOff x="533400" y="1524000"/>
            <a:chExt cx="11125200" cy="3680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6033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判据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02100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检查什么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通过组合增加粒度是否减少了通信成本？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13045" y="215074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合并后跨任务的边是否变少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2508885"/>
              <a:ext cx="4653915" cy="4686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0080" y="26384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用重复计算换取通信代价是否已权衡了其得益？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13045" y="26384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多算的量是否小于省下的通信开销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312610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组合后是否保持了灵活性和可扩放性？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13045" y="312610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换一台处理器数不同的机器还能不能用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34747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0080" y="36137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组合的任务数是否与问题尺寸成比例？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13045" y="36137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问题变大时任务数是否跟着增加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9576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0080" y="4101465"/>
              <a:ext cx="42062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组合后的各个任务是否保持了类似的计算和通信代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价？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13045" y="42348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负载是否仍然均衡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7120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7167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48558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有没有减少并行执行的机会？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13045" y="485584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任务数是否仍不少于处理器数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1524000"/>
              <a:ext cx="11125200" cy="36804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201602" y="1524000"/>
              <a:ext cx="9525" cy="36804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89001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组合过头会把能并发的任务塞进同一个处理器。任务数少于处理器数时，多出来的处理器只能空闲。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映射：并发的任务分开放，频繁通信的任务放一起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410200" cy="2904172"/>
            <a:chOff x="533400" y="1524000"/>
            <a:chExt cx="5410200" cy="290417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04172"/>
            </a:xfrm>
            <a:prstGeom prst="roundRect">
              <a:avLst>
                <a:gd name="adj" fmla="val 45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3747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8457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映射的目标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每个任务要映射到具体的处理器，减少算法的执行时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2731770"/>
              <a:ext cx="454342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映射实际上是一种权衡，属于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NP 完全问题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，一般用启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发式方法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3528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并发的任务放在不同的处理器上，增加并发度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375094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68808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频繁通信的任务放在同一处理器上，提高局部性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" y="402002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这两条常常冲突，映射就是在它们之间取舍。</a:t>
              </a:r>
            </a:p>
          </p:txBody>
        </p:sp>
      </p:grpSp>
      <p:grpSp>
        <p:nvGrpSpPr>
          <p:cNvPr id="26" name="c1-callout-2"/>
          <p:cNvGrpSpPr/>
          <p:nvPr/>
        </p:nvGrpSpPr>
        <p:grpSpPr>
          <a:xfrm>
            <a:off x="533400" y="4618672"/>
            <a:ext cx="5410200" cy="782955"/>
            <a:chOff x="533400" y="4618672"/>
            <a:chExt cx="5410200" cy="782955"/>
          </a:xfrm>
        </p:grpSpPr>
        <p:sp>
          <p:nvSpPr>
            <p:cNvPr id="20" name="Rectangle 20"/>
            <p:cNvSpPr/>
            <p:nvPr/>
          </p:nvSpPr>
          <p:spPr>
            <a:xfrm>
              <a:off x="533400" y="4618672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4910138"/>
              <a:ext cx="200026" cy="200026"/>
              <a:chOff x="738188" y="4910138"/>
              <a:chExt cx="200026" cy="20002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91013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49768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7088" y="501015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130" y="4767262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任务数大于处理器数时，域分解引入负载平衡问题，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功能分解引入任务调度问题。</a:t>
              </a:r>
            </a:p>
          </p:txBody>
        </p:sp>
      </p:grpSp>
      <p:grpSp>
        <p:nvGrpSpPr>
          <p:cNvPr id="53" name="c2-tree-1"/>
          <p:cNvGrpSpPr/>
          <p:nvPr/>
        </p:nvGrpSpPr>
        <p:grpSpPr>
          <a:xfrm>
            <a:off x="6248400" y="1760220"/>
            <a:ext cx="5410200" cy="4365307"/>
            <a:chOff x="6248400" y="1760220"/>
            <a:chExt cx="5410200" cy="4365307"/>
          </a:xfrm>
        </p:grpSpPr>
        <p:sp>
          <p:nvSpPr>
            <p:cNvPr id="27" name="Freeform 27"/>
            <p:cNvSpPr/>
            <p:nvPr/>
          </p:nvSpPr>
          <p:spPr>
            <a:xfrm>
              <a:off x="9804082" y="1926908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1209675"/>
                  </a:moveTo>
                  <a:lnTo>
                    <a:pt x="209550" y="12096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9804082" y="2733675"/>
              <a:ext cx="419100" cy="402908"/>
            </a:xfrm>
            <a:custGeom>
              <a:avLst/>
              <a:gdLst/>
              <a:ahLst/>
              <a:cxnLst/>
              <a:rect l="l" t="t" r="r" b="b"/>
              <a:pathLst>
                <a:path w="419100" h="402908">
                  <a:moveTo>
                    <a:pt x="0" y="402908"/>
                  </a:moveTo>
                  <a:lnTo>
                    <a:pt x="209550" y="40290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9804082" y="3136582"/>
              <a:ext cx="419100" cy="403860"/>
            </a:xfrm>
            <a:custGeom>
              <a:avLst/>
              <a:gdLst/>
              <a:ahLst/>
              <a:cxnLst/>
              <a:rect l="l" t="t" r="r" b="b"/>
              <a:pathLst>
                <a:path w="419100" h="403860">
                  <a:moveTo>
                    <a:pt x="0" y="0"/>
                  </a:moveTo>
                  <a:lnTo>
                    <a:pt x="209550" y="0"/>
                  </a:lnTo>
                  <a:lnTo>
                    <a:pt x="209550" y="403860"/>
                  </a:lnTo>
                  <a:lnTo>
                    <a:pt x="419100" y="4038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804082" y="3136582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0"/>
                  </a:moveTo>
                  <a:lnTo>
                    <a:pt x="209550" y="0"/>
                  </a:lnTo>
                  <a:lnTo>
                    <a:pt x="209550" y="1209675"/>
                  </a:lnTo>
                  <a:lnTo>
                    <a:pt x="419100" y="12096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804082" y="5153025"/>
              <a:ext cx="419100" cy="402907"/>
            </a:xfrm>
            <a:custGeom>
              <a:avLst/>
              <a:gdLst/>
              <a:ahLst/>
              <a:cxnLst/>
              <a:rect l="l" t="t" r="r" b="b"/>
              <a:pathLst>
                <a:path w="419100" h="402907">
                  <a:moveTo>
                    <a:pt x="0" y="402907"/>
                  </a:moveTo>
                  <a:lnTo>
                    <a:pt x="209550" y="40290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9804082" y="5555932"/>
              <a:ext cx="419100" cy="403860"/>
            </a:xfrm>
            <a:custGeom>
              <a:avLst/>
              <a:gdLst/>
              <a:ahLst/>
              <a:cxnLst/>
              <a:rect l="l" t="t" r="r" b="b"/>
              <a:pathLst>
                <a:path w="419100" h="403860">
                  <a:moveTo>
                    <a:pt x="0" y="0"/>
                  </a:moveTo>
                  <a:lnTo>
                    <a:pt x="209550" y="0"/>
                  </a:lnTo>
                  <a:lnTo>
                    <a:pt x="209550" y="403860"/>
                  </a:lnTo>
                  <a:lnTo>
                    <a:pt x="419100" y="40386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150418" y="3136582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1209675"/>
                  </a:moveTo>
                  <a:lnTo>
                    <a:pt x="209550" y="120967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150418" y="4346258"/>
              <a:ext cx="419100" cy="1209675"/>
            </a:xfrm>
            <a:custGeom>
              <a:avLst/>
              <a:gdLst/>
              <a:ahLst/>
              <a:cxnLst/>
              <a:rect l="l" t="t" r="r" b="b"/>
              <a:pathLst>
                <a:path w="419100" h="1209675">
                  <a:moveTo>
                    <a:pt x="0" y="0"/>
                  </a:moveTo>
                  <a:lnTo>
                    <a:pt x="209550" y="0"/>
                  </a:lnTo>
                  <a:lnTo>
                    <a:pt x="209550" y="1209675"/>
                  </a:lnTo>
                  <a:lnTo>
                    <a:pt x="419100" y="120967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223182" y="1760220"/>
              <a:ext cx="143541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223182" y="2566988"/>
              <a:ext cx="143541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223182" y="3372802"/>
              <a:ext cx="143541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223182" y="4179570"/>
              <a:ext cx="143541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569518" y="2969895"/>
              <a:ext cx="2235518" cy="333375"/>
            </a:xfrm>
            <a:prstGeom prst="roundRect">
              <a:avLst>
                <a:gd name="adj" fmla="val 28571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223182" y="4986338"/>
              <a:ext cx="143541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0223182" y="5792152"/>
              <a:ext cx="1435418" cy="333375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569518" y="5389245"/>
              <a:ext cx="2235518" cy="333375"/>
            </a:xfrm>
            <a:prstGeom prst="roundRect">
              <a:avLst>
                <a:gd name="adj" fmla="val 28571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4179570"/>
              <a:ext cx="902018" cy="333375"/>
            </a:xfrm>
            <a:prstGeom prst="roundRect">
              <a:avLst>
                <a:gd name="adj" fmla="val 2857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313098" y="185356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递归对剖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313098" y="266033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局部算法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13098" y="34671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概率方法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13098" y="427291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循环映射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659434" y="306324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负载平衡算法（域分解）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13098" y="5079683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集中式任务池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13098" y="58864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分布式任务池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59434" y="548259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任务调度算法（功能分解）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38316" y="427291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映射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负载平衡算法：静态事先定，概率随机定，动态运行时定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5780" y="1548765"/>
            <a:ext cx="5634038" cy="1173480"/>
            <a:chOff x="525780" y="1548765"/>
            <a:chExt cx="5634038" cy="117348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静态的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68742" y="15487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事先确定每个任务放在哪里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18688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5780" y="198882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概率的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68742" y="19888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随机确定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0886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5780" y="24288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动态的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68742" y="2428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运行时根据负载动态确定</a:t>
              </a:r>
            </a:p>
          </p:txBody>
        </p:sp>
      </p:grpSp>
      <p:grpSp>
        <p:nvGrpSpPr>
          <p:cNvPr id="34" name="c1-table-2"/>
          <p:cNvGrpSpPr/>
          <p:nvPr/>
        </p:nvGrpSpPr>
        <p:grpSpPr>
          <a:xfrm>
            <a:off x="533400" y="2853690"/>
            <a:ext cx="5626418" cy="3150870"/>
            <a:chOff x="533400" y="2853690"/>
            <a:chExt cx="5626418" cy="3150870"/>
          </a:xfrm>
        </p:grpSpPr>
        <p:sp>
          <p:nvSpPr>
            <p:cNvPr id="16" name="Rectangle 16"/>
            <p:cNvSpPr/>
            <p:nvPr/>
          </p:nvSpPr>
          <p:spPr>
            <a:xfrm>
              <a:off x="533400" y="2853690"/>
              <a:ext cx="562641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1584" y="298942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基于域分解的方法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12209" y="298942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223" y="35513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递归对剖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29053" y="3438049"/>
              <a:ext cx="3426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在多维空间上递归地选一维，把区域对半切，直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到块数等于处理器数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9728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977640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42267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局部算法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29053" y="4113371"/>
              <a:ext cx="3426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每个处理器与邻居比较负载，决定是否把任务迁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给邻居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64915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49020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概率方法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29053" y="4788694"/>
              <a:ext cx="3426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用满足某概率条件的随机数发生器决定任务投放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到哪个处理器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32447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5329238"/>
              <a:ext cx="562641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1223" y="55773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循环映射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329053" y="5464016"/>
              <a:ext cx="3426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任务按编号轮流分给各处理器，是等概率投放的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特例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2853690"/>
              <a:ext cx="5626418" cy="31508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216468" y="2853690"/>
              <a:ext cx="9525" cy="31508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5" name="c2-cells-1"/>
          <p:cNvGrpSpPr/>
          <p:nvPr/>
        </p:nvGrpSpPr>
        <p:grpSpPr>
          <a:xfrm>
            <a:off x="6458141" y="1524000"/>
            <a:ext cx="5200459" cy="1009650"/>
            <a:chOff x="6458141" y="1524000"/>
            <a:chExt cx="5200459" cy="1009650"/>
          </a:xfrm>
        </p:grpSpPr>
        <p:sp>
          <p:nvSpPr>
            <p:cNvPr id="35" name="TextBox 35"/>
            <p:cNvSpPr txBox="1"/>
            <p:nvPr/>
          </p:nvSpPr>
          <p:spPr>
            <a:xfrm>
              <a:off x="6458141" y="165401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块映射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248525" y="152400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20737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616190" y="152400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88402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983855" y="152400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55114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350568" y="152400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22779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718232" y="1524000"/>
              <a:ext cx="3676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90444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085898" y="1524000"/>
              <a:ext cx="3676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158109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453562" y="1524000"/>
              <a:ext cx="3676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525774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821228" y="1524000"/>
              <a:ext cx="3676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893439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0188892" y="152400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61104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555605" y="152400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27817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923270" y="152400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995482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1290935" y="152400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363147" y="165401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58141" y="224456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循环映射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248525" y="211455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320737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616190" y="2114550"/>
              <a:ext cx="3676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88402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983855" y="211455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055114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350568" y="211455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422779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718232" y="2114550"/>
              <a:ext cx="3676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790444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085898" y="211455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158109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453562" y="211455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525774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9821228" y="2114550"/>
              <a:ext cx="3676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893439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0188892" y="211455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0261104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10555605" y="211455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10627817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10923270" y="2114550"/>
              <a:ext cx="367665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995482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1290935" y="2114550"/>
              <a:ext cx="36766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1363147" y="224456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</p:grpSp>
      <p:grpSp>
        <p:nvGrpSpPr>
          <p:cNvPr id="92" name="c2-card-2"/>
          <p:cNvGrpSpPr/>
          <p:nvPr/>
        </p:nvGrpSpPr>
        <p:grpSpPr>
          <a:xfrm>
            <a:off x="6464618" y="2724150"/>
            <a:ext cx="5193982" cy="3280410"/>
            <a:chOff x="6464618" y="2724150"/>
            <a:chExt cx="5193982" cy="3280410"/>
          </a:xfrm>
        </p:grpSpPr>
        <p:sp>
          <p:nvSpPr>
            <p:cNvPr id="86" name="Rectangle 86"/>
            <p:cNvSpPr/>
            <p:nvPr/>
          </p:nvSpPr>
          <p:spPr>
            <a:xfrm>
              <a:off x="6464618" y="2724150"/>
              <a:ext cx="5193982" cy="3280410"/>
            </a:xfrm>
            <a:prstGeom prst="roundRect">
              <a:avLst>
                <a:gd name="adj" fmla="val 40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474142" y="2857500"/>
              <a:ext cx="47625" cy="301371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712268" y="29337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803428" y="29694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704648" y="3310890"/>
              <a:ext cx="45300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个任务给 3 个处理器。如果任务编号越大计算量越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大（例如三角矩阵逐行处理），块映射让 P2 分到最重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4 个，循环映射让三个处理器各分到轻重搭配的 4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705791" y="4500086"/>
              <a:ext cx="4564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代价：循环映射把相邻任务拆到不同处理器，相邻任务之间有通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信时通信量会增加。</a:t>
              </a:r>
            </a:p>
          </p:txBody>
        </p:sp>
      </p:grpSp>
      <p:grpSp>
        <p:nvGrpSpPr>
          <p:cNvPr id="9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3" name="TextBox 93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任务调度：集中式任务池会有经理瓶颈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ompare-1"/>
          <p:cNvGrpSpPr/>
          <p:nvPr/>
        </p:nvGrpSpPr>
        <p:grpSpPr>
          <a:xfrm>
            <a:off x="533400" y="1524000"/>
            <a:ext cx="5951220" cy="2398395"/>
            <a:chOff x="533400" y="1524000"/>
            <a:chExt cx="5951220" cy="23983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2766060" cy="2398395"/>
            </a:xfrm>
            <a:prstGeom prst="roundRect">
              <a:avLst>
                <a:gd name="adj" fmla="val 5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13169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8096" y="175117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集中式任务池调度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82955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9546" y="2090261"/>
              <a:ext cx="19982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经理/雇员模式：经理持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有任务池，雇员做完一个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再向经理要下一个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30127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953226"/>
              <a:ext cx="191706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规模大时改为总经理/区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域经理/雇员模式，分层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分担经理压力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18560" y="1524000"/>
              <a:ext cx="2766060" cy="2398395"/>
            </a:xfrm>
            <a:prstGeom prst="roundRect">
              <a:avLst>
                <a:gd name="adj" fmla="val 55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728085" y="1657350"/>
              <a:ext cx="47625" cy="213169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953256" y="175117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分布式任务池调度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3968115" y="21497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124706" y="2090261"/>
              <a:ext cx="19982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像企业联合：每个处理器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有自己的任务池，各自异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步执行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968115" y="301275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124706" y="2953226"/>
              <a:ext cx="19982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本地池空了再跨池交互，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向别的池取任务，也可以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组织成流水线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3347085" y="256127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417425" y="265747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29" name="c1-bullets-2"/>
          <p:cNvGrpSpPr/>
          <p:nvPr/>
        </p:nvGrpSpPr>
        <p:grpSpPr>
          <a:xfrm>
            <a:off x="526161" y="4131469"/>
            <a:ext cx="4280306" cy="946404"/>
            <a:chOff x="526161" y="4131469"/>
            <a:chExt cx="4280306" cy="946404"/>
          </a:xfrm>
        </p:grpSpPr>
        <p:sp>
          <p:nvSpPr>
            <p:cNvPr id="24" name="TextBox 24"/>
            <p:cNvSpPr txBox="1"/>
            <p:nvPr/>
          </p:nvSpPr>
          <p:spPr>
            <a:xfrm>
              <a:off x="526161" y="41314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映射判据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533400" y="4499610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9055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7621" y="446960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采用集中式负载平衡方案，是否存在经理瓶颈？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533400" y="4829175"/>
              <a:ext cx="137160" cy="110490"/>
            </a:xfrm>
            <a:custGeom>
              <a:avLst/>
              <a:gdLst/>
              <a:ahLst/>
              <a:cxnLst/>
              <a:rect l="l" t="t" r="r" b="b"/>
              <a:pathLst>
                <a:path w="137160" h="110490">
                  <a:moveTo>
                    <a:pt x="0" y="58103"/>
                  </a:moveTo>
                  <a:lnTo>
                    <a:pt x="52388" y="110490"/>
                  </a:lnTo>
                  <a:lnTo>
                    <a:pt x="13716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7621" y="4799171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采用动态负载平衡方案，调度策略的成本如何？</a:t>
              </a:r>
            </a:p>
          </p:txBody>
        </p:sp>
      </p:grpSp>
      <p:grpSp>
        <p:nvGrpSpPr>
          <p:cNvPr id="36" name="c1-callout-3"/>
          <p:cNvGrpSpPr/>
          <p:nvPr/>
        </p:nvGrpSpPr>
        <p:grpSpPr>
          <a:xfrm>
            <a:off x="533400" y="5207318"/>
            <a:ext cx="5951220" cy="1018222"/>
            <a:chOff x="533400" y="5207318"/>
            <a:chExt cx="5951220" cy="1018222"/>
          </a:xfrm>
        </p:grpSpPr>
        <p:sp>
          <p:nvSpPr>
            <p:cNvPr id="30" name="Rectangle 30"/>
            <p:cNvSpPr/>
            <p:nvPr/>
          </p:nvSpPr>
          <p:spPr>
            <a:xfrm>
              <a:off x="533400" y="5207318"/>
              <a:ext cx="5951220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615940"/>
              <a:ext cx="200026" cy="200026"/>
              <a:chOff x="738188" y="5615940"/>
              <a:chExt cx="200026" cy="200026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8188" y="56159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38200" y="56826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27088" y="57159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511" y="5354479"/>
              <a:ext cx="491070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条：雇员越多，经理收发的请求越多，经理先忙不过来。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条：动态调度本身要花计算和通信，任务很小时调度开销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可能超过任务本身。</a:t>
              </a:r>
            </a:p>
          </p:txBody>
        </p:sp>
      </p:grpSp>
      <p:grpSp>
        <p:nvGrpSpPr>
          <p:cNvPr id="39" name="c2-image-1"/>
          <p:cNvGrpSpPr/>
          <p:nvPr/>
        </p:nvGrpSpPr>
        <p:grpSpPr>
          <a:xfrm>
            <a:off x="6789420" y="1524000"/>
            <a:ext cx="4869180" cy="3966687"/>
            <a:chOff x="6789420" y="1524000"/>
            <a:chExt cx="4869180" cy="3966687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5556" t="0" r="5555" b="0"/>
            <a:stretch>
              <a:fillRect/>
            </a:stretch>
          </p:blipFill>
          <p:spPr>
            <a:xfrm>
              <a:off x="6789420" y="1524000"/>
              <a:ext cx="4869180" cy="3651885"/>
            </a:xfrm>
            <a:prstGeom prst="roundRect">
              <a:avLst>
                <a:gd name="adj" fmla="val 3651"/>
              </a:avLst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7442926" y="5270659"/>
              <a:ext cx="3562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经理/雇员：所有雇员都要回到同一个经理那里领任务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17666" cy="909257"/>
            <a:chOff x="520446" y="342900"/>
            <a:chExt cx="63176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90775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915" y="407194"/>
              <a:ext cx="229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PCAM 设计过程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176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例：用 PCAM 走一遍二维网格热传导迭代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8370570" cy="293370"/>
            <a:chOff x="525780" y="1548765"/>
            <a:chExt cx="837057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8370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N×N 网格上反复做五点差分，直到温度稳定。下表跟踪每一阶段做了什么、任务有多少个。</a:t>
              </a:r>
            </a:p>
          </p:txBody>
        </p:sp>
      </p:grpSp>
      <p:grpSp>
        <p:nvGrpSpPr>
          <p:cNvPr id="41" name="c1-table-1"/>
          <p:cNvGrpSpPr/>
          <p:nvPr/>
        </p:nvGrpSpPr>
        <p:grpSpPr>
          <a:xfrm>
            <a:off x="533400" y="1954530"/>
            <a:ext cx="11125200" cy="2569845"/>
            <a:chOff x="533400" y="1954530"/>
            <a:chExt cx="11125200" cy="256984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11125200" cy="46291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02703" y="20864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62196" y="208645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54365" y="20864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任务个数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56520" y="20864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对应判据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4746" y="267700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70151" y="267700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域分解：每个格点的更新是一个任务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62862" y="2426970"/>
              <a:ext cx="1761172" cy="69723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754684" y="2677001"/>
              <a:ext cx="236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34906" y="2550319"/>
              <a:ext cx="1817878" cy="532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任务数与问题尺寸成比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2991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34678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4746" y="326659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70151" y="3266599"/>
              <a:ext cx="50133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每个任务与上下左右 4 个邻居交换值，局部、结构化、静态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54684" y="3266599"/>
              <a:ext cx="16034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N²（每个 4 条边）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34906" y="3266599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通信量大致相当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59283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4746" y="372951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970151" y="3729514"/>
              <a:ext cx="38281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把相邻格点合成 √p × √p 的块，每块一个任务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662862" y="3607118"/>
              <a:ext cx="1761172" cy="44386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754684" y="3729514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34906" y="3729514"/>
              <a:ext cx="12665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表面-容积效应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40566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4061460"/>
              <a:ext cx="11125200" cy="4629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746" y="419338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970151" y="4193381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每个处理器一块；块大小相同，静态映射就能平衡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54684" y="4193381"/>
              <a:ext cx="94160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个处理器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34906" y="419338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无经理瓶颈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954530"/>
              <a:ext cx="11125200" cy="25698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864042" y="1954530"/>
              <a:ext cx="9525" cy="25698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648575" y="1954530"/>
              <a:ext cx="9525" cy="25698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428798" y="1954530"/>
              <a:ext cx="9525" cy="25698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allout-2"/>
          <p:cNvGrpSpPr/>
          <p:nvPr/>
        </p:nvGrpSpPr>
        <p:grpSpPr>
          <a:xfrm>
            <a:off x="533400" y="4704398"/>
            <a:ext cx="11125200" cy="982980"/>
            <a:chOff x="533400" y="4704398"/>
            <a:chExt cx="11125200" cy="982980"/>
          </a:xfrm>
        </p:grpSpPr>
        <p:sp>
          <p:nvSpPr>
            <p:cNvPr id="42" name="Rectangle 42"/>
            <p:cNvSpPr/>
            <p:nvPr/>
          </p:nvSpPr>
          <p:spPr>
            <a:xfrm>
              <a:off x="533400" y="4704398"/>
              <a:ext cx="11125200" cy="982980"/>
            </a:xfrm>
            <a:prstGeom prst="roundRect">
              <a:avLst>
                <a:gd name="adj" fmla="val 1162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095875"/>
              <a:ext cx="200026" cy="200026"/>
              <a:chOff x="738188" y="5095875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0958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51625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51958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511" y="4964906"/>
              <a:ext cx="982497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 N = 1024、p = 16：划分得到 1048576 个任务，组合后是 16 个 256×256 的块，每块每次迭代与邻居交换 1024 个边界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值（第 11 页）。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49" name="Rectangle 4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11228"/>
              <a:ext cx="200026" cy="200025"/>
              <a:chOff x="738188" y="601122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1122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5567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6680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11704"/>
              <a:ext cx="75613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任务个数先从 1 涨到 N²，再收拢到 p。先拆到最细，是为了在组合时有足够的选择余地。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613063" cy="2997517"/>
            <a:chOff x="667512" y="1835468"/>
            <a:chExt cx="561306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划分技术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6031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把问题切成 p 个相互独立的子问题，并行处理后再拼起来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04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设计方法 1：划分技术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均匀划分、方根划分、对数划分、功能划分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9672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例：PSRS 排序、Valiant 归并、(m,n) 选择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划分技术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六种并行算法设计技术，各配一个经典算法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8" name="c1-table-1"/>
          <p:cNvGrpSpPr/>
          <p:nvPr/>
        </p:nvGrpSpPr>
        <p:grpSpPr>
          <a:xfrm>
            <a:off x="533400" y="1524000"/>
            <a:ext cx="11125200" cy="3680460"/>
            <a:chOff x="533400" y="1524000"/>
            <a:chExt cx="11125200" cy="368046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91552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90429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基本思想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98118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本章例子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46042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0080" y="228409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75485" y="2284095"/>
              <a:ext cx="4487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把问题分成 p 个独立的子问题，各处理器分别处理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70383" y="2150745"/>
              <a:ext cx="24536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PSRS、Valiant 归并、(m,n)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63125" y="2150745"/>
              <a:ext cx="10058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MIMD-SM、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SIMD-CREW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61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7660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0080" y="29051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75485" y="290512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递归地分成同类子问题，并行求解后并行合并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870383" y="29051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双调归并网络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763125" y="29051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比较器网络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2489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339280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75485" y="339280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以输入为叶建平衡树，同一层结点并行计算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70383" y="339280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求最大值、求前缀和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63125" y="3392805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PRAM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7366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37414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0080" y="388048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倍增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5485" y="38804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所处理数据之间的距离逐步加倍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70383" y="38804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链表元素的位序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63125" y="3880485"/>
              <a:ext cx="1103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SIMD-EREW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22433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080" y="43681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75485" y="436816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子任务前后衔接，时间上重叠、空间上并行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0383" y="4368165"/>
              <a:ext cx="1239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DFT 脉动阵列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63125" y="436816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一维脉动阵列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471201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471678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0080" y="485584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破对称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75485" y="485584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打破对称性，让相同地位的元素做出不同选择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70383" y="4855845"/>
              <a:ext cx="1257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有向环 3 着色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63125" y="4855845"/>
              <a:ext cx="1103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SIMD-EREW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1524000"/>
              <a:ext cx="11125200" cy="36804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864042" y="1524000"/>
              <a:ext cx="9525" cy="36804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58940" y="1524000"/>
              <a:ext cx="9525" cy="36804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651682" y="1524000"/>
              <a:ext cx="9525" cy="36804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9" name="Rectangle 49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728335"/>
              <a:ext cx="99402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划分和分治都是“先拆再合”：划分的难点是划分点怎么定，分治的难点是子问题间的同步通信和结果合并。第三部分有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详细对比。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划分技术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四种划分法：区别在每段放多少个元素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table-1"/>
          <p:cNvGrpSpPr/>
          <p:nvPr/>
        </p:nvGrpSpPr>
        <p:grpSpPr>
          <a:xfrm>
            <a:off x="533400" y="1524000"/>
            <a:ext cx="11125200" cy="2438400"/>
            <a:chOff x="533400" y="1524000"/>
            <a:chExt cx="11125200" cy="24384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876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12520" y="166306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91777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分成几段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471035" y="166306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每段元素数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0415" y="16630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示例算法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25088" y="16630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0080" y="215074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均匀划分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40107" y="215074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48689" y="2150745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/ 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979795" y="2150745"/>
              <a:ext cx="1356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PSRS 并行排序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17355" y="2150745"/>
              <a:ext cx="9113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MIMD-SM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4945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49936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0080" y="26384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方根划分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84576" y="26384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64798" y="26384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79795" y="2638425"/>
              <a:ext cx="1162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Valiant 归并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17355" y="2638425"/>
              <a:ext cx="11033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SIMD-CREW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98227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2996565"/>
              <a:ext cx="1761172" cy="468630"/>
            </a:xfrm>
            <a:prstGeom prst="rect">
              <a:avLst/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0080" y="312610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对数划分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96826" y="3126105"/>
              <a:ext cx="812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/ log 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48689" y="3126105"/>
              <a:ext cx="469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79795" y="312610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两个有序序列的并行归并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17355" y="3126105"/>
              <a:ext cx="527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PRAM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4699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474720"/>
              <a:ext cx="11125200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40080" y="361378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功能划分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948273" y="3613785"/>
              <a:ext cx="5099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/ 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900136" y="3613785"/>
              <a:ext cx="1666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979795" y="361378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(m,n) 选择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7355" y="361378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比较器网络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3400" y="1524000"/>
              <a:ext cx="11125200" cy="24384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2308860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08908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6835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205912" y="1524000"/>
              <a:ext cx="9525" cy="24384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0" name="c1-card-2"/>
          <p:cNvGrpSpPr/>
          <p:nvPr/>
        </p:nvGrpSpPr>
        <p:grpSpPr>
          <a:xfrm>
            <a:off x="533400" y="4152900"/>
            <a:ext cx="11125200" cy="1504950"/>
            <a:chOff x="533400" y="4152900"/>
            <a:chExt cx="11125200" cy="1504950"/>
          </a:xfrm>
        </p:grpSpPr>
        <p:sp>
          <p:nvSpPr>
            <p:cNvPr id="45" name="Rectangle 45"/>
            <p:cNvSpPr/>
            <p:nvPr/>
          </p:nvSpPr>
          <p:spPr>
            <a:xfrm>
              <a:off x="533400" y="4152900"/>
              <a:ext cx="11125200" cy="1504950"/>
            </a:xfrm>
            <a:prstGeom prst="roundRect">
              <a:avLst>
                <a:gd name="adj" fmla="val 88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42925" y="4286250"/>
              <a:ext cx="47625" cy="12382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81050" y="43624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71258" y="43981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3430" y="4739640"/>
              <a:ext cx="101022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原课件目录列出均匀、平方根、对数、功能四种划分，正文却把功能划分编为 1.3，没有讲对数划分。本讲义在方根划分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之后补了一页对数划分。</a:t>
              </a:r>
            </a:p>
          </p:txBody>
        </p:sp>
      </p:grpSp>
      <p:grpSp>
        <p:nvGrpSpPr>
          <p:cNvPr id="57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1" name="Rectangle 51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130" y="5991225"/>
              <a:ext cx="100713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均匀划分按处理器数 p 切；方根、对数划分按问题规模 n 切，段数随 n 增长；功能划分按所求结果的规模 m 切。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12988" cy="909257"/>
            <a:chOff x="520446" y="342900"/>
            <a:chExt cx="601298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划分技术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1298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PSRS：均匀划分后，用正则采样选主元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775879" cy="308039"/>
            <a:chOff x="525399" y="1550194"/>
            <a:chExt cx="977587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77587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PSRS（Parallel Sorting by Regular Sampling）在 MIMD-SM 模型上排序数组 A[1..n]，p 个处理器。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4828189" cy="2529173"/>
            <a:chOff x="533400" y="1977390"/>
            <a:chExt cx="4828189" cy="2529173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2906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均匀划分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44155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 n 个元素均匀划分成 p 段，每个处理器处理 n/p 个元素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局部排序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35023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每个处理器调用串行排序算法，排序 n/p 个数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12795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正则采样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06641"/>
              <a:ext cx="3829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每个处理器从自己的有序段中等间隔选取 p 个样本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63352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样本排序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57199"/>
              <a:ext cx="3157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用一台处理器对 p·p 个样本进行串行排序</a:t>
              </a:r>
            </a:p>
          </p:txBody>
        </p:sp>
      </p:grpSp>
      <p:grpSp>
        <p:nvGrpSpPr>
          <p:cNvPr id="44" name="c2-steps-1"/>
          <p:cNvGrpSpPr/>
          <p:nvPr/>
        </p:nvGrpSpPr>
        <p:grpSpPr>
          <a:xfrm>
            <a:off x="6248400" y="1977390"/>
            <a:ext cx="5465750" cy="2763488"/>
            <a:chOff x="6248400" y="1977390"/>
            <a:chExt cx="5465750" cy="2763488"/>
          </a:xfrm>
        </p:grpSpPr>
        <p:sp>
          <p:nvSpPr>
            <p:cNvPr id="27" name="Rectangle 27"/>
            <p:cNvSpPr/>
            <p:nvPr/>
          </p:nvSpPr>
          <p:spPr>
            <a:xfrm>
              <a:off x="6381750" y="212026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248400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42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248400" y="26279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42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248400" y="32785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42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248400" y="416433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2024" y="4238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9880" y="2011680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(5) 选择主元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023" y="2304574"/>
              <a:ext cx="50531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用一台处理器从排好序的样本中选 p−1 个主元，广播给所有处理器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59880" y="2662238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(6) 主元划分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61023" y="2955131"/>
              <a:ext cx="40450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每个处理器按 p−1 个主元把自己的有序段划分成 p 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59880" y="3312795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(7) 全局交换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023" y="3606641"/>
              <a:ext cx="4605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各处理器的第 j 段都送到处理器 j：段 j@U1、段 j@U2 … 段 j@Up →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Uj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9880" y="4198620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(8) 归并排序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023" y="4491514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每个处理器把收到的 p 个有序段归并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45" name="Rectangle 45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728335"/>
              <a:ext cx="10026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(8) 步后，处理器 1 到 p 的结果首尾相接就是全局有序序列。正则采样保证负载不会太偏：元素互不相同时，每个处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理器最后分到的元素少于 2n/p。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78307" cy="909257"/>
            <a:chOff x="520446" y="342900"/>
            <a:chExt cx="837830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划分技术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7830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PSRS 例（n = 27，p = 3）：前五步选出主元 33 和 69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7" name="c1-cells-1"/>
          <p:cNvGrpSpPr/>
          <p:nvPr/>
        </p:nvGrpSpPr>
        <p:grpSpPr>
          <a:xfrm>
            <a:off x="526923" y="1524000"/>
            <a:ext cx="11131677" cy="1009650"/>
            <a:chOff x="526923" y="1524000"/>
            <a:chExt cx="11131677" cy="1009650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654016"/>
              <a:ext cx="1055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(a) 均匀划分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649730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2947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020252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10000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90775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70524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762250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841047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132772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21156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503295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632800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873818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53567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244340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2408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15815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9461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986338" y="1524000"/>
              <a:ext cx="370522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65134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56860" y="1524000"/>
              <a:ext cx="370522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3660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27382" y="1524000"/>
              <a:ext cx="370522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0713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097905" y="1524000"/>
              <a:ext cx="370522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77654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89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68428" y="1524000"/>
              <a:ext cx="370522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48177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39902" y="1524000"/>
              <a:ext cx="370522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1869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10425" y="1524000"/>
              <a:ext cx="370522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8922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580948" y="1524000"/>
              <a:ext cx="370522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60697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951470" y="1524000"/>
              <a:ext cx="370522" cy="419100"/>
            </a:xfrm>
            <a:prstGeom prst="rect">
              <a:avLst/>
            </a:prstGeom>
            <a:solidFill>
              <a:srgbClr val="E7EDF3"/>
            </a:solidFill>
            <a:ln w="15240">
              <a:solidFill>
                <a:srgbClr val="334E6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03121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43B53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321992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0174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693468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72264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9063990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142787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434512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51426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805035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884784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175558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255307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546080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625829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0917555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996352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1288078" y="152400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366874" y="165401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26923" y="2244566"/>
              <a:ext cx="1055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(b) 局部排序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649730" y="2114550"/>
              <a:ext cx="3705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779235" y="224456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020252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10000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390775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470524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762250" y="2114550"/>
              <a:ext cx="3705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841047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3132772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21156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3503295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583044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3873818" y="2114550"/>
              <a:ext cx="3705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3953567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244340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32408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4615815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69461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93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4986338" y="2114550"/>
              <a:ext cx="3705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065134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356860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43660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727382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580713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097905" y="2114550"/>
              <a:ext cx="3705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177654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468428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548177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839902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91869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210425" y="2114550"/>
              <a:ext cx="3705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28922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7580948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660697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89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951470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03121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8321992" y="2114550"/>
              <a:ext cx="3705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840174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8693468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772264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9063990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9142787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9434512" y="2114550"/>
              <a:ext cx="3705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951426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9805035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9884784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10175558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10255307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10546080" y="2114550"/>
              <a:ext cx="37052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062582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10917555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1099635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84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11288078" y="2114550"/>
              <a:ext cx="3705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11366874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</p:grpSp>
      <p:grpSp>
        <p:nvGrpSpPr>
          <p:cNvPr id="146" name="c1-table-2"/>
          <p:cNvGrpSpPr/>
          <p:nvPr/>
        </p:nvGrpSpPr>
        <p:grpSpPr>
          <a:xfrm>
            <a:off x="533400" y="2724150"/>
            <a:ext cx="11125200" cy="1795462"/>
            <a:chOff x="533400" y="2724150"/>
            <a:chExt cx="11125200" cy="1795462"/>
          </a:xfrm>
        </p:grpSpPr>
        <p:sp>
          <p:nvSpPr>
            <p:cNvPr id="118" name="Rectangle 118"/>
            <p:cNvSpPr/>
            <p:nvPr/>
          </p:nvSpPr>
          <p:spPr>
            <a:xfrm>
              <a:off x="533400" y="2724150"/>
              <a:ext cx="11125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1244244" y="28598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3147834" y="285988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5038547" y="285988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6930212" y="285988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9644342" y="28598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641223" y="3308509"/>
              <a:ext cx="1055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(c) 正则采样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2869580" y="3308509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6, 39, 72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4712906" y="33085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12, 40, 69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6604572" y="330850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20, 33, 72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8095488" y="3308509"/>
              <a:ext cx="30198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每段取第 1、4、7 个（间隔 n/p² = 3）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533400" y="36166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0" name="Rectangle 130"/>
            <p:cNvSpPr/>
            <p:nvPr/>
          </p:nvSpPr>
          <p:spPr>
            <a:xfrm>
              <a:off x="533400" y="362140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641223" y="3757136"/>
              <a:ext cx="1055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(d) 样本排序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2869580" y="3757136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6, 12, 20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4712906" y="37571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33, 39, 40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6604572" y="375713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69, 72, 72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8095488" y="3757136"/>
              <a:ext cx="2054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个样本由一台处理器排序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533400" y="40662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TextBox 137"/>
            <p:cNvSpPr txBox="1"/>
            <p:nvPr/>
          </p:nvSpPr>
          <p:spPr>
            <a:xfrm>
              <a:off x="641223" y="4205764"/>
              <a:ext cx="1055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(e) 选择主元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4213860" y="4080510"/>
              <a:ext cx="187261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9" name="TextBox 139"/>
            <p:cNvSpPr txBox="1"/>
            <p:nvPr/>
          </p:nvSpPr>
          <p:spPr>
            <a:xfrm>
              <a:off x="4880912" y="4205764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33, 69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8095488" y="4205764"/>
              <a:ext cx="2985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取排序后第 4、7 个样本（间隔 p = 3）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533400" y="272415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2308860" y="27241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4199572" y="27241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6091238" y="27241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7982902" y="27241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53" name="c1-callout-3"/>
          <p:cNvGrpSpPr/>
          <p:nvPr/>
        </p:nvGrpSpPr>
        <p:grpSpPr>
          <a:xfrm>
            <a:off x="533400" y="4710112"/>
            <a:ext cx="11125200" cy="947738"/>
            <a:chOff x="533400" y="4710112"/>
            <a:chExt cx="11125200" cy="947738"/>
          </a:xfrm>
        </p:grpSpPr>
        <p:sp>
          <p:nvSpPr>
            <p:cNvPr id="147" name="Rectangle 147"/>
            <p:cNvSpPr/>
            <p:nvPr/>
          </p:nvSpPr>
          <p:spPr>
            <a:xfrm>
              <a:off x="533400" y="4710112"/>
              <a:ext cx="11125200" cy="947738"/>
            </a:xfrm>
            <a:prstGeom prst="roundRect">
              <a:avLst>
                <a:gd name="adj" fmla="val 120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1" name="Group 151"/>
            <p:cNvGrpSpPr/>
            <p:nvPr/>
          </p:nvGrpSpPr>
          <p:grpSpPr>
            <a:xfrm>
              <a:off x="738188" y="5083493"/>
              <a:ext cx="200026" cy="200025"/>
              <a:chOff x="738188" y="5083493"/>
              <a:chExt cx="200026" cy="200025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738188" y="50834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9" name="Freeform 149"/>
              <p:cNvSpPr/>
              <p:nvPr/>
            </p:nvSpPr>
            <p:spPr>
              <a:xfrm>
                <a:off x="777926" y="51279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50" name="Freeform 150"/>
              <p:cNvSpPr/>
              <p:nvPr/>
            </p:nvSpPr>
            <p:spPr>
              <a:xfrm>
                <a:off x="812642" y="52390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52" name="TextBox 152"/>
            <p:cNvSpPr txBox="1"/>
            <p:nvPr/>
          </p:nvSpPr>
          <p:spPr>
            <a:xfrm>
              <a:off x="1040130" y="4940618"/>
              <a:ext cx="9968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为什么叫正则采样：样本在每个有序段里等间隔抽取，p² 个样本排序后再等间隔取 p − 1 个主元，主元就把全体数据切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成大致相等的 p 份。</a:t>
              </a:r>
            </a:p>
          </p:txBody>
        </p:sp>
      </p:grpSp>
      <p:grpSp>
        <p:nvGrpSpPr>
          <p:cNvPr id="16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54" name="Rectangle 15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8" name="Group 15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7" name="Freeform 15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59" name="TextBox 159"/>
            <p:cNvSpPr txBox="1"/>
            <p:nvPr/>
          </p:nvSpPr>
          <p:spPr>
            <a:xfrm>
              <a:off x="1040130" y="5991225"/>
              <a:ext cx="64265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(b) 行中高亮的是被采样的元素。三段各 9 个元素，采样间隔 9/3 = 3。</a:t>
              </a:r>
            </a:p>
          </p:txBody>
        </p:sp>
      </p:grpSp>
      <p:grpSp>
        <p:nvGrpSpPr>
          <p:cNvPr id="1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61" name="TextBox 16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43647" cy="909257"/>
            <a:chOff x="520446" y="342900"/>
            <a:chExt cx="78436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划分技术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436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PSRS 例（续）：按主元切段、全局交换、各自归并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6281737" cy="2091214"/>
            <a:chOff x="527685" y="1524000"/>
            <a:chExt cx="6281737" cy="209121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0420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33609" y="1659731"/>
              <a:ext cx="3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≤ 33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89099" y="1659731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34 – 69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73112" y="1659731"/>
              <a:ext cx="3657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&gt; 69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23747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45158" y="2108359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6, 14, 15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02520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39, 46, 48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10391" y="210835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72, 91, 93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4164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42125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3747" y="2556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45158" y="2556986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12, 21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02520" y="2556986"/>
              <a:ext cx="15465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36, 40, 54, 61, 69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10391" y="2556986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89, 97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8660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3747" y="300561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645158" y="3005614"/>
              <a:ext cx="1210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20, 27, 32, 33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02520" y="3005614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53, 58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10391" y="300561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72, 84, 97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627602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53257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28993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297805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339518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(f) 主元划分：每个有序段按 33、69 切成三段</a:t>
              </a:r>
            </a:p>
          </p:txBody>
        </p:sp>
      </p:grpSp>
      <p:grpSp>
        <p:nvGrpSpPr>
          <p:cNvPr id="52" name="c1-table-2"/>
          <p:cNvGrpSpPr/>
          <p:nvPr/>
        </p:nvGrpSpPr>
        <p:grpSpPr>
          <a:xfrm>
            <a:off x="533400" y="3761422"/>
            <a:ext cx="6276022" cy="1795462"/>
            <a:chOff x="533400" y="3761422"/>
            <a:chExt cx="6276022" cy="1795462"/>
          </a:xfrm>
        </p:grpSpPr>
        <p:sp>
          <p:nvSpPr>
            <p:cNvPr id="33" name="Rectangle 33"/>
            <p:cNvSpPr/>
            <p:nvPr/>
          </p:nvSpPr>
          <p:spPr>
            <a:xfrm>
              <a:off x="533400" y="3761422"/>
              <a:ext cx="627602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3712" y="38962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26484" y="3896201"/>
              <a:ext cx="20889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(g) 全局交换后收到的元素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91529" y="389620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0882" y="4345781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19428" y="4345781"/>
              <a:ext cx="224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14 15 | 12 21 | 20 27 32 33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16457" y="434578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6539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658678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60882" y="479440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9428" y="4794409"/>
              <a:ext cx="2580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39 46 48 | 36 40 54 61 69 | 53 58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69071" y="479440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510254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60882" y="524303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519428" y="5243036"/>
              <a:ext cx="20979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 91 93 | 89 97 | 72 84 97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316457" y="52430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761422"/>
              <a:ext cx="627602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406842" y="376142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925502" y="3761422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7" name="c2-table-1"/>
          <p:cNvGrpSpPr/>
          <p:nvPr/>
        </p:nvGrpSpPr>
        <p:grpSpPr>
          <a:xfrm>
            <a:off x="7114222" y="1524000"/>
            <a:ext cx="4544378" cy="1795462"/>
            <a:chOff x="7114222" y="1524000"/>
            <a:chExt cx="4544378" cy="1795462"/>
          </a:xfrm>
        </p:grpSpPr>
        <p:sp>
          <p:nvSpPr>
            <p:cNvPr id="53" name="Rectangle 53"/>
            <p:cNvSpPr/>
            <p:nvPr/>
          </p:nvSpPr>
          <p:spPr>
            <a:xfrm>
              <a:off x="7114222" y="1524000"/>
              <a:ext cx="4544378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39410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31894" y="1659731"/>
              <a:ext cx="13996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(h) 归并排序结果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47432" y="2108359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12658" y="2108359"/>
              <a:ext cx="2037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6 12 14 15 20 21 27 32 33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114222" y="241649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14222" y="2421255"/>
              <a:ext cx="454437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547432" y="2556986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12658" y="2556986"/>
              <a:ext cx="2373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36 39 40 46 48 53 54 58 61 69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7114222" y="286607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47432" y="3005614"/>
              <a:ext cx="2232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312658" y="3005614"/>
              <a:ext cx="1891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72 72 84 89 91 93 97 97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114222" y="1524000"/>
              <a:ext cx="4544378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8200072" y="152400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8" name="c2-card-2"/>
          <p:cNvGrpSpPr/>
          <p:nvPr/>
        </p:nvGrpSpPr>
        <p:grpSpPr>
          <a:xfrm>
            <a:off x="7114222" y="3509962"/>
            <a:ext cx="4544378" cy="2046922"/>
            <a:chOff x="7114222" y="3509962"/>
            <a:chExt cx="4544378" cy="2046922"/>
          </a:xfrm>
        </p:grpSpPr>
        <p:sp>
          <p:nvSpPr>
            <p:cNvPr id="68" name="Rectangle 68"/>
            <p:cNvSpPr/>
            <p:nvPr/>
          </p:nvSpPr>
          <p:spPr>
            <a:xfrm>
              <a:off x="7114222" y="3509962"/>
              <a:ext cx="4544378" cy="2046922"/>
            </a:xfrm>
            <a:prstGeom prst="roundRect">
              <a:avLst>
                <a:gd name="adj" fmla="val 65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123748" y="3643312"/>
              <a:ext cx="47625" cy="178022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361872" y="3719512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443229" y="37552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自己核对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367588" y="415956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525702" y="4096702"/>
              <a:ext cx="31855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三段首尾相接正好是 27 个数的升序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367588" y="449484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525702" y="4431982"/>
              <a:ext cx="3488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等于主元的元素（33、69）归左边那段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7367588" y="4830128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525702" y="4767262"/>
              <a:ext cx="3406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各处理器分到 9、10、8 个，远低于上限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2n/p = 18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70861" cy="909257"/>
            <a:chOff x="520446" y="342900"/>
            <a:chExt cx="67708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划分技术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708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Valiant 归并：方根划分，每段约 √n 个元素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111809" cy="308039"/>
            <a:chOff x="525399" y="1550194"/>
            <a:chExt cx="1011180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1118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两个长度为 n 的有序序列 A、B 在 SIMD-CREW 模型上归并。把 A、B 各分成约 √n 段，先粗定位再细定位。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6033247" cy="2763489"/>
            <a:chOff x="533400" y="1977390"/>
            <a:chExt cx="6033247" cy="2763489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2906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方根划分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45929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各分成 √n 段，第 i·√n 个元素标记为划分元素（带 *）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段间比较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56206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不动，把每个 A 划分元与 B 的所有划分元比较，确定它落在 B 的哪一段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12795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段内比较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06641"/>
              <a:ext cx="56011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A 划分元与对应 B 段内的所有元素比较，插入段内适当位置并做标记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63352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递归归并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57199"/>
              <a:ext cx="536930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用插入的 A 划分元把 B 重新分段，与 A 的段两两配对，每对递归执行 (1)–</a:t>
              </a:r>
            </a:p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(3)，直到 A 中剩余元素为 0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919662"/>
            <a:ext cx="6276022" cy="1014412"/>
            <a:chOff x="533400" y="4919662"/>
            <a:chExt cx="6276022" cy="1014412"/>
          </a:xfrm>
        </p:grpSpPr>
        <p:sp>
          <p:nvSpPr>
            <p:cNvPr id="27" name="Rectangle 27"/>
            <p:cNvSpPr/>
            <p:nvPr/>
          </p:nvSpPr>
          <p:spPr>
            <a:xfrm>
              <a:off x="533400" y="4919662"/>
              <a:ext cx="6276022" cy="1014412"/>
            </a:xfrm>
            <a:prstGeom prst="roundRect">
              <a:avLst>
                <a:gd name="adj" fmla="val 1126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326380"/>
              <a:ext cx="200026" cy="200025"/>
              <a:chOff x="738188" y="5326380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3263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3708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4819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183505"/>
              <a:ext cx="5149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为什么要 CREW：第 (2) 步里多个 A 划分元会同时读同一个 B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划分元，需要并发读；写入位置各不相同，不需要并发写。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7114222" y="1967865"/>
            <a:ext cx="4544378" cy="1887855"/>
            <a:chOff x="7114222" y="1967865"/>
            <a:chExt cx="4544378" cy="1887855"/>
          </a:xfrm>
        </p:grpSpPr>
        <p:sp>
          <p:nvSpPr>
            <p:cNvPr id="34" name="Rectangle 34"/>
            <p:cNvSpPr/>
            <p:nvPr/>
          </p:nvSpPr>
          <p:spPr>
            <a:xfrm>
              <a:off x="7114222" y="1967865"/>
              <a:ext cx="4544378" cy="1887855"/>
            </a:xfrm>
            <a:prstGeom prst="roundRect">
              <a:avLst>
                <a:gd name="adj" fmla="val 706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323772" y="217741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405129" y="22131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为什么快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16152" y="2554605"/>
              <a:ext cx="38538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(2) 中 √n 个 A 划分元各与 √n 个 B 划分元比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较，共 n 次比较，CREW 上 n 个处理器 1 步完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成；(3) 同理。每层递归问题规模从 n 降到约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√n，递归深度是 O(log log n)。</a:t>
              </a:r>
            </a:p>
          </p:txBody>
        </p:sp>
      </p:grpSp>
      <p:grpSp>
        <p:nvGrpSpPr>
          <p:cNvPr id="44" name="c2-card-2"/>
          <p:cNvGrpSpPr/>
          <p:nvPr/>
        </p:nvGrpSpPr>
        <p:grpSpPr>
          <a:xfrm>
            <a:off x="7114222" y="4046220"/>
            <a:ext cx="4544378" cy="1887855"/>
            <a:chOff x="7114222" y="4046220"/>
            <a:chExt cx="4544378" cy="1887855"/>
          </a:xfrm>
        </p:grpSpPr>
        <p:sp>
          <p:nvSpPr>
            <p:cNvPr id="39" name="Rectangle 39"/>
            <p:cNvSpPr/>
            <p:nvPr/>
          </p:nvSpPr>
          <p:spPr>
            <a:xfrm>
              <a:off x="7114222" y="4046220"/>
              <a:ext cx="4544378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123748" y="417957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61872" y="42557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52081" y="42914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54252" y="4632960"/>
              <a:ext cx="39204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原课件第 (4) 步写“此时 B 中元素个数为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2n”。这只在 A、B 等长时成立；下页例子 A 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个、B 有 9 个元素，结束时 B 中是 p + q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 个。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4726" cy="909257"/>
            <a:chOff x="520446" y="342900"/>
            <a:chExt cx="66047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划分技术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47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Valiant 例：A 有 8 个元素，B 有 9 个元素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149332" cy="597598"/>
            <a:chOff x="525399" y="1550194"/>
            <a:chExt cx="10149332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149332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{1,3,8,9,11,13,15,16}，p = 8；B = {2,4,5,6,7,10,12,14,17}，q = 9。⌈√8⌉ = ⌈√9⌉ = 3，所以每隔 3 个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取一个划分元。</a:t>
              </a:r>
            </a:p>
          </p:txBody>
        </p:sp>
      </p:grpSp>
      <p:grpSp>
        <p:nvGrpSpPr>
          <p:cNvPr id="45" name="c1-cells-1"/>
          <p:cNvGrpSpPr/>
          <p:nvPr/>
        </p:nvGrpSpPr>
        <p:grpSpPr>
          <a:xfrm>
            <a:off x="526923" y="2257425"/>
            <a:ext cx="5957697" cy="1009650"/>
            <a:chOff x="526923" y="2257425"/>
            <a:chExt cx="5957697" cy="1009650"/>
          </a:xfrm>
        </p:grpSpPr>
        <p:sp>
          <p:nvSpPr>
            <p:cNvPr id="9" name="TextBox 9"/>
            <p:cNvSpPr txBox="1"/>
            <p:nvPr/>
          </p:nvSpPr>
          <p:spPr>
            <a:xfrm>
              <a:off x="526923" y="238744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61048" y="225742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1997" y="23874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96365" y="225742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58267" y="23874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32635" y="2257425"/>
              <a:ext cx="63627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44782" y="23874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8*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68905" y="225742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30807" y="23874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04222" y="225742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16369" y="23874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940492" y="2257425"/>
              <a:ext cx="63627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02884" y="238744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13*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576762" y="225742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88909" y="23874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213032" y="225742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24227" y="23874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6923" y="297799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61048" y="284797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21997" y="29779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96365" y="284797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658267" y="29779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032635" y="2847975"/>
              <a:ext cx="63627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244782" y="297799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668905" y="284797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930807" y="29779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04222" y="284797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566125" y="297799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940492" y="2847975"/>
              <a:ext cx="63627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102884" y="297799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10*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576762" y="284797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88909" y="297799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213032" y="2847975"/>
              <a:ext cx="63627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24227" y="297799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48350" y="2847975"/>
              <a:ext cx="63627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010741" y="297799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17*</a:t>
              </a:r>
            </a:p>
          </p:txBody>
        </p:sp>
      </p:grpSp>
      <p:grpSp>
        <p:nvGrpSpPr>
          <p:cNvPr id="61" name="c1-table-2"/>
          <p:cNvGrpSpPr/>
          <p:nvPr/>
        </p:nvGrpSpPr>
        <p:grpSpPr>
          <a:xfrm>
            <a:off x="533400" y="3457575"/>
            <a:ext cx="5951220" cy="1800225"/>
            <a:chOff x="533400" y="3457575"/>
            <a:chExt cx="5951220" cy="1800225"/>
          </a:xfrm>
        </p:grpSpPr>
        <p:sp>
          <p:nvSpPr>
            <p:cNvPr id="46" name="Rectangle 46"/>
            <p:cNvSpPr/>
            <p:nvPr/>
          </p:nvSpPr>
          <p:spPr>
            <a:xfrm>
              <a:off x="533400" y="3457575"/>
              <a:ext cx="595122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41573" y="3593306"/>
              <a:ext cx="692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划分元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309170" y="3593306"/>
              <a:ext cx="14471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(2) 落在 B 的哪段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40335" y="3593306"/>
              <a:ext cx="12273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(3) 段内插在哪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1535" y="41552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950910" y="4041934"/>
              <a:ext cx="191490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 &lt; 8 &lt; 10*，第 2 段 {6,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7, 10}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331208" y="415528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与 10 之间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57771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33400" y="4582478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81779" y="483060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950910" y="4717256"/>
              <a:ext cx="177673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10* &lt; 13 &lt; 17*，第 3 段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{12, 14, 17}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331208" y="4830604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与 14 之间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3457575"/>
              <a:ext cx="595122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838325" y="345757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4218622" y="345757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2" name="c2-table-1"/>
          <p:cNvGrpSpPr/>
          <p:nvPr/>
        </p:nvGrpSpPr>
        <p:grpSpPr>
          <a:xfrm>
            <a:off x="6783705" y="2257425"/>
            <a:ext cx="4874895" cy="2091214"/>
            <a:chOff x="6783705" y="2257425"/>
            <a:chExt cx="4874895" cy="2091214"/>
          </a:xfrm>
        </p:grpSpPr>
        <p:sp>
          <p:nvSpPr>
            <p:cNvPr id="62" name="Rectangle 62"/>
            <p:cNvSpPr/>
            <p:nvPr/>
          </p:nvSpPr>
          <p:spPr>
            <a:xfrm>
              <a:off x="6789420" y="2257425"/>
              <a:ext cx="486918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048779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22406" y="2393156"/>
              <a:ext cx="347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18846" y="2393156"/>
              <a:ext cx="347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71337" y="284178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773543" y="2841784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 = {1, 3}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34678" y="2841784"/>
              <a:ext cx="19974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B1 = {2, 4, 5, 6, 7, 8}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789420" y="315087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789420" y="3154680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71337" y="32904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73543" y="3290411"/>
              <a:ext cx="10780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 = {9, 11}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234678" y="3290411"/>
              <a:ext cx="15332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B2 = {10, 12, 13}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789420" y="359949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171337" y="37390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73543" y="3739039"/>
              <a:ext cx="1178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 = {15, 16}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234678" y="3739039"/>
              <a:ext cx="117818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B3 = {14, 17}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6789420" y="2257425"/>
              <a:ext cx="486918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7660958" y="22574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122092" y="225742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783705" y="4128611"/>
              <a:ext cx="3104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插入的 8、13 并入 B，再按它们把 B 切成 3 段</a:t>
              </a:r>
            </a:p>
          </p:txBody>
        </p:sp>
      </p:grpSp>
      <p:grpSp>
        <p:nvGrpSpPr>
          <p:cNvPr id="88" name="c2-card-2"/>
          <p:cNvGrpSpPr/>
          <p:nvPr/>
        </p:nvGrpSpPr>
        <p:grpSpPr>
          <a:xfrm>
            <a:off x="6789420" y="4494848"/>
            <a:ext cx="4869180" cy="1316355"/>
            <a:chOff x="6789420" y="4494848"/>
            <a:chExt cx="4869180" cy="1316355"/>
          </a:xfrm>
        </p:grpSpPr>
        <p:sp>
          <p:nvSpPr>
            <p:cNvPr id="83" name="Rectangle 83"/>
            <p:cNvSpPr/>
            <p:nvPr/>
          </p:nvSpPr>
          <p:spPr>
            <a:xfrm>
              <a:off x="6789420" y="4494848"/>
              <a:ext cx="486918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4" name="Rectangle 84"/>
            <p:cNvSpPr/>
            <p:nvPr/>
          </p:nvSpPr>
          <p:spPr>
            <a:xfrm>
              <a:off x="6798945" y="4628198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037070" y="470439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127278" y="47401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029450" y="5081588"/>
              <a:ext cx="41205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原课件图中第三对写成“A₂: 15 16”，与第二对重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名，应为 A₃。</a:t>
              </a:r>
            </a:p>
          </p:txBody>
        </p:sp>
      </p:grpSp>
      <p:grpSp>
        <p:nvGrpSpPr>
          <p:cNvPr id="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9" name="TextBox 8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61072" cy="909257"/>
            <a:chOff x="520446" y="342900"/>
            <a:chExt cx="85610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划分技术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610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Valiant 例（续）：第一对继续递归，最后拼出有序序列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6200358" cy="2764440"/>
            <a:chOff x="533400" y="1533525"/>
            <a:chExt cx="6200358" cy="2764440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41935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72046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7942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第二层划分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50766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 = {1, 3*}：⌈√2⌉ = 2，划分元是 3；B1 = {2, 4, 5*, 6, 7, 8*}：⌈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√6⌉ = 3，划分元是 5 和 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453640"/>
              <a:ext cx="14706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段间 + 段内比较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746534"/>
              <a:ext cx="54401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&lt; 5，落在 B1 的第 1 段 {2, 4, 5}；段内 2 &lt; 3 &lt; 4，插在 2 与 4 之间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再配对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57877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A11 = {1} 配 B11 = {2, 3}；A12 为空，B12 = {4, 5, 6, 7, 8} 直接照搬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75475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048601"/>
              <a:ext cx="4535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与 {2, 3} 比较，放在最前，A 中剩余元素为 0，递归结束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475798"/>
            <a:ext cx="5951220" cy="1059180"/>
            <a:chOff x="533400" y="4475798"/>
            <a:chExt cx="5951220" cy="1059180"/>
          </a:xfrm>
        </p:grpSpPr>
        <p:sp>
          <p:nvSpPr>
            <p:cNvPr id="25" name="Rectangle 25"/>
            <p:cNvSpPr/>
            <p:nvPr/>
          </p:nvSpPr>
          <p:spPr>
            <a:xfrm>
              <a:off x="533400" y="4475798"/>
              <a:ext cx="595122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905375"/>
              <a:ext cx="200026" cy="200026"/>
              <a:chOff x="738188" y="4905375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9053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4972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50053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130" y="4624388"/>
              <a:ext cx="47872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2、3 对同时进行：A2 = {9, 11} 配 B2 = {10, 12,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13}，A3 = {15, 16} 配 B3 = {14, 17}，各自再递归一两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层。</a:t>
              </a:r>
            </a:p>
          </p:txBody>
        </p:sp>
      </p:grpSp>
      <p:grpSp>
        <p:nvGrpSpPr>
          <p:cNvPr id="67" name="c2-cells-1"/>
          <p:cNvGrpSpPr/>
          <p:nvPr/>
        </p:nvGrpSpPr>
        <p:grpSpPr>
          <a:xfrm>
            <a:off x="6782943" y="1524000"/>
            <a:ext cx="4875657" cy="1009650"/>
            <a:chOff x="6782943" y="1524000"/>
            <a:chExt cx="4875657" cy="1009650"/>
          </a:xfrm>
        </p:grpSpPr>
        <p:sp>
          <p:nvSpPr>
            <p:cNvPr id="32" name="TextBox 32"/>
            <p:cNvSpPr txBox="1"/>
            <p:nvPr/>
          </p:nvSpPr>
          <p:spPr>
            <a:xfrm>
              <a:off x="6782943" y="16540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247572" y="1524000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37085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738110" y="1524000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26670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227695" y="1524000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17207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718232" y="1524000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906792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207818" y="1524000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97330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698355" y="1524000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886915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0187940" y="1524000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377452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678478" y="1524000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867037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168062" y="1524000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357575" y="16540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247572" y="2114550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38732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738110" y="2114550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876914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227695" y="2114550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36745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718232" y="2114550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857037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207818" y="2114550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347574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698355" y="2114550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837159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0187940" y="2114550"/>
              <a:ext cx="490538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0327697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0678478" y="2114550"/>
              <a:ext cx="49053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0817282" y="224456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789420" y="2724150"/>
            <a:ext cx="4869180" cy="2810828"/>
            <a:chOff x="6789420" y="2724150"/>
            <a:chExt cx="4869180" cy="2810828"/>
          </a:xfrm>
        </p:grpSpPr>
        <p:sp>
          <p:nvSpPr>
            <p:cNvPr id="68" name="Rectangle 68"/>
            <p:cNvSpPr/>
            <p:nvPr/>
          </p:nvSpPr>
          <p:spPr>
            <a:xfrm>
              <a:off x="6789420" y="2724150"/>
              <a:ext cx="4869180" cy="2810828"/>
            </a:xfrm>
            <a:prstGeom prst="roundRect">
              <a:avLst>
                <a:gd name="adj" fmla="val 47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798945" y="2857500"/>
              <a:ext cx="47625" cy="254412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037070" y="293370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23328" y="29694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读结果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029450" y="3310890"/>
              <a:ext cx="4072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高亮的是来自 A 的元素，按竖线分成的 6 段与原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课件最后一行一致。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30593" y="3928586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每一对 A 段、B 段互不干扰，所以各对可以同时递归，这正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是划分技术的用处。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5" name="Rectangle 7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130" y="5991225"/>
              <a:ext cx="1023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Valiant 归并在 SIMD-CREW 上用 n 个处理器，每层递归 O(1) 步，递归 O(log log n) 层，总时间 O(log log n)。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62077" cy="909257"/>
            <a:chOff x="520446" y="342900"/>
            <a:chExt cx="82620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划分技术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620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对数划分（补充）：每段 log n 个元素，二分查找定位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8019727" cy="308039"/>
            <a:chOff x="525399" y="1550194"/>
            <a:chExt cx="801972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801972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原课件只列了名字。这里用两个有序序列 A、B（各 n 个元素）的并行归并说明做法。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5326761" cy="2763488"/>
            <a:chOff x="533400" y="1977390"/>
            <a:chExt cx="5326761" cy="2763488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51282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586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6433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38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 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32205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B 分成 n / log n 段，每段 log n 个元素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二分查找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4914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每段末元素 b 在 A 中二分查找，求出 rank(b : A)，即 A 中不大于 b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的元素个数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547110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 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840956"/>
              <a:ext cx="44552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这些 rank 值把 A 也切成 n / log n 段，与 B 的段一一配对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1986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串行归并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49151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各处理器串行归并自己那一对，结果按段号首尾相接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919662"/>
            <a:ext cx="5626418" cy="1087755"/>
            <a:chOff x="533400" y="4919662"/>
            <a:chExt cx="5626418" cy="1087755"/>
          </a:xfrm>
        </p:grpSpPr>
        <p:sp>
          <p:nvSpPr>
            <p:cNvPr id="27" name="Rectangle 27"/>
            <p:cNvSpPr/>
            <p:nvPr/>
          </p:nvSpPr>
          <p:spPr>
            <a:xfrm>
              <a:off x="533400" y="4919662"/>
              <a:ext cx="5626418" cy="1087755"/>
            </a:xfrm>
            <a:prstGeom prst="roundRect">
              <a:avLst>
                <a:gd name="adj" fmla="val 10508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363528"/>
              <a:ext cx="200026" cy="200026"/>
              <a:chOff x="738188" y="5363528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3635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4302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4635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082540"/>
              <a:ext cx="46824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/ log n 个处理器，二分查找 O(log n)；A 的某段超过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n 时再按同样办法细分，总时间 O(log n)，总工作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 O(n)。</a:t>
              </a:r>
            </a:p>
          </p:txBody>
        </p:sp>
      </p:grpSp>
      <p:grpSp>
        <p:nvGrpSpPr>
          <p:cNvPr id="64" name="c2-table-1"/>
          <p:cNvGrpSpPr/>
          <p:nvPr/>
        </p:nvGrpSpPr>
        <p:grpSpPr>
          <a:xfrm>
            <a:off x="6458902" y="1967865"/>
            <a:ext cx="5199698" cy="2290286"/>
            <a:chOff x="6458902" y="1967865"/>
            <a:chExt cx="5199698" cy="2290286"/>
          </a:xfrm>
        </p:grpSpPr>
        <p:sp>
          <p:nvSpPr>
            <p:cNvPr id="34" name="Rectangle 34"/>
            <p:cNvSpPr/>
            <p:nvPr/>
          </p:nvSpPr>
          <p:spPr>
            <a:xfrm>
              <a:off x="6464618" y="1967865"/>
              <a:ext cx="519398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79629" y="2102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73704" y="2102644"/>
              <a:ext cx="347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 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99476" y="2102644"/>
              <a:ext cx="982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末元素 rank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62574" y="2102644"/>
              <a:ext cx="347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 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3217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归并结果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16030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87730" y="2551271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2 4 5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005938" y="2551271"/>
              <a:ext cx="9692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rank(5) = 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73730" y="2551271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15778" y="2551271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1 2 3 4 5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28603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64618" y="286512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16030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87730" y="3000851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6 7 10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58552" y="3000851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rank(10) = 4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273730" y="3000851"/>
              <a:ext cx="2541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15778" y="3000851"/>
              <a:ext cx="7883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6 7 8 9 10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464618" y="330898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16030" y="34494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87730" y="3449479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12 14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36722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73730" y="3449479"/>
              <a:ext cx="9262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11 13 15 16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15778" y="3449479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… 16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6464618" y="1967865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875145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810500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161145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303192" y="19678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458902" y="3838099"/>
              <a:ext cx="489026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{1,3,8,9,11,13,15,16}，B = {2,4,5,6,7,10,12,14}，n = 8，log n =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70" name="c2-card-2"/>
          <p:cNvGrpSpPr/>
          <p:nvPr/>
        </p:nvGrpSpPr>
        <p:grpSpPr>
          <a:xfrm>
            <a:off x="6464618" y="4404360"/>
            <a:ext cx="5193982" cy="1602105"/>
            <a:chOff x="6464618" y="4404360"/>
            <a:chExt cx="5193982" cy="1602105"/>
          </a:xfrm>
        </p:grpSpPr>
        <p:sp>
          <p:nvSpPr>
            <p:cNvPr id="65" name="Rectangle 65"/>
            <p:cNvSpPr/>
            <p:nvPr/>
          </p:nvSpPr>
          <p:spPr>
            <a:xfrm>
              <a:off x="6464618" y="4404360"/>
              <a:ext cx="5193982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474142" y="453771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712268" y="46139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803428" y="46496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704648" y="4991100"/>
              <a:ext cx="45015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对的 A 段有 4 个元素，超过 log n = 3。n 很大时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这类长段要再切一次，否则单个处理器的串行归并会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拖慢全局。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46608" cy="909257"/>
            <a:chOff x="520446" y="342900"/>
            <a:chExt cx="614660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划分技术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466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功能划分：(m,n) 选择，每组 m 个元素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466318" cy="308039"/>
            <a:chOff x="525399" y="1550194"/>
            <a:chExt cx="646631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4663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(m,n) 选择问题：求出 n 个元素的序列 A[1..n] 中前 m 个最小者。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5001641" cy="2763489"/>
            <a:chOff x="533400" y="1977390"/>
            <a:chExt cx="5001641" cy="2763489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929062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00288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功能划分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3237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 A 划分成 g = n/m 组，每组含 m 个元素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局部排序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30260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 Batcher 排序网络将各组并行排序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12795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两两比较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06641"/>
              <a:ext cx="3696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已排序的各组两两比较，形成 MIN 序列（m 个）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3963352"/>
              <a:ext cx="13530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排序-比较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257199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对各个 MIN 序列重复 (2)、(3)，直到只剩一组，就是 m 个最小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919662"/>
            <a:ext cx="5193982" cy="879158"/>
            <a:chOff x="533400" y="4919662"/>
            <a:chExt cx="5193982" cy="879158"/>
          </a:xfrm>
        </p:grpSpPr>
        <p:sp>
          <p:nvSpPr>
            <p:cNvPr id="27" name="Rectangle 27"/>
            <p:cNvSpPr/>
            <p:nvPr/>
          </p:nvSpPr>
          <p:spPr>
            <a:xfrm>
              <a:off x="533400" y="4919662"/>
              <a:ext cx="5193982" cy="879158"/>
            </a:xfrm>
            <a:prstGeom prst="roundRect">
              <a:avLst>
                <a:gd name="adj" fmla="val 1300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258753"/>
              <a:ext cx="200026" cy="200025"/>
              <a:chOff x="738188" y="5258753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2587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53032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54143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115878"/>
              <a:ext cx="3958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每轮组数减半，g = n/m 组经过 log g 轮只剩一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组。右图是 g = 4 的情形，两轮比较。</a:t>
              </a:r>
            </a:p>
          </p:txBody>
        </p:sp>
      </p:grpSp>
      <p:grpSp>
        <p:nvGrpSpPr>
          <p:cNvPr id="71" name="c2-graph-1"/>
          <p:cNvGrpSpPr/>
          <p:nvPr/>
        </p:nvGrpSpPr>
        <p:grpSpPr>
          <a:xfrm>
            <a:off x="6306502" y="2055495"/>
            <a:ext cx="5071110" cy="2682240"/>
            <a:chOff x="6306502" y="2055495"/>
            <a:chExt cx="5071110" cy="2682240"/>
          </a:xfrm>
        </p:grpSpPr>
        <p:sp>
          <p:nvSpPr>
            <p:cNvPr id="34" name="Freeform 34"/>
            <p:cNvSpPr/>
            <p:nvPr/>
          </p:nvSpPr>
          <p:spPr>
            <a:xfrm>
              <a:off x="7220902" y="2391728"/>
              <a:ext cx="911542" cy="162877"/>
            </a:xfrm>
            <a:custGeom>
              <a:avLst/>
              <a:gdLst/>
              <a:ahLst/>
              <a:cxnLst/>
              <a:rect l="l" t="t" r="r" b="b"/>
              <a:pathLst>
                <a:path w="911542" h="162877">
                  <a:moveTo>
                    <a:pt x="0" y="0"/>
                  </a:moveTo>
                  <a:lnTo>
                    <a:pt x="911542" y="162877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123872" y="2507932"/>
              <a:ext cx="101918" cy="93345"/>
            </a:xfrm>
            <a:custGeom>
              <a:avLst/>
              <a:gdLst/>
              <a:ahLst/>
              <a:cxnLst/>
              <a:rect l="l" t="t" r="r" b="b"/>
              <a:pathLst>
                <a:path w="101918" h="93345">
                  <a:moveTo>
                    <a:pt x="101918" y="63817"/>
                  </a:moveTo>
                  <a:lnTo>
                    <a:pt x="0" y="93345"/>
                  </a:lnTo>
                  <a:lnTo>
                    <a:pt x="1714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220902" y="2799398"/>
              <a:ext cx="911542" cy="150495"/>
            </a:xfrm>
            <a:custGeom>
              <a:avLst/>
              <a:gdLst/>
              <a:ahLst/>
              <a:cxnLst/>
              <a:rect l="l" t="t" r="r" b="b"/>
              <a:pathLst>
                <a:path w="911542" h="150495">
                  <a:moveTo>
                    <a:pt x="0" y="150495"/>
                  </a:moveTo>
                  <a:lnTo>
                    <a:pt x="9115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124825" y="2752725"/>
              <a:ext cx="100965" cy="93345"/>
            </a:xfrm>
            <a:custGeom>
              <a:avLst/>
              <a:gdLst/>
              <a:ahLst/>
              <a:cxnLst/>
              <a:rect l="l" t="t" r="r" b="b"/>
              <a:pathLst>
                <a:path w="100965" h="93345">
                  <a:moveTo>
                    <a:pt x="100965" y="31433"/>
                  </a:moveTo>
                  <a:lnTo>
                    <a:pt x="1524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220902" y="3843338"/>
              <a:ext cx="911542" cy="149542"/>
            </a:xfrm>
            <a:custGeom>
              <a:avLst/>
              <a:gdLst/>
              <a:ahLst/>
              <a:cxnLst/>
              <a:rect l="l" t="t" r="r" b="b"/>
              <a:pathLst>
                <a:path w="911542" h="149542">
                  <a:moveTo>
                    <a:pt x="0" y="0"/>
                  </a:moveTo>
                  <a:lnTo>
                    <a:pt x="911542" y="1495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124825" y="3946208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62865"/>
                  </a:moveTo>
                  <a:lnTo>
                    <a:pt x="0" y="94297"/>
                  </a:lnTo>
                  <a:lnTo>
                    <a:pt x="1524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220902" y="4237672"/>
              <a:ext cx="911542" cy="162878"/>
            </a:xfrm>
            <a:custGeom>
              <a:avLst/>
              <a:gdLst/>
              <a:ahLst/>
              <a:cxnLst/>
              <a:rect l="l" t="t" r="r" b="b"/>
              <a:pathLst>
                <a:path w="911542" h="162878">
                  <a:moveTo>
                    <a:pt x="0" y="162878"/>
                  </a:moveTo>
                  <a:lnTo>
                    <a:pt x="9115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123872" y="4191000"/>
              <a:ext cx="101918" cy="93345"/>
            </a:xfrm>
            <a:custGeom>
              <a:avLst/>
              <a:gdLst/>
              <a:ahLst/>
              <a:cxnLst/>
              <a:rect l="l" t="t" r="r" b="b"/>
              <a:pathLst>
                <a:path w="101918" h="93345">
                  <a:moveTo>
                    <a:pt x="101918" y="30480"/>
                  </a:moveTo>
                  <a:lnTo>
                    <a:pt x="17145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464040" y="2912745"/>
              <a:ext cx="585787" cy="219075"/>
            </a:xfrm>
            <a:custGeom>
              <a:avLst/>
              <a:gdLst/>
              <a:ahLst/>
              <a:cxnLst/>
              <a:rect l="l" t="t" r="r" b="b"/>
              <a:pathLst>
                <a:path w="585787" h="219075">
                  <a:moveTo>
                    <a:pt x="0" y="0"/>
                  </a:moveTo>
                  <a:lnTo>
                    <a:pt x="585787" y="21907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10033635" y="3087052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78105"/>
                  </a:moveTo>
                  <a:lnTo>
                    <a:pt x="0" y="89535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9464040" y="3660458"/>
              <a:ext cx="585787" cy="219075"/>
            </a:xfrm>
            <a:custGeom>
              <a:avLst/>
              <a:gdLst/>
              <a:ahLst/>
              <a:cxnLst/>
              <a:rect l="l" t="t" r="r" b="b"/>
              <a:pathLst>
                <a:path w="585787" h="219075">
                  <a:moveTo>
                    <a:pt x="0" y="219075"/>
                  </a:moveTo>
                  <a:lnTo>
                    <a:pt x="58578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10033635" y="3615690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105727" y="11430"/>
                  </a:moveTo>
                  <a:lnTo>
                    <a:pt x="33338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306502" y="2055495"/>
              <a:ext cx="91440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306502" y="2769870"/>
              <a:ext cx="91440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306502" y="3512820"/>
              <a:ext cx="91440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6306502" y="4227195"/>
              <a:ext cx="914400" cy="510540"/>
            </a:xfrm>
            <a:prstGeom prst="roundRect">
              <a:avLst>
                <a:gd name="adj" fmla="val 18657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225790" y="2426970"/>
              <a:ext cx="1238250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225790" y="3855720"/>
              <a:ext cx="1238250" cy="510540"/>
            </a:xfrm>
            <a:prstGeom prst="roundRect">
              <a:avLst>
                <a:gd name="adj" fmla="val 186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139362" y="3141345"/>
              <a:ext cx="1238250" cy="510540"/>
            </a:xfrm>
            <a:prstGeom prst="roundRect">
              <a:avLst>
                <a:gd name="adj" fmla="val 18657"/>
              </a:avLst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04745" y="2140268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 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19893" y="2330768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 S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04745" y="2854642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 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19893" y="3045142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 S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04745" y="3597592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 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19893" y="3788092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 S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04745" y="4311968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 4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19893" y="4502468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 S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426242" y="2511742"/>
              <a:ext cx="837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比较取 MIN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83183" y="2702242"/>
              <a:ext cx="523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 M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426242" y="3940492"/>
              <a:ext cx="837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比较取 MIN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583183" y="4130992"/>
              <a:ext cx="523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归并 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339814" y="3226118"/>
              <a:ext cx="837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比较取 MIN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496756" y="3416618"/>
              <a:ext cx="5234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归并 M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636442" y="2946082"/>
              <a:ext cx="33147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661999" y="2980849"/>
              <a:ext cx="2803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 个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9636442" y="3660458"/>
              <a:ext cx="331470" cy="173355"/>
            </a:xfrm>
            <a:prstGeom prst="roundRect">
              <a:avLst>
                <a:gd name="adj" fmla="val 2197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661999" y="3695224"/>
              <a:ext cx="2803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 个</a:t>
              </a:r>
            </a:p>
          </p:txBody>
        </p:sp>
      </p:grpSp>
      <p:grpSp>
        <p:nvGrpSpPr>
          <p:cNvPr id="78" name="c2-callout-2"/>
          <p:cNvGrpSpPr/>
          <p:nvPr/>
        </p:nvGrpSpPr>
        <p:grpSpPr>
          <a:xfrm>
            <a:off x="6032182" y="5015865"/>
            <a:ext cx="5626418" cy="782955"/>
            <a:chOff x="6032182" y="5015865"/>
            <a:chExt cx="5626418" cy="782955"/>
          </a:xfrm>
        </p:grpSpPr>
        <p:sp>
          <p:nvSpPr>
            <p:cNvPr id="72" name="Rectangle 72"/>
            <p:cNvSpPr/>
            <p:nvPr/>
          </p:nvSpPr>
          <p:spPr>
            <a:xfrm>
              <a:off x="6032182" y="5015865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6236970" y="5307330"/>
              <a:ext cx="200026" cy="200026"/>
              <a:chOff x="6236970" y="5307330"/>
              <a:chExt cx="200026" cy="200026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6236970" y="53073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336983" y="53740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325870" y="54073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6538912" y="5164455"/>
              <a:ext cx="46539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表示排序，M 表示归并。每次比较丢掉 MAX 那一半，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只留 m 个较小者，组数逐轮减半。</a:t>
              </a:r>
            </a:p>
          </p:txBody>
        </p:sp>
      </p:grpSp>
      <p:grpSp>
        <p:nvGrpSpPr>
          <p:cNvPr id="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9" name="TextBox 7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30557" cy="909257"/>
            <a:chOff x="520446" y="342900"/>
            <a:chExt cx="703055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划分技术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3055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(m,n) 选择例：从 16 个数里选出最小的 4 个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530586" cy="597598"/>
            <a:chOff x="525399" y="1550194"/>
            <a:chExt cx="10530586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530586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 = {15,3,9,12, 7,1,14,5, 11,16,2,8, 6,13,4,10}，m = 4，分成 g = 4 组。两组比较时，第 i 个与另一组倒数第 i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个比，取较小者。</a:t>
              </a:r>
            </a:p>
          </p:txBody>
        </p:sp>
      </p:grpSp>
      <p:grpSp>
        <p:nvGrpSpPr>
          <p:cNvPr id="40" name="c1-table-1"/>
          <p:cNvGrpSpPr/>
          <p:nvPr/>
        </p:nvGrpSpPr>
        <p:grpSpPr>
          <a:xfrm>
            <a:off x="533400" y="2257425"/>
            <a:ext cx="6276022" cy="3604260"/>
            <a:chOff x="533400" y="2257425"/>
            <a:chExt cx="6276022" cy="3604260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627602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5172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65399" y="2393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40197" y="2393156"/>
              <a:ext cx="7208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MIN 序列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53913" y="23931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3181826"/>
              <a:ext cx="1055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组内排序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22348" y="2841784"/>
              <a:ext cx="996442" cy="929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{3,9,12,15}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{1,5,7,14}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{2,8,11,16}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{4,6,10,13}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46737" y="31818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64997" y="31818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3000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834765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970496"/>
              <a:ext cx="102976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组1 与 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22348" y="4083844"/>
              <a:ext cx="18739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3–14, 9–7, 12–5, 15–1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7037" y="4083844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3 7 5 1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45297" y="4083844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1 3 5 7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5062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1223" y="4645819"/>
              <a:ext cx="1029767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组3 与 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022348" y="4759166"/>
              <a:ext cx="19687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2–13, 8–10, 11–6, 16–4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27037" y="4759166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2 8 6 4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45297" y="4759166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2 4 6 8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18160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186362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1223" y="5321141"/>
              <a:ext cx="99603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再比较一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22348" y="5434489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1–8, 3–6, 5–4, 7–2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27037" y="5434489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1 3 4 2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437822" y="5195888"/>
              <a:ext cx="1362075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45297" y="5434489"/>
              <a:ext cx="5471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1 2 3 4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2257425"/>
              <a:ext cx="6276022" cy="36042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909762" y="2257425"/>
              <a:ext cx="9525" cy="36042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69092" y="2257425"/>
              <a:ext cx="9525" cy="36042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3535" y="2257425"/>
              <a:ext cx="9525" cy="36042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7" name="c2-card-1"/>
          <p:cNvGrpSpPr/>
          <p:nvPr/>
        </p:nvGrpSpPr>
        <p:grpSpPr>
          <a:xfrm>
            <a:off x="7114222" y="2257425"/>
            <a:ext cx="4544378" cy="2419350"/>
            <a:chOff x="7114222" y="2257425"/>
            <a:chExt cx="4544378" cy="2419350"/>
          </a:xfrm>
        </p:grpSpPr>
        <p:sp>
          <p:nvSpPr>
            <p:cNvPr id="41" name="Rectangle 41"/>
            <p:cNvSpPr/>
            <p:nvPr/>
          </p:nvSpPr>
          <p:spPr>
            <a:xfrm>
              <a:off x="7114222" y="2257425"/>
              <a:ext cx="4544378" cy="2419350"/>
            </a:xfrm>
            <a:prstGeom prst="roundRect">
              <a:avLst>
                <a:gd name="adj" fmla="val 551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23748" y="2390775"/>
              <a:ext cx="47625" cy="21526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361872" y="246697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30427" y="250269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为什么倒着配对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54252" y="2844165"/>
              <a:ext cx="384429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升序组 a 接上倒序的组 b，就是一个双调序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列。对它做一次“前半与后半逐个比较”，较小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m 个就是两组合起来的前 m 小，而且仍是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双调序列（第三部分的 Batcher 定理）。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55396" y="4033361"/>
              <a:ext cx="373557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所以 MIN 序列 3 7 5 1 先升后降，用一个双调归并器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（图中的 M）就能排好。</a:t>
              </a:r>
            </a:p>
          </p:txBody>
        </p:sp>
      </p:grpSp>
      <p:grpSp>
        <p:nvGrpSpPr>
          <p:cNvPr id="53" name="c2-callout-2"/>
          <p:cNvGrpSpPr/>
          <p:nvPr/>
        </p:nvGrpSpPr>
        <p:grpSpPr>
          <a:xfrm>
            <a:off x="7114222" y="4867275"/>
            <a:ext cx="4544378" cy="994410"/>
            <a:chOff x="7114222" y="4867275"/>
            <a:chExt cx="4544378" cy="994410"/>
          </a:xfrm>
        </p:grpSpPr>
        <p:sp>
          <p:nvSpPr>
            <p:cNvPr id="48" name="Rectangle 48"/>
            <p:cNvSpPr/>
            <p:nvPr/>
          </p:nvSpPr>
          <p:spPr>
            <a:xfrm>
              <a:off x="7114222" y="4867275"/>
              <a:ext cx="4544378" cy="994410"/>
            </a:xfrm>
            <a:prstGeom prst="roundRect">
              <a:avLst>
                <a:gd name="adj" fmla="val 11494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19010" y="5264468"/>
              <a:ext cx="200026" cy="200026"/>
              <a:chOff x="7319010" y="5264468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19010" y="526446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385685" y="534225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7620952" y="5121592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结果 {1, 2, 3, 4} 正是 16 个数中最小的 4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个。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91253" cy="2997517"/>
            <a:chOff x="667512" y="1835468"/>
            <a:chExt cx="469125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分治技术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递归地拆成同类子问题，并行求解，再并行合并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04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设计方法 2：分治技术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分治与划分的区别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例：双调序列与双调归并网络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分治技术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分治：子问题和原问题同类，所以可以递归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898332"/>
            <a:chOff x="533400" y="1524000"/>
            <a:chExt cx="4977765" cy="18983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98332"/>
            </a:xfrm>
            <a:prstGeom prst="roundRect">
              <a:avLst>
                <a:gd name="adj" fmla="val 7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3163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分治策略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把原来的大问题分解成若干个特性相同的子问题分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而治之。子问题仍然偏大，就反复使用分治策略，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直到子问题很容易求解。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3014186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分解后的子问题与原问题类型相同，很容易写成递归过程。</a:t>
              </a:r>
            </a:p>
          </p:txBody>
        </p:sp>
      </p:grpSp>
      <p:grpSp>
        <p:nvGrpSpPr>
          <p:cNvPr id="27" name="c1-steps-2"/>
          <p:cNvGrpSpPr/>
          <p:nvPr/>
        </p:nvGrpSpPr>
        <p:grpSpPr>
          <a:xfrm>
            <a:off x="533400" y="3622358"/>
            <a:ext cx="3871849" cy="1878615"/>
            <a:chOff x="533400" y="3622358"/>
            <a:chExt cx="3871849" cy="1878615"/>
          </a:xfrm>
        </p:grpSpPr>
        <p:sp>
          <p:nvSpPr>
            <p:cNvPr id="14" name="Rectangle 14"/>
            <p:cNvSpPr/>
            <p:nvPr/>
          </p:nvSpPr>
          <p:spPr>
            <a:xfrm>
              <a:off x="666750" y="3765232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33400" y="362235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7024" y="36961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533400" y="427291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3467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92442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9982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3656648"/>
              <a:ext cx="8325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划分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395049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将输入划分成若干个规模相等的子问题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4307205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并行递归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460105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同时（并行地）递归求解这些子问题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4880" y="4958715"/>
              <a:ext cx="1236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并行合并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5251609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并行地合并子问题的解，直至得到原问题的解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815965" y="1524000"/>
            <a:ext cx="5842635" cy="2475548"/>
            <a:chOff x="5815965" y="1524000"/>
            <a:chExt cx="5842635" cy="2475548"/>
          </a:xfrm>
        </p:grpSpPr>
        <p:sp>
          <p:nvSpPr>
            <p:cNvPr id="28" name="Rectangle 28"/>
            <p:cNvSpPr/>
            <p:nvPr/>
          </p:nvSpPr>
          <p:spPr>
            <a:xfrm>
              <a:off x="5815965" y="1524000"/>
              <a:ext cx="584263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210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7365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划分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31109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分治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23788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侧重点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91553" y="2221706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面向求解问题的需要或过程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28988" y="2108359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面向求解问题的简单、规范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化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15965" y="26431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815965" y="2647950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23788" y="289702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难点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993255" y="2657475"/>
              <a:ext cx="231838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091553" y="289702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划分点的确定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330690" y="2657475"/>
              <a:ext cx="2318385" cy="65627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28988" y="2783681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子问题间的同步通信和（递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归）结果的合并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331946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23788" y="357235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子问题规模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1553" y="3459004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根据求解需要决定，不一定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28988" y="3572351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一般按 1/k 等分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815965" y="1524000"/>
              <a:ext cx="5842635" cy="2475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978968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316402" y="1524000"/>
              <a:ext cx="9525" cy="2475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card-2"/>
          <p:cNvGrpSpPr/>
          <p:nvPr/>
        </p:nvGrpSpPr>
        <p:grpSpPr>
          <a:xfrm>
            <a:off x="5815965" y="4190048"/>
            <a:ext cx="5842635" cy="1937385"/>
            <a:chOff x="5815965" y="4190048"/>
            <a:chExt cx="5842635" cy="1937385"/>
          </a:xfrm>
        </p:grpSpPr>
        <p:sp>
          <p:nvSpPr>
            <p:cNvPr id="50" name="Rectangle 50"/>
            <p:cNvSpPr/>
            <p:nvPr/>
          </p:nvSpPr>
          <p:spPr>
            <a:xfrm>
              <a:off x="5815965" y="4190048"/>
              <a:ext cx="584263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825490" y="4323398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63615" y="4399598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132170" y="443531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对照前面的例子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069330" y="4839652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227445" y="4776788"/>
              <a:ext cx="48729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PSRS 的难点是选主元，也就是定划分点，合并只是首尾相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069330" y="5460683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27445" y="5397818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下面的双调归并每次都对半分，难点在合并：要用比较器网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络把两半的结果整理好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分治技术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双调序列：先降后升，或循环移位后先降后升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0" name="c1-card-1"/>
          <p:cNvGrpSpPr/>
          <p:nvPr/>
        </p:nvGrpSpPr>
        <p:grpSpPr>
          <a:xfrm>
            <a:off x="533400" y="1524000"/>
            <a:ext cx="5193982" cy="2302192"/>
            <a:chOff x="533400" y="1524000"/>
            <a:chExt cx="5193982" cy="23021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2302192"/>
            </a:xfrm>
            <a:prstGeom prst="roundRect">
              <a:avLst>
                <a:gd name="adj" fmla="val 579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03549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651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双调序列（Bitonic Sequence）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 a₁, a₂, …, aₙ 是双调序列，如果：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3905" y="238029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9583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4702" y="2392680"/>
              <a:ext cx="382847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存在一个 aₖ（1 ≤ k ≤ n），使得 a₁ ≥ … ≥ aₖ ≤ … 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aₙ 成立；或者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3905" y="2940368"/>
              <a:ext cx="192405" cy="192405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9583" y="297875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4702" y="2952750"/>
              <a:ext cx="2349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序列能够循环移位满足条件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8190" y="3251359"/>
              <a:ext cx="43213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等价说法：由一个非严格增序列 X 和一个非严格减序列 Y 构成的序列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（允许循环移位）。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001452"/>
            <a:ext cx="5193982" cy="729615"/>
            <a:chOff x="533400" y="4001452"/>
            <a:chExt cx="5193982" cy="729615"/>
          </a:xfrm>
        </p:grpSpPr>
        <p:sp>
          <p:nvSpPr>
            <p:cNvPr id="21" name="Rectangle 21"/>
            <p:cNvSpPr/>
            <p:nvPr/>
          </p:nvSpPr>
          <p:spPr>
            <a:xfrm>
              <a:off x="533400" y="4001452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26129" y="4262556"/>
              <a:ext cx="224134" cy="192560"/>
              <a:chOff x="726129" y="4262556"/>
              <a:chExt cx="224134" cy="19256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38200" y="43329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726129" y="42625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44107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892" y="4148138"/>
              <a:ext cx="41285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判断时把序列首尾接成一个环，从最大值和最小值处切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开，两边各自单调就是双调的。</a:t>
              </a:r>
            </a:p>
          </p:txBody>
        </p:sp>
      </p:grpSp>
      <p:grpSp>
        <p:nvGrpSpPr>
          <p:cNvPr id="45" name="c1-cells-3"/>
          <p:cNvGrpSpPr/>
          <p:nvPr/>
        </p:nvGrpSpPr>
        <p:grpSpPr>
          <a:xfrm>
            <a:off x="527685" y="4906328"/>
            <a:ext cx="5199697" cy="381000"/>
            <a:chOff x="527685" y="4906328"/>
            <a:chExt cx="5199697" cy="381000"/>
          </a:xfrm>
        </p:grpSpPr>
        <p:sp>
          <p:nvSpPr>
            <p:cNvPr id="28" name="TextBox 28"/>
            <p:cNvSpPr txBox="1"/>
            <p:nvPr/>
          </p:nvSpPr>
          <p:spPr>
            <a:xfrm>
              <a:off x="527685" y="5026819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36308" y="4906328"/>
              <a:ext cx="59912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42605" y="502681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534478" y="4906328"/>
              <a:ext cx="59912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41728" y="502681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133600" y="4906328"/>
              <a:ext cx="59912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384386" y="50268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732722" y="4906328"/>
              <a:ext cx="59912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82556" y="50268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331845" y="4906328"/>
              <a:ext cx="59912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81679" y="50268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930015" y="4906328"/>
              <a:ext cx="59912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180801" y="50268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529138" y="4906328"/>
              <a:ext cx="59912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36388" y="502681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28260" y="4906328"/>
              <a:ext cx="59912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334558" y="502681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78</a:t>
              </a:r>
            </a:p>
          </p:txBody>
        </p:sp>
      </p:grpSp>
      <p:grpSp>
        <p:nvGrpSpPr>
          <p:cNvPr id="47" name="c1-text-4"/>
          <p:cNvGrpSpPr/>
          <p:nvPr/>
        </p:nvGrpSpPr>
        <p:grpSpPr>
          <a:xfrm>
            <a:off x="527685" y="5481161"/>
            <a:ext cx="5077450" cy="220028"/>
            <a:chOff x="527685" y="5481161"/>
            <a:chExt cx="5077450" cy="220028"/>
          </a:xfrm>
        </p:grpSpPr>
        <p:sp>
          <p:nvSpPr>
            <p:cNvPr id="46" name="TextBox 46"/>
            <p:cNvSpPr txBox="1"/>
            <p:nvPr/>
          </p:nvSpPr>
          <p:spPr>
            <a:xfrm>
              <a:off x="527685" y="5481161"/>
              <a:ext cx="5077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 1 在 3 处由降转升（绿），例 2 在 8 处由升转降（橙），都只转折一次。</a:t>
              </a:r>
            </a:p>
          </p:txBody>
        </p:sp>
      </p:grpSp>
      <p:grpSp>
        <p:nvGrpSpPr>
          <p:cNvPr id="84" name="c2-table-1"/>
          <p:cNvGrpSpPr/>
          <p:nvPr/>
        </p:nvGrpSpPr>
        <p:grpSpPr>
          <a:xfrm>
            <a:off x="6026848" y="1524000"/>
            <a:ext cx="5631752" cy="3120009"/>
            <a:chOff x="6026848" y="1524000"/>
            <a:chExt cx="5631752" cy="3120009"/>
          </a:xfrm>
        </p:grpSpPr>
        <p:sp>
          <p:nvSpPr>
            <p:cNvPr id="48" name="Rectangle 48"/>
            <p:cNvSpPr/>
            <p:nvPr/>
          </p:nvSpPr>
          <p:spPr>
            <a:xfrm>
              <a:off x="6032182" y="1524000"/>
              <a:ext cx="5626418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5679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5684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双调？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6386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132195" y="2054066"/>
              <a:ext cx="18399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(23,10,8,3,5,7,11,78)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07615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83065" y="205406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先降到 3 再升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32182" y="233076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32182" y="233553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32195" y="2459831"/>
              <a:ext cx="16658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(1,3,5,7,8,6,4,2,0)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707615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83065" y="2459831"/>
              <a:ext cx="2144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先升到 8 再降，移位后先降后升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032182" y="273653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132195" y="2865596"/>
              <a:ext cx="16658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(8,7,6,4,2,0,1,3,5)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707615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283065" y="286559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先降到 0 再升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032182" y="314229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32182" y="314706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132195" y="3271361"/>
              <a:ext cx="1491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(1,2,3,4,5,6,7,8)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07615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283065" y="327136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单调序列是特例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032182" y="35480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132195" y="3677126"/>
              <a:ext cx="795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(1,3,2,4)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404860" y="3562350"/>
              <a:ext cx="76866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707615" y="367712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283065" y="367712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升、降、升，成环后有两个谷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032182" y="39538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032182" y="3958590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32195" y="4082891"/>
              <a:ext cx="1491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(3,1,4,1,5,9,2,6)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8404860" y="3968115"/>
              <a:ext cx="76866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707615" y="408289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283065" y="408289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多次升降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2182" y="1524000"/>
              <a:ext cx="5626418" cy="2840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8390572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178290" y="1524000"/>
              <a:ext cx="9525" cy="2840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026848" y="4438650"/>
              <a:ext cx="28800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 4 个是原课件的例子，后 2 个是补充的反例</a:t>
              </a:r>
            </a:p>
          </p:txBody>
        </p:sp>
      </p:grpSp>
      <p:grpSp>
        <p:nvGrpSpPr>
          <p:cNvPr id="104" name="c2-cells-2"/>
          <p:cNvGrpSpPr/>
          <p:nvPr/>
        </p:nvGrpSpPr>
        <p:grpSpPr>
          <a:xfrm>
            <a:off x="6026467" y="4777740"/>
            <a:ext cx="5632133" cy="381000"/>
            <a:chOff x="6026467" y="4777740"/>
            <a:chExt cx="5632133" cy="381000"/>
          </a:xfrm>
        </p:grpSpPr>
        <p:sp>
          <p:nvSpPr>
            <p:cNvPr id="85" name="TextBox 85"/>
            <p:cNvSpPr txBox="1"/>
            <p:nvPr/>
          </p:nvSpPr>
          <p:spPr>
            <a:xfrm>
              <a:off x="6026467" y="4898231"/>
              <a:ext cx="296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434138" y="4777740"/>
              <a:ext cx="5800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675399" y="4898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015162" y="4777740"/>
              <a:ext cx="5800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256424" y="4898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7595235" y="4777740"/>
              <a:ext cx="5800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836496" y="4898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8176260" y="4777740"/>
              <a:ext cx="5800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416569" y="4898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8756332" y="4777740"/>
              <a:ext cx="58007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8997594" y="4898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9336405" y="4777740"/>
              <a:ext cx="5800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9577666" y="4898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9917430" y="4777740"/>
              <a:ext cx="5800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0158691" y="4898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10497502" y="4777740"/>
              <a:ext cx="5800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0738764" y="4898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11078528" y="4777740"/>
              <a:ext cx="58007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1318836" y="4898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</p:grpSp>
      <p:grpSp>
        <p:nvGrpSpPr>
          <p:cNvPr id="11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105" name="Rectangle 10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9" name="Group 10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0" name="TextBox 110"/>
            <p:cNvSpPr txBox="1"/>
            <p:nvPr/>
          </p:nvSpPr>
          <p:spPr>
            <a:xfrm>
              <a:off x="1040892" y="6023610"/>
              <a:ext cx="103363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双调序列的用处：两个升序序列，把第二个倒过来接在第一个后面就是双调序列，于是可以交给双调归并网络（第 33、34 页）。</a:t>
              </a:r>
            </a:p>
          </p:txBody>
        </p:sp>
      </p:grpSp>
      <p:grpSp>
        <p:nvGrpSpPr>
          <p:cNvPr id="11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2" name="TextBox 11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712877" cy="909257"/>
            <a:chOff x="520446" y="342900"/>
            <a:chExt cx="97128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分治技术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7128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Batcher 定理：前后两半逐个比较，MIN 半全部不大于 MAX 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2185988"/>
            <a:chOff x="533400" y="1524000"/>
            <a:chExt cx="5626418" cy="218598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185988"/>
            </a:xfrm>
            <a:prstGeom prst="roundRect">
              <a:avLst>
                <a:gd name="adj" fmla="val 61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91928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598295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7056" y="1763554"/>
              <a:ext cx="1494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Batcher's Theorem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667250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把长为 2n 的双调序列 A 分成等长的两半 X 和 Y，a[i] 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a[i+n] 比较（i &lt; n），较大者放入 MAX 序列，较小者放入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 序列。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302418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963704"/>
              <a:ext cx="28046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 和 MIN 序列仍然是双调序列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34422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283744"/>
              <a:ext cx="49074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 序列中任意一个元素不小于 MIN 序列中任意一个元素</a:t>
              </a:r>
            </a:p>
          </p:txBody>
        </p:sp>
      </p:grpSp>
      <p:grpSp>
        <p:nvGrpSpPr>
          <p:cNvPr id="31" name="c1-graph-2"/>
          <p:cNvGrpSpPr/>
          <p:nvPr/>
        </p:nvGrpSpPr>
        <p:grpSpPr>
          <a:xfrm>
            <a:off x="816292" y="4127182"/>
            <a:ext cx="5061586" cy="926212"/>
            <a:chOff x="816292" y="4127182"/>
            <a:chExt cx="5061586" cy="926212"/>
          </a:xfrm>
        </p:grpSpPr>
        <p:sp>
          <p:nvSpPr>
            <p:cNvPr id="17" name="Freeform 17"/>
            <p:cNvSpPr/>
            <p:nvPr/>
          </p:nvSpPr>
          <p:spPr>
            <a:xfrm>
              <a:off x="1174432" y="4308158"/>
              <a:ext cx="1292542" cy="166688"/>
            </a:xfrm>
            <a:custGeom>
              <a:avLst/>
              <a:gdLst/>
              <a:ahLst/>
              <a:cxnLst/>
              <a:rect l="l" t="t" r="r" b="b"/>
              <a:pathLst>
                <a:path w="1292542" h="166688">
                  <a:moveTo>
                    <a:pt x="0" y="0"/>
                  </a:moveTo>
                  <a:lnTo>
                    <a:pt x="1292542" y="1666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461260" y="4428172"/>
              <a:ext cx="100012" cy="94298"/>
            </a:xfrm>
            <a:custGeom>
              <a:avLst/>
              <a:gdLst/>
              <a:ahLst/>
              <a:cxnLst/>
              <a:rect l="l" t="t" r="r" b="b"/>
              <a:pathLst>
                <a:path w="100012" h="94298">
                  <a:moveTo>
                    <a:pt x="100012" y="59055"/>
                  </a:moveTo>
                  <a:lnTo>
                    <a:pt x="0" y="94298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174432" y="4702492"/>
              <a:ext cx="1292542" cy="166688"/>
            </a:xfrm>
            <a:custGeom>
              <a:avLst/>
              <a:gdLst/>
              <a:ahLst/>
              <a:cxnLst/>
              <a:rect l="l" t="t" r="r" b="b"/>
              <a:pathLst>
                <a:path w="1292542" h="166688">
                  <a:moveTo>
                    <a:pt x="0" y="166688"/>
                  </a:moveTo>
                  <a:lnTo>
                    <a:pt x="12925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461260" y="4654868"/>
              <a:ext cx="100012" cy="94298"/>
            </a:xfrm>
            <a:custGeom>
              <a:avLst/>
              <a:gdLst/>
              <a:ahLst/>
              <a:cxnLst/>
              <a:rect l="l" t="t" r="r" b="b"/>
              <a:pathLst>
                <a:path w="100012" h="94298">
                  <a:moveTo>
                    <a:pt x="100012" y="35242"/>
                  </a:moveTo>
                  <a:lnTo>
                    <a:pt x="11430" y="942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131945" y="4320540"/>
              <a:ext cx="1292542" cy="166688"/>
            </a:xfrm>
            <a:custGeom>
              <a:avLst/>
              <a:gdLst/>
              <a:ahLst/>
              <a:cxnLst/>
              <a:rect l="l" t="t" r="r" b="b"/>
              <a:pathLst>
                <a:path w="1292542" h="166688">
                  <a:moveTo>
                    <a:pt x="0" y="166688"/>
                  </a:moveTo>
                  <a:lnTo>
                    <a:pt x="129254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418772" y="4272915"/>
              <a:ext cx="100965" cy="95250"/>
            </a:xfrm>
            <a:custGeom>
              <a:avLst/>
              <a:gdLst/>
              <a:ahLst/>
              <a:cxnLst/>
              <a:rect l="l" t="t" r="r" b="b"/>
              <a:pathLst>
                <a:path w="100965" h="95250">
                  <a:moveTo>
                    <a:pt x="100965" y="35242"/>
                  </a:moveTo>
                  <a:lnTo>
                    <a:pt x="12383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131945" y="4690110"/>
              <a:ext cx="1292542" cy="166688"/>
            </a:xfrm>
            <a:custGeom>
              <a:avLst/>
              <a:gdLst/>
              <a:ahLst/>
              <a:cxnLst/>
              <a:rect l="l" t="t" r="r" b="b"/>
              <a:pathLst>
                <a:path w="1292542" h="166688">
                  <a:moveTo>
                    <a:pt x="0" y="0"/>
                  </a:moveTo>
                  <a:lnTo>
                    <a:pt x="1292542" y="16668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418772" y="4809172"/>
              <a:ext cx="100965" cy="95250"/>
            </a:xfrm>
            <a:custGeom>
              <a:avLst/>
              <a:gdLst/>
              <a:ahLst/>
              <a:cxnLst/>
              <a:rect l="l" t="t" r="r" b="b"/>
              <a:pathLst>
                <a:path w="100965" h="95250">
                  <a:moveTo>
                    <a:pt x="100965" y="60008"/>
                  </a:moveTo>
                  <a:lnTo>
                    <a:pt x="0" y="95250"/>
                  </a:lnTo>
                  <a:lnTo>
                    <a:pt x="12383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561272" y="4127182"/>
              <a:ext cx="1570672" cy="923925"/>
            </a:xfrm>
            <a:prstGeom prst="roundRect">
              <a:avLst>
                <a:gd name="adj" fmla="val 10309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6292" y="42090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6292" y="48186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43863" y="4513898"/>
              <a:ext cx="1206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Batcher 比较器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42598" y="42090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542598" y="481869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大者</a:t>
              </a:r>
            </a:p>
          </p:txBody>
        </p:sp>
      </p:grpSp>
      <p:grpSp>
        <p:nvGrpSpPr>
          <p:cNvPr id="33" name="c1-text-3"/>
          <p:cNvGrpSpPr/>
          <p:nvPr/>
        </p:nvGrpSpPr>
        <p:grpSpPr>
          <a:xfrm>
            <a:off x="527304" y="5486400"/>
            <a:ext cx="5346192" cy="470916"/>
            <a:chOff x="527304" y="5486400"/>
            <a:chExt cx="5346192" cy="470916"/>
          </a:xfrm>
        </p:grpSpPr>
        <p:sp>
          <p:nvSpPr>
            <p:cNvPr id="32" name="TextBox 32"/>
            <p:cNvSpPr txBox="1"/>
            <p:nvPr/>
          </p:nvSpPr>
          <p:spPr>
            <a:xfrm>
              <a:off x="527304" y="5486400"/>
              <a:ext cx="534619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比较器有两个输入、两个输出，小者放到上输出端，大者放到下输出端。若干比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较器连成比较器网络（Comparator Network）。</a:t>
              </a:r>
            </a:p>
          </p:txBody>
        </p:sp>
      </p:grpSp>
      <p:grpSp>
        <p:nvGrpSpPr>
          <p:cNvPr id="75" name="c2-table-1"/>
          <p:cNvGrpSpPr/>
          <p:nvPr/>
        </p:nvGrpSpPr>
        <p:grpSpPr>
          <a:xfrm>
            <a:off x="6458902" y="1524000"/>
            <a:ext cx="5199698" cy="2446497"/>
            <a:chOff x="6458902" y="1524000"/>
            <a:chExt cx="5199698" cy="2446497"/>
          </a:xfrm>
        </p:grpSpPr>
        <p:sp>
          <p:nvSpPr>
            <p:cNvPr id="34" name="Rectangle 34"/>
            <p:cNvSpPr/>
            <p:nvPr/>
          </p:nvSpPr>
          <p:spPr>
            <a:xfrm>
              <a:off x="6464618" y="1524000"/>
              <a:ext cx="5193982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52178" y="1655445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63788" y="1655445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a[i]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21117" y="1655445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a[i+4]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59409" y="1655445"/>
              <a:ext cx="298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63801" y="1655445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MAX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30976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8474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35364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614535" y="1964055"/>
              <a:ext cx="98774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058362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8515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464618" y="237934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464618" y="2384108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30976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8474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3536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9614535" y="2393632"/>
              <a:ext cx="98774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05836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8515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28098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83097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8474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93536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9614535" y="2824162"/>
              <a:ext cx="98774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5836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8515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64618" y="323945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464618" y="3244215"/>
              <a:ext cx="519398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30976" y="33756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84744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935364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614535" y="3253740"/>
              <a:ext cx="987742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058362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085157" y="3375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464618" y="1524000"/>
              <a:ext cx="5193982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29900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36199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600248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0607040" y="152400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58902" y="3750469"/>
              <a:ext cx="3320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双调序列 (8,6,4,2,0,1,3,5) 做一次前后半比较</a:t>
              </a:r>
            </a:p>
          </p:txBody>
        </p:sp>
      </p:grpSp>
      <p:grpSp>
        <p:nvGrpSpPr>
          <p:cNvPr id="86" name="c2-card-2"/>
          <p:cNvGrpSpPr/>
          <p:nvPr/>
        </p:nvGrpSpPr>
        <p:grpSpPr>
          <a:xfrm>
            <a:off x="6464618" y="4111942"/>
            <a:ext cx="5193982" cy="1799272"/>
            <a:chOff x="6464618" y="4111942"/>
            <a:chExt cx="5193982" cy="1799272"/>
          </a:xfrm>
        </p:grpSpPr>
        <p:sp>
          <p:nvSpPr>
            <p:cNvPr id="76" name="Rectangle 76"/>
            <p:cNvSpPr/>
            <p:nvPr/>
          </p:nvSpPr>
          <p:spPr>
            <a:xfrm>
              <a:off x="6464618" y="4111942"/>
              <a:ext cx="5193982" cy="1799272"/>
            </a:xfrm>
            <a:prstGeom prst="roundRect">
              <a:avLst>
                <a:gd name="adj" fmla="val 74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74142" y="4245292"/>
              <a:ext cx="47625" cy="153257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706552" y="431577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788861" y="4351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验证定理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714172" y="474821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870764" y="4688681"/>
              <a:ext cx="30990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 = (0,1,3,2)：先升后降，双调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714172" y="506825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870764" y="5008721"/>
              <a:ext cx="31495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 = (8,6,4,5)：先降后升，双调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714172" y="5388292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870764" y="5328761"/>
              <a:ext cx="29282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 的最大值 3 &lt; MAX 的最小值 4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分治技术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双调归并：一次比较分成两半，两半再各自递归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327910"/>
            <a:chOff x="533400" y="1524000"/>
            <a:chExt cx="5626418" cy="2327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327910"/>
            </a:xfrm>
            <a:prstGeom prst="roundRect">
              <a:avLst>
                <a:gd name="adj" fmla="val 409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849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BITONIC_MERG(X)，X 长 2n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062478" cy="1843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Procedure BITONIC_MERG(X)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(1) for i = 1 to n par-do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S[i] = min{x[i], x[i+n]}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L[i] = max{x[i], x[i+n]}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 for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(2) Recursive Call: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BITONIC_MERG(MIN = (S1, …, Sn))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BITONIC_MERG(MAX = (L1, …, Ln))</a:t>
              </a:r>
            </a:p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(3) output sequence MIN ## MAX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4042410"/>
            <a:ext cx="5626418" cy="2223135"/>
            <a:chOff x="533400" y="4042410"/>
            <a:chExt cx="5626418" cy="2223135"/>
          </a:xfrm>
        </p:grpSpPr>
        <p:sp>
          <p:nvSpPr>
            <p:cNvPr id="11" name="Rectangle 11"/>
            <p:cNvSpPr/>
            <p:nvPr/>
          </p:nvSpPr>
          <p:spPr>
            <a:xfrm>
              <a:off x="533400" y="4042410"/>
              <a:ext cx="5626418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175760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25196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7308" y="42876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读代码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4629150"/>
              <a:ext cx="49206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## 表示把两个序列首尾连接。由 Batcher 定理，MIN 的每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个元素都不大于 MAX，所以两半各自排好后直接拼接就有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5598795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5535930"/>
              <a:ext cx="4549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8 时递归展开：1 个 8 输入比较（4 个比较器）→ 2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4 输入（各 2 个）→ 4 个 2 输入（各 1 个）</a:t>
              </a:r>
            </a:p>
          </p:txBody>
        </p:sp>
      </p:grpSp>
      <p:grpSp>
        <p:nvGrpSpPr>
          <p:cNvPr id="28" name="c2-card-1"/>
          <p:cNvGrpSpPr/>
          <p:nvPr/>
        </p:nvGrpSpPr>
        <p:grpSpPr>
          <a:xfrm>
            <a:off x="6464618" y="1524000"/>
            <a:ext cx="5193982" cy="1701165"/>
            <a:chOff x="6464618" y="1524000"/>
            <a:chExt cx="5193982" cy="1701165"/>
          </a:xfrm>
        </p:grpSpPr>
        <p:sp>
          <p:nvSpPr>
            <p:cNvPr id="19" name="Rectangle 19"/>
            <p:cNvSpPr/>
            <p:nvPr/>
          </p:nvSpPr>
          <p:spPr>
            <a:xfrm>
              <a:off x="6464618" y="1524000"/>
              <a:ext cx="5193982" cy="1701165"/>
            </a:xfrm>
            <a:prstGeom prst="roundRect">
              <a:avLst>
                <a:gd name="adj" fmla="val 783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74168" y="1733550"/>
              <a:ext cx="181070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18852" y="1769269"/>
              <a:ext cx="17222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复杂度（2n = N 个输入）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6679883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37998" y="2110740"/>
              <a:ext cx="3493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每一级是 N/2 个比较器同时工作，1 步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679883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37998" y="2446020"/>
              <a:ext cx="32239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每一级把问题规模减半，共 log N 级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679883" y="28441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837998" y="2781300"/>
              <a:ext cx="4151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并行时间 O(log N)，比较器总数 (N/2)·log N</a:t>
              </a:r>
            </a:p>
          </p:txBody>
        </p:sp>
      </p:grpSp>
      <p:grpSp>
        <p:nvGrpSpPr>
          <p:cNvPr id="48" name="c2-table-2"/>
          <p:cNvGrpSpPr/>
          <p:nvPr/>
        </p:nvGrpSpPr>
        <p:grpSpPr>
          <a:xfrm>
            <a:off x="6464618" y="3415665"/>
            <a:ext cx="5193982" cy="1795462"/>
            <a:chOff x="6464618" y="3415665"/>
            <a:chExt cx="5193982" cy="1795462"/>
          </a:xfrm>
        </p:grpSpPr>
        <p:sp>
          <p:nvSpPr>
            <p:cNvPr id="29" name="Rectangle 29"/>
            <p:cNvSpPr/>
            <p:nvPr/>
          </p:nvSpPr>
          <p:spPr>
            <a:xfrm>
              <a:off x="6464618" y="3415665"/>
              <a:ext cx="5193982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34244" y="3551396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745182" y="355139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341661" y="355139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比较器数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37060" y="400002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70109" y="400002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91516" y="400002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64618" y="430815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64618" y="4312920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87304" y="444865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870109" y="44486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591516" y="44486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464618" y="47577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87793" y="4897279"/>
              <a:ext cx="4109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22723" y="48972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96743" y="489727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5120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3415665"/>
              <a:ext cx="5193982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16252" y="34156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722168" y="3415665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llout-3"/>
          <p:cNvGrpSpPr/>
          <p:nvPr/>
        </p:nvGrpSpPr>
        <p:grpSpPr>
          <a:xfrm>
            <a:off x="6464618" y="5401628"/>
            <a:ext cx="5193982" cy="863918"/>
            <a:chOff x="6464618" y="5401628"/>
            <a:chExt cx="5193982" cy="863918"/>
          </a:xfrm>
        </p:grpSpPr>
        <p:sp>
          <p:nvSpPr>
            <p:cNvPr id="49" name="Rectangle 49"/>
            <p:cNvSpPr/>
            <p:nvPr/>
          </p:nvSpPr>
          <p:spPr>
            <a:xfrm>
              <a:off x="6464618" y="5401628"/>
              <a:ext cx="5193982" cy="863918"/>
            </a:xfrm>
            <a:prstGeom prst="roundRect">
              <a:avLst>
                <a:gd name="adj" fmla="val 1323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669405" y="5733098"/>
              <a:ext cx="200026" cy="200025"/>
              <a:chOff x="6669405" y="5733098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669405" y="573309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09144" y="577754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43859" y="588867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971348" y="5590222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双调归并只能处理双调输入。两个升序序列要归并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时，把其中一个倒过来接上，就得到双调序列。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303077" cy="909257"/>
            <a:chOff x="520446" y="342900"/>
            <a:chExt cx="93030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分治技术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3030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输入双调归并网络：三级比较，输入 (8,6,4,2,0,1,3,5)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7" name="c1-table-1"/>
          <p:cNvGrpSpPr/>
          <p:nvPr/>
        </p:nvGrpSpPr>
        <p:grpSpPr>
          <a:xfrm>
            <a:off x="533400" y="1524000"/>
            <a:ext cx="4760595" cy="3600450"/>
            <a:chOff x="533400" y="1524000"/>
            <a:chExt cx="4760595" cy="36004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40005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9963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线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5134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3291" y="164544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1 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72946" y="164544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 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22601" y="164544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51814" y="2045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065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62363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73287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54818" y="1933575"/>
              <a:ext cx="103060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2294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181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6065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2363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73287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254818" y="2333625"/>
              <a:ext cx="103060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72294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51814" y="2845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6065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2363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73287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254818" y="2733675"/>
              <a:ext cx="103060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294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51814" y="32456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60655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2363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673287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254818" y="3133725"/>
              <a:ext cx="103060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72294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3400" y="35194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1814" y="36456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60655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2363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73287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4254818" y="3533775"/>
              <a:ext cx="103060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2294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9195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39243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51814" y="4045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660655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62363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73287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254818" y="3933825"/>
              <a:ext cx="103060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722942" y="40457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43195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1814" y="44457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660655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623632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673287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254818" y="4333875"/>
              <a:ext cx="103060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722942" y="44457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33400" y="47196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33400" y="47244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1814" y="48458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660655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623632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673287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254818" y="4733925"/>
              <a:ext cx="1030605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4722942" y="48458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3400" y="1524000"/>
              <a:ext cx="4760595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126396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214122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3190875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424053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9" name="c1-text-2"/>
          <p:cNvGrpSpPr/>
          <p:nvPr/>
        </p:nvGrpSpPr>
        <p:grpSpPr>
          <a:xfrm>
            <a:off x="527685" y="5312569"/>
            <a:ext cx="4435094" cy="441008"/>
            <a:chOff x="527685" y="5312569"/>
            <a:chExt cx="4435094" cy="441008"/>
          </a:xfrm>
        </p:grpSpPr>
        <p:sp>
          <p:nvSpPr>
            <p:cNvPr id="78" name="TextBox 78"/>
            <p:cNvSpPr txBox="1"/>
            <p:nvPr/>
          </p:nvSpPr>
          <p:spPr>
            <a:xfrm>
              <a:off x="527685" y="5312569"/>
              <a:ext cx="4435094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级：线 i 与 i+4 比较（两个子序列配对）；第 2 级：在每半内 i 与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i+2 比较，即两个 (2,2) 双调归并网络；第 3 级：相邻两线比较。</a:t>
              </a:r>
            </a:p>
          </p:txBody>
        </p:sp>
      </p:grpSp>
      <p:grpSp>
        <p:nvGrpSpPr>
          <p:cNvPr id="164" name="c2-graph-1"/>
          <p:cNvGrpSpPr/>
          <p:nvPr/>
        </p:nvGrpSpPr>
        <p:grpSpPr>
          <a:xfrm>
            <a:off x="5795533" y="1793557"/>
            <a:ext cx="5667281" cy="3721990"/>
            <a:chOff x="5795533" y="1793557"/>
            <a:chExt cx="5667281" cy="3721990"/>
          </a:xfrm>
        </p:grpSpPr>
        <p:sp>
          <p:nvSpPr>
            <p:cNvPr id="80" name="Freeform 80"/>
            <p:cNvSpPr/>
            <p:nvPr/>
          </p:nvSpPr>
          <p:spPr>
            <a:xfrm>
              <a:off x="5915978" y="1859280"/>
              <a:ext cx="595312" cy="9525"/>
            </a:xfrm>
            <a:custGeom>
              <a:avLst/>
              <a:gdLst/>
              <a:ahLst/>
              <a:cxnLst/>
              <a:rect l="l" t="t" r="r" b="b"/>
              <a:pathLst>
                <a:path w="595312" h="9525">
                  <a:moveTo>
                    <a:pt x="0" y="0"/>
                  </a:moveTo>
                  <a:lnTo>
                    <a:pt x="5953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1" name="Freeform 81"/>
            <p:cNvSpPr/>
            <p:nvPr/>
          </p:nvSpPr>
          <p:spPr>
            <a:xfrm>
              <a:off x="6625590" y="1859280"/>
              <a:ext cx="1945957" cy="9525"/>
            </a:xfrm>
            <a:custGeom>
              <a:avLst/>
              <a:gdLst/>
              <a:ahLst/>
              <a:cxnLst/>
              <a:rect l="l" t="t" r="r" b="b"/>
              <a:pathLst>
                <a:path w="1945957" h="9525">
                  <a:moveTo>
                    <a:pt x="0" y="0"/>
                  </a:moveTo>
                  <a:lnTo>
                    <a:pt x="194595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2" name="Freeform 82"/>
            <p:cNvSpPr/>
            <p:nvPr/>
          </p:nvSpPr>
          <p:spPr>
            <a:xfrm>
              <a:off x="8685848" y="1859280"/>
              <a:ext cx="1704022" cy="9525"/>
            </a:xfrm>
            <a:custGeom>
              <a:avLst/>
              <a:gdLst/>
              <a:ahLst/>
              <a:cxnLst/>
              <a:rect l="l" t="t" r="r" b="b"/>
              <a:pathLst>
                <a:path w="1704022" h="9525">
                  <a:moveTo>
                    <a:pt x="0" y="0"/>
                  </a:moveTo>
                  <a:lnTo>
                    <a:pt x="17040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10504170" y="1859280"/>
              <a:ext cx="837248" cy="9525"/>
            </a:xfrm>
            <a:custGeom>
              <a:avLst/>
              <a:gdLst/>
              <a:ahLst/>
              <a:cxnLst/>
              <a:rect l="l" t="t" r="r" b="b"/>
              <a:pathLst>
                <a:path w="837248" h="9525">
                  <a:moveTo>
                    <a:pt x="0" y="0"/>
                  </a:moveTo>
                  <a:lnTo>
                    <a:pt x="8372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4" name="Freeform 84"/>
            <p:cNvSpPr/>
            <p:nvPr/>
          </p:nvSpPr>
          <p:spPr>
            <a:xfrm>
              <a:off x="5915978" y="2361248"/>
              <a:ext cx="959167" cy="9525"/>
            </a:xfrm>
            <a:custGeom>
              <a:avLst/>
              <a:gdLst/>
              <a:ahLst/>
              <a:cxnLst/>
              <a:rect l="l" t="t" r="r" b="b"/>
              <a:pathLst>
                <a:path w="959167" h="9525">
                  <a:moveTo>
                    <a:pt x="0" y="0"/>
                  </a:moveTo>
                  <a:lnTo>
                    <a:pt x="95916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6989445" y="2361248"/>
              <a:ext cx="2006918" cy="9525"/>
            </a:xfrm>
            <a:custGeom>
              <a:avLst/>
              <a:gdLst/>
              <a:ahLst/>
              <a:cxnLst/>
              <a:rect l="l" t="t" r="r" b="b"/>
              <a:pathLst>
                <a:path w="2006918" h="9525">
                  <a:moveTo>
                    <a:pt x="0" y="0"/>
                  </a:moveTo>
                  <a:lnTo>
                    <a:pt x="20069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9110662" y="2361248"/>
              <a:ext cx="1279207" cy="9525"/>
            </a:xfrm>
            <a:custGeom>
              <a:avLst/>
              <a:gdLst/>
              <a:ahLst/>
              <a:cxnLst/>
              <a:rect l="l" t="t" r="r" b="b"/>
              <a:pathLst>
                <a:path w="1279207" h="9525">
                  <a:moveTo>
                    <a:pt x="0" y="0"/>
                  </a:moveTo>
                  <a:lnTo>
                    <a:pt x="12792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7" name="Freeform 87"/>
            <p:cNvSpPr/>
            <p:nvPr/>
          </p:nvSpPr>
          <p:spPr>
            <a:xfrm>
              <a:off x="10504170" y="2361248"/>
              <a:ext cx="837248" cy="9525"/>
            </a:xfrm>
            <a:custGeom>
              <a:avLst/>
              <a:gdLst/>
              <a:ahLst/>
              <a:cxnLst/>
              <a:rect l="l" t="t" r="r" b="b"/>
              <a:pathLst>
                <a:path w="837248" h="9525">
                  <a:moveTo>
                    <a:pt x="0" y="0"/>
                  </a:moveTo>
                  <a:lnTo>
                    <a:pt x="8372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5915978" y="2863215"/>
              <a:ext cx="1323022" cy="9525"/>
            </a:xfrm>
            <a:custGeom>
              <a:avLst/>
              <a:gdLst/>
              <a:ahLst/>
              <a:cxnLst/>
              <a:rect l="l" t="t" r="r" b="b"/>
              <a:pathLst>
                <a:path w="1323022" h="9525">
                  <a:moveTo>
                    <a:pt x="0" y="0"/>
                  </a:moveTo>
                  <a:lnTo>
                    <a:pt x="13230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7353300" y="2863215"/>
              <a:ext cx="1218247" cy="9525"/>
            </a:xfrm>
            <a:custGeom>
              <a:avLst/>
              <a:gdLst/>
              <a:ahLst/>
              <a:cxnLst/>
              <a:rect l="l" t="t" r="r" b="b"/>
              <a:pathLst>
                <a:path w="1218247" h="9525">
                  <a:moveTo>
                    <a:pt x="0" y="0"/>
                  </a:moveTo>
                  <a:lnTo>
                    <a:pt x="12182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8685848" y="2863215"/>
              <a:ext cx="1704022" cy="9525"/>
            </a:xfrm>
            <a:custGeom>
              <a:avLst/>
              <a:gdLst/>
              <a:ahLst/>
              <a:cxnLst/>
              <a:rect l="l" t="t" r="r" b="b"/>
              <a:pathLst>
                <a:path w="1704022" h="9525">
                  <a:moveTo>
                    <a:pt x="0" y="0"/>
                  </a:moveTo>
                  <a:lnTo>
                    <a:pt x="17040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10504170" y="2863215"/>
              <a:ext cx="837248" cy="9525"/>
            </a:xfrm>
            <a:custGeom>
              <a:avLst/>
              <a:gdLst/>
              <a:ahLst/>
              <a:cxnLst/>
              <a:rect l="l" t="t" r="r" b="b"/>
              <a:pathLst>
                <a:path w="837248" h="9525">
                  <a:moveTo>
                    <a:pt x="0" y="0"/>
                  </a:moveTo>
                  <a:lnTo>
                    <a:pt x="8372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5915978" y="3366135"/>
              <a:ext cx="1685925" cy="9525"/>
            </a:xfrm>
            <a:custGeom>
              <a:avLst/>
              <a:gdLst/>
              <a:ahLst/>
              <a:cxnLst/>
              <a:rect l="l" t="t" r="r" b="b"/>
              <a:pathLst>
                <a:path w="1685925" h="9525">
                  <a:moveTo>
                    <a:pt x="0" y="0"/>
                  </a:moveTo>
                  <a:lnTo>
                    <a:pt x="16859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3" name="Freeform 93"/>
            <p:cNvSpPr/>
            <p:nvPr/>
          </p:nvSpPr>
          <p:spPr>
            <a:xfrm>
              <a:off x="7716202" y="3366135"/>
              <a:ext cx="1280160" cy="9525"/>
            </a:xfrm>
            <a:custGeom>
              <a:avLst/>
              <a:gdLst/>
              <a:ahLst/>
              <a:cxnLst/>
              <a:rect l="l" t="t" r="r" b="b"/>
              <a:pathLst>
                <a:path w="1280160" h="9525">
                  <a:moveTo>
                    <a:pt x="0" y="0"/>
                  </a:moveTo>
                  <a:lnTo>
                    <a:pt x="12801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110662" y="3366135"/>
              <a:ext cx="1279207" cy="9525"/>
            </a:xfrm>
            <a:custGeom>
              <a:avLst/>
              <a:gdLst/>
              <a:ahLst/>
              <a:cxnLst/>
              <a:rect l="l" t="t" r="r" b="b"/>
              <a:pathLst>
                <a:path w="1279207" h="9525">
                  <a:moveTo>
                    <a:pt x="0" y="0"/>
                  </a:moveTo>
                  <a:lnTo>
                    <a:pt x="12792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10504170" y="3366135"/>
              <a:ext cx="837248" cy="9525"/>
            </a:xfrm>
            <a:custGeom>
              <a:avLst/>
              <a:gdLst/>
              <a:ahLst/>
              <a:cxnLst/>
              <a:rect l="l" t="t" r="r" b="b"/>
              <a:pathLst>
                <a:path w="837248" h="9525">
                  <a:moveTo>
                    <a:pt x="0" y="0"/>
                  </a:moveTo>
                  <a:lnTo>
                    <a:pt x="8372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5915978" y="3868102"/>
              <a:ext cx="595312" cy="9525"/>
            </a:xfrm>
            <a:custGeom>
              <a:avLst/>
              <a:gdLst/>
              <a:ahLst/>
              <a:cxnLst/>
              <a:rect l="l" t="t" r="r" b="b"/>
              <a:pathLst>
                <a:path w="595312" h="9525">
                  <a:moveTo>
                    <a:pt x="0" y="0"/>
                  </a:moveTo>
                  <a:lnTo>
                    <a:pt x="5953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6625590" y="3868102"/>
              <a:ext cx="1945957" cy="9525"/>
            </a:xfrm>
            <a:custGeom>
              <a:avLst/>
              <a:gdLst/>
              <a:ahLst/>
              <a:cxnLst/>
              <a:rect l="l" t="t" r="r" b="b"/>
              <a:pathLst>
                <a:path w="1945957" h="9525">
                  <a:moveTo>
                    <a:pt x="0" y="0"/>
                  </a:moveTo>
                  <a:lnTo>
                    <a:pt x="194595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8685848" y="3868102"/>
              <a:ext cx="1704022" cy="9525"/>
            </a:xfrm>
            <a:custGeom>
              <a:avLst/>
              <a:gdLst/>
              <a:ahLst/>
              <a:cxnLst/>
              <a:rect l="l" t="t" r="r" b="b"/>
              <a:pathLst>
                <a:path w="1704022" h="9525">
                  <a:moveTo>
                    <a:pt x="0" y="0"/>
                  </a:moveTo>
                  <a:lnTo>
                    <a:pt x="17040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10504170" y="3868102"/>
              <a:ext cx="837248" cy="9525"/>
            </a:xfrm>
            <a:custGeom>
              <a:avLst/>
              <a:gdLst/>
              <a:ahLst/>
              <a:cxnLst/>
              <a:rect l="l" t="t" r="r" b="b"/>
              <a:pathLst>
                <a:path w="837248" h="9525">
                  <a:moveTo>
                    <a:pt x="0" y="0"/>
                  </a:moveTo>
                  <a:lnTo>
                    <a:pt x="8372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0" name="Freeform 100"/>
            <p:cNvSpPr/>
            <p:nvPr/>
          </p:nvSpPr>
          <p:spPr>
            <a:xfrm>
              <a:off x="5915978" y="4371022"/>
              <a:ext cx="959167" cy="9525"/>
            </a:xfrm>
            <a:custGeom>
              <a:avLst/>
              <a:gdLst/>
              <a:ahLst/>
              <a:cxnLst/>
              <a:rect l="l" t="t" r="r" b="b"/>
              <a:pathLst>
                <a:path w="959167" h="9525">
                  <a:moveTo>
                    <a:pt x="0" y="0"/>
                  </a:moveTo>
                  <a:lnTo>
                    <a:pt x="95916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6989445" y="4371022"/>
              <a:ext cx="2006918" cy="9525"/>
            </a:xfrm>
            <a:custGeom>
              <a:avLst/>
              <a:gdLst/>
              <a:ahLst/>
              <a:cxnLst/>
              <a:rect l="l" t="t" r="r" b="b"/>
              <a:pathLst>
                <a:path w="2006918" h="9525">
                  <a:moveTo>
                    <a:pt x="0" y="0"/>
                  </a:moveTo>
                  <a:lnTo>
                    <a:pt x="200691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2" name="Freeform 102"/>
            <p:cNvSpPr/>
            <p:nvPr/>
          </p:nvSpPr>
          <p:spPr>
            <a:xfrm>
              <a:off x="9110662" y="4371022"/>
              <a:ext cx="1279207" cy="9525"/>
            </a:xfrm>
            <a:custGeom>
              <a:avLst/>
              <a:gdLst/>
              <a:ahLst/>
              <a:cxnLst/>
              <a:rect l="l" t="t" r="r" b="b"/>
              <a:pathLst>
                <a:path w="1279207" h="9525">
                  <a:moveTo>
                    <a:pt x="0" y="0"/>
                  </a:moveTo>
                  <a:lnTo>
                    <a:pt x="12792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10504170" y="4371022"/>
              <a:ext cx="837248" cy="9525"/>
            </a:xfrm>
            <a:custGeom>
              <a:avLst/>
              <a:gdLst/>
              <a:ahLst/>
              <a:cxnLst/>
              <a:rect l="l" t="t" r="r" b="b"/>
              <a:pathLst>
                <a:path w="837248" h="9525">
                  <a:moveTo>
                    <a:pt x="0" y="0"/>
                  </a:moveTo>
                  <a:lnTo>
                    <a:pt x="8372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5915978" y="4872990"/>
              <a:ext cx="1323022" cy="9525"/>
            </a:xfrm>
            <a:custGeom>
              <a:avLst/>
              <a:gdLst/>
              <a:ahLst/>
              <a:cxnLst/>
              <a:rect l="l" t="t" r="r" b="b"/>
              <a:pathLst>
                <a:path w="1323022" h="9525">
                  <a:moveTo>
                    <a:pt x="0" y="0"/>
                  </a:moveTo>
                  <a:lnTo>
                    <a:pt x="13230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5" name="Freeform 105"/>
            <p:cNvSpPr/>
            <p:nvPr/>
          </p:nvSpPr>
          <p:spPr>
            <a:xfrm>
              <a:off x="7353300" y="4872990"/>
              <a:ext cx="1218247" cy="9525"/>
            </a:xfrm>
            <a:custGeom>
              <a:avLst/>
              <a:gdLst/>
              <a:ahLst/>
              <a:cxnLst/>
              <a:rect l="l" t="t" r="r" b="b"/>
              <a:pathLst>
                <a:path w="1218247" h="9525">
                  <a:moveTo>
                    <a:pt x="0" y="0"/>
                  </a:moveTo>
                  <a:lnTo>
                    <a:pt x="12182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6" name="Freeform 106"/>
            <p:cNvSpPr/>
            <p:nvPr/>
          </p:nvSpPr>
          <p:spPr>
            <a:xfrm>
              <a:off x="8685848" y="4872990"/>
              <a:ext cx="1704022" cy="9525"/>
            </a:xfrm>
            <a:custGeom>
              <a:avLst/>
              <a:gdLst/>
              <a:ahLst/>
              <a:cxnLst/>
              <a:rect l="l" t="t" r="r" b="b"/>
              <a:pathLst>
                <a:path w="1704022" h="9525">
                  <a:moveTo>
                    <a:pt x="0" y="0"/>
                  </a:moveTo>
                  <a:lnTo>
                    <a:pt x="170402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7" name="Freeform 107"/>
            <p:cNvSpPr/>
            <p:nvPr/>
          </p:nvSpPr>
          <p:spPr>
            <a:xfrm>
              <a:off x="10504170" y="4872990"/>
              <a:ext cx="837248" cy="9525"/>
            </a:xfrm>
            <a:custGeom>
              <a:avLst/>
              <a:gdLst/>
              <a:ahLst/>
              <a:cxnLst/>
              <a:rect l="l" t="t" r="r" b="b"/>
              <a:pathLst>
                <a:path w="837248" h="9525">
                  <a:moveTo>
                    <a:pt x="0" y="0"/>
                  </a:moveTo>
                  <a:lnTo>
                    <a:pt x="8372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5915978" y="5374958"/>
              <a:ext cx="1685925" cy="9525"/>
            </a:xfrm>
            <a:custGeom>
              <a:avLst/>
              <a:gdLst/>
              <a:ahLst/>
              <a:cxnLst/>
              <a:rect l="l" t="t" r="r" b="b"/>
              <a:pathLst>
                <a:path w="1685925" h="9525">
                  <a:moveTo>
                    <a:pt x="0" y="0"/>
                  </a:moveTo>
                  <a:lnTo>
                    <a:pt x="16859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9" name="Freeform 109"/>
            <p:cNvSpPr/>
            <p:nvPr/>
          </p:nvSpPr>
          <p:spPr>
            <a:xfrm>
              <a:off x="7716202" y="5374958"/>
              <a:ext cx="1280160" cy="9525"/>
            </a:xfrm>
            <a:custGeom>
              <a:avLst/>
              <a:gdLst/>
              <a:ahLst/>
              <a:cxnLst/>
              <a:rect l="l" t="t" r="r" b="b"/>
              <a:pathLst>
                <a:path w="1280160" h="9525">
                  <a:moveTo>
                    <a:pt x="0" y="0"/>
                  </a:moveTo>
                  <a:lnTo>
                    <a:pt x="128016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0" name="Freeform 110"/>
            <p:cNvSpPr/>
            <p:nvPr/>
          </p:nvSpPr>
          <p:spPr>
            <a:xfrm>
              <a:off x="9110662" y="5374958"/>
              <a:ext cx="1279207" cy="9525"/>
            </a:xfrm>
            <a:custGeom>
              <a:avLst/>
              <a:gdLst/>
              <a:ahLst/>
              <a:cxnLst/>
              <a:rect l="l" t="t" r="r" b="b"/>
              <a:pathLst>
                <a:path w="1279207" h="9525">
                  <a:moveTo>
                    <a:pt x="0" y="0"/>
                  </a:moveTo>
                  <a:lnTo>
                    <a:pt x="127920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10504170" y="5374958"/>
              <a:ext cx="837248" cy="9525"/>
            </a:xfrm>
            <a:custGeom>
              <a:avLst/>
              <a:gdLst/>
              <a:ahLst/>
              <a:cxnLst/>
              <a:rect l="l" t="t" r="r" b="b"/>
              <a:pathLst>
                <a:path w="837248" h="9525">
                  <a:moveTo>
                    <a:pt x="0" y="0"/>
                  </a:moveTo>
                  <a:lnTo>
                    <a:pt x="8372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12" name="Freeform 112"/>
            <p:cNvSpPr/>
            <p:nvPr/>
          </p:nvSpPr>
          <p:spPr>
            <a:xfrm>
              <a:off x="6568440" y="1916430"/>
              <a:ext cx="9525" cy="1894523"/>
            </a:xfrm>
            <a:custGeom>
              <a:avLst/>
              <a:gdLst/>
              <a:ahLst/>
              <a:cxnLst/>
              <a:rect l="l" t="t" r="r" b="b"/>
              <a:pathLst>
                <a:path w="9525" h="1894523">
                  <a:moveTo>
                    <a:pt x="0" y="0"/>
                  </a:moveTo>
                  <a:lnTo>
                    <a:pt x="0" y="1894523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3" name="Freeform 113"/>
            <p:cNvSpPr/>
            <p:nvPr/>
          </p:nvSpPr>
          <p:spPr>
            <a:xfrm>
              <a:off x="6932295" y="2418398"/>
              <a:ext cx="9525" cy="1895475"/>
            </a:xfrm>
            <a:custGeom>
              <a:avLst/>
              <a:gdLst/>
              <a:ahLst/>
              <a:cxnLst/>
              <a:rect l="l" t="t" r="r" b="b"/>
              <a:pathLst>
                <a:path w="9525" h="1895475">
                  <a:moveTo>
                    <a:pt x="0" y="0"/>
                  </a:moveTo>
                  <a:lnTo>
                    <a:pt x="0" y="189547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4" name="Freeform 114"/>
            <p:cNvSpPr/>
            <p:nvPr/>
          </p:nvSpPr>
          <p:spPr>
            <a:xfrm>
              <a:off x="7296150" y="2920365"/>
              <a:ext cx="9525" cy="1895475"/>
            </a:xfrm>
            <a:custGeom>
              <a:avLst/>
              <a:gdLst/>
              <a:ahLst/>
              <a:cxnLst/>
              <a:rect l="l" t="t" r="r" b="b"/>
              <a:pathLst>
                <a:path w="9525" h="1895475">
                  <a:moveTo>
                    <a:pt x="0" y="0"/>
                  </a:moveTo>
                  <a:lnTo>
                    <a:pt x="0" y="189547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5" name="Freeform 115"/>
            <p:cNvSpPr/>
            <p:nvPr/>
          </p:nvSpPr>
          <p:spPr>
            <a:xfrm>
              <a:off x="7659052" y="3423285"/>
              <a:ext cx="9525" cy="1894522"/>
            </a:xfrm>
            <a:custGeom>
              <a:avLst/>
              <a:gdLst/>
              <a:ahLst/>
              <a:cxnLst/>
              <a:rect l="l" t="t" r="r" b="b"/>
              <a:pathLst>
                <a:path w="9525" h="1894522">
                  <a:moveTo>
                    <a:pt x="0" y="0"/>
                  </a:moveTo>
                  <a:lnTo>
                    <a:pt x="0" y="1894522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6" name="Freeform 116"/>
            <p:cNvSpPr/>
            <p:nvPr/>
          </p:nvSpPr>
          <p:spPr>
            <a:xfrm>
              <a:off x="8628698" y="1916430"/>
              <a:ext cx="9525" cy="889635"/>
            </a:xfrm>
            <a:custGeom>
              <a:avLst/>
              <a:gdLst/>
              <a:ahLst/>
              <a:cxnLst/>
              <a:rect l="l" t="t" r="r" b="b"/>
              <a:pathLst>
                <a:path w="9525" h="889635">
                  <a:moveTo>
                    <a:pt x="0" y="0"/>
                  </a:moveTo>
                  <a:lnTo>
                    <a:pt x="0" y="88963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7" name="Freeform 117"/>
            <p:cNvSpPr/>
            <p:nvPr/>
          </p:nvSpPr>
          <p:spPr>
            <a:xfrm>
              <a:off x="8628698" y="3925252"/>
              <a:ext cx="9525" cy="890588"/>
            </a:xfrm>
            <a:custGeom>
              <a:avLst/>
              <a:gdLst/>
              <a:ahLst/>
              <a:cxnLst/>
              <a:rect l="l" t="t" r="r" b="b"/>
              <a:pathLst>
                <a:path w="9525" h="890588">
                  <a:moveTo>
                    <a:pt x="0" y="0"/>
                  </a:moveTo>
                  <a:lnTo>
                    <a:pt x="0" y="890588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8" name="Freeform 118"/>
            <p:cNvSpPr/>
            <p:nvPr/>
          </p:nvSpPr>
          <p:spPr>
            <a:xfrm>
              <a:off x="9053512" y="2418398"/>
              <a:ext cx="9525" cy="890587"/>
            </a:xfrm>
            <a:custGeom>
              <a:avLst/>
              <a:gdLst/>
              <a:ahLst/>
              <a:cxnLst/>
              <a:rect l="l" t="t" r="r" b="b"/>
              <a:pathLst>
                <a:path w="9525" h="890587">
                  <a:moveTo>
                    <a:pt x="0" y="0"/>
                  </a:moveTo>
                  <a:lnTo>
                    <a:pt x="0" y="890587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19" name="Freeform 119"/>
            <p:cNvSpPr/>
            <p:nvPr/>
          </p:nvSpPr>
          <p:spPr>
            <a:xfrm>
              <a:off x="9053512" y="4428172"/>
              <a:ext cx="9525" cy="889635"/>
            </a:xfrm>
            <a:custGeom>
              <a:avLst/>
              <a:gdLst/>
              <a:ahLst/>
              <a:cxnLst/>
              <a:rect l="l" t="t" r="r" b="b"/>
              <a:pathLst>
                <a:path w="9525" h="889635">
                  <a:moveTo>
                    <a:pt x="0" y="0"/>
                  </a:moveTo>
                  <a:lnTo>
                    <a:pt x="0" y="889635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0" name="Freeform 120"/>
            <p:cNvSpPr/>
            <p:nvPr/>
          </p:nvSpPr>
          <p:spPr>
            <a:xfrm>
              <a:off x="10447020" y="1916430"/>
              <a:ext cx="9525" cy="387668"/>
            </a:xfrm>
            <a:custGeom>
              <a:avLst/>
              <a:gdLst/>
              <a:ahLst/>
              <a:cxnLst/>
              <a:rect l="l" t="t" r="r" b="b"/>
              <a:pathLst>
                <a:path w="9525" h="387668">
                  <a:moveTo>
                    <a:pt x="0" y="0"/>
                  </a:moveTo>
                  <a:lnTo>
                    <a:pt x="0" y="387668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1" name="Freeform 121"/>
            <p:cNvSpPr/>
            <p:nvPr/>
          </p:nvSpPr>
          <p:spPr>
            <a:xfrm>
              <a:off x="10447020" y="2920365"/>
              <a:ext cx="9525" cy="388620"/>
            </a:xfrm>
            <a:custGeom>
              <a:avLst/>
              <a:gdLst/>
              <a:ahLst/>
              <a:cxnLst/>
              <a:rect l="l" t="t" r="r" b="b"/>
              <a:pathLst>
                <a:path w="9525" h="388620">
                  <a:moveTo>
                    <a:pt x="0" y="0"/>
                  </a:moveTo>
                  <a:lnTo>
                    <a:pt x="0" y="38862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2" name="Freeform 122"/>
            <p:cNvSpPr/>
            <p:nvPr/>
          </p:nvSpPr>
          <p:spPr>
            <a:xfrm>
              <a:off x="10447020" y="3925252"/>
              <a:ext cx="9525" cy="388620"/>
            </a:xfrm>
            <a:custGeom>
              <a:avLst/>
              <a:gdLst/>
              <a:ahLst/>
              <a:cxnLst/>
              <a:rect l="l" t="t" r="r" b="b"/>
              <a:pathLst>
                <a:path w="9525" h="388620">
                  <a:moveTo>
                    <a:pt x="0" y="0"/>
                  </a:moveTo>
                  <a:lnTo>
                    <a:pt x="0" y="388620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3" name="Freeform 123"/>
            <p:cNvSpPr/>
            <p:nvPr/>
          </p:nvSpPr>
          <p:spPr>
            <a:xfrm>
              <a:off x="10447020" y="4930140"/>
              <a:ext cx="9525" cy="387667"/>
            </a:xfrm>
            <a:custGeom>
              <a:avLst/>
              <a:gdLst/>
              <a:ahLst/>
              <a:cxnLst/>
              <a:rect l="l" t="t" r="r" b="b"/>
              <a:pathLst>
                <a:path w="9525" h="387667">
                  <a:moveTo>
                    <a:pt x="0" y="0"/>
                  </a:moveTo>
                  <a:lnTo>
                    <a:pt x="0" y="387667"/>
                  </a:ln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24" name="Ellipse 124"/>
            <p:cNvSpPr/>
            <p:nvPr/>
          </p:nvSpPr>
          <p:spPr>
            <a:xfrm>
              <a:off x="6520815" y="1811655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5" name="Ellipse 125"/>
            <p:cNvSpPr/>
            <p:nvPr/>
          </p:nvSpPr>
          <p:spPr>
            <a:xfrm>
              <a:off x="8581072" y="1811655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6" name="Ellipse 126"/>
            <p:cNvSpPr/>
            <p:nvPr/>
          </p:nvSpPr>
          <p:spPr>
            <a:xfrm>
              <a:off x="10399395" y="1811655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7" name="Ellipse 127"/>
            <p:cNvSpPr/>
            <p:nvPr/>
          </p:nvSpPr>
          <p:spPr>
            <a:xfrm>
              <a:off x="6884670" y="2313622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8" name="Ellipse 128"/>
            <p:cNvSpPr/>
            <p:nvPr/>
          </p:nvSpPr>
          <p:spPr>
            <a:xfrm>
              <a:off x="9005888" y="2313622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29" name="Ellipse 129"/>
            <p:cNvSpPr/>
            <p:nvPr/>
          </p:nvSpPr>
          <p:spPr>
            <a:xfrm>
              <a:off x="10399395" y="2313622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0" name="Ellipse 130"/>
            <p:cNvSpPr/>
            <p:nvPr/>
          </p:nvSpPr>
          <p:spPr>
            <a:xfrm>
              <a:off x="7248525" y="2815590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1" name="Ellipse 131"/>
            <p:cNvSpPr/>
            <p:nvPr/>
          </p:nvSpPr>
          <p:spPr>
            <a:xfrm>
              <a:off x="8581072" y="2815590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2" name="Ellipse 132"/>
            <p:cNvSpPr/>
            <p:nvPr/>
          </p:nvSpPr>
          <p:spPr>
            <a:xfrm>
              <a:off x="10399395" y="2815590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3" name="Ellipse 133"/>
            <p:cNvSpPr/>
            <p:nvPr/>
          </p:nvSpPr>
          <p:spPr>
            <a:xfrm>
              <a:off x="7611428" y="3318510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4" name="Ellipse 134"/>
            <p:cNvSpPr/>
            <p:nvPr/>
          </p:nvSpPr>
          <p:spPr>
            <a:xfrm>
              <a:off x="9005888" y="3318510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5" name="Ellipse 135"/>
            <p:cNvSpPr/>
            <p:nvPr/>
          </p:nvSpPr>
          <p:spPr>
            <a:xfrm>
              <a:off x="10399395" y="3318510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6" name="Ellipse 136"/>
            <p:cNvSpPr/>
            <p:nvPr/>
          </p:nvSpPr>
          <p:spPr>
            <a:xfrm>
              <a:off x="6520815" y="3820478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7" name="Ellipse 137"/>
            <p:cNvSpPr/>
            <p:nvPr/>
          </p:nvSpPr>
          <p:spPr>
            <a:xfrm>
              <a:off x="8581072" y="3820478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8" name="Ellipse 138"/>
            <p:cNvSpPr/>
            <p:nvPr/>
          </p:nvSpPr>
          <p:spPr>
            <a:xfrm>
              <a:off x="10399395" y="3820478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9" name="Ellipse 139"/>
            <p:cNvSpPr/>
            <p:nvPr/>
          </p:nvSpPr>
          <p:spPr>
            <a:xfrm>
              <a:off x="6884670" y="4323398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0" name="Ellipse 140"/>
            <p:cNvSpPr/>
            <p:nvPr/>
          </p:nvSpPr>
          <p:spPr>
            <a:xfrm>
              <a:off x="9005888" y="4323398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1" name="Ellipse 141"/>
            <p:cNvSpPr/>
            <p:nvPr/>
          </p:nvSpPr>
          <p:spPr>
            <a:xfrm>
              <a:off x="10399395" y="4323398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2" name="Ellipse 142"/>
            <p:cNvSpPr/>
            <p:nvPr/>
          </p:nvSpPr>
          <p:spPr>
            <a:xfrm>
              <a:off x="7248525" y="4825365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3" name="Ellipse 143"/>
            <p:cNvSpPr/>
            <p:nvPr/>
          </p:nvSpPr>
          <p:spPr>
            <a:xfrm>
              <a:off x="8581072" y="4825365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4" name="Ellipse 144"/>
            <p:cNvSpPr/>
            <p:nvPr/>
          </p:nvSpPr>
          <p:spPr>
            <a:xfrm>
              <a:off x="10399395" y="4825365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5" name="Ellipse 145"/>
            <p:cNvSpPr/>
            <p:nvPr/>
          </p:nvSpPr>
          <p:spPr>
            <a:xfrm>
              <a:off x="7611428" y="5327332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6" name="Ellipse 146"/>
            <p:cNvSpPr/>
            <p:nvPr/>
          </p:nvSpPr>
          <p:spPr>
            <a:xfrm>
              <a:off x="9005888" y="5327332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7" name="Ellipse 147"/>
            <p:cNvSpPr/>
            <p:nvPr/>
          </p:nvSpPr>
          <p:spPr>
            <a:xfrm>
              <a:off x="10399395" y="5327332"/>
              <a:ext cx="95250" cy="952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5795533" y="17935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9" name="TextBox 149"/>
            <p:cNvSpPr txBox="1"/>
            <p:nvPr/>
          </p:nvSpPr>
          <p:spPr>
            <a:xfrm>
              <a:off x="11370516" y="179355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5795533" y="22955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1" name="TextBox 151"/>
            <p:cNvSpPr txBox="1"/>
            <p:nvPr/>
          </p:nvSpPr>
          <p:spPr>
            <a:xfrm>
              <a:off x="11370516" y="22955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5795533" y="2798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11370516" y="27984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5795533" y="33004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55" name="TextBox 155"/>
            <p:cNvSpPr txBox="1"/>
            <p:nvPr/>
          </p:nvSpPr>
          <p:spPr>
            <a:xfrm>
              <a:off x="11370516" y="330041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5795533" y="380333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11370516" y="380333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5795533" y="4305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11370516" y="43053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5795533" y="48072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11370516" y="48072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5795533" y="531018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11370516" y="531018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171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65" name="Rectangle 165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69" name="Group 169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7" name="Freeform 167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8" name="Freeform 168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70" name="TextBox 170"/>
            <p:cNvSpPr txBox="1"/>
            <p:nvPr/>
          </p:nvSpPr>
          <p:spPr>
            <a:xfrm>
              <a:off x="1040892" y="6028373"/>
              <a:ext cx="91302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竖线是比较器，小者留在上面那条线。第 1 级之后上半 (0,1,3,2) 进 MIN 归并，下半 (8,6,4,5) 进 MAX 归并。</a:t>
              </a:r>
            </a:p>
          </p:txBody>
        </p:sp>
      </p:grpSp>
      <p:grpSp>
        <p:nvGrpSpPr>
          <p:cNvPr id="1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2" name="TextBox 17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平衡树技术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输入放在叶子上，同一深度的结点并行计算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设计方法 3：平衡树技术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042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1：平衡树求最大值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042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2：平衡树求前缀和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10663" cy="909257"/>
            <a:chOff x="520446" y="342900"/>
            <a:chExt cx="78106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平衡树技术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106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平衡树求最大值：每层并行比较一次，log n 层到根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583609" cy="512636"/>
            <a:chOff x="526542" y="1545907"/>
            <a:chExt cx="10583609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58360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平衡树（Balanced Tree）方法把输入元素作为叶结点构筑一棵平衡二叉树，中间结点是处理结点，由叶向根或由根向叶逐层往返遍历。平衡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二叉树可以推广到平衡多叉树。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2177415"/>
            <a:ext cx="5410200" cy="1713548"/>
            <a:chOff x="533400" y="2177415"/>
            <a:chExt cx="5410200" cy="1713548"/>
          </a:xfrm>
        </p:grpSpPr>
        <p:sp>
          <p:nvSpPr>
            <p:cNvPr id="9" name="Rectangle 9"/>
            <p:cNvSpPr/>
            <p:nvPr/>
          </p:nvSpPr>
          <p:spPr>
            <a:xfrm>
              <a:off x="533400" y="2177415"/>
              <a:ext cx="5410200" cy="1713548"/>
            </a:xfrm>
            <a:prstGeom prst="roundRect">
              <a:avLst>
                <a:gd name="adj" fmla="val 555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329339"/>
              <a:ext cx="32834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2ᵐ，A[n..2n-1] 存输入，A[1..n-1] 存中间结果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873" y="2589086"/>
              <a:ext cx="2356714" cy="12221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8"/>
                </a:lnSpc>
              </a:pPr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for k = m-1 to 0 do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j = 2^k to 2^(k+1)-1 par-do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A[j] = max{A[2j], A[2j+1]}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 for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end for</a:t>
              </a:r>
              <a:br/>
              <a:r>
                <a:rPr lang="en-US" sz="9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4055745"/>
            <a:ext cx="5410200" cy="1664018"/>
            <a:chOff x="533400" y="4055745"/>
            <a:chExt cx="5410200" cy="1664018"/>
          </a:xfrm>
        </p:grpSpPr>
        <p:sp>
          <p:nvSpPr>
            <p:cNvPr id="13" name="Rectangle 13"/>
            <p:cNvSpPr/>
            <p:nvPr/>
          </p:nvSpPr>
          <p:spPr>
            <a:xfrm>
              <a:off x="533400" y="4055745"/>
              <a:ext cx="5410200" cy="1664018"/>
            </a:xfrm>
            <a:prstGeom prst="roundRect">
              <a:avLst>
                <a:gd name="adj" fmla="val 80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189095"/>
              <a:ext cx="47625" cy="139731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2475" y="423672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946" y="426958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数组即是树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4577239"/>
              <a:ext cx="46621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j 的两个孩子是 2j 和 2j+1，所以数组本身就是一棵完全二叉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树，不用指针。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7141" y="5101590"/>
              <a:ext cx="457123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= 8 时：A[8..15] 放输入；k = 2 算 A[4..7]，k = 1 算 A[2..3]，k = 0 算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A[1]。</a:t>
              </a:r>
            </a:p>
          </p:txBody>
        </p:sp>
      </p:grpSp>
      <p:grpSp>
        <p:nvGrpSpPr>
          <p:cNvPr id="29" name="c2-card-1"/>
          <p:cNvGrpSpPr/>
          <p:nvPr/>
        </p:nvGrpSpPr>
        <p:grpSpPr>
          <a:xfrm>
            <a:off x="6248400" y="2177415"/>
            <a:ext cx="5410200" cy="1471612"/>
            <a:chOff x="6248400" y="2177415"/>
            <a:chExt cx="5410200" cy="1471612"/>
          </a:xfrm>
        </p:grpSpPr>
        <p:sp>
          <p:nvSpPr>
            <p:cNvPr id="20" name="Rectangle 20"/>
            <p:cNvSpPr/>
            <p:nvPr/>
          </p:nvSpPr>
          <p:spPr>
            <a:xfrm>
              <a:off x="6248400" y="2177415"/>
              <a:ext cx="5410200" cy="1471612"/>
            </a:xfrm>
            <a:prstGeom prst="roundRect">
              <a:avLst>
                <a:gd name="adj" fmla="val 9061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429375" y="23583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10846" y="23912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复杂度分析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6438900" y="275082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94348" y="2697956"/>
              <a:ext cx="30053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并行时间 t(n) = m × O(1) = O(log n)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38900" y="303561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94348" y="2983706"/>
              <a:ext cx="30502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实际比较次数 O(n)，准确说是 n − 1 次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438900" y="332041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94348" y="3268504"/>
              <a:ext cx="4070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最大处理器数 p(n) = n/2（第一层同时比较 n/2 对）</a:t>
              </a:r>
            </a:p>
          </p:txBody>
        </p:sp>
      </p:grpSp>
      <p:grpSp>
        <p:nvGrpSpPr>
          <p:cNvPr id="54" name="c2-table-2"/>
          <p:cNvGrpSpPr/>
          <p:nvPr/>
        </p:nvGrpSpPr>
        <p:grpSpPr>
          <a:xfrm>
            <a:off x="6248400" y="3812858"/>
            <a:ext cx="5410200" cy="1906905"/>
            <a:chOff x="6248400" y="3812858"/>
            <a:chExt cx="5410200" cy="1906905"/>
          </a:xfrm>
        </p:grpSpPr>
        <p:sp>
          <p:nvSpPr>
            <p:cNvPr id="30" name="Rectangle 30"/>
            <p:cNvSpPr/>
            <p:nvPr/>
          </p:nvSpPr>
          <p:spPr>
            <a:xfrm>
              <a:off x="6248400" y="3812858"/>
              <a:ext cx="5410200" cy="38100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71858" y="39309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16278" y="393096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并行计算的结点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563796" y="39309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75386" y="4311968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m−1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83246" y="4311968"/>
              <a:ext cx="1137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A[n/2] … A[n−1]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29884" y="431196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45710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4575810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75386" y="4692968"/>
              <a:ext cx="285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m−2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83246" y="4692968"/>
              <a:ext cx="1297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A[n/4] … A[n/2−1]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29884" y="469296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49530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871858" y="507492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83246" y="50749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807627" y="50749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53340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5338762"/>
              <a:ext cx="5410200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1858" y="545592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83246" y="5455920"/>
              <a:ext cx="1470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A[1]（根，即最大值）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807627" y="54559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3812858"/>
              <a:ext cx="5410200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583805" y="381285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039350" y="3812858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5" name="Rectangle 55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1273" y="6039326"/>
              <a:ext cx="70864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把 max 换成加法、min、逻辑或这类满足结合律的运算，同一个算法就能求总和、最小值等。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41162" cy="909257"/>
            <a:chOff x="520446" y="342900"/>
            <a:chExt cx="834116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平衡树技术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411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例：n = 8，A[8..15] = (5, 2, 8, 6, 3, 7, 1, 4)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ree-1"/>
          <p:cNvGrpSpPr/>
          <p:nvPr/>
        </p:nvGrpSpPr>
        <p:grpSpPr>
          <a:xfrm>
            <a:off x="702945" y="1919288"/>
            <a:ext cx="5720715" cy="4048124"/>
            <a:chOff x="702945" y="1919288"/>
            <a:chExt cx="5720715" cy="4048124"/>
          </a:xfrm>
        </p:grpSpPr>
        <p:sp>
          <p:nvSpPr>
            <p:cNvPr id="7" name="Freeform 7"/>
            <p:cNvSpPr/>
            <p:nvPr/>
          </p:nvSpPr>
          <p:spPr>
            <a:xfrm>
              <a:off x="912495" y="4548188"/>
              <a:ext cx="378142" cy="1209675"/>
            </a:xfrm>
            <a:custGeom>
              <a:avLst/>
              <a:gdLst/>
              <a:ahLst/>
              <a:cxnLst/>
              <a:rect l="l" t="t" r="r" b="b"/>
              <a:pathLst>
                <a:path w="378142" h="1209675">
                  <a:moveTo>
                    <a:pt x="378142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90638" y="4548188"/>
              <a:ext cx="379095" cy="1209675"/>
            </a:xfrm>
            <a:custGeom>
              <a:avLst/>
              <a:gdLst/>
              <a:ahLst/>
              <a:cxnLst/>
              <a:rect l="l" t="t" r="r" b="b"/>
              <a:pathLst>
                <a:path w="379095" h="1209675">
                  <a:moveTo>
                    <a:pt x="0" y="0"/>
                  </a:moveTo>
                  <a:lnTo>
                    <a:pt x="379095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426970" y="4548188"/>
              <a:ext cx="379095" cy="1209675"/>
            </a:xfrm>
            <a:custGeom>
              <a:avLst/>
              <a:gdLst/>
              <a:ahLst/>
              <a:cxnLst/>
              <a:rect l="l" t="t" r="r" b="b"/>
              <a:pathLst>
                <a:path w="379095" h="1209675">
                  <a:moveTo>
                    <a:pt x="379095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06065" y="4548188"/>
              <a:ext cx="378142" cy="1209675"/>
            </a:xfrm>
            <a:custGeom>
              <a:avLst/>
              <a:gdLst/>
              <a:ahLst/>
              <a:cxnLst/>
              <a:rect l="l" t="t" r="r" b="b"/>
              <a:pathLst>
                <a:path w="378142" h="1209675">
                  <a:moveTo>
                    <a:pt x="0" y="0"/>
                  </a:moveTo>
                  <a:lnTo>
                    <a:pt x="378142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90638" y="3338512"/>
              <a:ext cx="757238" cy="1209675"/>
            </a:xfrm>
            <a:custGeom>
              <a:avLst/>
              <a:gdLst/>
              <a:ahLst/>
              <a:cxnLst/>
              <a:rect l="l" t="t" r="r" b="b"/>
              <a:pathLst>
                <a:path w="757238" h="1209675">
                  <a:moveTo>
                    <a:pt x="757238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047875" y="3338512"/>
              <a:ext cx="758190" cy="1209675"/>
            </a:xfrm>
            <a:custGeom>
              <a:avLst/>
              <a:gdLst/>
              <a:ahLst/>
              <a:cxnLst/>
              <a:rect l="l" t="t" r="r" b="b"/>
              <a:pathLst>
                <a:path w="758190" h="1209675">
                  <a:moveTo>
                    <a:pt x="0" y="0"/>
                  </a:moveTo>
                  <a:lnTo>
                    <a:pt x="75819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941445" y="4548188"/>
              <a:ext cx="379095" cy="1209675"/>
            </a:xfrm>
            <a:custGeom>
              <a:avLst/>
              <a:gdLst/>
              <a:ahLst/>
              <a:cxnLst/>
              <a:rect l="l" t="t" r="r" b="b"/>
              <a:pathLst>
                <a:path w="379095" h="1209675">
                  <a:moveTo>
                    <a:pt x="379095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320540" y="4548188"/>
              <a:ext cx="379095" cy="1209675"/>
            </a:xfrm>
            <a:custGeom>
              <a:avLst/>
              <a:gdLst/>
              <a:ahLst/>
              <a:cxnLst/>
              <a:rect l="l" t="t" r="r" b="b"/>
              <a:pathLst>
                <a:path w="379095" h="1209675">
                  <a:moveTo>
                    <a:pt x="0" y="0"/>
                  </a:moveTo>
                  <a:lnTo>
                    <a:pt x="379095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456872" y="4548188"/>
              <a:ext cx="378143" cy="1209675"/>
            </a:xfrm>
            <a:custGeom>
              <a:avLst/>
              <a:gdLst/>
              <a:ahLst/>
              <a:cxnLst/>
              <a:rect l="l" t="t" r="r" b="b"/>
              <a:pathLst>
                <a:path w="378143" h="1209675">
                  <a:moveTo>
                    <a:pt x="378143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835015" y="4548188"/>
              <a:ext cx="379095" cy="1209675"/>
            </a:xfrm>
            <a:custGeom>
              <a:avLst/>
              <a:gdLst/>
              <a:ahLst/>
              <a:cxnLst/>
              <a:rect l="l" t="t" r="r" b="b"/>
              <a:pathLst>
                <a:path w="379095" h="1209675">
                  <a:moveTo>
                    <a:pt x="0" y="0"/>
                  </a:moveTo>
                  <a:lnTo>
                    <a:pt x="379095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320540" y="3338512"/>
              <a:ext cx="757238" cy="1209675"/>
            </a:xfrm>
            <a:custGeom>
              <a:avLst/>
              <a:gdLst/>
              <a:ahLst/>
              <a:cxnLst/>
              <a:rect l="l" t="t" r="r" b="b"/>
              <a:pathLst>
                <a:path w="757238" h="1209675">
                  <a:moveTo>
                    <a:pt x="757238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077778" y="3338512"/>
              <a:ext cx="757238" cy="1209675"/>
            </a:xfrm>
            <a:custGeom>
              <a:avLst/>
              <a:gdLst/>
              <a:ahLst/>
              <a:cxnLst/>
              <a:rect l="l" t="t" r="r" b="b"/>
              <a:pathLst>
                <a:path w="757238" h="1209675">
                  <a:moveTo>
                    <a:pt x="0" y="0"/>
                  </a:moveTo>
                  <a:lnTo>
                    <a:pt x="757238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047875" y="2128838"/>
              <a:ext cx="1515428" cy="1209675"/>
            </a:xfrm>
            <a:custGeom>
              <a:avLst/>
              <a:gdLst/>
              <a:ahLst/>
              <a:cxnLst/>
              <a:rect l="l" t="t" r="r" b="b"/>
              <a:pathLst>
                <a:path w="1515428" h="1209675">
                  <a:moveTo>
                    <a:pt x="1515428" y="0"/>
                  </a:moveTo>
                  <a:lnTo>
                    <a:pt x="0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563302" y="2128838"/>
              <a:ext cx="1514475" cy="1209675"/>
            </a:xfrm>
            <a:custGeom>
              <a:avLst/>
              <a:gdLst/>
              <a:ahLst/>
              <a:cxnLst/>
              <a:rect l="l" t="t" r="r" b="b"/>
              <a:pathLst>
                <a:path w="1514475" h="1209675">
                  <a:moveTo>
                    <a:pt x="0" y="0"/>
                  </a:moveTo>
                  <a:lnTo>
                    <a:pt x="1514475" y="12096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702945" y="55483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460182" y="55483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42035" y="4338638"/>
              <a:ext cx="49720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17420" y="55483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974658" y="55483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557462" y="4338638"/>
              <a:ext cx="49720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799272" y="3128962"/>
              <a:ext cx="49720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31895" y="55483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490085" y="55483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071938" y="4338638"/>
              <a:ext cx="49720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247322" y="55483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04560" y="5548312"/>
              <a:ext cx="4191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86412" y="4338638"/>
              <a:ext cx="49720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829175" y="3128962"/>
              <a:ext cx="497205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314700" y="1919288"/>
              <a:ext cx="497205" cy="419100"/>
            </a:xfrm>
            <a:prstGeom prst="roundRect">
              <a:avLst>
                <a:gd name="adj" fmla="val 18182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9448" y="56973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626685" y="56973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4683" y="448770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A4=5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83923" y="56973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41160" y="56973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40111" y="448770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A5=8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81921" y="3278029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A2=8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98398" y="56973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656588" y="56973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154586" y="448770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A6=7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413825" y="56973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71063" y="569737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69061" y="448770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A7=4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11823" y="3278029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A3=7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397348" y="2068354"/>
              <a:ext cx="33190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A1=8</a:t>
              </a:r>
            </a:p>
          </p:txBody>
        </p:sp>
      </p:grpSp>
      <p:grpSp>
        <p:nvGrpSpPr>
          <p:cNvPr id="72" name="c2-table-1"/>
          <p:cNvGrpSpPr/>
          <p:nvPr/>
        </p:nvGrpSpPr>
        <p:grpSpPr>
          <a:xfrm>
            <a:off x="6898005" y="1524000"/>
            <a:ext cx="4760595" cy="2022158"/>
            <a:chOff x="6898005" y="1524000"/>
            <a:chExt cx="4760595" cy="2022158"/>
          </a:xfrm>
        </p:grpSpPr>
        <p:sp>
          <p:nvSpPr>
            <p:cNvPr id="52" name="Rectangle 52"/>
            <p:cNvSpPr/>
            <p:nvPr/>
          </p:nvSpPr>
          <p:spPr>
            <a:xfrm>
              <a:off x="6898005" y="1524000"/>
              <a:ext cx="476059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127522" y="16597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4144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本层计算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82215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27522" y="22217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76376" y="2108359"/>
              <a:ext cx="24107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A4=max(5,2)=5，A5=8，A6=7，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A7=4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830281" y="2221706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P1–P4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898005" y="26431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898005" y="2647950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127522" y="27836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76376" y="2783681"/>
              <a:ext cx="27541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A2=max(5,8)=8，A3=max(7,4)=7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830281" y="2783681"/>
              <a:ext cx="5136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P1–P2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898005" y="3092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127522" y="323230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478078" y="3107055"/>
              <a:ext cx="302799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76376" y="3232309"/>
              <a:ext cx="1297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A1=max(8,7)=8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980486" y="3232309"/>
              <a:ext cx="213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898005" y="1524000"/>
              <a:ext cx="4760595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463790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0510838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9" name="c2-cells-2"/>
          <p:cNvGrpSpPr/>
          <p:nvPr/>
        </p:nvGrpSpPr>
        <p:grpSpPr>
          <a:xfrm>
            <a:off x="6891528" y="3736658"/>
            <a:ext cx="4767072" cy="666463"/>
            <a:chOff x="6891528" y="3736658"/>
            <a:chExt cx="4767072" cy="666463"/>
          </a:xfrm>
        </p:grpSpPr>
        <p:sp>
          <p:nvSpPr>
            <p:cNvPr id="73" name="TextBox 73"/>
            <p:cNvSpPr txBox="1"/>
            <p:nvPr/>
          </p:nvSpPr>
          <p:spPr>
            <a:xfrm>
              <a:off x="6891528" y="38666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数组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7356158" y="3736658"/>
              <a:ext cx="28670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443752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7642860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730455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929562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8017157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216265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303860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502968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590562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790622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877265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9077325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163967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9364028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450670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650730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738325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9937432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0025027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0224135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0311730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10510838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0598432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10798492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0885135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11085195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1171837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11371898" y="3736658"/>
              <a:ext cx="28670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334E68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1458540" y="386667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458752" y="421243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745454" y="421243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032157" y="421243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318859" y="421243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605562" y="421243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892264" y="421243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178967" y="421243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465669" y="421243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753324" y="4212431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003747" y="421243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0290449" y="421243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577152" y="421243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863854" y="421243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150557" y="421243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437259" y="4212431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126" name="c2-callout-3"/>
          <p:cNvGrpSpPr/>
          <p:nvPr/>
        </p:nvGrpSpPr>
        <p:grpSpPr>
          <a:xfrm>
            <a:off x="6898005" y="4546282"/>
            <a:ext cx="4760595" cy="782955"/>
            <a:chOff x="6898005" y="4546282"/>
            <a:chExt cx="4760595" cy="782955"/>
          </a:xfrm>
        </p:grpSpPr>
        <p:sp>
          <p:nvSpPr>
            <p:cNvPr id="120" name="Rectangle 120"/>
            <p:cNvSpPr/>
            <p:nvPr/>
          </p:nvSpPr>
          <p:spPr>
            <a:xfrm>
              <a:off x="6898005" y="4546282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4" name="Group 124"/>
            <p:cNvGrpSpPr/>
            <p:nvPr/>
          </p:nvGrpSpPr>
          <p:grpSpPr>
            <a:xfrm>
              <a:off x="7102793" y="4837748"/>
              <a:ext cx="200026" cy="200025"/>
              <a:chOff x="7102793" y="4837748"/>
              <a:chExt cx="200026" cy="200025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7102793" y="48377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7142531" y="48821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7177247" y="49933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5" name="TextBox 125"/>
            <p:cNvSpPr txBox="1"/>
            <p:nvPr/>
          </p:nvSpPr>
          <p:spPr>
            <a:xfrm>
              <a:off x="7404735" y="4694872"/>
              <a:ext cx="3796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 步、7 次比较。第一步用 4 个处理器，之后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每步减半，处理器越来越闲。</a:t>
              </a:r>
            </a:p>
          </p:txBody>
        </p:sp>
      </p:grpSp>
      <p:grpSp>
        <p:nvGrpSpPr>
          <p:cNvPr id="12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7" name="TextBox 12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平衡树技术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平衡树的加速比与效率：处理器太多时效率很低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289303" cy="308039"/>
            <a:chOff x="525399" y="1550194"/>
            <a:chExt cx="928930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28930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串行求最大值要 n − 1 次比较。设并行用 p 个处理器、t 步，加速比 S = (n−1)/t，效率 E = S/p。</a:t>
              </a:r>
            </a:p>
          </p:txBody>
        </p:sp>
      </p:grpSp>
      <p:grpSp>
        <p:nvGrpSpPr>
          <p:cNvPr id="34" name="c1-table-1"/>
          <p:cNvGrpSpPr/>
          <p:nvPr/>
        </p:nvGrpSpPr>
        <p:grpSpPr>
          <a:xfrm>
            <a:off x="533400" y="1967865"/>
            <a:ext cx="6059805" cy="2263140"/>
            <a:chOff x="533400" y="1967865"/>
            <a:chExt cx="6059805" cy="226314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75438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8121" y="2240280"/>
              <a:ext cx="16498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方案（n = 1024）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891585" y="224028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860278" y="224028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24400" y="2106930"/>
              <a:ext cx="586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加速比</a:t>
              </a:r>
              <a:br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42661" y="2240280"/>
              <a:ext cx="609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效率 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0080" y="2861310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原算法：每对一个处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83300" y="2994660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512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07523" y="299466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2496" y="299466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102.3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512118" y="2731770"/>
              <a:ext cx="1071562" cy="73533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53017" y="2994660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4718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3476625"/>
              <a:ext cx="6059805" cy="7543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0080" y="3615690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每个处理器先串行处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 8 个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83300" y="3749040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64242" y="374904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+ 7 = 14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88027" y="3749040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73.1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512118" y="3486150"/>
              <a:ext cx="1071562" cy="73533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53017" y="3749040"/>
              <a:ext cx="38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57%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967865"/>
              <a:ext cx="6059805" cy="226314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588895" y="1967865"/>
              <a:ext cx="9525" cy="2263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15652" y="1967865"/>
              <a:ext cx="9525" cy="2263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528185" y="1967865"/>
              <a:ext cx="9525" cy="2263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97830" y="1967865"/>
              <a:ext cx="9525" cy="22631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7"/>
              <p:cNvSpPr txBox="1">
                <a:spLocks noGrp="1"/>
              </p:cNvSpPr>
              <p:nvPr/>
            </p:nvSpPr>
            <p:spPr>
              <a:xfrm>
                <a:off x="533400" y="4421505"/>
                <a:ext cx="6059805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den>
                      </m:f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E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func>
                            <m:funcPr/>
                            <m:fName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e>
                          </m:func>
                        </m:den>
                      </m:f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→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42" name="c1-callout-3"/>
          <p:cNvGrpSpPr/>
          <p:nvPr/>
        </p:nvGrpSpPr>
        <p:grpSpPr>
          <a:xfrm>
            <a:off x="533400" y="5280660"/>
            <a:ext cx="6059805" cy="782955"/>
            <a:chOff x="533400" y="5280660"/>
            <a:chExt cx="6059805" cy="782955"/>
          </a:xfrm>
        </p:grpSpPr>
        <p:sp>
          <p:nvSpPr>
            <p:cNvPr id="36" name="Rectangle 36"/>
            <p:cNvSpPr/>
            <p:nvPr/>
          </p:nvSpPr>
          <p:spPr>
            <a:xfrm>
              <a:off x="533400" y="5280660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572125"/>
              <a:ext cx="200026" cy="200026"/>
              <a:chOff x="738188" y="5572125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5721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6388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56721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429250"/>
              <a:ext cx="49777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原算法的成本 p·t = (n/2)·log n，比串行的 n − 1 大 log n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/ 2 倍，不是成本最优的。</a:t>
              </a:r>
            </a:p>
          </p:txBody>
        </p:sp>
      </p:grpSp>
      <p:grpSp>
        <p:nvGrpSpPr>
          <p:cNvPr id="53" name="c2-card-1"/>
          <p:cNvGrpSpPr/>
          <p:nvPr/>
        </p:nvGrpSpPr>
        <p:grpSpPr>
          <a:xfrm>
            <a:off x="6898005" y="1967865"/>
            <a:ext cx="4760595" cy="4095750"/>
            <a:chOff x="6898005" y="1967865"/>
            <a:chExt cx="4760595" cy="4095750"/>
          </a:xfrm>
        </p:grpSpPr>
        <p:sp>
          <p:nvSpPr>
            <p:cNvPr id="43" name="Rectangle 43"/>
            <p:cNvSpPr/>
            <p:nvPr/>
          </p:nvSpPr>
          <p:spPr>
            <a:xfrm>
              <a:off x="6898005" y="1967865"/>
              <a:ext cx="4760595" cy="4095750"/>
            </a:xfrm>
            <a:prstGeom prst="roundRect">
              <a:avLst>
                <a:gd name="adj" fmla="val 32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2101215"/>
              <a:ext cx="47625" cy="38290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45655" y="217741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01408" y="221313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补充：先串行、后并行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8035" y="2554605"/>
              <a:ext cx="41490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 = n / log n 个处理器，每个先串行求出自己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n 个数的最大值，再对 p 个局部最大值走平衡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51370" y="352425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09485" y="3461385"/>
              <a:ext cx="1721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时间仍是 O(log n)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151370" y="3859530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09485" y="3796665"/>
              <a:ext cx="3920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 p·t = O(n)，与串行同阶，效率保持在一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个常数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139178" y="4413409"/>
              <a:ext cx="38574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表中第二行取 p = 128：每个处理器 8 个数串行比较 7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次，再用 log 128 = 7 步走树。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607933" cy="909257"/>
            <a:chOff x="520446" y="342900"/>
            <a:chExt cx="86079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平衡树技术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6079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平衡树求前缀和：先由叶到根求局部和，再由根到叶播送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199035" cy="308039"/>
            <a:chOff x="525399" y="1550194"/>
            <a:chExt cx="1119903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1990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已知 X[1..n]，求 S[1..n]，Sᵢ = x₁ * x₂ * … * xᵢ，* 可以是 + 或 ×。串行算法 S[i] = S[i−1] * x[i]，时间 O(n)。</a:t>
              </a:r>
            </a:p>
          </p:txBody>
        </p:sp>
      </p:grpSp>
      <p:grpSp>
        <p:nvGrpSpPr>
          <p:cNvPr id="26" name="c1-steps-1"/>
          <p:cNvGrpSpPr/>
          <p:nvPr/>
        </p:nvGrpSpPr>
        <p:grpSpPr>
          <a:xfrm>
            <a:off x="533400" y="1977390"/>
            <a:ext cx="5107305" cy="2763488"/>
            <a:chOff x="533400" y="1977390"/>
            <a:chExt cx="5107305" cy="2763488"/>
          </a:xfrm>
        </p:grpSpPr>
        <p:sp>
          <p:nvSpPr>
            <p:cNvPr id="9" name="Rectangle 9"/>
            <p:cNvSpPr/>
            <p:nvPr/>
          </p:nvSpPr>
          <p:spPr>
            <a:xfrm>
              <a:off x="666750" y="2120265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33400" y="197739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627948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27850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3523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416433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423814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0116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304574"/>
              <a:ext cx="3679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X 初始化数组 B 的叶结点部分 B[0, j] = x[j]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2662238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正向遍历（求和）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2955131"/>
              <a:ext cx="43578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二维数组 B 记录由叶到根各结点的信息，即子树的局部和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1279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反向遍历（播送前缀和）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606641"/>
              <a:ext cx="469468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二维数组 C 记录由根到叶各结点的信息，C[h, j] 是到该子树最右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叶为止的前缀和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4880" y="41986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023" y="4491514"/>
              <a:ext cx="1700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的叶结点部分就是 S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919662"/>
            <a:ext cx="5410200" cy="1059180"/>
            <a:chOff x="533400" y="4919662"/>
            <a:chExt cx="5410200" cy="1059180"/>
          </a:xfrm>
        </p:grpSpPr>
        <p:sp>
          <p:nvSpPr>
            <p:cNvPr id="27" name="Rectangle 27"/>
            <p:cNvSpPr/>
            <p:nvPr/>
          </p:nvSpPr>
          <p:spPr>
            <a:xfrm>
              <a:off x="533400" y="4919662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5349240"/>
              <a:ext cx="200026" cy="200026"/>
              <a:chOff x="738188" y="5349240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34924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541591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544925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130" y="5068252"/>
              <a:ext cx="4415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为什么要反向走一趟：正向结束时只有根保存的是前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缀和（Sₙ），其他结点只是自己子树的和，还缺左边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那些子树的和，要从根往下补。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formula10"/>
              <p:cNvSpPr txBox="1">
                <a:spLocks noGrp="1"/>
              </p:cNvSpPr>
              <p:nvPr/>
            </p:nvSpPr>
            <p:spPr>
              <a:xfrm>
                <a:off x="6248400" y="1967865"/>
                <a:ext cx="5410200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∗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B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formula11"/>
              <p:cNvSpPr txBox="1">
                <a:spLocks noGrp="1"/>
              </p:cNvSpPr>
              <p:nvPr/>
            </p:nvSpPr>
            <p:spPr>
              <a:xfrm>
                <a:off x="6248400" y="2653665"/>
                <a:ext cx="5410200" cy="9001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C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  <m:r>
                            <m:rPr>
                              <m:sty m:val="p"/>
                            </m:r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,</m:t>
                          </m:r>
                          <m: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3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3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m:rPr>
                                  <m:nor m:val="on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为偶数</m:t>
                              </m:r>
                            </m:e>
                            <m:e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C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 xml:space="preserve"> 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 m:val="on"/>
                                      <m:ctrl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3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2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∗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B</m:t>
                              </m:r>
                              <m:d>
                                <m:dPr>
                                  <m:begChr m:val="["/>
                                  <m:sepChr m:val=""/>
                                  <m:endChr m:val="]"/>
                                  <m:grow m:val="on"/>
                                  <m:ctrl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h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,</m:t>
                                  </m:r>
                                  <m:r>
                                    <a:rPr lang="zh-CN" sz="13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 </m:t>
                              </m:r>
                              <m:r>
                                <m:rPr>
                                  <m:nor m:val="on"/>
                                </m:rPr>
                                <a:rPr lang="zh-CN" sz="13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为大于 1 的奇数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44" name="c2-card-3"/>
          <p:cNvGrpSpPr/>
          <p:nvPr/>
        </p:nvGrpSpPr>
        <p:grpSpPr>
          <a:xfrm>
            <a:off x="6248400" y="3744278"/>
            <a:ext cx="5410200" cy="2234565"/>
            <a:chOff x="6248400" y="3744278"/>
            <a:chExt cx="5410200" cy="2234565"/>
          </a:xfrm>
        </p:grpSpPr>
        <p:sp>
          <p:nvSpPr>
            <p:cNvPr id="36" name="Rectangle 36"/>
            <p:cNvSpPr/>
            <p:nvPr/>
          </p:nvSpPr>
          <p:spPr>
            <a:xfrm>
              <a:off x="6248400" y="3744278"/>
              <a:ext cx="5410200" cy="2234565"/>
            </a:xfrm>
            <a:prstGeom prst="roundRect">
              <a:avLst>
                <a:gd name="adj" fmla="val 5968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57950" y="3953828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44208" y="39895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63665" y="439388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21780" y="4331018"/>
              <a:ext cx="38821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正向 log n 步，反向 log n 步，共 O(log n)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463665" y="4729162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21780" y="4666298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 n 个（最底层同时算 n 个 C），总运算次数</a:t>
              </a:r>
              <a:br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51473" y="5283041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偶数号结点是父结点子树的最右端，前缀和与父结点相同；奇数号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结点要在左邻子树前缀和上再加自己。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049778" cy="909257"/>
            <a:chOff x="520446" y="342900"/>
            <a:chExt cx="80497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平衡树技术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0497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前缀和例：X = (3, 1, 4, 1, 5, 9, 2, 6)，* 取 +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1" name="c1-tree-1"/>
          <p:cNvGrpSpPr/>
          <p:nvPr/>
        </p:nvGrpSpPr>
        <p:grpSpPr>
          <a:xfrm>
            <a:off x="661988" y="1706880"/>
            <a:ext cx="5153024" cy="2777490"/>
            <a:chOff x="661988" y="1706880"/>
            <a:chExt cx="5153024" cy="2777490"/>
          </a:xfrm>
        </p:grpSpPr>
        <p:sp>
          <p:nvSpPr>
            <p:cNvPr id="7" name="Freeform 7"/>
            <p:cNvSpPr/>
            <p:nvPr/>
          </p:nvSpPr>
          <p:spPr>
            <a:xfrm>
              <a:off x="871538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338138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09675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0" y="0"/>
                  </a:moveTo>
                  <a:lnTo>
                    <a:pt x="338138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224088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338138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562225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0" y="0"/>
                  </a:moveTo>
                  <a:lnTo>
                    <a:pt x="338138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209675" y="2703195"/>
              <a:ext cx="676275" cy="784860"/>
            </a:xfrm>
            <a:custGeom>
              <a:avLst/>
              <a:gdLst/>
              <a:ahLst/>
              <a:cxnLst/>
              <a:rect l="l" t="t" r="r" b="b"/>
              <a:pathLst>
                <a:path w="676275" h="784860">
                  <a:moveTo>
                    <a:pt x="676275" y="0"/>
                  </a:moveTo>
                  <a:lnTo>
                    <a:pt x="0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885950" y="2703195"/>
              <a:ext cx="676275" cy="784860"/>
            </a:xfrm>
            <a:custGeom>
              <a:avLst/>
              <a:gdLst/>
              <a:ahLst/>
              <a:cxnLst/>
              <a:rect l="l" t="t" r="r" b="b"/>
              <a:pathLst>
                <a:path w="676275" h="784860">
                  <a:moveTo>
                    <a:pt x="0" y="0"/>
                  </a:moveTo>
                  <a:lnTo>
                    <a:pt x="676275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576638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338138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914775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0" y="0"/>
                  </a:moveTo>
                  <a:lnTo>
                    <a:pt x="338138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929188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338138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67325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0" y="0"/>
                  </a:moveTo>
                  <a:lnTo>
                    <a:pt x="338138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14775" y="2703195"/>
              <a:ext cx="676275" cy="784860"/>
            </a:xfrm>
            <a:custGeom>
              <a:avLst/>
              <a:gdLst/>
              <a:ahLst/>
              <a:cxnLst/>
              <a:rect l="l" t="t" r="r" b="b"/>
              <a:pathLst>
                <a:path w="676275" h="784860">
                  <a:moveTo>
                    <a:pt x="676275" y="0"/>
                  </a:moveTo>
                  <a:lnTo>
                    <a:pt x="0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591050" y="2703195"/>
              <a:ext cx="676275" cy="784860"/>
            </a:xfrm>
            <a:custGeom>
              <a:avLst/>
              <a:gdLst/>
              <a:ahLst/>
              <a:cxnLst/>
              <a:rect l="l" t="t" r="r" b="b"/>
              <a:pathLst>
                <a:path w="676275" h="784860">
                  <a:moveTo>
                    <a:pt x="0" y="0"/>
                  </a:moveTo>
                  <a:lnTo>
                    <a:pt x="676275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885950" y="1916430"/>
              <a:ext cx="1352550" cy="786765"/>
            </a:xfrm>
            <a:custGeom>
              <a:avLst/>
              <a:gdLst/>
              <a:ahLst/>
              <a:cxnLst/>
              <a:rect l="l" t="t" r="r" b="b"/>
              <a:pathLst>
                <a:path w="1352550" h="786765">
                  <a:moveTo>
                    <a:pt x="1352550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238500" y="1916430"/>
              <a:ext cx="1352550" cy="786765"/>
            </a:xfrm>
            <a:custGeom>
              <a:avLst/>
              <a:gdLst/>
              <a:ahLst/>
              <a:cxnLst/>
              <a:rect l="l" t="t" r="r" b="b"/>
              <a:pathLst>
                <a:path w="1352550" h="786765">
                  <a:moveTo>
                    <a:pt x="0" y="0"/>
                  </a:moveTo>
                  <a:lnTo>
                    <a:pt x="135255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661988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338262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00125" y="32785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2014538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2690812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2352675" y="32785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676400" y="24936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367088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043362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705225" y="32785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719638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5395912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5057775" y="32785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381500" y="24936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3028950" y="1706880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8490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04765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66628" y="34275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81040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857315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519178" y="34275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842903" y="264175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533590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209865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33634" y="34275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886140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62415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224278" y="34275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09909" y="26417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157359" y="18559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  <p:grpSp>
        <p:nvGrpSpPr>
          <p:cNvPr id="53" name="c1-text-2"/>
          <p:cNvGrpSpPr/>
          <p:nvPr/>
        </p:nvGrpSpPr>
        <p:grpSpPr>
          <a:xfrm>
            <a:off x="1490355" y="4879181"/>
            <a:ext cx="3496290" cy="249364"/>
            <a:chOff x="1490355" y="4879181"/>
            <a:chExt cx="3496290" cy="249364"/>
          </a:xfrm>
        </p:grpSpPr>
        <p:sp>
          <p:nvSpPr>
            <p:cNvPr id="52" name="TextBox 52"/>
            <p:cNvSpPr txBox="1"/>
            <p:nvPr/>
          </p:nvSpPr>
          <p:spPr>
            <a:xfrm>
              <a:off x="1490355" y="4879181"/>
              <a:ext cx="34962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正向遍历得到的 B 树：每个结点是其子树之和</a:t>
              </a:r>
            </a:p>
          </p:txBody>
        </p:sp>
      </p:grpSp>
      <p:grpSp>
        <p:nvGrpSpPr>
          <p:cNvPr id="98" name="c2-tree-1"/>
          <p:cNvGrpSpPr/>
          <p:nvPr/>
        </p:nvGrpSpPr>
        <p:grpSpPr>
          <a:xfrm>
            <a:off x="6376988" y="1706880"/>
            <a:ext cx="5153024" cy="2777490"/>
            <a:chOff x="6376988" y="1706880"/>
            <a:chExt cx="5153024" cy="2777490"/>
          </a:xfrm>
        </p:grpSpPr>
        <p:sp>
          <p:nvSpPr>
            <p:cNvPr id="54" name="Freeform 54"/>
            <p:cNvSpPr/>
            <p:nvPr/>
          </p:nvSpPr>
          <p:spPr>
            <a:xfrm>
              <a:off x="6586538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338138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6924675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0" y="0"/>
                  </a:moveTo>
                  <a:lnTo>
                    <a:pt x="338138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7939088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338138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277225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0" y="0"/>
                  </a:moveTo>
                  <a:lnTo>
                    <a:pt x="338138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6924675" y="2703195"/>
              <a:ext cx="676275" cy="784860"/>
            </a:xfrm>
            <a:custGeom>
              <a:avLst/>
              <a:gdLst/>
              <a:ahLst/>
              <a:cxnLst/>
              <a:rect l="l" t="t" r="r" b="b"/>
              <a:pathLst>
                <a:path w="676275" h="784860">
                  <a:moveTo>
                    <a:pt x="676275" y="0"/>
                  </a:moveTo>
                  <a:lnTo>
                    <a:pt x="0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600950" y="2703195"/>
              <a:ext cx="676275" cy="784860"/>
            </a:xfrm>
            <a:custGeom>
              <a:avLst/>
              <a:gdLst/>
              <a:ahLst/>
              <a:cxnLst/>
              <a:rect l="l" t="t" r="r" b="b"/>
              <a:pathLst>
                <a:path w="676275" h="784860">
                  <a:moveTo>
                    <a:pt x="0" y="0"/>
                  </a:moveTo>
                  <a:lnTo>
                    <a:pt x="676275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9291638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338138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9629775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0" y="0"/>
                  </a:moveTo>
                  <a:lnTo>
                    <a:pt x="338138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0644188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338138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10982325" y="3488055"/>
              <a:ext cx="338138" cy="786765"/>
            </a:xfrm>
            <a:custGeom>
              <a:avLst/>
              <a:gdLst/>
              <a:ahLst/>
              <a:cxnLst/>
              <a:rect l="l" t="t" r="r" b="b"/>
              <a:pathLst>
                <a:path w="338138" h="786765">
                  <a:moveTo>
                    <a:pt x="0" y="0"/>
                  </a:moveTo>
                  <a:lnTo>
                    <a:pt x="338138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9629775" y="2703195"/>
              <a:ext cx="676275" cy="784860"/>
            </a:xfrm>
            <a:custGeom>
              <a:avLst/>
              <a:gdLst/>
              <a:ahLst/>
              <a:cxnLst/>
              <a:rect l="l" t="t" r="r" b="b"/>
              <a:pathLst>
                <a:path w="676275" h="784860">
                  <a:moveTo>
                    <a:pt x="676275" y="0"/>
                  </a:moveTo>
                  <a:lnTo>
                    <a:pt x="0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10306050" y="2703195"/>
              <a:ext cx="676275" cy="784860"/>
            </a:xfrm>
            <a:custGeom>
              <a:avLst/>
              <a:gdLst/>
              <a:ahLst/>
              <a:cxnLst/>
              <a:rect l="l" t="t" r="r" b="b"/>
              <a:pathLst>
                <a:path w="676275" h="784860">
                  <a:moveTo>
                    <a:pt x="0" y="0"/>
                  </a:moveTo>
                  <a:lnTo>
                    <a:pt x="676275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600950" y="1916430"/>
              <a:ext cx="1352550" cy="786765"/>
            </a:xfrm>
            <a:custGeom>
              <a:avLst/>
              <a:gdLst/>
              <a:ahLst/>
              <a:cxnLst/>
              <a:rect l="l" t="t" r="r" b="b"/>
              <a:pathLst>
                <a:path w="1352550" h="786765">
                  <a:moveTo>
                    <a:pt x="1352550" y="0"/>
                  </a:moveTo>
                  <a:lnTo>
                    <a:pt x="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953500" y="1916430"/>
              <a:ext cx="1352550" cy="786765"/>
            </a:xfrm>
            <a:custGeom>
              <a:avLst/>
              <a:gdLst/>
              <a:ahLst/>
              <a:cxnLst/>
              <a:rect l="l" t="t" r="r" b="b"/>
              <a:pathLst>
                <a:path w="1352550" h="786765">
                  <a:moveTo>
                    <a:pt x="0" y="0"/>
                  </a:moveTo>
                  <a:lnTo>
                    <a:pt x="1352550" y="786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6376988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7053262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6715125" y="32785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7729538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8405812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8067675" y="32785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7391400" y="24936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9082088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758362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9420225" y="32785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10434638" y="40652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11110912" y="4065270"/>
              <a:ext cx="419100" cy="4191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10772775" y="327850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10096500" y="249364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8743950" y="1706880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43490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219765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881628" y="34275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896040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572315" y="421338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234178" y="342757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557903" y="264175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210496" y="421338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886771" y="421338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548634" y="34275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563046" y="421338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239321" y="421338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901184" y="342757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224909" y="264175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872359" y="185594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  <p:grpSp>
        <p:nvGrpSpPr>
          <p:cNvPr id="100" name="c2-text-2"/>
          <p:cNvGrpSpPr/>
          <p:nvPr/>
        </p:nvGrpSpPr>
        <p:grpSpPr>
          <a:xfrm>
            <a:off x="7377669" y="4879181"/>
            <a:ext cx="3151662" cy="249364"/>
            <a:chOff x="7377669" y="4879181"/>
            <a:chExt cx="3151662" cy="249364"/>
          </a:xfrm>
        </p:grpSpPr>
        <p:sp>
          <p:nvSpPr>
            <p:cNvPr id="99" name="TextBox 99"/>
            <p:cNvSpPr txBox="1"/>
            <p:nvPr/>
          </p:nvSpPr>
          <p:spPr>
            <a:xfrm>
              <a:off x="7377669" y="4879181"/>
              <a:ext cx="31516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反向遍历得到的 C 树：叶结点就是前缀和</a:t>
              </a:r>
            </a:p>
          </p:txBody>
        </p:sp>
      </p:grpSp>
      <p:grpSp>
        <p:nvGrpSpPr>
          <p:cNvPr id="106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101" name="Rectangle 101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1040130" y="5728335"/>
              <a:ext cx="97212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例如 C[1,3] = C[2,1] + B[1,3] = 9 + 14 = 23；C[0,7] = C[1,3] + B[0,7] = 23 + 2 = 25。结果 S = (3, 4, 8, 9,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14, 23, 25, 31)。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3455099" cy="2643187"/>
            <a:chOff x="667512" y="1835468"/>
            <a:chExt cx="3455099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倍增技术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每一轮把指针跳过的距离翻一倍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2158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设计方法 4：倍增技术（指针跳跃）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例：求链表中每个元素的位序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153944" cy="909257"/>
            <a:chOff x="520446" y="342900"/>
            <a:chExt cx="81539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倍增技术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1539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倍增：k 步之后，每个元素都知道距离 2ᵏ 以内的信息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631632"/>
            <a:chOff x="533400" y="1524000"/>
            <a:chExt cx="5410200" cy="16316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31632"/>
            </a:xfrm>
            <a:prstGeom prst="roundRect">
              <a:avLst>
                <a:gd name="adj" fmla="val 81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64932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12109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773" y="1769269"/>
              <a:ext cx="982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倍增 Doubling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08822" y="1768792"/>
              <a:ext cx="3210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又称指针跳跃（pointer jumping）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递归调用时，所要处理数据之间的距离逐步加倍，经过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步后即可完成距离为 2ᵏ 的所有数据的计算。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573" y="274748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特别适合处理链表或有向树之类的数据结构。</a:t>
              </a:r>
            </a:p>
          </p:txBody>
        </p:sp>
      </p:grpSp>
      <p:grpSp>
        <p:nvGrpSpPr>
          <p:cNvPr id="21" name="c1-card-2"/>
          <p:cNvGrpSpPr/>
          <p:nvPr/>
        </p:nvGrpSpPr>
        <p:grpSpPr>
          <a:xfrm>
            <a:off x="533400" y="3346132"/>
            <a:ext cx="5410200" cy="1738312"/>
            <a:chOff x="533400" y="3346132"/>
            <a:chExt cx="5410200" cy="1738312"/>
          </a:xfrm>
        </p:grpSpPr>
        <p:sp>
          <p:nvSpPr>
            <p:cNvPr id="15" name="Rectangle 15"/>
            <p:cNvSpPr/>
            <p:nvPr/>
          </p:nvSpPr>
          <p:spPr>
            <a:xfrm>
              <a:off x="533400" y="3346132"/>
              <a:ext cx="5410200" cy="1738312"/>
            </a:xfrm>
            <a:prstGeom prst="roundRect">
              <a:avLst>
                <a:gd name="adj" fmla="val 7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479482"/>
              <a:ext cx="47625" cy="14716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81050" y="355568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1258" y="35914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2078" y="3590925"/>
              <a:ext cx="30199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链表元素的位序（list ranking）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3430" y="3951922"/>
              <a:ext cx="47491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SIMD-EREW 上求链表 L[1..n] 中每个元素 Lₖ 的位序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Rₖ = Rank(Lₖ)，即 Lₖ 到表尾的距离。P[1..n] 存每个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元素后继的标号，表尾的后继是它自己。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248400" y="1524000"/>
            <a:ext cx="5410200" cy="2586990"/>
            <a:chOff x="6248400" y="1524000"/>
            <a:chExt cx="5410200" cy="2586990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2586990"/>
            </a:xfrm>
            <a:prstGeom prst="roundRect">
              <a:avLst>
                <a:gd name="adj" fmla="val 36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指针跳跃求位序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67450" y="3223260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67450" y="3411855"/>
              <a:ext cx="5372100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76416" y="1937385"/>
              <a:ext cx="2831021" cy="21008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all k ∈ L par-do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p(k) ← next(k)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初始化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if p(k) ≠ k then D(k) ← 1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else D(k) ← 0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 ⌈log n⌉ times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for all k ∈ L par-do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if p(k) ≠ p(p(k)) then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D(k) ← D(k) + D(p(k))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p(k) ← p(p(k))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for all k ∈ L par-do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R(k) ← D(k)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248400" y="4301490"/>
            <a:ext cx="5410200" cy="782955"/>
            <a:chOff x="6248400" y="4301490"/>
            <a:chExt cx="5410200" cy="782955"/>
          </a:xfrm>
        </p:grpSpPr>
        <p:sp>
          <p:nvSpPr>
            <p:cNvPr id="28" name="Rectangle 28"/>
            <p:cNvSpPr/>
            <p:nvPr/>
          </p:nvSpPr>
          <p:spPr>
            <a:xfrm>
              <a:off x="6248400" y="430149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53188" y="4592955"/>
              <a:ext cx="200026" cy="200025"/>
              <a:chOff x="6453188" y="4592955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453188" y="45929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492926" y="46374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27642" y="47485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55130" y="4450080"/>
              <a:ext cx="4444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8、9 行是“把后继的距离加到自己身上，再跳到后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继的后继”。每轮之后 p(k) 指向的距离翻倍。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991225"/>
              <a:ext cx="101987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每一轮必须同步：所有元素先读本轮开始时的 p、D，再一起写新值。如果读到别人本轮刚改过的值，距离会算错。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962371" cy="909257"/>
            <a:chOff x="520446" y="342900"/>
            <a:chExt cx="8962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8786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8957" y="407194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倍增技术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962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倍增例：7 个元素的链表 a → b → … → g，3 轮得到全部位序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33400" y="1524000"/>
            <a:ext cx="6059805" cy="2345055"/>
            <a:chOff x="533400" y="1524000"/>
            <a:chExt cx="6059805" cy="23450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686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01751" y="1658779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轮次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22954" y="1658779"/>
              <a:ext cx="14500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p：a b c d e f 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86106" y="1658779"/>
              <a:ext cx="14500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r：a b c d e f 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7604" y="2128361"/>
              <a:ext cx="979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初始化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00733" y="2128361"/>
              <a:ext cx="1094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d e f g 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63885" y="2128361"/>
              <a:ext cx="1094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1 1 1 1 1 1 0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5745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62212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7604" y="2596991"/>
              <a:ext cx="979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第一轮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00733" y="2596991"/>
              <a:ext cx="1094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d e f g g 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63885" y="2596991"/>
              <a:ext cx="1094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2 2 2 2 2 1 0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2608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7604" y="3065621"/>
              <a:ext cx="979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第二轮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00733" y="3065621"/>
              <a:ext cx="1094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f g g g g 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63885" y="3065621"/>
              <a:ext cx="1094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4 4 4 3 2 1 0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3956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400425"/>
              <a:ext cx="6059805" cy="4686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7604" y="3535204"/>
              <a:ext cx="979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第三轮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00733" y="3535204"/>
              <a:ext cx="1094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 g g g g g g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239578" y="3409950"/>
              <a:ext cx="2344102" cy="4495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63885" y="3535204"/>
              <a:ext cx="109453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6 5 4 3 2 1 0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1524000"/>
              <a:ext cx="6059805" cy="23450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862138" y="152400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225290" y="1524000"/>
              <a:ext cx="9525" cy="23450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card-2"/>
          <p:cNvGrpSpPr/>
          <p:nvPr/>
        </p:nvGrpSpPr>
        <p:grpSpPr>
          <a:xfrm>
            <a:off x="533400" y="4054792"/>
            <a:ext cx="6059805" cy="1274445"/>
            <a:chOff x="533400" y="4054792"/>
            <a:chExt cx="6059805" cy="1274445"/>
          </a:xfrm>
        </p:grpSpPr>
        <p:sp>
          <p:nvSpPr>
            <p:cNvPr id="33" name="Rectangle 33"/>
            <p:cNvSpPr/>
            <p:nvPr/>
          </p:nvSpPr>
          <p:spPr>
            <a:xfrm>
              <a:off x="533400" y="4054792"/>
              <a:ext cx="605980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542925" y="4188142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75335" y="425862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5543" y="42943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8096" y="4631531"/>
              <a:ext cx="537959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原课件把最后一行也编号为“(3)第三轮迭代”，与上一行重号，应为</a:t>
              </a:r>
            </a:p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(4)。</a:t>
              </a:r>
            </a:p>
          </p:txBody>
        </p:sp>
      </p:grpSp>
      <p:grpSp>
        <p:nvGrpSpPr>
          <p:cNvPr id="105" name="c2-graph-1"/>
          <p:cNvGrpSpPr/>
          <p:nvPr/>
        </p:nvGrpSpPr>
        <p:grpSpPr>
          <a:xfrm>
            <a:off x="7087552" y="1837372"/>
            <a:ext cx="4380548" cy="3444622"/>
            <a:chOff x="7087552" y="1837372"/>
            <a:chExt cx="4380548" cy="3444622"/>
          </a:xfrm>
        </p:grpSpPr>
        <p:sp>
          <p:nvSpPr>
            <p:cNvPr id="39" name="Freeform 39"/>
            <p:cNvSpPr/>
            <p:nvPr/>
          </p:nvSpPr>
          <p:spPr>
            <a:xfrm>
              <a:off x="7382828" y="1980248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7649528" y="19326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049578" y="1980248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8316278" y="19326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8716328" y="1980248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030652" y="19326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430702" y="1980248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745028" y="19326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145078" y="1980248"/>
              <a:ext cx="265748" cy="9525"/>
            </a:xfrm>
            <a:custGeom>
              <a:avLst/>
              <a:gdLst/>
              <a:ahLst/>
              <a:cxnLst/>
              <a:rect l="l" t="t" r="r" b="b"/>
              <a:pathLst>
                <a:path w="265748" h="9525">
                  <a:moveTo>
                    <a:pt x="0" y="0"/>
                  </a:moveTo>
                  <a:lnTo>
                    <a:pt x="265748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410825" y="19326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810875" y="1980248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1077575" y="1932622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7361872" y="3288348"/>
              <a:ext cx="2418398" cy="516890"/>
            </a:xfrm>
            <a:custGeom>
              <a:avLst/>
              <a:gdLst/>
              <a:ahLst/>
              <a:cxnLst/>
              <a:rect l="l" t="t" r="r" b="b"/>
              <a:pathLst>
                <a:path w="2418398" h="516890">
                  <a:moveTo>
                    <a:pt x="0" y="516890"/>
                  </a:moveTo>
                  <a:cubicBezTo>
                    <a:pt x="833120" y="16510"/>
                    <a:pt x="1639253" y="0"/>
                    <a:pt x="2418398" y="46736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755505" y="3714750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90488"/>
                  </a:moveTo>
                  <a:lnTo>
                    <a:pt x="0" y="81915"/>
                  </a:lnTo>
                  <a:lnTo>
                    <a:pt x="4857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8027670" y="3961448"/>
              <a:ext cx="2418398" cy="516890"/>
            </a:xfrm>
            <a:custGeom>
              <a:avLst/>
              <a:gdLst/>
              <a:ahLst/>
              <a:cxnLst/>
              <a:rect l="l" t="t" r="r" b="b"/>
              <a:pathLst>
                <a:path w="2418398" h="516890">
                  <a:moveTo>
                    <a:pt x="0" y="0"/>
                  </a:moveTo>
                  <a:cubicBezTo>
                    <a:pt x="833755" y="500380"/>
                    <a:pt x="1639888" y="516890"/>
                    <a:pt x="2418398" y="4953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10422255" y="3961448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0"/>
                  </a:moveTo>
                  <a:lnTo>
                    <a:pt x="48577" y="90488"/>
                  </a:lnTo>
                  <a:lnTo>
                    <a:pt x="0" y="857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8694420" y="3288348"/>
              <a:ext cx="2418398" cy="516890"/>
            </a:xfrm>
            <a:custGeom>
              <a:avLst/>
              <a:gdLst/>
              <a:ahLst/>
              <a:cxnLst/>
              <a:rect l="l" t="t" r="r" b="b"/>
              <a:pathLst>
                <a:path w="2418398" h="516890">
                  <a:moveTo>
                    <a:pt x="0" y="516890"/>
                  </a:moveTo>
                  <a:cubicBezTo>
                    <a:pt x="833755" y="16510"/>
                    <a:pt x="1639888" y="0"/>
                    <a:pt x="2418398" y="46736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11088052" y="3714750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90488"/>
                  </a:moveTo>
                  <a:lnTo>
                    <a:pt x="0" y="81915"/>
                  </a:lnTo>
                  <a:lnTo>
                    <a:pt x="4953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408795" y="3961448"/>
              <a:ext cx="1704023" cy="374015"/>
            </a:xfrm>
            <a:custGeom>
              <a:avLst/>
              <a:gdLst/>
              <a:ahLst/>
              <a:cxnLst/>
              <a:rect l="l" t="t" r="r" b="b"/>
              <a:pathLst>
                <a:path w="1704023" h="374015">
                  <a:moveTo>
                    <a:pt x="0" y="0"/>
                  </a:moveTo>
                  <a:cubicBezTo>
                    <a:pt x="594995" y="357505"/>
                    <a:pt x="1163003" y="374015"/>
                    <a:pt x="1704023" y="4953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11088052" y="3961448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0"/>
                  </a:moveTo>
                  <a:lnTo>
                    <a:pt x="49530" y="90488"/>
                  </a:lnTo>
                  <a:lnTo>
                    <a:pt x="0" y="857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10128885" y="3624262"/>
              <a:ext cx="975360" cy="190500"/>
            </a:xfrm>
            <a:custGeom>
              <a:avLst/>
              <a:gdLst/>
              <a:ahLst/>
              <a:cxnLst/>
              <a:rect l="l" t="t" r="r" b="b"/>
              <a:pathLst>
                <a:path w="975360" h="190500">
                  <a:moveTo>
                    <a:pt x="0" y="190500"/>
                  </a:moveTo>
                  <a:cubicBezTo>
                    <a:pt x="353060" y="13970"/>
                    <a:pt x="678180" y="0"/>
                    <a:pt x="975360" y="14859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11082338" y="3729990"/>
              <a:ext cx="106680" cy="84772"/>
            </a:xfrm>
            <a:custGeom>
              <a:avLst/>
              <a:gdLst/>
              <a:ahLst/>
              <a:cxnLst/>
              <a:rect l="l" t="t" r="r" b="b"/>
              <a:pathLst>
                <a:path w="106680" h="84772">
                  <a:moveTo>
                    <a:pt x="106680" y="84772"/>
                  </a:moveTo>
                  <a:lnTo>
                    <a:pt x="0" y="84772"/>
                  </a:lnTo>
                  <a:lnTo>
                    <a:pt x="4286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10810875" y="3883342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1077575" y="383571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7087552" y="18373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7754302" y="18373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8421052" y="18373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6" name="Ellipse 66"/>
            <p:cNvSpPr/>
            <p:nvPr/>
          </p:nvSpPr>
          <p:spPr>
            <a:xfrm>
              <a:off x="9135428" y="18373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849802" y="18373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10515600" y="1837372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11182350" y="1837372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7087552" y="374046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7754302" y="374046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8421052" y="374046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9135428" y="374046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9849802" y="374046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10515600" y="3740468"/>
              <a:ext cx="285750" cy="28575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334E6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11182350" y="3740468"/>
              <a:ext cx="285750" cy="2857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177686" y="19059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844436" y="19059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511186" y="19059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225561" y="19059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939936" y="19059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0605733" y="19059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272483" y="19059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177686" y="38080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844436" y="38080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511186" y="38080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225561" y="38080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939936" y="38080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605733" y="38080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272483" y="380809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539162" y="3336608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570319" y="33713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9205912" y="4243388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9237069" y="427815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872662" y="3336608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9903819" y="33713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10229850" y="4136708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0260054" y="41714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0586085" y="3589972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10617242" y="362473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0919460" y="3789998"/>
              <a:ext cx="144780" cy="173355"/>
            </a:xfrm>
            <a:prstGeom prst="roundRect">
              <a:avLst>
                <a:gd name="adj" fmla="val 2631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10950617" y="382476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624458" y="2422208"/>
              <a:ext cx="33076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初始：每个元素指向后继，r 都是 1（g 为 0）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818311" y="5047298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第二轮之后：指针跨 4 格，边上数字是 r</a:t>
              </a:r>
            </a:p>
          </p:txBody>
        </p:sp>
      </p:grpSp>
      <p:grpSp>
        <p:nvGrpSpPr>
          <p:cNvPr id="111" name="takeaway"/>
          <p:cNvGrpSpPr/>
          <p:nvPr/>
        </p:nvGrpSpPr>
        <p:grpSpPr>
          <a:xfrm>
            <a:off x="533400" y="5606415"/>
            <a:ext cx="11125200" cy="756285"/>
            <a:chOff x="533400" y="5606415"/>
            <a:chExt cx="11125200" cy="756285"/>
          </a:xfrm>
        </p:grpSpPr>
        <p:sp>
          <p:nvSpPr>
            <p:cNvPr id="106" name="Rectangle 106"/>
            <p:cNvSpPr/>
            <p:nvPr/>
          </p:nvSpPr>
          <p:spPr>
            <a:xfrm>
              <a:off x="533400" y="5606415"/>
              <a:ext cx="11125200" cy="756285"/>
            </a:xfrm>
            <a:prstGeom prst="roundRect">
              <a:avLst>
                <a:gd name="adj" fmla="val 15113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109" name="Group 109"/>
            <p:cNvGrpSpPr/>
            <p:nvPr/>
          </p:nvGrpSpPr>
          <p:grpSpPr>
            <a:xfrm>
              <a:off x="738188" y="5884547"/>
              <a:ext cx="200023" cy="200023"/>
              <a:chOff x="738188" y="5884547"/>
              <a:chExt cx="200023" cy="200023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738188" y="58845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871538" y="59512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0" name="TextBox 110"/>
            <p:cNvSpPr txBox="1"/>
            <p:nvPr/>
          </p:nvSpPr>
          <p:spPr>
            <a:xfrm>
              <a:off x="1040511" y="5753576"/>
              <a:ext cx="982497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⌈log 7⌉ = 3 轮，n 个处理器，并行时间 O(log n)。总加法次数约 n·log n，比串行的 n 次多，这是倍增为缩短时间付出的代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价。</a:t>
              </a:r>
            </a:p>
          </p:txBody>
        </p:sp>
      </p:grpSp>
      <p:grpSp>
        <p:nvGrpSpPr>
          <p:cNvPr id="11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2" name="TextBox 112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469130" cy="2643187"/>
            <a:chOff x="667512" y="1835468"/>
            <a:chExt cx="4469130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流水线技术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子任务前后衔接，前一段做完马上交给下一段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设计方法 5：流水线技术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例：一维脉动阵列上的离散傅里叶变换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0664996" cy="909257"/>
            <a:chOff x="520446" y="342900"/>
            <a:chExt cx="106649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流水线技术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6649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流水线：把 DFT 写成 Horner 形式，每一步都是“乘 ω 再加一个系数”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887855"/>
            <a:chOff x="533400" y="1524000"/>
            <a:chExt cx="4977765" cy="18878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53502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3346" y="1769269"/>
              <a:ext cx="1227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流水线 Pipelining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06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通过时间上重叠、空间上并行的方式，将一个计算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任务 T 分成 n 个前后衔接的子任务 T[1..n]，tₖ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的输出作为 tₖ₊₁ 的输入；tₖ 完成后 tₖ₊₁ 立即开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始，并以同样的速度计算。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602355"/>
            <a:ext cx="4977765" cy="1847850"/>
            <a:chOff x="533400" y="3602355"/>
            <a:chExt cx="4977765" cy="1847850"/>
          </a:xfrm>
        </p:grpSpPr>
        <p:sp>
          <p:nvSpPr>
            <p:cNvPr id="13" name="Rectangle 13"/>
            <p:cNvSpPr/>
            <p:nvPr/>
          </p:nvSpPr>
          <p:spPr>
            <a:xfrm>
              <a:off x="533400" y="3602355"/>
              <a:ext cx="4977765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735705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811905"/>
              <a:ext cx="149637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197" y="3847624"/>
              <a:ext cx="13930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离散傅里叶变换 DFT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3430" y="4189095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 A = [a₀, a₁, …, aₙ₋₁] 变换为 B = [b₀, b₁, …,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bₙ₋₁]，ω 是 n 次单位根。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4573" y="4806791"/>
              <a:ext cx="41744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Horner 规则把直接求值改成逐步求值，每一步形式完全相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同，可以用专用硬件（处理器）流水处理。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formula14"/>
              <p:cNvSpPr txBox="1">
                <a:spLocks noGrp="1"/>
              </p:cNvSpPr>
              <p:nvPr/>
            </p:nvSpPr>
            <p:spPr>
              <a:xfrm>
                <a:off x="5815965" y="1524000"/>
                <a:ext cx="5842635" cy="785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ff"/>
                          <m:subHide m:val="off"/>
                          <m:supHide m:val="off"/>
                          <m:ctrl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naryPr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=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  <m:sup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  <m:e>
                          <m:sSub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a</m:t>
                              </m:r>
                            </m:e>
                            <m:sub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sub>
                          </m:s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p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kj</m:t>
                              </m:r>
                            </m:sup>
                          </m:sSup>
                        </m:e>
                      </m:nary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p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sub>
                      </m:sSub>
                      <m:sSup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2j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88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sSub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sSup>
                        <m:e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  <m:r>
                                <m:rPr>
                                  <m:sty m:val="p"/>
                                </m:rP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88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d>
                          <m:r>
                            <a:rPr lang="zh-CN" sz="188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15"/>
              <p:cNvSpPr txBox="1">
                <a:spLocks noGrp="1"/>
              </p:cNvSpPr>
              <p:nvPr/>
            </p:nvSpPr>
            <p:spPr>
              <a:xfrm>
                <a:off x="5815965" y="2500312"/>
                <a:ext cx="5842635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b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⋯</m:t>
                          </m:r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sSub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p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ω</m:t>
                                      </m:r>
                                    </m:e>
                                    <m:sup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+</m:t>
                                  </m:r>
                                  <m:sSub>
                                    <m:e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a</m:t>
                                      </m:r>
                                    </m:e>
                                    <m:sub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n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−</m:t>
                                      </m:r>
                                      <m:r>
                                        <a:rPr lang="zh-CN" sz="195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 </m:t>
                              </m:r>
                              <m:sSup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ω</m:t>
                                  </m:r>
                                </m:e>
                                <m:sup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sSub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 xml:space="preserve"> </m:t>
                          </m:r>
                          <m:sSup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ω</m:t>
                              </m:r>
                            </m:e>
                            <m:sup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+⋯</m:t>
                          </m:r>
                        </m:e>
                      </m:d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 </m:t>
                      </m:r>
                      <m:sSup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ω</m:t>
                          </m:r>
                        </m:e>
                        <m:sup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a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37" name="c2-compare-3"/>
          <p:cNvGrpSpPr/>
          <p:nvPr/>
        </p:nvGrpSpPr>
        <p:grpSpPr>
          <a:xfrm>
            <a:off x="5815965" y="3186112"/>
            <a:ext cx="5842635" cy="2264092"/>
            <a:chOff x="5815965" y="3186112"/>
            <a:chExt cx="5842635" cy="2264092"/>
          </a:xfrm>
        </p:grpSpPr>
        <p:sp>
          <p:nvSpPr>
            <p:cNvPr id="22" name="Rectangle 22"/>
            <p:cNvSpPr/>
            <p:nvPr/>
          </p:nvSpPr>
          <p:spPr>
            <a:xfrm>
              <a:off x="5815965" y="3186112"/>
              <a:ext cx="2711768" cy="2264092"/>
            </a:xfrm>
            <a:prstGeom prst="roundRect">
              <a:avLst>
                <a:gd name="adj" fmla="val 589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17895" y="342042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直接求值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031230" y="3837623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189345" y="3774758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每项要单独算 ω 的幂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031230" y="4172902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89345" y="411003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各项的运算形式不同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946832" y="3186112"/>
              <a:ext cx="2711768" cy="2264092"/>
            </a:xfrm>
            <a:prstGeom prst="roundRect">
              <a:avLst>
                <a:gd name="adj" fmla="val 58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956358" y="3319462"/>
              <a:ext cx="47625" cy="19973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86862" y="3420428"/>
              <a:ext cx="1189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Horner 形式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9200198" y="3837623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58312" y="3774758"/>
              <a:ext cx="11662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 ωʲ 本身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9200198" y="4172902"/>
              <a:ext cx="64770" cy="6477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58312" y="4110038"/>
              <a:ext cx="1739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每步都是 y ← y·ωʲ +</a:t>
              </a:r>
              <a:br/>
              <a:r>
                <a:rPr lang="en-US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aₖ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8575358" y="415575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5698" y="4252912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3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8" name="Rectangle 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334E68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5991225"/>
              <a:ext cx="10148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Horner 形式把每个 bⱼ 变成 n − 1 次形式完全相同的乘加，每次乘加交给一个处理单元，就成了下页的脉动阵列。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69346" cy="909257"/>
            <a:chOff x="520446" y="342900"/>
            <a:chExt cx="756934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流水线技术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693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5 的 DFT：直接求值与 Horner 形式逐行对照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table-1"/>
          <p:cNvGrpSpPr/>
          <p:nvPr/>
        </p:nvGrpSpPr>
        <p:grpSpPr>
          <a:xfrm>
            <a:off x="533400" y="1524000"/>
            <a:ext cx="5410200" cy="2692718"/>
            <a:chOff x="533400" y="1524000"/>
            <a:chExt cx="5410200" cy="26927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4586" y="1659731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16988" y="1659731"/>
              <a:ext cx="30926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直接求值 bⱼ = yⱼ（a₄ … a₁ 的 ω 指数）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01970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0828" y="2108359"/>
              <a:ext cx="25115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a₄ω⁰ + a₃ω⁰ + a₂ω⁰ + a₁ω⁰ + a₀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1970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90828" y="2556986"/>
              <a:ext cx="25115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a₄ω⁴ + a₃ω³ + a₂ω² + a₁ω¹ + a₀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1970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90828" y="3005614"/>
              <a:ext cx="25115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a₄ω⁸ + a₃ω⁶ + a₂ω⁴ + a₁ω² + a₀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1970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192530" y="3328988"/>
              <a:ext cx="474154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290828" y="3454241"/>
              <a:ext cx="26062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a₄ω¹² + a₃ω⁹ + a₂ω⁶ + a₁ω³ + a₀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1970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192530" y="3777615"/>
              <a:ext cx="4741545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290828" y="3903821"/>
              <a:ext cx="27010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a₄ω¹⁶ + a₃ω¹² + a₂ω⁸ + a₁ω⁴ + a₀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1524000"/>
              <a:ext cx="5410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117824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card-2"/>
          <p:cNvGrpSpPr/>
          <p:nvPr/>
        </p:nvGrpSpPr>
        <p:grpSpPr>
          <a:xfrm>
            <a:off x="533400" y="4407218"/>
            <a:ext cx="5410200" cy="1887855"/>
            <a:chOff x="533400" y="4407218"/>
            <a:chExt cx="5410200" cy="1887855"/>
          </a:xfrm>
        </p:grpSpPr>
        <p:sp>
          <p:nvSpPr>
            <p:cNvPr id="31" name="Rectangle 31"/>
            <p:cNvSpPr/>
            <p:nvPr/>
          </p:nvSpPr>
          <p:spPr>
            <a:xfrm>
              <a:off x="533400" y="4407218"/>
              <a:ext cx="5410200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42925" y="4540568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1050" y="46167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1258" y="46524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73430" y="4993958"/>
              <a:ext cx="46539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y₃ 写成 a₄ω¹² + a₃ω⁶ + a₂ω⁴ + a₁ω² + a₀，y₄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 a₄ω¹⁶ + a₃ω⁶ + a₂ω⁴ + a₁ω² + a₀，后三项照抄了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y₂。第 k 项的指数应为 k·j，已按表中写法更正，并用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Python 验证与 Horner 形式数值相等。</a:t>
              </a:r>
            </a:p>
          </p:txBody>
        </p:sp>
      </p:grpSp>
      <p:grpSp>
        <p:nvGrpSpPr>
          <p:cNvPr id="58" name="c2-table-1"/>
          <p:cNvGrpSpPr/>
          <p:nvPr/>
        </p:nvGrpSpPr>
        <p:grpSpPr>
          <a:xfrm>
            <a:off x="6248400" y="1524000"/>
            <a:ext cx="5410200" cy="2692718"/>
            <a:chOff x="6248400" y="1524000"/>
            <a:chExt cx="5410200" cy="2692718"/>
          </a:xfrm>
        </p:grpSpPr>
        <p:sp>
          <p:nvSpPr>
            <p:cNvPr id="37" name="Rectangle 37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39586" y="1659731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70767" y="1659731"/>
              <a:ext cx="1015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Horner 形式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16970" y="210835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005828" y="2108359"/>
              <a:ext cx="3080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(((a₄ω⁰ + a₃)ω⁰ + a₂)ω⁰ + a₁)ω⁰ + a₀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241649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48400" y="242125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16970" y="25569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05828" y="2556986"/>
              <a:ext cx="3080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(((a₄ω¹ + a₃)ω¹ + a₂)ω¹ + a₁)ω¹ + a₀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286607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16970" y="300561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05828" y="3005614"/>
              <a:ext cx="3080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(((a₄ω² + a₃)ω² + a₂)ω² + a₁)ω² + a₀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248400" y="33147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6248400" y="3319462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16970" y="34542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005828" y="3454241"/>
              <a:ext cx="3080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(((a₄ω³ + a₃)ω³ + a₂)ω³ + a₁)ω³ + a₀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48400" y="376332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516970" y="390382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05828" y="3903821"/>
              <a:ext cx="3080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(((a₄ω⁴ + a₃)ω⁴ + a₂)ω⁴ + a₁)ω⁴ + a₀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1524000"/>
              <a:ext cx="5410200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93242" y="1524000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5" name="c2-callout-2"/>
          <p:cNvGrpSpPr/>
          <p:nvPr/>
        </p:nvGrpSpPr>
        <p:grpSpPr>
          <a:xfrm>
            <a:off x="6248400" y="4407218"/>
            <a:ext cx="5410200" cy="1887855"/>
            <a:chOff x="6248400" y="4407218"/>
            <a:chExt cx="5410200" cy="1887855"/>
          </a:xfrm>
        </p:grpSpPr>
        <p:sp>
          <p:nvSpPr>
            <p:cNvPr id="59" name="Rectangle 59"/>
            <p:cNvSpPr/>
            <p:nvPr/>
          </p:nvSpPr>
          <p:spPr>
            <a:xfrm>
              <a:off x="6248400" y="4407218"/>
              <a:ext cx="5410200" cy="1887855"/>
            </a:xfrm>
            <a:prstGeom prst="roundRect">
              <a:avLst>
                <a:gd name="adj" fmla="val 605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453188" y="5251133"/>
              <a:ext cx="200026" cy="200025"/>
              <a:chOff x="6453188" y="5251133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453188" y="52511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492926" y="52955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527642" y="54067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6755130" y="4970145"/>
              <a:ext cx="44253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右表每一行都是同一个模式：从 a₄ 出发，乘 ωʲ、加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a₃，乘 ωʲ、加 a₂……共 4 次乘加。原课件右半这组式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子是对的。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流水线技术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脉动阵列：一种乘加单元串成一排，数据像脉搏一样逐拍推进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6059805" cy="1937385"/>
            <a:chOff x="533400" y="1524000"/>
            <a:chExt cx="6059805" cy="19373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861185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5496" y="1769269"/>
              <a:ext cx="1772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脉动阵列 Systolic Array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396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基础表达式 Y = B·C + A，写成单元的输入输出就是 Yout = Xin 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Yin + A，Xout = Xin。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731770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按此制作一个脉动式乘加器单元，根据方程组的需要，把多个这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样的单元连接起来构成脉动阵列。</a:t>
              </a:r>
            </a:p>
          </p:txBody>
        </p:sp>
      </p:grpSp>
      <p:grpSp>
        <p:nvGrpSpPr>
          <p:cNvPr id="35" name="c1-graph-2"/>
          <p:cNvGrpSpPr/>
          <p:nvPr/>
        </p:nvGrpSpPr>
        <p:grpSpPr>
          <a:xfrm>
            <a:off x="632487" y="4194810"/>
            <a:ext cx="5878178" cy="1058513"/>
            <a:chOff x="632487" y="4194810"/>
            <a:chExt cx="5878178" cy="1058513"/>
          </a:xfrm>
        </p:grpSpPr>
        <p:sp>
          <p:nvSpPr>
            <p:cNvPr id="14" name="Freeform 14"/>
            <p:cNvSpPr/>
            <p:nvPr/>
          </p:nvSpPr>
          <p:spPr>
            <a:xfrm>
              <a:off x="1167765" y="4461510"/>
              <a:ext cx="420052" cy="9525"/>
            </a:xfrm>
            <a:custGeom>
              <a:avLst/>
              <a:gdLst/>
              <a:ahLst/>
              <a:cxnLst/>
              <a:rect l="l" t="t" r="r" b="b"/>
              <a:pathLst>
                <a:path w="420052" h="9525">
                  <a:moveTo>
                    <a:pt x="0" y="0"/>
                  </a:moveTo>
                  <a:lnTo>
                    <a:pt x="42005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587818" y="44138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2292668" y="4461510"/>
              <a:ext cx="506730" cy="9525"/>
            </a:xfrm>
            <a:custGeom>
              <a:avLst/>
              <a:gdLst/>
              <a:ahLst/>
              <a:cxnLst/>
              <a:rect l="l" t="t" r="r" b="b"/>
              <a:pathLst>
                <a:path w="506730" h="9525">
                  <a:moveTo>
                    <a:pt x="0" y="0"/>
                  </a:moveTo>
                  <a:lnTo>
                    <a:pt x="5067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2799398" y="44138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3504248" y="4461510"/>
              <a:ext cx="506730" cy="9525"/>
            </a:xfrm>
            <a:custGeom>
              <a:avLst/>
              <a:gdLst/>
              <a:ahLst/>
              <a:cxnLst/>
              <a:rect l="l" t="t" r="r" b="b"/>
              <a:pathLst>
                <a:path w="506730" h="9525">
                  <a:moveTo>
                    <a:pt x="0" y="0"/>
                  </a:moveTo>
                  <a:lnTo>
                    <a:pt x="50673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010978" y="44138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715828" y="4461510"/>
              <a:ext cx="507682" cy="9525"/>
            </a:xfrm>
            <a:custGeom>
              <a:avLst/>
              <a:gdLst/>
              <a:ahLst/>
              <a:cxnLst/>
              <a:rect l="l" t="t" r="r" b="b"/>
              <a:pathLst>
                <a:path w="507682" h="9525">
                  <a:moveTo>
                    <a:pt x="0" y="0"/>
                  </a:moveTo>
                  <a:lnTo>
                    <a:pt x="50768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223510" y="44138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928360" y="4461510"/>
              <a:ext cx="265747" cy="9525"/>
            </a:xfrm>
            <a:custGeom>
              <a:avLst/>
              <a:gdLst/>
              <a:ahLst/>
              <a:cxnLst/>
              <a:rect l="l" t="t" r="r" b="b"/>
              <a:pathLst>
                <a:path w="265747" h="9525">
                  <a:moveTo>
                    <a:pt x="0" y="0"/>
                  </a:moveTo>
                  <a:lnTo>
                    <a:pt x="26574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194108" y="4413885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683068" y="4194810"/>
              <a:ext cx="609600" cy="533400"/>
            </a:xfrm>
            <a:prstGeom prst="roundRect">
              <a:avLst>
                <a:gd name="adj" fmla="val 178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894648" y="4194810"/>
              <a:ext cx="609600" cy="533400"/>
            </a:xfrm>
            <a:prstGeom prst="roundRect">
              <a:avLst>
                <a:gd name="adj" fmla="val 178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106228" y="4194810"/>
              <a:ext cx="609600" cy="533400"/>
            </a:xfrm>
            <a:prstGeom prst="roundRect">
              <a:avLst>
                <a:gd name="adj" fmla="val 178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18760" y="4194810"/>
              <a:ext cx="609600" cy="533400"/>
            </a:xfrm>
            <a:prstGeom prst="roundRect">
              <a:avLst>
                <a:gd name="adj" fmla="val 17857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2487" y="4387215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ωʲ, a₄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88480" y="43872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a₃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00060" y="43872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11640" y="43872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524172" y="43872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311890" y="438721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5197" y="5003959"/>
              <a:ext cx="50762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每个单元固定存一个系数 A = aₖ；X 通道传 ωʲ，Y 通道传部分结果</a:t>
              </a:r>
            </a:p>
          </p:txBody>
        </p:sp>
      </p:grpSp>
      <p:grpSp>
        <p:nvGrpSpPr>
          <p:cNvPr id="42" name="c1-callout-3"/>
          <p:cNvGrpSpPr/>
          <p:nvPr/>
        </p:nvGrpSpPr>
        <p:grpSpPr>
          <a:xfrm>
            <a:off x="533400" y="5461635"/>
            <a:ext cx="6059805" cy="782955"/>
            <a:chOff x="533400" y="5461635"/>
            <a:chExt cx="6059805" cy="782955"/>
          </a:xfrm>
        </p:grpSpPr>
        <p:sp>
          <p:nvSpPr>
            <p:cNvPr id="36" name="Rectangle 36"/>
            <p:cNvSpPr/>
            <p:nvPr/>
          </p:nvSpPr>
          <p:spPr>
            <a:xfrm>
              <a:off x="533400" y="5461635"/>
              <a:ext cx="605980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5753100"/>
              <a:ext cx="200026" cy="200026"/>
              <a:chOff x="738188" y="5753100"/>
              <a:chExt cx="200026" cy="200026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575310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38200" y="5819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27088" y="585311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610225"/>
              <a:ext cx="4720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第一个单元 Yin = a₄，输出 a₄ωʲ + a₃；第二个单元输出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(a₄ωʲ + a₃)ωʲ + a₂……到 a₀ 单元输出的就是 bⱼ。</a:t>
              </a:r>
            </a:p>
          </p:txBody>
        </p:sp>
      </p:grpSp>
      <p:grpSp>
        <p:nvGrpSpPr>
          <p:cNvPr id="45" name="c2-image-1"/>
          <p:cNvGrpSpPr/>
          <p:nvPr/>
        </p:nvGrpSpPr>
        <p:grpSpPr>
          <a:xfrm>
            <a:off x="6898005" y="1524000"/>
            <a:ext cx="4760595" cy="3885724"/>
            <a:chOff x="6898005" y="1524000"/>
            <a:chExt cx="4760595" cy="3885724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rcRect l="22232" t="0" r="22231" b="0"/>
            <a:stretch>
              <a:fillRect/>
            </a:stretch>
          </p:blipFill>
          <p:spPr>
            <a:xfrm>
              <a:off x="6898005" y="1524000"/>
              <a:ext cx="4760595" cy="3570922"/>
            </a:xfrm>
            <a:prstGeom prst="roundRect">
              <a:avLst>
                <a:gd name="adj" fmla="val 3734"/>
              </a:avLst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7237133" y="518969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每人往桶里加一勺自己的料再往右传，几个桶同时在队伍里走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409882" cy="909257"/>
            <a:chOff x="520446" y="342900"/>
            <a:chExt cx="740988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流水线技术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40988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例：4 个单元算 5 个 bⱼ，8 拍完成，加速比 2.5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1246541" cy="308039"/>
            <a:chOff x="525399" y="1550194"/>
            <a:chExt cx="11246541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12465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四个单元依次存 a₃、a₂、a₁、a₀。y₀ 在第 1 拍进入第一个单元，之后每拍进一个；第 t 拍第 i 个单元处理的是 yₜ₋ᵢ。</a:t>
              </a:r>
            </a:p>
          </p:txBody>
        </p:sp>
      </p:grpSp>
      <p:grpSp>
        <p:nvGrpSpPr>
          <p:cNvPr id="79" name="c1-table-1"/>
          <p:cNvGrpSpPr/>
          <p:nvPr/>
        </p:nvGrpSpPr>
        <p:grpSpPr>
          <a:xfrm>
            <a:off x="533400" y="1967865"/>
            <a:ext cx="6059805" cy="4039552"/>
            <a:chOff x="533400" y="1967865"/>
            <a:chExt cx="6059805" cy="403955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05980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6536" y="2102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4341" y="2102644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a₃ 单元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56884" y="2102644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a₂ 单元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49426" y="2102644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a₁ 单元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1016" y="2102644"/>
              <a:ext cx="6108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a₀ 单元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2937" y="25512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68533" y="255127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08462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1004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2594" y="25512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86035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86512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22937" y="300085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8533" y="30008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61076" y="30008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01004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92594" y="300085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30898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2937" y="344947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68533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61076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53618" y="3449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92594" y="344947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7576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76237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2937" y="38981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433512" y="3771900"/>
              <a:ext cx="127349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68533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y₃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726055" y="3771900"/>
              <a:ext cx="127349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261076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4017645" y="3771900"/>
              <a:ext cx="127349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53618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310188" y="3771900"/>
              <a:ext cx="127349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845208" y="389810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y₀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42071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2937" y="434673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433512" y="4221480"/>
              <a:ext cx="127349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968533" y="43467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y₄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726055" y="4221480"/>
              <a:ext cx="127349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261076" y="43467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y₃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017645" y="4221480"/>
              <a:ext cx="127349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53618" y="43467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10188" y="4221480"/>
              <a:ext cx="1273492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845208" y="43467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y₁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465582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466058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22937" y="479536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015919" y="47953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261076" y="4795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y₄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53618" y="4795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y₃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845208" y="479536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y₂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510444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22937" y="524494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015919" y="52449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308462" y="524494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553618" y="52449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845208" y="52449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y₃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33400" y="55530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33400" y="555783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22937" y="569356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015919" y="569356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308462" y="569356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601004" y="569356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845208" y="569356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y₄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3400" y="1967865"/>
              <a:ext cx="6059805" cy="40395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1419225" y="1967865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2711768" y="1967865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4003358" y="1967865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5295900" y="1967865"/>
              <a:ext cx="9525" cy="40395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formula18"/>
              <p:cNvSpPr txBox="1">
                <a:spLocks noGrp="1"/>
              </p:cNvSpPr>
              <p:nvPr/>
            </p:nvSpPr>
            <p:spPr>
              <a:xfrm>
                <a:off x="6898005" y="1967865"/>
                <a:ext cx="476059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2n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107" name="c2-table-2"/>
          <p:cNvGrpSpPr/>
          <p:nvPr/>
        </p:nvGrpSpPr>
        <p:grpSpPr>
          <a:xfrm>
            <a:off x="6898005" y="2577465"/>
            <a:ext cx="4760595" cy="2244090"/>
            <a:chOff x="6898005" y="2577465"/>
            <a:chExt cx="4760595" cy="2244090"/>
          </a:xfrm>
        </p:grpSpPr>
        <p:sp>
          <p:nvSpPr>
            <p:cNvPr id="81" name="Rectangle 81"/>
            <p:cNvSpPr/>
            <p:nvPr/>
          </p:nvSpPr>
          <p:spPr>
            <a:xfrm>
              <a:off x="6898005" y="2577465"/>
              <a:ext cx="476059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471169" y="27122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量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004262" y="27122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686578" y="2712244"/>
              <a:ext cx="420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 = 5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005828" y="316087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并行拍数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935336" y="3160871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2n − 2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842737" y="316087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898005" y="34699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898005" y="3474720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005828" y="361045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串行乘加次数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840564" y="3610451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 − 1)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795351" y="361045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898005" y="39185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005828" y="4059079"/>
              <a:ext cx="692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加速比 S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982723" y="4059079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/ 2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10145078" y="3932872"/>
              <a:ext cx="15039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0747964" y="405907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2.5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898005" y="436721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6898005" y="4371975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005828" y="4507706"/>
              <a:ext cx="5200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效率 E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8694097" y="4507706"/>
              <a:ext cx="9779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/ (2n − 2)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10145078" y="4381500"/>
              <a:ext cx="150399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0635960" y="4507706"/>
              <a:ext cx="5212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62.5%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898005" y="2577465"/>
              <a:ext cx="4760595" cy="22440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8225790" y="25774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10130790" y="2577465"/>
              <a:ext cx="9525" cy="22440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4" name="c2-callout-3"/>
          <p:cNvGrpSpPr/>
          <p:nvPr/>
        </p:nvGrpSpPr>
        <p:grpSpPr>
          <a:xfrm>
            <a:off x="6898005" y="5012055"/>
            <a:ext cx="4760595" cy="1059180"/>
            <a:chOff x="6898005" y="5012055"/>
            <a:chExt cx="4760595" cy="1059180"/>
          </a:xfrm>
        </p:grpSpPr>
        <p:sp>
          <p:nvSpPr>
            <p:cNvPr id="108" name="Rectangle 108"/>
            <p:cNvSpPr/>
            <p:nvPr/>
          </p:nvSpPr>
          <p:spPr>
            <a:xfrm>
              <a:off x="6898005" y="5012055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2" name="Group 112"/>
            <p:cNvGrpSpPr/>
            <p:nvPr/>
          </p:nvGrpSpPr>
          <p:grpSpPr>
            <a:xfrm>
              <a:off x="7102793" y="5441633"/>
              <a:ext cx="200026" cy="200025"/>
              <a:chOff x="7102793" y="5441633"/>
              <a:chExt cx="200026" cy="200025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7102793" y="544163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7142531" y="548608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7177247" y="559720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3" name="TextBox 113"/>
            <p:cNvSpPr txBox="1"/>
            <p:nvPr/>
          </p:nvSpPr>
          <p:spPr>
            <a:xfrm>
              <a:off x="7404735" y="5160645"/>
              <a:ext cx="37680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4、5 拍四个单元全忙。装满和排空各占 n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− 2 拍，n 越大效率越接近 50%；连续算多组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DFT 时流水不断，效率可接近 100%。</a:t>
              </a:r>
            </a:p>
          </p:txBody>
        </p:sp>
      </p:grpSp>
      <p:grpSp>
        <p:nvGrpSpPr>
          <p:cNvPr id="1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5" name="TextBox 11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334E6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7EDF3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67512" y="1835468"/>
            <a:ext cx="4024884" cy="2643187"/>
            <a:chOff x="667512" y="1835468"/>
            <a:chExt cx="4024884" cy="264318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破对称技术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让地位相同的顶点根据编号做出不同选择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06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设计方法 6：破对称技术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例：有向环的顶点着色（n 色降到 3 色）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" name="TextBox 1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637776" cy="909257"/>
            <a:chOff x="520446" y="342900"/>
            <a:chExt cx="963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破对称技术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63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破对称：有向环上每个顶点都一样，只能靠颜色的二进制位区分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10850" cy="597598"/>
            <a:chOff x="525399" y="1550194"/>
            <a:chExt cx="10610850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10850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破对称（Symmetry Breaking）就是打破某些问题的对称性，常用于图论和随机算法问题。例：SIMD-EREW 上 n 个顶点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的有向环图顶点着色，从 n 种颜色降到 3 种。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2257425"/>
            <a:ext cx="5626418" cy="2223135"/>
            <a:chOff x="533400" y="2257425"/>
            <a:chExt cx="5626418" cy="2223135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5626418" cy="2223135"/>
            </a:xfrm>
            <a:prstGeom prst="roundRect">
              <a:avLst>
                <a:gd name="adj" fmla="val 599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390775"/>
              <a:ext cx="47625" cy="1956435"/>
            </a:xfrm>
            <a:prstGeom prst="roundRect">
              <a:avLst>
                <a:gd name="adj" fmla="val 50000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46697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5026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2844165"/>
              <a:ext cx="4672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有向环图 G = (V, E)。S(i) 是顶点 i 的后继，P(j) 是前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驱，S(i) = j 时 P(j) = i。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3465195"/>
              <a:ext cx="48729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 c[1..n] 存每个顶点的颜色，初始 c(i) = i，用二进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制表示；c(i)ₖ 是 c(i) 从低位数起的第 k 位（最低位是第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位）。</a:t>
              </a:r>
            </a:p>
          </p:txBody>
        </p:sp>
      </p:grpSp>
      <p:grpSp>
        <p:nvGrpSpPr>
          <p:cNvPr id="25" name="c1-steps-2"/>
          <p:cNvGrpSpPr/>
          <p:nvPr/>
        </p:nvGrpSpPr>
        <p:grpSpPr>
          <a:xfrm>
            <a:off x="533400" y="4680585"/>
            <a:ext cx="5318633" cy="1462373"/>
            <a:chOff x="533400" y="4680585"/>
            <a:chExt cx="5318633" cy="1462373"/>
          </a:xfrm>
        </p:grpSpPr>
        <p:sp>
          <p:nvSpPr>
            <p:cNvPr id="16" name="Rectangle 16"/>
            <p:cNvSpPr/>
            <p:nvPr/>
          </p:nvSpPr>
          <p:spPr>
            <a:xfrm>
              <a:off x="666750" y="4823460"/>
              <a:ext cx="19050" cy="885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33400" y="4680585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47544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5566410"/>
              <a:ext cx="285750" cy="2857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56402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4880" y="47148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找第一个不同的位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023" y="5008721"/>
              <a:ext cx="49060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对顶点 i 与后继 j = S(i)，把 c(i)、c(j) 从低位向高位同时比较，第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一次不同出现在第 k 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4880" y="56007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更新颜色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023" y="5893594"/>
              <a:ext cx="3011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c′(i) ← 2k + c(i)ₖ，所有顶点并行计算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464618" y="2257425"/>
            <a:ext cx="5193982" cy="1887855"/>
            <a:chOff x="6464618" y="2257425"/>
            <a:chExt cx="5193982" cy="1887855"/>
          </a:xfrm>
        </p:grpSpPr>
        <p:sp>
          <p:nvSpPr>
            <p:cNvPr id="26" name="Rectangle 26"/>
            <p:cNvSpPr/>
            <p:nvPr/>
          </p:nvSpPr>
          <p:spPr>
            <a:xfrm>
              <a:off x="6464618" y="2257425"/>
              <a:ext cx="5193982" cy="1887855"/>
            </a:xfrm>
            <a:prstGeom prst="roundRect">
              <a:avLst>
                <a:gd name="adj" fmla="val 7064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74168" y="2466975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30873" y="2502694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新颜色为什么仍然合法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66548" y="2844165"/>
              <a:ext cx="45015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 i 的后继是 j，j 的后继是 l。若 c′(i) = c′(j)，则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两者的 k 相同，并且 c(i)ₖ = c(j)ₖ。但 k 正是 c(i)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 c(j) 第一次不同的位，矛盾。所以相邻顶点的新颜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色仍然不同。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464618" y="4335780"/>
            <a:ext cx="5193982" cy="1898332"/>
            <a:chOff x="6464618" y="4335780"/>
            <a:chExt cx="5193982" cy="1898332"/>
          </a:xfrm>
        </p:grpSpPr>
        <p:sp>
          <p:nvSpPr>
            <p:cNvPr id="31" name="Rectangle 31"/>
            <p:cNvSpPr/>
            <p:nvPr/>
          </p:nvSpPr>
          <p:spPr>
            <a:xfrm>
              <a:off x="6464618" y="4335780"/>
              <a:ext cx="5193982" cy="1898332"/>
            </a:xfrm>
            <a:prstGeom prst="roundRect">
              <a:avLst>
                <a:gd name="adj" fmla="val 702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74142" y="4469130"/>
              <a:ext cx="47625" cy="16316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712268" y="454533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81775" y="458104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为什么叫破对称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704648" y="4922520"/>
              <a:ext cx="45110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如果所有顶点完全对称（颜色一样、规则一样），它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们会做出相同的选择，算法不收敛。初始颜色 c(i)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各不相同，正是打破对称的依据，算法才收敛到解。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705791" y="5825966"/>
              <a:ext cx="4441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颜色数从 n 降到约 2 log n，反复做几轮就降到 6 种以内。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50433" cy="909257"/>
            <a:chOff x="520446" y="342900"/>
            <a:chExt cx="855043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破对称技术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504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着色例：15 个顶点的有向环，一轮后只剩 0–5 六种颜色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1" name="c1-table-1"/>
          <p:cNvGrpSpPr/>
          <p:nvPr/>
        </p:nvGrpSpPr>
        <p:grpSpPr>
          <a:xfrm>
            <a:off x="533400" y="1524000"/>
            <a:ext cx="3890962" cy="3651885"/>
            <a:chOff x="533400" y="1524000"/>
            <a:chExt cx="3890962" cy="36518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89096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23636" y="1648301"/>
              <a:ext cx="669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 c(i)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74243" y="1648301"/>
              <a:ext cx="669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后继 c(j)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57779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86354" y="1648301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c(i)ₖ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20108" y="16483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3802" y="2054066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= 0001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809110" y="2054066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= 0011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5985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42782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65717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330768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335530"/>
              <a:ext cx="389096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43802" y="2459831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= 0011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09110" y="2459831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= 0111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5985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42782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810952" y="2345055"/>
              <a:ext cx="60388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065717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2736532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3802" y="2865596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= 0111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67647" y="286559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= 1110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85985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42782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65717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142298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147060"/>
              <a:ext cx="389096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00266" y="327136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= 1110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09110" y="3271361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= 0010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859852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42782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810952" y="3156585"/>
              <a:ext cx="60388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065717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3548062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3802" y="3677126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= 0010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67647" y="367712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= 1111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59852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442782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65717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3953828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3958590"/>
              <a:ext cx="389096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00266" y="408289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 = 1111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09110" y="4082891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= 0100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859852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442782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065717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4359592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43802" y="4488656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= 0100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09110" y="4488656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= 0101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859852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42782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065717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765358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3400" y="4770120"/>
              <a:ext cx="389096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43802" y="4894421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= 0101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809110" y="4894421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= 0110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859852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442782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065717" y="489442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3400" y="1524000"/>
              <a:ext cx="3890962" cy="36518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579245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2629852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3174682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3796665" y="1524000"/>
              <a:ext cx="9525" cy="36518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0" name="c2-table-1"/>
          <p:cNvGrpSpPr/>
          <p:nvPr/>
        </p:nvGrpSpPr>
        <p:grpSpPr>
          <a:xfrm>
            <a:off x="4729162" y="1524000"/>
            <a:ext cx="3890962" cy="3246120"/>
            <a:chOff x="4729162" y="1524000"/>
            <a:chExt cx="3890962" cy="3246120"/>
          </a:xfrm>
        </p:grpSpPr>
        <p:sp>
          <p:nvSpPr>
            <p:cNvPr id="72" name="Rectangle 72"/>
            <p:cNvSpPr/>
            <p:nvPr/>
          </p:nvSpPr>
          <p:spPr>
            <a:xfrm>
              <a:off x="4729162" y="1524000"/>
              <a:ext cx="3890962" cy="405765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919398" y="1648301"/>
              <a:ext cx="669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 c(i)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970006" y="1648301"/>
              <a:ext cx="6691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后继 c(j)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053541" y="1648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482116" y="1648301"/>
              <a:ext cx="4072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c(i)ₖ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15870" y="164830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c′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939564" y="2054066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= 0110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004872" y="2054066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= 1000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05561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38545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006715" y="1939290"/>
              <a:ext cx="60388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261480" y="2054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4729162" y="2330768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4729162" y="2335530"/>
              <a:ext cx="389096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4939564" y="2459831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= 1000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963409" y="245983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= 1010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05561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638545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261480" y="2459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4729162" y="2736532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4896028" y="2865596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 = 1010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963409" y="286559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= 1011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05561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638545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261480" y="286559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4729162" y="3142298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4729162" y="3147060"/>
              <a:ext cx="389096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4896028" y="3271361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 = 1011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5963409" y="327136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= 1100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05561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638545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261480" y="32713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4729162" y="3548062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4896028" y="3677126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 = 1100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004872" y="3677126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= 1001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055615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638545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8261480" y="367712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4729162" y="3953828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4729162" y="3958590"/>
              <a:ext cx="389096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4939564" y="4082891"/>
              <a:ext cx="628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= 1001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5963409" y="408289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= 1101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055615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638545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8006715" y="3968115"/>
              <a:ext cx="60388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8261480" y="408289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4729162" y="4359592"/>
              <a:ext cx="38909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4896028" y="4488656"/>
              <a:ext cx="7159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= 1101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6004872" y="4488656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= 0001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7055615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638545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8006715" y="4373880"/>
              <a:ext cx="60388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8261480" y="44886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4729162" y="1524000"/>
              <a:ext cx="3890962" cy="32461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5775008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6825615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7369492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7992428" y="1524000"/>
              <a:ext cx="9525" cy="32461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7" name="c3-card-1"/>
          <p:cNvGrpSpPr/>
          <p:nvPr/>
        </p:nvGrpSpPr>
        <p:grpSpPr>
          <a:xfrm>
            <a:off x="8924925" y="1524000"/>
            <a:ext cx="2733675" cy="3651885"/>
            <a:chOff x="8924925" y="1524000"/>
            <a:chExt cx="2733675" cy="3651885"/>
          </a:xfrm>
        </p:grpSpPr>
        <p:sp>
          <p:nvSpPr>
            <p:cNvPr id="131" name="Rectangle 131"/>
            <p:cNvSpPr/>
            <p:nvPr/>
          </p:nvSpPr>
          <p:spPr>
            <a:xfrm>
              <a:off x="8924925" y="1524000"/>
              <a:ext cx="2733675" cy="3651885"/>
            </a:xfrm>
            <a:prstGeom prst="roundRect">
              <a:avLst>
                <a:gd name="adj" fmla="val 48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8934450" y="1657350"/>
              <a:ext cx="47625" cy="33851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9155430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9238869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手算两行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9148572" y="2072640"/>
              <a:ext cx="211397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14 = 1110，后继 2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0010：第 0、1 位相同，第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位不同，k = 2，c(14)₂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1，c′ = 2·2 + 1 = 5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9148572" y="3147060"/>
              <a:ext cx="215684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顶点 6 = 0110，后继 8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1000：第 0 位相同，第 1 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不同，k = 1，c(6)₁ = 1，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c′ = 2·1 + 1 = 3</a:t>
              </a:r>
            </a:p>
          </p:txBody>
        </p:sp>
      </p:grpSp>
      <p:grpSp>
        <p:nvGrpSpPr>
          <p:cNvPr id="144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138" name="Rectangle 138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738188" y="5897880"/>
              <a:ext cx="200026" cy="200025"/>
              <a:chOff x="738188" y="5897880"/>
              <a:chExt cx="200026" cy="200025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738188" y="589788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0" name="Freeform 140"/>
              <p:cNvSpPr/>
              <p:nvPr/>
            </p:nvSpPr>
            <p:spPr>
              <a:xfrm>
                <a:off x="777926" y="594233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812642" y="605345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1040892" y="5779770"/>
              <a:ext cx="99578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顶点按环上顺序排列，中表末行 13 的后继回到 1。4 位颜色的 k 只能是 0–3，新颜色最多 8 种，本例用到 0–5；高亮的颜色 3、4、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5 在下一页改成 0–2。</a:t>
              </a:r>
            </a:p>
          </p:txBody>
        </p:sp>
      </p:grpSp>
      <p:grpSp>
        <p:nvGrpSpPr>
          <p:cNvPr id="1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5" name="TextBox 145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561396" cy="909257"/>
            <a:chOff x="520446" y="342900"/>
            <a:chExt cx="95613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 · 破对称技术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5613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6 色到 3 色：颜色 3、4、5 依次改成邻居没用过的最小颜色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602105"/>
            <a:chOff x="533400" y="1524000"/>
            <a:chExt cx="4760595" cy="16021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221265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885" y="1769269"/>
              <a:ext cx="20819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补充：原课件表中“→”后面的数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0252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依次处理颜色 3、4、5：这一类顶点同时把自己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改成 {0, 1, 2} 中前驱和后继都没用的最小值。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同色顶点互不相邻，可以并行改。</a:t>
              </a:r>
            </a:p>
          </p:txBody>
        </p:sp>
      </p:grpSp>
      <p:grpSp>
        <p:nvGrpSpPr>
          <p:cNvPr id="42" name="c1-table-2"/>
          <p:cNvGrpSpPr/>
          <p:nvPr/>
        </p:nvGrpSpPr>
        <p:grpSpPr>
          <a:xfrm>
            <a:off x="527685" y="3316605"/>
            <a:ext cx="4766310" cy="2988469"/>
            <a:chOff x="527685" y="3316605"/>
            <a:chExt cx="4766310" cy="2988469"/>
          </a:xfrm>
        </p:grpSpPr>
        <p:sp>
          <p:nvSpPr>
            <p:cNvPr id="13" name="Rectangle 13"/>
            <p:cNvSpPr/>
            <p:nvPr/>
          </p:nvSpPr>
          <p:spPr>
            <a:xfrm>
              <a:off x="533400" y="3316605"/>
              <a:ext cx="4760595" cy="448628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8484" y="34523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57214" y="3452336"/>
              <a:ext cx="1427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前驱 / 后继的颜色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49407" y="34523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8973" y="3900964"/>
              <a:ext cx="556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6（3）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70493" y="3900964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74334" y="39009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20909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213860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8973" y="4349591"/>
              <a:ext cx="556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3（4）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70493" y="4349591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/ 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74334" y="434959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65867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8973" y="4798219"/>
              <a:ext cx="5566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9（4）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70493" y="4798219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/ 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74334" y="479821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51073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5112068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9218" y="5246846"/>
              <a:ext cx="656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14（5）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70493" y="5246846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574334" y="524684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555593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9218" y="5696426"/>
              <a:ext cx="6561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13（5）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570493" y="5696426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/ 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74334" y="569642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316605"/>
              <a:ext cx="476059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576388" y="331660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3956685" y="331660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6085046"/>
              <a:ext cx="3434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括号里是改之前的颜色；处理 13 时前驱 9 已改为 1</a:t>
              </a:r>
            </a:p>
          </p:txBody>
        </p:sp>
      </p:grpSp>
      <p:grpSp>
        <p:nvGrpSpPr>
          <p:cNvPr id="119" name="c2-graph-1"/>
          <p:cNvGrpSpPr/>
          <p:nvPr/>
        </p:nvGrpSpPr>
        <p:grpSpPr>
          <a:xfrm>
            <a:off x="6732521" y="1648301"/>
            <a:ext cx="3792353" cy="4176237"/>
            <a:chOff x="6732521" y="1648301"/>
            <a:chExt cx="3792353" cy="4176237"/>
          </a:xfrm>
        </p:grpSpPr>
        <p:sp>
          <p:nvSpPr>
            <p:cNvPr id="43" name="Freeform 43"/>
            <p:cNvSpPr/>
            <p:nvPr/>
          </p:nvSpPr>
          <p:spPr>
            <a:xfrm>
              <a:off x="8794432" y="2018348"/>
              <a:ext cx="171450" cy="46673"/>
            </a:xfrm>
            <a:custGeom>
              <a:avLst/>
              <a:gdLst/>
              <a:ahLst/>
              <a:cxnLst/>
              <a:rect l="l" t="t" r="r" b="b"/>
              <a:pathLst>
                <a:path w="171450" h="46673">
                  <a:moveTo>
                    <a:pt x="0" y="0"/>
                  </a:moveTo>
                  <a:lnTo>
                    <a:pt x="171450" y="4667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8952548" y="201930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70485"/>
                  </a:moveTo>
                  <a:lnTo>
                    <a:pt x="0" y="91440"/>
                  </a:lnTo>
                  <a:lnTo>
                    <a:pt x="2571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9349740" y="2250758"/>
              <a:ext cx="173355" cy="158115"/>
            </a:xfrm>
            <a:custGeom>
              <a:avLst/>
              <a:gdLst/>
              <a:ahLst/>
              <a:cxnLst/>
              <a:rect l="l" t="t" r="r" b="b"/>
              <a:pathLst>
                <a:path w="173355" h="158115">
                  <a:moveTo>
                    <a:pt x="0" y="0"/>
                  </a:moveTo>
                  <a:lnTo>
                    <a:pt x="173355" y="15811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9490710" y="2373630"/>
              <a:ext cx="101918" cy="99060"/>
            </a:xfrm>
            <a:custGeom>
              <a:avLst/>
              <a:gdLst/>
              <a:ahLst/>
              <a:cxnLst/>
              <a:rect l="l" t="t" r="r" b="b"/>
              <a:pathLst>
                <a:path w="101918" h="99060">
                  <a:moveTo>
                    <a:pt x="101918" y="99060"/>
                  </a:moveTo>
                  <a:lnTo>
                    <a:pt x="0" y="70485"/>
                  </a:lnTo>
                  <a:lnTo>
                    <a:pt x="6381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9789795" y="2745105"/>
              <a:ext cx="123825" cy="276225"/>
            </a:xfrm>
            <a:custGeom>
              <a:avLst/>
              <a:gdLst/>
              <a:ahLst/>
              <a:cxnLst/>
              <a:rect l="l" t="t" r="r" b="b"/>
              <a:pathLst>
                <a:path w="123825" h="276225">
                  <a:moveTo>
                    <a:pt x="0" y="0"/>
                  </a:moveTo>
                  <a:lnTo>
                    <a:pt x="123825" y="27622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9869805" y="3001328"/>
              <a:ext cx="86677" cy="106680"/>
            </a:xfrm>
            <a:custGeom>
              <a:avLst/>
              <a:gdLst/>
              <a:ahLst/>
              <a:cxnLst/>
              <a:rect l="l" t="t" r="r" b="b"/>
              <a:pathLst>
                <a:path w="86677" h="106680">
                  <a:moveTo>
                    <a:pt x="82868" y="106680"/>
                  </a:moveTo>
                  <a:lnTo>
                    <a:pt x="0" y="39052"/>
                  </a:lnTo>
                  <a:lnTo>
                    <a:pt x="86677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036492" y="3435668"/>
              <a:ext cx="25718" cy="331470"/>
            </a:xfrm>
            <a:custGeom>
              <a:avLst/>
              <a:gdLst/>
              <a:ahLst/>
              <a:cxnLst/>
              <a:rect l="l" t="t" r="r" b="b"/>
              <a:pathLst>
                <a:path w="25718" h="331470">
                  <a:moveTo>
                    <a:pt x="0" y="0"/>
                  </a:moveTo>
                  <a:lnTo>
                    <a:pt x="25718" y="33147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014585" y="3763328"/>
              <a:ext cx="95250" cy="99060"/>
            </a:xfrm>
            <a:custGeom>
              <a:avLst/>
              <a:gdLst/>
              <a:ahLst/>
              <a:cxnLst/>
              <a:rect l="l" t="t" r="r" b="b"/>
              <a:pathLst>
                <a:path w="95250" h="99060">
                  <a:moveTo>
                    <a:pt x="55245" y="99060"/>
                  </a:moveTo>
                  <a:lnTo>
                    <a:pt x="0" y="762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9961245" y="4199572"/>
              <a:ext cx="79057" cy="311468"/>
            </a:xfrm>
            <a:custGeom>
              <a:avLst/>
              <a:gdLst/>
              <a:ahLst/>
              <a:cxnLst/>
              <a:rect l="l" t="t" r="r" b="b"/>
              <a:pathLst>
                <a:path w="79057" h="311468">
                  <a:moveTo>
                    <a:pt x="79057" y="0"/>
                  </a:moveTo>
                  <a:lnTo>
                    <a:pt x="0" y="31146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9915525" y="4498658"/>
              <a:ext cx="91440" cy="103822"/>
            </a:xfrm>
            <a:custGeom>
              <a:avLst/>
              <a:gdLst/>
              <a:ahLst/>
              <a:cxnLst/>
              <a:rect l="l" t="t" r="r" b="b"/>
              <a:pathLst>
                <a:path w="91440" h="103822">
                  <a:moveTo>
                    <a:pt x="21907" y="103822"/>
                  </a:moveTo>
                  <a:lnTo>
                    <a:pt x="0" y="0"/>
                  </a:lnTo>
                  <a:lnTo>
                    <a:pt x="91440" y="238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9642158" y="4909185"/>
              <a:ext cx="154305" cy="220028"/>
            </a:xfrm>
            <a:custGeom>
              <a:avLst/>
              <a:gdLst/>
              <a:ahLst/>
              <a:cxnLst/>
              <a:rect l="l" t="t" r="r" b="b"/>
              <a:pathLst>
                <a:path w="154305" h="220028">
                  <a:moveTo>
                    <a:pt x="154305" y="0"/>
                  </a:moveTo>
                  <a:lnTo>
                    <a:pt x="0" y="22002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9587865" y="5101590"/>
              <a:ext cx="93345" cy="105728"/>
            </a:xfrm>
            <a:custGeom>
              <a:avLst/>
              <a:gdLst/>
              <a:ahLst/>
              <a:cxnLst/>
              <a:rect l="l" t="t" r="r" b="b"/>
              <a:pathLst>
                <a:path w="93345" h="105728">
                  <a:moveTo>
                    <a:pt x="0" y="105728"/>
                  </a:moveTo>
                  <a:lnTo>
                    <a:pt x="15240" y="0"/>
                  </a:lnTo>
                  <a:lnTo>
                    <a:pt x="93345" y="5524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9164002" y="5432108"/>
              <a:ext cx="176212" cy="99060"/>
            </a:xfrm>
            <a:custGeom>
              <a:avLst/>
              <a:gdLst/>
              <a:ahLst/>
              <a:cxnLst/>
              <a:rect l="l" t="t" r="r" b="b"/>
              <a:pathLst>
                <a:path w="176212" h="99060">
                  <a:moveTo>
                    <a:pt x="176212" y="0"/>
                  </a:moveTo>
                  <a:lnTo>
                    <a:pt x="0" y="990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081135" y="5490210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87630"/>
                  </a:moveTo>
                  <a:lnTo>
                    <a:pt x="60008" y="0"/>
                  </a:lnTo>
                  <a:lnTo>
                    <a:pt x="106680" y="8286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8592502" y="5662612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167640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8497252" y="561498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9" name="Freeform 59"/>
            <p:cNvSpPr/>
            <p:nvPr/>
          </p:nvSpPr>
          <p:spPr>
            <a:xfrm>
              <a:off x="8001000" y="5478780"/>
              <a:ext cx="175260" cy="99060"/>
            </a:xfrm>
            <a:custGeom>
              <a:avLst/>
              <a:gdLst/>
              <a:ahLst/>
              <a:cxnLst/>
              <a:rect l="l" t="t" r="r" b="b"/>
              <a:pathLst>
                <a:path w="175260" h="99060">
                  <a:moveTo>
                    <a:pt x="175260" y="9906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0" name="Freeform 60"/>
            <p:cNvSpPr/>
            <p:nvPr/>
          </p:nvSpPr>
          <p:spPr>
            <a:xfrm>
              <a:off x="7918132" y="543210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0"/>
                  </a:moveTo>
                  <a:lnTo>
                    <a:pt x="105728" y="4762"/>
                  </a:lnTo>
                  <a:lnTo>
                    <a:pt x="59055" y="8858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7515225" y="4987290"/>
              <a:ext cx="154305" cy="220028"/>
            </a:xfrm>
            <a:custGeom>
              <a:avLst/>
              <a:gdLst/>
              <a:ahLst/>
              <a:cxnLst/>
              <a:rect l="l" t="t" r="r" b="b"/>
              <a:pathLst>
                <a:path w="154305" h="220028">
                  <a:moveTo>
                    <a:pt x="154305" y="220028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7460932" y="4909185"/>
              <a:ext cx="93345" cy="105728"/>
            </a:xfrm>
            <a:custGeom>
              <a:avLst/>
              <a:gdLst/>
              <a:ahLst/>
              <a:cxnLst/>
              <a:rect l="l" t="t" r="r" b="b"/>
              <a:pathLst>
                <a:path w="93345" h="105728">
                  <a:moveTo>
                    <a:pt x="0" y="0"/>
                  </a:moveTo>
                  <a:lnTo>
                    <a:pt x="93345" y="50483"/>
                  </a:lnTo>
                  <a:lnTo>
                    <a:pt x="16193" y="1057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3" name="Freeform 63"/>
            <p:cNvSpPr/>
            <p:nvPr/>
          </p:nvSpPr>
          <p:spPr>
            <a:xfrm>
              <a:off x="7240905" y="4291012"/>
              <a:ext cx="79057" cy="311467"/>
            </a:xfrm>
            <a:custGeom>
              <a:avLst/>
              <a:gdLst/>
              <a:ahLst/>
              <a:cxnLst/>
              <a:rect l="l" t="t" r="r" b="b"/>
              <a:pathLst>
                <a:path w="79057" h="311467">
                  <a:moveTo>
                    <a:pt x="79057" y="311467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7194232" y="4199572"/>
              <a:ext cx="92393" cy="103823"/>
            </a:xfrm>
            <a:custGeom>
              <a:avLst/>
              <a:gdLst/>
              <a:ahLst/>
              <a:cxnLst/>
              <a:rect l="l" t="t" r="r" b="b"/>
              <a:pathLst>
                <a:path w="92393" h="103823">
                  <a:moveTo>
                    <a:pt x="22860" y="0"/>
                  </a:moveTo>
                  <a:lnTo>
                    <a:pt x="92393" y="80010"/>
                  </a:lnTo>
                  <a:lnTo>
                    <a:pt x="0" y="10382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7188518" y="3529965"/>
              <a:ext cx="25717" cy="332422"/>
            </a:xfrm>
            <a:custGeom>
              <a:avLst/>
              <a:gdLst/>
              <a:ahLst/>
              <a:cxnLst/>
              <a:rect l="l" t="t" r="r" b="b"/>
              <a:pathLst>
                <a:path w="25717" h="332422">
                  <a:moveTo>
                    <a:pt x="0" y="332422"/>
                  </a:moveTo>
                  <a:lnTo>
                    <a:pt x="25717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166610" y="3435668"/>
              <a:ext cx="95250" cy="98108"/>
            </a:xfrm>
            <a:custGeom>
              <a:avLst/>
              <a:gdLst/>
              <a:ahLst/>
              <a:cxnLst/>
              <a:rect l="l" t="t" r="r" b="b"/>
              <a:pathLst>
                <a:path w="95250" h="98108">
                  <a:moveTo>
                    <a:pt x="55245" y="0"/>
                  </a:moveTo>
                  <a:lnTo>
                    <a:pt x="95250" y="98108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7305675" y="2831782"/>
              <a:ext cx="123825" cy="276225"/>
            </a:xfrm>
            <a:custGeom>
              <a:avLst/>
              <a:gdLst/>
              <a:ahLst/>
              <a:cxnLst/>
              <a:rect l="l" t="t" r="r" b="b"/>
              <a:pathLst>
                <a:path w="123825" h="276225">
                  <a:moveTo>
                    <a:pt x="0" y="276225"/>
                  </a:moveTo>
                  <a:lnTo>
                    <a:pt x="12382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7385685" y="2745105"/>
              <a:ext cx="86678" cy="106680"/>
            </a:xfrm>
            <a:custGeom>
              <a:avLst/>
              <a:gdLst/>
              <a:ahLst/>
              <a:cxnLst/>
              <a:rect l="l" t="t" r="r" b="b"/>
              <a:pathLst>
                <a:path w="86678" h="106680">
                  <a:moveTo>
                    <a:pt x="81915" y="0"/>
                  </a:moveTo>
                  <a:lnTo>
                    <a:pt x="86678" y="106680"/>
                  </a:lnTo>
                  <a:lnTo>
                    <a:pt x="0" y="67628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7664768" y="2314575"/>
              <a:ext cx="173355" cy="158115"/>
            </a:xfrm>
            <a:custGeom>
              <a:avLst/>
              <a:gdLst/>
              <a:ahLst/>
              <a:cxnLst/>
              <a:rect l="l" t="t" r="r" b="b"/>
              <a:pathLst>
                <a:path w="173355" h="158115">
                  <a:moveTo>
                    <a:pt x="0" y="158115"/>
                  </a:moveTo>
                  <a:lnTo>
                    <a:pt x="1733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7805738" y="2250758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0"/>
                  </a:moveTo>
                  <a:lnTo>
                    <a:pt x="64770" y="99060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1" name="Freeform 71"/>
            <p:cNvSpPr/>
            <p:nvPr/>
          </p:nvSpPr>
          <p:spPr>
            <a:xfrm>
              <a:off x="8200072" y="2043112"/>
              <a:ext cx="171450" cy="46673"/>
            </a:xfrm>
            <a:custGeom>
              <a:avLst/>
              <a:gdLst/>
              <a:ahLst/>
              <a:cxnLst/>
              <a:rect l="l" t="t" r="r" b="b"/>
              <a:pathLst>
                <a:path w="171450" h="46673">
                  <a:moveTo>
                    <a:pt x="0" y="46673"/>
                  </a:moveTo>
                  <a:lnTo>
                    <a:pt x="17145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8359140" y="1997392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104775" y="20955"/>
                  </a:moveTo>
                  <a:lnTo>
                    <a:pt x="24765" y="91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73" name="Ellipse 73"/>
            <p:cNvSpPr/>
            <p:nvPr/>
          </p:nvSpPr>
          <p:spPr>
            <a:xfrm>
              <a:off x="8466772" y="1810702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9061132" y="1973580"/>
              <a:ext cx="323850" cy="32385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9557385" y="2426970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860280" y="3102292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9921240" y="3870960"/>
              <a:ext cx="323850" cy="32385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9733598" y="4607242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9327832" y="5185410"/>
              <a:ext cx="323850" cy="32385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8769668" y="5500688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8163878" y="5500688"/>
              <a:ext cx="323850" cy="32385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82" name="Ellipse 82"/>
            <p:cNvSpPr/>
            <p:nvPr/>
          </p:nvSpPr>
          <p:spPr>
            <a:xfrm>
              <a:off x="7606665" y="5185410"/>
              <a:ext cx="323850" cy="32385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7200900" y="4607242"/>
              <a:ext cx="323850" cy="32385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7012305" y="3870960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85" name="Ellipse 85"/>
            <p:cNvSpPr/>
            <p:nvPr/>
          </p:nvSpPr>
          <p:spPr>
            <a:xfrm>
              <a:off x="7073265" y="3102292"/>
              <a:ext cx="323850" cy="32385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86" name="Ellipse 86"/>
            <p:cNvSpPr/>
            <p:nvPr/>
          </p:nvSpPr>
          <p:spPr>
            <a:xfrm>
              <a:off x="7376160" y="2426970"/>
              <a:ext cx="323850" cy="32385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87" name="Ellipse 87"/>
            <p:cNvSpPr/>
            <p:nvPr/>
          </p:nvSpPr>
          <p:spPr>
            <a:xfrm>
              <a:off x="7873365" y="1973580"/>
              <a:ext cx="323850" cy="323850"/>
            </a:xfrm>
            <a:prstGeom prst="ellipse">
              <a:avLst/>
            </a:prstGeom>
            <a:solidFill>
              <a:srgbClr val="334E68"/>
            </a:solidFill>
            <a:ln w="17145">
              <a:solidFill>
                <a:srgbClr val="334E6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8575956" y="189833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514904" y="164830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2→2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9170316" y="206025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9437180" y="207406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4→0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666568" y="25136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933432" y="252841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1→1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922817" y="318992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236327" y="320373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5→2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0030423" y="39585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297287" y="397240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0→0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796135" y="46939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0109645" y="470868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1→1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437016" y="52730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703880" y="528685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0→0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878851" y="5587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145714" y="560212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1→1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273061" y="558736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884094" y="560212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3→0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715848" y="52730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326881" y="528685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2→2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263437" y="469392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6921116" y="470868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0→0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074842" y="395859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6732521" y="397240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1→1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135802" y="3189922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6793481" y="3203734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0→0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7485343" y="251364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7096376" y="2528411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4→1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7935902" y="2060258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593581" y="207406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5→0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7764717" y="3700939"/>
              <a:ext cx="1727962" cy="687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圆内是顶点号，旁注“一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轮后颜色→最终颜色”；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深色 0、绿色 1、橙色 2</a:t>
              </a:r>
            </a:p>
          </p:txBody>
        </p:sp>
      </p:grpSp>
      <p:grpSp>
        <p:nvGrpSpPr>
          <p:cNvPr id="12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0" name="TextBox 12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自测题（一）概念辨析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117242" cy="278702"/>
            <a:chOff x="526161" y="1547336"/>
            <a:chExt cx="2117242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先自己作答，再看答案。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768792"/>
            <a:chOff x="533400" y="1941195"/>
            <a:chExt cx="5410200" cy="1768792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78602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PCAM 四个阶段中，哪两个阶段不考虑处理器个数？为什么这样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安排？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04990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划分和通信。先不受机器限制，尽可能找出并发性；组合和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映射阶段再结合具体机器考虑局部性和性能。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886200"/>
            <a:ext cx="5410200" cy="1768792"/>
            <a:chOff x="533400" y="3886200"/>
            <a:chExt cx="5410200" cy="1768792"/>
          </a:xfrm>
        </p:grpSpPr>
        <p:sp>
          <p:nvSpPr>
            <p:cNvPr id="15" name="Rectangle 15"/>
            <p:cNvSpPr/>
            <p:nvPr/>
          </p:nvSpPr>
          <p:spPr>
            <a:xfrm>
              <a:off x="533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434840"/>
              <a:ext cx="476845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映射中“并发的任务放在不同处理器”和“频繁通信的任务放在同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一处理器”冲突时怎么办？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994910"/>
              <a:ext cx="47628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映射本身是 NP 完全的权衡问题，只能用启发式方法在两者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之间取舍，再根据执行性能迭代调整。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511618"/>
            <a:chOff x="6248400" y="1941195"/>
            <a:chExt cx="5410200" cy="1511618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通信为什么只能通过功能分解来确定，不能通过域分解确定？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2792730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通信是数据从生产者流向消费者，生产和消费都是操作，有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时序关系；域分解只切数据，看不出这种时序。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629025"/>
            <a:ext cx="5410200" cy="2025968"/>
            <a:chOff x="6248400" y="3629025"/>
            <a:chExt cx="5410200" cy="2025968"/>
          </a:xfrm>
        </p:grpSpPr>
        <p:sp>
          <p:nvSpPr>
            <p:cNvPr id="27" name="Rectangle 27"/>
            <p:cNvSpPr/>
            <p:nvPr/>
          </p:nvSpPr>
          <p:spPr>
            <a:xfrm>
              <a:off x="6248400" y="3629025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382143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385572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17766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划分和分治的难点各是什么？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480560"/>
              <a:ext cx="47800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划分的难点是划分点的确定（如 PSRS 选主元）；分治的难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点是子问题间的同步通信和递归结果的合并（如双调归并网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络）。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79556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判据类题目按“划分 4 条、通信 4 条、组合 6 条、映射 2 条”记，每条都能说出它防的是什么问题。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自测题（二）计算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2690724" cy="278702"/>
            <a:chOff x="526161" y="1547336"/>
            <a:chExt cx="269072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每题都能在前面找到同类例题。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41195"/>
            <a:ext cx="5410200" cy="1511618"/>
            <a:chOff x="533400" y="1941195"/>
            <a:chExt cx="5410200" cy="1511618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410200" cy="1511618"/>
            </a:xfrm>
            <a:prstGeom prst="roundRect">
              <a:avLst>
                <a:gd name="adj" fmla="val 882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4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8947" y="2490788"/>
              <a:ext cx="464072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N×N 网格五点差分，p = 64。条带划分和块划分每个处理器每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次迭代的通信量各是多少？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3049905"/>
              <a:ext cx="4773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条带 2N，块 4N/√64 = N/2，块划分只有条带的 1/4。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629025"/>
            <a:ext cx="5410200" cy="2025968"/>
            <a:chOff x="533400" y="3629025"/>
            <a:chExt cx="5410200" cy="2025968"/>
          </a:xfrm>
        </p:grpSpPr>
        <p:sp>
          <p:nvSpPr>
            <p:cNvPr id="15" name="Rectangle 15"/>
            <p:cNvSpPr/>
            <p:nvPr/>
          </p:nvSpPr>
          <p:spPr>
            <a:xfrm>
              <a:off x="533400" y="3629025"/>
              <a:ext cx="5410200" cy="2025968"/>
            </a:xfrm>
            <a:prstGeom prst="roundRect">
              <a:avLst>
                <a:gd name="adj" fmla="val 6582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5805" y="382143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4753" y="385572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8947" y="4177665"/>
              <a:ext cx="474059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平衡树求 n = 16 个数的最大值，需要几步、几个处理器？加速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比和效率是多少？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8947" y="4737735"/>
              <a:ext cx="41799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log 16 = 4 步，8 个处理器；S = 15/4 = 3.75，E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3.75/8 ≈ 47%。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6248400" y="1941195"/>
            <a:ext cx="5410200" cy="1768792"/>
            <a:chOff x="6248400" y="1941195"/>
            <a:chExt cx="5410200" cy="1768792"/>
          </a:xfrm>
        </p:grpSpPr>
        <p:sp>
          <p:nvSpPr>
            <p:cNvPr id="21" name="Rectangle 21"/>
            <p:cNvSpPr/>
            <p:nvPr/>
          </p:nvSpPr>
          <p:spPr>
            <a:xfrm>
              <a:off x="6248400" y="1941195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440805" y="213360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29753" y="216789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3947" y="2490788"/>
              <a:ext cx="46647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对双调序列 (3,5,8,9,7,4,2,1) 做一次前后半比较，MIN、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MAX 各是什么？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33947" y="3049905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MIN = (3,4,2,1)，MAX = (7,5,8,9)。两者都是双调序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列，MIN 的最大值 4 小于 MAX 的最小值 5。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6248400" y="3886200"/>
            <a:ext cx="5410200" cy="1768792"/>
            <a:chOff x="6248400" y="3886200"/>
            <a:chExt cx="5410200" cy="1768792"/>
          </a:xfrm>
        </p:grpSpPr>
        <p:sp>
          <p:nvSpPr>
            <p:cNvPr id="27" name="Rectangle 27"/>
            <p:cNvSpPr/>
            <p:nvPr/>
          </p:nvSpPr>
          <p:spPr>
            <a:xfrm>
              <a:off x="6248400" y="3886200"/>
              <a:ext cx="5410200" cy="1768792"/>
            </a:xfrm>
            <a:prstGeom prst="roundRect">
              <a:avLst>
                <a:gd name="adj" fmla="val 7539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40805" y="40786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29753" y="41128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33947" y="4434840"/>
              <a:ext cx="440497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链表 a→b→c→d→e（e 是表尾），指针跳跃第一轮后 r 是多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少？共需几轮？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33947" y="4994910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第一轮后 r = (2, 2, 2, 1, 0)；按 ⌈log 5⌉ 做 3 轮（第二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轮后已不再变化），最终 r = (4, 3, 2, 1, 0)。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33" name="Rectangle 3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040892" y="6023610"/>
              <a:ext cx="46661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脉动阵列题记住：n − 1 个单元、2n − 2 拍，加速比 n/2。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0" name="TextBox 40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246822" cy="266700"/>
            </a:xfrm>
            <a:prstGeom prst="roundRect">
              <a:avLst>
                <a:gd name="adj" fmla="val 5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1966" y="407194"/>
              <a:ext cx="10506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334E68"/>
                  </a:solidFill>
                  <a:latin typeface="+mn-lt"/>
                  <a:ea typeface="+mn-ea"/>
                  <a:cs typeface="+mn-cs"/>
                </a:rPr>
                <a:t>第9章 算法设计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334E6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bullets-1"/>
          <p:cNvGrpSpPr/>
          <p:nvPr/>
        </p:nvGrpSpPr>
        <p:grpSpPr>
          <a:xfrm>
            <a:off x="533400" y="1532572"/>
            <a:ext cx="5594980" cy="2278762"/>
            <a:chOff x="533400" y="1532572"/>
            <a:chExt cx="5594980" cy="2278762"/>
          </a:xfrm>
        </p:grpSpPr>
        <p:sp>
          <p:nvSpPr>
            <p:cNvPr id="7" name="Ellipse 7"/>
            <p:cNvSpPr/>
            <p:nvPr/>
          </p:nvSpPr>
          <p:spPr>
            <a:xfrm>
              <a:off x="533400" y="1532572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2488" y="1567196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3052" y="1544002"/>
              <a:ext cx="4621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PCAM：划分、通信只看问题，组合、映射才看机器，每步有判据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23085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2488" y="1856756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3052" y="1834515"/>
              <a:ext cx="44627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表面-容积效应：通信看表面积，计算看体积，块划分优于条带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13598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2488" y="2147268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3052" y="2125028"/>
              <a:ext cx="53353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划分技术：均匀（PSRS）、方根（Valiant）、对数、功能（(m,n) 选择）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04110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2488" y="2437781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3052" y="2414588"/>
              <a:ext cx="4565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分治技术：Batcher 定理保证双调序列对半比较后可以各自递归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694622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2488" y="2728293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3052" y="2705100"/>
              <a:ext cx="4939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平衡树：log n 层并行，求最大值和前缀和；处理器取 n/log n 更划算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2985135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2488" y="3018806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3052" y="2995612"/>
              <a:ext cx="3348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倍增：每轮距离翻倍，⌈log n⌉ 轮求出链表位序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33400" y="3275648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82488" y="3309318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3052" y="3286125"/>
              <a:ext cx="41172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流水线：Horner 形式的 DFT 在脉动阵列上 2n − 2 拍完成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33400" y="3566160"/>
              <a:ext cx="171450" cy="17145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82488" y="3599831"/>
              <a:ext cx="73274" cy="1604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3052" y="3576638"/>
              <a:ext cx="4236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破对称：用颜色二进制位的差异打破环上的对称，降到 3 色</a:t>
              </a:r>
            </a:p>
          </p:txBody>
        </p:sp>
      </p:grpSp>
      <p:grpSp>
        <p:nvGrpSpPr>
          <p:cNvPr id="44" name="c1-card-2"/>
          <p:cNvGrpSpPr/>
          <p:nvPr/>
        </p:nvGrpSpPr>
        <p:grpSpPr>
          <a:xfrm>
            <a:off x="533400" y="3950018"/>
            <a:ext cx="5842635" cy="2234565"/>
            <a:chOff x="533400" y="3950018"/>
            <a:chExt cx="5842635" cy="2234565"/>
          </a:xfrm>
        </p:grpSpPr>
        <p:sp>
          <p:nvSpPr>
            <p:cNvPr id="32" name="Rectangle 32"/>
            <p:cNvSpPr/>
            <p:nvPr/>
          </p:nvSpPr>
          <p:spPr>
            <a:xfrm>
              <a:off x="533400" y="3950018"/>
              <a:ext cx="5842635" cy="2234565"/>
            </a:xfrm>
            <a:prstGeom prst="roundRect">
              <a:avLst>
                <a:gd name="adj" fmla="val 59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083368"/>
              <a:ext cx="47625" cy="196786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75335" y="4153852"/>
              <a:ext cx="163163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32040" y="418957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2955" y="4586288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9546" y="4526756"/>
              <a:ext cx="39448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DFT 展开式 y₃、y₄ 后三项的指数（第 46 页）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82955" y="4906327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39546" y="4846796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Valiant 归并结束时 B 有 p + q 个元素；第三对应为 A₃（第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23、24 页）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2955" y="549783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39546" y="5438299"/>
              <a:ext cx="33884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倍增例最后一轮应编号 (4)（第 43 页）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82955" y="5817870"/>
              <a:ext cx="60960" cy="60960"/>
            </a:xfrm>
            <a:prstGeom prst="ellipse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39546" y="5758339"/>
              <a:ext cx="45640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目录中的对数划分没有正文，已补充（第 19、26 页）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6680835" y="1524000"/>
            <a:ext cx="4977765" cy="3011805"/>
            <a:chOff x="6680835" y="1524000"/>
            <a:chExt cx="4977765" cy="3011805"/>
          </a:xfrm>
        </p:grpSpPr>
        <p:sp>
          <p:nvSpPr>
            <p:cNvPr id="45" name="Rectangle 45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10412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技术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1852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一句话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86182" y="208502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划分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81569" y="2085022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切成 p 个独立子问题，难在定划分点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680835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6680835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86182" y="251555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分治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981569" y="2515552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递归对半分，难在合并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680835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6182" y="29460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平衡树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81569" y="294608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叶子是输入，逐层并行往返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680835" y="323945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80835" y="324421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86182" y="3375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倍增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981569" y="33756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指针每轮跳过的距离翻倍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680835" y="36699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786182" y="380619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流水线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981569" y="380619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子任务首尾相接，时间上重叠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80835" y="41005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80835" y="410527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786182" y="423576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破对称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981569" y="423576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让对称的元素做出不同选择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680835" y="1524000"/>
              <a:ext cx="4977765" cy="3010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7871460" y="1524000"/>
              <a:ext cx="9525" cy="3010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ard-2"/>
          <p:cNvGrpSpPr/>
          <p:nvPr/>
        </p:nvGrpSpPr>
        <p:grpSpPr>
          <a:xfrm>
            <a:off x="6680835" y="4720590"/>
            <a:ext cx="4977765" cy="1463992"/>
            <a:chOff x="6680835" y="4720590"/>
            <a:chExt cx="4977765" cy="1463992"/>
          </a:xfrm>
        </p:grpSpPr>
        <p:sp>
          <p:nvSpPr>
            <p:cNvPr id="71" name="Rectangle 71"/>
            <p:cNvSpPr/>
            <p:nvPr/>
          </p:nvSpPr>
          <p:spPr>
            <a:xfrm>
              <a:off x="6680835" y="4720590"/>
              <a:ext cx="4977765" cy="1463992"/>
            </a:xfrm>
            <a:prstGeom prst="roundRect">
              <a:avLst>
                <a:gd name="adj" fmla="val 9109"/>
              </a:avLst>
            </a:prstGeom>
            <a:solidFill>
              <a:srgbClr val="334E68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884670" y="492442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243B5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970928" y="49601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877431" y="5297329"/>
              <a:ext cx="436067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第10章讲指令级并行，本章算法层面的流水线思想会在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处理器内部再次出现。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并行与分布式计算 · 第9章 算法设计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dc_ch09">
  <a:themeElements>
    <a:clrScheme name="pdc_ch0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dc_ch09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dc_ch0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2026-09-23T09:12:48Z</dcterms:created>
  <dcterms:modified xsi:type="dcterms:W3CDTF">2026-09-23T09:12:48Z</dcterms:modified>
  <cp:category/>
  <cp:contentStatus/>
</cp:coreProperties>
</file>