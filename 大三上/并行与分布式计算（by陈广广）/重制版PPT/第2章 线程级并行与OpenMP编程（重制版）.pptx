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pdc_ch02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pdc_ch02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7ad361617b171bed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67c4bd3d83ea88ac.png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e69ed220f4e9c3c0.png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hero"/>
          <p:cNvPicPr>
            <a:picLocks noChangeAspect="1"/>
          </p:cNvPicPr>
          <p:nvPr/>
        </p:nvPicPr>
        <p:blipFill>
          <a:blip r:embed="rId2"/>
          <a:srcRect l="9365" t="0" r="9365" b="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scrim"/>
          <p:cNvSpPr/>
          <p:nvPr/>
        </p:nvSpPr>
        <p:spPr>
          <a:xfrm>
            <a:off x="0" y="0"/>
            <a:ext cx="7620000" cy="6858000"/>
          </a:xfrm>
          <a:prstGeom prst="rect">
            <a:avLst/>
          </a:prstGeom>
          <a:gradFill>
            <a:gsLst>
              <a:gs pos="0">
                <a:srgbClr val="FFFFFF">
                  <a:alpha val="97000"/>
                </a:srgbClr>
              </a:gs>
              <a:gs pos="58000">
                <a:srgbClr val="FFFFFF">
                  <a:alpha val="8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17" name="cover-title"/>
          <p:cNvGrpSpPr/>
          <p:nvPr/>
        </p:nvGrpSpPr>
        <p:grpSpPr>
          <a:xfrm>
            <a:off x="666750" y="1619250"/>
            <a:ext cx="5872429" cy="3437763"/>
            <a:chOff x="666750" y="1619250"/>
            <a:chExt cx="5872429" cy="3437763"/>
          </a:xfrm>
        </p:grpSpPr>
        <p:sp>
          <p:nvSpPr>
            <p:cNvPr id="4" name="Rectangle 4"/>
            <p:cNvSpPr/>
            <p:nvPr/>
          </p:nvSpPr>
          <p:spPr>
            <a:xfrm>
              <a:off x="685800" y="1619250"/>
              <a:ext cx="2139315" cy="3429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97463" y="1718310"/>
              <a:ext cx="19159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并行与分布式计算 · 第2章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6750" y="2407920"/>
              <a:ext cx="5872429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线程级并行与 OpenMP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85800" y="3147060"/>
              <a:ext cx="9906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6656" y="3467100"/>
              <a:ext cx="365302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共享内存多处理机上的多线程编程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709612" y="3976688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9442" y="3921442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共享内存与访存模型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09612" y="4267200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9442" y="4211955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竞态与重排序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09612" y="4557712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9442" y="4502468"/>
              <a:ext cx="16699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OpenMP 制导与子句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09612" y="4848225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9442" y="4792980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循环调度与同步结构</a:t>
              </a:r>
            </a:p>
          </p:txBody>
        </p:sp>
      </p:grpSp>
      <p:grpSp>
        <p:nvGrpSpPr>
          <p:cNvPr id="19" name="cover-credit"/>
          <p:cNvGrpSpPr/>
          <p:nvPr/>
        </p:nvGrpSpPr>
        <p:grpSpPr>
          <a:xfrm>
            <a:off x="680466" y="6192202"/>
            <a:ext cx="4632846" cy="205359"/>
            <a:chOff x="680466" y="6192202"/>
            <a:chExt cx="4632846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680466" y="6192202"/>
              <a:ext cx="46328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重制讲义 · 自学复习版｜据吉林大学《并行与分布式计算》第2章课件整理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085594" cy="909257"/>
            <a:chOff x="520446" y="342900"/>
            <a:chExt cx="20855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38969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7064" y="407194"/>
              <a:ext cx="12014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第2章 线程级并行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本章学习路线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0" name="c1-agenda-1"/>
          <p:cNvGrpSpPr/>
          <p:nvPr/>
        </p:nvGrpSpPr>
        <p:grpSpPr>
          <a:xfrm>
            <a:off x="521970" y="1515428"/>
            <a:ext cx="6287453" cy="4461795"/>
            <a:chOff x="521970" y="1515428"/>
            <a:chExt cx="6287453" cy="4461795"/>
          </a:xfrm>
        </p:grpSpPr>
        <p:sp>
          <p:nvSpPr>
            <p:cNvPr id="7" name="TextBox 7"/>
            <p:cNvSpPr txBox="1"/>
            <p:nvPr/>
          </p:nvSpPr>
          <p:spPr>
            <a:xfrm>
              <a:off x="521970" y="151542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65086" y="155162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基础概念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66990" y="1868329"/>
              <a:ext cx="41803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UMA 与 NUMA、CPU 术语、并发与并行、两类编程模型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73468" y="218122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1970" y="2286952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5086" y="2323148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共享变量的隐藏问题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66990" y="2639854"/>
              <a:ext cx="32869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竞态、数据竞争、指令重排序与内存重排序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73468" y="2953702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1970" y="305847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5086" y="3094673"/>
              <a:ext cx="142033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OpenMP 概述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66990" y="3412331"/>
              <a:ext cx="393308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fork-join 模型、存储模型、环境变量、库函数与锁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73468" y="3725228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1970" y="3830955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65086" y="3867150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编译制导与并行域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66990" y="4183856"/>
              <a:ext cx="34506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制导语法、作用域、parallel 与数据属性子句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73468" y="449770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1970" y="4602480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65086" y="4638675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任务划分结构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66990" y="4955381"/>
              <a:ext cx="322660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for 与 schedule 调度、sections、single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073468" y="5269230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21970" y="537495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65086" y="541115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同步结构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66990" y="5727859"/>
              <a:ext cx="360569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critical、barrier、atomic、flush、ordered</a:t>
              </a:r>
            </a:p>
          </p:txBody>
        </p:sp>
      </p:grpSp>
      <p:grpSp>
        <p:nvGrpSpPr>
          <p:cNvPr id="45" name="c2-card-1"/>
          <p:cNvGrpSpPr/>
          <p:nvPr/>
        </p:nvGrpSpPr>
        <p:grpSpPr>
          <a:xfrm>
            <a:off x="7114222" y="1524000"/>
            <a:ext cx="4544378" cy="4402455"/>
            <a:chOff x="7114222" y="1524000"/>
            <a:chExt cx="4544378" cy="4402455"/>
          </a:xfrm>
        </p:grpSpPr>
        <p:sp>
          <p:nvSpPr>
            <p:cNvPr id="31" name="Rectangle 31"/>
            <p:cNvSpPr/>
            <p:nvPr/>
          </p:nvSpPr>
          <p:spPr>
            <a:xfrm>
              <a:off x="7114222" y="1524000"/>
              <a:ext cx="4544378" cy="4402455"/>
            </a:xfrm>
            <a:prstGeom prst="roundRect">
              <a:avLst>
                <a:gd name="adj" fmla="val 302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7123748" y="1657350"/>
              <a:ext cx="47625" cy="413575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7361872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44322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学习目标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367588" y="217360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525702" y="2110740"/>
              <a:ext cx="36633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区分 UMA 与 NUMA、并发与并行、共享变量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与消息传递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367588" y="279463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25702" y="273177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枚举两个线程自加的全部交错，说明竞态从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何而来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367588" y="341566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25702" y="3352800"/>
              <a:ext cx="39370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读懂 OpenMP 程序中每条制导和子句的作用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7367588" y="375094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525702" y="3688080"/>
              <a:ext cx="37299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手算 static、dynamic、guided 调度下各线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程分到的迭代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7367588" y="437197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525702" y="4309110"/>
              <a:ext cx="36156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按场景选用 critical、atomic、reduction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等同步手段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528447" y="6581299"/>
              <a:ext cx="31504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第2章 线程级并行与OpenMP编程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334E6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7EDF3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5135499" cy="3351847"/>
            <a:chOff x="667512" y="1835468"/>
            <a:chExt cx="5135499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第一部分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197510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基础概念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1255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线程级并行运行在什么样的硬件上，程序又怎样组织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多处理机与共享内存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57327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UMA 与 NUMA、SMP 与 DSM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进程、线程、并发与并行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共享变量与消息传递两类模型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31504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第2章 线程级并行与OpenMP编程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052077" cy="909257"/>
            <a:chOff x="520446" y="342900"/>
            <a:chExt cx="805207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第2章 线程级并行 · 基础概念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05207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访存模型：UMA 访存一致，NUMA 内存分属各处理器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10591419" cy="541592"/>
            <a:chOff x="526161" y="1547336"/>
            <a:chExt cx="10591419" cy="54159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10591419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单核性能很难再提高时，最直接的办法是增加核心数量，即线程级并行（TLP）。多个处理机共用一个内存的结构叫多处理机，也称共</a:t>
              </a:r>
              <a:br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享内存模型。</a:t>
              </a:r>
            </a:p>
          </p:txBody>
        </p:sp>
      </p:grpSp>
      <p:grpSp>
        <p:nvGrpSpPr>
          <p:cNvPr id="15" name="c1-card-1"/>
          <p:cNvGrpSpPr/>
          <p:nvPr/>
        </p:nvGrpSpPr>
        <p:grpSpPr>
          <a:xfrm>
            <a:off x="533400" y="2204085"/>
            <a:ext cx="5410200" cy="1226820"/>
            <a:chOff x="533400" y="2204085"/>
            <a:chExt cx="5410200" cy="1226820"/>
          </a:xfrm>
        </p:grpSpPr>
        <p:sp>
          <p:nvSpPr>
            <p:cNvPr id="9" name="Rectangle 9"/>
            <p:cNvSpPr/>
            <p:nvPr/>
          </p:nvSpPr>
          <p:spPr>
            <a:xfrm>
              <a:off x="533400" y="2204085"/>
              <a:ext cx="5410200" cy="1226820"/>
            </a:xfrm>
            <a:prstGeom prst="roundRect">
              <a:avLst>
                <a:gd name="adj" fmla="val 1087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337435"/>
              <a:ext cx="47625" cy="960120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63905" y="2396490"/>
              <a:ext cx="468630" cy="24765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47828" y="2430780"/>
              <a:ext cx="3007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UMA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39977" y="2436495"/>
              <a:ext cx="31172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Uniform Memory Access，一致访存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7047" y="2769870"/>
              <a:ext cx="46428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所有处理器访问内存的方式和时间都一致，各处理器可以有自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己的私有 cache。</a:t>
              </a:r>
            </a:p>
          </p:txBody>
        </p:sp>
      </p:grpSp>
      <p:grpSp>
        <p:nvGrpSpPr>
          <p:cNvPr id="38" name="c1-graph-2"/>
          <p:cNvGrpSpPr/>
          <p:nvPr/>
        </p:nvGrpSpPr>
        <p:grpSpPr>
          <a:xfrm>
            <a:off x="1132522" y="3725228"/>
            <a:ext cx="4415791" cy="1754981"/>
            <a:chOff x="1132522" y="3725228"/>
            <a:chExt cx="4415791" cy="1754981"/>
          </a:xfrm>
        </p:grpSpPr>
        <p:sp>
          <p:nvSpPr>
            <p:cNvPr id="16" name="Freeform 16"/>
            <p:cNvSpPr/>
            <p:nvPr/>
          </p:nvSpPr>
          <p:spPr>
            <a:xfrm>
              <a:off x="2611755" y="4234815"/>
              <a:ext cx="779145" cy="270510"/>
            </a:xfrm>
            <a:custGeom>
              <a:avLst/>
              <a:gdLst/>
              <a:ahLst/>
              <a:cxnLst/>
              <a:rect l="l" t="t" r="r" b="b"/>
              <a:pathLst>
                <a:path w="779145" h="270510">
                  <a:moveTo>
                    <a:pt x="0" y="0"/>
                  </a:moveTo>
                  <a:lnTo>
                    <a:pt x="779145" y="27051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3374708" y="4460558"/>
              <a:ext cx="105727" cy="89535"/>
            </a:xfrm>
            <a:custGeom>
              <a:avLst/>
              <a:gdLst/>
              <a:ahLst/>
              <a:cxnLst/>
              <a:rect l="l" t="t" r="r" b="b"/>
              <a:pathLst>
                <a:path w="105727" h="89535">
                  <a:moveTo>
                    <a:pt x="105727" y="76200"/>
                  </a:moveTo>
                  <a:lnTo>
                    <a:pt x="0" y="89535"/>
                  </a:lnTo>
                  <a:lnTo>
                    <a:pt x="31433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8" name="Freeform 18"/>
            <p:cNvSpPr/>
            <p:nvPr/>
          </p:nvSpPr>
          <p:spPr>
            <a:xfrm>
              <a:off x="2522220" y="4190048"/>
              <a:ext cx="105727" cy="90488"/>
            </a:xfrm>
            <a:custGeom>
              <a:avLst/>
              <a:gdLst/>
              <a:ahLst/>
              <a:cxnLst/>
              <a:rect l="l" t="t" r="r" b="b"/>
              <a:pathLst>
                <a:path w="105727" h="90488">
                  <a:moveTo>
                    <a:pt x="0" y="14288"/>
                  </a:moveTo>
                  <a:lnTo>
                    <a:pt x="105727" y="0"/>
                  </a:lnTo>
                  <a:lnTo>
                    <a:pt x="74295" y="90488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2611755" y="4699635"/>
              <a:ext cx="779145" cy="270510"/>
            </a:xfrm>
            <a:custGeom>
              <a:avLst/>
              <a:gdLst/>
              <a:ahLst/>
              <a:cxnLst/>
              <a:rect l="l" t="t" r="r" b="b"/>
              <a:pathLst>
                <a:path w="779145" h="270510">
                  <a:moveTo>
                    <a:pt x="0" y="270510"/>
                  </a:moveTo>
                  <a:lnTo>
                    <a:pt x="77914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3374708" y="4654868"/>
              <a:ext cx="105727" cy="90488"/>
            </a:xfrm>
            <a:custGeom>
              <a:avLst/>
              <a:gdLst/>
              <a:ahLst/>
              <a:cxnLst/>
              <a:rect l="l" t="t" r="r" b="b"/>
              <a:pathLst>
                <a:path w="105727" h="90488">
                  <a:moveTo>
                    <a:pt x="105727" y="14288"/>
                  </a:moveTo>
                  <a:lnTo>
                    <a:pt x="31433" y="904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2522220" y="4925378"/>
              <a:ext cx="105727" cy="89535"/>
            </a:xfrm>
            <a:custGeom>
              <a:avLst/>
              <a:gdLst/>
              <a:ahLst/>
              <a:cxnLst/>
              <a:rect l="l" t="t" r="r" b="b"/>
              <a:pathLst>
                <a:path w="105727" h="89535">
                  <a:moveTo>
                    <a:pt x="0" y="76200"/>
                  </a:moveTo>
                  <a:lnTo>
                    <a:pt x="74295" y="0"/>
                  </a:lnTo>
                  <a:lnTo>
                    <a:pt x="105727" y="8953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3957638" y="4602480"/>
              <a:ext cx="662940" cy="9525"/>
            </a:xfrm>
            <a:custGeom>
              <a:avLst/>
              <a:gdLst/>
              <a:ahLst/>
              <a:cxnLst/>
              <a:rect l="l" t="t" r="r" b="b"/>
              <a:pathLst>
                <a:path w="662940" h="9525">
                  <a:moveTo>
                    <a:pt x="0" y="0"/>
                  </a:moveTo>
                  <a:lnTo>
                    <a:pt x="66294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4620578" y="455485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4" name="Freeform 24"/>
            <p:cNvSpPr/>
            <p:nvPr/>
          </p:nvSpPr>
          <p:spPr>
            <a:xfrm>
              <a:off x="3862388" y="455485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1132522" y="3725228"/>
              <a:ext cx="1399222" cy="478155"/>
            </a:xfrm>
            <a:prstGeom prst="roundRect">
              <a:avLst>
                <a:gd name="adj" fmla="val 19920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1132522" y="5001578"/>
              <a:ext cx="1399222" cy="478155"/>
            </a:xfrm>
            <a:prstGeom prst="roundRect">
              <a:avLst>
                <a:gd name="adj" fmla="val 19920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3480435" y="3735705"/>
              <a:ext cx="381000" cy="1733550"/>
            </a:xfrm>
            <a:prstGeom prst="roundRect">
              <a:avLst>
                <a:gd name="adj" fmla="val 25000"/>
              </a:avLst>
            </a:prstGeom>
            <a:solidFill>
              <a:srgbClr val="E7EDF3"/>
            </a:solidFill>
            <a:ln w="17145">
              <a:solidFill>
                <a:srgbClr val="334E68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4715828" y="4212908"/>
              <a:ext cx="832485" cy="780098"/>
            </a:xfrm>
            <a:prstGeom prst="roundRect">
              <a:avLst>
                <a:gd name="adj" fmla="val 12210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616850" y="3805714"/>
              <a:ext cx="4296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CPU 1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222187" y="3983831"/>
              <a:ext cx="12189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Core ×N + Cache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782406" y="453247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⋮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616850" y="5081111"/>
              <a:ext cx="4296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CPU N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222187" y="5260181"/>
              <a:ext cx="12189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Core ×N + Cache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589833" y="444293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总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589833" y="462200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线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975581" y="444293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共享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975581" y="462200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内存</a:t>
              </a:r>
            </a:p>
          </p:txBody>
        </p:sp>
      </p:grpSp>
      <p:grpSp>
        <p:nvGrpSpPr>
          <p:cNvPr id="45" name="c2-card-1"/>
          <p:cNvGrpSpPr/>
          <p:nvPr/>
        </p:nvGrpSpPr>
        <p:grpSpPr>
          <a:xfrm>
            <a:off x="6248400" y="2204085"/>
            <a:ext cx="5410200" cy="1226820"/>
            <a:chOff x="6248400" y="2204085"/>
            <a:chExt cx="5410200" cy="1226820"/>
          </a:xfrm>
        </p:grpSpPr>
        <p:sp>
          <p:nvSpPr>
            <p:cNvPr id="39" name="Rectangle 39"/>
            <p:cNvSpPr/>
            <p:nvPr/>
          </p:nvSpPr>
          <p:spPr>
            <a:xfrm>
              <a:off x="6248400" y="2204085"/>
              <a:ext cx="5410200" cy="1226820"/>
            </a:xfrm>
            <a:prstGeom prst="roundRect">
              <a:avLst>
                <a:gd name="adj" fmla="val 1087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6257925" y="2337435"/>
              <a:ext cx="47625" cy="960120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6478905" y="2396490"/>
              <a:ext cx="545782" cy="24765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557802" y="2430780"/>
              <a:ext cx="3870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NUMA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132130" y="2436495"/>
              <a:ext cx="372605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Non-Uniform Memory Access，非一致访存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472047" y="2769870"/>
              <a:ext cx="46428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处理器有各自的存储器。访问本地内存快，经总线访问别的处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理器的内存慢。</a:t>
              </a:r>
            </a:p>
          </p:txBody>
        </p:sp>
      </p:grpSp>
      <p:grpSp>
        <p:nvGrpSpPr>
          <p:cNvPr id="72" name="c2-graph-2"/>
          <p:cNvGrpSpPr/>
          <p:nvPr/>
        </p:nvGrpSpPr>
        <p:grpSpPr>
          <a:xfrm>
            <a:off x="6631305" y="3725228"/>
            <a:ext cx="4351973" cy="1754981"/>
            <a:chOff x="6631305" y="3725228"/>
            <a:chExt cx="4351973" cy="1754981"/>
          </a:xfrm>
        </p:grpSpPr>
        <p:sp>
          <p:nvSpPr>
            <p:cNvPr id="46" name="Freeform 46"/>
            <p:cNvSpPr/>
            <p:nvPr/>
          </p:nvSpPr>
          <p:spPr>
            <a:xfrm>
              <a:off x="7366635" y="3964305"/>
              <a:ext cx="576262" cy="9525"/>
            </a:xfrm>
            <a:custGeom>
              <a:avLst/>
              <a:gdLst/>
              <a:ahLst/>
              <a:cxnLst/>
              <a:rect l="l" t="t" r="r" b="b"/>
              <a:pathLst>
                <a:path w="576262" h="9525">
                  <a:moveTo>
                    <a:pt x="0" y="0"/>
                  </a:moveTo>
                  <a:lnTo>
                    <a:pt x="57626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7" name="Freeform 47"/>
            <p:cNvSpPr/>
            <p:nvPr/>
          </p:nvSpPr>
          <p:spPr>
            <a:xfrm>
              <a:off x="7942898" y="391668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8" name="Freeform 48"/>
            <p:cNvSpPr/>
            <p:nvPr/>
          </p:nvSpPr>
          <p:spPr>
            <a:xfrm>
              <a:off x="7271385" y="391668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9" name="Freeform 49"/>
            <p:cNvSpPr/>
            <p:nvPr/>
          </p:nvSpPr>
          <p:spPr>
            <a:xfrm>
              <a:off x="7366635" y="5240655"/>
              <a:ext cx="576262" cy="9525"/>
            </a:xfrm>
            <a:custGeom>
              <a:avLst/>
              <a:gdLst/>
              <a:ahLst/>
              <a:cxnLst/>
              <a:rect l="l" t="t" r="r" b="b"/>
              <a:pathLst>
                <a:path w="576262" h="9525">
                  <a:moveTo>
                    <a:pt x="0" y="0"/>
                  </a:moveTo>
                  <a:lnTo>
                    <a:pt x="57626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0" name="Freeform 50"/>
            <p:cNvSpPr/>
            <p:nvPr/>
          </p:nvSpPr>
          <p:spPr>
            <a:xfrm>
              <a:off x="7942898" y="519303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1" name="Freeform 51"/>
            <p:cNvSpPr/>
            <p:nvPr/>
          </p:nvSpPr>
          <p:spPr>
            <a:xfrm>
              <a:off x="7271385" y="519303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2" name="Freeform 52"/>
            <p:cNvSpPr/>
            <p:nvPr/>
          </p:nvSpPr>
          <p:spPr>
            <a:xfrm>
              <a:off x="9527858" y="4210050"/>
              <a:ext cx="982980" cy="304800"/>
            </a:xfrm>
            <a:custGeom>
              <a:avLst/>
              <a:gdLst/>
              <a:ahLst/>
              <a:cxnLst/>
              <a:rect l="l" t="t" r="r" b="b"/>
              <a:pathLst>
                <a:path w="982980" h="304800">
                  <a:moveTo>
                    <a:pt x="0" y="0"/>
                  </a:moveTo>
                  <a:lnTo>
                    <a:pt x="982980" y="30480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3" name="Freeform 53"/>
            <p:cNvSpPr/>
            <p:nvPr/>
          </p:nvSpPr>
          <p:spPr>
            <a:xfrm>
              <a:off x="10497502" y="4470082"/>
              <a:ext cx="104775" cy="90488"/>
            </a:xfrm>
            <a:custGeom>
              <a:avLst/>
              <a:gdLst/>
              <a:ahLst/>
              <a:cxnLst/>
              <a:rect l="l" t="t" r="r" b="b"/>
              <a:pathLst>
                <a:path w="104775" h="90488">
                  <a:moveTo>
                    <a:pt x="104775" y="73342"/>
                  </a:moveTo>
                  <a:lnTo>
                    <a:pt x="0" y="90488"/>
                  </a:lnTo>
                  <a:lnTo>
                    <a:pt x="27623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4" name="Freeform 54"/>
            <p:cNvSpPr/>
            <p:nvPr/>
          </p:nvSpPr>
          <p:spPr>
            <a:xfrm>
              <a:off x="9436418" y="4164330"/>
              <a:ext cx="104775" cy="91440"/>
            </a:xfrm>
            <a:custGeom>
              <a:avLst/>
              <a:gdLst/>
              <a:ahLst/>
              <a:cxnLst/>
              <a:rect l="l" t="t" r="r" b="b"/>
              <a:pathLst>
                <a:path w="104775" h="91440">
                  <a:moveTo>
                    <a:pt x="0" y="17145"/>
                  </a:moveTo>
                  <a:lnTo>
                    <a:pt x="104775" y="0"/>
                  </a:lnTo>
                  <a:lnTo>
                    <a:pt x="77152" y="9144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5" name="Freeform 55"/>
            <p:cNvSpPr/>
            <p:nvPr/>
          </p:nvSpPr>
          <p:spPr>
            <a:xfrm>
              <a:off x="9527858" y="4690110"/>
              <a:ext cx="982980" cy="304800"/>
            </a:xfrm>
            <a:custGeom>
              <a:avLst/>
              <a:gdLst/>
              <a:ahLst/>
              <a:cxnLst/>
              <a:rect l="l" t="t" r="r" b="b"/>
              <a:pathLst>
                <a:path w="982980" h="304800">
                  <a:moveTo>
                    <a:pt x="0" y="304800"/>
                  </a:moveTo>
                  <a:lnTo>
                    <a:pt x="98298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6" name="Freeform 56"/>
            <p:cNvSpPr/>
            <p:nvPr/>
          </p:nvSpPr>
          <p:spPr>
            <a:xfrm>
              <a:off x="10497502" y="4644390"/>
              <a:ext cx="104775" cy="91440"/>
            </a:xfrm>
            <a:custGeom>
              <a:avLst/>
              <a:gdLst/>
              <a:ahLst/>
              <a:cxnLst/>
              <a:rect l="l" t="t" r="r" b="b"/>
              <a:pathLst>
                <a:path w="104775" h="91440">
                  <a:moveTo>
                    <a:pt x="104775" y="17145"/>
                  </a:moveTo>
                  <a:lnTo>
                    <a:pt x="27623" y="914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7" name="Freeform 57"/>
            <p:cNvSpPr/>
            <p:nvPr/>
          </p:nvSpPr>
          <p:spPr>
            <a:xfrm>
              <a:off x="9436418" y="4950142"/>
              <a:ext cx="104775" cy="90488"/>
            </a:xfrm>
            <a:custGeom>
              <a:avLst/>
              <a:gdLst/>
              <a:ahLst/>
              <a:cxnLst/>
              <a:rect l="l" t="t" r="r" b="b"/>
              <a:pathLst>
                <a:path w="104775" h="90488">
                  <a:moveTo>
                    <a:pt x="0" y="73342"/>
                  </a:moveTo>
                  <a:lnTo>
                    <a:pt x="77152" y="0"/>
                  </a:lnTo>
                  <a:lnTo>
                    <a:pt x="104775" y="90488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6631305" y="3814762"/>
              <a:ext cx="640080" cy="300038"/>
            </a:xfrm>
            <a:prstGeom prst="roundRect">
              <a:avLst>
                <a:gd name="adj" fmla="val 31746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8038148" y="3725228"/>
              <a:ext cx="1399222" cy="478155"/>
            </a:xfrm>
            <a:prstGeom prst="roundRect">
              <a:avLst>
                <a:gd name="adj" fmla="val 19920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6631305" y="5090160"/>
              <a:ext cx="640080" cy="300038"/>
            </a:xfrm>
            <a:prstGeom prst="roundRect">
              <a:avLst>
                <a:gd name="adj" fmla="val 31746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8038148" y="5001578"/>
              <a:ext cx="1399222" cy="478155"/>
            </a:xfrm>
            <a:prstGeom prst="roundRect">
              <a:avLst>
                <a:gd name="adj" fmla="val 19920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62" name="Rectangle 62"/>
            <p:cNvSpPr/>
            <p:nvPr/>
          </p:nvSpPr>
          <p:spPr>
            <a:xfrm>
              <a:off x="10602278" y="3735705"/>
              <a:ext cx="381000" cy="1733550"/>
            </a:xfrm>
            <a:prstGeom prst="roundRect">
              <a:avLst>
                <a:gd name="adj" fmla="val 25000"/>
              </a:avLst>
            </a:prstGeom>
            <a:solidFill>
              <a:srgbClr val="E7EDF3"/>
            </a:solidFill>
            <a:ln w="17145">
              <a:solidFill>
                <a:srgbClr val="334E68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727573" y="3894296"/>
              <a:ext cx="4475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内存 1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522475" y="3805714"/>
              <a:ext cx="4296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CPU 1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8127812" y="3983831"/>
              <a:ext cx="12189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Core ×N + Cache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8688031" y="453247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⋮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723764" y="5170646"/>
              <a:ext cx="4551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内存 N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8522475" y="5081111"/>
              <a:ext cx="4296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CPU N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8127812" y="5260181"/>
              <a:ext cx="12189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Core ×N + Cache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0711675" y="444293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总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0711675" y="462200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线</a:t>
              </a:r>
            </a:p>
          </p:txBody>
        </p:sp>
      </p:grpSp>
      <p:grpSp>
        <p:nvGrpSpPr>
          <p:cNvPr id="78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73" name="Rectangle 73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76" name="Group 76"/>
            <p:cNvGrpSpPr/>
            <p:nvPr/>
          </p:nvGrpSpPr>
          <p:grpSpPr>
            <a:xfrm>
              <a:off x="738188" y="6017897"/>
              <a:ext cx="200023" cy="200023"/>
              <a:chOff x="738188" y="6017897"/>
              <a:chExt cx="200023" cy="200023"/>
            </a:xfrm>
          </p:grpSpPr>
          <p:sp>
            <p:nvSpPr>
              <p:cNvPr id="74" name="Freeform 74"/>
              <p:cNvSpPr/>
              <p:nvPr/>
            </p:nvSpPr>
            <p:spPr>
              <a:xfrm>
                <a:off x="738188" y="60178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5" name="Freeform 75"/>
              <p:cNvSpPr/>
              <p:nvPr/>
            </p:nvSpPr>
            <p:spPr>
              <a:xfrm>
                <a:off x="871538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7" name="TextBox 77"/>
            <p:cNvSpPr txBox="1"/>
            <p:nvPr/>
          </p:nvSpPr>
          <p:spPr>
            <a:xfrm>
              <a:off x="1040892" y="6023610"/>
              <a:ext cx="87370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两种模型都有统一的地址空间，程序看到的是同一片内存，所以都属于共享内存模型。本章只讨论这种情况。</a:t>
              </a:r>
            </a:p>
          </p:txBody>
        </p:sp>
      </p:grpSp>
      <p:grpSp>
        <p:nvGrpSpPr>
          <p:cNvPr id="8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9" name="TextBox 79"/>
            <p:cNvSpPr txBox="1"/>
            <p:nvPr/>
          </p:nvSpPr>
          <p:spPr>
            <a:xfrm>
              <a:off x="528447" y="6581299"/>
              <a:ext cx="31504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第2章 线程级并行与OpenMP编程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70303" cy="909257"/>
            <a:chOff x="520446" y="342900"/>
            <a:chExt cx="727030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第2章 线程级并行 · 基础概念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7030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两种典型结构：集中式的 SMP 与分布式的 DSM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5" name="c1-graph-1"/>
          <p:cNvGrpSpPr/>
          <p:nvPr/>
        </p:nvGrpSpPr>
        <p:grpSpPr>
          <a:xfrm>
            <a:off x="857250" y="1649730"/>
            <a:ext cx="4779645" cy="2082546"/>
            <a:chOff x="857250" y="1649730"/>
            <a:chExt cx="4779645" cy="2082546"/>
          </a:xfrm>
        </p:grpSpPr>
        <p:sp>
          <p:nvSpPr>
            <p:cNvPr id="7" name="Freeform 7"/>
            <p:cNvSpPr/>
            <p:nvPr/>
          </p:nvSpPr>
          <p:spPr>
            <a:xfrm>
              <a:off x="1579245" y="2051685"/>
              <a:ext cx="1214438" cy="520065"/>
            </a:xfrm>
            <a:custGeom>
              <a:avLst/>
              <a:gdLst/>
              <a:ahLst/>
              <a:cxnLst/>
              <a:rect l="l" t="t" r="r" b="b"/>
              <a:pathLst>
                <a:path w="1214438" h="520065">
                  <a:moveTo>
                    <a:pt x="0" y="0"/>
                  </a:moveTo>
                  <a:lnTo>
                    <a:pt x="1214438" y="52006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2782252" y="2160270"/>
              <a:ext cx="312420" cy="411480"/>
            </a:xfrm>
            <a:custGeom>
              <a:avLst/>
              <a:gdLst/>
              <a:ahLst/>
              <a:cxnLst/>
              <a:rect l="l" t="t" r="r" b="b"/>
              <a:pathLst>
                <a:path w="312420" h="411480">
                  <a:moveTo>
                    <a:pt x="0" y="0"/>
                  </a:moveTo>
                  <a:lnTo>
                    <a:pt x="312420" y="41148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3394710" y="2160270"/>
              <a:ext cx="338138" cy="411480"/>
            </a:xfrm>
            <a:custGeom>
              <a:avLst/>
              <a:gdLst/>
              <a:ahLst/>
              <a:cxnLst/>
              <a:rect l="l" t="t" r="r" b="b"/>
              <a:pathLst>
                <a:path w="338138" h="411480">
                  <a:moveTo>
                    <a:pt x="338138" y="0"/>
                  </a:moveTo>
                  <a:lnTo>
                    <a:pt x="0" y="41148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3695700" y="2047875"/>
              <a:ext cx="1255395" cy="523875"/>
            </a:xfrm>
            <a:custGeom>
              <a:avLst/>
              <a:gdLst/>
              <a:ahLst/>
              <a:cxnLst/>
              <a:rect l="l" t="t" r="r" b="b"/>
              <a:pathLst>
                <a:path w="1255395" h="523875">
                  <a:moveTo>
                    <a:pt x="1255395" y="0"/>
                  </a:moveTo>
                  <a:lnTo>
                    <a:pt x="0" y="52387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2446972" y="3009900"/>
              <a:ext cx="461010" cy="344805"/>
            </a:xfrm>
            <a:custGeom>
              <a:avLst/>
              <a:gdLst/>
              <a:ahLst/>
              <a:cxnLst/>
              <a:rect l="l" t="t" r="r" b="b"/>
              <a:pathLst>
                <a:path w="461010" h="344805">
                  <a:moveTo>
                    <a:pt x="461010" y="0"/>
                  </a:moveTo>
                  <a:lnTo>
                    <a:pt x="0" y="34480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2370772" y="3316605"/>
              <a:ext cx="104775" cy="95250"/>
            </a:xfrm>
            <a:custGeom>
              <a:avLst/>
              <a:gdLst/>
              <a:ahLst/>
              <a:cxnLst/>
              <a:rect l="l" t="t" r="r" b="b"/>
              <a:pathLst>
                <a:path w="104775" h="95250">
                  <a:moveTo>
                    <a:pt x="0" y="95250"/>
                  </a:moveTo>
                  <a:lnTo>
                    <a:pt x="47625" y="0"/>
                  </a:lnTo>
                  <a:lnTo>
                    <a:pt x="104775" y="7620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2879408" y="2952750"/>
              <a:ext cx="104775" cy="95250"/>
            </a:xfrm>
            <a:custGeom>
              <a:avLst/>
              <a:gdLst/>
              <a:ahLst/>
              <a:cxnLst/>
              <a:rect l="l" t="t" r="r" b="b"/>
              <a:pathLst>
                <a:path w="104775" h="95250">
                  <a:moveTo>
                    <a:pt x="104775" y="0"/>
                  </a:moveTo>
                  <a:lnTo>
                    <a:pt x="57150" y="952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4" name="Freeform 14"/>
            <p:cNvSpPr/>
            <p:nvPr/>
          </p:nvSpPr>
          <p:spPr>
            <a:xfrm>
              <a:off x="3597592" y="3006090"/>
              <a:ext cx="517208" cy="352425"/>
            </a:xfrm>
            <a:custGeom>
              <a:avLst/>
              <a:gdLst/>
              <a:ahLst/>
              <a:cxnLst/>
              <a:rect l="l" t="t" r="r" b="b"/>
              <a:pathLst>
                <a:path w="517208" h="352425">
                  <a:moveTo>
                    <a:pt x="0" y="0"/>
                  </a:moveTo>
                  <a:lnTo>
                    <a:pt x="517208" y="35242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4088130" y="3318510"/>
              <a:ext cx="105728" cy="93345"/>
            </a:xfrm>
            <a:custGeom>
              <a:avLst/>
              <a:gdLst/>
              <a:ahLst/>
              <a:cxnLst/>
              <a:rect l="l" t="t" r="r" b="b"/>
              <a:pathLst>
                <a:path w="105728" h="93345">
                  <a:moveTo>
                    <a:pt x="105728" y="93345"/>
                  </a:moveTo>
                  <a:lnTo>
                    <a:pt x="0" y="79058"/>
                  </a:lnTo>
                  <a:lnTo>
                    <a:pt x="5334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6" name="Freeform 16"/>
            <p:cNvSpPr/>
            <p:nvPr/>
          </p:nvSpPr>
          <p:spPr>
            <a:xfrm>
              <a:off x="3518535" y="2952750"/>
              <a:ext cx="105728" cy="93345"/>
            </a:xfrm>
            <a:custGeom>
              <a:avLst/>
              <a:gdLst/>
              <a:ahLst/>
              <a:cxnLst/>
              <a:rect l="l" t="t" r="r" b="b"/>
              <a:pathLst>
                <a:path w="105728" h="93345">
                  <a:moveTo>
                    <a:pt x="0" y="0"/>
                  </a:moveTo>
                  <a:lnTo>
                    <a:pt x="105728" y="14288"/>
                  </a:lnTo>
                  <a:lnTo>
                    <a:pt x="52388" y="9334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893445" y="1649730"/>
              <a:ext cx="685800" cy="510540"/>
            </a:xfrm>
            <a:prstGeom prst="roundRect">
              <a:avLst>
                <a:gd name="adj" fmla="val 18657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2245995" y="1649730"/>
              <a:ext cx="685800" cy="510540"/>
            </a:xfrm>
            <a:prstGeom prst="roundRect">
              <a:avLst>
                <a:gd name="adj" fmla="val 18657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3598545" y="1649730"/>
              <a:ext cx="685800" cy="510540"/>
            </a:xfrm>
            <a:prstGeom prst="roundRect">
              <a:avLst>
                <a:gd name="adj" fmla="val 18657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4951095" y="1649730"/>
              <a:ext cx="685800" cy="510540"/>
            </a:xfrm>
            <a:prstGeom prst="roundRect">
              <a:avLst>
                <a:gd name="adj" fmla="val 18657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857250" y="2571750"/>
              <a:ext cx="4762500" cy="381000"/>
            </a:xfrm>
            <a:prstGeom prst="roundRect">
              <a:avLst>
                <a:gd name="adj" fmla="val 25000"/>
              </a:avLst>
            </a:prstGeom>
            <a:solidFill>
              <a:srgbClr val="E7EDF3"/>
            </a:solidFill>
            <a:ln w="17145">
              <a:solidFill>
                <a:srgbClr val="334E68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1737360" y="3411855"/>
              <a:ext cx="838200" cy="320040"/>
            </a:xfrm>
            <a:prstGeom prst="roundRect">
              <a:avLst>
                <a:gd name="adj" fmla="val 29762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010025" y="3411855"/>
              <a:ext cx="837248" cy="320040"/>
            </a:xfrm>
            <a:prstGeom prst="roundRect">
              <a:avLst>
                <a:gd name="adj" fmla="val 29762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87933" y="173545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处理器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96616" y="1925955"/>
              <a:ext cx="4794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缓存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340483" y="173545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处理器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349166" y="1925955"/>
              <a:ext cx="4794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缓存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693033" y="173545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处理器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701716" y="1925955"/>
              <a:ext cx="4794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缓存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045583" y="173545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处理器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054266" y="1925955"/>
              <a:ext cx="4794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缓存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650240" y="2687955"/>
              <a:ext cx="11765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总线 / 共享缓存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827276" y="349758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主存储器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091224" y="3497580"/>
              <a:ext cx="67580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I/O 系统</a:t>
              </a:r>
            </a:p>
          </p:txBody>
        </p:sp>
      </p:grpSp>
      <p:grpSp>
        <p:nvGrpSpPr>
          <p:cNvPr id="46" name="c1-card-2"/>
          <p:cNvGrpSpPr/>
          <p:nvPr/>
        </p:nvGrpSpPr>
        <p:grpSpPr>
          <a:xfrm>
            <a:off x="533400" y="4095750"/>
            <a:ext cx="5410200" cy="2202180"/>
            <a:chOff x="533400" y="4095750"/>
            <a:chExt cx="5410200" cy="2202180"/>
          </a:xfrm>
        </p:grpSpPr>
        <p:sp>
          <p:nvSpPr>
            <p:cNvPr id="36" name="Rectangle 36"/>
            <p:cNvSpPr/>
            <p:nvPr/>
          </p:nvSpPr>
          <p:spPr>
            <a:xfrm>
              <a:off x="533400" y="4095750"/>
              <a:ext cx="5410200" cy="2202180"/>
            </a:xfrm>
            <a:prstGeom prst="roundRect">
              <a:avLst>
                <a:gd name="adj" fmla="val 605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542925" y="4229100"/>
              <a:ext cx="47625" cy="193548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781050" y="4305300"/>
              <a:ext cx="815340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52411" y="4341019"/>
              <a:ext cx="6726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典型 UMA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703070" y="4340542"/>
              <a:ext cx="37277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SMP 对称多处理机（集中式共享存储器）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786765" y="476440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944880" y="4701540"/>
              <a:ext cx="46596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各处理器经总线共享一个集中的主存，访存时间相同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786765" y="509968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944880" y="5036820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所有处理器地位对等，任何一个都能运行操作系统和任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何进程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74573" y="5654516"/>
              <a:ext cx="453992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补充：总线带宽有限，SMP 通常只放几个到几十个处理器。</a:t>
              </a:r>
            </a:p>
          </p:txBody>
        </p:sp>
      </p:grpSp>
      <p:grpSp>
        <p:nvGrpSpPr>
          <p:cNvPr id="73" name="c2-graph-1"/>
          <p:cNvGrpSpPr/>
          <p:nvPr/>
        </p:nvGrpSpPr>
        <p:grpSpPr>
          <a:xfrm>
            <a:off x="6572250" y="1625918"/>
            <a:ext cx="4762500" cy="2177796"/>
            <a:chOff x="6572250" y="1625918"/>
            <a:chExt cx="4762500" cy="2177796"/>
          </a:xfrm>
        </p:grpSpPr>
        <p:sp>
          <p:nvSpPr>
            <p:cNvPr id="47" name="Freeform 47"/>
            <p:cNvSpPr/>
            <p:nvPr/>
          </p:nvSpPr>
          <p:spPr>
            <a:xfrm>
              <a:off x="7912418" y="2180272"/>
              <a:ext cx="548640" cy="280987"/>
            </a:xfrm>
            <a:custGeom>
              <a:avLst/>
              <a:gdLst/>
              <a:ahLst/>
              <a:cxnLst/>
              <a:rect l="l" t="t" r="r" b="b"/>
              <a:pathLst>
                <a:path w="548640" h="280987">
                  <a:moveTo>
                    <a:pt x="0" y="0"/>
                  </a:moveTo>
                  <a:lnTo>
                    <a:pt x="548640" y="28098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8" name="Freeform 48"/>
            <p:cNvSpPr/>
            <p:nvPr/>
          </p:nvSpPr>
          <p:spPr>
            <a:xfrm>
              <a:off x="8439150" y="2419350"/>
              <a:ext cx="106680" cy="85725"/>
            </a:xfrm>
            <a:custGeom>
              <a:avLst/>
              <a:gdLst/>
              <a:ahLst/>
              <a:cxnLst/>
              <a:rect l="l" t="t" r="r" b="b"/>
              <a:pathLst>
                <a:path w="106680" h="85725">
                  <a:moveTo>
                    <a:pt x="106680" y="85725"/>
                  </a:moveTo>
                  <a:lnTo>
                    <a:pt x="0" y="84772"/>
                  </a:lnTo>
                  <a:lnTo>
                    <a:pt x="42862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9" name="Freeform 49"/>
            <p:cNvSpPr/>
            <p:nvPr/>
          </p:nvSpPr>
          <p:spPr>
            <a:xfrm>
              <a:off x="7827645" y="2136458"/>
              <a:ext cx="106680" cy="85725"/>
            </a:xfrm>
            <a:custGeom>
              <a:avLst/>
              <a:gdLst/>
              <a:ahLst/>
              <a:cxnLst/>
              <a:rect l="l" t="t" r="r" b="b"/>
              <a:pathLst>
                <a:path w="106680" h="85725">
                  <a:moveTo>
                    <a:pt x="0" y="0"/>
                  </a:moveTo>
                  <a:lnTo>
                    <a:pt x="106680" y="952"/>
                  </a:lnTo>
                  <a:lnTo>
                    <a:pt x="62865" y="8572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0" name="Freeform 50"/>
            <p:cNvSpPr/>
            <p:nvPr/>
          </p:nvSpPr>
          <p:spPr>
            <a:xfrm>
              <a:off x="9445942" y="2180272"/>
              <a:ext cx="548640" cy="280987"/>
            </a:xfrm>
            <a:custGeom>
              <a:avLst/>
              <a:gdLst/>
              <a:ahLst/>
              <a:cxnLst/>
              <a:rect l="l" t="t" r="r" b="b"/>
              <a:pathLst>
                <a:path w="548640" h="280987">
                  <a:moveTo>
                    <a:pt x="548640" y="0"/>
                  </a:moveTo>
                  <a:lnTo>
                    <a:pt x="0" y="28098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1" name="Freeform 51"/>
            <p:cNvSpPr/>
            <p:nvPr/>
          </p:nvSpPr>
          <p:spPr>
            <a:xfrm>
              <a:off x="9361170" y="2419350"/>
              <a:ext cx="106680" cy="85725"/>
            </a:xfrm>
            <a:custGeom>
              <a:avLst/>
              <a:gdLst/>
              <a:ahLst/>
              <a:cxnLst/>
              <a:rect l="l" t="t" r="r" b="b"/>
              <a:pathLst>
                <a:path w="106680" h="85725">
                  <a:moveTo>
                    <a:pt x="0" y="85725"/>
                  </a:moveTo>
                  <a:lnTo>
                    <a:pt x="63818" y="0"/>
                  </a:lnTo>
                  <a:lnTo>
                    <a:pt x="106680" y="84772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2" name="Freeform 52"/>
            <p:cNvSpPr/>
            <p:nvPr/>
          </p:nvSpPr>
          <p:spPr>
            <a:xfrm>
              <a:off x="9972675" y="2136458"/>
              <a:ext cx="106680" cy="85725"/>
            </a:xfrm>
            <a:custGeom>
              <a:avLst/>
              <a:gdLst/>
              <a:ahLst/>
              <a:cxnLst/>
              <a:rect l="l" t="t" r="r" b="b"/>
              <a:pathLst>
                <a:path w="106680" h="85725">
                  <a:moveTo>
                    <a:pt x="106680" y="0"/>
                  </a:moveTo>
                  <a:lnTo>
                    <a:pt x="43815" y="85725"/>
                  </a:lnTo>
                  <a:lnTo>
                    <a:pt x="0" y="952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3" name="Freeform 53"/>
            <p:cNvSpPr/>
            <p:nvPr/>
          </p:nvSpPr>
          <p:spPr>
            <a:xfrm>
              <a:off x="7912418" y="2967990"/>
              <a:ext cx="548640" cy="280988"/>
            </a:xfrm>
            <a:custGeom>
              <a:avLst/>
              <a:gdLst/>
              <a:ahLst/>
              <a:cxnLst/>
              <a:rect l="l" t="t" r="r" b="b"/>
              <a:pathLst>
                <a:path w="548640" h="280988">
                  <a:moveTo>
                    <a:pt x="0" y="280988"/>
                  </a:moveTo>
                  <a:lnTo>
                    <a:pt x="54864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4" name="Freeform 54"/>
            <p:cNvSpPr/>
            <p:nvPr/>
          </p:nvSpPr>
          <p:spPr>
            <a:xfrm>
              <a:off x="8439150" y="2924175"/>
              <a:ext cx="106680" cy="85725"/>
            </a:xfrm>
            <a:custGeom>
              <a:avLst/>
              <a:gdLst/>
              <a:ahLst/>
              <a:cxnLst/>
              <a:rect l="l" t="t" r="r" b="b"/>
              <a:pathLst>
                <a:path w="106680" h="85725">
                  <a:moveTo>
                    <a:pt x="106680" y="0"/>
                  </a:moveTo>
                  <a:lnTo>
                    <a:pt x="42862" y="85725"/>
                  </a:lnTo>
                  <a:lnTo>
                    <a:pt x="0" y="953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5" name="Freeform 55"/>
            <p:cNvSpPr/>
            <p:nvPr/>
          </p:nvSpPr>
          <p:spPr>
            <a:xfrm>
              <a:off x="7827645" y="3207068"/>
              <a:ext cx="106680" cy="85725"/>
            </a:xfrm>
            <a:custGeom>
              <a:avLst/>
              <a:gdLst/>
              <a:ahLst/>
              <a:cxnLst/>
              <a:rect l="l" t="t" r="r" b="b"/>
              <a:pathLst>
                <a:path w="106680" h="85725">
                  <a:moveTo>
                    <a:pt x="0" y="85725"/>
                  </a:moveTo>
                  <a:lnTo>
                    <a:pt x="62865" y="0"/>
                  </a:lnTo>
                  <a:lnTo>
                    <a:pt x="106680" y="84773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6" name="Freeform 56"/>
            <p:cNvSpPr/>
            <p:nvPr/>
          </p:nvSpPr>
          <p:spPr>
            <a:xfrm>
              <a:off x="9445942" y="2967990"/>
              <a:ext cx="548640" cy="280988"/>
            </a:xfrm>
            <a:custGeom>
              <a:avLst/>
              <a:gdLst/>
              <a:ahLst/>
              <a:cxnLst/>
              <a:rect l="l" t="t" r="r" b="b"/>
              <a:pathLst>
                <a:path w="548640" h="280988">
                  <a:moveTo>
                    <a:pt x="548640" y="280988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7" name="Freeform 57"/>
            <p:cNvSpPr/>
            <p:nvPr/>
          </p:nvSpPr>
          <p:spPr>
            <a:xfrm>
              <a:off x="9361170" y="2924175"/>
              <a:ext cx="106680" cy="85725"/>
            </a:xfrm>
            <a:custGeom>
              <a:avLst/>
              <a:gdLst/>
              <a:ahLst/>
              <a:cxnLst/>
              <a:rect l="l" t="t" r="r" b="b"/>
              <a:pathLst>
                <a:path w="106680" h="85725">
                  <a:moveTo>
                    <a:pt x="0" y="0"/>
                  </a:moveTo>
                  <a:lnTo>
                    <a:pt x="106680" y="953"/>
                  </a:lnTo>
                  <a:lnTo>
                    <a:pt x="63818" y="8572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8" name="Freeform 58"/>
            <p:cNvSpPr/>
            <p:nvPr/>
          </p:nvSpPr>
          <p:spPr>
            <a:xfrm>
              <a:off x="9972675" y="3207068"/>
              <a:ext cx="106680" cy="85725"/>
            </a:xfrm>
            <a:custGeom>
              <a:avLst/>
              <a:gdLst/>
              <a:ahLst/>
              <a:cxnLst/>
              <a:rect l="l" t="t" r="r" b="b"/>
              <a:pathLst>
                <a:path w="106680" h="85725">
                  <a:moveTo>
                    <a:pt x="106680" y="85725"/>
                  </a:moveTo>
                  <a:lnTo>
                    <a:pt x="0" y="84773"/>
                  </a:lnTo>
                  <a:lnTo>
                    <a:pt x="43815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6799898" y="1625918"/>
              <a:ext cx="1061085" cy="510540"/>
            </a:xfrm>
            <a:prstGeom prst="roundRect">
              <a:avLst>
                <a:gd name="adj" fmla="val 18657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10046018" y="1625918"/>
              <a:ext cx="1061085" cy="510540"/>
            </a:xfrm>
            <a:prstGeom prst="roundRect">
              <a:avLst>
                <a:gd name="adj" fmla="val 18657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6572250" y="2505075"/>
              <a:ext cx="4762500" cy="419100"/>
            </a:xfrm>
            <a:prstGeom prst="roundRect">
              <a:avLst>
                <a:gd name="adj" fmla="val 22727"/>
              </a:avLst>
            </a:prstGeom>
            <a:solidFill>
              <a:srgbClr val="E7EDF3"/>
            </a:solidFill>
            <a:ln w="17145">
              <a:solidFill>
                <a:srgbClr val="334E68"/>
              </a:solidFill>
            </a:ln>
          </p:spPr>
        </p:sp>
        <p:sp>
          <p:nvSpPr>
            <p:cNvPr id="62" name="Rectangle 62"/>
            <p:cNvSpPr/>
            <p:nvPr/>
          </p:nvSpPr>
          <p:spPr>
            <a:xfrm>
              <a:off x="6799898" y="3292792"/>
              <a:ext cx="1061085" cy="510540"/>
            </a:xfrm>
            <a:prstGeom prst="roundRect">
              <a:avLst>
                <a:gd name="adj" fmla="val 18657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63" name="Rectangle 63"/>
            <p:cNvSpPr/>
            <p:nvPr/>
          </p:nvSpPr>
          <p:spPr>
            <a:xfrm>
              <a:off x="10046018" y="3292792"/>
              <a:ext cx="1061085" cy="510540"/>
            </a:xfrm>
            <a:prstGeom prst="roundRect">
              <a:avLst>
                <a:gd name="adj" fmla="val 18657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7090711" y="1711643"/>
              <a:ext cx="4794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节点 1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858366" y="1902143"/>
              <a:ext cx="9441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 + M + I/O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0336831" y="1711643"/>
              <a:ext cx="4794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节点 2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0104486" y="1902143"/>
              <a:ext cx="9441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 + M + I/O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8624316" y="264033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互联网络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090711" y="3378518"/>
              <a:ext cx="4794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节点 3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858366" y="3569018"/>
              <a:ext cx="9441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 + M + I/O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0336831" y="3378518"/>
              <a:ext cx="4794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节点 4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0104486" y="3569018"/>
              <a:ext cx="9441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 + M + I/O</a:t>
              </a:r>
            </a:p>
          </p:txBody>
        </p:sp>
      </p:grpSp>
      <p:grpSp>
        <p:nvGrpSpPr>
          <p:cNvPr id="84" name="c2-card-2"/>
          <p:cNvGrpSpPr/>
          <p:nvPr/>
        </p:nvGrpSpPr>
        <p:grpSpPr>
          <a:xfrm>
            <a:off x="6248400" y="4095750"/>
            <a:ext cx="5410200" cy="2202180"/>
            <a:chOff x="6248400" y="4095750"/>
            <a:chExt cx="5410200" cy="2202180"/>
          </a:xfrm>
        </p:grpSpPr>
        <p:sp>
          <p:nvSpPr>
            <p:cNvPr id="74" name="Rectangle 74"/>
            <p:cNvSpPr/>
            <p:nvPr/>
          </p:nvSpPr>
          <p:spPr>
            <a:xfrm>
              <a:off x="6248400" y="4095750"/>
              <a:ext cx="5410200" cy="2202180"/>
            </a:xfrm>
            <a:prstGeom prst="roundRect">
              <a:avLst>
                <a:gd name="adj" fmla="val 605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5" name="Rectangle 75"/>
            <p:cNvSpPr/>
            <p:nvPr/>
          </p:nvSpPr>
          <p:spPr>
            <a:xfrm>
              <a:off x="6257925" y="4229100"/>
              <a:ext cx="47625" cy="193548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76" name="Rectangle 76"/>
            <p:cNvSpPr/>
            <p:nvPr/>
          </p:nvSpPr>
          <p:spPr>
            <a:xfrm>
              <a:off x="6496050" y="4305300"/>
              <a:ext cx="897255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6562368" y="4341019"/>
              <a:ext cx="7646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典型 NUMA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7499985" y="4340542"/>
              <a:ext cx="21123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DSM 分布式共享存储器</a:t>
              </a:r>
            </a:p>
          </p:txBody>
        </p:sp>
        <p:sp>
          <p:nvSpPr>
            <p:cNvPr id="79" name="Ellipse 79"/>
            <p:cNvSpPr/>
            <p:nvPr/>
          </p:nvSpPr>
          <p:spPr>
            <a:xfrm>
              <a:off x="6501765" y="476440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6659880" y="4701540"/>
              <a:ext cx="42633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存储器物理上分散在各节点（M：存储器，P：处理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器）</a:t>
              </a:r>
            </a:p>
          </p:txBody>
        </p:sp>
        <p:sp>
          <p:nvSpPr>
            <p:cNvPr id="81" name="Ellipse 81"/>
            <p:cNvSpPr/>
            <p:nvPr/>
          </p:nvSpPr>
          <p:spPr>
            <a:xfrm>
              <a:off x="6501765" y="538543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6659880" y="5322570"/>
              <a:ext cx="42557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逻辑上统一编址，任何处理器都能访问全部内存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6489573" y="5654516"/>
              <a:ext cx="440207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访问本节点内存快，经互联网络访问其他节点内存慢，所以是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NUMA。</a:t>
              </a:r>
            </a:p>
          </p:txBody>
        </p:sp>
      </p:grpSp>
      <p:grpSp>
        <p:nvGrpSpPr>
          <p:cNvPr id="8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5" name="TextBox 85"/>
            <p:cNvSpPr txBox="1"/>
            <p:nvPr/>
          </p:nvSpPr>
          <p:spPr>
            <a:xfrm>
              <a:off x="528447" y="6581299"/>
              <a:ext cx="31504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第2章 线程级并行与OpenMP编程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749812" cy="909257"/>
            <a:chOff x="520446" y="342900"/>
            <a:chExt cx="874981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第2章 线程级并行 · 基础概念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74981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Core、Die、Package、Socket：从计算核心到主板插槽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1" name="c1-kv-1"/>
          <p:cNvGrpSpPr/>
          <p:nvPr/>
        </p:nvGrpSpPr>
        <p:grpSpPr>
          <a:xfrm>
            <a:off x="525780" y="1548765"/>
            <a:ext cx="5634038" cy="2899410"/>
            <a:chOff x="525780" y="1548765"/>
            <a:chExt cx="5634038" cy="289941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4882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Core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213610" y="154876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一个计算核心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33400" y="186880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25780" y="1988820"/>
              <a:ext cx="31767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Die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213610" y="1988820"/>
              <a:ext cx="31522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一颗晶片，可以含一个或多个 Core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30886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25780" y="2428875"/>
              <a:ext cx="83814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Package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213610" y="2428875"/>
              <a:ext cx="36347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一个封装好的处理器芯片，可以含一个或多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 Die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33400" y="303085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25780" y="3150870"/>
              <a:ext cx="72152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Socket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213610" y="3150870"/>
              <a:ext cx="348511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主板上的一个插槽，对应一个 Package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347091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5780" y="3590925"/>
              <a:ext cx="1005364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en-US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CPU /</a:t>
              </a:r>
              <a:br/>
              <a:r>
                <a:rPr lang="en-US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Processor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213610" y="3590925"/>
              <a:ext cx="3634740" cy="857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描述硬件时一般指一个物理处理器，即一个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Package；在操作系统里一般指一个逻辑处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理器</a:t>
              </a:r>
            </a:p>
          </p:txBody>
        </p:sp>
      </p:grpSp>
      <p:grpSp>
        <p:nvGrpSpPr>
          <p:cNvPr id="27" name="c1-card-2"/>
          <p:cNvGrpSpPr/>
          <p:nvPr/>
        </p:nvGrpSpPr>
        <p:grpSpPr>
          <a:xfrm>
            <a:off x="533400" y="4579620"/>
            <a:ext cx="5626418" cy="1602105"/>
            <a:chOff x="533400" y="4579620"/>
            <a:chExt cx="5626418" cy="1602105"/>
          </a:xfrm>
        </p:grpSpPr>
        <p:sp>
          <p:nvSpPr>
            <p:cNvPr id="22" name="Rectangle 22"/>
            <p:cNvSpPr/>
            <p:nvPr/>
          </p:nvSpPr>
          <p:spPr>
            <a:xfrm>
              <a:off x="533400" y="4579620"/>
              <a:ext cx="5626418" cy="1602105"/>
            </a:xfrm>
            <a:prstGeom prst="roundRect">
              <a:avLst>
                <a:gd name="adj" fmla="val 83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542925" y="4712970"/>
              <a:ext cx="47625" cy="133540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781050" y="478917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71258" y="482488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补充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73430" y="5166360"/>
              <a:ext cx="49301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原课件把操作系统里的逻辑处理器等同于一个 Core。开启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超线程（SMT）时，一个 Core 会向操作系统呈现 2 个逻辑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处理器，两者就不再一一对应。</a:t>
              </a:r>
            </a:p>
          </p:txBody>
        </p:sp>
      </p:grpSp>
      <p:grpSp>
        <p:nvGrpSpPr>
          <p:cNvPr id="66" name="c2-tree-1"/>
          <p:cNvGrpSpPr/>
          <p:nvPr/>
        </p:nvGrpSpPr>
        <p:grpSpPr>
          <a:xfrm>
            <a:off x="6725602" y="1600200"/>
            <a:ext cx="4809173" cy="2705100"/>
            <a:chOff x="6725602" y="1600200"/>
            <a:chExt cx="4809173" cy="2705100"/>
          </a:xfrm>
        </p:grpSpPr>
        <p:sp>
          <p:nvSpPr>
            <p:cNvPr id="28" name="Freeform 28"/>
            <p:cNvSpPr/>
            <p:nvPr/>
          </p:nvSpPr>
          <p:spPr>
            <a:xfrm>
              <a:off x="6983730" y="3524250"/>
              <a:ext cx="520065" cy="571500"/>
            </a:xfrm>
            <a:custGeom>
              <a:avLst/>
              <a:gdLst/>
              <a:ahLst/>
              <a:cxnLst/>
              <a:rect l="l" t="t" r="r" b="b"/>
              <a:pathLst>
                <a:path w="520065" h="571500">
                  <a:moveTo>
                    <a:pt x="520065" y="0"/>
                  </a:moveTo>
                  <a:lnTo>
                    <a:pt x="0" y="57150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7503795" y="3524250"/>
              <a:ext cx="519112" cy="571500"/>
            </a:xfrm>
            <a:custGeom>
              <a:avLst/>
              <a:gdLst/>
              <a:ahLst/>
              <a:cxnLst/>
              <a:rect l="l" t="t" r="r" b="b"/>
              <a:pathLst>
                <a:path w="519112" h="571500">
                  <a:moveTo>
                    <a:pt x="0" y="0"/>
                  </a:moveTo>
                  <a:lnTo>
                    <a:pt x="519112" y="57150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9062085" y="3524250"/>
              <a:ext cx="519112" cy="571500"/>
            </a:xfrm>
            <a:custGeom>
              <a:avLst/>
              <a:gdLst/>
              <a:ahLst/>
              <a:cxnLst/>
              <a:rect l="l" t="t" r="r" b="b"/>
              <a:pathLst>
                <a:path w="519112" h="571500">
                  <a:moveTo>
                    <a:pt x="519112" y="0"/>
                  </a:moveTo>
                  <a:lnTo>
                    <a:pt x="0" y="57150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9581198" y="3524250"/>
              <a:ext cx="519113" cy="571500"/>
            </a:xfrm>
            <a:custGeom>
              <a:avLst/>
              <a:gdLst/>
              <a:ahLst/>
              <a:cxnLst/>
              <a:rect l="l" t="t" r="r" b="b"/>
              <a:pathLst>
                <a:path w="519113" h="571500">
                  <a:moveTo>
                    <a:pt x="0" y="0"/>
                  </a:moveTo>
                  <a:lnTo>
                    <a:pt x="519113" y="57150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7503795" y="2952750"/>
              <a:ext cx="1038225" cy="571500"/>
            </a:xfrm>
            <a:custGeom>
              <a:avLst/>
              <a:gdLst/>
              <a:ahLst/>
              <a:cxnLst/>
              <a:rect l="l" t="t" r="r" b="b"/>
              <a:pathLst>
                <a:path w="1038225" h="571500">
                  <a:moveTo>
                    <a:pt x="1038225" y="0"/>
                  </a:moveTo>
                  <a:lnTo>
                    <a:pt x="0" y="57150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8542020" y="2952750"/>
              <a:ext cx="1039178" cy="571500"/>
            </a:xfrm>
            <a:custGeom>
              <a:avLst/>
              <a:gdLst/>
              <a:ahLst/>
              <a:cxnLst/>
              <a:rect l="l" t="t" r="r" b="b"/>
              <a:pathLst>
                <a:path w="1039178" h="571500">
                  <a:moveTo>
                    <a:pt x="0" y="0"/>
                  </a:moveTo>
                  <a:lnTo>
                    <a:pt x="1039178" y="57150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8542020" y="2381250"/>
              <a:ext cx="9525" cy="571500"/>
            </a:xfrm>
            <a:custGeom>
              <a:avLst/>
              <a:gdLst/>
              <a:ahLst/>
              <a:cxnLst/>
              <a:rect l="l" t="t" r="r" b="b"/>
              <a:pathLst>
                <a:path w="9525" h="571500">
                  <a:moveTo>
                    <a:pt x="0" y="0"/>
                  </a:moveTo>
                  <a:lnTo>
                    <a:pt x="0" y="57150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11139488" y="3524250"/>
              <a:ext cx="9525" cy="571500"/>
            </a:xfrm>
            <a:custGeom>
              <a:avLst/>
              <a:gdLst/>
              <a:ahLst/>
              <a:cxnLst/>
              <a:rect l="l" t="t" r="r" b="b"/>
              <a:pathLst>
                <a:path w="9525" h="571500">
                  <a:moveTo>
                    <a:pt x="0" y="0"/>
                  </a:moveTo>
                  <a:lnTo>
                    <a:pt x="0" y="57150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11139488" y="2952750"/>
              <a:ext cx="9525" cy="571500"/>
            </a:xfrm>
            <a:custGeom>
              <a:avLst/>
              <a:gdLst/>
              <a:ahLst/>
              <a:cxnLst/>
              <a:rect l="l" t="t" r="r" b="b"/>
              <a:pathLst>
                <a:path w="9525" h="571500">
                  <a:moveTo>
                    <a:pt x="0" y="0"/>
                  </a:moveTo>
                  <a:lnTo>
                    <a:pt x="0" y="57150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11139488" y="2381250"/>
              <a:ext cx="9525" cy="571500"/>
            </a:xfrm>
            <a:custGeom>
              <a:avLst/>
              <a:gdLst/>
              <a:ahLst/>
              <a:cxnLst/>
              <a:rect l="l" t="t" r="r" b="b"/>
              <a:pathLst>
                <a:path w="9525" h="571500">
                  <a:moveTo>
                    <a:pt x="0" y="0"/>
                  </a:moveTo>
                  <a:lnTo>
                    <a:pt x="0" y="57150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8542020" y="1809750"/>
              <a:ext cx="520065" cy="571500"/>
            </a:xfrm>
            <a:custGeom>
              <a:avLst/>
              <a:gdLst/>
              <a:ahLst/>
              <a:cxnLst/>
              <a:rect l="l" t="t" r="r" b="b"/>
              <a:pathLst>
                <a:path w="520065" h="571500">
                  <a:moveTo>
                    <a:pt x="520065" y="0"/>
                  </a:moveTo>
                  <a:lnTo>
                    <a:pt x="0" y="57150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9062085" y="1809750"/>
              <a:ext cx="2077403" cy="571500"/>
            </a:xfrm>
            <a:custGeom>
              <a:avLst/>
              <a:gdLst/>
              <a:ahLst/>
              <a:cxnLst/>
              <a:rect l="l" t="t" r="r" b="b"/>
              <a:pathLst>
                <a:path w="2077403" h="571500">
                  <a:moveTo>
                    <a:pt x="0" y="0"/>
                  </a:moveTo>
                  <a:lnTo>
                    <a:pt x="2077403" y="57150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6725602" y="3886200"/>
              <a:ext cx="517208" cy="419100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7763828" y="3886200"/>
              <a:ext cx="517208" cy="419100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7240905" y="3314700"/>
              <a:ext cx="524828" cy="419100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8803005" y="3886200"/>
              <a:ext cx="517208" cy="419100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9841230" y="3886200"/>
              <a:ext cx="517208" cy="419100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9319260" y="3314700"/>
              <a:ext cx="524828" cy="419100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8167688" y="2743200"/>
              <a:ext cx="748665" cy="419100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8146732" y="2171700"/>
              <a:ext cx="790575" cy="419100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10929938" y="3886200"/>
              <a:ext cx="419100" cy="419100"/>
            </a:xfrm>
            <a:prstGeom prst="roundRect">
              <a:avLst>
                <a:gd name="adj" fmla="val 18182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10929938" y="3314700"/>
              <a:ext cx="419100" cy="419100"/>
            </a:xfrm>
            <a:prstGeom prst="roundRect">
              <a:avLst>
                <a:gd name="adj" fmla="val 18182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10765155" y="2743200"/>
              <a:ext cx="748665" cy="419100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10744200" y="2171700"/>
              <a:ext cx="790575" cy="419100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8823960" y="1600200"/>
              <a:ext cx="476250" cy="419100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812825" y="4030028"/>
              <a:ext cx="3418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Core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852003" y="4030028"/>
              <a:ext cx="3418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Core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328340" y="3458528"/>
              <a:ext cx="3509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Die 0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891180" y="4030028"/>
              <a:ext cx="3418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Core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929405" y="4030028"/>
              <a:ext cx="3418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Core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405742" y="3458528"/>
              <a:ext cx="3509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Die 1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248670" y="2887028"/>
              <a:ext cx="5867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Package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225812" y="2315528"/>
              <a:ext cx="6324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Socket 0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093338" y="403002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028300" y="3458528"/>
              <a:ext cx="2223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Die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0846138" y="2887028"/>
              <a:ext cx="5867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Package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0823280" y="2315528"/>
              <a:ext cx="6324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Socket 1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8915400" y="174402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主板</a:t>
              </a:r>
            </a:p>
          </p:txBody>
        </p:sp>
      </p:grpSp>
      <p:grpSp>
        <p:nvGrpSpPr>
          <p:cNvPr id="73" name="c2-callout-2"/>
          <p:cNvGrpSpPr/>
          <p:nvPr/>
        </p:nvGrpSpPr>
        <p:grpSpPr>
          <a:xfrm>
            <a:off x="6464618" y="4572000"/>
            <a:ext cx="5193982" cy="1609725"/>
            <a:chOff x="6464618" y="4572000"/>
            <a:chExt cx="5193982" cy="1609725"/>
          </a:xfrm>
        </p:grpSpPr>
        <p:sp>
          <p:nvSpPr>
            <p:cNvPr id="67" name="Rectangle 67"/>
            <p:cNvSpPr/>
            <p:nvPr/>
          </p:nvSpPr>
          <p:spPr>
            <a:xfrm>
              <a:off x="6464618" y="4572000"/>
              <a:ext cx="5193982" cy="1609725"/>
            </a:xfrm>
            <a:prstGeom prst="roundRect">
              <a:avLst>
                <a:gd name="adj" fmla="val 7101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71" name="Group 71"/>
            <p:cNvGrpSpPr/>
            <p:nvPr/>
          </p:nvGrpSpPr>
          <p:grpSpPr>
            <a:xfrm>
              <a:off x="6669405" y="5276850"/>
              <a:ext cx="200026" cy="200025"/>
              <a:chOff x="6669405" y="5276850"/>
              <a:chExt cx="200026" cy="200025"/>
            </a:xfrm>
          </p:grpSpPr>
          <p:sp>
            <p:nvSpPr>
              <p:cNvPr id="68" name="Freeform 68"/>
              <p:cNvSpPr/>
              <p:nvPr/>
            </p:nvSpPr>
            <p:spPr>
              <a:xfrm>
                <a:off x="6669405" y="527685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6709144" y="532130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6743859" y="543242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2" name="TextBox 72"/>
            <p:cNvSpPr txBox="1"/>
            <p:nvPr/>
          </p:nvSpPr>
          <p:spPr>
            <a:xfrm>
              <a:off x="6971348" y="5133975"/>
              <a:ext cx="37966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包含关系：主板 ⊃ Socket ⊃ Package ⊃ Die ⊃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Core。</a:t>
              </a:r>
            </a:p>
          </p:txBody>
        </p:sp>
      </p:grpSp>
      <p:grpSp>
        <p:nvGrpSpPr>
          <p:cNvPr id="7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4" name="TextBox 74"/>
            <p:cNvSpPr txBox="1"/>
            <p:nvPr/>
          </p:nvSpPr>
          <p:spPr>
            <a:xfrm>
              <a:off x="528447" y="6581299"/>
              <a:ext cx="31504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第2章 线程级并行与OpenMP编程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963552" cy="909257"/>
            <a:chOff x="520446" y="342900"/>
            <a:chExt cx="696355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第2章 线程级并行 · 基础概念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96355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例：一块主板上的 CPU 属于 UMA 还是 NUMA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8" name="c1-table-1"/>
          <p:cNvGrpSpPr/>
          <p:nvPr/>
        </p:nvGrpSpPr>
        <p:grpSpPr>
          <a:xfrm>
            <a:off x="533400" y="1524000"/>
            <a:ext cx="11125200" cy="1996440"/>
            <a:chOff x="533400" y="1524000"/>
            <a:chExt cx="11125200" cy="199644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8768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213485" y="166306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主板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994785" y="166306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结构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576185" y="166306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访存特点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559415" y="166306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归类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40080" y="228409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消费级主板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420302" y="2150745"/>
              <a:ext cx="327279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通常只有 1 颗 CPU（1 个 Package），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里面有多个 Core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202680" y="2150745"/>
              <a:ext cx="34061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所有 Core 共用同一个主存，访存路径相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9887902" y="2021205"/>
              <a:ext cx="1761172" cy="73533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985058" y="2284095"/>
              <a:ext cx="4099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UMA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33400" y="276129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533400" y="2766060"/>
              <a:ext cx="11125200" cy="7543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40080" y="303847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企业级多路主板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420302" y="2905125"/>
              <a:ext cx="3244215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同时安装多颗 CPU，每颗有自己的内存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控制器，CPU 之间用外部总线连接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202680" y="2905125"/>
              <a:ext cx="32537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共用一个内存地址空间，但各自管理属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于自己的那部分内存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9887902" y="2775585"/>
              <a:ext cx="1761172" cy="73533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985058" y="3038475"/>
              <a:ext cx="5273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NUMA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1524000"/>
              <a:ext cx="11125200" cy="199644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2308860" y="1524000"/>
              <a:ext cx="9525" cy="19964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091238" y="1524000"/>
              <a:ext cx="9525" cy="19964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9873615" y="1524000"/>
              <a:ext cx="9525" cy="19964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9" name="c1-compare-2"/>
          <p:cNvGrpSpPr/>
          <p:nvPr/>
        </p:nvGrpSpPr>
        <p:grpSpPr>
          <a:xfrm>
            <a:off x="533400" y="3710940"/>
            <a:ext cx="11125200" cy="2651760"/>
            <a:chOff x="533400" y="3710940"/>
            <a:chExt cx="11125200" cy="2651760"/>
          </a:xfrm>
        </p:grpSpPr>
        <p:sp>
          <p:nvSpPr>
            <p:cNvPr id="29" name="Rectangle 29"/>
            <p:cNvSpPr/>
            <p:nvPr/>
          </p:nvSpPr>
          <p:spPr>
            <a:xfrm>
              <a:off x="533400" y="3710940"/>
              <a:ext cx="5353050" cy="2651760"/>
            </a:xfrm>
            <a:prstGeom prst="roundRect">
              <a:avLst>
                <a:gd name="adj" fmla="val 502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542925" y="3844290"/>
              <a:ext cx="47625" cy="2385060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73430" y="394525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判断看什么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786765" y="4362450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44880" y="4299585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有几个内存控制器、内存挂在谁下面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786765" y="4697730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44880" y="4634865"/>
              <a:ext cx="42557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同一条访存指令，访问不同地址的延迟是否相同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786765" y="5033010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944880" y="4970145"/>
              <a:ext cx="43776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Linux 下 lscpu 显示的 NUMA node(s) 大于 1，就是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NUMA 机器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305550" y="3710940"/>
              <a:ext cx="5353050" cy="2651760"/>
            </a:xfrm>
            <a:prstGeom prst="roundRect">
              <a:avLst>
                <a:gd name="adj" fmla="val 502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6315075" y="3844290"/>
              <a:ext cx="47625" cy="238506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545580" y="394525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容易误判的地方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6558915" y="4362450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717030" y="4299585"/>
              <a:ext cx="45300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NUMA 也是统一地址空间，程序照样能直接读写任何地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址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6558915" y="4983480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717030" y="4920615"/>
              <a:ext cx="435711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多核本身不等于 NUMA，单颗多核 CPU 仍是 UMA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6558915" y="5318760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717030" y="5255895"/>
              <a:ext cx="45300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NUMA 机器上程序能跑对，但数据放在远端内存时会明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显变慢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5934075" y="4874895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004415" y="4971098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31504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第2章 线程级并行与OpenMP编程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21371" cy="909257"/>
            <a:chOff x="520446" y="342900"/>
            <a:chExt cx="792137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第2章 线程级并行 · 基础概念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2137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并发是单核上的轮流执行，并行是多核上的同时执行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7" name="c1-compare-1"/>
          <p:cNvGrpSpPr/>
          <p:nvPr/>
        </p:nvGrpSpPr>
        <p:grpSpPr>
          <a:xfrm>
            <a:off x="533400" y="1524000"/>
            <a:ext cx="5410200" cy="2560320"/>
            <a:chOff x="533400" y="1524000"/>
            <a:chExt cx="5410200" cy="256032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2457450" cy="2560320"/>
            </a:xfrm>
            <a:prstGeom prst="roundRect">
              <a:avLst>
                <a:gd name="adj" fmla="val 54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293620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73430" y="175831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86765" y="2175510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44880" y="2112645"/>
              <a:ext cx="1729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一个正在执行的程序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86765" y="2796540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44880" y="2733675"/>
              <a:ext cx="1729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包括程序计数器、寄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存器和变量的当前值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86765" y="3417570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44880" y="3354705"/>
              <a:ext cx="1729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更独立，有自己的地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址空间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3486150" y="1524000"/>
              <a:ext cx="2457450" cy="2560320"/>
            </a:xfrm>
            <a:prstGeom prst="roundRect">
              <a:avLst>
                <a:gd name="adj" fmla="val 54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3495675" y="1657350"/>
              <a:ext cx="47625" cy="229362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3726180" y="175831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线程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3739515" y="2175510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897630" y="211264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轻量级进程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3739515" y="2510790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897630" y="2447925"/>
              <a:ext cx="1729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同一进程的线程共享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地址空间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3739515" y="3131820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897630" y="306895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每个线程各有一套栈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3038475" y="2604135"/>
              <a:ext cx="400050" cy="4000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3091815" y="273843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回顾</a:t>
              </a:r>
            </a:p>
          </p:txBody>
        </p:sp>
      </p:grpSp>
      <p:grpSp>
        <p:nvGrpSpPr>
          <p:cNvPr id="32" name="c1-card-2"/>
          <p:cNvGrpSpPr/>
          <p:nvPr/>
        </p:nvGrpSpPr>
        <p:grpSpPr>
          <a:xfrm>
            <a:off x="533400" y="4274820"/>
            <a:ext cx="5410200" cy="1602105"/>
            <a:chOff x="533400" y="4274820"/>
            <a:chExt cx="5410200" cy="1602105"/>
          </a:xfrm>
        </p:grpSpPr>
        <p:sp>
          <p:nvSpPr>
            <p:cNvPr id="28" name="Rectangle 28"/>
            <p:cNvSpPr/>
            <p:nvPr/>
          </p:nvSpPr>
          <p:spPr>
            <a:xfrm>
              <a:off x="533400" y="4274820"/>
              <a:ext cx="5410200" cy="1602105"/>
            </a:xfrm>
            <a:prstGeom prst="roundRect">
              <a:avLst>
                <a:gd name="adj" fmla="val 8323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42950" y="4484370"/>
              <a:ext cx="1511618" cy="257175"/>
            </a:xfrm>
            <a:prstGeom prst="roundRect">
              <a:avLst>
                <a:gd name="adj" fmla="val 50000"/>
              </a:avLst>
            </a:prstGeom>
            <a:solidFill>
              <a:srgbClr val="243B53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03350" y="4520089"/>
              <a:ext cx="13917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本章的“线程级并行”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35330" y="4861560"/>
              <a:ext cx="47777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指多处理器上的</a:t>
              </a:r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硬件级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线程并行：线程是在一个处理机上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运行着的一段程序。它和操作系统在单处理器上用软件实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现的并发是两回事。</a:t>
              </a:r>
            </a:p>
          </p:txBody>
        </p:sp>
      </p:grpSp>
      <p:grpSp>
        <p:nvGrpSpPr>
          <p:cNvPr id="60" name="c2-cells-1"/>
          <p:cNvGrpSpPr/>
          <p:nvPr/>
        </p:nvGrpSpPr>
        <p:grpSpPr>
          <a:xfrm>
            <a:off x="6242304" y="1524000"/>
            <a:ext cx="5416296" cy="1600200"/>
            <a:chOff x="6242304" y="1524000"/>
            <a:chExt cx="5416296" cy="1600200"/>
          </a:xfrm>
        </p:grpSpPr>
        <p:sp>
          <p:nvSpPr>
            <p:cNvPr id="33" name="TextBox 33"/>
            <p:cNvSpPr txBox="1"/>
            <p:nvPr/>
          </p:nvSpPr>
          <p:spPr>
            <a:xfrm>
              <a:off x="6242304" y="1659255"/>
              <a:ext cx="90351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并发 core 0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7222808" y="1524000"/>
              <a:ext cx="739140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487709" y="1659255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A0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7961948" y="1524000"/>
              <a:ext cx="73914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226849" y="1659255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B0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8701088" y="1524000"/>
              <a:ext cx="739140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965989" y="1659255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A1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9440228" y="1524000"/>
              <a:ext cx="73914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706082" y="1659255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B1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10180320" y="1524000"/>
              <a:ext cx="739140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0445222" y="1659255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A2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10919460" y="1524000"/>
              <a:ext cx="73914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11184362" y="1659255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B2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242304" y="2249805"/>
              <a:ext cx="90351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并行 core 0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7222808" y="2114550"/>
              <a:ext cx="739140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487709" y="2249805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A0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7961948" y="2114550"/>
              <a:ext cx="739140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8226849" y="2249805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A1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8701088" y="2114550"/>
              <a:ext cx="739140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8965989" y="2249805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A2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242304" y="2840355"/>
              <a:ext cx="90351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并行 core 1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7222808" y="2705100"/>
              <a:ext cx="73914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487709" y="2840355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B0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7961948" y="2705100"/>
              <a:ext cx="73914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8226849" y="2840355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B1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8701088" y="2705100"/>
              <a:ext cx="73914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8965989" y="2840355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B2</a:t>
              </a:r>
            </a:p>
          </p:txBody>
        </p:sp>
      </p:grpSp>
      <p:grpSp>
        <p:nvGrpSpPr>
          <p:cNvPr id="70" name="c2-card-2"/>
          <p:cNvGrpSpPr/>
          <p:nvPr/>
        </p:nvGrpSpPr>
        <p:grpSpPr>
          <a:xfrm>
            <a:off x="6248400" y="3314700"/>
            <a:ext cx="5410200" cy="2562225"/>
            <a:chOff x="6248400" y="3314700"/>
            <a:chExt cx="5410200" cy="2562225"/>
          </a:xfrm>
        </p:grpSpPr>
        <p:sp>
          <p:nvSpPr>
            <p:cNvPr id="61" name="Rectangle 61"/>
            <p:cNvSpPr/>
            <p:nvPr/>
          </p:nvSpPr>
          <p:spPr>
            <a:xfrm>
              <a:off x="6248400" y="3314700"/>
              <a:ext cx="5410200" cy="2562225"/>
            </a:xfrm>
            <a:prstGeom prst="roundRect">
              <a:avLst>
                <a:gd name="adj" fmla="val 520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2" name="Rectangle 62"/>
            <p:cNvSpPr/>
            <p:nvPr/>
          </p:nvSpPr>
          <p:spPr>
            <a:xfrm>
              <a:off x="6257925" y="3448050"/>
              <a:ext cx="47625" cy="229552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6496050" y="35242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586258" y="35599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读图</a:t>
              </a:r>
            </a:p>
          </p:txBody>
        </p:sp>
        <p:sp>
          <p:nvSpPr>
            <p:cNvPr id="65" name="Ellipse 65"/>
            <p:cNvSpPr/>
            <p:nvPr/>
          </p:nvSpPr>
          <p:spPr>
            <a:xfrm>
              <a:off x="6501765" y="396430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659880" y="3901440"/>
              <a:ext cx="459676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并发（concurrency）：单个处理器通过操作系统内核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分配时间片，在两个线程之间快速切换，是软件方式的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伪并行</a:t>
              </a:r>
            </a:p>
          </p:txBody>
        </p:sp>
        <p:sp>
          <p:nvSpPr>
            <p:cNvPr id="67" name="Ellipse 67"/>
            <p:cNvSpPr/>
            <p:nvPr/>
          </p:nvSpPr>
          <p:spPr>
            <a:xfrm>
              <a:off x="6501765" y="487108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659880" y="4808220"/>
              <a:ext cx="44634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并行（parallelism）：thread 0 在 core 0、thread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在 core 1 上同时运行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489573" y="5425916"/>
              <a:ext cx="50272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并发只让多个任务“看起来”同时进行，并不会让程序运行得更快。</a:t>
              </a:r>
            </a:p>
          </p:txBody>
        </p:sp>
      </p:grpSp>
      <p:grpSp>
        <p:nvGrpSpPr>
          <p:cNvPr id="7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1" name="TextBox 71"/>
            <p:cNvSpPr txBox="1"/>
            <p:nvPr/>
          </p:nvSpPr>
          <p:spPr>
            <a:xfrm>
              <a:off x="528447" y="6581299"/>
              <a:ext cx="31504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第2章 线程级并行与OpenMP编程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第2章 线程级并行 · 基础概念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按进程交互方式分：共享变量与消息传递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10492740" cy="569595"/>
            <a:chOff x="525780" y="1548765"/>
            <a:chExt cx="10492740" cy="569595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10492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多个线程（进程）协同计算时，数据的共用是主要矛盾，数据要靠进程之间的交互来分享，所以从交互方式来划分并行编程模</a:t>
              </a:r>
              <a:br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型。</a:t>
              </a:r>
            </a:p>
          </p:txBody>
        </p:sp>
      </p:grpSp>
      <p:grpSp>
        <p:nvGrpSpPr>
          <p:cNvPr id="42" name="c1-graph-1"/>
          <p:cNvGrpSpPr/>
          <p:nvPr/>
        </p:nvGrpSpPr>
        <p:grpSpPr>
          <a:xfrm>
            <a:off x="622935" y="2458402"/>
            <a:ext cx="4690109" cy="2532222"/>
            <a:chOff x="622935" y="2458402"/>
            <a:chExt cx="4690109" cy="2532222"/>
          </a:xfrm>
        </p:grpSpPr>
        <p:sp>
          <p:nvSpPr>
            <p:cNvPr id="9" name="Freeform 9"/>
            <p:cNvSpPr/>
            <p:nvPr/>
          </p:nvSpPr>
          <p:spPr>
            <a:xfrm>
              <a:off x="1131570" y="2778442"/>
              <a:ext cx="435292" cy="1103948"/>
            </a:xfrm>
            <a:custGeom>
              <a:avLst/>
              <a:gdLst/>
              <a:ahLst/>
              <a:cxnLst/>
              <a:rect l="l" t="t" r="r" b="b"/>
              <a:pathLst>
                <a:path w="435292" h="1103948">
                  <a:moveTo>
                    <a:pt x="0" y="0"/>
                  </a:moveTo>
                  <a:lnTo>
                    <a:pt x="435292" y="110394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522095" y="3865245"/>
              <a:ext cx="88582" cy="105727"/>
            </a:xfrm>
            <a:custGeom>
              <a:avLst/>
              <a:gdLst/>
              <a:ahLst/>
              <a:cxnLst/>
              <a:rect l="l" t="t" r="r" b="b"/>
              <a:pathLst>
                <a:path w="88582" h="105727">
                  <a:moveTo>
                    <a:pt x="79057" y="105727"/>
                  </a:moveTo>
                  <a:lnTo>
                    <a:pt x="0" y="34290"/>
                  </a:lnTo>
                  <a:lnTo>
                    <a:pt x="88582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1847850" y="2778442"/>
              <a:ext cx="467677" cy="1104900"/>
            </a:xfrm>
            <a:custGeom>
              <a:avLst/>
              <a:gdLst/>
              <a:ahLst/>
              <a:cxnLst/>
              <a:rect l="l" t="t" r="r" b="b"/>
              <a:pathLst>
                <a:path w="467677" h="1104900">
                  <a:moveTo>
                    <a:pt x="467677" y="0"/>
                  </a:moveTo>
                  <a:lnTo>
                    <a:pt x="0" y="110490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804035" y="3865245"/>
              <a:ext cx="87630" cy="105727"/>
            </a:xfrm>
            <a:custGeom>
              <a:avLst/>
              <a:gdLst/>
              <a:ahLst/>
              <a:cxnLst/>
              <a:rect l="l" t="t" r="r" b="b"/>
              <a:pathLst>
                <a:path w="87630" h="105727">
                  <a:moveTo>
                    <a:pt x="6667" y="105727"/>
                  </a:moveTo>
                  <a:lnTo>
                    <a:pt x="0" y="0"/>
                  </a:lnTo>
                  <a:lnTo>
                    <a:pt x="87630" y="37147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3551872" y="2778442"/>
              <a:ext cx="9525" cy="1097280"/>
            </a:xfrm>
            <a:custGeom>
              <a:avLst/>
              <a:gdLst/>
              <a:ahLst/>
              <a:cxnLst/>
              <a:rect l="l" t="t" r="r" b="b"/>
              <a:pathLst>
                <a:path w="9525" h="1097280">
                  <a:moveTo>
                    <a:pt x="0" y="0"/>
                  </a:moveTo>
                  <a:lnTo>
                    <a:pt x="0" y="109728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3504248" y="387572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4093845" y="2618422"/>
              <a:ext cx="231458" cy="9525"/>
            </a:xfrm>
            <a:custGeom>
              <a:avLst/>
              <a:gdLst/>
              <a:ahLst/>
              <a:cxnLst/>
              <a:rect l="l" t="t" r="r" b="b"/>
              <a:pathLst>
                <a:path w="231458" h="9525">
                  <a:moveTo>
                    <a:pt x="0" y="0"/>
                  </a:moveTo>
                  <a:lnTo>
                    <a:pt x="231458" y="0"/>
                  </a:lnTo>
                </a:path>
              </a:pathLst>
            </a:custGeom>
            <a:noFill/>
            <a:ln w="17145">
              <a:solidFill>
                <a:srgbClr val="F26B3A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4325302" y="257079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3998595" y="257079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622935" y="2458402"/>
              <a:ext cx="892492" cy="320040"/>
            </a:xfrm>
            <a:prstGeom prst="roundRect">
              <a:avLst>
                <a:gd name="adj" fmla="val 29762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1937385" y="2458402"/>
              <a:ext cx="892492" cy="320040"/>
            </a:xfrm>
            <a:prstGeom prst="roundRect">
              <a:avLst>
                <a:gd name="adj" fmla="val 29762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1291590" y="3970972"/>
              <a:ext cx="821055" cy="510540"/>
            </a:xfrm>
            <a:prstGeom prst="roundRect">
              <a:avLst>
                <a:gd name="adj" fmla="val 18657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3106102" y="2458402"/>
              <a:ext cx="892492" cy="320040"/>
            </a:xfrm>
            <a:prstGeom prst="roundRect">
              <a:avLst>
                <a:gd name="adj" fmla="val 29762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4420552" y="2458402"/>
              <a:ext cx="892492" cy="320040"/>
            </a:xfrm>
            <a:prstGeom prst="roundRect">
              <a:avLst>
                <a:gd name="adj" fmla="val 29762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3142298" y="3970972"/>
              <a:ext cx="821055" cy="510540"/>
            </a:xfrm>
            <a:prstGeom prst="roundRect">
              <a:avLst>
                <a:gd name="adj" fmla="val 18657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10645" y="2544127"/>
              <a:ext cx="7161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thread 0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026048" y="2544127"/>
              <a:ext cx="7161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thread 1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379262" y="4056698"/>
              <a:ext cx="64571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Memory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434421" y="4247198"/>
              <a:ext cx="53539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Data x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193813" y="2544127"/>
              <a:ext cx="7161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thread 0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509215" y="2544127"/>
              <a:ext cx="7161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thread 1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229017" y="4056698"/>
              <a:ext cx="64571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Memory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284176" y="4247198"/>
              <a:ext cx="53539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Data x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1203960" y="3282315"/>
              <a:ext cx="324802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229957" y="331708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访存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1900238" y="3282315"/>
              <a:ext cx="324802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926234" y="331708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访存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3389948" y="3282315"/>
              <a:ext cx="324802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3414992" y="331708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访存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4047172" y="2526030"/>
              <a:ext cx="324802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073169" y="256079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通信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394854" y="477059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共享变量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829444" y="477059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消息传递</a:t>
              </a:r>
            </a:p>
          </p:txBody>
        </p:sp>
      </p:grpSp>
      <p:grpSp>
        <p:nvGrpSpPr>
          <p:cNvPr id="49" name="c1-callout-2"/>
          <p:cNvGrpSpPr/>
          <p:nvPr/>
        </p:nvGrpSpPr>
        <p:grpSpPr>
          <a:xfrm>
            <a:off x="533400" y="5188268"/>
            <a:ext cx="4869180" cy="1083945"/>
            <a:chOff x="533400" y="5188268"/>
            <a:chExt cx="4869180" cy="1083945"/>
          </a:xfrm>
        </p:grpSpPr>
        <p:sp>
          <p:nvSpPr>
            <p:cNvPr id="43" name="Rectangle 43"/>
            <p:cNvSpPr/>
            <p:nvPr/>
          </p:nvSpPr>
          <p:spPr>
            <a:xfrm>
              <a:off x="533400" y="5188268"/>
              <a:ext cx="4869180" cy="1083945"/>
            </a:xfrm>
            <a:prstGeom prst="roundRect">
              <a:avLst>
                <a:gd name="adj" fmla="val 10545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738188" y="5630228"/>
              <a:ext cx="200026" cy="200026"/>
              <a:chOff x="738188" y="5630228"/>
              <a:chExt cx="200026" cy="200026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738188" y="563022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38200" y="569690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827088" y="573024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1040511" y="5499259"/>
              <a:ext cx="398195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第三类是隐式交互，完全由编译器实现，这里不展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开。</a:t>
              </a:r>
            </a:p>
          </p:txBody>
        </p:sp>
      </p:grpSp>
      <p:grpSp>
        <p:nvGrpSpPr>
          <p:cNvPr id="78" name="c2-table-1"/>
          <p:cNvGrpSpPr/>
          <p:nvPr/>
        </p:nvGrpSpPr>
        <p:grpSpPr>
          <a:xfrm>
            <a:off x="5707380" y="2230755"/>
            <a:ext cx="5951220" cy="2581275"/>
            <a:chOff x="5707380" y="2230755"/>
            <a:chExt cx="5951220" cy="2581275"/>
          </a:xfrm>
        </p:grpSpPr>
        <p:sp>
          <p:nvSpPr>
            <p:cNvPr id="50" name="Rectangle 50"/>
            <p:cNvSpPr/>
            <p:nvPr/>
          </p:nvSpPr>
          <p:spPr>
            <a:xfrm>
              <a:off x="5707380" y="2230755"/>
              <a:ext cx="5951220" cy="43053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194108" y="236220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维度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848029" y="236220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共享变量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0169271" y="236220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消息传递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5812726" y="2791777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适用结构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122414" y="2791777"/>
              <a:ext cx="80528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SMP、DSM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442704" y="2791777"/>
              <a:ext cx="10521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MPP、COW 等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5707380" y="3086100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5707380" y="3090862"/>
              <a:ext cx="595122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5812726" y="3222307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地址空间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122414" y="3222307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单一地址空间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9442704" y="3222307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多个地址空间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5707380" y="3516630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5812726" y="365283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通信方式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122414" y="3652838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隐式：读写同一个变量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9442704" y="3652838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显式：发送和接收消息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5707380" y="3946208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5707380" y="3950970"/>
              <a:ext cx="595122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5812726" y="408241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在集群中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122414" y="4082415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用于一个节点的多个核上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9442704" y="4082415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用于多个节点之间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5707380" y="4376738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5812726" y="45129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代表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7122414" y="4512945"/>
              <a:ext cx="14835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OpenMP、Intel Cilk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9442704" y="4512945"/>
              <a:ext cx="28529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MPI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5707380" y="2230755"/>
              <a:ext cx="5951220" cy="258127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6" name="Rectangle 76"/>
            <p:cNvSpPr/>
            <p:nvPr/>
          </p:nvSpPr>
          <p:spPr>
            <a:xfrm>
              <a:off x="7012305" y="2230755"/>
              <a:ext cx="9525" cy="25812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7" name="Rectangle 77"/>
            <p:cNvSpPr/>
            <p:nvPr/>
          </p:nvSpPr>
          <p:spPr>
            <a:xfrm>
              <a:off x="9332595" y="2230755"/>
              <a:ext cx="9525" cy="25812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83" name="c2-card-2"/>
          <p:cNvGrpSpPr/>
          <p:nvPr/>
        </p:nvGrpSpPr>
        <p:grpSpPr>
          <a:xfrm>
            <a:off x="5707380" y="4996815"/>
            <a:ext cx="5951220" cy="1274445"/>
            <a:chOff x="5707380" y="4996815"/>
            <a:chExt cx="5951220" cy="1274445"/>
          </a:xfrm>
        </p:grpSpPr>
        <p:sp>
          <p:nvSpPr>
            <p:cNvPr id="79" name="Rectangle 79"/>
            <p:cNvSpPr/>
            <p:nvPr/>
          </p:nvSpPr>
          <p:spPr>
            <a:xfrm>
              <a:off x="5707380" y="4996815"/>
              <a:ext cx="5951220" cy="1274445"/>
            </a:xfrm>
            <a:prstGeom prst="roundRect">
              <a:avLst>
                <a:gd name="adj" fmla="val 10463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0" name="Rectangle 80"/>
            <p:cNvSpPr/>
            <p:nvPr/>
          </p:nvSpPr>
          <p:spPr>
            <a:xfrm>
              <a:off x="5911215" y="5200650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243B53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5984672" y="5236369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本章与下一章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5903976" y="5573554"/>
              <a:ext cx="524433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本章讲共享变量模型，工具是 OpenMP；下一章讲消息传递模型，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工具是 MPI。</a:t>
              </a:r>
            </a:p>
          </p:txBody>
        </p:sp>
      </p:grpSp>
      <p:grpSp>
        <p:nvGrpSpPr>
          <p:cNvPr id="8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4" name="TextBox 84"/>
            <p:cNvSpPr txBox="1"/>
            <p:nvPr/>
          </p:nvSpPr>
          <p:spPr>
            <a:xfrm>
              <a:off x="528447" y="6581299"/>
              <a:ext cx="31504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第2章 线程级并行与OpenMP编程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334E6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7EDF3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4398264" cy="3351847"/>
            <a:chOff x="667512" y="1835468"/>
            <a:chExt cx="4398264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第二部分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439826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共享变量的隐藏问题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01497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多个线程访问同一个变量时，会发生什么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4193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CASE1：两个线程同时自加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竞态与数据竞争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8135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CASE2：指令重排序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缓存与互联网络造成的内存重排序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31504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第2章 线程级并行与OpenMP编程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037940" cy="909257"/>
            <a:chOff x="520446" y="342900"/>
            <a:chExt cx="603794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第2章 线程级并行 · 共享变量的隐藏问题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03794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CASE1：两个线程各执行一次 x = x + 1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4869180" cy="882968"/>
            <a:chOff x="533400" y="1524000"/>
            <a:chExt cx="4869180" cy="88296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869180" cy="882968"/>
            </a:xfrm>
            <a:prstGeom prst="roundRect">
              <a:avLst>
                <a:gd name="adj" fmla="val 1078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29330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 代码（x 初值为 0）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416" y="1937385"/>
              <a:ext cx="2357628" cy="3949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thread 0          // thread 1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x = x + 1;           x = x + 1;</a:t>
              </a:r>
            </a:p>
          </p:txBody>
        </p:sp>
      </p:grpSp>
      <p:grpSp>
        <p:nvGrpSpPr>
          <p:cNvPr id="14" name="c1-code-2"/>
          <p:cNvGrpSpPr/>
          <p:nvPr/>
        </p:nvGrpSpPr>
        <p:grpSpPr>
          <a:xfrm>
            <a:off x="533400" y="2582228"/>
            <a:ext cx="4869180" cy="1261110"/>
            <a:chOff x="533400" y="2582228"/>
            <a:chExt cx="4869180" cy="1261110"/>
          </a:xfrm>
        </p:grpSpPr>
        <p:sp>
          <p:nvSpPr>
            <p:cNvPr id="11" name="Rectangle 11"/>
            <p:cNvSpPr/>
            <p:nvPr/>
          </p:nvSpPr>
          <p:spPr>
            <a:xfrm>
              <a:off x="533400" y="2582228"/>
              <a:ext cx="4869180" cy="1261110"/>
            </a:xfrm>
            <a:prstGeom prst="roundRect">
              <a:avLst>
                <a:gd name="adj" fmla="val 755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61797" y="2734151"/>
              <a:ext cx="24805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改写成 RISC-V 汇编（a1 中是 x 的地址）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61416" y="2995612"/>
              <a:ext cx="2650998" cy="77400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# thread 0            # thread 1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ld   t0, (a1)         ld   t1, (a1)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addi t0, t0, 1        addi t1, t1, 1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sd   t0, (a1)         sd   t1, (a1)</a:t>
              </a:r>
            </a:p>
          </p:txBody>
        </p:sp>
      </p:grpSp>
      <p:grpSp>
        <p:nvGrpSpPr>
          <p:cNvPr id="20" name="c1-card-3"/>
          <p:cNvGrpSpPr/>
          <p:nvPr/>
        </p:nvGrpSpPr>
        <p:grpSpPr>
          <a:xfrm>
            <a:off x="533400" y="4018598"/>
            <a:ext cx="4869180" cy="2014538"/>
            <a:chOff x="533400" y="4018598"/>
            <a:chExt cx="4869180" cy="2014538"/>
          </a:xfrm>
        </p:grpSpPr>
        <p:sp>
          <p:nvSpPr>
            <p:cNvPr id="15" name="Rectangle 15"/>
            <p:cNvSpPr/>
            <p:nvPr/>
          </p:nvSpPr>
          <p:spPr>
            <a:xfrm>
              <a:off x="533400" y="4018598"/>
              <a:ext cx="4869180" cy="2014538"/>
            </a:xfrm>
            <a:prstGeom prst="roundRect">
              <a:avLst>
                <a:gd name="adj" fmla="val 661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42925" y="4151948"/>
              <a:ext cx="47625" cy="174783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63905" y="4211002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55345" y="424529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关键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57047" y="4567238"/>
              <a:ext cx="417137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一句 C 代码变成“读、加、写”三条指令，任意两条之间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都可能插入另一个线程的指令。</a:t>
              </a:r>
            </a:p>
          </p:txBody>
        </p:sp>
      </p:grpSp>
      <p:grpSp>
        <p:nvGrpSpPr>
          <p:cNvPr id="50" name="c2-table-1"/>
          <p:cNvGrpSpPr/>
          <p:nvPr/>
        </p:nvGrpSpPr>
        <p:grpSpPr>
          <a:xfrm>
            <a:off x="5702046" y="1524000"/>
            <a:ext cx="5956554" cy="3120009"/>
            <a:chOff x="5702046" y="1524000"/>
            <a:chExt cx="5956554" cy="3120009"/>
          </a:xfrm>
        </p:grpSpPr>
        <p:sp>
          <p:nvSpPr>
            <p:cNvPr id="21" name="Rectangle 21"/>
            <p:cNvSpPr/>
            <p:nvPr/>
          </p:nvSpPr>
          <p:spPr>
            <a:xfrm>
              <a:off x="5707380" y="1524000"/>
              <a:ext cx="5951220" cy="40576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384720" y="1648301"/>
              <a:ext cx="6684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thread 0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407830" y="1648301"/>
              <a:ext cx="6684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thread 1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549611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备注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807392" y="2054066"/>
              <a:ext cx="8105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ld t0, (a1)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854565" y="2054066"/>
              <a:ext cx="6899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t0 = x = 0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707380" y="2330768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5707380" y="2335530"/>
              <a:ext cx="595122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807392" y="2459831"/>
              <a:ext cx="10216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addi t0, t0, 1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854565" y="2459831"/>
              <a:ext cx="4335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t0 = 1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707380" y="2736532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807392" y="2865596"/>
              <a:ext cx="8482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sd t0, (a1)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854565" y="2865596"/>
              <a:ext cx="6899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= t0 = 1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707380" y="3142298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5707380" y="3147060"/>
              <a:ext cx="595122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830502" y="3271361"/>
              <a:ext cx="8105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ld t1, (a1)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854565" y="3271361"/>
              <a:ext cx="6899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t1 = x = 1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707380" y="3548062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830502" y="3677126"/>
              <a:ext cx="10216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addi t1, t1, 1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854565" y="3677126"/>
              <a:ext cx="4335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t1 = 2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707380" y="3953828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5707380" y="3958590"/>
              <a:ext cx="595122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830502" y="4082891"/>
              <a:ext cx="8482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sd t1, (a1)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9764078" y="3968115"/>
              <a:ext cx="1884998" cy="38671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854565" y="4082891"/>
              <a:ext cx="6899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= t1 = 2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707380" y="1524000"/>
              <a:ext cx="5951220" cy="284035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7725728" y="1524000"/>
              <a:ext cx="9525" cy="2840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9749790" y="1524000"/>
              <a:ext cx="9525" cy="2840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5702046" y="4438650"/>
              <a:ext cx="40674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期待的顺序：一个线程做完另一个再做，执行两次自加，x 变为 2</a:t>
              </a:r>
            </a:p>
          </p:txBody>
        </p:sp>
      </p:grpSp>
      <p:grpSp>
        <p:nvGrpSpPr>
          <p:cNvPr id="59" name="c2-card-2"/>
          <p:cNvGrpSpPr/>
          <p:nvPr/>
        </p:nvGrpSpPr>
        <p:grpSpPr>
          <a:xfrm>
            <a:off x="5707380" y="4777740"/>
            <a:ext cx="5951220" cy="1254442"/>
            <a:chOff x="5707380" y="4777740"/>
            <a:chExt cx="5951220" cy="1254442"/>
          </a:xfrm>
        </p:grpSpPr>
        <p:sp>
          <p:nvSpPr>
            <p:cNvPr id="51" name="Rectangle 51"/>
            <p:cNvSpPr/>
            <p:nvPr/>
          </p:nvSpPr>
          <p:spPr>
            <a:xfrm>
              <a:off x="5707380" y="4777740"/>
              <a:ext cx="5951220" cy="1254442"/>
            </a:xfrm>
            <a:prstGeom prst="roundRect">
              <a:avLst>
                <a:gd name="adj" fmla="val 106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5716905" y="4911090"/>
              <a:ext cx="47625" cy="98774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5937885" y="4970145"/>
              <a:ext cx="100965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013323" y="5004435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为什么会交错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5946458" y="5383530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102477" y="5327333"/>
              <a:ext cx="54658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多核上两个线程真正同时运行，谁的哪条指令先执行由硬件时序决定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5946458" y="5685472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102477" y="5629275"/>
              <a:ext cx="45571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单核分时运行时，时间片也可能在任意两条指令之间到期</a:t>
              </a:r>
            </a:p>
          </p:txBody>
        </p:sp>
      </p:grpSp>
      <p:grpSp>
        <p:nvGrpSpPr>
          <p:cNvPr id="6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0" name="TextBox 60"/>
            <p:cNvSpPr txBox="1"/>
            <p:nvPr/>
          </p:nvSpPr>
          <p:spPr>
            <a:xfrm>
              <a:off x="528447" y="6581299"/>
              <a:ext cx="31504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第2章 线程级并行与OpenMP编程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831842" cy="909257"/>
            <a:chOff x="520446" y="342900"/>
            <a:chExt cx="48318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第2章 线程级并行 · 共享变量的隐藏问题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8318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交错执行时，一次自加被覆盖掉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7" name="c1-table-1"/>
          <p:cNvGrpSpPr/>
          <p:nvPr/>
        </p:nvGrpSpPr>
        <p:grpSpPr>
          <a:xfrm>
            <a:off x="527685" y="1524000"/>
            <a:ext cx="5956935" cy="3437097"/>
            <a:chOff x="527685" y="1524000"/>
            <a:chExt cx="5956935" cy="3437097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951220" cy="448628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63050" y="1659731"/>
              <a:ext cx="76381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thread 0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186160" y="1659731"/>
              <a:ext cx="76381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thread 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353329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备注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41223" y="2108359"/>
              <a:ext cx="9262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ld t0, (a1)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688396" y="2108359"/>
              <a:ext cx="7883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t0 = x = 0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533400" y="2416492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533400" y="2421255"/>
              <a:ext cx="595122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41223" y="2556986"/>
              <a:ext cx="116745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addi t0, t0, 1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688396" y="2556986"/>
              <a:ext cx="49543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t0 = 1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33400" y="2866072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2664333" y="3005614"/>
              <a:ext cx="9262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ld t1, (a1)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4590098" y="2880360"/>
              <a:ext cx="1884998" cy="429578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8396" y="3005614"/>
              <a:ext cx="7883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t1 = x = 0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3314700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533400" y="3319462"/>
              <a:ext cx="595122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2664333" y="3454241"/>
              <a:ext cx="116745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addi t1, t1, 1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688396" y="3454241"/>
              <a:ext cx="49543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t1 = 1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3763328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41223" y="3903821"/>
              <a:ext cx="9692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sd t0, (a1)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688396" y="3903821"/>
              <a:ext cx="7883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= t0 = 1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4211955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533400" y="4216718"/>
              <a:ext cx="595122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2664333" y="4352449"/>
              <a:ext cx="9692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sd t1, (a1)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4590098" y="4226242"/>
              <a:ext cx="1884998" cy="429578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4688396" y="4352449"/>
              <a:ext cx="7883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= t1 = 1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1524000"/>
              <a:ext cx="5951220" cy="314134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2551748" y="1524000"/>
              <a:ext cx="9525" cy="31413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4575810" y="1524000"/>
              <a:ext cx="9525" cy="31413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27685" y="4741069"/>
              <a:ext cx="42180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thread 1 在 thread 0 写回之前读到了旧值 0，两次写回都是 1</a:t>
              </a:r>
            </a:p>
          </p:txBody>
        </p:sp>
      </p:grpSp>
      <p:grpSp>
        <p:nvGrpSpPr>
          <p:cNvPr id="44" name="c1-callout-2"/>
          <p:cNvGrpSpPr/>
          <p:nvPr/>
        </p:nvGrpSpPr>
        <p:grpSpPr>
          <a:xfrm>
            <a:off x="533400" y="5107305"/>
            <a:ext cx="5951220" cy="782955"/>
            <a:chOff x="533400" y="5107305"/>
            <a:chExt cx="5951220" cy="782955"/>
          </a:xfrm>
        </p:grpSpPr>
        <p:sp>
          <p:nvSpPr>
            <p:cNvPr id="38" name="Rectangle 38"/>
            <p:cNvSpPr/>
            <p:nvPr/>
          </p:nvSpPr>
          <p:spPr>
            <a:xfrm>
              <a:off x="533400" y="5107305"/>
              <a:ext cx="5951220" cy="782955"/>
            </a:xfrm>
            <a:prstGeom prst="roundRect">
              <a:avLst>
                <a:gd name="adj" fmla="val 1459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726129" y="5395078"/>
              <a:ext cx="224134" cy="192560"/>
              <a:chOff x="726129" y="5395078"/>
              <a:chExt cx="224134" cy="192560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838200" y="546544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726129" y="539507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838200" y="55432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1040130" y="5255895"/>
              <a:ext cx="45300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两个线程各加了一次，x 却只增加了 1，这叫丢失更新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（lost update）。</a:t>
              </a:r>
            </a:p>
          </p:txBody>
        </p:sp>
      </p:grpSp>
      <p:grpSp>
        <p:nvGrpSpPr>
          <p:cNvPr id="57" name="c2-card-1"/>
          <p:cNvGrpSpPr/>
          <p:nvPr/>
        </p:nvGrpSpPr>
        <p:grpSpPr>
          <a:xfrm>
            <a:off x="6789420" y="1524000"/>
            <a:ext cx="4869180" cy="4366260"/>
            <a:chOff x="6789420" y="1524000"/>
            <a:chExt cx="4869180" cy="4366260"/>
          </a:xfrm>
        </p:grpSpPr>
        <p:sp>
          <p:nvSpPr>
            <p:cNvPr id="45" name="Rectangle 45"/>
            <p:cNvSpPr/>
            <p:nvPr/>
          </p:nvSpPr>
          <p:spPr>
            <a:xfrm>
              <a:off x="6789420" y="1524000"/>
              <a:ext cx="4869180" cy="4366260"/>
            </a:xfrm>
            <a:prstGeom prst="roundRect">
              <a:avLst>
                <a:gd name="adj" fmla="val 305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6798945" y="1657350"/>
              <a:ext cx="47625" cy="409956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7037070" y="1733550"/>
              <a:ext cx="35147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132180" y="1769269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495223" y="1768792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一共有几种执行顺序？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029450" y="2129790"/>
              <a:ext cx="4206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每个线程内部三条指令的先后固定，交错数等于从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 个位置里选 3 个给 thread 0：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1" name="formula2"/>
                <p:cNvSpPr txBox="1">
                  <a:spLocks noGrp="1"/>
                </p:cNvSpPr>
                <p:nvPr/>
              </p:nvSpPr>
              <p:spPr>
                <a:xfrm>
                  <a:off x="7037070" y="2726055"/>
                  <a:ext cx="4411980" cy="56578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6</m:t>
                                </m:r>
                              </m:num>
                              <m:den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6</m:t>
                            </m:r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!</m:t>
                            </m:r>
                          </m:num>
                          <m:den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!</m:t>
                            </m:r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!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20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52" name="Ellipse 52"/>
            <p:cNvSpPr/>
            <p:nvPr/>
          </p:nvSpPr>
          <p:spPr>
            <a:xfrm>
              <a:off x="7042785" y="3474720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200900" y="3411855"/>
              <a:ext cx="40443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一个线程的 sd 排在另一个线程的 ld 之前（两段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完全不重叠）：只有 2 种，x = 2</a:t>
              </a:r>
            </a:p>
          </p:txBody>
        </p:sp>
        <p:sp>
          <p:nvSpPr>
            <p:cNvPr id="54" name="Ellipse 54"/>
            <p:cNvSpPr/>
            <p:nvPr/>
          </p:nvSpPr>
          <p:spPr>
            <a:xfrm>
              <a:off x="7042785" y="4095750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200900" y="4032885"/>
              <a:ext cx="32360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其余 18 种都有一方读到旧值，x = 1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030593" y="4364831"/>
              <a:ext cx="266658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 种交错已用脚本逐一枚举复核。</a:t>
              </a:r>
            </a:p>
          </p:txBody>
        </p:sp>
      </p:grpSp>
      <p:grpSp>
        <p:nvGrpSpPr>
          <p:cNvPr id="6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8" name="TextBox 58"/>
            <p:cNvSpPr txBox="1"/>
            <p:nvPr/>
          </p:nvSpPr>
          <p:spPr>
            <a:xfrm>
              <a:off x="528447" y="6581299"/>
              <a:ext cx="31504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第2章 线程级并行与OpenMP编程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第2章 线程级并行 · 共享变量的隐藏问题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竞态与数据竞争：结果依赖线程执行的先后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951220" cy="1335405"/>
            <a:chOff x="533400" y="1524000"/>
            <a:chExt cx="5951220" cy="133540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951220" cy="1335405"/>
            </a:xfrm>
            <a:prstGeom prst="roundRect">
              <a:avLst>
                <a:gd name="adj" fmla="val 998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06870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82078" y="1768792"/>
              <a:ext cx="229654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竞态（race condition）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5158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程序能否正确运行依赖于各线程的特定时序，执行顺序不同会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产生不同的结果。</a:t>
              </a:r>
            </a:p>
          </p:txBody>
        </p:sp>
      </p:grpSp>
      <p:grpSp>
        <p:nvGrpSpPr>
          <p:cNvPr id="20" name="c1-card-2"/>
          <p:cNvGrpSpPr/>
          <p:nvPr/>
        </p:nvGrpSpPr>
        <p:grpSpPr>
          <a:xfrm>
            <a:off x="533400" y="3049905"/>
            <a:ext cx="5951220" cy="1335405"/>
            <a:chOff x="533400" y="3049905"/>
            <a:chExt cx="5951220" cy="1335405"/>
          </a:xfrm>
        </p:grpSpPr>
        <p:sp>
          <p:nvSpPr>
            <p:cNvPr id="14" name="Rectangle 14"/>
            <p:cNvSpPr/>
            <p:nvPr/>
          </p:nvSpPr>
          <p:spPr>
            <a:xfrm>
              <a:off x="533400" y="3049905"/>
              <a:ext cx="5951220" cy="1335405"/>
            </a:xfrm>
            <a:prstGeom prst="roundRect">
              <a:avLst>
                <a:gd name="adj" fmla="val 998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542925" y="3183255"/>
              <a:ext cx="47625" cy="106870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81050" y="325945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71258" y="329517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82078" y="3294698"/>
              <a:ext cx="222334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数据竞争（data race）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73430" y="3655695"/>
              <a:ext cx="5158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竞态常发生在多个线程争用同一个资源、其中有修改资源状态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的写操作时。发生在内存上的这种竞争叫数据竞争。</a:t>
              </a:r>
            </a:p>
          </p:txBody>
        </p:sp>
      </p:grpSp>
      <p:grpSp>
        <p:nvGrpSpPr>
          <p:cNvPr id="25" name="c1-card-3"/>
          <p:cNvGrpSpPr/>
          <p:nvPr/>
        </p:nvGrpSpPr>
        <p:grpSpPr>
          <a:xfrm>
            <a:off x="533400" y="4575810"/>
            <a:ext cx="5951220" cy="1316355"/>
            <a:chOff x="533400" y="4575810"/>
            <a:chExt cx="5951220" cy="1316355"/>
          </a:xfrm>
        </p:grpSpPr>
        <p:sp>
          <p:nvSpPr>
            <p:cNvPr id="21" name="Rectangle 21"/>
            <p:cNvSpPr/>
            <p:nvPr/>
          </p:nvSpPr>
          <p:spPr>
            <a:xfrm>
              <a:off x="533400" y="4575810"/>
              <a:ext cx="5951220" cy="1316355"/>
            </a:xfrm>
            <a:prstGeom prst="roundRect">
              <a:avLst>
                <a:gd name="adj" fmla="val 1013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742950" y="4785360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243B53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16407" y="4821079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解决数据竞争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35330" y="5162550"/>
              <a:ext cx="5158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利用</a:t>
              </a:r>
              <a:r>
                <a:rPr lang="zh-CN" sz="150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同步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确保操作是原子的，从而给操作排序，把资源和操作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“保护”起来。工具有锁、信号量等。</a:t>
              </a:r>
            </a:p>
          </p:txBody>
        </p:sp>
      </p:grpSp>
      <p:grpSp>
        <p:nvGrpSpPr>
          <p:cNvPr id="28" name="c2-image-1"/>
          <p:cNvGrpSpPr/>
          <p:nvPr/>
        </p:nvGrpSpPr>
        <p:grpSpPr>
          <a:xfrm>
            <a:off x="7208520" y="1524000"/>
            <a:ext cx="4030980" cy="3338037"/>
            <a:chOff x="7208520" y="1524000"/>
            <a:chExt cx="4030980" cy="3338037"/>
          </a:xfrm>
        </p:grpSpPr>
        <p:pic>
          <p:nvPicPr>
            <p:cNvPr id="26" name="Image 26"/>
            <p:cNvPicPr>
              <a:picLocks noChangeAspect="1"/>
            </p:cNvPicPr>
            <p:nvPr/>
          </p:nvPicPr>
          <p:blipFill>
            <a:blip r:embed="rId2"/>
            <a:srcRect l="5556" t="0" r="5555" b="0"/>
            <a:stretch>
              <a:fillRect/>
            </a:stretch>
          </p:blipFill>
          <p:spPr>
            <a:xfrm>
              <a:off x="7208520" y="1524000"/>
              <a:ext cx="4030980" cy="3023235"/>
            </a:xfrm>
            <a:prstGeom prst="roundRect">
              <a:avLst>
                <a:gd name="adj" fmla="val 4410"/>
              </a:avLst>
            </a:prstGeom>
          </p:spPr>
        </p:pic>
        <p:sp>
          <p:nvSpPr>
            <p:cNvPr id="27" name="TextBox 27"/>
            <p:cNvSpPr txBox="1"/>
            <p:nvPr/>
          </p:nvSpPr>
          <p:spPr>
            <a:xfrm>
              <a:off x="7484389" y="4642009"/>
              <a:ext cx="34792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两个人同时改白板上的同一个数，后写的覆盖先写的</a:t>
              </a:r>
            </a:p>
          </p:txBody>
        </p:sp>
      </p:grpSp>
      <p:grpSp>
        <p:nvGrpSpPr>
          <p:cNvPr id="35" name="c2-callout-2"/>
          <p:cNvGrpSpPr/>
          <p:nvPr/>
        </p:nvGrpSpPr>
        <p:grpSpPr>
          <a:xfrm>
            <a:off x="6789420" y="5027295"/>
            <a:ext cx="4869180" cy="1335405"/>
            <a:chOff x="6789420" y="5027295"/>
            <a:chExt cx="4869180" cy="1335405"/>
          </a:xfrm>
        </p:grpSpPr>
        <p:sp>
          <p:nvSpPr>
            <p:cNvPr id="29" name="Rectangle 29"/>
            <p:cNvSpPr/>
            <p:nvPr/>
          </p:nvSpPr>
          <p:spPr>
            <a:xfrm>
              <a:off x="6789420" y="5027295"/>
              <a:ext cx="4869180" cy="1335405"/>
            </a:xfrm>
            <a:prstGeom prst="roundRect">
              <a:avLst>
                <a:gd name="adj" fmla="val 855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6982149" y="5591293"/>
              <a:ext cx="224134" cy="192560"/>
              <a:chOff x="6982149" y="5591293"/>
              <a:chExt cx="224134" cy="192560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7094220" y="566166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6982149" y="559129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7094220" y="57394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7296150" y="5175885"/>
              <a:ext cx="3958590" cy="11220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排序不等于顺序确定。x = 0 时，一个线程在锁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内做 x = x + 1、另一个做 x = x * 2：先加后乘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得 2，先乘后加得 1。数据竞争消除了，竞态仍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在。</a:t>
              </a:r>
            </a:p>
          </p:txBody>
        </p:sp>
      </p:grpSp>
      <p:grpSp>
        <p:nvGrpSpPr>
          <p:cNvPr id="3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6" name="TextBox 36"/>
            <p:cNvSpPr txBox="1"/>
            <p:nvPr/>
          </p:nvSpPr>
          <p:spPr>
            <a:xfrm>
              <a:off x="528447" y="6581299"/>
              <a:ext cx="31504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第2章 线程级并行与OpenMP编程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205760" cy="909257"/>
            <a:chOff x="520446" y="342900"/>
            <a:chExt cx="820576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第2章 线程级并行 · 共享变量的隐藏问题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20576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CASE2：按程序顺序应得 z = 4，实际还可能是 3 或 1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4760595" cy="1922145"/>
            <a:chOff x="533400" y="1524000"/>
            <a:chExt cx="4760595" cy="192214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760595" cy="1922145"/>
            </a:xfrm>
            <a:prstGeom prst="roundRect">
              <a:avLst>
                <a:gd name="adj" fmla="val 495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37535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初值 ready = 0，z = 0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035" y="1937861"/>
              <a:ext cx="2045462" cy="14373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thread 0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z = 3;              </a:t>
              </a:r>
              <a:r>
                <a:rPr lang="en-US" sz="112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(a)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ready = 1;          </a:t>
              </a:r>
              <a:r>
                <a:rPr lang="en-US" sz="112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(b)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112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thread 1</a:t>
              </a:r>
              <a:br/>
              <a:r>
                <a:rPr lang="en-US" sz="112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(!ready);     </a:t>
              </a:r>
              <a:r>
                <a:rPr lang="en-US" sz="112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(c)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z++;                </a:t>
              </a:r>
              <a:r>
                <a:rPr lang="en-US" sz="112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(d)</a:t>
              </a:r>
            </a:p>
          </p:txBody>
        </p:sp>
      </p:grpSp>
      <p:grpSp>
        <p:nvGrpSpPr>
          <p:cNvPr id="16" name="c1-card-2"/>
          <p:cNvGrpSpPr/>
          <p:nvPr/>
        </p:nvGrpSpPr>
        <p:grpSpPr>
          <a:xfrm>
            <a:off x="533400" y="3636645"/>
            <a:ext cx="4760595" cy="2172652"/>
            <a:chOff x="533400" y="3636645"/>
            <a:chExt cx="4760595" cy="2172652"/>
          </a:xfrm>
        </p:grpSpPr>
        <p:sp>
          <p:nvSpPr>
            <p:cNvPr id="11" name="Rectangle 11"/>
            <p:cNvSpPr/>
            <p:nvPr/>
          </p:nvSpPr>
          <p:spPr>
            <a:xfrm>
              <a:off x="533400" y="3636645"/>
              <a:ext cx="4760595" cy="2172652"/>
            </a:xfrm>
            <a:prstGeom prst="roundRect">
              <a:avLst>
                <a:gd name="adj" fmla="val 613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542925" y="3769995"/>
              <a:ext cx="47625" cy="190595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781050" y="3846195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7308" y="388191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设想中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73430" y="4223385"/>
              <a:ext cx="404431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在 c 之前，而 a 在 b 之前、c 在 d 之前，即 b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→ c ⇒ a → d，所以 z 先变 3 再加 1，最终为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4。</a:t>
              </a:r>
            </a:p>
          </p:txBody>
        </p:sp>
      </p:grpSp>
      <p:grpSp>
        <p:nvGrpSpPr>
          <p:cNvPr id="23" name="c2-card-1"/>
          <p:cNvGrpSpPr/>
          <p:nvPr/>
        </p:nvGrpSpPr>
        <p:grpSpPr>
          <a:xfrm>
            <a:off x="5598795" y="1524000"/>
            <a:ext cx="6059805" cy="1847850"/>
            <a:chOff x="5598795" y="1524000"/>
            <a:chExt cx="6059805" cy="1847850"/>
          </a:xfrm>
        </p:grpSpPr>
        <p:sp>
          <p:nvSpPr>
            <p:cNvPr id="17" name="Rectangle 17"/>
            <p:cNvSpPr/>
            <p:nvPr/>
          </p:nvSpPr>
          <p:spPr>
            <a:xfrm>
              <a:off x="5598795" y="1524000"/>
              <a:ext cx="6059805" cy="1847850"/>
            </a:xfrm>
            <a:prstGeom prst="roundRect">
              <a:avLst>
                <a:gd name="adj" fmla="val 721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5608320" y="1657350"/>
              <a:ext cx="47625" cy="158115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846445" y="1733550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924804" y="1769269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指令重排序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838825" y="2110740"/>
              <a:ext cx="53778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超标量处理器支持乱序执行。对 z 的数据依赖发生在另一个线程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里，thread 0 的处理器检测不到，a 和 b 就可以交换顺序。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839968" y="2728436"/>
              <a:ext cx="532053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假设 z 缓存脱靶（miss），ready 命中：z = 3 发不出去，ready = 1 先完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成。</a:t>
              </a:r>
            </a:p>
          </p:txBody>
        </p:sp>
      </p:grpSp>
      <p:grpSp>
        <p:nvGrpSpPr>
          <p:cNvPr id="44" name="c2-table-2"/>
          <p:cNvGrpSpPr/>
          <p:nvPr/>
        </p:nvGrpSpPr>
        <p:grpSpPr>
          <a:xfrm>
            <a:off x="5593080" y="3562350"/>
            <a:ext cx="6065520" cy="2291238"/>
            <a:chOff x="5593080" y="3562350"/>
            <a:chExt cx="6065520" cy="2291238"/>
          </a:xfrm>
        </p:grpSpPr>
        <p:sp>
          <p:nvSpPr>
            <p:cNvPr id="24" name="Rectangle 24"/>
            <p:cNvSpPr/>
            <p:nvPr/>
          </p:nvSpPr>
          <p:spPr>
            <a:xfrm>
              <a:off x="5598795" y="3562350"/>
              <a:ext cx="6059805" cy="448628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469485" y="3697129"/>
              <a:ext cx="6836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 发生在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953605" y="3697129"/>
              <a:ext cx="6836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z 的变化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857132" y="3697129"/>
              <a:ext cx="5113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最终 z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706618" y="4146709"/>
              <a:ext cx="8917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 读 z 之前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130730" y="4146709"/>
              <a:ext cx="69359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→ 3 → 4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058954" y="414670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598795" y="445484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5598795" y="4459605"/>
              <a:ext cx="605980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706618" y="4595336"/>
              <a:ext cx="17533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 读 z 之后、写回之前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130730" y="4595336"/>
              <a:ext cx="20979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 读到 0；a 写 3；d 写回 1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1056585" y="459533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598795" y="4903470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706618" y="5043964"/>
              <a:ext cx="8559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 写回之后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130730" y="5043964"/>
              <a:ext cx="69359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→ 1 → 3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056585" y="504396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598795" y="3562350"/>
              <a:ext cx="6059805" cy="179546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8018145" y="356235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10563225" y="356235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5593080" y="5433536"/>
              <a:ext cx="5622798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前提是 thread 1 已看到 ready = 1。原课件给出第三行 z = 0 → 1 → 3，另两行为补充，均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已用脚本枚举</a:t>
              </a:r>
            </a:p>
          </p:txBody>
        </p:sp>
      </p:grpSp>
      <p:grpSp>
        <p:nvGrpSpPr>
          <p:cNvPr id="4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5" name="TextBox 45"/>
            <p:cNvSpPr txBox="1"/>
            <p:nvPr/>
          </p:nvSpPr>
          <p:spPr>
            <a:xfrm>
              <a:off x="528447" y="6581299"/>
              <a:ext cx="31504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第2章 线程级并行与OpenMP编程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607933" cy="909257"/>
            <a:chOff x="520446" y="342900"/>
            <a:chExt cx="860793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第2章 线程级并行 · 共享变量的隐藏问题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60793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内存重排序：一个写操作何时被别的处理器看到并不确定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c1-text-1"/>
          <p:cNvGrpSpPr/>
          <p:nvPr/>
        </p:nvGrpSpPr>
        <p:grpSpPr>
          <a:xfrm>
            <a:off x="526923" y="1545431"/>
            <a:ext cx="5236982" cy="249364"/>
            <a:chOff x="526923" y="1545431"/>
            <a:chExt cx="5236982" cy="249364"/>
          </a:xfrm>
        </p:grpSpPr>
        <p:sp>
          <p:nvSpPr>
            <p:cNvPr id="7" name="TextBox 7"/>
            <p:cNvSpPr txBox="1"/>
            <p:nvPr/>
          </p:nvSpPr>
          <p:spPr>
            <a:xfrm>
              <a:off x="526923" y="1545431"/>
              <a:ext cx="523698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缓存导致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：P1 写 A，P2 等到 A == 1 后写 B，P3 等到 B == 1 后读 A</a:t>
              </a:r>
            </a:p>
          </p:txBody>
        </p:sp>
      </p:grpSp>
      <p:grpSp>
        <p:nvGrpSpPr>
          <p:cNvPr id="46" name="c1-graph-2"/>
          <p:cNvGrpSpPr/>
          <p:nvPr/>
        </p:nvGrpSpPr>
        <p:grpSpPr>
          <a:xfrm>
            <a:off x="993458" y="2054542"/>
            <a:ext cx="4714875" cy="2214182"/>
            <a:chOff x="993458" y="2054542"/>
            <a:chExt cx="4714875" cy="2214182"/>
          </a:xfrm>
        </p:grpSpPr>
        <p:sp>
          <p:nvSpPr>
            <p:cNvPr id="9" name="Freeform 9"/>
            <p:cNvSpPr/>
            <p:nvPr/>
          </p:nvSpPr>
          <p:spPr>
            <a:xfrm>
              <a:off x="1344930" y="2585085"/>
              <a:ext cx="9525" cy="1153478"/>
            </a:xfrm>
            <a:custGeom>
              <a:avLst/>
              <a:gdLst/>
              <a:ahLst/>
              <a:cxnLst/>
              <a:rect l="l" t="t" r="r" b="b"/>
              <a:pathLst>
                <a:path w="9525" h="1153478">
                  <a:moveTo>
                    <a:pt x="0" y="0"/>
                  </a:moveTo>
                  <a:lnTo>
                    <a:pt x="0" y="115347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3238500" y="2667952"/>
              <a:ext cx="9525" cy="986790"/>
            </a:xfrm>
            <a:custGeom>
              <a:avLst/>
              <a:gdLst/>
              <a:ahLst/>
              <a:cxnLst/>
              <a:rect l="l" t="t" r="r" b="b"/>
              <a:pathLst>
                <a:path w="9525" h="986790">
                  <a:moveTo>
                    <a:pt x="0" y="0"/>
                  </a:moveTo>
                  <a:lnTo>
                    <a:pt x="0" y="98679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5132070" y="2667952"/>
              <a:ext cx="9525" cy="986790"/>
            </a:xfrm>
            <a:custGeom>
              <a:avLst/>
              <a:gdLst/>
              <a:ahLst/>
              <a:cxnLst/>
              <a:rect l="l" t="t" r="r" b="b"/>
              <a:pathLst>
                <a:path w="9525" h="986790">
                  <a:moveTo>
                    <a:pt x="0" y="0"/>
                  </a:moveTo>
                  <a:lnTo>
                    <a:pt x="0" y="98679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696402" y="3961448"/>
              <a:ext cx="1095375" cy="9525"/>
            </a:xfrm>
            <a:custGeom>
              <a:avLst/>
              <a:gdLst/>
              <a:ahLst/>
              <a:cxnLst/>
              <a:rect l="l" t="t" r="r" b="b"/>
              <a:pathLst>
                <a:path w="1095375" h="9525">
                  <a:moveTo>
                    <a:pt x="0" y="0"/>
                  </a:moveTo>
                  <a:lnTo>
                    <a:pt x="109537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2791778" y="391382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4" name="Freeform 14"/>
            <p:cNvSpPr/>
            <p:nvPr/>
          </p:nvSpPr>
          <p:spPr>
            <a:xfrm>
              <a:off x="3589972" y="3961448"/>
              <a:ext cx="1042035" cy="9525"/>
            </a:xfrm>
            <a:custGeom>
              <a:avLst/>
              <a:gdLst/>
              <a:ahLst/>
              <a:cxnLst/>
              <a:rect l="l" t="t" r="r" b="b"/>
              <a:pathLst>
                <a:path w="1042035" h="9525">
                  <a:moveTo>
                    <a:pt x="0" y="0"/>
                  </a:moveTo>
                  <a:lnTo>
                    <a:pt x="104203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4632008" y="391382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6" name="Freeform 16"/>
            <p:cNvSpPr/>
            <p:nvPr/>
          </p:nvSpPr>
          <p:spPr>
            <a:xfrm>
              <a:off x="1696402" y="3106738"/>
              <a:ext cx="2948940" cy="644207"/>
            </a:xfrm>
            <a:custGeom>
              <a:avLst/>
              <a:gdLst/>
              <a:ahLst/>
              <a:cxnLst/>
              <a:rect l="l" t="t" r="r" b="b"/>
              <a:pathLst>
                <a:path w="2948940" h="644207">
                  <a:moveTo>
                    <a:pt x="0" y="644207"/>
                  </a:moveTo>
                  <a:cubicBezTo>
                    <a:pt x="1028065" y="26987"/>
                    <a:pt x="2011045" y="0"/>
                    <a:pt x="2948940" y="563245"/>
                  </a:cubicBezTo>
                </a:path>
              </a:pathLst>
            </a:custGeom>
            <a:noFill/>
            <a:ln w="17145">
              <a:solidFill>
                <a:srgbClr val="B42318"/>
              </a:solidFill>
              <a:custDash>
                <a:ds d="333333" sp="222222"/>
              </a:custDash>
            </a:ln>
          </p:spPr>
        </p:sp>
        <p:sp>
          <p:nvSpPr>
            <p:cNvPr id="17" name="Freeform 17"/>
            <p:cNvSpPr/>
            <p:nvPr/>
          </p:nvSpPr>
          <p:spPr>
            <a:xfrm>
              <a:off x="4620578" y="3629025"/>
              <a:ext cx="106680" cy="89535"/>
            </a:xfrm>
            <a:custGeom>
              <a:avLst/>
              <a:gdLst/>
              <a:ahLst/>
              <a:cxnLst/>
              <a:rect l="l" t="t" r="r" b="b"/>
              <a:pathLst>
                <a:path w="106680" h="89535">
                  <a:moveTo>
                    <a:pt x="106680" y="89535"/>
                  </a:moveTo>
                  <a:lnTo>
                    <a:pt x="0" y="80962"/>
                  </a:lnTo>
                  <a:lnTo>
                    <a:pt x="49530" y="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1034415" y="2138362"/>
              <a:ext cx="621030" cy="446722"/>
            </a:xfrm>
            <a:prstGeom prst="roundRect">
              <a:avLst>
                <a:gd name="adj" fmla="val 21322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2662238" y="2054542"/>
              <a:ext cx="1152525" cy="613410"/>
            </a:xfrm>
            <a:prstGeom prst="roundRect">
              <a:avLst>
                <a:gd name="adj" fmla="val 15528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4555808" y="2054542"/>
              <a:ext cx="1152525" cy="613410"/>
            </a:xfrm>
            <a:prstGeom prst="roundRect">
              <a:avLst>
                <a:gd name="adj" fmla="val 15528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993458" y="3738562"/>
              <a:ext cx="701992" cy="446722"/>
            </a:xfrm>
            <a:prstGeom prst="roundRect">
              <a:avLst>
                <a:gd name="adj" fmla="val 21322"/>
              </a:avLst>
            </a:prstGeom>
            <a:solidFill>
              <a:srgbClr val="E7EDF3"/>
            </a:solidFill>
            <a:ln w="17145">
              <a:solidFill>
                <a:srgbClr val="334E68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2887028" y="3654742"/>
              <a:ext cx="701992" cy="613410"/>
            </a:xfrm>
            <a:prstGeom prst="roundRect">
              <a:avLst>
                <a:gd name="adj" fmla="val 15528"/>
              </a:avLst>
            </a:prstGeom>
            <a:solidFill>
              <a:srgbClr val="E7EDF3"/>
            </a:solidFill>
            <a:ln w="17145">
              <a:solidFill>
                <a:srgbClr val="334E68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727258" y="3654742"/>
              <a:ext cx="810578" cy="613410"/>
            </a:xfrm>
            <a:prstGeom prst="roundRect">
              <a:avLst>
                <a:gd name="adj" fmla="val 15528"/>
              </a:avLst>
            </a:prstGeom>
            <a:solidFill>
              <a:srgbClr val="FDECEA"/>
            </a:solidFill>
            <a:ln w="17145">
              <a:solidFill>
                <a:srgbClr val="B42318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253345" y="2212658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P1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120049" y="2379345"/>
              <a:ext cx="4497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= 1;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146915" y="2129790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P2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737840" y="2296478"/>
              <a:ext cx="10013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wait(A == 1);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013619" y="2463165"/>
              <a:ext cx="4497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= 1;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040485" y="2129790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P3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631410" y="2296478"/>
              <a:ext cx="10013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wait(B == 1);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989412" y="2463165"/>
              <a:ext cx="2853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 A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98245" y="381285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缓存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100446" y="3979545"/>
              <a:ext cx="48896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A: 0→1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091815" y="372999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缓存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994016" y="3896678"/>
              <a:ext cx="48896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A: 0→1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994016" y="4063365"/>
              <a:ext cx="48896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B: 0→1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985385" y="372999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缓存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808963" y="3896678"/>
              <a:ext cx="6462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A: 0 旧值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887586" y="4063365"/>
              <a:ext cx="48896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B: 0→1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2047875" y="3883342"/>
              <a:ext cx="487680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2062843" y="3912394"/>
              <a:ext cx="45774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A=1 已到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3914775" y="3883342"/>
              <a:ext cx="487680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3929743" y="3912394"/>
              <a:ext cx="45774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B=1 已到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2877502" y="3201352"/>
              <a:ext cx="696278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2885905" y="3230404"/>
              <a:ext cx="67852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A=1 还在路上</a:t>
              </a:r>
            </a:p>
          </p:txBody>
        </p:sp>
      </p:grpSp>
      <p:grpSp>
        <p:nvGrpSpPr>
          <p:cNvPr id="53" name="c1-callout-3"/>
          <p:cNvGrpSpPr/>
          <p:nvPr/>
        </p:nvGrpSpPr>
        <p:grpSpPr>
          <a:xfrm>
            <a:off x="533400" y="4792028"/>
            <a:ext cx="5410200" cy="1034415"/>
            <a:chOff x="533400" y="4792028"/>
            <a:chExt cx="5410200" cy="1034415"/>
          </a:xfrm>
        </p:grpSpPr>
        <p:sp>
          <p:nvSpPr>
            <p:cNvPr id="47" name="Rectangle 47"/>
            <p:cNvSpPr/>
            <p:nvPr/>
          </p:nvSpPr>
          <p:spPr>
            <a:xfrm>
              <a:off x="533400" y="4792028"/>
              <a:ext cx="5410200" cy="1034415"/>
            </a:xfrm>
            <a:prstGeom prst="roundRect">
              <a:avLst>
                <a:gd name="adj" fmla="val 11050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1" name="Group 51"/>
            <p:cNvGrpSpPr/>
            <p:nvPr/>
          </p:nvGrpSpPr>
          <p:grpSpPr>
            <a:xfrm>
              <a:off x="726129" y="5205531"/>
              <a:ext cx="224134" cy="192560"/>
              <a:chOff x="726129" y="5205531"/>
              <a:chExt cx="224134" cy="192560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838200" y="527589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726129" y="520553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838200" y="535368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2" name="TextBox 52"/>
            <p:cNvSpPr txBox="1"/>
            <p:nvPr/>
          </p:nvSpPr>
          <p:spPr>
            <a:xfrm>
              <a:off x="1040130" y="5066348"/>
              <a:ext cx="43300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发往 P3 的 A = 1 在网络里绕了远路，P3 先收到 B =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1，读 A 时仍是旧值 0。</a:t>
              </a:r>
            </a:p>
          </p:txBody>
        </p:sp>
      </p:grpSp>
      <p:grpSp>
        <p:nvGrpSpPr>
          <p:cNvPr id="55" name="c2-text-1"/>
          <p:cNvGrpSpPr/>
          <p:nvPr/>
        </p:nvGrpSpPr>
        <p:grpSpPr>
          <a:xfrm>
            <a:off x="6241923" y="1545431"/>
            <a:ext cx="5149850" cy="500824"/>
            <a:chOff x="6241923" y="1545431"/>
            <a:chExt cx="5149850" cy="500824"/>
          </a:xfrm>
        </p:grpSpPr>
        <p:sp>
          <p:nvSpPr>
            <p:cNvPr id="54" name="TextBox 54"/>
            <p:cNvSpPr txBox="1"/>
            <p:nvPr/>
          </p:nvSpPr>
          <p:spPr>
            <a:xfrm>
              <a:off x="6241923" y="1545431"/>
              <a:ext cx="5149850" cy="5008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80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互联网络导致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：P1 先写 A 再写 Ready，两个变量存放在不同节点的内存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里</a:t>
              </a:r>
            </a:p>
          </p:txBody>
        </p:sp>
      </p:grpSp>
      <p:grpSp>
        <p:nvGrpSpPr>
          <p:cNvPr id="86" name="c2-graph-2"/>
          <p:cNvGrpSpPr/>
          <p:nvPr/>
        </p:nvGrpSpPr>
        <p:grpSpPr>
          <a:xfrm>
            <a:off x="6487478" y="2412682"/>
            <a:ext cx="5090159" cy="2183702"/>
            <a:chOff x="6487478" y="2412682"/>
            <a:chExt cx="5090159" cy="2183702"/>
          </a:xfrm>
        </p:grpSpPr>
        <p:sp>
          <p:nvSpPr>
            <p:cNvPr id="56" name="Freeform 56"/>
            <p:cNvSpPr/>
            <p:nvPr/>
          </p:nvSpPr>
          <p:spPr>
            <a:xfrm>
              <a:off x="7416165" y="2719388"/>
              <a:ext cx="868680" cy="9525"/>
            </a:xfrm>
            <a:custGeom>
              <a:avLst/>
              <a:gdLst/>
              <a:ahLst/>
              <a:cxnLst/>
              <a:rect l="l" t="t" r="r" b="b"/>
              <a:pathLst>
                <a:path w="868680" h="9525">
                  <a:moveTo>
                    <a:pt x="0" y="0"/>
                  </a:moveTo>
                  <a:lnTo>
                    <a:pt x="86868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7" name="Freeform 57"/>
            <p:cNvSpPr/>
            <p:nvPr/>
          </p:nvSpPr>
          <p:spPr>
            <a:xfrm>
              <a:off x="8284845" y="267176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8" name="Freeform 58"/>
            <p:cNvSpPr/>
            <p:nvPr/>
          </p:nvSpPr>
          <p:spPr>
            <a:xfrm>
              <a:off x="9526905" y="2719388"/>
              <a:ext cx="494347" cy="9525"/>
            </a:xfrm>
            <a:custGeom>
              <a:avLst/>
              <a:gdLst/>
              <a:ahLst/>
              <a:cxnLst/>
              <a:rect l="l" t="t" r="r" b="b"/>
              <a:pathLst>
                <a:path w="494347" h="9525">
                  <a:moveTo>
                    <a:pt x="0" y="0"/>
                  </a:moveTo>
                  <a:lnTo>
                    <a:pt x="494347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9" name="Freeform 59"/>
            <p:cNvSpPr/>
            <p:nvPr/>
          </p:nvSpPr>
          <p:spPr>
            <a:xfrm>
              <a:off x="10021252" y="267176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60" name="Freeform 60"/>
            <p:cNvSpPr/>
            <p:nvPr/>
          </p:nvSpPr>
          <p:spPr>
            <a:xfrm>
              <a:off x="7322820" y="3026092"/>
              <a:ext cx="1286828" cy="1062990"/>
            </a:xfrm>
            <a:custGeom>
              <a:avLst/>
              <a:gdLst/>
              <a:ahLst/>
              <a:cxnLst/>
              <a:rect l="l" t="t" r="r" b="b"/>
              <a:pathLst>
                <a:path w="1286828" h="1062990">
                  <a:moveTo>
                    <a:pt x="0" y="0"/>
                  </a:moveTo>
                  <a:lnTo>
                    <a:pt x="1286828" y="1062990"/>
                  </a:lnTo>
                </a:path>
              </a:pathLst>
            </a:custGeom>
            <a:noFill/>
            <a:ln w="17145">
              <a:solidFill>
                <a:srgbClr val="B42318"/>
              </a:solidFill>
              <a:custDash>
                <a:ds d="333333" sp="222222"/>
              </a:custDash>
            </a:ln>
          </p:spPr>
        </p:sp>
        <p:sp>
          <p:nvSpPr>
            <p:cNvPr id="61" name="Freeform 61"/>
            <p:cNvSpPr/>
            <p:nvPr/>
          </p:nvSpPr>
          <p:spPr>
            <a:xfrm>
              <a:off x="8579168" y="4051935"/>
              <a:ext cx="103822" cy="97155"/>
            </a:xfrm>
            <a:custGeom>
              <a:avLst/>
              <a:gdLst/>
              <a:ahLst/>
              <a:cxnLst/>
              <a:rect l="l" t="t" r="r" b="b"/>
              <a:pathLst>
                <a:path w="103822" h="97155">
                  <a:moveTo>
                    <a:pt x="103822" y="97155"/>
                  </a:moveTo>
                  <a:lnTo>
                    <a:pt x="0" y="73343"/>
                  </a:lnTo>
                  <a:lnTo>
                    <a:pt x="60960" y="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62" name="Freeform 62"/>
            <p:cNvSpPr/>
            <p:nvPr/>
          </p:nvSpPr>
          <p:spPr>
            <a:xfrm>
              <a:off x="9209722" y="3088005"/>
              <a:ext cx="1214438" cy="1061085"/>
            </a:xfrm>
            <a:custGeom>
              <a:avLst/>
              <a:gdLst/>
              <a:ahLst/>
              <a:cxnLst/>
              <a:rect l="l" t="t" r="r" b="b"/>
              <a:pathLst>
                <a:path w="1214438" h="1061085">
                  <a:moveTo>
                    <a:pt x="0" y="1061085"/>
                  </a:moveTo>
                  <a:lnTo>
                    <a:pt x="1214438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63" name="Freeform 63"/>
            <p:cNvSpPr/>
            <p:nvPr/>
          </p:nvSpPr>
          <p:spPr>
            <a:xfrm>
              <a:off x="10392728" y="3026092"/>
              <a:ext cx="102870" cy="98108"/>
            </a:xfrm>
            <a:custGeom>
              <a:avLst/>
              <a:gdLst/>
              <a:ahLst/>
              <a:cxnLst/>
              <a:rect l="l" t="t" r="r" b="b"/>
              <a:pathLst>
                <a:path w="102870" h="98108">
                  <a:moveTo>
                    <a:pt x="102870" y="0"/>
                  </a:moveTo>
                  <a:lnTo>
                    <a:pt x="62865" y="98108"/>
                  </a:lnTo>
                  <a:lnTo>
                    <a:pt x="0" y="2667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6487478" y="2412682"/>
              <a:ext cx="928688" cy="613410"/>
            </a:xfrm>
            <a:prstGeom prst="roundRect">
              <a:avLst>
                <a:gd name="adj" fmla="val 15528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65" name="Rectangle 65"/>
            <p:cNvSpPr/>
            <p:nvPr/>
          </p:nvSpPr>
          <p:spPr>
            <a:xfrm>
              <a:off x="8380095" y="2495550"/>
              <a:ext cx="1147762" cy="446722"/>
            </a:xfrm>
            <a:prstGeom prst="roundRect">
              <a:avLst>
                <a:gd name="adj" fmla="val 21322"/>
              </a:avLst>
            </a:prstGeom>
            <a:solidFill>
              <a:srgbClr val="E7EDF3"/>
            </a:solidFill>
            <a:ln w="17145">
              <a:solidFill>
                <a:srgbClr val="334E68"/>
              </a:solidFill>
            </a:ln>
          </p:spPr>
        </p:sp>
        <p:sp>
          <p:nvSpPr>
            <p:cNvPr id="66" name="Rectangle 66"/>
            <p:cNvSpPr/>
            <p:nvPr/>
          </p:nvSpPr>
          <p:spPr>
            <a:xfrm>
              <a:off x="10116502" y="2412682"/>
              <a:ext cx="1461135" cy="613410"/>
            </a:xfrm>
            <a:prstGeom prst="roundRect">
              <a:avLst>
                <a:gd name="adj" fmla="val 15528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67" name="Rectangle 67"/>
            <p:cNvSpPr/>
            <p:nvPr/>
          </p:nvSpPr>
          <p:spPr>
            <a:xfrm>
              <a:off x="8380095" y="4149090"/>
              <a:ext cx="1147762" cy="446722"/>
            </a:xfrm>
            <a:prstGeom prst="roundRect">
              <a:avLst>
                <a:gd name="adj" fmla="val 21322"/>
              </a:avLst>
            </a:prstGeom>
            <a:solidFill>
              <a:srgbClr val="FDECEA"/>
            </a:solidFill>
            <a:ln w="17145">
              <a:solidFill>
                <a:srgbClr val="B42318"/>
              </a:solidFill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859760" y="2486978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P1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726464" y="2653665"/>
              <a:ext cx="4497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= 1;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570764" y="2820352"/>
              <a:ext cx="76116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Ready = 1;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8461035" y="2570798"/>
              <a:ext cx="9849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内存（节点 3）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8554157" y="2737485"/>
              <a:ext cx="7986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Ready: 0→1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0755485" y="2486978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P3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0184587" y="2653665"/>
              <a:ext cx="132496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wait(Ready == 1);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0704412" y="2820352"/>
              <a:ext cx="2853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 A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8461035" y="4224338"/>
              <a:ext cx="9849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内存（节点 2）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8795267" y="4391025"/>
              <a:ext cx="31646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A: 0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7539990" y="2640330"/>
              <a:ext cx="716280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7551330" y="2670334"/>
              <a:ext cx="69360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Ready=1 先到</a:t>
              </a:r>
            </a:p>
          </p:txBody>
        </p:sp>
        <p:sp>
          <p:nvSpPr>
            <p:cNvPr id="80" name="Rectangle 80"/>
            <p:cNvSpPr/>
            <p:nvPr/>
          </p:nvSpPr>
          <p:spPr>
            <a:xfrm>
              <a:off x="9635490" y="2640330"/>
              <a:ext cx="373380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9660114" y="2670334"/>
              <a:ext cx="32413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看到 1</a:t>
              </a:r>
            </a:p>
          </p:txBody>
        </p:sp>
        <p:sp>
          <p:nvSpPr>
            <p:cNvPr id="82" name="Rectangle 82"/>
            <p:cNvSpPr/>
            <p:nvPr/>
          </p:nvSpPr>
          <p:spPr>
            <a:xfrm>
              <a:off x="7655242" y="3509010"/>
              <a:ext cx="696278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7663645" y="3538061"/>
              <a:ext cx="67852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A=1 还在路上</a:t>
              </a:r>
            </a:p>
          </p:txBody>
        </p:sp>
        <p:sp>
          <p:nvSpPr>
            <p:cNvPr id="84" name="Rectangle 84"/>
            <p:cNvSpPr/>
            <p:nvPr/>
          </p:nvSpPr>
          <p:spPr>
            <a:xfrm>
              <a:off x="9665970" y="3509010"/>
              <a:ext cx="373380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9690594" y="3538061"/>
              <a:ext cx="32413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读到 0</a:t>
              </a:r>
            </a:p>
          </p:txBody>
        </p:sp>
      </p:grpSp>
      <p:grpSp>
        <p:nvGrpSpPr>
          <p:cNvPr id="93" name="c2-callout-3"/>
          <p:cNvGrpSpPr/>
          <p:nvPr/>
        </p:nvGrpSpPr>
        <p:grpSpPr>
          <a:xfrm>
            <a:off x="6248400" y="5043488"/>
            <a:ext cx="5410200" cy="782955"/>
            <a:chOff x="6248400" y="5043488"/>
            <a:chExt cx="5410200" cy="782955"/>
          </a:xfrm>
        </p:grpSpPr>
        <p:sp>
          <p:nvSpPr>
            <p:cNvPr id="87" name="Rectangle 87"/>
            <p:cNvSpPr/>
            <p:nvPr/>
          </p:nvSpPr>
          <p:spPr>
            <a:xfrm>
              <a:off x="6248400" y="5043488"/>
              <a:ext cx="5410200" cy="782955"/>
            </a:xfrm>
            <a:prstGeom prst="roundRect">
              <a:avLst>
                <a:gd name="adj" fmla="val 1459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91" name="Group 91"/>
            <p:cNvGrpSpPr/>
            <p:nvPr/>
          </p:nvGrpSpPr>
          <p:grpSpPr>
            <a:xfrm>
              <a:off x="6441129" y="5331261"/>
              <a:ext cx="224134" cy="192560"/>
              <a:chOff x="6441129" y="5331261"/>
              <a:chExt cx="224134" cy="192560"/>
            </a:xfrm>
          </p:grpSpPr>
          <p:sp>
            <p:nvSpPr>
              <p:cNvPr id="88" name="Freeform 88"/>
              <p:cNvSpPr/>
              <p:nvPr/>
            </p:nvSpPr>
            <p:spPr>
              <a:xfrm>
                <a:off x="6553200" y="540162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89" name="Freeform 89"/>
              <p:cNvSpPr/>
              <p:nvPr/>
            </p:nvSpPr>
            <p:spPr>
              <a:xfrm>
                <a:off x="6441129" y="533126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90" name="Freeform 90"/>
              <p:cNvSpPr/>
              <p:nvPr/>
            </p:nvSpPr>
            <p:spPr>
              <a:xfrm>
                <a:off x="6553200" y="547941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92" name="TextBox 92"/>
            <p:cNvSpPr txBox="1"/>
            <p:nvPr/>
          </p:nvSpPr>
          <p:spPr>
            <a:xfrm>
              <a:off x="6755130" y="5192078"/>
              <a:ext cx="42157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两次写走不同的网络路径，后发的 Ready = 1 先到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达，P3 误以为 A 已经更新。</a:t>
              </a:r>
            </a:p>
          </p:txBody>
        </p:sp>
      </p:grpSp>
      <p:grpSp>
        <p:nvGrpSpPr>
          <p:cNvPr id="9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4" name="TextBox 94"/>
            <p:cNvSpPr txBox="1"/>
            <p:nvPr/>
          </p:nvSpPr>
          <p:spPr>
            <a:xfrm>
              <a:off x="528447" y="6581299"/>
              <a:ext cx="31504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第2章 线程级并行与OpenMP编程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第2章 线程级并行 · 共享变量的隐藏问题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三类隐藏问题一览，对策都是同步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1" name="c1-table-1"/>
          <p:cNvGrpSpPr/>
          <p:nvPr/>
        </p:nvGrpSpPr>
        <p:grpSpPr>
          <a:xfrm>
            <a:off x="533400" y="1524000"/>
            <a:ext cx="11125200" cy="2383155"/>
            <a:chOff x="533400" y="1524000"/>
            <a:chExt cx="11125200" cy="238315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6863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336078" y="1658779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问题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672561" y="1658779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例子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787236" y="1658779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原因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014306" y="1658779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对策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37604" y="2255044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数据竞争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639758" y="2255044"/>
              <a:ext cx="21469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CASE1：两线程 x = x + 1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310568" y="2255044"/>
              <a:ext cx="326420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读、加、写三步之间被另一个线程插入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870061" y="2128361"/>
              <a:ext cx="2467102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锁、信号量；OpenMP 的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critical、atomic、reduction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71081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715578"/>
              <a:ext cx="11125200" cy="4686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37604" y="2850356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指令重排序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639758" y="2850356"/>
              <a:ext cx="2328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CASE2：ready 先于 z 写出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310568" y="2850356"/>
              <a:ext cx="326420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处理器看不到跨线程的依赖，乱序发出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870061" y="2850356"/>
              <a:ext cx="168713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栅栏（fence）、锁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317944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37604" y="3445669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内存重排序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639758" y="3445669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缓存、互联网络两个例子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310568" y="3445669"/>
              <a:ext cx="26907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写操作传到各处理器的时间不同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870061" y="3318986"/>
              <a:ext cx="2503170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栅栏、锁；OpenMP 的 flush、</a:t>
              </a:r>
              <a:br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barrier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1524000"/>
              <a:ext cx="11125200" cy="238315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2530792" y="1524000"/>
              <a:ext cx="9525" cy="23831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5201602" y="1524000"/>
              <a:ext cx="9525" cy="23831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8761095" y="1524000"/>
              <a:ext cx="9525" cy="23831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4" name="c1-compare-2"/>
          <p:cNvGrpSpPr/>
          <p:nvPr/>
        </p:nvGrpSpPr>
        <p:grpSpPr>
          <a:xfrm>
            <a:off x="533400" y="4091940"/>
            <a:ext cx="11125200" cy="1580198"/>
            <a:chOff x="533400" y="4091940"/>
            <a:chExt cx="11125200" cy="1580198"/>
          </a:xfrm>
        </p:grpSpPr>
        <p:sp>
          <p:nvSpPr>
            <p:cNvPr id="32" name="Rectangle 32"/>
            <p:cNvSpPr/>
            <p:nvPr/>
          </p:nvSpPr>
          <p:spPr>
            <a:xfrm>
              <a:off x="533400" y="4091940"/>
              <a:ext cx="5314950" cy="1580198"/>
            </a:xfrm>
            <a:prstGeom prst="roundRect">
              <a:avLst>
                <a:gd name="adj" fmla="val 843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542925" y="4225290"/>
              <a:ext cx="47625" cy="131349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8096" y="4319111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对单线程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82955" y="4717732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39546" y="4658201"/>
              <a:ext cx="45229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处理器保证单线程内的结果与程序顺序一致，重排序看不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出来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343650" y="4091940"/>
              <a:ext cx="5314950" cy="1580198"/>
            </a:xfrm>
            <a:prstGeom prst="roundRect">
              <a:avLst>
                <a:gd name="adj" fmla="val 843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6353175" y="4225290"/>
              <a:ext cx="47625" cy="1313498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578346" y="4319111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对多线程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6593205" y="4717732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749796" y="4658201"/>
              <a:ext cx="45229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一个线程内几条指令对另一个线程的可见顺序难以预见，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会出错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5895975" y="4682490"/>
              <a:ext cx="400050" cy="4000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5949315" y="481679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注意</a:t>
              </a:r>
            </a:p>
          </p:txBody>
        </p:sp>
      </p:grpSp>
      <p:grpSp>
        <p:nvGrpSpPr>
          <p:cNvPr id="51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45" name="Rectangle 45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738188" y="6003608"/>
              <a:ext cx="200026" cy="200025"/>
              <a:chOff x="738188" y="6003608"/>
              <a:chExt cx="200026" cy="200025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738188" y="600360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777926" y="604805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812642" y="615918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1040511" y="6004084"/>
              <a:ext cx="899901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写多线程代码时，先问两件事：哪些变量会被多个线程写？一个线程的写，另一个线程要按什么顺序看到？</a:t>
              </a:r>
            </a:p>
          </p:txBody>
        </p:sp>
      </p:grpSp>
      <p:grpSp>
        <p:nvGrpSpPr>
          <p:cNvPr id="5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2" name="TextBox 52"/>
            <p:cNvSpPr txBox="1"/>
            <p:nvPr/>
          </p:nvSpPr>
          <p:spPr>
            <a:xfrm>
              <a:off x="528447" y="6581299"/>
              <a:ext cx="31504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第2章 线程级并行与OpenMP编程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334E6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7EDF3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3098902" cy="3351847"/>
            <a:chOff x="667512" y="1835468"/>
            <a:chExt cx="3098902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第三部分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09890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OpenMP 概述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290436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共享存储系统编程的工业标准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461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OpenMP 的组成与体系结构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78212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fork-join 并行模型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59994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shared 与 private 存储模型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环境变量、运行库函数与锁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31504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第2章 线程级并行与OpenMP编程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37236" cy="909257"/>
            <a:chOff x="520446" y="342900"/>
            <a:chExt cx="753723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43162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828" y="407194"/>
              <a:ext cx="23413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第2章 线程级并行 · OpenMP 概述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3723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OpenMP：编译制导、运行库、环境变量三类 API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6059805" cy="1819275"/>
            <a:chOff x="533400" y="1524000"/>
            <a:chExt cx="6059805" cy="181927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1819275"/>
            </a:xfrm>
            <a:prstGeom prst="roundRect">
              <a:avLst>
                <a:gd name="adj" fmla="val 73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55257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9620" y="172212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1060" y="17564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52931" y="1756886"/>
              <a:ext cx="337798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OpenMP（Open Multi-Processing）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381" y="2100739"/>
              <a:ext cx="5253355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共享存储体系结构上的一个编程模型，基于 fork-join 的多线程并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行编程 API，在 C、C++、Fortran 上提供接口，支持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Unix/Linux/Windows 等平台。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3524" y="2957512"/>
              <a:ext cx="45354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简单、可移植性好、可扩展，是共享存储系统编程的工业标准。</a:t>
              </a:r>
            </a:p>
          </p:txBody>
        </p:sp>
      </p:grpSp>
      <p:grpSp>
        <p:nvGrpSpPr>
          <p:cNvPr id="23" name="c1-kv-2"/>
          <p:cNvGrpSpPr/>
          <p:nvPr/>
        </p:nvGrpSpPr>
        <p:grpSpPr>
          <a:xfrm>
            <a:off x="526161" y="3546634"/>
            <a:ext cx="6067044" cy="1111187"/>
            <a:chOff x="526161" y="3546634"/>
            <a:chExt cx="6067044" cy="1111187"/>
          </a:xfrm>
        </p:grpSpPr>
        <p:sp>
          <p:nvSpPr>
            <p:cNvPr id="15" name="TextBox 15"/>
            <p:cNvSpPr txBox="1"/>
            <p:nvPr/>
          </p:nvSpPr>
          <p:spPr>
            <a:xfrm>
              <a:off x="526161" y="3546634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编译制导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712976" y="3546634"/>
              <a:ext cx="422956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#pragma omp …，告诉编译器哪里并行、怎样并行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33400" y="385000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26161" y="3962876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运行库例程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712976" y="3962876"/>
              <a:ext cx="41626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omp_get_thread_num() 等函数，在运行中调用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426624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26161" y="4379119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环境变量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712976" y="4379119"/>
              <a:ext cx="377420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OMP_NUM_THREADS 等，在程序运行前设置</a:t>
              </a:r>
            </a:p>
          </p:txBody>
        </p:sp>
      </p:grpSp>
      <p:grpSp>
        <p:nvGrpSpPr>
          <p:cNvPr id="29" name="c1-card-3"/>
          <p:cNvGrpSpPr/>
          <p:nvPr/>
        </p:nvGrpSpPr>
        <p:grpSpPr>
          <a:xfrm>
            <a:off x="533400" y="4782502"/>
            <a:ext cx="6059805" cy="1522095"/>
            <a:chOff x="533400" y="4782502"/>
            <a:chExt cx="6059805" cy="1522095"/>
          </a:xfrm>
        </p:grpSpPr>
        <p:sp>
          <p:nvSpPr>
            <p:cNvPr id="24" name="Rectangle 24"/>
            <p:cNvSpPr/>
            <p:nvPr/>
          </p:nvSpPr>
          <p:spPr>
            <a:xfrm>
              <a:off x="533400" y="4782502"/>
              <a:ext cx="6059805" cy="1522095"/>
            </a:xfrm>
            <a:prstGeom prst="roundRect">
              <a:avLst>
                <a:gd name="adj" fmla="val 876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542925" y="4915852"/>
              <a:ext cx="47625" cy="125539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769620" y="4980622"/>
              <a:ext cx="876300" cy="247650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49058" y="5014912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增量并行化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2381" y="5341144"/>
              <a:ext cx="5298440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在串行程序上逐步添加制导就能并行化（Incremental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Parallelization）。不支持 OpenMP 的编译器会忽略这些制导，程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序照常串行运行。</a:t>
              </a:r>
            </a:p>
          </p:txBody>
        </p:sp>
      </p:grpSp>
      <p:grpSp>
        <p:nvGrpSpPr>
          <p:cNvPr id="52" name="c2-flow-1"/>
          <p:cNvGrpSpPr/>
          <p:nvPr/>
        </p:nvGrpSpPr>
        <p:grpSpPr>
          <a:xfrm>
            <a:off x="7064692" y="1805940"/>
            <a:ext cx="4427220" cy="3338512"/>
            <a:chOff x="7064692" y="1805940"/>
            <a:chExt cx="4427220" cy="3338512"/>
          </a:xfrm>
        </p:grpSpPr>
        <p:sp>
          <p:nvSpPr>
            <p:cNvPr id="30" name="Freeform 30"/>
            <p:cNvSpPr/>
            <p:nvPr/>
          </p:nvSpPr>
          <p:spPr>
            <a:xfrm>
              <a:off x="8087678" y="2217420"/>
              <a:ext cx="9525" cy="459105"/>
            </a:xfrm>
            <a:custGeom>
              <a:avLst/>
              <a:gdLst/>
              <a:ahLst/>
              <a:cxnLst/>
              <a:rect l="l" t="t" r="r" b="b"/>
              <a:pathLst>
                <a:path w="9525" h="459105">
                  <a:moveTo>
                    <a:pt x="0" y="0"/>
                  </a:moveTo>
                  <a:lnTo>
                    <a:pt x="0" y="45910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8035290" y="267652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2" name="Freeform 32"/>
            <p:cNvSpPr/>
            <p:nvPr/>
          </p:nvSpPr>
          <p:spPr>
            <a:xfrm>
              <a:off x="10467975" y="2217420"/>
              <a:ext cx="9525" cy="459105"/>
            </a:xfrm>
            <a:custGeom>
              <a:avLst/>
              <a:gdLst/>
              <a:ahLst/>
              <a:cxnLst/>
              <a:rect l="l" t="t" r="r" b="b"/>
              <a:pathLst>
                <a:path w="9525" h="459105">
                  <a:moveTo>
                    <a:pt x="0" y="0"/>
                  </a:moveTo>
                  <a:lnTo>
                    <a:pt x="0" y="45910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10415588" y="267652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4" name="Freeform 34"/>
            <p:cNvSpPr/>
            <p:nvPr/>
          </p:nvSpPr>
          <p:spPr>
            <a:xfrm>
              <a:off x="8087678" y="3193732"/>
              <a:ext cx="1190625" cy="458152"/>
            </a:xfrm>
            <a:custGeom>
              <a:avLst/>
              <a:gdLst/>
              <a:ahLst/>
              <a:cxnLst/>
              <a:rect l="l" t="t" r="r" b="b"/>
              <a:pathLst>
                <a:path w="1190625" h="458152">
                  <a:moveTo>
                    <a:pt x="0" y="0"/>
                  </a:moveTo>
                  <a:lnTo>
                    <a:pt x="0" y="280988"/>
                  </a:lnTo>
                  <a:lnTo>
                    <a:pt x="1190625" y="280988"/>
                  </a:lnTo>
                  <a:lnTo>
                    <a:pt x="1190625" y="45815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9225915" y="365188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6" name="Freeform 36"/>
            <p:cNvSpPr/>
            <p:nvPr/>
          </p:nvSpPr>
          <p:spPr>
            <a:xfrm>
              <a:off x="9278302" y="3193732"/>
              <a:ext cx="1189672" cy="458152"/>
            </a:xfrm>
            <a:custGeom>
              <a:avLst/>
              <a:gdLst/>
              <a:ahLst/>
              <a:cxnLst/>
              <a:rect l="l" t="t" r="r" b="b"/>
              <a:pathLst>
                <a:path w="1189672" h="458152">
                  <a:moveTo>
                    <a:pt x="1189672" y="0"/>
                  </a:moveTo>
                  <a:lnTo>
                    <a:pt x="1189672" y="280988"/>
                  </a:lnTo>
                  <a:lnTo>
                    <a:pt x="0" y="280988"/>
                  </a:lnTo>
                  <a:lnTo>
                    <a:pt x="0" y="45815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9225915" y="365188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8" name="Freeform 38"/>
            <p:cNvSpPr/>
            <p:nvPr/>
          </p:nvSpPr>
          <p:spPr>
            <a:xfrm>
              <a:off x="9278302" y="4169092"/>
              <a:ext cx="9525" cy="459105"/>
            </a:xfrm>
            <a:custGeom>
              <a:avLst/>
              <a:gdLst/>
              <a:ahLst/>
              <a:cxnLst/>
              <a:rect l="l" t="t" r="r" b="b"/>
              <a:pathLst>
                <a:path w="9525" h="459105">
                  <a:moveTo>
                    <a:pt x="0" y="0"/>
                  </a:moveTo>
                  <a:lnTo>
                    <a:pt x="0" y="45910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9225915" y="462819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7064692" y="1805940"/>
              <a:ext cx="2046922" cy="411480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9444990" y="1805940"/>
              <a:ext cx="2046922" cy="411480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7064692" y="2781300"/>
              <a:ext cx="2046922" cy="411480"/>
            </a:xfrm>
            <a:prstGeom prst="roundRect">
              <a:avLst>
                <a:gd name="adj" fmla="val 23148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9444990" y="2781300"/>
              <a:ext cx="2046922" cy="411480"/>
            </a:xfrm>
            <a:prstGeom prst="roundRect">
              <a:avLst>
                <a:gd name="adj" fmla="val 23148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7230428" y="3756660"/>
              <a:ext cx="4094798" cy="411480"/>
            </a:xfrm>
            <a:prstGeom prst="roundRect">
              <a:avLst>
                <a:gd name="adj" fmla="val 23148"/>
              </a:avLst>
            </a:prstGeom>
            <a:solidFill>
              <a:srgbClr val="E7EDF3"/>
            </a:solidFill>
            <a:ln w="19050">
              <a:solidFill>
                <a:srgbClr val="334E68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7230428" y="4732972"/>
              <a:ext cx="4094798" cy="411480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758494" y="19278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应用程序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300335" y="192786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用户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758494" y="290322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编译制导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0138791" y="290322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环境变量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868346" y="3879532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运行库例程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787574" y="4854892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操作系统线程</a:t>
              </a:r>
            </a:p>
          </p:txBody>
        </p:sp>
      </p:grpSp>
      <p:grpSp>
        <p:nvGrpSpPr>
          <p:cNvPr id="59" name="c2-callout-2"/>
          <p:cNvGrpSpPr/>
          <p:nvPr/>
        </p:nvGrpSpPr>
        <p:grpSpPr>
          <a:xfrm>
            <a:off x="6898005" y="5606415"/>
            <a:ext cx="4760595" cy="756285"/>
            <a:chOff x="6898005" y="5606415"/>
            <a:chExt cx="4760595" cy="756285"/>
          </a:xfrm>
        </p:grpSpPr>
        <p:sp>
          <p:nvSpPr>
            <p:cNvPr id="53" name="Rectangle 53"/>
            <p:cNvSpPr/>
            <p:nvPr/>
          </p:nvSpPr>
          <p:spPr>
            <a:xfrm>
              <a:off x="6898005" y="5606415"/>
              <a:ext cx="4760595" cy="756285"/>
            </a:xfrm>
            <a:prstGeom prst="roundRect">
              <a:avLst>
                <a:gd name="adj" fmla="val 15113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7102793" y="5884545"/>
              <a:ext cx="200026" cy="200026"/>
              <a:chOff x="7102793" y="5884545"/>
              <a:chExt cx="200026" cy="200026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7102793" y="588454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7202805" y="595122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7191693" y="598455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7405116" y="5753576"/>
              <a:ext cx="380161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OpenMP 体系结构：程序员写制导、用户设环境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变量，两者都经运行库落到操作系统线程上。</a:t>
              </a:r>
            </a:p>
          </p:txBody>
        </p:sp>
      </p:grpSp>
      <p:grpSp>
        <p:nvGrpSpPr>
          <p:cNvPr id="6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0" name="TextBox 60"/>
            <p:cNvSpPr txBox="1"/>
            <p:nvPr/>
          </p:nvSpPr>
          <p:spPr>
            <a:xfrm>
              <a:off x="528447" y="6581299"/>
              <a:ext cx="31504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第2章 线程级并行与OpenMP编程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495508" cy="909257"/>
            <a:chOff x="520446" y="342900"/>
            <a:chExt cx="849550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43162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828" y="407194"/>
              <a:ext cx="23413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第2章 线程级并行 · OpenMP 概述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49550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fork-join：串行段由主线程执行，并行段分给一组线程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4" name="c1-steps-1"/>
          <p:cNvGrpSpPr/>
          <p:nvPr/>
        </p:nvGrpSpPr>
        <p:grpSpPr>
          <a:xfrm>
            <a:off x="533400" y="1533525"/>
            <a:ext cx="5301996" cy="2632139"/>
            <a:chOff x="533400" y="1533525"/>
            <a:chExt cx="5301996" cy="2632139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20831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154555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2283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775585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84940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616642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69046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5261" y="1566386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划分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404" y="1846898"/>
              <a:ext cx="27584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把程序分成若干段串行部分和并行部分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5261" y="2187416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串行段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404" y="2467927"/>
              <a:ext cx="42284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由单个线程处理，这个线程称为主线程（master thread）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5261" y="2808446"/>
              <a:ext cx="4560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fork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404" y="3088957"/>
              <a:ext cx="488899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遇到并行域时派生一组线程；主线程也分到其中一个子任务，各子任务分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而治之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5261" y="3650456"/>
              <a:ext cx="3556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join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404" y="3930968"/>
              <a:ext cx="45354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并行段结束，其他线程被移除，主线程继续执行下一段串行代码</a:t>
              </a:r>
            </a:p>
          </p:txBody>
        </p:sp>
      </p:grpSp>
      <p:grpSp>
        <p:nvGrpSpPr>
          <p:cNvPr id="31" name="c1-callout-2"/>
          <p:cNvGrpSpPr/>
          <p:nvPr/>
        </p:nvGrpSpPr>
        <p:grpSpPr>
          <a:xfrm>
            <a:off x="533400" y="4341495"/>
            <a:ext cx="5626418" cy="518160"/>
            <a:chOff x="533400" y="4341495"/>
            <a:chExt cx="5626418" cy="518160"/>
          </a:xfrm>
        </p:grpSpPr>
        <p:sp>
          <p:nvSpPr>
            <p:cNvPr id="25" name="Rectangle 25"/>
            <p:cNvSpPr/>
            <p:nvPr/>
          </p:nvSpPr>
          <p:spPr>
            <a:xfrm>
              <a:off x="533400" y="4341495"/>
              <a:ext cx="5626418" cy="518160"/>
            </a:xfrm>
            <a:prstGeom prst="roundRect">
              <a:avLst>
                <a:gd name="adj" fmla="val 2205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738188" y="4500563"/>
              <a:ext cx="200026" cy="200025"/>
              <a:chOff x="738188" y="4500563"/>
              <a:chExt cx="200026" cy="200025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738188" y="450056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777926" y="454501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812642" y="465613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1040511" y="4501039"/>
              <a:ext cx="460232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并行任务拆出的子任务还可以继续拆分（嵌套并行）。</a:t>
              </a:r>
            </a:p>
          </p:txBody>
        </p:sp>
      </p:grpSp>
      <p:grpSp>
        <p:nvGrpSpPr>
          <p:cNvPr id="36" name="c1-card-3"/>
          <p:cNvGrpSpPr/>
          <p:nvPr/>
        </p:nvGrpSpPr>
        <p:grpSpPr>
          <a:xfrm>
            <a:off x="533400" y="5045392"/>
            <a:ext cx="5626418" cy="1274445"/>
            <a:chOff x="533400" y="5045392"/>
            <a:chExt cx="5626418" cy="1274445"/>
          </a:xfrm>
        </p:grpSpPr>
        <p:sp>
          <p:nvSpPr>
            <p:cNvPr id="32" name="Rectangle 32"/>
            <p:cNvSpPr/>
            <p:nvPr/>
          </p:nvSpPr>
          <p:spPr>
            <a:xfrm>
              <a:off x="533400" y="5045392"/>
              <a:ext cx="5626418" cy="1274445"/>
            </a:xfrm>
            <a:prstGeom prst="roundRect">
              <a:avLst>
                <a:gd name="adj" fmla="val 10463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737235" y="5249228"/>
              <a:ext cx="1233488" cy="257175"/>
            </a:xfrm>
            <a:prstGeom prst="roundRect">
              <a:avLst>
                <a:gd name="adj" fmla="val 50000"/>
              </a:avLst>
            </a:prstGeom>
            <a:solidFill>
              <a:srgbClr val="243B53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96991" y="5284946"/>
              <a:ext cx="11149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对应到 OpenMP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29996" y="5622131"/>
              <a:ext cx="4874641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#pragma omp parallel 后的 { 处 fork，} 处 join。主线程在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线程组里的线程号是 0，join 后只剩它继续往下执行。</a:t>
              </a:r>
            </a:p>
          </p:txBody>
        </p:sp>
      </p:grpSp>
      <p:grpSp>
        <p:nvGrpSpPr>
          <p:cNvPr id="81" name="c2-flow-1"/>
          <p:cNvGrpSpPr/>
          <p:nvPr/>
        </p:nvGrpSpPr>
        <p:grpSpPr>
          <a:xfrm>
            <a:off x="6597968" y="1795462"/>
            <a:ext cx="4927282" cy="4295775"/>
            <a:chOff x="6597968" y="1795462"/>
            <a:chExt cx="4927282" cy="4295775"/>
          </a:xfrm>
        </p:grpSpPr>
        <p:sp>
          <p:nvSpPr>
            <p:cNvPr id="37" name="Freeform 37"/>
            <p:cNvSpPr/>
            <p:nvPr/>
          </p:nvSpPr>
          <p:spPr>
            <a:xfrm>
              <a:off x="7330440" y="2220278"/>
              <a:ext cx="1731645" cy="438150"/>
            </a:xfrm>
            <a:custGeom>
              <a:avLst/>
              <a:gdLst/>
              <a:ahLst/>
              <a:cxnLst/>
              <a:rect l="l" t="t" r="r" b="b"/>
              <a:pathLst>
                <a:path w="1731645" h="438150">
                  <a:moveTo>
                    <a:pt x="1731645" y="0"/>
                  </a:moveTo>
                  <a:lnTo>
                    <a:pt x="1731645" y="271463"/>
                  </a:lnTo>
                  <a:lnTo>
                    <a:pt x="0" y="271463"/>
                  </a:lnTo>
                  <a:lnTo>
                    <a:pt x="0" y="43815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7278052" y="265842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9" name="Freeform 39"/>
            <p:cNvSpPr/>
            <p:nvPr/>
          </p:nvSpPr>
          <p:spPr>
            <a:xfrm>
              <a:off x="9062085" y="2220278"/>
              <a:ext cx="9525" cy="438150"/>
            </a:xfrm>
            <a:custGeom>
              <a:avLst/>
              <a:gdLst/>
              <a:ahLst/>
              <a:cxnLst/>
              <a:rect l="l" t="t" r="r" b="b"/>
              <a:pathLst>
                <a:path w="9525" h="438150">
                  <a:moveTo>
                    <a:pt x="0" y="0"/>
                  </a:moveTo>
                  <a:lnTo>
                    <a:pt x="0" y="43815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9009698" y="265842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1" name="Freeform 41"/>
            <p:cNvSpPr/>
            <p:nvPr/>
          </p:nvSpPr>
          <p:spPr>
            <a:xfrm>
              <a:off x="9062085" y="2220278"/>
              <a:ext cx="1730692" cy="438150"/>
            </a:xfrm>
            <a:custGeom>
              <a:avLst/>
              <a:gdLst/>
              <a:ahLst/>
              <a:cxnLst/>
              <a:rect l="l" t="t" r="r" b="b"/>
              <a:pathLst>
                <a:path w="1730692" h="438150">
                  <a:moveTo>
                    <a:pt x="0" y="0"/>
                  </a:moveTo>
                  <a:lnTo>
                    <a:pt x="0" y="271463"/>
                  </a:lnTo>
                  <a:lnTo>
                    <a:pt x="1730692" y="271463"/>
                  </a:lnTo>
                  <a:lnTo>
                    <a:pt x="1730692" y="43815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10740390" y="265842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3" name="Freeform 43"/>
            <p:cNvSpPr/>
            <p:nvPr/>
          </p:nvSpPr>
          <p:spPr>
            <a:xfrm>
              <a:off x="7330440" y="3188018"/>
              <a:ext cx="1731645" cy="438150"/>
            </a:xfrm>
            <a:custGeom>
              <a:avLst/>
              <a:gdLst/>
              <a:ahLst/>
              <a:cxnLst/>
              <a:rect l="l" t="t" r="r" b="b"/>
              <a:pathLst>
                <a:path w="1731645" h="438150">
                  <a:moveTo>
                    <a:pt x="0" y="0"/>
                  </a:moveTo>
                  <a:lnTo>
                    <a:pt x="0" y="271462"/>
                  </a:lnTo>
                  <a:lnTo>
                    <a:pt x="1731645" y="271462"/>
                  </a:lnTo>
                  <a:lnTo>
                    <a:pt x="1731645" y="43815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9009698" y="362616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5" name="Freeform 45"/>
            <p:cNvSpPr/>
            <p:nvPr/>
          </p:nvSpPr>
          <p:spPr>
            <a:xfrm>
              <a:off x="9062085" y="3188018"/>
              <a:ext cx="9525" cy="438150"/>
            </a:xfrm>
            <a:custGeom>
              <a:avLst/>
              <a:gdLst/>
              <a:ahLst/>
              <a:cxnLst/>
              <a:rect l="l" t="t" r="r" b="b"/>
              <a:pathLst>
                <a:path w="9525" h="438150">
                  <a:moveTo>
                    <a:pt x="0" y="0"/>
                  </a:moveTo>
                  <a:lnTo>
                    <a:pt x="0" y="43815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6" name="Freeform 46"/>
            <p:cNvSpPr/>
            <p:nvPr/>
          </p:nvSpPr>
          <p:spPr>
            <a:xfrm>
              <a:off x="9009698" y="362616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7" name="Freeform 47"/>
            <p:cNvSpPr/>
            <p:nvPr/>
          </p:nvSpPr>
          <p:spPr>
            <a:xfrm>
              <a:off x="9062085" y="3188018"/>
              <a:ext cx="1730692" cy="438150"/>
            </a:xfrm>
            <a:custGeom>
              <a:avLst/>
              <a:gdLst/>
              <a:ahLst/>
              <a:cxnLst/>
              <a:rect l="l" t="t" r="r" b="b"/>
              <a:pathLst>
                <a:path w="1730692" h="438150">
                  <a:moveTo>
                    <a:pt x="1730692" y="0"/>
                  </a:moveTo>
                  <a:lnTo>
                    <a:pt x="1730692" y="271462"/>
                  </a:lnTo>
                  <a:lnTo>
                    <a:pt x="0" y="271462"/>
                  </a:lnTo>
                  <a:lnTo>
                    <a:pt x="0" y="43815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8" name="Freeform 48"/>
            <p:cNvSpPr/>
            <p:nvPr/>
          </p:nvSpPr>
          <p:spPr>
            <a:xfrm>
              <a:off x="9009698" y="362616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9" name="Freeform 49"/>
            <p:cNvSpPr/>
            <p:nvPr/>
          </p:nvSpPr>
          <p:spPr>
            <a:xfrm>
              <a:off x="7330440" y="4155758"/>
              <a:ext cx="1731645" cy="438150"/>
            </a:xfrm>
            <a:custGeom>
              <a:avLst/>
              <a:gdLst/>
              <a:ahLst/>
              <a:cxnLst/>
              <a:rect l="l" t="t" r="r" b="b"/>
              <a:pathLst>
                <a:path w="1731645" h="438150">
                  <a:moveTo>
                    <a:pt x="1731645" y="0"/>
                  </a:moveTo>
                  <a:lnTo>
                    <a:pt x="1731645" y="271462"/>
                  </a:lnTo>
                  <a:lnTo>
                    <a:pt x="0" y="271462"/>
                  </a:lnTo>
                  <a:lnTo>
                    <a:pt x="0" y="43815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50" name="Freeform 50"/>
            <p:cNvSpPr/>
            <p:nvPr/>
          </p:nvSpPr>
          <p:spPr>
            <a:xfrm>
              <a:off x="7278052" y="459390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51" name="Freeform 51"/>
            <p:cNvSpPr/>
            <p:nvPr/>
          </p:nvSpPr>
          <p:spPr>
            <a:xfrm>
              <a:off x="9062085" y="4155758"/>
              <a:ext cx="9525" cy="438150"/>
            </a:xfrm>
            <a:custGeom>
              <a:avLst/>
              <a:gdLst/>
              <a:ahLst/>
              <a:cxnLst/>
              <a:rect l="l" t="t" r="r" b="b"/>
              <a:pathLst>
                <a:path w="9525" h="438150">
                  <a:moveTo>
                    <a:pt x="0" y="0"/>
                  </a:moveTo>
                  <a:lnTo>
                    <a:pt x="0" y="43815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52" name="Freeform 52"/>
            <p:cNvSpPr/>
            <p:nvPr/>
          </p:nvSpPr>
          <p:spPr>
            <a:xfrm>
              <a:off x="9009698" y="459390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53" name="Freeform 53"/>
            <p:cNvSpPr/>
            <p:nvPr/>
          </p:nvSpPr>
          <p:spPr>
            <a:xfrm>
              <a:off x="7330440" y="5123498"/>
              <a:ext cx="1731645" cy="438150"/>
            </a:xfrm>
            <a:custGeom>
              <a:avLst/>
              <a:gdLst/>
              <a:ahLst/>
              <a:cxnLst/>
              <a:rect l="l" t="t" r="r" b="b"/>
              <a:pathLst>
                <a:path w="1731645" h="438150">
                  <a:moveTo>
                    <a:pt x="0" y="0"/>
                  </a:moveTo>
                  <a:lnTo>
                    <a:pt x="0" y="271462"/>
                  </a:lnTo>
                  <a:lnTo>
                    <a:pt x="1731645" y="271462"/>
                  </a:lnTo>
                  <a:lnTo>
                    <a:pt x="1731645" y="43815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54" name="Freeform 54"/>
            <p:cNvSpPr/>
            <p:nvPr/>
          </p:nvSpPr>
          <p:spPr>
            <a:xfrm>
              <a:off x="9009698" y="556164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55" name="Freeform 55"/>
            <p:cNvSpPr/>
            <p:nvPr/>
          </p:nvSpPr>
          <p:spPr>
            <a:xfrm>
              <a:off x="9062085" y="5123498"/>
              <a:ext cx="9525" cy="438150"/>
            </a:xfrm>
            <a:custGeom>
              <a:avLst/>
              <a:gdLst/>
              <a:ahLst/>
              <a:cxnLst/>
              <a:rect l="l" t="t" r="r" b="b"/>
              <a:pathLst>
                <a:path w="9525" h="438150">
                  <a:moveTo>
                    <a:pt x="0" y="0"/>
                  </a:moveTo>
                  <a:lnTo>
                    <a:pt x="0" y="43815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56" name="Freeform 56"/>
            <p:cNvSpPr/>
            <p:nvPr/>
          </p:nvSpPr>
          <p:spPr>
            <a:xfrm>
              <a:off x="9009698" y="556164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6828472" y="1795462"/>
              <a:ext cx="4466272" cy="42481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6597968" y="2763202"/>
              <a:ext cx="1464945" cy="424815"/>
            </a:xfrm>
            <a:prstGeom prst="roundRect">
              <a:avLst>
                <a:gd name="adj" fmla="val 22422"/>
              </a:avLst>
            </a:prstGeom>
            <a:solidFill>
              <a:srgbClr val="E7EDF3"/>
            </a:solidFill>
            <a:ln w="19050">
              <a:solidFill>
                <a:srgbClr val="334E68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8329612" y="2763202"/>
              <a:ext cx="1464945" cy="424815"/>
            </a:xfrm>
            <a:prstGeom prst="roundRect">
              <a:avLst>
                <a:gd name="adj" fmla="val 22422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10060305" y="2763202"/>
              <a:ext cx="1464945" cy="424815"/>
            </a:xfrm>
            <a:prstGeom prst="roundRect">
              <a:avLst>
                <a:gd name="adj" fmla="val 22422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6828472" y="3730942"/>
              <a:ext cx="4466272" cy="42481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6597968" y="4698682"/>
              <a:ext cx="1464945" cy="424815"/>
            </a:xfrm>
            <a:prstGeom prst="roundRect">
              <a:avLst>
                <a:gd name="adj" fmla="val 22422"/>
              </a:avLst>
            </a:prstGeom>
            <a:solidFill>
              <a:srgbClr val="E7EDF3"/>
            </a:solidFill>
            <a:ln w="19050">
              <a:solidFill>
                <a:srgbClr val="334E68"/>
              </a:solidFill>
            </a:ln>
          </p:spPr>
        </p:sp>
        <p:sp>
          <p:nvSpPr>
            <p:cNvPr id="63" name="Rectangle 63"/>
            <p:cNvSpPr/>
            <p:nvPr/>
          </p:nvSpPr>
          <p:spPr>
            <a:xfrm>
              <a:off x="8329612" y="4698682"/>
              <a:ext cx="1464945" cy="424815"/>
            </a:xfrm>
            <a:prstGeom prst="roundRect">
              <a:avLst>
                <a:gd name="adj" fmla="val 22422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64" name="Rectangle 64"/>
            <p:cNvSpPr/>
            <p:nvPr/>
          </p:nvSpPr>
          <p:spPr>
            <a:xfrm>
              <a:off x="6828472" y="5666422"/>
              <a:ext cx="4466272" cy="42481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8490585" y="192405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主线程：串行段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082028" y="289179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主线程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825789" y="2891790"/>
              <a:ext cx="4725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线程 1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0556481" y="2891790"/>
              <a:ext cx="4725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线程 2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8490585" y="385953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主线程：串行段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7082028" y="482727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主线程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8825789" y="4827270"/>
              <a:ext cx="4725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线程 1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8490585" y="579501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主线程：串行段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8001952" y="2275522"/>
              <a:ext cx="38862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8035442" y="2302192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fork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8035290" y="3243262"/>
              <a:ext cx="321945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8070780" y="3269932"/>
              <a:ext cx="2509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join</a:t>
              </a: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8001952" y="4211002"/>
              <a:ext cx="38862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8035442" y="4237672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fork</a:t>
              </a: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8035290" y="5178742"/>
              <a:ext cx="321945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8070780" y="5205412"/>
              <a:ext cx="2509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join</a:t>
              </a:r>
            </a:p>
          </p:txBody>
        </p:sp>
      </p:grpSp>
      <p:grpSp>
        <p:nvGrpSpPr>
          <p:cNvPr id="8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2" name="TextBox 82"/>
            <p:cNvSpPr txBox="1"/>
            <p:nvPr/>
          </p:nvSpPr>
          <p:spPr>
            <a:xfrm>
              <a:off x="528447" y="6581299"/>
              <a:ext cx="31504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第2章 线程级并行与OpenMP编程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908304" cy="909257"/>
            <a:chOff x="520446" y="342900"/>
            <a:chExt cx="89083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43162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828" y="407194"/>
              <a:ext cx="23413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第2章 线程级并行 · OpenMP 概述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9083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存储模型：shared 变量大家共用，private 变量各有一份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3" name="c1-compare-1"/>
          <p:cNvGrpSpPr/>
          <p:nvPr/>
        </p:nvGrpSpPr>
        <p:grpSpPr>
          <a:xfrm>
            <a:off x="533400" y="1524000"/>
            <a:ext cx="5842636" cy="1566862"/>
            <a:chOff x="533400" y="1524000"/>
            <a:chExt cx="5842636" cy="156686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2711768" cy="1566862"/>
            </a:xfrm>
            <a:prstGeom prst="roundRect">
              <a:avLst>
                <a:gd name="adj" fmla="val 851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300162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62381" y="1745456"/>
              <a:ext cx="67684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shared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77240" y="2141220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33831" y="2081689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所有线程共享同一份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77240" y="2459355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33831" y="2398871"/>
              <a:ext cx="18178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操作时注意竞态和重排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序，合理使用同步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3664268" y="1524000"/>
              <a:ext cx="2711768" cy="1566862"/>
            </a:xfrm>
            <a:prstGeom prst="roundRect">
              <a:avLst>
                <a:gd name="adj" fmla="val 851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3673792" y="1657350"/>
              <a:ext cx="47625" cy="1300162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893248" y="1745456"/>
              <a:ext cx="73706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private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3908108" y="2141220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4064698" y="2081689"/>
              <a:ext cx="19260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每个线程独有一份副本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3908108" y="2459355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064698" y="2398871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各线程之间互不影响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3292792" y="2145982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369264" y="2247424"/>
              <a:ext cx="1709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35" name="c1-table-2"/>
          <p:cNvGrpSpPr/>
          <p:nvPr/>
        </p:nvGrpSpPr>
        <p:grpSpPr>
          <a:xfrm>
            <a:off x="533400" y="3271838"/>
            <a:ext cx="5842635" cy="1273492"/>
            <a:chOff x="533400" y="3271838"/>
            <a:chExt cx="5842635" cy="1273492"/>
          </a:xfrm>
        </p:grpSpPr>
        <p:sp>
          <p:nvSpPr>
            <p:cNvPr id="24" name="Rectangle 24"/>
            <p:cNvSpPr/>
            <p:nvPr/>
          </p:nvSpPr>
          <p:spPr>
            <a:xfrm>
              <a:off x="533400" y="3271838"/>
              <a:ext cx="5842635" cy="42481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05256" y="339947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通常设为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826574" y="339947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哪些变量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35889" y="38242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私有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037969" y="3824288"/>
              <a:ext cx="25968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循环变量、临时变量、会被写的变量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411575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533400" y="4120515"/>
              <a:ext cx="5842635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35889" y="424910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共享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037969" y="4249102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数组变量、只读变量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3271838"/>
              <a:ext cx="5842635" cy="127349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1930718" y="3271838"/>
              <a:ext cx="9525" cy="127349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5" name="c1-card-3"/>
          <p:cNvGrpSpPr/>
          <p:nvPr/>
        </p:nvGrpSpPr>
        <p:grpSpPr>
          <a:xfrm>
            <a:off x="533400" y="4725352"/>
            <a:ext cx="5842635" cy="1615440"/>
            <a:chOff x="533400" y="4725352"/>
            <a:chExt cx="5842635" cy="1615440"/>
          </a:xfrm>
        </p:grpSpPr>
        <p:sp>
          <p:nvSpPr>
            <p:cNvPr id="36" name="Rectangle 36"/>
            <p:cNvSpPr/>
            <p:nvPr/>
          </p:nvSpPr>
          <p:spPr>
            <a:xfrm>
              <a:off x="533400" y="4725352"/>
              <a:ext cx="5842635" cy="1615440"/>
            </a:xfrm>
            <a:prstGeom prst="roundRect">
              <a:avLst>
                <a:gd name="adj" fmla="val 8255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731520" y="4923472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243B53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14959" y="495776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默认规则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39140" y="5343525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95731" y="5283994"/>
              <a:ext cx="350315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在 parallel 结构内部声明的变量是私有的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739140" y="5661660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895731" y="5601176"/>
              <a:ext cx="43347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在并行域外定义、没有写进子句的变量默认 shared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739140" y="5979795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895731" y="5919311"/>
              <a:ext cx="292967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被 for 并行化的循环变量自动私有</a:t>
              </a:r>
            </a:p>
          </p:txBody>
        </p:sp>
      </p:grpSp>
      <p:grpSp>
        <p:nvGrpSpPr>
          <p:cNvPr id="48" name="c2-image-1"/>
          <p:cNvGrpSpPr/>
          <p:nvPr/>
        </p:nvGrpSpPr>
        <p:grpSpPr>
          <a:xfrm>
            <a:off x="6905625" y="1524000"/>
            <a:ext cx="4529138" cy="3696271"/>
            <a:chOff x="6905625" y="1524000"/>
            <a:chExt cx="4529138" cy="3696271"/>
          </a:xfrm>
        </p:grpSpPr>
        <p:pic>
          <p:nvPicPr>
            <p:cNvPr id="46" name="Image 46"/>
            <p:cNvPicPr>
              <a:picLocks noChangeAspect="1"/>
            </p:cNvPicPr>
            <p:nvPr/>
          </p:nvPicPr>
          <p:blipFill>
            <a:blip r:embed="rId2"/>
            <a:srcRect l="5552" t="0" r="5553" b="0"/>
            <a:stretch>
              <a:fillRect/>
            </a:stretch>
          </p:blipFill>
          <p:spPr>
            <a:xfrm>
              <a:off x="6905625" y="1524000"/>
              <a:ext cx="4529138" cy="3396615"/>
            </a:xfrm>
            <a:prstGeom prst="roundRect">
              <a:avLst>
                <a:gd name="adj" fmla="val 3925"/>
              </a:avLst>
            </a:prstGeom>
          </p:spPr>
        </p:pic>
        <p:sp>
          <p:nvSpPr>
            <p:cNvPr id="47" name="TextBox 47"/>
            <p:cNvSpPr txBox="1"/>
            <p:nvPr/>
          </p:nvSpPr>
          <p:spPr>
            <a:xfrm>
              <a:off x="7404564" y="5014912"/>
              <a:ext cx="353030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白板大家共用（shared），笔记本各记各的（private）</a:t>
              </a:r>
            </a:p>
          </p:txBody>
        </p:sp>
      </p:grpSp>
      <p:grpSp>
        <p:nvGrpSpPr>
          <p:cNvPr id="63" name="c2-graph-2"/>
          <p:cNvGrpSpPr/>
          <p:nvPr/>
        </p:nvGrpSpPr>
        <p:grpSpPr>
          <a:xfrm>
            <a:off x="6745605" y="5465445"/>
            <a:ext cx="4847273" cy="809625"/>
            <a:chOff x="6745605" y="5465445"/>
            <a:chExt cx="4847273" cy="809625"/>
          </a:xfrm>
        </p:grpSpPr>
        <p:sp>
          <p:nvSpPr>
            <p:cNvPr id="49" name="Freeform 49"/>
            <p:cNvSpPr/>
            <p:nvPr/>
          </p:nvSpPr>
          <p:spPr>
            <a:xfrm>
              <a:off x="7512368" y="5870258"/>
              <a:ext cx="247650" cy="9525"/>
            </a:xfrm>
            <a:custGeom>
              <a:avLst/>
              <a:gdLst/>
              <a:ahLst/>
              <a:cxnLst/>
              <a:rect l="l" t="t" r="r" b="b"/>
              <a:pathLst>
                <a:path w="247650" h="9525">
                  <a:moveTo>
                    <a:pt x="247650" y="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0" name="Freeform 50"/>
            <p:cNvSpPr/>
            <p:nvPr/>
          </p:nvSpPr>
          <p:spPr>
            <a:xfrm>
              <a:off x="8588692" y="5870258"/>
              <a:ext cx="220027" cy="9525"/>
            </a:xfrm>
            <a:custGeom>
              <a:avLst/>
              <a:gdLst/>
              <a:ahLst/>
              <a:cxnLst/>
              <a:rect l="l" t="t" r="r" b="b"/>
              <a:pathLst>
                <a:path w="220027" h="9525">
                  <a:moveTo>
                    <a:pt x="0" y="0"/>
                  </a:moveTo>
                  <a:lnTo>
                    <a:pt x="220027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1" name="Freeform 51"/>
            <p:cNvSpPr/>
            <p:nvPr/>
          </p:nvSpPr>
          <p:spPr>
            <a:xfrm>
              <a:off x="9530715" y="5870258"/>
              <a:ext cx="220028" cy="9525"/>
            </a:xfrm>
            <a:custGeom>
              <a:avLst/>
              <a:gdLst/>
              <a:ahLst/>
              <a:cxnLst/>
              <a:rect l="l" t="t" r="r" b="b"/>
              <a:pathLst>
                <a:path w="220028" h="9525">
                  <a:moveTo>
                    <a:pt x="220028" y="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2" name="Freeform 52"/>
            <p:cNvSpPr/>
            <p:nvPr/>
          </p:nvSpPr>
          <p:spPr>
            <a:xfrm>
              <a:off x="10580370" y="5870258"/>
              <a:ext cx="246698" cy="9525"/>
            </a:xfrm>
            <a:custGeom>
              <a:avLst/>
              <a:gdLst/>
              <a:ahLst/>
              <a:cxnLst/>
              <a:rect l="l" t="t" r="r" b="b"/>
              <a:pathLst>
                <a:path w="246698" h="9525">
                  <a:moveTo>
                    <a:pt x="0" y="0"/>
                  </a:moveTo>
                  <a:lnTo>
                    <a:pt x="246698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6745605" y="5720715"/>
              <a:ext cx="765810" cy="300038"/>
            </a:xfrm>
            <a:prstGeom prst="roundRect">
              <a:avLst>
                <a:gd name="adj" fmla="val 31746"/>
              </a:avLst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54" name="Ellipse 54"/>
            <p:cNvSpPr/>
            <p:nvPr/>
          </p:nvSpPr>
          <p:spPr>
            <a:xfrm>
              <a:off x="7769542" y="5465445"/>
              <a:ext cx="809625" cy="809625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8808720" y="5720715"/>
              <a:ext cx="721042" cy="300038"/>
            </a:xfrm>
            <a:prstGeom prst="roundRect">
              <a:avLst>
                <a:gd name="adj" fmla="val 31746"/>
              </a:avLst>
            </a:prstGeom>
            <a:solidFill>
              <a:srgbClr val="334E68"/>
            </a:solidFill>
            <a:ln w="17145">
              <a:solidFill>
                <a:srgbClr val="334E68"/>
              </a:solidFill>
            </a:ln>
          </p:spPr>
        </p:sp>
        <p:sp>
          <p:nvSpPr>
            <p:cNvPr id="56" name="Ellipse 56"/>
            <p:cNvSpPr/>
            <p:nvPr/>
          </p:nvSpPr>
          <p:spPr>
            <a:xfrm>
              <a:off x="9760268" y="5465445"/>
              <a:ext cx="809625" cy="809625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10827068" y="5720715"/>
              <a:ext cx="765810" cy="300038"/>
            </a:xfrm>
            <a:prstGeom prst="roundRect">
              <a:avLst>
                <a:gd name="adj" fmla="val 31746"/>
              </a:avLst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836480" y="5800249"/>
              <a:ext cx="5859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Private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840140" y="5800249"/>
              <a:ext cx="6684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thread 0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900322" y="5800249"/>
              <a:ext cx="5387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Shared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9830865" y="5800249"/>
              <a:ext cx="6684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thread 1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0917942" y="5800249"/>
              <a:ext cx="5859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Private</a:t>
              </a:r>
            </a:p>
          </p:txBody>
        </p:sp>
      </p:grpSp>
      <p:grpSp>
        <p:nvGrpSpPr>
          <p:cNvPr id="6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4" name="TextBox 64"/>
            <p:cNvSpPr txBox="1"/>
            <p:nvPr/>
          </p:nvSpPr>
          <p:spPr>
            <a:xfrm>
              <a:off x="528447" y="6581299"/>
              <a:ext cx="31504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第2章 线程级并行与OpenMP编程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93132" cy="909257"/>
            <a:chOff x="520446" y="342900"/>
            <a:chExt cx="559313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43162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828" y="407194"/>
              <a:ext cx="23413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第2章 线程级并行 · OpenMP 概述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931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第一个 OpenMP 程序：Hello World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ode-1"/>
          <p:cNvGrpSpPr/>
          <p:nvPr/>
        </p:nvGrpSpPr>
        <p:grpSpPr>
          <a:xfrm>
            <a:off x="533400" y="1524000"/>
            <a:ext cx="6276022" cy="3139440"/>
            <a:chOff x="533400" y="1524000"/>
            <a:chExt cx="6276022" cy="313944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276022" cy="3139440"/>
            </a:xfrm>
            <a:prstGeom prst="roundRect">
              <a:avLst>
                <a:gd name="adj" fmla="val 303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2675572"/>
              <a:ext cx="6237922" cy="15430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552450" y="2985135"/>
              <a:ext cx="6237922" cy="15430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61988" y="1935575"/>
              <a:ext cx="3613785" cy="2636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15"/>
                </a:lnSpc>
              </a:pP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#include &lt;stdio.h&gt;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#include &lt;omp.h&gt;</a:t>
              </a:r>
              <a:br/>
              <a:r>
                <a:rPr lang="en-US" sz="86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main(</a:t>
              </a:r>
              <a:r>
                <a:rPr lang="en-US" sz="86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argc, </a:t>
              </a:r>
              <a:r>
                <a:rPr lang="en-US" sz="86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char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*argv[])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{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6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nthreads, tid;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omp_set_num_threads(4);              </a:t>
              </a:r>
              <a:r>
                <a:rPr lang="zh-CN" sz="86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运行库函数 */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6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/* Fork a team of threads */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#pragma omp parallel private(tid)    /* 编译制导 */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{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tid = omp_get_thread_num();      </a:t>
              </a:r>
              <a:r>
                <a:rPr lang="zh-CN" sz="86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取线程号 */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printf(</a:t>
              </a:r>
              <a:r>
                <a:rPr lang="en-US" sz="86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"Hello, world from OpenMP thread %d\n"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, tid);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6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(tid == 0)                    </a:t>
              </a:r>
              <a:r>
                <a:rPr lang="zh-CN" sz="86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只有主线程做 */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nthreads = omp_get_num_threads();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                                    </a:t>
              </a:r>
              <a:r>
                <a:rPr lang="en-US" sz="86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/* join */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printf(</a:t>
              </a:r>
              <a:r>
                <a:rPr lang="en-US" sz="86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 Number of threads %d\n"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, nthreads);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6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0;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1" name="c1-card-2"/>
          <p:cNvGrpSpPr/>
          <p:nvPr/>
        </p:nvGrpSpPr>
        <p:grpSpPr>
          <a:xfrm>
            <a:off x="533400" y="4833938"/>
            <a:ext cx="6276022" cy="1485900"/>
            <a:chOff x="533400" y="4833938"/>
            <a:chExt cx="6276022" cy="1485900"/>
          </a:xfrm>
        </p:grpSpPr>
        <p:sp>
          <p:nvSpPr>
            <p:cNvPr id="13" name="Rectangle 13"/>
            <p:cNvSpPr/>
            <p:nvPr/>
          </p:nvSpPr>
          <p:spPr>
            <a:xfrm>
              <a:off x="533400" y="4833938"/>
              <a:ext cx="6276022" cy="1485900"/>
            </a:xfrm>
            <a:prstGeom prst="roundRect">
              <a:avLst>
                <a:gd name="adj" fmla="val 897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542925" y="4967288"/>
              <a:ext cx="47625" cy="121920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58190" y="5020628"/>
              <a:ext cx="582930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46811" y="5053489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读代码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66762" y="5420678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22782" y="5364480"/>
              <a:ext cx="52023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tid 私有，每个线程一份；nthreads 默认共享，只由 0 号线程写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766762" y="5720715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22782" y="5664518"/>
              <a:ext cx="529437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四行 Hello 的顺序每次运行都可能不同（本机 MSVC 实测为 0、1、3、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2）</a:t>
              </a:r>
            </a:p>
          </p:txBody>
        </p:sp>
      </p:grpSp>
      <p:grpSp>
        <p:nvGrpSpPr>
          <p:cNvPr id="25" name="c2-code-1"/>
          <p:cNvGrpSpPr/>
          <p:nvPr/>
        </p:nvGrpSpPr>
        <p:grpSpPr>
          <a:xfrm>
            <a:off x="7114222" y="1524000"/>
            <a:ext cx="4544378" cy="1737360"/>
            <a:chOff x="7114222" y="1524000"/>
            <a:chExt cx="4544378" cy="1737360"/>
          </a:xfrm>
        </p:grpSpPr>
        <p:sp>
          <p:nvSpPr>
            <p:cNvPr id="22" name="Rectangle 22"/>
            <p:cNvSpPr/>
            <p:nvPr/>
          </p:nvSpPr>
          <p:spPr>
            <a:xfrm>
              <a:off x="7114222" y="1524000"/>
              <a:ext cx="4544378" cy="1737360"/>
            </a:xfrm>
            <a:prstGeom prst="roundRect">
              <a:avLst>
                <a:gd name="adj" fmla="val 548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242620" y="1675924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编译、运行与一次输出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242620" y="1935956"/>
              <a:ext cx="2268855" cy="12479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gcc -fopenmp -o hello hello.c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./hello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Hello, world from OpenMP thread 0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Hello, world from OpenMP thread 3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Hello, world from OpenMP thread 1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Hello, world from OpenMP thread 2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Number of threads 4</a:t>
              </a:r>
            </a:p>
          </p:txBody>
        </p:sp>
      </p:grpSp>
      <p:grpSp>
        <p:nvGrpSpPr>
          <p:cNvPr id="31" name="c2-card-2"/>
          <p:cNvGrpSpPr/>
          <p:nvPr/>
        </p:nvGrpSpPr>
        <p:grpSpPr>
          <a:xfrm>
            <a:off x="7114222" y="3430905"/>
            <a:ext cx="4544378" cy="1185862"/>
            <a:chOff x="7114222" y="3430905"/>
            <a:chExt cx="4544378" cy="1185862"/>
          </a:xfrm>
        </p:grpSpPr>
        <p:sp>
          <p:nvSpPr>
            <p:cNvPr id="26" name="Rectangle 26"/>
            <p:cNvSpPr/>
            <p:nvPr/>
          </p:nvSpPr>
          <p:spPr>
            <a:xfrm>
              <a:off x="7114222" y="3430905"/>
              <a:ext cx="4544378" cy="1185862"/>
            </a:xfrm>
            <a:prstGeom prst="roundRect">
              <a:avLst>
                <a:gd name="adj" fmla="val 1124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7123748" y="3564255"/>
              <a:ext cx="47625" cy="91916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7339012" y="3617595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423582" y="3650456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编译选项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332154" y="3961448"/>
              <a:ext cx="360559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必须加 -fopenmp（MSVC 用 /openmp），否则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#pragma omp 被忽略，omp_ 函数链接失败。</a:t>
              </a:r>
            </a:p>
          </p:txBody>
        </p:sp>
      </p:grpSp>
      <p:grpSp>
        <p:nvGrpSpPr>
          <p:cNvPr id="37" name="c2-card-3"/>
          <p:cNvGrpSpPr/>
          <p:nvPr/>
        </p:nvGrpSpPr>
        <p:grpSpPr>
          <a:xfrm>
            <a:off x="7114222" y="4786312"/>
            <a:ext cx="4544378" cy="1533525"/>
            <a:chOff x="7114222" y="4786312"/>
            <a:chExt cx="4544378" cy="1533525"/>
          </a:xfrm>
        </p:grpSpPr>
        <p:sp>
          <p:nvSpPr>
            <p:cNvPr id="32" name="Rectangle 32"/>
            <p:cNvSpPr/>
            <p:nvPr/>
          </p:nvSpPr>
          <p:spPr>
            <a:xfrm>
              <a:off x="7114222" y="4786312"/>
              <a:ext cx="4544378" cy="1533525"/>
            </a:xfrm>
            <a:prstGeom prst="roundRect">
              <a:avLst>
                <a:gd name="adj" fmla="val 869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7123748" y="4919662"/>
              <a:ext cx="47625" cy="126682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7339012" y="497300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430732" y="500586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332154" y="5317808"/>
              <a:ext cx="3931348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原课件命令 gcc –fopenmp –o hello.o hello.c 的连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字符排成了长横线，输出文件也不宜叫 .o；代码缺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#include &lt;stdio.h&gt;。</a:t>
              </a:r>
            </a:p>
          </p:txBody>
        </p:sp>
      </p:grpSp>
      <p:grpSp>
        <p:nvGrpSpPr>
          <p:cNvPr id="4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8" name="TextBox 38"/>
            <p:cNvSpPr txBox="1"/>
            <p:nvPr/>
          </p:nvSpPr>
          <p:spPr>
            <a:xfrm>
              <a:off x="528447" y="6581299"/>
              <a:ext cx="31504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第2章 线程级并行与OpenMP编程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598022" cy="909257"/>
            <a:chOff x="520446" y="342900"/>
            <a:chExt cx="459802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43162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828" y="407194"/>
              <a:ext cx="23413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第2章 线程级并行 · OpenMP 概述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59802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OpenMP 语法的三个组成部分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9" name="c1-tree-1"/>
          <p:cNvGrpSpPr/>
          <p:nvPr/>
        </p:nvGrpSpPr>
        <p:grpSpPr>
          <a:xfrm>
            <a:off x="533400" y="1631632"/>
            <a:ext cx="11125200" cy="3813811"/>
            <a:chOff x="533400" y="1631632"/>
            <a:chExt cx="11125200" cy="3813811"/>
          </a:xfrm>
        </p:grpSpPr>
        <p:sp>
          <p:nvSpPr>
            <p:cNvPr id="7" name="Freeform 7"/>
            <p:cNvSpPr/>
            <p:nvPr/>
          </p:nvSpPr>
          <p:spPr>
            <a:xfrm>
              <a:off x="6519862" y="1811655"/>
              <a:ext cx="419100" cy="287655"/>
            </a:xfrm>
            <a:custGeom>
              <a:avLst/>
              <a:gdLst/>
              <a:ahLst/>
              <a:cxnLst/>
              <a:rect l="l" t="t" r="r" b="b"/>
              <a:pathLst>
                <a:path w="419100" h="287655">
                  <a:moveTo>
                    <a:pt x="0" y="287655"/>
                  </a:moveTo>
                  <a:lnTo>
                    <a:pt x="209550" y="287655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6519862" y="2099310"/>
              <a:ext cx="419100" cy="287655"/>
            </a:xfrm>
            <a:custGeom>
              <a:avLst/>
              <a:gdLst/>
              <a:ahLst/>
              <a:cxnLst/>
              <a:rect l="l" t="t" r="r" b="b"/>
              <a:pathLst>
                <a:path w="419100" h="287655">
                  <a:moveTo>
                    <a:pt x="0" y="0"/>
                  </a:moveTo>
                  <a:lnTo>
                    <a:pt x="209550" y="0"/>
                  </a:lnTo>
                  <a:lnTo>
                    <a:pt x="209550" y="287655"/>
                  </a:lnTo>
                  <a:lnTo>
                    <a:pt x="419100" y="287655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6519862" y="2963228"/>
              <a:ext cx="419100" cy="287655"/>
            </a:xfrm>
            <a:custGeom>
              <a:avLst/>
              <a:gdLst/>
              <a:ahLst/>
              <a:cxnLst/>
              <a:rect l="l" t="t" r="r" b="b"/>
              <a:pathLst>
                <a:path w="419100" h="287655">
                  <a:moveTo>
                    <a:pt x="0" y="287655"/>
                  </a:moveTo>
                  <a:lnTo>
                    <a:pt x="209550" y="287655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6519862" y="3250882"/>
              <a:ext cx="419100" cy="287655"/>
            </a:xfrm>
            <a:custGeom>
              <a:avLst/>
              <a:gdLst/>
              <a:ahLst/>
              <a:cxnLst/>
              <a:rect l="l" t="t" r="r" b="b"/>
              <a:pathLst>
                <a:path w="419100" h="287655">
                  <a:moveTo>
                    <a:pt x="0" y="0"/>
                  </a:moveTo>
                  <a:lnTo>
                    <a:pt x="209550" y="0"/>
                  </a:lnTo>
                  <a:lnTo>
                    <a:pt x="209550" y="287655"/>
                  </a:lnTo>
                  <a:lnTo>
                    <a:pt x="419100" y="287655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6519862" y="4113848"/>
              <a:ext cx="419100" cy="576262"/>
            </a:xfrm>
            <a:custGeom>
              <a:avLst/>
              <a:gdLst/>
              <a:ahLst/>
              <a:cxnLst/>
              <a:rect l="l" t="t" r="r" b="b"/>
              <a:pathLst>
                <a:path w="419100" h="576262">
                  <a:moveTo>
                    <a:pt x="0" y="576262"/>
                  </a:moveTo>
                  <a:lnTo>
                    <a:pt x="209550" y="576262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6519862" y="4690110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209550" y="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6519862" y="4690110"/>
              <a:ext cx="419100" cy="575310"/>
            </a:xfrm>
            <a:custGeom>
              <a:avLst/>
              <a:gdLst/>
              <a:ahLst/>
              <a:cxnLst/>
              <a:rect l="l" t="t" r="r" b="b"/>
              <a:pathLst>
                <a:path w="419100" h="575310">
                  <a:moveTo>
                    <a:pt x="0" y="0"/>
                  </a:moveTo>
                  <a:lnTo>
                    <a:pt x="209550" y="0"/>
                  </a:lnTo>
                  <a:lnTo>
                    <a:pt x="209550" y="575310"/>
                  </a:lnTo>
                  <a:lnTo>
                    <a:pt x="419100" y="57531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3332798" y="2099310"/>
              <a:ext cx="419100" cy="1295400"/>
            </a:xfrm>
            <a:custGeom>
              <a:avLst/>
              <a:gdLst/>
              <a:ahLst/>
              <a:cxnLst/>
              <a:rect l="l" t="t" r="r" b="b"/>
              <a:pathLst>
                <a:path w="419100" h="1295400">
                  <a:moveTo>
                    <a:pt x="0" y="1295400"/>
                  </a:moveTo>
                  <a:lnTo>
                    <a:pt x="209550" y="129540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3332798" y="3250882"/>
              <a:ext cx="419100" cy="143827"/>
            </a:xfrm>
            <a:custGeom>
              <a:avLst/>
              <a:gdLst/>
              <a:ahLst/>
              <a:cxnLst/>
              <a:rect l="l" t="t" r="r" b="b"/>
              <a:pathLst>
                <a:path w="419100" h="143827">
                  <a:moveTo>
                    <a:pt x="0" y="143827"/>
                  </a:moveTo>
                  <a:lnTo>
                    <a:pt x="209550" y="143827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3332798" y="3394710"/>
              <a:ext cx="419100" cy="1295400"/>
            </a:xfrm>
            <a:custGeom>
              <a:avLst/>
              <a:gdLst/>
              <a:ahLst/>
              <a:cxnLst/>
              <a:rect l="l" t="t" r="r" b="b"/>
              <a:pathLst>
                <a:path w="419100" h="1295400">
                  <a:moveTo>
                    <a:pt x="0" y="0"/>
                  </a:moveTo>
                  <a:lnTo>
                    <a:pt x="209550" y="0"/>
                  </a:lnTo>
                  <a:lnTo>
                    <a:pt x="209550" y="1295400"/>
                  </a:lnTo>
                  <a:lnTo>
                    <a:pt x="419100" y="129540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6938962" y="1631632"/>
              <a:ext cx="4719638" cy="360045"/>
            </a:xfrm>
            <a:prstGeom prst="roundRect">
              <a:avLst>
                <a:gd name="adj" fmla="val 2645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6938962" y="2207895"/>
              <a:ext cx="4719638" cy="360045"/>
            </a:xfrm>
            <a:prstGeom prst="roundRect">
              <a:avLst>
                <a:gd name="adj" fmla="val 2645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3751898" y="1919288"/>
              <a:ext cx="2768918" cy="360045"/>
            </a:xfrm>
            <a:prstGeom prst="roundRect">
              <a:avLst>
                <a:gd name="adj" fmla="val 26455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6938962" y="2783205"/>
              <a:ext cx="4719638" cy="360045"/>
            </a:xfrm>
            <a:prstGeom prst="roundRect">
              <a:avLst>
                <a:gd name="adj" fmla="val 2645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6938962" y="3358515"/>
              <a:ext cx="4719638" cy="360045"/>
            </a:xfrm>
            <a:prstGeom prst="roundRect">
              <a:avLst>
                <a:gd name="adj" fmla="val 2645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3751898" y="3070860"/>
              <a:ext cx="2768918" cy="360045"/>
            </a:xfrm>
            <a:prstGeom prst="roundRect">
              <a:avLst>
                <a:gd name="adj" fmla="val 26455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6938962" y="3933825"/>
              <a:ext cx="4719638" cy="360045"/>
            </a:xfrm>
            <a:prstGeom prst="roundRect">
              <a:avLst>
                <a:gd name="adj" fmla="val 2645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938962" y="4510088"/>
              <a:ext cx="4719638" cy="360045"/>
            </a:xfrm>
            <a:prstGeom prst="roundRect">
              <a:avLst>
                <a:gd name="adj" fmla="val 2645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6938962" y="5085398"/>
              <a:ext cx="4719638" cy="360045"/>
            </a:xfrm>
            <a:prstGeom prst="roundRect">
              <a:avLst>
                <a:gd name="adj" fmla="val 2645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3751898" y="4510088"/>
              <a:ext cx="2768918" cy="360045"/>
            </a:xfrm>
            <a:prstGeom prst="roundRect">
              <a:avLst>
                <a:gd name="adj" fmla="val 26455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533400" y="3214688"/>
              <a:ext cx="2799398" cy="360045"/>
            </a:xfrm>
            <a:prstGeom prst="roundRect">
              <a:avLst>
                <a:gd name="adj" fmla="val 26455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028116" y="1727835"/>
              <a:ext cx="28791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OMP_NUM_THREADS、OMP_SCHEDULE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028116" y="2303145"/>
              <a:ext cx="22731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OMP_DYNAMIC、OMP_NESTED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841052" y="201549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环境变量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028116" y="2879407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线程数与线程号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028116" y="3454718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锁函数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841052" y="3167062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运行时库函数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028116" y="4030027"/>
              <a:ext cx="15710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并行域结构：parallel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028116" y="4606290"/>
              <a:ext cx="28553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任务划分结构：for、sections、single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028116" y="5181600"/>
              <a:ext cx="30492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同步结构：critical、barrier、atomic 等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841052" y="460629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编译制导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22554" y="3310890"/>
              <a:ext cx="10329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OpenMP 语法</a:t>
              </a:r>
            </a:p>
          </p:txBody>
        </p:sp>
      </p:grpSp>
      <p:grpSp>
        <p:nvGrpSpPr>
          <p:cNvPr id="46" name="takeaway"/>
          <p:cNvGrpSpPr/>
          <p:nvPr/>
        </p:nvGrpSpPr>
        <p:grpSpPr>
          <a:xfrm>
            <a:off x="533400" y="5858828"/>
            <a:ext cx="11125200" cy="503872"/>
            <a:chOff x="533400" y="5858828"/>
            <a:chExt cx="11125200" cy="503872"/>
          </a:xfrm>
        </p:grpSpPr>
        <p:sp>
          <p:nvSpPr>
            <p:cNvPr id="40" name="Rectangle 40"/>
            <p:cNvSpPr/>
            <p:nvPr/>
          </p:nvSpPr>
          <p:spPr>
            <a:xfrm>
              <a:off x="533400" y="5858828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738188" y="6011228"/>
              <a:ext cx="200026" cy="200025"/>
              <a:chOff x="738188" y="6011228"/>
              <a:chExt cx="200026" cy="200025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738188" y="601122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777926" y="605567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812642" y="616680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1040511" y="6011704"/>
              <a:ext cx="957249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环境变量在运行前设置，库函数在运行中调用，编译制导写在代码里、由编译器处理。后面的各节按这棵树展开。</a:t>
              </a:r>
            </a:p>
          </p:txBody>
        </p:sp>
      </p:grpSp>
      <p:grpSp>
        <p:nvGrpSpPr>
          <p:cNvPr id="4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7" name="TextBox 47"/>
            <p:cNvSpPr txBox="1"/>
            <p:nvPr/>
          </p:nvSpPr>
          <p:spPr>
            <a:xfrm>
              <a:off x="528447" y="6581299"/>
              <a:ext cx="31504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第2章 线程级并行与OpenMP编程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43162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828" y="407194"/>
              <a:ext cx="23413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第2章 线程级并行 · OpenMP 概述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环境变量：不改代码就能调整线程数和调度方式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1" name="c1-table-1"/>
          <p:cNvGrpSpPr/>
          <p:nvPr/>
        </p:nvGrpSpPr>
        <p:grpSpPr>
          <a:xfrm>
            <a:off x="533400" y="1524000"/>
            <a:ext cx="6492240" cy="2697480"/>
            <a:chOff x="533400" y="1524000"/>
            <a:chExt cx="6492240" cy="269748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492240" cy="448628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55751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环境变量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951124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取值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223789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作用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41223" y="2221706"/>
              <a:ext cx="135114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OMP_SCHEDULE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589086" y="2221706"/>
              <a:ext cx="10812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如 dynamic,4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887343" y="2108359"/>
              <a:ext cx="2548890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循环迭代的调度方式，只对写了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schedule(runtime) 的 for 起作用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643188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647950"/>
              <a:ext cx="649224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1223" y="2783681"/>
              <a:ext cx="17048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OMP_NUM_THREADS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589086" y="278368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正整数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887343" y="2783681"/>
              <a:ext cx="2597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并行域默认使用的（最大）线程数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092768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1223" y="3345656"/>
              <a:ext cx="123644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OMP_DYNAMIC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589086" y="3345656"/>
              <a:ext cx="10209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true / false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887343" y="3232309"/>
              <a:ext cx="277647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是否允许运行时动态调整并行域的线程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768090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772852"/>
              <a:ext cx="649224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41223" y="3907631"/>
              <a:ext cx="114086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OMP_NESTED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589086" y="3907631"/>
              <a:ext cx="10209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true / false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887343" y="3907631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是否允许嵌套并行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1524000"/>
              <a:ext cx="6492240" cy="269748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2476500" y="1524000"/>
              <a:ext cx="9525" cy="26974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3774758" y="1524000"/>
              <a:ext cx="9525" cy="26974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5" name="c1-code-2"/>
          <p:cNvGrpSpPr/>
          <p:nvPr/>
        </p:nvGrpSpPr>
        <p:grpSpPr>
          <a:xfrm>
            <a:off x="533400" y="4411980"/>
            <a:ext cx="6492240" cy="1110615"/>
            <a:chOff x="533400" y="4411980"/>
            <a:chExt cx="6492240" cy="1110615"/>
          </a:xfrm>
        </p:grpSpPr>
        <p:sp>
          <p:nvSpPr>
            <p:cNvPr id="32" name="Rectangle 32"/>
            <p:cNvSpPr/>
            <p:nvPr/>
          </p:nvSpPr>
          <p:spPr>
            <a:xfrm>
              <a:off x="533400" y="4411980"/>
              <a:ext cx="6492240" cy="1110615"/>
            </a:xfrm>
            <a:prstGeom prst="roundRect">
              <a:avLst>
                <a:gd name="adj" fmla="val 8576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61797" y="4563904"/>
              <a:ext cx="124112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用法（Linux shell）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61035" y="4826794"/>
              <a:ext cx="2436622" cy="6257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export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OMP_NUM_THREADS=4</a:t>
              </a:r>
              <a:br/>
              <a:r>
                <a:rPr lang="en-US" sz="112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export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OMP_SCHEDULE=</a:t>
              </a:r>
              <a:r>
                <a:rPr lang="en-US" sz="11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"dynamic,4"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./hello</a:t>
              </a:r>
            </a:p>
          </p:txBody>
        </p:sp>
      </p:grpSp>
      <p:grpSp>
        <p:nvGrpSpPr>
          <p:cNvPr id="41" name="c2-card-1"/>
          <p:cNvGrpSpPr/>
          <p:nvPr/>
        </p:nvGrpSpPr>
        <p:grpSpPr>
          <a:xfrm>
            <a:off x="7330440" y="1524000"/>
            <a:ext cx="4328160" cy="1898332"/>
            <a:chOff x="7330440" y="1524000"/>
            <a:chExt cx="4328160" cy="1898332"/>
          </a:xfrm>
        </p:grpSpPr>
        <p:sp>
          <p:nvSpPr>
            <p:cNvPr id="36" name="Rectangle 36"/>
            <p:cNvSpPr/>
            <p:nvPr/>
          </p:nvSpPr>
          <p:spPr>
            <a:xfrm>
              <a:off x="7330440" y="1524000"/>
              <a:ext cx="4328160" cy="1898332"/>
            </a:xfrm>
            <a:prstGeom prst="roundRect">
              <a:avLst>
                <a:gd name="adj" fmla="val 7025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7539990" y="1733550"/>
              <a:ext cx="1204912" cy="257175"/>
            </a:xfrm>
            <a:prstGeom prst="roundRect">
              <a:avLst>
                <a:gd name="adj" fmla="val 50000"/>
              </a:avLst>
            </a:prstGeom>
            <a:solidFill>
              <a:srgbClr val="243B53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09497" y="1769269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线程数的优先级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532370" y="2110740"/>
              <a:ext cx="252031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num_threads 子句 &gt;</a:t>
              </a:r>
              <a:br/>
              <a:r>
                <a:rPr lang="en-US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omp_set_num_threads() &gt;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OMP_NUM_THREADS 环境变量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533513" y="3014186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三者都没设时，一般取处理器核数。</a:t>
              </a:r>
            </a:p>
          </p:txBody>
        </p:sp>
      </p:grpSp>
      <p:grpSp>
        <p:nvGrpSpPr>
          <p:cNvPr id="50" name="c2-card-2"/>
          <p:cNvGrpSpPr/>
          <p:nvPr/>
        </p:nvGrpSpPr>
        <p:grpSpPr>
          <a:xfrm>
            <a:off x="7330440" y="3612832"/>
            <a:ext cx="4328160" cy="2508885"/>
            <a:chOff x="7330440" y="3612832"/>
            <a:chExt cx="4328160" cy="2508885"/>
          </a:xfrm>
        </p:grpSpPr>
        <p:sp>
          <p:nvSpPr>
            <p:cNvPr id="42" name="Rectangle 42"/>
            <p:cNvSpPr/>
            <p:nvPr/>
          </p:nvSpPr>
          <p:spPr>
            <a:xfrm>
              <a:off x="7330440" y="3612832"/>
              <a:ext cx="4328160" cy="2508885"/>
            </a:xfrm>
            <a:prstGeom prst="roundRect">
              <a:avLst>
                <a:gd name="adj" fmla="val 531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7339965" y="3746182"/>
              <a:ext cx="47625" cy="224218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7578090" y="3822382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668298" y="38581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7583805" y="4262438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741920" y="4199572"/>
              <a:ext cx="341566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原课件写作 OMP_NETSTED，正确拼写是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OMP_NESTED（OpenMP 5.0 起已弃用，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改用 OMP_MAX_ACTIVE_LEVELS）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7583805" y="5169218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741920" y="5106352"/>
              <a:ext cx="303466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原课件说 OMP_SCHEDULE 只能用于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parallel for 和 for，准确地说只在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schedule(runtime) 时才读取它</a:t>
              </a:r>
            </a:p>
          </p:txBody>
        </p:sp>
      </p:grpSp>
      <p:grpSp>
        <p:nvGrpSpPr>
          <p:cNvPr id="5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1" name="TextBox 51"/>
            <p:cNvSpPr txBox="1"/>
            <p:nvPr/>
          </p:nvSpPr>
          <p:spPr>
            <a:xfrm>
              <a:off x="528447" y="6581299"/>
              <a:ext cx="31504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第2章 线程级并行与OpenMP编程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43162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828" y="407194"/>
              <a:ext cx="23413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第2章 线程级并行 · OpenMP 概述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运行库函数：查线程信息、设线程数、操作锁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9" name="c1-table-1"/>
          <p:cNvGrpSpPr/>
          <p:nvPr/>
        </p:nvGrpSpPr>
        <p:grpSpPr>
          <a:xfrm>
            <a:off x="533400" y="1524000"/>
            <a:ext cx="6492240" cy="4492943"/>
            <a:chOff x="533400" y="1524000"/>
            <a:chExt cx="6492240" cy="4492943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492240" cy="448628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652867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函数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898987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作用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41223" y="2108359"/>
              <a:ext cx="197603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omp_get_num_procs()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237738" y="2108359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返回可用的处理器个数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41649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421255"/>
              <a:ext cx="649224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41223" y="2556986"/>
              <a:ext cx="21750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omp_get_num_threads()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237738" y="2556986"/>
              <a:ext cx="2597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返回当前并行域中活动线程的个数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86607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41223" y="3005614"/>
              <a:ext cx="21750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omp_get_max_threads()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237738" y="3005614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返回下一个并行域最多能用的线程数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314700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3319462"/>
              <a:ext cx="649224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41223" y="3454241"/>
              <a:ext cx="207554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omp_get_thread_num()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237738" y="3454241"/>
              <a:ext cx="257181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返回本线程的线程号，主线程为 0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763328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41223" y="3903821"/>
              <a:ext cx="227457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omp_set_num_threads(n)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237738" y="3903821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设置之后并行域使用的线程数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4211955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533400" y="4216718"/>
              <a:ext cx="6492240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41223" y="4352449"/>
              <a:ext cx="150647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omp_init_lock /</a:t>
              </a:r>
              <a:br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omp_destroy_lock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237738" y="4465796"/>
              <a:ext cx="296813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初始化一个锁 / 销毁一个锁，两者配对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4887278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41223" y="5027771"/>
              <a:ext cx="1318717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omp_set_lock /</a:t>
              </a:r>
              <a:br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omp_unset_lock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237738" y="5141119"/>
              <a:ext cx="210656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上锁 / 解锁，两者必须配对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556355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533400" y="5568315"/>
              <a:ext cx="649224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41223" y="5703094"/>
              <a:ext cx="129755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omp_test_lock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237738" y="5703094"/>
              <a:ext cx="257181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尝试上锁，不阻塞，成功返回非 0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1524000"/>
              <a:ext cx="6492240" cy="449294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3125152" y="1524000"/>
              <a:ext cx="9525" cy="449294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6" name="c2-card-1"/>
          <p:cNvGrpSpPr/>
          <p:nvPr/>
        </p:nvGrpSpPr>
        <p:grpSpPr>
          <a:xfrm>
            <a:off x="7330440" y="1524000"/>
            <a:ext cx="4328160" cy="1562100"/>
            <a:chOff x="7330440" y="1524000"/>
            <a:chExt cx="4328160" cy="1562100"/>
          </a:xfrm>
        </p:grpSpPr>
        <p:sp>
          <p:nvSpPr>
            <p:cNvPr id="40" name="Rectangle 40"/>
            <p:cNvSpPr/>
            <p:nvPr/>
          </p:nvSpPr>
          <p:spPr>
            <a:xfrm>
              <a:off x="7330440" y="1524000"/>
              <a:ext cx="4328160" cy="1562100"/>
            </a:xfrm>
            <a:prstGeom prst="roundRect">
              <a:avLst>
                <a:gd name="adj" fmla="val 853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7339965" y="1657350"/>
              <a:ext cx="47625" cy="129540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757809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66829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用法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570470" y="2110740"/>
              <a:ext cx="38060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C/C++ 程序开头要写 #include &lt;omp.h&gt;。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571613" y="2442686"/>
              <a:ext cx="364617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原课件把返回值写成 INTEGER，那是 Fortran 接口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的写法；C 里这些函数返回 int。</a:t>
              </a:r>
            </a:p>
          </p:txBody>
        </p:sp>
      </p:grpSp>
      <p:grpSp>
        <p:nvGrpSpPr>
          <p:cNvPr id="52" name="c2-card-2"/>
          <p:cNvGrpSpPr/>
          <p:nvPr/>
        </p:nvGrpSpPr>
        <p:grpSpPr>
          <a:xfrm>
            <a:off x="7330440" y="3276600"/>
            <a:ext cx="4328160" cy="2740342"/>
            <a:chOff x="7330440" y="3276600"/>
            <a:chExt cx="4328160" cy="2740342"/>
          </a:xfrm>
        </p:grpSpPr>
        <p:sp>
          <p:nvSpPr>
            <p:cNvPr id="47" name="Rectangle 47"/>
            <p:cNvSpPr/>
            <p:nvPr/>
          </p:nvSpPr>
          <p:spPr>
            <a:xfrm>
              <a:off x="7330440" y="3276600"/>
              <a:ext cx="4328160" cy="2740342"/>
            </a:xfrm>
            <a:prstGeom prst="roundRect">
              <a:avLst>
                <a:gd name="adj" fmla="val 486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7339965" y="3409950"/>
              <a:ext cx="47625" cy="247364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7578090" y="34861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668298" y="35218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570470" y="3863340"/>
              <a:ext cx="3577590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在并行域之外调用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omp_get_num_threads() 得到的是 1。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Hello World 因此在并行域内部由 0 号线程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取线程数，并行域结束后再打印。</a:t>
              </a:r>
            </a:p>
          </p:txBody>
        </p:sp>
      </p:grpSp>
      <p:grpSp>
        <p:nvGrpSpPr>
          <p:cNvPr id="5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3" name="TextBox 53"/>
            <p:cNvSpPr txBox="1"/>
            <p:nvPr/>
          </p:nvSpPr>
          <p:spPr>
            <a:xfrm>
              <a:off x="528447" y="6581299"/>
              <a:ext cx="31504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第2章 线程级并行与OpenMP编程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568067" cy="909257"/>
            <a:chOff x="520446" y="342900"/>
            <a:chExt cx="856806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43162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828" y="407194"/>
              <a:ext cx="23413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第2章 线程级并行 · OpenMP 概述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56806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OpenMP 锁：set 与 unset 之间同一时刻只有一个线程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ode-1"/>
          <p:cNvGrpSpPr/>
          <p:nvPr/>
        </p:nvGrpSpPr>
        <p:grpSpPr>
          <a:xfrm>
            <a:off x="533400" y="1524000"/>
            <a:ext cx="6059805" cy="3235642"/>
            <a:chOff x="533400" y="1524000"/>
            <a:chExt cx="6059805" cy="323564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3235642"/>
            </a:xfrm>
            <a:prstGeom prst="roundRect">
              <a:avLst>
                <a:gd name="adj" fmla="val 294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3264218"/>
              <a:ext cx="6021705" cy="17049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552450" y="3775710"/>
              <a:ext cx="6021705" cy="17049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61949" y="1936337"/>
              <a:ext cx="3095574" cy="27422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42"/>
                </a:lnSpc>
              </a:pP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#include &lt;stdio.h&gt;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#include &lt;omp.h&gt;</a:t>
              </a:r>
              <a:br/>
              <a:r>
                <a:rPr lang="en-US" sz="94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omp_lock_t lock;</a:t>
              </a:r>
              <a:br/>
              <a:r>
                <a:rPr lang="en-US" sz="94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main() {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4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i;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omp_init_lock(&amp;lock);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#pragma omp parallel for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4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 = 0; i &lt; 5; ++i) {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omp_set_lock(&amp;lock);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printf(</a:t>
              </a:r>
              <a:r>
                <a:rPr lang="en-US" sz="94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"%d +\n"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, omp_get_thread_num());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printf(</a:t>
              </a:r>
              <a:r>
                <a:rPr lang="en-US" sz="94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"%d -\n"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, omp_get_thread_num());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omp_unset_lock(&amp;lock);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omp_destroy_lock(&amp;lock);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4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0;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6" name="c1-code-2"/>
          <p:cNvGrpSpPr/>
          <p:nvPr/>
        </p:nvGrpSpPr>
        <p:grpSpPr>
          <a:xfrm>
            <a:off x="533400" y="4945380"/>
            <a:ext cx="6059805" cy="1360170"/>
            <a:chOff x="533400" y="4945380"/>
            <a:chExt cx="6059805" cy="1360170"/>
          </a:xfrm>
        </p:grpSpPr>
        <p:sp>
          <p:nvSpPr>
            <p:cNvPr id="13" name="Rectangle 13"/>
            <p:cNvSpPr/>
            <p:nvPr/>
          </p:nvSpPr>
          <p:spPr>
            <a:xfrm>
              <a:off x="533400" y="4945380"/>
              <a:ext cx="6059805" cy="1360170"/>
            </a:xfrm>
            <a:prstGeom prst="roundRect">
              <a:avLst>
                <a:gd name="adj" fmla="val 700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61797" y="5097304"/>
              <a:ext cx="264549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五个锁函数（参数都是 omp_lock_t *lock）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61949" y="5357717"/>
              <a:ext cx="2635961" cy="86681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42"/>
                </a:lnSpc>
              </a:pPr>
              <a:r>
                <a:rPr lang="en-US" sz="94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omp_init_lock(omp_lock_t *lock);</a:t>
              </a:r>
              <a:br/>
              <a:r>
                <a:rPr lang="en-US" sz="94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omp_set_lock(omp_lock_t *lock);</a:t>
              </a:r>
              <a:br/>
              <a:r>
                <a:rPr lang="en-US" sz="94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omp_test_lock(omp_lock_t *lock);</a:t>
              </a:r>
              <a:br/>
              <a:r>
                <a:rPr lang="en-US" sz="94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omp_unset_lock(omp_lock_t *lock);</a:t>
              </a:r>
              <a:br/>
              <a:r>
                <a:rPr lang="en-US" sz="94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omp_destroy_lock(omp_lock_t *lock);</a:t>
              </a:r>
            </a:p>
          </p:txBody>
        </p:sp>
      </p:grpSp>
      <p:grpSp>
        <p:nvGrpSpPr>
          <p:cNvPr id="38" name="c2-cells-1"/>
          <p:cNvGrpSpPr/>
          <p:nvPr/>
        </p:nvGrpSpPr>
        <p:grpSpPr>
          <a:xfrm>
            <a:off x="6892290" y="1524000"/>
            <a:ext cx="4766310" cy="979170"/>
            <a:chOff x="6892290" y="1524000"/>
            <a:chExt cx="4766310" cy="979170"/>
          </a:xfrm>
        </p:grpSpPr>
        <p:sp>
          <p:nvSpPr>
            <p:cNvPr id="17" name="TextBox 17"/>
            <p:cNvSpPr txBox="1"/>
            <p:nvPr/>
          </p:nvSpPr>
          <p:spPr>
            <a:xfrm>
              <a:off x="6892290" y="165687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输出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7315200" y="1524000"/>
              <a:ext cx="868680" cy="4067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33006" y="1656874"/>
              <a:ext cx="2330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+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8183880" y="1524000"/>
              <a:ext cx="868680" cy="4067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501686" y="1656874"/>
              <a:ext cx="2330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1 -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9052560" y="1524000"/>
              <a:ext cx="86868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370366" y="1656874"/>
              <a:ext cx="2330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+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9921240" y="1524000"/>
              <a:ext cx="86868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0239046" y="1656874"/>
              <a:ext cx="2330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2 -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0789920" y="1524000"/>
              <a:ext cx="86868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1107726" y="1656874"/>
              <a:ext cx="2330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+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7315200" y="2096452"/>
              <a:ext cx="86868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633006" y="2230279"/>
              <a:ext cx="2330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0 -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8183880" y="2096452"/>
              <a:ext cx="86868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501686" y="2230279"/>
              <a:ext cx="2330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+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9052560" y="2096452"/>
              <a:ext cx="86868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370366" y="2230279"/>
              <a:ext cx="2330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4 -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9921240" y="2096452"/>
              <a:ext cx="86868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0239046" y="2230279"/>
              <a:ext cx="2330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+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10789920" y="2096452"/>
              <a:ext cx="86868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1107726" y="2230279"/>
              <a:ext cx="2330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3 -</a:t>
              </a:r>
            </a:p>
          </p:txBody>
        </p:sp>
      </p:grpSp>
      <p:grpSp>
        <p:nvGrpSpPr>
          <p:cNvPr id="48" name="c2-card-2"/>
          <p:cNvGrpSpPr/>
          <p:nvPr/>
        </p:nvGrpSpPr>
        <p:grpSpPr>
          <a:xfrm>
            <a:off x="6898005" y="2688908"/>
            <a:ext cx="4760595" cy="2097405"/>
            <a:chOff x="6898005" y="2688908"/>
            <a:chExt cx="4760595" cy="2097405"/>
          </a:xfrm>
        </p:grpSpPr>
        <p:sp>
          <p:nvSpPr>
            <p:cNvPr id="39" name="Rectangle 39"/>
            <p:cNvSpPr/>
            <p:nvPr/>
          </p:nvSpPr>
          <p:spPr>
            <a:xfrm>
              <a:off x="6898005" y="2688908"/>
              <a:ext cx="4760595" cy="2097405"/>
            </a:xfrm>
            <a:prstGeom prst="roundRect">
              <a:avLst>
                <a:gd name="adj" fmla="val 635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6907530" y="2822258"/>
              <a:ext cx="47625" cy="183070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7139940" y="2892742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226198" y="292846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读输出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7147560" y="3325178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304151" y="3265646"/>
              <a:ext cx="398195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每对“+ / −”总是紧挨着：两次 printf 之间没有别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的线程插进来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7147560" y="3916680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304151" y="3857149"/>
              <a:ext cx="26907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各对之间的先后每次运行都不同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133844" y="4173855"/>
              <a:ext cx="405079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输出里有 0–4 五个线程号，说明原课件运行时至少有 5 个线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程。本机加 num_threads(5) 复现，得到的配对规律相同。</a:t>
              </a:r>
            </a:p>
          </p:txBody>
        </p:sp>
      </p:grpSp>
      <p:grpSp>
        <p:nvGrpSpPr>
          <p:cNvPr id="54" name="c2-card-3"/>
          <p:cNvGrpSpPr/>
          <p:nvPr/>
        </p:nvGrpSpPr>
        <p:grpSpPr>
          <a:xfrm>
            <a:off x="6898005" y="4971098"/>
            <a:ext cx="4760595" cy="1333500"/>
            <a:chOff x="6898005" y="4971098"/>
            <a:chExt cx="4760595" cy="1333500"/>
          </a:xfrm>
        </p:grpSpPr>
        <p:sp>
          <p:nvSpPr>
            <p:cNvPr id="49" name="Rectangle 49"/>
            <p:cNvSpPr/>
            <p:nvPr/>
          </p:nvSpPr>
          <p:spPr>
            <a:xfrm>
              <a:off x="6898005" y="4971098"/>
              <a:ext cx="4760595" cy="13335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6907530" y="5104448"/>
              <a:ext cx="47625" cy="106680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7139940" y="5174932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230148" y="521065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132701" y="5547836"/>
              <a:ext cx="3864737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原课件的函数列表把 omp_destroy_lock 写成了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omp_detroy_lock。</a:t>
              </a:r>
            </a:p>
          </p:txBody>
        </p:sp>
      </p:grpSp>
      <p:grpSp>
        <p:nvGrpSpPr>
          <p:cNvPr id="5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5" name="TextBox 55"/>
            <p:cNvSpPr txBox="1"/>
            <p:nvPr/>
          </p:nvSpPr>
          <p:spPr>
            <a:xfrm>
              <a:off x="528447" y="6581299"/>
              <a:ext cx="31504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第2章 线程级并行与OpenMP编程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334E6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7EDF3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5624170" cy="3351847"/>
            <a:chOff x="667512" y="1835468"/>
            <a:chExt cx="5624170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第四部分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91363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编译制导与并行域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61426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#pragma omp 指令 [子句] 的写法、作用范围与数据属性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制导的格式与作用域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常用指令与子句一览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7114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parallel 与 if 子句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37206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firstprivate、lastprivate、reduction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31504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第2章 线程级并行与OpenMP编程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85736" cy="909257"/>
            <a:chOff x="520446" y="342900"/>
            <a:chExt cx="798573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第2章 线程级并行 · 编译制导与并行域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8573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编译制导的格式：#pragma omp 指令 [子句…] 换行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7913370" cy="293370"/>
            <a:chOff x="525780" y="1548765"/>
            <a:chExt cx="7913370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79133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编译制导是对程序设计语言的扩展，OpenMP 通过给串行程序添加制导语句实现并行化。</a:t>
              </a:r>
            </a:p>
          </p:txBody>
        </p:sp>
      </p:grpSp>
      <p:grpSp>
        <p:nvGrpSpPr>
          <p:cNvPr id="27" name="c1-table-1"/>
          <p:cNvGrpSpPr/>
          <p:nvPr/>
        </p:nvGrpSpPr>
        <p:grpSpPr>
          <a:xfrm>
            <a:off x="533400" y="1954530"/>
            <a:ext cx="5951220" cy="2364105"/>
            <a:chOff x="533400" y="1954530"/>
            <a:chExt cx="5951220" cy="2364105"/>
          </a:xfrm>
        </p:grpSpPr>
        <p:sp>
          <p:nvSpPr>
            <p:cNvPr id="9" name="Rectangle 9"/>
            <p:cNvSpPr/>
            <p:nvPr/>
          </p:nvSpPr>
          <p:spPr>
            <a:xfrm>
              <a:off x="533400" y="1954530"/>
              <a:ext cx="5951220" cy="43053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77646" y="208597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语句格式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114800" y="208597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解释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38746" y="2515552"/>
              <a:ext cx="106384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#pragma omp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185606" y="2515552"/>
              <a:ext cx="298810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制导指令前缀，所有 OpenMP 语句都需要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809875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814638"/>
              <a:ext cx="595122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8746" y="2946082"/>
              <a:ext cx="12673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directive-name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185606" y="2946082"/>
              <a:ext cx="32613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OpenMP 制导指令，必须写在前缀和子句之间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3240405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38746" y="3483292"/>
              <a:ext cx="9535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[clause, …]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185606" y="3376612"/>
              <a:ext cx="39745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子句，相当于指令的修饰参数；没有其他约束时可以无序、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任意选择，也可以不写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3883342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533400" y="3888105"/>
              <a:ext cx="595122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38746" y="4019550"/>
              <a:ext cx="6143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newline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185606" y="4019550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换行符，表明这条制导语句结束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1954530"/>
              <a:ext cx="5951220" cy="23641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2075498" y="1954530"/>
              <a:ext cx="9525" cy="23641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1" name="c1-code-2"/>
          <p:cNvGrpSpPr/>
          <p:nvPr/>
        </p:nvGrpSpPr>
        <p:grpSpPr>
          <a:xfrm>
            <a:off x="533400" y="4504372"/>
            <a:ext cx="5951220" cy="1189672"/>
            <a:chOff x="533400" y="4504372"/>
            <a:chExt cx="5951220" cy="1189672"/>
          </a:xfrm>
        </p:grpSpPr>
        <p:sp>
          <p:nvSpPr>
            <p:cNvPr id="28" name="Rectangle 28"/>
            <p:cNvSpPr/>
            <p:nvPr/>
          </p:nvSpPr>
          <p:spPr>
            <a:xfrm>
              <a:off x="533400" y="4504372"/>
              <a:ext cx="5951220" cy="1189672"/>
            </a:xfrm>
            <a:prstGeom prst="roundRect">
              <a:avLst>
                <a:gd name="adj" fmla="val 8006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61797" y="4656296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例：同一个程序里的几条制导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61949" y="4915757"/>
              <a:ext cx="3817823" cy="6963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42"/>
                </a:lnSpc>
              </a:pP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#pragma omp parallel num_threads(4) private(tid) shared(n)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#pragma omp for schedule(dynamic, 2) nowait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#pragma omp critical (update)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#pragma omp barrier</a:t>
              </a:r>
            </a:p>
          </p:txBody>
        </p:sp>
      </p:grpSp>
      <p:grpSp>
        <p:nvGrpSpPr>
          <p:cNvPr id="44" name="c2-cells-1"/>
          <p:cNvGrpSpPr/>
          <p:nvPr/>
        </p:nvGrpSpPr>
        <p:grpSpPr>
          <a:xfrm>
            <a:off x="6789420" y="1954530"/>
            <a:ext cx="4869180" cy="749331"/>
            <a:chOff x="6789420" y="1954530"/>
            <a:chExt cx="4869180" cy="749331"/>
          </a:xfrm>
        </p:grpSpPr>
        <p:sp>
          <p:nvSpPr>
            <p:cNvPr id="32" name="Rectangle 32"/>
            <p:cNvSpPr/>
            <p:nvPr/>
          </p:nvSpPr>
          <p:spPr>
            <a:xfrm>
              <a:off x="6789420" y="1954530"/>
              <a:ext cx="1623060" cy="4067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069028" y="2083118"/>
              <a:ext cx="106384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#pragma omp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8412480" y="1954530"/>
              <a:ext cx="1623060" cy="4067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908355" y="2083118"/>
              <a:ext cx="6313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parallel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10035540" y="1954530"/>
              <a:ext cx="1623060" cy="40671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0323629" y="2083118"/>
              <a:ext cx="10468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private(tid)</a:t>
              </a:r>
            </a:p>
          </p:txBody>
        </p:sp>
        <p:sp>
          <p:nvSpPr>
            <p:cNvPr id="38" name="Freeform 38"/>
            <p:cNvSpPr/>
            <p:nvPr/>
          </p:nvSpPr>
          <p:spPr>
            <a:xfrm>
              <a:off x="7562850" y="2380298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269937" y="2513171"/>
              <a:ext cx="6620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C 制导前缀</a:t>
              </a:r>
            </a:p>
          </p:txBody>
        </p:sp>
        <p:sp>
          <p:nvSpPr>
            <p:cNvPr id="40" name="Freeform 40"/>
            <p:cNvSpPr/>
            <p:nvPr/>
          </p:nvSpPr>
          <p:spPr>
            <a:xfrm>
              <a:off x="9185910" y="2380298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087129" y="251317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指令</a:t>
              </a:r>
            </a:p>
          </p:txBody>
        </p:sp>
        <p:sp>
          <p:nvSpPr>
            <p:cNvPr id="42" name="Freeform 42"/>
            <p:cNvSpPr/>
            <p:nvPr/>
          </p:nvSpPr>
          <p:spPr>
            <a:xfrm>
              <a:off x="10808970" y="2380298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0710189" y="251317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子句</a:t>
              </a:r>
            </a:p>
          </p:txBody>
        </p:sp>
      </p:grpSp>
      <p:grpSp>
        <p:nvGrpSpPr>
          <p:cNvPr id="54" name="c2-card-2"/>
          <p:cNvGrpSpPr/>
          <p:nvPr/>
        </p:nvGrpSpPr>
        <p:grpSpPr>
          <a:xfrm>
            <a:off x="6789420" y="2859405"/>
            <a:ext cx="4869180" cy="1914525"/>
            <a:chOff x="6789420" y="2859405"/>
            <a:chExt cx="4869180" cy="1914525"/>
          </a:xfrm>
        </p:grpSpPr>
        <p:sp>
          <p:nvSpPr>
            <p:cNvPr id="45" name="Rectangle 45"/>
            <p:cNvSpPr/>
            <p:nvPr/>
          </p:nvSpPr>
          <p:spPr>
            <a:xfrm>
              <a:off x="6789420" y="2859405"/>
              <a:ext cx="4869180" cy="1914525"/>
            </a:xfrm>
            <a:prstGeom prst="roundRect">
              <a:avLst>
                <a:gd name="adj" fmla="val 6965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6993255" y="306324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243B53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075564" y="309895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三条规则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7000875" y="3496628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157466" y="3436144"/>
              <a:ext cx="254212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C/C++ 中子句之间用空格分开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7000875" y="3816668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157466" y="3756184"/>
              <a:ext cx="3927856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一条制导只作用于紧随其后的一条语句或一个 { }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结构块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7000875" y="4408170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157466" y="4347686"/>
              <a:ext cx="402884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制导以换行结束，结构块的左花括号要另起一行</a:t>
              </a:r>
            </a:p>
          </p:txBody>
        </p:sp>
      </p:grpSp>
      <p:grpSp>
        <p:nvGrpSpPr>
          <p:cNvPr id="61" name="c2-callout-3"/>
          <p:cNvGrpSpPr/>
          <p:nvPr/>
        </p:nvGrpSpPr>
        <p:grpSpPr>
          <a:xfrm>
            <a:off x="6789420" y="4959668"/>
            <a:ext cx="4869180" cy="1281112"/>
            <a:chOff x="6789420" y="4959668"/>
            <a:chExt cx="4869180" cy="1281112"/>
          </a:xfrm>
        </p:grpSpPr>
        <p:sp>
          <p:nvSpPr>
            <p:cNvPr id="55" name="Rectangle 55"/>
            <p:cNvSpPr/>
            <p:nvPr/>
          </p:nvSpPr>
          <p:spPr>
            <a:xfrm>
              <a:off x="6789420" y="4959668"/>
              <a:ext cx="4869180" cy="1281112"/>
            </a:xfrm>
            <a:prstGeom prst="roundRect">
              <a:avLst>
                <a:gd name="adj" fmla="val 892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9" name="Group 59"/>
            <p:cNvGrpSpPr/>
            <p:nvPr/>
          </p:nvGrpSpPr>
          <p:grpSpPr>
            <a:xfrm>
              <a:off x="6994208" y="5499735"/>
              <a:ext cx="200026" cy="200026"/>
              <a:chOff x="6994208" y="5499735"/>
              <a:chExt cx="200026" cy="200026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6994208" y="549973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7094220" y="556641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7083108" y="559974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0" name="TextBox 60"/>
            <p:cNvSpPr txBox="1"/>
            <p:nvPr/>
          </p:nvSpPr>
          <p:spPr>
            <a:xfrm>
              <a:off x="7296531" y="5106829"/>
              <a:ext cx="3945890" cy="10673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Fortran 的制导以 !$OMP 开头，并用 !$OMP END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PARALLEL 这类语句标出结构块的结尾。原课件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“并行域结构图”里的 !$OMP PARALLEL 就是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Fortran 写法。</a:t>
              </a:r>
            </a:p>
          </p:txBody>
        </p:sp>
      </p:grpSp>
      <p:grpSp>
        <p:nvGrpSpPr>
          <p:cNvPr id="6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2" name="TextBox 62"/>
            <p:cNvSpPr txBox="1"/>
            <p:nvPr/>
          </p:nvSpPr>
          <p:spPr>
            <a:xfrm>
              <a:off x="528447" y="6581299"/>
              <a:ext cx="31504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第2章 线程级并行与OpenMP编程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第2章 线程级并行 · 编译制导与并行域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作用域：静态范围、孤立语句与动态范围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ode-1"/>
          <p:cNvGrpSpPr/>
          <p:nvPr/>
        </p:nvGrpSpPr>
        <p:grpSpPr>
          <a:xfrm>
            <a:off x="533400" y="1524000"/>
            <a:ext cx="5193982" cy="3317558"/>
            <a:chOff x="533400" y="1524000"/>
            <a:chExt cx="5193982" cy="331755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3317558"/>
            </a:xfrm>
            <a:prstGeom prst="roundRect">
              <a:avLst>
                <a:gd name="adj" fmla="val 287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2231708"/>
              <a:ext cx="5155882" cy="16573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552450" y="3388042"/>
              <a:ext cx="5155882" cy="16573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552450" y="4214812"/>
              <a:ext cx="5155882" cy="16573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61988" y="1935766"/>
              <a:ext cx="2650109" cy="28308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05"/>
                </a:lnSpc>
              </a:pPr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#pragma omp parallel</a:t>
              </a:r>
              <a:br/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{</a:t>
              </a:r>
              <a:br/>
              <a:r>
                <a:rPr lang="zh-CN" sz="9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#pragma omp for          // 静态范围内</a:t>
              </a:r>
              <a:br/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2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(...) {</a:t>
              </a:r>
              <a:br/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sub1();</a:t>
              </a:r>
              <a:br/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sub2();</a:t>
              </a:r>
              <a:br/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92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sub1() {</a:t>
              </a:r>
              <a:br/>
              <a:r>
                <a:rPr lang="zh-CN" sz="9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#pragma omp critical     // 孤立语句</a:t>
              </a:r>
              <a:br/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...</a:t>
              </a:r>
              <a:br/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92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sub2() {</a:t>
              </a:r>
              <a:br/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...</a:t>
              </a:r>
              <a:br/>
              <a:r>
                <a:rPr lang="zh-CN" sz="9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#pragma omp sections     // 孤立语句</a:t>
              </a:r>
              <a:br/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...</a:t>
              </a:r>
              <a:br/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9" name="c1-card-2"/>
          <p:cNvGrpSpPr/>
          <p:nvPr/>
        </p:nvGrpSpPr>
        <p:grpSpPr>
          <a:xfrm>
            <a:off x="533400" y="5021580"/>
            <a:ext cx="5193982" cy="1250632"/>
            <a:chOff x="533400" y="5021580"/>
            <a:chExt cx="5193982" cy="1250632"/>
          </a:xfrm>
        </p:grpSpPr>
        <p:sp>
          <p:nvSpPr>
            <p:cNvPr id="14" name="Rectangle 14"/>
            <p:cNvSpPr/>
            <p:nvPr/>
          </p:nvSpPr>
          <p:spPr>
            <a:xfrm>
              <a:off x="533400" y="5021580"/>
              <a:ext cx="5193982" cy="1250632"/>
            </a:xfrm>
            <a:prstGeom prst="roundRect">
              <a:avLst>
                <a:gd name="adj" fmla="val 106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542925" y="5154930"/>
              <a:ext cx="47625" cy="98393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69620" y="5219700"/>
              <a:ext cx="34290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65060" y="525399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381" y="5580221"/>
              <a:ext cx="4504944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同一个 sub1() 若在并行域之外的串行代码里被调用，其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中的 critical 只由这一个线程执行，相当于普通代码。</a:t>
              </a:r>
            </a:p>
          </p:txBody>
        </p:sp>
      </p:grpSp>
      <p:grpSp>
        <p:nvGrpSpPr>
          <p:cNvPr id="28" name="c2-kv-1"/>
          <p:cNvGrpSpPr/>
          <p:nvPr/>
        </p:nvGrpSpPr>
        <p:grpSpPr>
          <a:xfrm>
            <a:off x="6024944" y="1547336"/>
            <a:ext cx="5633656" cy="1915097"/>
            <a:chOff x="6024944" y="1547336"/>
            <a:chExt cx="5633656" cy="1915097"/>
          </a:xfrm>
        </p:grpSpPr>
        <p:sp>
          <p:nvSpPr>
            <p:cNvPr id="20" name="TextBox 20"/>
            <p:cNvSpPr txBox="1"/>
            <p:nvPr/>
          </p:nvSpPr>
          <p:spPr>
            <a:xfrm>
              <a:off x="6024944" y="1547336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静态范围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024116" y="1547336"/>
              <a:ext cx="4333621" cy="8140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又称词法范围（Lexical Extent）：文本上紧跟在一条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制导之后、被封装进结构块的代码。例：for 出现在封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闭的并行域中间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6032182" y="238601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024944" y="2499836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孤立语句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024116" y="2499836"/>
              <a:ext cx="4162298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不依赖其他语句、出现在任何静态范围之外的制导。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例：critical 和 sections 出现在封闭的并行域之外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6032182" y="307086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024944" y="3183731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动态范围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024116" y="3183731"/>
              <a:ext cx="402884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静态范围加上运行时经函数调用到达的孤立语句</a:t>
              </a:r>
            </a:p>
          </p:txBody>
        </p:sp>
      </p:grpSp>
      <p:grpSp>
        <p:nvGrpSpPr>
          <p:cNvPr id="35" name="c2-callout-2"/>
          <p:cNvGrpSpPr/>
          <p:nvPr/>
        </p:nvGrpSpPr>
        <p:grpSpPr>
          <a:xfrm>
            <a:off x="6032182" y="3586162"/>
            <a:ext cx="5626418" cy="1018222"/>
            <a:chOff x="6032182" y="3586162"/>
            <a:chExt cx="5626418" cy="1018222"/>
          </a:xfrm>
        </p:grpSpPr>
        <p:sp>
          <p:nvSpPr>
            <p:cNvPr id="29" name="Rectangle 29"/>
            <p:cNvSpPr/>
            <p:nvPr/>
          </p:nvSpPr>
          <p:spPr>
            <a:xfrm>
              <a:off x="6032182" y="3586162"/>
              <a:ext cx="5626418" cy="1018222"/>
            </a:xfrm>
            <a:prstGeom prst="roundRect">
              <a:avLst>
                <a:gd name="adj" fmla="val 11225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6236970" y="3995738"/>
              <a:ext cx="200026" cy="200025"/>
              <a:chOff x="6236970" y="3995738"/>
              <a:chExt cx="200026" cy="200025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6236970" y="399573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6276709" y="404018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6311424" y="415131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6539294" y="3733324"/>
              <a:ext cx="4468876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sub1、sub2 是在并行域里被调用的，所以它们里面的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critical 和 sections 运行时仍作用于这个并行域的线程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组。</a:t>
              </a:r>
            </a:p>
          </p:txBody>
        </p:sp>
      </p:grpSp>
      <p:grpSp>
        <p:nvGrpSpPr>
          <p:cNvPr id="41" name="c2-card-3"/>
          <p:cNvGrpSpPr/>
          <p:nvPr/>
        </p:nvGrpSpPr>
        <p:grpSpPr>
          <a:xfrm>
            <a:off x="6032182" y="4785360"/>
            <a:ext cx="5626418" cy="1487805"/>
            <a:chOff x="6032182" y="4785360"/>
            <a:chExt cx="5626418" cy="1487805"/>
          </a:xfrm>
        </p:grpSpPr>
        <p:sp>
          <p:nvSpPr>
            <p:cNvPr id="36" name="Rectangle 36"/>
            <p:cNvSpPr/>
            <p:nvPr/>
          </p:nvSpPr>
          <p:spPr>
            <a:xfrm>
              <a:off x="6032182" y="4785360"/>
              <a:ext cx="5626418" cy="1487805"/>
            </a:xfrm>
            <a:prstGeom prst="roundRect">
              <a:avLst>
                <a:gd name="adj" fmla="val 89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6041708" y="4918710"/>
              <a:ext cx="47625" cy="122110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268402" y="4983480"/>
              <a:ext cx="1143000" cy="247650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339840" y="5017770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孤立语句的用处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261164" y="5344001"/>
              <a:ext cx="488365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同步和任务划分可以写在被调用的函数内部，主程序只管开并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行域，函数在并行和串行两种场合都能直接调用。</a:t>
              </a:r>
            </a:p>
          </p:txBody>
        </p:sp>
      </p:grpSp>
      <p:grpSp>
        <p:nvGrpSpPr>
          <p:cNvPr id="4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2" name="TextBox 42"/>
            <p:cNvSpPr txBox="1"/>
            <p:nvPr/>
          </p:nvSpPr>
          <p:spPr>
            <a:xfrm>
              <a:off x="528447" y="6581299"/>
              <a:ext cx="31504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第2章 线程级并行与OpenMP编程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488561" cy="909257"/>
            <a:chOff x="520446" y="342900"/>
            <a:chExt cx="44885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第2章 线程级并行 · 编译制导与并行域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4885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常用制导指令：按用途分三类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table-1"/>
          <p:cNvGrpSpPr/>
          <p:nvPr/>
        </p:nvGrpSpPr>
        <p:grpSpPr>
          <a:xfrm>
            <a:off x="533400" y="1524000"/>
            <a:ext cx="5410200" cy="1242060"/>
            <a:chOff x="533400" y="1524000"/>
            <a:chExt cx="5410200" cy="124206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48768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42035" y="166306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并行结构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949065" y="166306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作用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40080" y="2284095"/>
              <a:ext cx="78913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parallel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479358" y="2150745"/>
              <a:ext cx="30632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用在一个代码段之前，这段代码由多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个线程并行执行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1524000"/>
              <a:ext cx="5410200" cy="124206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2367915" y="1524000"/>
              <a:ext cx="9525" cy="1242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29" name="c1-table-2"/>
          <p:cNvGrpSpPr/>
          <p:nvPr/>
        </p:nvGrpSpPr>
        <p:grpSpPr>
          <a:xfrm>
            <a:off x="533400" y="2956560"/>
            <a:ext cx="5410200" cy="2217420"/>
            <a:chOff x="533400" y="2956560"/>
            <a:chExt cx="5410200" cy="2217420"/>
          </a:xfrm>
        </p:grpSpPr>
        <p:sp>
          <p:nvSpPr>
            <p:cNvPr id="15" name="Rectangle 15"/>
            <p:cNvSpPr/>
            <p:nvPr/>
          </p:nvSpPr>
          <p:spPr>
            <a:xfrm>
              <a:off x="533400" y="2956560"/>
              <a:ext cx="5410200" cy="48768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40105" y="309562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任务划分结构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949065" y="309562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作用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40080" y="3716655"/>
              <a:ext cx="3650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for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479358" y="3583305"/>
              <a:ext cx="3110865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用在 for 循环之前，把迭代分给多个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线程；要求各次迭代之间无相关性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419385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33400" y="4198620"/>
              <a:ext cx="5410200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40080" y="4337685"/>
              <a:ext cx="8951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sections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479358" y="4337685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用在可以并行执行的若干代码段之前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468153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40080" y="4825365"/>
              <a:ext cx="60891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single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479358" y="482536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后面的代码段只由单个线程执行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2956560"/>
              <a:ext cx="5410200" cy="221742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2367915" y="2956560"/>
              <a:ext cx="9525" cy="22174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5" name="c2-table-1"/>
          <p:cNvGrpSpPr/>
          <p:nvPr/>
        </p:nvGrpSpPr>
        <p:grpSpPr>
          <a:xfrm>
            <a:off x="6248400" y="1524000"/>
            <a:ext cx="5410200" cy="3947160"/>
            <a:chOff x="6248400" y="1524000"/>
            <a:chExt cx="5410200" cy="3947160"/>
          </a:xfrm>
        </p:grpSpPr>
        <p:sp>
          <p:nvSpPr>
            <p:cNvPr id="30" name="Rectangle 30"/>
            <p:cNvSpPr/>
            <p:nvPr/>
          </p:nvSpPr>
          <p:spPr>
            <a:xfrm>
              <a:off x="6248400" y="1524000"/>
              <a:ext cx="5410200" cy="48768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757035" y="166306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同步结构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664065" y="166306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作用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355080" y="2150745"/>
              <a:ext cx="78913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critical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194358" y="215074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用在一段临界区代码之前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248400" y="249459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6248400" y="2499360"/>
              <a:ext cx="5410200" cy="7543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355080" y="2771775"/>
              <a:ext cx="77853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barrier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194358" y="2638425"/>
              <a:ext cx="30632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所有线程都执行到这里后才继续往下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执行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248400" y="324897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355080" y="3392805"/>
              <a:ext cx="7043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atomic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194358" y="339280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指定的存储单元被原子地更新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248400" y="373665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6248400" y="3741420"/>
              <a:ext cx="5410200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355080" y="3880485"/>
              <a:ext cx="75733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master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194358" y="388048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指定一段代码只由主线程执行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248400" y="422433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355080" y="4501515"/>
              <a:ext cx="83154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ordered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194358" y="4368165"/>
              <a:ext cx="30632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并行循环中的这段代码按迭代顺序执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248400" y="497871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6248400" y="4983480"/>
              <a:ext cx="5410200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355080" y="5122545"/>
              <a:ext cx="147822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threadprivate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194358" y="512254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指定一个全局变量为线程私有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6248400" y="1524000"/>
              <a:ext cx="5410200" cy="394716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8082915" y="1524000"/>
              <a:ext cx="9525" cy="39471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2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56" name="Rectangle 56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0" name="Group 60"/>
            <p:cNvGrpSpPr/>
            <p:nvPr/>
          </p:nvGrpSpPr>
          <p:grpSpPr>
            <a:xfrm>
              <a:off x="738188" y="5995988"/>
              <a:ext cx="200026" cy="200026"/>
              <a:chOff x="738188" y="5995988"/>
              <a:chExt cx="200026" cy="200026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738188" y="599598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838200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827088" y="609600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1" name="TextBox 61"/>
            <p:cNvSpPr txBox="1"/>
            <p:nvPr/>
          </p:nvSpPr>
          <p:spPr>
            <a:xfrm>
              <a:off x="1040130" y="5991225"/>
              <a:ext cx="749674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更正：原课件把 atomic 的作用写成“内存区域被制动更新”，应为“被原子地更新”。</a:t>
              </a:r>
            </a:p>
          </p:txBody>
        </p:sp>
      </p:grpSp>
      <p:grpSp>
        <p:nvGrpSpPr>
          <p:cNvPr id="6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3" name="TextBox 63"/>
            <p:cNvSpPr txBox="1"/>
            <p:nvPr/>
          </p:nvSpPr>
          <p:spPr>
            <a:xfrm>
              <a:off x="528447" y="6581299"/>
              <a:ext cx="31504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第2章 线程级并行与OpenMP编程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第2章 线程级并行 · 编译制导与并行域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常用子句：数据属性、线程数与调度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5" name="c1-table-1"/>
          <p:cNvGrpSpPr/>
          <p:nvPr/>
        </p:nvGrpSpPr>
        <p:grpSpPr>
          <a:xfrm>
            <a:off x="533400" y="1524000"/>
            <a:ext cx="5842635" cy="3246120"/>
            <a:chOff x="533400" y="1524000"/>
            <a:chExt cx="5842635" cy="324612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40576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51662" y="164830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数据属性子句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174528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作用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33412" y="2054066"/>
              <a:ext cx="5813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private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386012" y="2054066"/>
              <a:ext cx="2725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每个线程有自己的私有副本，初值未定义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33076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335530"/>
              <a:ext cx="584263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33412" y="2459831"/>
              <a:ext cx="9771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firstprivate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386012" y="2459831"/>
              <a:ext cx="30269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私有副本，并用主线程中同名变量的值初始化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73653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33412" y="2865596"/>
              <a:ext cx="8900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lastprivate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386012" y="2865596"/>
              <a:ext cx="34792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私有副本，结束时把最后一次迭代的值复制回主线程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14229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3147060"/>
              <a:ext cx="584263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33412" y="3271361"/>
              <a:ext cx="755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reduction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386012" y="3271361"/>
              <a:ext cx="31776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私有副本，结束时按指定运算归约并更新全局值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54806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33412" y="3677126"/>
              <a:ext cx="5338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shared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386012" y="3677126"/>
              <a:ext cx="24238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列出的变量被线程组中所有线程共享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395382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533400" y="3958590"/>
              <a:ext cx="584263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33412" y="4082891"/>
              <a:ext cx="5813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default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386012" y="4082891"/>
              <a:ext cx="31173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未显式列出的变量取什么属性，缺省是 shared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435959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33412" y="4488656"/>
              <a:ext cx="4942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copyin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386012" y="4488656"/>
              <a:ext cx="34038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用主线程的值初始化各线程的 threadprivate 变量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1524000"/>
              <a:ext cx="5842635" cy="324612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2281238" y="1524000"/>
              <a:ext cx="9525" cy="32461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2" name="c1-callout-2"/>
          <p:cNvGrpSpPr/>
          <p:nvPr/>
        </p:nvGrpSpPr>
        <p:grpSpPr>
          <a:xfrm>
            <a:off x="533400" y="4945380"/>
            <a:ext cx="5842635" cy="1327785"/>
            <a:chOff x="533400" y="4945380"/>
            <a:chExt cx="5842635" cy="1327785"/>
          </a:xfrm>
        </p:grpSpPr>
        <p:sp>
          <p:nvSpPr>
            <p:cNvPr id="36" name="Rectangle 36"/>
            <p:cNvSpPr/>
            <p:nvPr/>
          </p:nvSpPr>
          <p:spPr>
            <a:xfrm>
              <a:off x="533400" y="4945380"/>
              <a:ext cx="5842635" cy="1327785"/>
            </a:xfrm>
            <a:prstGeom prst="roundRect">
              <a:avLst>
                <a:gd name="adj" fmla="val 8608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738188" y="5509260"/>
              <a:ext cx="200026" cy="200026"/>
              <a:chOff x="738188" y="5509260"/>
              <a:chExt cx="200026" cy="200026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738188" y="550926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838200" y="557593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827088" y="560927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1040892" y="5390198"/>
              <a:ext cx="4874324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copyin 和 copyprivate 分别配合 threadprivate 变量和 single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使用，课件只列出了它们的作用，没有展开。</a:t>
              </a:r>
            </a:p>
          </p:txBody>
        </p:sp>
      </p:grpSp>
      <p:grpSp>
        <p:nvGrpSpPr>
          <p:cNvPr id="68" name="c2-table-1"/>
          <p:cNvGrpSpPr/>
          <p:nvPr/>
        </p:nvGrpSpPr>
        <p:grpSpPr>
          <a:xfrm>
            <a:off x="6680835" y="1524000"/>
            <a:ext cx="4977765" cy="2840355"/>
            <a:chOff x="6680835" y="1524000"/>
            <a:chExt cx="4977765" cy="2840355"/>
          </a:xfrm>
        </p:grpSpPr>
        <p:sp>
          <p:nvSpPr>
            <p:cNvPr id="43" name="Rectangle 43"/>
            <p:cNvSpPr/>
            <p:nvPr/>
          </p:nvSpPr>
          <p:spPr>
            <a:xfrm>
              <a:off x="6680835" y="1524000"/>
              <a:ext cx="4977765" cy="40576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120331" y="164830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其他子句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759988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作用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780848" y="2054066"/>
              <a:ext cx="9296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copyprivate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274367" y="2054066"/>
              <a:ext cx="263490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 single 中某变量的值广播给其他线程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680835" y="2330768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6680835" y="2335530"/>
              <a:ext cx="497776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780848" y="2459831"/>
              <a:ext cx="1000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num_threads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274367" y="2459831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指定线程的个数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6680835" y="273653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780848" y="2865596"/>
              <a:ext cx="6684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schedule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274367" y="2865596"/>
              <a:ext cx="20091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指定 for 循环迭代的调度方式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6680835" y="3142298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6680835" y="3147060"/>
              <a:ext cx="497776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780848" y="3271361"/>
              <a:ext cx="6209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ordered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274367" y="3271361"/>
              <a:ext cx="24615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声明 for 循环中有按顺序执行的部分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6680835" y="354806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780848" y="3677126"/>
              <a:ext cx="525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nowait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274367" y="3677126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取消指令结尾暗含的等待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6680835" y="3953828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6680835" y="3958590"/>
              <a:ext cx="497776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780848" y="4082891"/>
              <a:ext cx="1459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if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8274367" y="4082891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条件为真才并行执行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6680835" y="1524000"/>
              <a:ext cx="4977765" cy="284035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7" name="Rectangle 67"/>
            <p:cNvSpPr/>
            <p:nvPr/>
          </p:nvSpPr>
          <p:spPr>
            <a:xfrm>
              <a:off x="8169592" y="1524000"/>
              <a:ext cx="9525" cy="2840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5" name="c2-callout-2"/>
          <p:cNvGrpSpPr/>
          <p:nvPr/>
        </p:nvGrpSpPr>
        <p:grpSpPr>
          <a:xfrm>
            <a:off x="6680835" y="4539615"/>
            <a:ext cx="4977765" cy="729615"/>
            <a:chOff x="6680835" y="4539615"/>
            <a:chExt cx="4977765" cy="729615"/>
          </a:xfrm>
        </p:grpSpPr>
        <p:sp>
          <p:nvSpPr>
            <p:cNvPr id="69" name="Rectangle 69"/>
            <p:cNvSpPr/>
            <p:nvPr/>
          </p:nvSpPr>
          <p:spPr>
            <a:xfrm>
              <a:off x="6680835" y="4539615"/>
              <a:ext cx="4977765" cy="729615"/>
            </a:xfrm>
            <a:prstGeom prst="roundRect">
              <a:avLst>
                <a:gd name="adj" fmla="val 1566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73" name="Group 73"/>
            <p:cNvGrpSpPr/>
            <p:nvPr/>
          </p:nvGrpSpPr>
          <p:grpSpPr>
            <a:xfrm>
              <a:off x="6885623" y="4804410"/>
              <a:ext cx="200026" cy="200025"/>
              <a:chOff x="6885623" y="4804410"/>
              <a:chExt cx="200026" cy="200025"/>
            </a:xfrm>
          </p:grpSpPr>
          <p:sp>
            <p:nvSpPr>
              <p:cNvPr id="70" name="Freeform 70"/>
              <p:cNvSpPr/>
              <p:nvPr/>
            </p:nvSpPr>
            <p:spPr>
              <a:xfrm>
                <a:off x="6885623" y="480441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6925361" y="484886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6960077" y="495998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4" name="TextBox 74"/>
            <p:cNvSpPr txBox="1"/>
            <p:nvPr/>
          </p:nvSpPr>
          <p:spPr>
            <a:xfrm>
              <a:off x="7188327" y="4685348"/>
              <a:ext cx="395706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前四个子句都会给每个线程造一份私有副本，区别只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在进入和退出时怎样处理值。</a:t>
              </a:r>
            </a:p>
          </p:txBody>
        </p:sp>
      </p:grpSp>
      <p:grpSp>
        <p:nvGrpSpPr>
          <p:cNvPr id="79" name="c2-code-3"/>
          <p:cNvGrpSpPr/>
          <p:nvPr/>
        </p:nvGrpSpPr>
        <p:grpSpPr>
          <a:xfrm>
            <a:off x="6680835" y="5443538"/>
            <a:ext cx="4977765" cy="828675"/>
            <a:chOff x="6680835" y="5443538"/>
            <a:chExt cx="4977765" cy="828675"/>
          </a:xfrm>
        </p:grpSpPr>
        <p:sp>
          <p:nvSpPr>
            <p:cNvPr id="76" name="Rectangle 76"/>
            <p:cNvSpPr/>
            <p:nvPr/>
          </p:nvSpPr>
          <p:spPr>
            <a:xfrm>
              <a:off x="6680835" y="5443538"/>
              <a:ext cx="4977765" cy="828675"/>
            </a:xfrm>
            <a:prstGeom prst="roundRect">
              <a:avLst>
                <a:gd name="adj" fmla="val 1149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6809232" y="5595461"/>
              <a:ext cx="14611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例：一条制导带多个子句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6809422" y="5855684"/>
              <a:ext cx="3451733" cy="3333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60"/>
                </a:lnSpc>
              </a:pP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#pragma omp parallel for num_threads(4) \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schedule(dynamic, 2) private(x) reduction(+:sum)</a:t>
              </a:r>
            </a:p>
          </p:txBody>
        </p:sp>
      </p:grpSp>
      <p:grpSp>
        <p:nvGrpSpPr>
          <p:cNvPr id="8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0" name="TextBox 80"/>
            <p:cNvSpPr txBox="1"/>
            <p:nvPr/>
          </p:nvSpPr>
          <p:spPr>
            <a:xfrm>
              <a:off x="528447" y="6581299"/>
              <a:ext cx="31504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第2章 线程级并行与OpenMP编程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896483" cy="909257"/>
            <a:chOff x="520446" y="342900"/>
            <a:chExt cx="789648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第2章 线程级并行 · 编译制导与并行域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89648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parallel：最基本的并行结构，结尾有隐式 barrier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410200" cy="1209675"/>
            <a:chOff x="533400" y="1524000"/>
            <a:chExt cx="5410200" cy="120967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209675"/>
            </a:xfrm>
            <a:prstGeom prst="roundRect">
              <a:avLst>
                <a:gd name="adj" fmla="val 787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格式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797" y="1935956"/>
              <a:ext cx="2268855" cy="7193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#pragma omp parallel [clause ...]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BLOCK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0" name="c1-card-2"/>
          <p:cNvGrpSpPr/>
          <p:nvPr/>
        </p:nvGrpSpPr>
        <p:grpSpPr>
          <a:xfrm>
            <a:off x="533400" y="2898458"/>
            <a:ext cx="5410200" cy="1714500"/>
            <a:chOff x="533400" y="2898458"/>
            <a:chExt cx="5410200" cy="1714500"/>
          </a:xfrm>
        </p:grpSpPr>
        <p:sp>
          <p:nvSpPr>
            <p:cNvPr id="11" name="Rectangle 11"/>
            <p:cNvSpPr/>
            <p:nvPr/>
          </p:nvSpPr>
          <p:spPr>
            <a:xfrm>
              <a:off x="533400" y="2898458"/>
              <a:ext cx="5410200" cy="1714500"/>
            </a:xfrm>
            <a:prstGeom prst="roundRect">
              <a:avLst>
                <a:gd name="adj" fmla="val 777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542925" y="3031808"/>
              <a:ext cx="47625" cy="1447800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752475" y="3079432"/>
              <a:ext cx="582930" cy="23812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41096" y="3112294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并行域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45998" y="3418999"/>
              <a:ext cx="477596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一个能被多个线程并行执行的程序块，是最基本的 OpenMP 并行结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构。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62000" y="3999548"/>
              <a:ext cx="57150" cy="571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17448" y="3947636"/>
              <a:ext cx="442418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结尾有一个隐式同步（barrier），所有线程到齐后才 join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62000" y="4284345"/>
              <a:ext cx="57150" cy="571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17448" y="4232434"/>
              <a:ext cx="45314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子句说明并行域的附加信息，C/C++ 中子句之间用空格分开</a:t>
              </a:r>
            </a:p>
          </p:txBody>
        </p:sp>
      </p:grpSp>
      <p:grpSp>
        <p:nvGrpSpPr>
          <p:cNvPr id="26" name="c1-card-3"/>
          <p:cNvGrpSpPr/>
          <p:nvPr/>
        </p:nvGrpSpPr>
        <p:grpSpPr>
          <a:xfrm>
            <a:off x="533400" y="4776788"/>
            <a:ext cx="5410200" cy="1386840"/>
            <a:chOff x="533400" y="4776788"/>
            <a:chExt cx="5410200" cy="1386840"/>
          </a:xfrm>
        </p:grpSpPr>
        <p:sp>
          <p:nvSpPr>
            <p:cNvPr id="21" name="Rectangle 21"/>
            <p:cNvSpPr/>
            <p:nvPr/>
          </p:nvSpPr>
          <p:spPr>
            <a:xfrm>
              <a:off x="533400" y="4776788"/>
              <a:ext cx="5410200" cy="1386840"/>
            </a:xfrm>
            <a:prstGeom prst="roundRect">
              <a:avLst>
                <a:gd name="adj" fmla="val 961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542925" y="4910138"/>
              <a:ext cx="47625" cy="112014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752475" y="4957762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37044" y="499062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可用子句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45998" y="5298281"/>
              <a:ext cx="464591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if(scalar_expression)、private(list)、shared(list)、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default(shared | none)、firstprivate(list)、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reduction(operator: list)、copyin(list)、num_threads(n)</a:t>
              </a:r>
            </a:p>
          </p:txBody>
        </p:sp>
      </p:grpSp>
      <p:grpSp>
        <p:nvGrpSpPr>
          <p:cNvPr id="85" name="c2-flow-1"/>
          <p:cNvGrpSpPr/>
          <p:nvPr/>
        </p:nvGrpSpPr>
        <p:grpSpPr>
          <a:xfrm>
            <a:off x="6381750" y="1741170"/>
            <a:ext cx="5143500" cy="4404360"/>
            <a:chOff x="6381750" y="1741170"/>
            <a:chExt cx="5143500" cy="4404360"/>
          </a:xfrm>
        </p:grpSpPr>
        <p:sp>
          <p:nvSpPr>
            <p:cNvPr id="27" name="Freeform 27"/>
            <p:cNvSpPr/>
            <p:nvPr/>
          </p:nvSpPr>
          <p:spPr>
            <a:xfrm>
              <a:off x="6924675" y="2113598"/>
              <a:ext cx="2028825" cy="329565"/>
            </a:xfrm>
            <a:custGeom>
              <a:avLst/>
              <a:gdLst/>
              <a:ahLst/>
              <a:cxnLst/>
              <a:rect l="l" t="t" r="r" b="b"/>
              <a:pathLst>
                <a:path w="2028825" h="329565">
                  <a:moveTo>
                    <a:pt x="2028825" y="0"/>
                  </a:moveTo>
                  <a:lnTo>
                    <a:pt x="2028825" y="217170"/>
                  </a:lnTo>
                  <a:lnTo>
                    <a:pt x="0" y="217170"/>
                  </a:lnTo>
                  <a:lnTo>
                    <a:pt x="0" y="32956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6872288" y="244316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9" name="Freeform 29"/>
            <p:cNvSpPr/>
            <p:nvPr/>
          </p:nvSpPr>
          <p:spPr>
            <a:xfrm>
              <a:off x="8277225" y="2113598"/>
              <a:ext cx="676275" cy="329565"/>
            </a:xfrm>
            <a:custGeom>
              <a:avLst/>
              <a:gdLst/>
              <a:ahLst/>
              <a:cxnLst/>
              <a:rect l="l" t="t" r="r" b="b"/>
              <a:pathLst>
                <a:path w="676275" h="329565">
                  <a:moveTo>
                    <a:pt x="676275" y="0"/>
                  </a:moveTo>
                  <a:lnTo>
                    <a:pt x="676275" y="217170"/>
                  </a:lnTo>
                  <a:lnTo>
                    <a:pt x="0" y="217170"/>
                  </a:lnTo>
                  <a:lnTo>
                    <a:pt x="0" y="32956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8224838" y="244316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1" name="Freeform 31"/>
            <p:cNvSpPr/>
            <p:nvPr/>
          </p:nvSpPr>
          <p:spPr>
            <a:xfrm>
              <a:off x="8953500" y="2113598"/>
              <a:ext cx="676275" cy="329565"/>
            </a:xfrm>
            <a:custGeom>
              <a:avLst/>
              <a:gdLst/>
              <a:ahLst/>
              <a:cxnLst/>
              <a:rect l="l" t="t" r="r" b="b"/>
              <a:pathLst>
                <a:path w="676275" h="329565">
                  <a:moveTo>
                    <a:pt x="0" y="0"/>
                  </a:moveTo>
                  <a:lnTo>
                    <a:pt x="0" y="217170"/>
                  </a:lnTo>
                  <a:lnTo>
                    <a:pt x="676275" y="217170"/>
                  </a:lnTo>
                  <a:lnTo>
                    <a:pt x="676275" y="32956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9577388" y="244316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3" name="Freeform 33"/>
            <p:cNvSpPr/>
            <p:nvPr/>
          </p:nvSpPr>
          <p:spPr>
            <a:xfrm>
              <a:off x="8953500" y="2113598"/>
              <a:ext cx="2028825" cy="329565"/>
            </a:xfrm>
            <a:custGeom>
              <a:avLst/>
              <a:gdLst/>
              <a:ahLst/>
              <a:cxnLst/>
              <a:rect l="l" t="t" r="r" b="b"/>
              <a:pathLst>
                <a:path w="2028825" h="329565">
                  <a:moveTo>
                    <a:pt x="0" y="0"/>
                  </a:moveTo>
                  <a:lnTo>
                    <a:pt x="0" y="217170"/>
                  </a:lnTo>
                  <a:lnTo>
                    <a:pt x="2028825" y="217170"/>
                  </a:lnTo>
                  <a:lnTo>
                    <a:pt x="2028825" y="32956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10929938" y="244316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5" name="Freeform 35"/>
            <p:cNvSpPr/>
            <p:nvPr/>
          </p:nvSpPr>
          <p:spPr>
            <a:xfrm>
              <a:off x="6924675" y="2920365"/>
              <a:ext cx="2028825" cy="328612"/>
            </a:xfrm>
            <a:custGeom>
              <a:avLst/>
              <a:gdLst/>
              <a:ahLst/>
              <a:cxnLst/>
              <a:rect l="l" t="t" r="r" b="b"/>
              <a:pathLst>
                <a:path w="2028825" h="328612">
                  <a:moveTo>
                    <a:pt x="0" y="0"/>
                  </a:moveTo>
                  <a:lnTo>
                    <a:pt x="0" y="216217"/>
                  </a:lnTo>
                  <a:lnTo>
                    <a:pt x="2028825" y="216217"/>
                  </a:lnTo>
                  <a:lnTo>
                    <a:pt x="2028825" y="32861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8901112" y="324897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7" name="Freeform 37"/>
            <p:cNvSpPr/>
            <p:nvPr/>
          </p:nvSpPr>
          <p:spPr>
            <a:xfrm>
              <a:off x="8277225" y="2920365"/>
              <a:ext cx="676275" cy="328612"/>
            </a:xfrm>
            <a:custGeom>
              <a:avLst/>
              <a:gdLst/>
              <a:ahLst/>
              <a:cxnLst/>
              <a:rect l="l" t="t" r="r" b="b"/>
              <a:pathLst>
                <a:path w="676275" h="328612">
                  <a:moveTo>
                    <a:pt x="0" y="0"/>
                  </a:moveTo>
                  <a:lnTo>
                    <a:pt x="0" y="216217"/>
                  </a:lnTo>
                  <a:lnTo>
                    <a:pt x="676275" y="216217"/>
                  </a:lnTo>
                  <a:lnTo>
                    <a:pt x="676275" y="32861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8901112" y="324897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9" name="Freeform 39"/>
            <p:cNvSpPr/>
            <p:nvPr/>
          </p:nvSpPr>
          <p:spPr>
            <a:xfrm>
              <a:off x="8953500" y="2920365"/>
              <a:ext cx="676275" cy="328612"/>
            </a:xfrm>
            <a:custGeom>
              <a:avLst/>
              <a:gdLst/>
              <a:ahLst/>
              <a:cxnLst/>
              <a:rect l="l" t="t" r="r" b="b"/>
              <a:pathLst>
                <a:path w="676275" h="328612">
                  <a:moveTo>
                    <a:pt x="676275" y="0"/>
                  </a:moveTo>
                  <a:lnTo>
                    <a:pt x="676275" y="216217"/>
                  </a:lnTo>
                  <a:lnTo>
                    <a:pt x="0" y="216217"/>
                  </a:lnTo>
                  <a:lnTo>
                    <a:pt x="0" y="32861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8901112" y="324897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1" name="Freeform 41"/>
            <p:cNvSpPr/>
            <p:nvPr/>
          </p:nvSpPr>
          <p:spPr>
            <a:xfrm>
              <a:off x="8953500" y="2920365"/>
              <a:ext cx="2028825" cy="328612"/>
            </a:xfrm>
            <a:custGeom>
              <a:avLst/>
              <a:gdLst/>
              <a:ahLst/>
              <a:cxnLst/>
              <a:rect l="l" t="t" r="r" b="b"/>
              <a:pathLst>
                <a:path w="2028825" h="328612">
                  <a:moveTo>
                    <a:pt x="2028825" y="0"/>
                  </a:moveTo>
                  <a:lnTo>
                    <a:pt x="2028825" y="216217"/>
                  </a:lnTo>
                  <a:lnTo>
                    <a:pt x="0" y="216217"/>
                  </a:lnTo>
                  <a:lnTo>
                    <a:pt x="0" y="32861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8901112" y="324897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3" name="Freeform 43"/>
            <p:cNvSpPr/>
            <p:nvPr/>
          </p:nvSpPr>
          <p:spPr>
            <a:xfrm>
              <a:off x="8953500" y="3726180"/>
              <a:ext cx="9525" cy="329565"/>
            </a:xfrm>
            <a:custGeom>
              <a:avLst/>
              <a:gdLst/>
              <a:ahLst/>
              <a:cxnLst/>
              <a:rect l="l" t="t" r="r" b="b"/>
              <a:pathLst>
                <a:path w="9525" h="329565">
                  <a:moveTo>
                    <a:pt x="0" y="0"/>
                  </a:moveTo>
                  <a:lnTo>
                    <a:pt x="0" y="32956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8901112" y="405574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5" name="Freeform 45"/>
            <p:cNvSpPr/>
            <p:nvPr/>
          </p:nvSpPr>
          <p:spPr>
            <a:xfrm>
              <a:off x="6924675" y="4532948"/>
              <a:ext cx="2028825" cy="329565"/>
            </a:xfrm>
            <a:custGeom>
              <a:avLst/>
              <a:gdLst/>
              <a:ahLst/>
              <a:cxnLst/>
              <a:rect l="l" t="t" r="r" b="b"/>
              <a:pathLst>
                <a:path w="2028825" h="329565">
                  <a:moveTo>
                    <a:pt x="2028825" y="0"/>
                  </a:moveTo>
                  <a:lnTo>
                    <a:pt x="2028825" y="217170"/>
                  </a:lnTo>
                  <a:lnTo>
                    <a:pt x="0" y="217170"/>
                  </a:lnTo>
                  <a:lnTo>
                    <a:pt x="0" y="32956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6" name="Freeform 46"/>
            <p:cNvSpPr/>
            <p:nvPr/>
          </p:nvSpPr>
          <p:spPr>
            <a:xfrm>
              <a:off x="6872288" y="486251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7" name="Freeform 47"/>
            <p:cNvSpPr/>
            <p:nvPr/>
          </p:nvSpPr>
          <p:spPr>
            <a:xfrm>
              <a:off x="8277225" y="4532948"/>
              <a:ext cx="676275" cy="329565"/>
            </a:xfrm>
            <a:custGeom>
              <a:avLst/>
              <a:gdLst/>
              <a:ahLst/>
              <a:cxnLst/>
              <a:rect l="l" t="t" r="r" b="b"/>
              <a:pathLst>
                <a:path w="676275" h="329565">
                  <a:moveTo>
                    <a:pt x="676275" y="0"/>
                  </a:moveTo>
                  <a:lnTo>
                    <a:pt x="676275" y="217170"/>
                  </a:lnTo>
                  <a:lnTo>
                    <a:pt x="0" y="217170"/>
                  </a:lnTo>
                  <a:lnTo>
                    <a:pt x="0" y="32956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8" name="Freeform 48"/>
            <p:cNvSpPr/>
            <p:nvPr/>
          </p:nvSpPr>
          <p:spPr>
            <a:xfrm>
              <a:off x="8224838" y="486251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9" name="Freeform 49"/>
            <p:cNvSpPr/>
            <p:nvPr/>
          </p:nvSpPr>
          <p:spPr>
            <a:xfrm>
              <a:off x="8953500" y="4532948"/>
              <a:ext cx="676275" cy="329565"/>
            </a:xfrm>
            <a:custGeom>
              <a:avLst/>
              <a:gdLst/>
              <a:ahLst/>
              <a:cxnLst/>
              <a:rect l="l" t="t" r="r" b="b"/>
              <a:pathLst>
                <a:path w="676275" h="329565">
                  <a:moveTo>
                    <a:pt x="0" y="0"/>
                  </a:moveTo>
                  <a:lnTo>
                    <a:pt x="0" y="217170"/>
                  </a:lnTo>
                  <a:lnTo>
                    <a:pt x="676275" y="217170"/>
                  </a:lnTo>
                  <a:lnTo>
                    <a:pt x="676275" y="32956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50" name="Freeform 50"/>
            <p:cNvSpPr/>
            <p:nvPr/>
          </p:nvSpPr>
          <p:spPr>
            <a:xfrm>
              <a:off x="9577388" y="486251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51" name="Freeform 51"/>
            <p:cNvSpPr/>
            <p:nvPr/>
          </p:nvSpPr>
          <p:spPr>
            <a:xfrm>
              <a:off x="8953500" y="4532948"/>
              <a:ext cx="2028825" cy="329565"/>
            </a:xfrm>
            <a:custGeom>
              <a:avLst/>
              <a:gdLst/>
              <a:ahLst/>
              <a:cxnLst/>
              <a:rect l="l" t="t" r="r" b="b"/>
              <a:pathLst>
                <a:path w="2028825" h="329565">
                  <a:moveTo>
                    <a:pt x="0" y="0"/>
                  </a:moveTo>
                  <a:lnTo>
                    <a:pt x="0" y="217170"/>
                  </a:lnTo>
                  <a:lnTo>
                    <a:pt x="2028825" y="217170"/>
                  </a:lnTo>
                  <a:lnTo>
                    <a:pt x="2028825" y="32956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52" name="Freeform 52"/>
            <p:cNvSpPr/>
            <p:nvPr/>
          </p:nvSpPr>
          <p:spPr>
            <a:xfrm>
              <a:off x="10929938" y="486251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53" name="Freeform 53"/>
            <p:cNvSpPr/>
            <p:nvPr/>
          </p:nvSpPr>
          <p:spPr>
            <a:xfrm>
              <a:off x="6924675" y="5339715"/>
              <a:ext cx="2028825" cy="328612"/>
            </a:xfrm>
            <a:custGeom>
              <a:avLst/>
              <a:gdLst/>
              <a:ahLst/>
              <a:cxnLst/>
              <a:rect l="l" t="t" r="r" b="b"/>
              <a:pathLst>
                <a:path w="2028825" h="328612">
                  <a:moveTo>
                    <a:pt x="0" y="0"/>
                  </a:moveTo>
                  <a:lnTo>
                    <a:pt x="0" y="216217"/>
                  </a:lnTo>
                  <a:lnTo>
                    <a:pt x="2028825" y="216217"/>
                  </a:lnTo>
                  <a:lnTo>
                    <a:pt x="2028825" y="32861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54" name="Freeform 54"/>
            <p:cNvSpPr/>
            <p:nvPr/>
          </p:nvSpPr>
          <p:spPr>
            <a:xfrm>
              <a:off x="8901112" y="566832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55" name="Freeform 55"/>
            <p:cNvSpPr/>
            <p:nvPr/>
          </p:nvSpPr>
          <p:spPr>
            <a:xfrm>
              <a:off x="8277225" y="5339715"/>
              <a:ext cx="676275" cy="328612"/>
            </a:xfrm>
            <a:custGeom>
              <a:avLst/>
              <a:gdLst/>
              <a:ahLst/>
              <a:cxnLst/>
              <a:rect l="l" t="t" r="r" b="b"/>
              <a:pathLst>
                <a:path w="676275" h="328612">
                  <a:moveTo>
                    <a:pt x="0" y="0"/>
                  </a:moveTo>
                  <a:lnTo>
                    <a:pt x="0" y="216217"/>
                  </a:lnTo>
                  <a:lnTo>
                    <a:pt x="676275" y="216217"/>
                  </a:lnTo>
                  <a:lnTo>
                    <a:pt x="676275" y="32861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56" name="Freeform 56"/>
            <p:cNvSpPr/>
            <p:nvPr/>
          </p:nvSpPr>
          <p:spPr>
            <a:xfrm>
              <a:off x="8901112" y="566832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57" name="Freeform 57"/>
            <p:cNvSpPr/>
            <p:nvPr/>
          </p:nvSpPr>
          <p:spPr>
            <a:xfrm>
              <a:off x="8953500" y="5339715"/>
              <a:ext cx="676275" cy="328612"/>
            </a:xfrm>
            <a:custGeom>
              <a:avLst/>
              <a:gdLst/>
              <a:ahLst/>
              <a:cxnLst/>
              <a:rect l="l" t="t" r="r" b="b"/>
              <a:pathLst>
                <a:path w="676275" h="328612">
                  <a:moveTo>
                    <a:pt x="676275" y="0"/>
                  </a:moveTo>
                  <a:lnTo>
                    <a:pt x="676275" y="216217"/>
                  </a:lnTo>
                  <a:lnTo>
                    <a:pt x="0" y="216217"/>
                  </a:lnTo>
                  <a:lnTo>
                    <a:pt x="0" y="32861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58" name="Freeform 58"/>
            <p:cNvSpPr/>
            <p:nvPr/>
          </p:nvSpPr>
          <p:spPr>
            <a:xfrm>
              <a:off x="8901112" y="566832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59" name="Freeform 59"/>
            <p:cNvSpPr/>
            <p:nvPr/>
          </p:nvSpPr>
          <p:spPr>
            <a:xfrm>
              <a:off x="8953500" y="5339715"/>
              <a:ext cx="2028825" cy="328612"/>
            </a:xfrm>
            <a:custGeom>
              <a:avLst/>
              <a:gdLst/>
              <a:ahLst/>
              <a:cxnLst/>
              <a:rect l="l" t="t" r="r" b="b"/>
              <a:pathLst>
                <a:path w="2028825" h="328612">
                  <a:moveTo>
                    <a:pt x="2028825" y="0"/>
                  </a:moveTo>
                  <a:lnTo>
                    <a:pt x="2028825" y="216217"/>
                  </a:lnTo>
                  <a:lnTo>
                    <a:pt x="0" y="216217"/>
                  </a:lnTo>
                  <a:lnTo>
                    <a:pt x="0" y="32861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60" name="Freeform 60"/>
            <p:cNvSpPr/>
            <p:nvPr/>
          </p:nvSpPr>
          <p:spPr>
            <a:xfrm>
              <a:off x="8901112" y="566832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6627495" y="1741170"/>
              <a:ext cx="4652962" cy="372428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6381750" y="2547938"/>
              <a:ext cx="1085850" cy="372428"/>
            </a:xfrm>
            <a:prstGeom prst="roundRect">
              <a:avLst>
                <a:gd name="adj" fmla="val 25575"/>
              </a:avLst>
            </a:prstGeom>
            <a:solidFill>
              <a:srgbClr val="E7EDF3"/>
            </a:solidFill>
            <a:ln w="19050">
              <a:solidFill>
                <a:srgbClr val="334E68"/>
              </a:solidFill>
            </a:ln>
          </p:spPr>
        </p:sp>
        <p:sp>
          <p:nvSpPr>
            <p:cNvPr id="63" name="Rectangle 63"/>
            <p:cNvSpPr/>
            <p:nvPr/>
          </p:nvSpPr>
          <p:spPr>
            <a:xfrm>
              <a:off x="7734300" y="2547938"/>
              <a:ext cx="1085850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64" name="Rectangle 64"/>
            <p:cNvSpPr/>
            <p:nvPr/>
          </p:nvSpPr>
          <p:spPr>
            <a:xfrm>
              <a:off x="9086850" y="2547938"/>
              <a:ext cx="1085850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65" name="Rectangle 65"/>
            <p:cNvSpPr/>
            <p:nvPr/>
          </p:nvSpPr>
          <p:spPr>
            <a:xfrm>
              <a:off x="10439400" y="2547938"/>
              <a:ext cx="1085850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66" name="Rectangle 66"/>
            <p:cNvSpPr/>
            <p:nvPr/>
          </p:nvSpPr>
          <p:spPr>
            <a:xfrm>
              <a:off x="6627495" y="3353752"/>
              <a:ext cx="4652962" cy="372428"/>
            </a:xfrm>
            <a:prstGeom prst="roundRect">
              <a:avLst>
                <a:gd name="adj" fmla="val 25575"/>
              </a:avLst>
            </a:prstGeom>
            <a:solidFill>
              <a:srgbClr val="F4F6FB"/>
            </a:solidFill>
            <a:ln w="13335">
              <a:solidFill>
                <a:srgbClr val="D9DFEA"/>
              </a:solidFill>
            </a:ln>
          </p:spPr>
        </p:sp>
        <p:sp>
          <p:nvSpPr>
            <p:cNvPr id="67" name="Rectangle 67"/>
            <p:cNvSpPr/>
            <p:nvPr/>
          </p:nvSpPr>
          <p:spPr>
            <a:xfrm>
              <a:off x="6627495" y="4160520"/>
              <a:ext cx="4652962" cy="372428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6381750" y="4967288"/>
              <a:ext cx="1085850" cy="372428"/>
            </a:xfrm>
            <a:prstGeom prst="roundRect">
              <a:avLst>
                <a:gd name="adj" fmla="val 25575"/>
              </a:avLst>
            </a:prstGeom>
            <a:solidFill>
              <a:srgbClr val="E7EDF3"/>
            </a:solidFill>
            <a:ln w="19050">
              <a:solidFill>
                <a:srgbClr val="334E68"/>
              </a:solidFill>
            </a:ln>
          </p:spPr>
        </p:sp>
        <p:sp>
          <p:nvSpPr>
            <p:cNvPr id="69" name="Rectangle 69"/>
            <p:cNvSpPr/>
            <p:nvPr/>
          </p:nvSpPr>
          <p:spPr>
            <a:xfrm>
              <a:off x="7734300" y="4967288"/>
              <a:ext cx="1085850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70" name="Rectangle 70"/>
            <p:cNvSpPr/>
            <p:nvPr/>
          </p:nvSpPr>
          <p:spPr>
            <a:xfrm>
              <a:off x="9086850" y="4967288"/>
              <a:ext cx="1085850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71" name="Rectangle 71"/>
            <p:cNvSpPr/>
            <p:nvPr/>
          </p:nvSpPr>
          <p:spPr>
            <a:xfrm>
              <a:off x="10439400" y="4967288"/>
              <a:ext cx="1085850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72" name="Rectangle 72"/>
            <p:cNvSpPr/>
            <p:nvPr/>
          </p:nvSpPr>
          <p:spPr>
            <a:xfrm>
              <a:off x="6627495" y="5773102"/>
              <a:ext cx="4652962" cy="372428"/>
            </a:xfrm>
            <a:prstGeom prst="roundRect">
              <a:avLst>
                <a:gd name="adj" fmla="val 25575"/>
              </a:avLst>
            </a:prstGeom>
            <a:solidFill>
              <a:srgbClr val="F4F6FB"/>
            </a:solidFill>
            <a:ln w="13335">
              <a:solidFill>
                <a:srgbClr val="D9DFEA"/>
              </a:solidFill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8736140" y="1853565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主线程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6837197" y="2660332"/>
              <a:ext cx="1749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T0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8189747" y="2660332"/>
              <a:ext cx="1749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T1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9542297" y="2660332"/>
              <a:ext cx="1749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T2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0894847" y="2660332"/>
              <a:ext cx="1749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T3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8531181" y="3467100"/>
              <a:ext cx="8446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隐式 barrier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8736140" y="4272915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主线程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6837197" y="5079683"/>
              <a:ext cx="1749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T0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8189747" y="5079683"/>
              <a:ext cx="1749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T1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9542297" y="5079683"/>
              <a:ext cx="1749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T2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10894847" y="5079683"/>
              <a:ext cx="1749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T3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8531181" y="5886450"/>
              <a:ext cx="8446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隐式 barrier</a:t>
              </a:r>
            </a:p>
          </p:txBody>
        </p:sp>
      </p:grpSp>
      <p:grpSp>
        <p:nvGrpSpPr>
          <p:cNvPr id="8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6" name="TextBox 86"/>
            <p:cNvSpPr txBox="1"/>
            <p:nvPr/>
          </p:nvSpPr>
          <p:spPr>
            <a:xfrm>
              <a:off x="528447" y="6581299"/>
              <a:ext cx="31504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第2章 线程级并行与OpenMP编程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0855565" cy="909257"/>
            <a:chOff x="520446" y="342900"/>
            <a:chExt cx="1085556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第2章 线程级并行 · 编译制导与并行域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085556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if 子句按条件决定是否并行；shared、private、default 定变量属性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1" name="c1-code-1"/>
          <p:cNvGrpSpPr/>
          <p:nvPr/>
        </p:nvGrpSpPr>
        <p:grpSpPr>
          <a:xfrm>
            <a:off x="533400" y="1524000"/>
            <a:ext cx="5410200" cy="1912620"/>
            <a:chOff x="533400" y="1524000"/>
            <a:chExt cx="5410200" cy="191262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912620"/>
            </a:xfrm>
            <a:prstGeom prst="roundRect">
              <a:avLst>
                <a:gd name="adj" fmla="val 498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1899285"/>
              <a:ext cx="5372100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1935956"/>
              <a:ext cx="4048633" cy="14241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#pragma omp parallel if (n &gt; thr) shared(n) private(i, tid)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#pragma omp for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 = 0; i &lt; n; ++i)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tid = omp_get_thread_num();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printf(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"%d %d\n"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, tid, i);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3627120"/>
            <a:ext cx="5410200" cy="2013585"/>
            <a:chOff x="533400" y="3627120"/>
            <a:chExt cx="5410200" cy="2013585"/>
          </a:xfrm>
        </p:grpSpPr>
        <p:sp>
          <p:nvSpPr>
            <p:cNvPr id="12" name="Rectangle 12"/>
            <p:cNvSpPr/>
            <p:nvPr/>
          </p:nvSpPr>
          <p:spPr>
            <a:xfrm>
              <a:off x="533400" y="3627120"/>
              <a:ext cx="5410200" cy="2013585"/>
            </a:xfrm>
            <a:prstGeom prst="roundRect">
              <a:avLst>
                <a:gd name="adj" fmla="val 66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542925" y="3760470"/>
              <a:ext cx="47625" cy="174688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81050" y="3836670"/>
              <a:ext cx="66579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65953" y="3872389"/>
              <a:ext cx="4950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if 子句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73430" y="4213860"/>
              <a:ext cx="47110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&gt; thr 时才派生一组线程并行执行；否则只由主线程一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个线程串行执行这个结构块。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74573" y="4831556"/>
              <a:ext cx="458901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数据量小时并行的开销（创建线程、同步）可能超过收益，用 if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把小规模情况挡在外面。</a:t>
              </a:r>
            </a:p>
          </p:txBody>
        </p:sp>
      </p:grpSp>
      <p:grpSp>
        <p:nvGrpSpPr>
          <p:cNvPr id="27" name="c2-kv-1"/>
          <p:cNvGrpSpPr/>
          <p:nvPr/>
        </p:nvGrpSpPr>
        <p:grpSpPr>
          <a:xfrm>
            <a:off x="6240780" y="1548765"/>
            <a:ext cx="5417820" cy="1737360"/>
            <a:chOff x="6240780" y="1548765"/>
            <a:chExt cx="5417820" cy="1737360"/>
          </a:xfrm>
        </p:grpSpPr>
        <p:sp>
          <p:nvSpPr>
            <p:cNvPr id="19" name="TextBox 19"/>
            <p:cNvSpPr txBox="1"/>
            <p:nvPr/>
          </p:nvSpPr>
          <p:spPr>
            <a:xfrm>
              <a:off x="6240780" y="1548765"/>
              <a:ext cx="13086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shared(list)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188642" y="154876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列出的变量被所有线程共享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248400" y="186880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240780" y="1988820"/>
              <a:ext cx="13722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private(list)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188642" y="1988820"/>
              <a:ext cx="32537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每个线程一份，进出并行域时都是未定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义的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248400" y="259080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240780" y="2710815"/>
              <a:ext cx="1625441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en-US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default(shared |</a:t>
              </a:r>
              <a:br/>
              <a:r>
                <a:rPr lang="en-US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none)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188642" y="2710815"/>
              <a:ext cx="31013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规定未显式列出的变量的属性；none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要求每个用到的变量都显式声明</a:t>
              </a:r>
            </a:p>
          </p:txBody>
        </p:sp>
      </p:grpSp>
      <p:grpSp>
        <p:nvGrpSpPr>
          <p:cNvPr id="36" name="c2-card-2"/>
          <p:cNvGrpSpPr/>
          <p:nvPr/>
        </p:nvGrpSpPr>
        <p:grpSpPr>
          <a:xfrm>
            <a:off x="6248400" y="3417570"/>
            <a:ext cx="5410200" cy="2223135"/>
            <a:chOff x="6248400" y="3417570"/>
            <a:chExt cx="5410200" cy="2223135"/>
          </a:xfrm>
        </p:grpSpPr>
        <p:sp>
          <p:nvSpPr>
            <p:cNvPr id="28" name="Rectangle 28"/>
            <p:cNvSpPr/>
            <p:nvPr/>
          </p:nvSpPr>
          <p:spPr>
            <a:xfrm>
              <a:off x="6248400" y="3417570"/>
              <a:ext cx="5410200" cy="2223135"/>
            </a:xfrm>
            <a:prstGeom prst="roundRect">
              <a:avLst>
                <a:gd name="adj" fmla="val 599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6257925" y="3550920"/>
              <a:ext cx="47625" cy="195643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6496050" y="362712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586258" y="366283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6501765" y="406717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659880" y="4004310"/>
              <a:ext cx="448246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原课件写作 default(shared|private|none)。C/C++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 OpenMP 5.1 之前只能写 shared 或 none，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private 是 Fortran 的选项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6501765" y="497395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659880" y="4911090"/>
              <a:ext cx="37204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原课件标题“SHARED 和 PRIVATED 子句”中的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PRIVATED 应为 private</a:t>
              </a:r>
            </a:p>
          </p:txBody>
        </p:sp>
      </p:grpSp>
      <p:grpSp>
        <p:nvGrpSpPr>
          <p:cNvPr id="3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7" name="TextBox 37"/>
            <p:cNvSpPr txBox="1"/>
            <p:nvPr/>
          </p:nvSpPr>
          <p:spPr>
            <a:xfrm>
              <a:off x="528447" y="6581299"/>
              <a:ext cx="31504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第2章 线程级并行与OpenMP编程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0277137" cy="909257"/>
            <a:chOff x="520446" y="342900"/>
            <a:chExt cx="1027713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第2章 线程级并行 · 编译制导与并行域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027713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firstprivate 把初值带进来，lastprivate 把最后一次的值带出去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6" name="c1-table-1"/>
          <p:cNvGrpSpPr/>
          <p:nvPr/>
        </p:nvGrpSpPr>
        <p:grpSpPr>
          <a:xfrm>
            <a:off x="533400" y="1524000"/>
            <a:ext cx="5193982" cy="2787015"/>
            <a:chOff x="533400" y="1524000"/>
            <a:chExt cx="5193982" cy="278701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43053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44905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子句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483930" y="1655445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进入并行域时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301300" y="1655445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退出并行域时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8746" y="2191702"/>
              <a:ext cx="6228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private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197037" y="2191702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未定义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962972" y="2085022"/>
              <a:ext cx="15361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未定义，域外变量不受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影响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59270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597468"/>
              <a:ext cx="5193982" cy="6438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8746" y="2835592"/>
              <a:ext cx="10468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firstprivate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197037" y="2728912"/>
              <a:ext cx="13837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用域外同名变量的值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初始化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962972" y="2835592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未定义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23659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8746" y="3692842"/>
              <a:ext cx="9535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lastprivate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197037" y="3692842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未定义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962972" y="3372802"/>
              <a:ext cx="1475232" cy="8747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语法上最后一次迭代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（或最后一个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section）的值赋给域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外变量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1524000"/>
              <a:ext cx="5193982" cy="278701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2086928" y="1524000"/>
              <a:ext cx="9525" cy="27870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3852862" y="1524000"/>
              <a:ext cx="9525" cy="27870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3" name="c1-callout-2"/>
          <p:cNvGrpSpPr/>
          <p:nvPr/>
        </p:nvGrpSpPr>
        <p:grpSpPr>
          <a:xfrm>
            <a:off x="533400" y="4496752"/>
            <a:ext cx="5193982" cy="756285"/>
            <a:chOff x="533400" y="4496752"/>
            <a:chExt cx="5193982" cy="756285"/>
          </a:xfrm>
        </p:grpSpPr>
        <p:sp>
          <p:nvSpPr>
            <p:cNvPr id="27" name="Rectangle 27"/>
            <p:cNvSpPr/>
            <p:nvPr/>
          </p:nvSpPr>
          <p:spPr>
            <a:xfrm>
              <a:off x="533400" y="4496752"/>
              <a:ext cx="5193982" cy="756285"/>
            </a:xfrm>
            <a:prstGeom prst="roundRect">
              <a:avLst>
                <a:gd name="adj" fmla="val 1511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738188" y="4774883"/>
              <a:ext cx="200026" cy="200025"/>
              <a:chOff x="738188" y="4774883"/>
              <a:chExt cx="200026" cy="200025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738188" y="477488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777926" y="481933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812642" y="493045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1040511" y="4643914"/>
              <a:ext cx="416229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两个子句可以同时用在一个变量上，这时值既带得进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来也带得出去。</a:t>
              </a:r>
            </a:p>
          </p:txBody>
        </p:sp>
      </p:grpSp>
      <p:grpSp>
        <p:nvGrpSpPr>
          <p:cNvPr id="40" name="c1-callout-3"/>
          <p:cNvGrpSpPr/>
          <p:nvPr/>
        </p:nvGrpSpPr>
        <p:grpSpPr>
          <a:xfrm>
            <a:off x="533400" y="5437822"/>
            <a:ext cx="5193982" cy="756285"/>
            <a:chOff x="533400" y="5437822"/>
            <a:chExt cx="5193982" cy="756285"/>
          </a:xfrm>
        </p:grpSpPr>
        <p:sp>
          <p:nvSpPr>
            <p:cNvPr id="34" name="Rectangle 34"/>
            <p:cNvSpPr/>
            <p:nvPr/>
          </p:nvSpPr>
          <p:spPr>
            <a:xfrm>
              <a:off x="533400" y="5437822"/>
              <a:ext cx="5193982" cy="756285"/>
            </a:xfrm>
            <a:prstGeom prst="roundRect">
              <a:avLst>
                <a:gd name="adj" fmla="val 15113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726129" y="5712261"/>
              <a:ext cx="224134" cy="192560"/>
              <a:chOff x="726129" y="5712261"/>
              <a:chExt cx="224134" cy="192560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838200" y="578262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726129" y="571226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838200" y="586041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1040511" y="5585936"/>
              <a:ext cx="416229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语法上的最后一次指循环的最后一次迭代，不是最后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完成的那个线程。</a:t>
              </a:r>
            </a:p>
          </p:txBody>
        </p:sp>
      </p:grpSp>
      <p:grpSp>
        <p:nvGrpSpPr>
          <p:cNvPr id="44" name="c2-code-1"/>
          <p:cNvGrpSpPr/>
          <p:nvPr/>
        </p:nvGrpSpPr>
        <p:grpSpPr>
          <a:xfrm>
            <a:off x="6032182" y="1524000"/>
            <a:ext cx="5626418" cy="1530668"/>
            <a:chOff x="6032182" y="1524000"/>
            <a:chExt cx="5626418" cy="1530668"/>
          </a:xfrm>
        </p:grpSpPr>
        <p:sp>
          <p:nvSpPr>
            <p:cNvPr id="41" name="Rectangle 41"/>
            <p:cNvSpPr/>
            <p:nvPr/>
          </p:nvSpPr>
          <p:spPr>
            <a:xfrm>
              <a:off x="6032182" y="1524000"/>
              <a:ext cx="5626418" cy="1530668"/>
            </a:xfrm>
            <a:prstGeom prst="roundRect">
              <a:avLst>
                <a:gd name="adj" fmla="val 622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160580" y="1675924"/>
              <a:ext cx="143274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例：8 次迭代、4 个线程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160732" y="1936337"/>
              <a:ext cx="3489528" cy="103731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42"/>
                </a:lnSpc>
              </a:pPr>
              <a:r>
                <a:rPr lang="en-US" sz="94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x = 10, k;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#pragma omp parallel for schedule(static) \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firstprivate(x) lastprivate(x) num_threads(4)</a:t>
              </a:r>
              <a:br/>
              <a:r>
                <a:rPr lang="en-US" sz="94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(k = 0; k &lt; 8; k++)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x += k;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printf(</a:t>
              </a:r>
              <a:r>
                <a:rPr lang="en-US" sz="94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"x = %d\n"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, x);      </a:t>
              </a:r>
              <a:r>
                <a:rPr lang="en-US" sz="94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x = 23</a:t>
              </a:r>
            </a:p>
          </p:txBody>
        </p:sp>
      </p:grpSp>
      <p:grpSp>
        <p:nvGrpSpPr>
          <p:cNvPr id="70" name="c2-table-2"/>
          <p:cNvGrpSpPr/>
          <p:nvPr/>
        </p:nvGrpSpPr>
        <p:grpSpPr>
          <a:xfrm>
            <a:off x="6026467" y="3239452"/>
            <a:ext cx="5632133" cy="2446497"/>
            <a:chOff x="6026467" y="3239452"/>
            <a:chExt cx="5632133" cy="2446497"/>
          </a:xfrm>
        </p:grpSpPr>
        <p:sp>
          <p:nvSpPr>
            <p:cNvPr id="45" name="Rectangle 45"/>
            <p:cNvSpPr/>
            <p:nvPr/>
          </p:nvSpPr>
          <p:spPr>
            <a:xfrm>
              <a:off x="6032182" y="3239452"/>
              <a:ext cx="5626418" cy="43053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637972" y="337089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线程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175799" y="3370898"/>
              <a:ext cx="64100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分到的 k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0029067" y="3370898"/>
              <a:ext cx="10149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私有 x 的变化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700944" y="3801427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T0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332699" y="3801427"/>
              <a:ext cx="32720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0, 1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518904" y="3801427"/>
              <a:ext cx="9168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 → 10 → 11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6032182" y="409479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6032182" y="4099560"/>
              <a:ext cx="5626418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700944" y="4231005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T1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332699" y="4231005"/>
              <a:ext cx="32720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2, 3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518904" y="4231005"/>
              <a:ext cx="9168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 → 12 → 15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6032182" y="452532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700944" y="4661535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T2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332699" y="4661535"/>
              <a:ext cx="32720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4, 5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518904" y="4661535"/>
              <a:ext cx="9168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 → 14 → 19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6032182" y="495585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6032182" y="4960620"/>
              <a:ext cx="5626418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700944" y="5091112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T3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332699" y="5091112"/>
              <a:ext cx="32720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6, 7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9518904" y="5091112"/>
              <a:ext cx="92572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10 → 16 → </a:t>
              </a:r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6032182" y="3239452"/>
              <a:ext cx="5626418" cy="215074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7" name="Rectangle 67"/>
            <p:cNvSpPr/>
            <p:nvPr/>
          </p:nvSpPr>
          <p:spPr>
            <a:xfrm>
              <a:off x="7574280" y="3239452"/>
              <a:ext cx="9525" cy="21507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9408795" y="3239452"/>
              <a:ext cx="9525" cy="21507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6026467" y="5465921"/>
              <a:ext cx="47527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每个线程都从 10 开始；k = 7 在 T3 上，所以带出 23（本机实测一致）</a:t>
              </a:r>
            </a:p>
          </p:txBody>
        </p:sp>
      </p:grpSp>
      <p:grpSp>
        <p:nvGrpSpPr>
          <p:cNvPr id="7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1" name="TextBox 71"/>
            <p:cNvSpPr txBox="1"/>
            <p:nvPr/>
          </p:nvSpPr>
          <p:spPr>
            <a:xfrm>
              <a:off x="528447" y="6581299"/>
              <a:ext cx="31504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第2章 线程级并行与OpenMP编程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242339" cy="909257"/>
            <a:chOff x="520446" y="342900"/>
            <a:chExt cx="824233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第2章 线程级并行 · 编译制导与并行域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24233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reduction：每个线程先算私有部分和，结束时再合并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1" name="c1-code-1"/>
          <p:cNvGrpSpPr/>
          <p:nvPr/>
        </p:nvGrpSpPr>
        <p:grpSpPr>
          <a:xfrm>
            <a:off x="533400" y="1524000"/>
            <a:ext cx="5626418" cy="1746885"/>
            <a:chOff x="533400" y="1524000"/>
            <a:chExt cx="5626418" cy="174688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1746885"/>
            </a:xfrm>
            <a:prstGeom prst="roundRect">
              <a:avLst>
                <a:gd name="adj" fmla="val 545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2057400"/>
              <a:ext cx="5588318" cy="15430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988" y="1935575"/>
              <a:ext cx="3493643" cy="1247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15"/>
                </a:lnSpc>
              </a:pP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sum = 0;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#pragma omp parallel shared(n) private(i) reduction(+:sum)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{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#pragma omp for          // 将循环分给多个线程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6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 = 0; i &lt; n; ++i)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sum = sum + i;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printf(</a:t>
              </a:r>
              <a:r>
                <a:rPr lang="en-US" sz="86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"%d\n"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, sum);</a:t>
              </a:r>
            </a:p>
          </p:txBody>
        </p:sp>
      </p:grpSp>
      <p:grpSp>
        <p:nvGrpSpPr>
          <p:cNvPr id="25" name="c1-steps-2"/>
          <p:cNvGrpSpPr/>
          <p:nvPr/>
        </p:nvGrpSpPr>
        <p:grpSpPr>
          <a:xfrm>
            <a:off x="533400" y="3450908"/>
            <a:ext cx="4367566" cy="1685449"/>
            <a:chOff x="533400" y="3450908"/>
            <a:chExt cx="4367566" cy="1685449"/>
          </a:xfrm>
        </p:grpSpPr>
        <p:sp>
          <p:nvSpPr>
            <p:cNvPr id="12" name="Rectangle 12"/>
            <p:cNvSpPr/>
            <p:nvPr/>
          </p:nvSpPr>
          <p:spPr>
            <a:xfrm>
              <a:off x="666750" y="3593782"/>
              <a:ext cx="19050" cy="11658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533400" y="3450908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27024" y="35247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533400" y="4033838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27024" y="41076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533400" y="4616768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27024" y="469058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5642" y="3482340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建副本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6785" y="3750469"/>
              <a:ext cx="39541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每个线程得到 sum 的私有副本，按运算符初始化（+ 为 0）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5642" y="406527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各自累加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6785" y="4333399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每个线程只加自己分到的迭代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5642" y="4648200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合并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6785" y="4916329"/>
              <a:ext cx="32681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并行域结束时把所有副本和原来的 sum 按 + 合并</a:t>
              </a:r>
            </a:p>
          </p:txBody>
        </p:sp>
      </p:grpSp>
      <p:grpSp>
        <p:nvGrpSpPr>
          <p:cNvPr id="29" name="c1-code-3"/>
          <p:cNvGrpSpPr/>
          <p:nvPr/>
        </p:nvGrpSpPr>
        <p:grpSpPr>
          <a:xfrm>
            <a:off x="533400" y="5299710"/>
            <a:ext cx="5626418" cy="858202"/>
            <a:chOff x="533400" y="5299710"/>
            <a:chExt cx="5626418" cy="858202"/>
          </a:xfrm>
        </p:grpSpPr>
        <p:sp>
          <p:nvSpPr>
            <p:cNvPr id="26" name="Rectangle 26"/>
            <p:cNvSpPr/>
            <p:nvPr/>
          </p:nvSpPr>
          <p:spPr>
            <a:xfrm>
              <a:off x="533400" y="5299710"/>
              <a:ext cx="5626418" cy="858202"/>
            </a:xfrm>
            <a:prstGeom prst="roundRect">
              <a:avLst>
                <a:gd name="adj" fmla="val 11099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61797" y="5451634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常见的合并写法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61797" y="5712619"/>
              <a:ext cx="2816479" cy="3669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#pragma omp parallel for reduction(+:sum)</a:t>
              </a:r>
              <a:br/>
              <a:r>
                <a:rPr lang="en-US" sz="98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 = 0; i &lt; n; ++i) sum += i;</a:t>
              </a:r>
            </a:p>
          </p:txBody>
        </p:sp>
      </p:grpSp>
      <p:grpSp>
        <p:nvGrpSpPr>
          <p:cNvPr id="59" name="c2-table-1"/>
          <p:cNvGrpSpPr/>
          <p:nvPr/>
        </p:nvGrpSpPr>
        <p:grpSpPr>
          <a:xfrm>
            <a:off x="6459665" y="1524000"/>
            <a:ext cx="5198935" cy="2663856"/>
            <a:chOff x="6459665" y="1524000"/>
            <a:chExt cx="5198935" cy="2663856"/>
          </a:xfrm>
        </p:grpSpPr>
        <p:sp>
          <p:nvSpPr>
            <p:cNvPr id="30" name="Rectangle 30"/>
            <p:cNvSpPr/>
            <p:nvPr/>
          </p:nvSpPr>
          <p:spPr>
            <a:xfrm>
              <a:off x="6464618" y="1524000"/>
              <a:ext cx="5193982" cy="40005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943446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线程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621742" y="1645444"/>
              <a:ext cx="5587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分到的 i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535634" y="1645444"/>
              <a:ext cx="6533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私有 sum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002219" y="2045494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T0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642850" y="2045494"/>
              <a:ext cx="5165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0, 1, 2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815132" y="20454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464618" y="231933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464618" y="2324100"/>
              <a:ext cx="5193982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002219" y="2445544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T1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642850" y="2445544"/>
              <a:ext cx="5165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3, 4, 5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773669" y="2445544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464618" y="271938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002219" y="2845594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T2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748392" y="2845594"/>
              <a:ext cx="3054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6, 7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773669" y="2845594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464618" y="311943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6464618" y="3124200"/>
              <a:ext cx="5193982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002219" y="3245644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T3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748392" y="3245644"/>
              <a:ext cx="3054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8, 9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0773669" y="3245644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464618" y="351948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943446" y="36456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合并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216913" y="3645694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+ 3 + 12 + 13 + 17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769523" y="3645694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45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6464618" y="1524000"/>
              <a:ext cx="5193982" cy="24003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7731442" y="1524000"/>
              <a:ext cx="9525" cy="24003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10061258" y="1524000"/>
              <a:ext cx="9525" cy="24003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459665" y="3997166"/>
              <a:ext cx="309701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n = 10、4 个线程、static 划分（本机实测输出 45）</a:t>
              </a:r>
            </a:p>
          </p:txBody>
        </p:sp>
      </p:grpSp>
      <p:grpSp>
        <p:nvGrpSpPr>
          <p:cNvPr id="78" name="c2-table-2"/>
          <p:cNvGrpSpPr/>
          <p:nvPr/>
        </p:nvGrpSpPr>
        <p:grpSpPr>
          <a:xfrm>
            <a:off x="6464618" y="4319588"/>
            <a:ext cx="5193982" cy="2000250"/>
            <a:chOff x="6464618" y="4319588"/>
            <a:chExt cx="5193982" cy="2000250"/>
          </a:xfrm>
        </p:grpSpPr>
        <p:sp>
          <p:nvSpPr>
            <p:cNvPr id="60" name="Rectangle 60"/>
            <p:cNvSpPr/>
            <p:nvPr/>
          </p:nvSpPr>
          <p:spPr>
            <a:xfrm>
              <a:off x="6464618" y="4319588"/>
              <a:ext cx="5193982" cy="40005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7304303" y="444103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运算符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9675609" y="444103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私有副本初值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419646" y="4841081"/>
              <a:ext cx="2330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-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704898" y="484108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6464618" y="511492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6464618" y="5119688"/>
              <a:ext cx="5193982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7486929" y="524113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*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8704898" y="524113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6464618" y="551497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7166345" y="5641181"/>
              <a:ext cx="7396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max / min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8704898" y="5641181"/>
              <a:ext cx="16925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该类型的最小值 / 最大值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6464618" y="591502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3" name="Rectangle 73"/>
            <p:cNvSpPr/>
            <p:nvPr/>
          </p:nvSpPr>
          <p:spPr>
            <a:xfrm>
              <a:off x="6464618" y="5919788"/>
              <a:ext cx="5193982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7372152" y="6041231"/>
              <a:ext cx="3280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&amp;&amp; ||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8704898" y="6041231"/>
              <a:ext cx="350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/ 0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6464618" y="4319588"/>
              <a:ext cx="5193982" cy="20002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7" name="Rectangle 77"/>
            <p:cNvSpPr/>
            <p:nvPr/>
          </p:nvSpPr>
          <p:spPr>
            <a:xfrm>
              <a:off x="8602980" y="4319588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8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9" name="TextBox 79"/>
            <p:cNvSpPr txBox="1"/>
            <p:nvPr/>
          </p:nvSpPr>
          <p:spPr>
            <a:xfrm>
              <a:off x="528447" y="6581299"/>
              <a:ext cx="31504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第2章 线程级并行与OpenMP编程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048579" cy="909257"/>
            <a:chOff x="520446" y="342900"/>
            <a:chExt cx="704857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第2章 线程级并行 · 编译制导与并行域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04857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实验：两个线程对同一个 data 各加 10000 次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1" name="c1-code-1"/>
          <p:cNvGrpSpPr/>
          <p:nvPr/>
        </p:nvGrpSpPr>
        <p:grpSpPr>
          <a:xfrm>
            <a:off x="533400" y="1524000"/>
            <a:ext cx="6167438" cy="3319462"/>
            <a:chOff x="533400" y="1524000"/>
            <a:chExt cx="6167438" cy="331946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167438" cy="3319462"/>
            </a:xfrm>
            <a:prstGeom prst="roundRect">
              <a:avLst>
                <a:gd name="adj" fmla="val 2869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3306128"/>
              <a:ext cx="6129338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1935956"/>
              <a:ext cx="4596257" cy="28338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#include &lt;stdio.h&gt;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#include &lt;omp.h&gt;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#include &lt;unistd.h&gt;</a:t>
              </a:r>
              <a:br/>
              <a:r>
                <a:rPr lang="en-US" sz="98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data;</a:t>
              </a:r>
              <a:br/>
              <a:r>
                <a:rPr lang="en-US" sz="98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main()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#pragma omp parallel num_threads(2)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98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0; i &lt; 10000; i++)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data++;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usleep(10);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printf(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"data = %d tid = %d\n"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, data, omp_get_thread_num());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printf(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"In main function data = %d\n"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, data);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0;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7" name="c1-card-2"/>
          <p:cNvGrpSpPr/>
          <p:nvPr/>
        </p:nvGrpSpPr>
        <p:grpSpPr>
          <a:xfrm>
            <a:off x="533400" y="5013008"/>
            <a:ext cx="6167438" cy="1185862"/>
            <a:chOff x="533400" y="5013008"/>
            <a:chExt cx="6167438" cy="1185862"/>
          </a:xfrm>
        </p:grpSpPr>
        <p:sp>
          <p:nvSpPr>
            <p:cNvPr id="12" name="Rectangle 12"/>
            <p:cNvSpPr/>
            <p:nvPr/>
          </p:nvSpPr>
          <p:spPr>
            <a:xfrm>
              <a:off x="533400" y="5013008"/>
              <a:ext cx="6167438" cy="1185862"/>
            </a:xfrm>
            <a:prstGeom prst="roundRect">
              <a:avLst>
                <a:gd name="adj" fmla="val 1124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542925" y="5146358"/>
              <a:ext cx="47625" cy="91916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58190" y="519969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50862" y="523255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原因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51332" y="5544502"/>
              <a:ext cx="544868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data 是静态变量，默认 shared。data++ 是读、加、写三步，两个线程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交错时丢失更新，和 CASE1 一样。</a:t>
              </a:r>
            </a:p>
          </p:txBody>
        </p:sp>
      </p:grpSp>
      <p:grpSp>
        <p:nvGrpSpPr>
          <p:cNvPr id="40" name="c2-table-1"/>
          <p:cNvGrpSpPr/>
          <p:nvPr/>
        </p:nvGrpSpPr>
        <p:grpSpPr>
          <a:xfrm>
            <a:off x="7000684" y="1524000"/>
            <a:ext cx="4657916" cy="2663856"/>
            <a:chOff x="7000684" y="1524000"/>
            <a:chExt cx="4657916" cy="2663856"/>
          </a:xfrm>
        </p:grpSpPr>
        <p:sp>
          <p:nvSpPr>
            <p:cNvPr id="18" name="Rectangle 18"/>
            <p:cNvSpPr/>
            <p:nvPr/>
          </p:nvSpPr>
          <p:spPr>
            <a:xfrm>
              <a:off x="7005638" y="1524000"/>
              <a:ext cx="4652962" cy="40005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961668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运行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090734" y="1645444"/>
              <a:ext cx="7087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最终 data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870638" y="2045494"/>
              <a:ext cx="4950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 次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232085" y="2045494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19993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7005638" y="2319338"/>
              <a:ext cx="465296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7005638" y="2324100"/>
              <a:ext cx="4652962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870638" y="2445544"/>
              <a:ext cx="4950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2 次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232085" y="2445544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19590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7005638" y="2719388"/>
              <a:ext cx="465296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870638" y="2845594"/>
              <a:ext cx="4950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3 次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232085" y="2845594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19816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7005638" y="3119438"/>
              <a:ext cx="465296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7005638" y="3124200"/>
              <a:ext cx="4652962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870638" y="3245644"/>
              <a:ext cx="4950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4 次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232085" y="3245644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19912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7005638" y="3519488"/>
              <a:ext cx="465296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870638" y="3645694"/>
              <a:ext cx="4950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5 次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232085" y="3645694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18571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7005638" y="1524000"/>
              <a:ext cx="4652962" cy="24003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9226868" y="1524000"/>
              <a:ext cx="9525" cy="24003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000684" y="3997166"/>
              <a:ext cx="412620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本机 MSVC /openmp 实测；Windows 没有 usleep，用一小段空转代替</a:t>
              </a:r>
            </a:p>
          </p:txBody>
        </p:sp>
      </p:grpSp>
      <p:grpSp>
        <p:nvGrpSpPr>
          <p:cNvPr id="47" name="c2-callout-2"/>
          <p:cNvGrpSpPr/>
          <p:nvPr/>
        </p:nvGrpSpPr>
        <p:grpSpPr>
          <a:xfrm>
            <a:off x="7005638" y="4319588"/>
            <a:ext cx="4652962" cy="1879282"/>
            <a:chOff x="7005638" y="4319588"/>
            <a:chExt cx="4652962" cy="1879282"/>
          </a:xfrm>
        </p:grpSpPr>
        <p:sp>
          <p:nvSpPr>
            <p:cNvPr id="41" name="Rectangle 41"/>
            <p:cNvSpPr/>
            <p:nvPr/>
          </p:nvSpPr>
          <p:spPr>
            <a:xfrm>
              <a:off x="7005638" y="4319588"/>
              <a:ext cx="4652962" cy="1879282"/>
            </a:xfrm>
            <a:prstGeom prst="roundRect">
              <a:avLst>
                <a:gd name="adj" fmla="val 608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7210425" y="5159693"/>
              <a:ext cx="200026" cy="200026"/>
              <a:chOff x="7210425" y="5159693"/>
              <a:chExt cx="200026" cy="200026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7210425" y="515969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7310438" y="522636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7299325" y="525970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7513130" y="4916805"/>
              <a:ext cx="3794188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结果每次不同，都小于 20000。去掉空转、每个线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程加 100 万次时，本机结果只有 100 万到 120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万，丢得更多。</a:t>
              </a:r>
            </a:p>
          </p:txBody>
        </p:sp>
      </p:grpSp>
      <p:grpSp>
        <p:nvGrpSpPr>
          <p:cNvPr id="5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8" name="TextBox 48"/>
            <p:cNvSpPr txBox="1"/>
            <p:nvPr/>
          </p:nvSpPr>
          <p:spPr>
            <a:xfrm>
              <a:off x="528447" y="6581299"/>
              <a:ext cx="31504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第2章 线程级并行与OpenMP编程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007191" cy="909257"/>
            <a:chOff x="520446" y="342900"/>
            <a:chExt cx="800719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第2章 线程级并行 · 编译制导与并行域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00719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两种修正：按线程号分开写数组，或交给 reduction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1" name="c1-code-1"/>
          <p:cNvGrpSpPr/>
          <p:nvPr/>
        </p:nvGrpSpPr>
        <p:grpSpPr>
          <a:xfrm>
            <a:off x="533400" y="1524000"/>
            <a:ext cx="5410200" cy="2616518"/>
            <a:chOff x="533400" y="1524000"/>
            <a:chExt cx="5410200" cy="261651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616518"/>
            </a:xfrm>
            <a:prstGeom prst="roundRect">
              <a:avLst>
                <a:gd name="adj" fmla="val 364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20076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修正 1：每个线程只写 tarr[tid]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2954655"/>
              <a:ext cx="5372100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1935956"/>
              <a:ext cx="3569462" cy="2129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data;</a:t>
              </a:r>
              <a:br/>
              <a:r>
                <a:rPr lang="en-US" sz="98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tarr[2];</a:t>
              </a:r>
              <a:br/>
              <a:r>
                <a:rPr lang="en-US" sz="98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main()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#pragma omp parallel num_threads(2)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tid = omp_get_thread_num();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98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0; i &lt; 10000; i++) tarr[tid]++;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printf(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"tarr[%d] = %d\n"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, tid, tarr[tid]);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data = tarr[0] + tarr[1];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printf(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"In main function data = %d\n"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, data);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7" name="c1-callout-2"/>
          <p:cNvGrpSpPr/>
          <p:nvPr/>
        </p:nvGrpSpPr>
        <p:grpSpPr>
          <a:xfrm>
            <a:off x="533400" y="4331018"/>
            <a:ext cx="5410200" cy="782955"/>
            <a:chOff x="533400" y="4331018"/>
            <a:chExt cx="5410200" cy="782955"/>
          </a:xfrm>
        </p:grpSpPr>
        <p:sp>
          <p:nvSpPr>
            <p:cNvPr id="12" name="Rectangle 12"/>
            <p:cNvSpPr/>
            <p:nvPr/>
          </p:nvSpPr>
          <p:spPr>
            <a:xfrm>
              <a:off x="533400" y="4331018"/>
              <a:ext cx="5410200" cy="782955"/>
            </a:xfrm>
            <a:prstGeom prst="roundRect">
              <a:avLst>
                <a:gd name="adj" fmla="val 14599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738188" y="4622483"/>
              <a:ext cx="200026" cy="200026"/>
              <a:chOff x="738188" y="4622483"/>
              <a:chExt cx="200026" cy="200026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738188" y="462248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804863" y="4700270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1040130" y="4479608"/>
              <a:ext cx="43681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输出 tarr[0] = 10000、tarr[1] = 10000，data =</a:t>
              </a:r>
              <a:br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20000。</a:t>
              </a:r>
            </a:p>
          </p:txBody>
        </p:sp>
      </p:grpSp>
      <p:grpSp>
        <p:nvGrpSpPr>
          <p:cNvPr id="22" name="c2-code-1"/>
          <p:cNvGrpSpPr/>
          <p:nvPr/>
        </p:nvGrpSpPr>
        <p:grpSpPr>
          <a:xfrm>
            <a:off x="6248400" y="1524000"/>
            <a:ext cx="5410200" cy="2088832"/>
            <a:chOff x="6248400" y="1524000"/>
            <a:chExt cx="5410200" cy="2088832"/>
          </a:xfrm>
        </p:grpSpPr>
        <p:sp>
          <p:nvSpPr>
            <p:cNvPr id="18" name="Rectangle 18"/>
            <p:cNvSpPr/>
            <p:nvPr/>
          </p:nvSpPr>
          <p:spPr>
            <a:xfrm>
              <a:off x="6248400" y="1524000"/>
              <a:ext cx="5410200" cy="2088832"/>
            </a:xfrm>
            <a:prstGeom prst="roundRect">
              <a:avLst>
                <a:gd name="adj" fmla="val 456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376797" y="1675924"/>
              <a:ext cx="178400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修正 2：reduction(+:data)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267450" y="2250758"/>
              <a:ext cx="5372100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376797" y="1935956"/>
              <a:ext cx="4596257" cy="16003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data;</a:t>
              </a:r>
              <a:br/>
              <a:r>
                <a:rPr lang="en-US" sz="98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main()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#pragma omp parallel num_threads(2) reduction(+:data)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98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0; i &lt; 10000; i++) data++;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printf(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"data = %d tid = %d\n"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, data, omp_get_thread_num());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printf(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"In main function data = %d\n"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, data);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8" name="c2-callout-2"/>
          <p:cNvGrpSpPr/>
          <p:nvPr/>
        </p:nvGrpSpPr>
        <p:grpSpPr>
          <a:xfrm>
            <a:off x="6248400" y="3803332"/>
            <a:ext cx="5410200" cy="1310640"/>
            <a:chOff x="6248400" y="3803332"/>
            <a:chExt cx="5410200" cy="1310640"/>
          </a:xfrm>
        </p:grpSpPr>
        <p:sp>
          <p:nvSpPr>
            <p:cNvPr id="23" name="Rectangle 23"/>
            <p:cNvSpPr/>
            <p:nvPr/>
          </p:nvSpPr>
          <p:spPr>
            <a:xfrm>
              <a:off x="6248400" y="3803332"/>
              <a:ext cx="5410200" cy="1310640"/>
            </a:xfrm>
            <a:prstGeom prst="roundRect">
              <a:avLst>
                <a:gd name="adj" fmla="val 8721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6453188" y="4358640"/>
              <a:ext cx="200026" cy="200026"/>
              <a:chOff x="6453188" y="4358640"/>
              <a:chExt cx="200026" cy="200026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6453188" y="435864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6519863" y="4436428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6755130" y="4215765"/>
              <a:ext cx="42157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域内两行都打印私有值 10000，域外打印合并后的</a:t>
              </a:r>
              <a:br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20000。</a:t>
              </a:r>
            </a:p>
          </p:txBody>
        </p:sp>
      </p:grpSp>
      <p:grpSp>
        <p:nvGrpSpPr>
          <p:cNvPr id="35" name="takeaway"/>
          <p:cNvGrpSpPr/>
          <p:nvPr/>
        </p:nvGrpSpPr>
        <p:grpSpPr>
          <a:xfrm>
            <a:off x="533400" y="5579745"/>
            <a:ext cx="11125200" cy="782955"/>
            <a:chOff x="533400" y="5579745"/>
            <a:chExt cx="11125200" cy="782955"/>
          </a:xfrm>
        </p:grpSpPr>
        <p:sp>
          <p:nvSpPr>
            <p:cNvPr id="29" name="Rectangle 29"/>
            <p:cNvSpPr/>
            <p:nvPr/>
          </p:nvSpPr>
          <p:spPr>
            <a:xfrm>
              <a:off x="533400" y="5579745"/>
              <a:ext cx="11125200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738188" y="5871210"/>
              <a:ext cx="200026" cy="200025"/>
              <a:chOff x="738188" y="5871210"/>
              <a:chExt cx="200026" cy="200025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738188" y="587121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777926" y="591566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812642" y="602678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1040130" y="5728335"/>
              <a:ext cx="9730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两种写法的思路相同：并行时每个线程只写属于自己的那一份，结束后再合并。reduction 让编译器替你开副本和合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并。</a:t>
              </a:r>
            </a:p>
          </p:txBody>
        </p:sp>
      </p:grpSp>
      <p:grpSp>
        <p:nvGrpSpPr>
          <p:cNvPr id="3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6" name="TextBox 36"/>
            <p:cNvSpPr txBox="1"/>
            <p:nvPr/>
          </p:nvSpPr>
          <p:spPr>
            <a:xfrm>
              <a:off x="528447" y="6581299"/>
              <a:ext cx="31504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第2章 线程级并行与OpenMP编程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334E6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7EDF3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4666679" cy="2997517"/>
            <a:chOff x="667512" y="1835468"/>
            <a:chExt cx="4666679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第五部分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294436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任务划分结构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2371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在已有的线程组内分配工作，不产生新线程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32360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for 循环制导：变量属性与循环依赖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442741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schedule：static、dynamic、guided、runtime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74174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sections 与 single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31504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第2章 线程级并行与OpenMP编程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第2章 线程级并行 · 任务划分结构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任务划分结构：把代码分给线程组的各个成员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8" name="c1-card-1"/>
          <p:cNvGrpSpPr/>
          <p:nvPr/>
        </p:nvGrpSpPr>
        <p:grpSpPr>
          <a:xfrm>
            <a:off x="533400" y="1524000"/>
            <a:ext cx="5193982" cy="2506028"/>
            <a:chOff x="533400" y="1524000"/>
            <a:chExt cx="5193982" cy="250602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2506028"/>
            </a:xfrm>
            <a:prstGeom prst="roundRect">
              <a:avLst>
                <a:gd name="adj" fmla="val 532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239328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5543" y="17635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8096" y="2100739"/>
              <a:ext cx="45229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说明任务怎样在多个线程之间分配，把所包含的代码划分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给线程组的各成员执行。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82955" y="2752725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39546" y="2692241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不产生新的线程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82955" y="3072765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39546" y="3012281"/>
              <a:ext cx="398195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入口处没有路障，结束处有一个隐含的路障（可用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nowait 取消）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82955" y="3664268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39546" y="3603784"/>
              <a:ext cx="441116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必须动态地封装在一个并行域中，制导才能并行执行</a:t>
              </a:r>
            </a:p>
          </p:txBody>
        </p:sp>
      </p:grpSp>
      <p:grpSp>
        <p:nvGrpSpPr>
          <p:cNvPr id="27" name="c1-kv-2"/>
          <p:cNvGrpSpPr/>
          <p:nvPr/>
        </p:nvGrpSpPr>
        <p:grpSpPr>
          <a:xfrm>
            <a:off x="526161" y="4239101"/>
            <a:ext cx="5201221" cy="1122617"/>
            <a:chOff x="526161" y="4239101"/>
            <a:chExt cx="5201221" cy="1122617"/>
          </a:xfrm>
        </p:grpSpPr>
        <p:sp>
          <p:nvSpPr>
            <p:cNvPr id="19" name="TextBox 19"/>
            <p:cNvSpPr txBox="1"/>
            <p:nvPr/>
          </p:nvSpPr>
          <p:spPr>
            <a:xfrm>
              <a:off x="526161" y="4239101"/>
              <a:ext cx="117052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for 循环制导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027301" y="4239101"/>
              <a:ext cx="288188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数据并行：把循环迭代分给各线程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454533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26161" y="4661059"/>
              <a:ext cx="128999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sections 制导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027301" y="4661059"/>
              <a:ext cx="307304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功能并行：不同代码段分给不同线程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496633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26161" y="5083016"/>
              <a:ext cx="101902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single 制导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027301" y="5083016"/>
              <a:ext cx="249956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串行执行：只由一个线程执行</a:t>
              </a:r>
            </a:p>
          </p:txBody>
        </p:sp>
      </p:grpSp>
      <p:grpSp>
        <p:nvGrpSpPr>
          <p:cNvPr id="34" name="c1-callout-3"/>
          <p:cNvGrpSpPr/>
          <p:nvPr/>
        </p:nvGrpSpPr>
        <p:grpSpPr>
          <a:xfrm>
            <a:off x="533400" y="5490210"/>
            <a:ext cx="5193982" cy="756285"/>
            <a:chOff x="533400" y="5490210"/>
            <a:chExt cx="5193982" cy="756285"/>
          </a:xfrm>
        </p:grpSpPr>
        <p:sp>
          <p:nvSpPr>
            <p:cNvPr id="28" name="Rectangle 28"/>
            <p:cNvSpPr/>
            <p:nvPr/>
          </p:nvSpPr>
          <p:spPr>
            <a:xfrm>
              <a:off x="533400" y="5490210"/>
              <a:ext cx="5193982" cy="756285"/>
            </a:xfrm>
            <a:prstGeom prst="roundRect">
              <a:avLst>
                <a:gd name="adj" fmla="val 15113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726129" y="5764648"/>
              <a:ext cx="224134" cy="192560"/>
              <a:chOff x="726129" y="5764648"/>
              <a:chExt cx="224134" cy="19256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838200" y="583501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726129" y="576464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838200" y="591280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1040511" y="5638324"/>
              <a:ext cx="416229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任务划分结构出现在并行域之外时，线程组里只有一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个线程，所有工作都由它做，没有并行效果。</a:t>
              </a:r>
            </a:p>
          </p:txBody>
        </p:sp>
      </p:grpSp>
      <p:grpSp>
        <p:nvGrpSpPr>
          <p:cNvPr id="77" name="c2-flow-1"/>
          <p:cNvGrpSpPr/>
          <p:nvPr/>
        </p:nvGrpSpPr>
        <p:grpSpPr>
          <a:xfrm>
            <a:off x="6165532" y="2118360"/>
            <a:ext cx="5359718" cy="3649980"/>
            <a:chOff x="6165532" y="2118360"/>
            <a:chExt cx="5359718" cy="3649980"/>
          </a:xfrm>
        </p:grpSpPr>
        <p:sp>
          <p:nvSpPr>
            <p:cNvPr id="35" name="Freeform 35"/>
            <p:cNvSpPr/>
            <p:nvPr/>
          </p:nvSpPr>
          <p:spPr>
            <a:xfrm>
              <a:off x="6969442" y="2543175"/>
              <a:ext cx="9525" cy="993458"/>
            </a:xfrm>
            <a:custGeom>
              <a:avLst/>
              <a:gdLst/>
              <a:ahLst/>
              <a:cxnLst/>
              <a:rect l="l" t="t" r="r" b="b"/>
              <a:pathLst>
                <a:path w="9525" h="993458">
                  <a:moveTo>
                    <a:pt x="0" y="0"/>
                  </a:moveTo>
                  <a:lnTo>
                    <a:pt x="0" y="99345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6917055" y="353663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7" name="Freeform 37"/>
            <p:cNvSpPr/>
            <p:nvPr/>
          </p:nvSpPr>
          <p:spPr>
            <a:xfrm>
              <a:off x="8844915" y="2543175"/>
              <a:ext cx="9525" cy="993458"/>
            </a:xfrm>
            <a:custGeom>
              <a:avLst/>
              <a:gdLst/>
              <a:ahLst/>
              <a:cxnLst/>
              <a:rect l="l" t="t" r="r" b="b"/>
              <a:pathLst>
                <a:path w="9525" h="993458">
                  <a:moveTo>
                    <a:pt x="0" y="0"/>
                  </a:moveTo>
                  <a:lnTo>
                    <a:pt x="0" y="99345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8792528" y="353663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9" name="Freeform 39"/>
            <p:cNvSpPr/>
            <p:nvPr/>
          </p:nvSpPr>
          <p:spPr>
            <a:xfrm>
              <a:off x="10720388" y="2543175"/>
              <a:ext cx="9525" cy="993458"/>
            </a:xfrm>
            <a:custGeom>
              <a:avLst/>
              <a:gdLst/>
              <a:ahLst/>
              <a:cxnLst/>
              <a:rect l="l" t="t" r="r" b="b"/>
              <a:pathLst>
                <a:path w="9525" h="993458">
                  <a:moveTo>
                    <a:pt x="0" y="0"/>
                  </a:moveTo>
                  <a:lnTo>
                    <a:pt x="0" y="99345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10668000" y="353663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1" name="Freeform 41"/>
            <p:cNvSpPr/>
            <p:nvPr/>
          </p:nvSpPr>
          <p:spPr>
            <a:xfrm>
              <a:off x="6969442" y="4245292"/>
              <a:ext cx="9525" cy="993458"/>
            </a:xfrm>
            <a:custGeom>
              <a:avLst/>
              <a:gdLst/>
              <a:ahLst/>
              <a:cxnLst/>
              <a:rect l="l" t="t" r="r" b="b"/>
              <a:pathLst>
                <a:path w="9525" h="993458">
                  <a:moveTo>
                    <a:pt x="0" y="0"/>
                  </a:moveTo>
                  <a:lnTo>
                    <a:pt x="0" y="99345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6917055" y="523875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3" name="Freeform 43"/>
            <p:cNvSpPr/>
            <p:nvPr/>
          </p:nvSpPr>
          <p:spPr>
            <a:xfrm>
              <a:off x="8844915" y="4245292"/>
              <a:ext cx="9525" cy="993458"/>
            </a:xfrm>
            <a:custGeom>
              <a:avLst/>
              <a:gdLst/>
              <a:ahLst/>
              <a:cxnLst/>
              <a:rect l="l" t="t" r="r" b="b"/>
              <a:pathLst>
                <a:path w="9525" h="993458">
                  <a:moveTo>
                    <a:pt x="0" y="0"/>
                  </a:moveTo>
                  <a:lnTo>
                    <a:pt x="0" y="99345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8792528" y="523875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5" name="Freeform 45"/>
            <p:cNvSpPr/>
            <p:nvPr/>
          </p:nvSpPr>
          <p:spPr>
            <a:xfrm>
              <a:off x="10720388" y="4245292"/>
              <a:ext cx="9525" cy="993458"/>
            </a:xfrm>
            <a:custGeom>
              <a:avLst/>
              <a:gdLst/>
              <a:ahLst/>
              <a:cxnLst/>
              <a:rect l="l" t="t" r="r" b="b"/>
              <a:pathLst>
                <a:path w="9525" h="993458">
                  <a:moveTo>
                    <a:pt x="0" y="0"/>
                  </a:moveTo>
                  <a:lnTo>
                    <a:pt x="0" y="99345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6" name="Freeform 46"/>
            <p:cNvSpPr/>
            <p:nvPr/>
          </p:nvSpPr>
          <p:spPr>
            <a:xfrm>
              <a:off x="10668000" y="523875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6165532" y="2118360"/>
              <a:ext cx="1608772" cy="424815"/>
            </a:xfrm>
            <a:prstGeom prst="roundRect">
              <a:avLst>
                <a:gd name="adj" fmla="val 22422"/>
              </a:avLst>
            </a:prstGeom>
            <a:solidFill>
              <a:srgbClr val="F4F6FB"/>
            </a:solidFill>
            <a:ln w="13335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8041005" y="2118360"/>
              <a:ext cx="1608772" cy="424815"/>
            </a:xfrm>
            <a:prstGeom prst="roundRect">
              <a:avLst>
                <a:gd name="adj" fmla="val 22422"/>
              </a:avLst>
            </a:prstGeom>
            <a:solidFill>
              <a:srgbClr val="F4F6FB"/>
            </a:solidFill>
            <a:ln w="13335">
              <a:solidFill>
                <a:srgbClr val="D9DFEA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9916478" y="2118360"/>
              <a:ext cx="1608772" cy="424815"/>
            </a:xfrm>
            <a:prstGeom prst="roundRect">
              <a:avLst>
                <a:gd name="adj" fmla="val 22422"/>
              </a:avLst>
            </a:prstGeom>
            <a:solidFill>
              <a:srgbClr val="F4F6FB"/>
            </a:solidFill>
            <a:ln w="13335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6165532" y="3641408"/>
              <a:ext cx="1608772" cy="603885"/>
            </a:xfrm>
            <a:prstGeom prst="roundRect">
              <a:avLst>
                <a:gd name="adj" fmla="val 15773"/>
              </a:avLst>
            </a:prstGeom>
            <a:solidFill>
              <a:srgbClr val="E7EDF3"/>
            </a:solidFill>
            <a:ln w="19050">
              <a:solidFill>
                <a:srgbClr val="334E68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8041005" y="3641408"/>
              <a:ext cx="1608772" cy="603885"/>
            </a:xfrm>
            <a:prstGeom prst="roundRect">
              <a:avLst>
                <a:gd name="adj" fmla="val 15773"/>
              </a:avLst>
            </a:prstGeom>
            <a:solidFill>
              <a:srgbClr val="E7EDF3"/>
            </a:solidFill>
            <a:ln w="19050">
              <a:solidFill>
                <a:srgbClr val="334E68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9916478" y="3641408"/>
              <a:ext cx="1608772" cy="603885"/>
            </a:xfrm>
            <a:prstGeom prst="roundRect">
              <a:avLst>
                <a:gd name="adj" fmla="val 15773"/>
              </a:avLst>
            </a:prstGeom>
            <a:solidFill>
              <a:srgbClr val="E7EDF3"/>
            </a:solidFill>
            <a:ln w="19050">
              <a:solidFill>
                <a:srgbClr val="334E68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6165532" y="5343525"/>
              <a:ext cx="1608772" cy="424815"/>
            </a:xfrm>
            <a:prstGeom prst="roundRect">
              <a:avLst>
                <a:gd name="adj" fmla="val 22422"/>
              </a:avLst>
            </a:prstGeom>
            <a:solidFill>
              <a:srgbClr val="F4F6FB"/>
            </a:solidFill>
            <a:ln w="13335">
              <a:solidFill>
                <a:srgbClr val="D9DFEA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8041005" y="5343525"/>
              <a:ext cx="1608772" cy="424815"/>
            </a:xfrm>
            <a:prstGeom prst="roundRect">
              <a:avLst>
                <a:gd name="adj" fmla="val 22422"/>
              </a:avLst>
            </a:prstGeom>
            <a:solidFill>
              <a:srgbClr val="F4F6FB"/>
            </a:solidFill>
            <a:ln w="13335">
              <a:solidFill>
                <a:srgbClr val="D9DFEA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9916478" y="5343525"/>
              <a:ext cx="1608772" cy="424815"/>
            </a:xfrm>
            <a:prstGeom prst="roundRect">
              <a:avLst>
                <a:gd name="adj" fmla="val 22422"/>
              </a:avLst>
            </a:prstGeom>
            <a:solidFill>
              <a:srgbClr val="F4F6FB"/>
            </a:solidFill>
            <a:ln w="13335">
              <a:solidFill>
                <a:srgbClr val="D9DFEA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758521" y="2246948"/>
              <a:ext cx="42184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FORK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633993" y="2246948"/>
              <a:ext cx="42184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FORK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509466" y="2246948"/>
              <a:ext cx="42184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FORK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429947" y="3756660"/>
              <a:ext cx="1078992" cy="4404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2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for 循环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迭代分给各线程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305419" y="3756660"/>
              <a:ext cx="1078992" cy="4404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20"/>
                </a:lnSpc>
              </a:pPr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sections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各段给不同线程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0180891" y="3756660"/>
              <a:ext cx="1078992" cy="4404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20"/>
                </a:lnSpc>
              </a:pPr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single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只有一个线程做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779857" y="5472112"/>
              <a:ext cx="3791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JOIN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655329" y="5472112"/>
              <a:ext cx="3791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JOIN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0530802" y="5472112"/>
              <a:ext cx="3791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JOIN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6998018" y="3000375"/>
              <a:ext cx="4953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7021259" y="3027045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线程组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8873490" y="3000375"/>
              <a:ext cx="4953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8896731" y="3027045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线程组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10748962" y="3000375"/>
              <a:ext cx="4953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10772204" y="3027045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线程组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6998018" y="4702492"/>
              <a:ext cx="62865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7021259" y="472916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隐含路障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8873490" y="4702492"/>
              <a:ext cx="62865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8896731" y="472916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隐含路障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10748962" y="4702492"/>
              <a:ext cx="62865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10772204" y="472916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隐含路障</a:t>
              </a:r>
            </a:p>
          </p:txBody>
        </p:sp>
      </p:grpSp>
      <p:grpSp>
        <p:nvGrpSpPr>
          <p:cNvPr id="8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8" name="TextBox 78"/>
            <p:cNvSpPr txBox="1"/>
            <p:nvPr/>
          </p:nvSpPr>
          <p:spPr>
            <a:xfrm>
              <a:off x="528447" y="6581299"/>
              <a:ext cx="31504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第2章 线程级并行与OpenMP编程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37677" cy="909257"/>
            <a:chOff x="520446" y="342900"/>
            <a:chExt cx="793767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第2章 线程级并行 · 任务划分结构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3767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for 制导：循环变量自动私有，其他变量要自己判断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4977765" cy="1561148"/>
            <a:chOff x="533400" y="1524000"/>
            <a:chExt cx="4977765" cy="156114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1561148"/>
            </a:xfrm>
            <a:prstGeom prst="roundRect">
              <a:avLst>
                <a:gd name="adj" fmla="val 610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两种写法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797" y="1935956"/>
              <a:ext cx="2337308" cy="10717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#pragma omp for [clauses]</a:t>
              </a:r>
              <a:br/>
              <a:r>
                <a:rPr lang="en-US" sz="98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循环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与并行域合并为一句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#pragma omp parallel for [clauses]</a:t>
              </a:r>
              <a:br/>
              <a:r>
                <a:rPr lang="en-US" sz="98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循环</a:t>
              </a:r>
            </a:p>
          </p:txBody>
        </p:sp>
      </p:grpSp>
      <p:grpSp>
        <p:nvGrpSpPr>
          <p:cNvPr id="22" name="c1-card-2"/>
          <p:cNvGrpSpPr/>
          <p:nvPr/>
        </p:nvGrpSpPr>
        <p:grpSpPr>
          <a:xfrm>
            <a:off x="533400" y="3249930"/>
            <a:ext cx="4977765" cy="1999298"/>
            <a:chOff x="533400" y="3249930"/>
            <a:chExt cx="4977765" cy="1999298"/>
          </a:xfrm>
        </p:grpSpPr>
        <p:sp>
          <p:nvSpPr>
            <p:cNvPr id="11" name="Rectangle 11"/>
            <p:cNvSpPr/>
            <p:nvPr/>
          </p:nvSpPr>
          <p:spPr>
            <a:xfrm>
              <a:off x="533400" y="3249930"/>
              <a:ext cx="4977765" cy="1999298"/>
            </a:xfrm>
            <a:prstGeom prst="roundRect">
              <a:avLst>
                <a:gd name="adj" fmla="val 667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542925" y="3383280"/>
              <a:ext cx="47625" cy="1732598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752475" y="3430905"/>
              <a:ext cx="713422" cy="23812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36769" y="3463766"/>
              <a:ext cx="54388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for 制导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45998" y="3771424"/>
              <a:ext cx="36315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把循环划分成多个块，分配给各线程并行执行。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62000" y="4108132"/>
              <a:ext cx="57150" cy="571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17448" y="4056221"/>
              <a:ext cx="335356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可带 private、firstprivate、lastprivate、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reduction、schedule、nowait 等子句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62000" y="4636770"/>
              <a:ext cx="57150" cy="571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17448" y="4583906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被并行化的循环变量是私有的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62000" y="4921568"/>
              <a:ext cx="57150" cy="571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17448" y="4868704"/>
              <a:ext cx="2597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必须保证各次迭代之间没有相关性</a:t>
              </a:r>
            </a:p>
          </p:txBody>
        </p:sp>
      </p:grpSp>
      <p:grpSp>
        <p:nvGrpSpPr>
          <p:cNvPr id="28" name="c1-card-3"/>
          <p:cNvGrpSpPr/>
          <p:nvPr/>
        </p:nvGrpSpPr>
        <p:grpSpPr>
          <a:xfrm>
            <a:off x="533400" y="5414010"/>
            <a:ext cx="4977765" cy="901065"/>
            <a:chOff x="533400" y="5414010"/>
            <a:chExt cx="4977765" cy="901065"/>
          </a:xfrm>
        </p:grpSpPr>
        <p:sp>
          <p:nvSpPr>
            <p:cNvPr id="23" name="Rectangle 23"/>
            <p:cNvSpPr/>
            <p:nvPr/>
          </p:nvSpPr>
          <p:spPr>
            <a:xfrm>
              <a:off x="533400" y="5414010"/>
              <a:ext cx="4977765" cy="901065"/>
            </a:xfrm>
            <a:prstGeom prst="roundRect">
              <a:avLst>
                <a:gd name="adj" fmla="val 1479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542925" y="5547360"/>
              <a:ext cx="47625" cy="63436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752475" y="559498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45147" y="562784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45998" y="5934551"/>
              <a:ext cx="377654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原课件把 FIRSTPRIVATE 写成了 FIRSTPRIVARE。</a:t>
              </a:r>
            </a:p>
          </p:txBody>
        </p:sp>
      </p:grpSp>
      <p:grpSp>
        <p:nvGrpSpPr>
          <p:cNvPr id="32" name="c2-code-1"/>
          <p:cNvGrpSpPr/>
          <p:nvPr/>
        </p:nvGrpSpPr>
        <p:grpSpPr>
          <a:xfrm>
            <a:off x="5815965" y="1524000"/>
            <a:ext cx="5842635" cy="1257300"/>
            <a:chOff x="5815965" y="1524000"/>
            <a:chExt cx="5842635" cy="1257300"/>
          </a:xfrm>
        </p:grpSpPr>
        <p:sp>
          <p:nvSpPr>
            <p:cNvPr id="29" name="Rectangle 29"/>
            <p:cNvSpPr/>
            <p:nvPr/>
          </p:nvSpPr>
          <p:spPr>
            <a:xfrm>
              <a:off x="5815965" y="1524000"/>
              <a:ext cx="5842635" cy="1257300"/>
            </a:xfrm>
            <a:prstGeom prst="roundRect">
              <a:avLst>
                <a:gd name="adj" fmla="val 7576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944362" y="1675924"/>
              <a:ext cx="245914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错</a:t>
              </a:r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：x 默认 shared，所有线程共用一个 x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944552" y="1935004"/>
              <a:ext cx="1556004" cy="760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8"/>
                </a:lnSpc>
              </a:pP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#pragma omp parallel for</a:t>
              </a:r>
              <a:br/>
              <a:r>
                <a:rPr lang="en-US" sz="82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(k = 0; k &lt; 100; k++) {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x = array[k];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array[k] = do_work(x);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36" name="c2-code-2"/>
          <p:cNvGrpSpPr/>
          <p:nvPr/>
        </p:nvGrpSpPr>
        <p:grpSpPr>
          <a:xfrm>
            <a:off x="5815965" y="2946082"/>
            <a:ext cx="5842635" cy="1257300"/>
            <a:chOff x="5815965" y="2946082"/>
            <a:chExt cx="5842635" cy="1257300"/>
          </a:xfrm>
        </p:grpSpPr>
        <p:sp>
          <p:nvSpPr>
            <p:cNvPr id="33" name="Rectangle 33"/>
            <p:cNvSpPr/>
            <p:nvPr/>
          </p:nvSpPr>
          <p:spPr>
            <a:xfrm>
              <a:off x="5815965" y="2946082"/>
              <a:ext cx="5842635" cy="1257300"/>
            </a:xfrm>
            <a:prstGeom prst="roundRect">
              <a:avLst>
                <a:gd name="adj" fmla="val 7576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944362" y="3098006"/>
              <a:ext cx="122462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对</a:t>
              </a:r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：把 x 声明为私有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944552" y="3357086"/>
              <a:ext cx="2014220" cy="760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8"/>
                </a:lnSpc>
              </a:pP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#pragma omp parallel for private(x)</a:t>
              </a:r>
              <a:br/>
              <a:r>
                <a:rPr lang="en-US" sz="82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(k = 0; k &lt; 100; k++) {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x = array[k];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array[k] = do_work(x);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43" name="c2-callout-3"/>
          <p:cNvGrpSpPr/>
          <p:nvPr/>
        </p:nvGrpSpPr>
        <p:grpSpPr>
          <a:xfrm>
            <a:off x="5815965" y="4368165"/>
            <a:ext cx="5842635" cy="1946910"/>
            <a:chOff x="5815965" y="4368165"/>
            <a:chExt cx="5842635" cy="1946910"/>
          </a:xfrm>
        </p:grpSpPr>
        <p:sp>
          <p:nvSpPr>
            <p:cNvPr id="37" name="Rectangle 37"/>
            <p:cNvSpPr/>
            <p:nvPr/>
          </p:nvSpPr>
          <p:spPr>
            <a:xfrm>
              <a:off x="5815965" y="4368165"/>
              <a:ext cx="5842635" cy="1946910"/>
            </a:xfrm>
            <a:prstGeom prst="roundRect">
              <a:avLst>
                <a:gd name="adj" fmla="val 5871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6008694" y="5237916"/>
              <a:ext cx="224134" cy="192560"/>
              <a:chOff x="6008694" y="5237916"/>
              <a:chExt cx="224134" cy="192560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6120765" y="530828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6008694" y="523791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6120765" y="538607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6323838" y="5018246"/>
              <a:ext cx="4808474" cy="7179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一个线程刚把 array[k] 存进 x，另一个线程就可能把 x 改成</a:t>
              </a:r>
              <a:br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array[j]，do_work 拿到的是别人的数据。每次迭代先写后用、不</a:t>
              </a:r>
              <a:br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跨迭代的临时变量都应设为 private。</a:t>
              </a:r>
            </a:p>
          </p:txBody>
        </p:sp>
      </p:grpSp>
      <p:grpSp>
        <p:nvGrpSpPr>
          <p:cNvPr id="4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4" name="TextBox 44"/>
            <p:cNvSpPr txBox="1"/>
            <p:nvPr/>
          </p:nvSpPr>
          <p:spPr>
            <a:xfrm>
              <a:off x="528447" y="6581299"/>
              <a:ext cx="31504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第2章 线程级并行与OpenMP编程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第2章 线程级并行 · 任务划分结构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有跨迭代依赖的循环不能直接并行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3505200" cy="1072515"/>
            <a:chOff x="533400" y="1524000"/>
            <a:chExt cx="3505200" cy="107251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3505200" cy="1072515"/>
            </a:xfrm>
            <a:prstGeom prst="roundRect">
              <a:avLst>
                <a:gd name="adj" fmla="val 888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46803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流依赖（写后读，RAW）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416" y="1937385"/>
              <a:ext cx="1990916" cy="5844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(j = 1; j &lt; MAX; j++) {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A[j] = A[j-1];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6" name="c1-card-2"/>
          <p:cNvGrpSpPr/>
          <p:nvPr/>
        </p:nvGrpSpPr>
        <p:grpSpPr>
          <a:xfrm>
            <a:off x="533400" y="2776538"/>
            <a:ext cx="3505200" cy="1522095"/>
            <a:chOff x="533400" y="2776538"/>
            <a:chExt cx="3505200" cy="1522095"/>
          </a:xfrm>
        </p:grpSpPr>
        <p:sp>
          <p:nvSpPr>
            <p:cNvPr id="11" name="Rectangle 11"/>
            <p:cNvSpPr/>
            <p:nvPr/>
          </p:nvSpPr>
          <p:spPr>
            <a:xfrm>
              <a:off x="533400" y="2776538"/>
              <a:ext cx="3505200" cy="1522095"/>
            </a:xfrm>
            <a:prstGeom prst="roundRect">
              <a:avLst>
                <a:gd name="adj" fmla="val 876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542925" y="2909888"/>
              <a:ext cx="47625" cy="125539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769620" y="2974658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1060" y="300894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381" y="3335179"/>
              <a:ext cx="2945003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j 次读 A[j−1]，它是第 j−1 次刚写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的。并行时第 j 次可能先执行，读到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旧值。</a:t>
              </a:r>
            </a:p>
          </p:txBody>
        </p:sp>
      </p:grpSp>
      <p:grpSp>
        <p:nvGrpSpPr>
          <p:cNvPr id="23" name="c1-callout-3"/>
          <p:cNvGrpSpPr/>
          <p:nvPr/>
        </p:nvGrpSpPr>
        <p:grpSpPr>
          <a:xfrm>
            <a:off x="533400" y="4478655"/>
            <a:ext cx="3505200" cy="1207770"/>
            <a:chOff x="533400" y="4478655"/>
            <a:chExt cx="3505200" cy="1207770"/>
          </a:xfrm>
        </p:grpSpPr>
        <p:sp>
          <p:nvSpPr>
            <p:cNvPr id="17" name="Rectangle 17"/>
            <p:cNvSpPr/>
            <p:nvPr/>
          </p:nvSpPr>
          <p:spPr>
            <a:xfrm>
              <a:off x="533400" y="4478655"/>
              <a:ext cx="3505200" cy="1207770"/>
            </a:xfrm>
            <a:prstGeom prst="roundRect">
              <a:avLst>
                <a:gd name="adj" fmla="val 9464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738188" y="4982528"/>
              <a:ext cx="200026" cy="200025"/>
              <a:chOff x="738188" y="4982528"/>
              <a:chExt cx="200026" cy="200025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738188" y="498252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777926" y="502697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812642" y="513810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1040511" y="4721066"/>
              <a:ext cx="2683510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这个循环的效果是把 A[0] 复制到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整个数组，可改写成 A[j] =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A[0] 再并行。</a:t>
              </a:r>
            </a:p>
          </p:txBody>
        </p:sp>
      </p:grpSp>
      <p:grpSp>
        <p:nvGrpSpPr>
          <p:cNvPr id="27" name="c2-code-1"/>
          <p:cNvGrpSpPr/>
          <p:nvPr/>
        </p:nvGrpSpPr>
        <p:grpSpPr>
          <a:xfrm>
            <a:off x="4343400" y="1524000"/>
            <a:ext cx="3505200" cy="1072515"/>
            <a:chOff x="4343400" y="1524000"/>
            <a:chExt cx="3505200" cy="1072515"/>
          </a:xfrm>
        </p:grpSpPr>
        <p:sp>
          <p:nvSpPr>
            <p:cNvPr id="24" name="Rectangle 24"/>
            <p:cNvSpPr/>
            <p:nvPr/>
          </p:nvSpPr>
          <p:spPr>
            <a:xfrm>
              <a:off x="4343400" y="1524000"/>
              <a:ext cx="3505200" cy="1072515"/>
            </a:xfrm>
            <a:prstGeom prst="roundRect">
              <a:avLst>
                <a:gd name="adj" fmla="val 888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471797" y="1675924"/>
              <a:ext cx="146803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反依赖（读后写，WAR）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471416" y="1937385"/>
              <a:ext cx="1990916" cy="5844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(j = 1; j &lt; MAX; j++) {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A[j] = A[j+1];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33" name="c2-card-2"/>
          <p:cNvGrpSpPr/>
          <p:nvPr/>
        </p:nvGrpSpPr>
        <p:grpSpPr>
          <a:xfrm>
            <a:off x="4343400" y="2776538"/>
            <a:ext cx="3505200" cy="1522095"/>
            <a:chOff x="4343400" y="2776538"/>
            <a:chExt cx="3505200" cy="1522095"/>
          </a:xfrm>
        </p:grpSpPr>
        <p:sp>
          <p:nvSpPr>
            <p:cNvPr id="28" name="Rectangle 28"/>
            <p:cNvSpPr/>
            <p:nvPr/>
          </p:nvSpPr>
          <p:spPr>
            <a:xfrm>
              <a:off x="4343400" y="2776538"/>
              <a:ext cx="3505200" cy="1522095"/>
            </a:xfrm>
            <a:prstGeom prst="roundRect">
              <a:avLst>
                <a:gd name="adj" fmla="val 876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4352925" y="2909888"/>
              <a:ext cx="47625" cy="125539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4579620" y="2974658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4671060" y="300894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572381" y="3335179"/>
              <a:ext cx="2827782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j 次要读 A[j+1] 的原值，第 j+1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次会改写它。第 j+1 次先执行，第 j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次就读到新值。</a:t>
              </a:r>
            </a:p>
          </p:txBody>
        </p:sp>
      </p:grpSp>
      <p:grpSp>
        <p:nvGrpSpPr>
          <p:cNvPr id="40" name="c2-callout-3"/>
          <p:cNvGrpSpPr/>
          <p:nvPr/>
        </p:nvGrpSpPr>
        <p:grpSpPr>
          <a:xfrm>
            <a:off x="4343400" y="4478655"/>
            <a:ext cx="3505200" cy="1207770"/>
            <a:chOff x="4343400" y="4478655"/>
            <a:chExt cx="3505200" cy="1207770"/>
          </a:xfrm>
        </p:grpSpPr>
        <p:sp>
          <p:nvSpPr>
            <p:cNvPr id="34" name="Rectangle 34"/>
            <p:cNvSpPr/>
            <p:nvPr/>
          </p:nvSpPr>
          <p:spPr>
            <a:xfrm>
              <a:off x="4343400" y="4478655"/>
              <a:ext cx="3505200" cy="1207770"/>
            </a:xfrm>
            <a:prstGeom prst="roundRect">
              <a:avLst>
                <a:gd name="adj" fmla="val 9464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4548188" y="4982528"/>
              <a:ext cx="200026" cy="200025"/>
              <a:chOff x="4548188" y="4982528"/>
              <a:chExt cx="200026" cy="200025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4548188" y="498252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4587926" y="502697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4622642" y="513810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4850511" y="4852511"/>
              <a:ext cx="253923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先把 A 复制到临时数组 T，再并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行计算 A[j] = T[j+1]。</a:t>
              </a:r>
            </a:p>
          </p:txBody>
        </p:sp>
      </p:grpSp>
      <p:grpSp>
        <p:nvGrpSpPr>
          <p:cNvPr id="44" name="c3-code-1"/>
          <p:cNvGrpSpPr/>
          <p:nvPr/>
        </p:nvGrpSpPr>
        <p:grpSpPr>
          <a:xfrm>
            <a:off x="8153400" y="1524000"/>
            <a:ext cx="3505200" cy="1261110"/>
            <a:chOff x="8153400" y="1524000"/>
            <a:chExt cx="3505200" cy="1261110"/>
          </a:xfrm>
        </p:grpSpPr>
        <p:sp>
          <p:nvSpPr>
            <p:cNvPr id="41" name="Rectangle 41"/>
            <p:cNvSpPr/>
            <p:nvPr/>
          </p:nvSpPr>
          <p:spPr>
            <a:xfrm>
              <a:off x="8153400" y="1524000"/>
              <a:ext cx="3505200" cy="1261110"/>
            </a:xfrm>
            <a:prstGeom prst="roundRect">
              <a:avLst>
                <a:gd name="adj" fmla="val 755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8281797" y="1675924"/>
              <a:ext cx="14973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写依赖（写后写，WAW）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281416" y="1937385"/>
              <a:ext cx="1990916" cy="77400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(j = 1; j &lt; MAX; j++) {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A[j] = B[j];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A[j+1] = C[j];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50" name="c3-card-2"/>
          <p:cNvGrpSpPr/>
          <p:nvPr/>
        </p:nvGrpSpPr>
        <p:grpSpPr>
          <a:xfrm>
            <a:off x="8153400" y="2966085"/>
            <a:ext cx="3505200" cy="1522095"/>
            <a:chOff x="8153400" y="2966085"/>
            <a:chExt cx="3505200" cy="1522095"/>
          </a:xfrm>
        </p:grpSpPr>
        <p:sp>
          <p:nvSpPr>
            <p:cNvPr id="45" name="Rectangle 45"/>
            <p:cNvSpPr/>
            <p:nvPr/>
          </p:nvSpPr>
          <p:spPr>
            <a:xfrm>
              <a:off x="8153400" y="2966085"/>
              <a:ext cx="3505200" cy="1522095"/>
            </a:xfrm>
            <a:prstGeom prst="roundRect">
              <a:avLst>
                <a:gd name="adj" fmla="val 876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8162925" y="3099435"/>
              <a:ext cx="47625" cy="125539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8389620" y="316420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8481060" y="319849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382381" y="3524726"/>
              <a:ext cx="2782697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j 次写 A[j+1] = C[j]，第 j+1 次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又写 A[j+1] = B[j+1]。顺序颠倒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时，最终留下的值就错了。</a:t>
              </a:r>
            </a:p>
          </p:txBody>
        </p:sp>
      </p:grpSp>
      <p:grpSp>
        <p:nvGrpSpPr>
          <p:cNvPr id="57" name="c3-callout-3"/>
          <p:cNvGrpSpPr/>
          <p:nvPr/>
        </p:nvGrpSpPr>
        <p:grpSpPr>
          <a:xfrm>
            <a:off x="8153400" y="4668202"/>
            <a:ext cx="3505200" cy="1018222"/>
            <a:chOff x="8153400" y="4668202"/>
            <a:chExt cx="3505200" cy="1018222"/>
          </a:xfrm>
        </p:grpSpPr>
        <p:sp>
          <p:nvSpPr>
            <p:cNvPr id="51" name="Rectangle 51"/>
            <p:cNvSpPr/>
            <p:nvPr/>
          </p:nvSpPr>
          <p:spPr>
            <a:xfrm>
              <a:off x="8153400" y="4668202"/>
              <a:ext cx="3505200" cy="1018222"/>
            </a:xfrm>
            <a:prstGeom prst="roundRect">
              <a:avLst>
                <a:gd name="adj" fmla="val 11225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8358188" y="5077778"/>
              <a:ext cx="200026" cy="200025"/>
              <a:chOff x="8358188" y="5077778"/>
              <a:chExt cx="200026" cy="200025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8358188" y="507777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8397926" y="512222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8432642" y="523335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8660511" y="4815364"/>
              <a:ext cx="2521204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串行结果中只有 A[MAX] 来自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C，可并行做 A[j] = B[j]，最后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单独补 A[MAX] = C[MAX−1]。</a:t>
              </a:r>
            </a:p>
          </p:txBody>
        </p:sp>
      </p:grpSp>
      <p:grpSp>
        <p:nvGrpSpPr>
          <p:cNvPr id="63" name="takeaway"/>
          <p:cNvGrpSpPr/>
          <p:nvPr/>
        </p:nvGrpSpPr>
        <p:grpSpPr>
          <a:xfrm>
            <a:off x="533400" y="5858828"/>
            <a:ext cx="11125200" cy="503872"/>
            <a:chOff x="533400" y="5858828"/>
            <a:chExt cx="11125200" cy="503872"/>
          </a:xfrm>
        </p:grpSpPr>
        <p:sp>
          <p:nvSpPr>
            <p:cNvPr id="58" name="Rectangle 58"/>
            <p:cNvSpPr/>
            <p:nvPr/>
          </p:nvSpPr>
          <p:spPr>
            <a:xfrm>
              <a:off x="533400" y="5858828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61" name="Group 61"/>
            <p:cNvGrpSpPr/>
            <p:nvPr/>
          </p:nvGrpSpPr>
          <p:grpSpPr>
            <a:xfrm>
              <a:off x="738188" y="6011230"/>
              <a:ext cx="200023" cy="200023"/>
              <a:chOff x="738188" y="6011230"/>
              <a:chExt cx="200023" cy="200023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738188" y="601123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871538" y="607790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2" name="TextBox 62"/>
            <p:cNvSpPr txBox="1"/>
            <p:nvPr/>
          </p:nvSpPr>
          <p:spPr>
            <a:xfrm>
              <a:off x="1040511" y="6011704"/>
              <a:ext cx="708741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判断方法：同一个数组元素会不会在不同迭代中被访问，并且其中至少有一次是写。</a:t>
              </a:r>
            </a:p>
          </p:txBody>
        </p:sp>
      </p:grpSp>
      <p:grpSp>
        <p:nvGrpSpPr>
          <p:cNvPr id="6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4" name="TextBox 64"/>
            <p:cNvSpPr txBox="1"/>
            <p:nvPr/>
          </p:nvSpPr>
          <p:spPr>
            <a:xfrm>
              <a:off x="528447" y="6581299"/>
              <a:ext cx="31504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第2章 线程级并行与OpenMP编程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78090" cy="909257"/>
            <a:chOff x="520446" y="342900"/>
            <a:chExt cx="75780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第2章 线程级并行 · 任务划分结构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780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为什么要调度：三角形循环各次迭代的工作量不同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4977765" cy="1561148"/>
            <a:chOff x="533400" y="1524000"/>
            <a:chExt cx="4977765" cy="156114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1561148"/>
            </a:xfrm>
            <a:prstGeom prst="roundRect">
              <a:avLst>
                <a:gd name="adj" fmla="val 610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3513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下三角矩阵 L 乘向量 y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797" y="1935956"/>
              <a:ext cx="2816479" cy="10717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#pragma omp parallel for</a:t>
              </a:r>
              <a:br/>
              <a:r>
                <a:rPr lang="en-US" sz="98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(row = 1; row &lt;= 6; row++)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(col = 1; col &lt;= row; col++)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res[row] += l[row][col] * y[col];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37" name="c1-cells-2"/>
          <p:cNvGrpSpPr/>
          <p:nvPr/>
        </p:nvGrpSpPr>
        <p:grpSpPr>
          <a:xfrm>
            <a:off x="527685" y="3275648"/>
            <a:ext cx="4983480" cy="1009650"/>
            <a:chOff x="527685" y="3275648"/>
            <a:chExt cx="4983480" cy="1009650"/>
          </a:xfrm>
        </p:grpSpPr>
        <p:sp>
          <p:nvSpPr>
            <p:cNvPr id="11" name="TextBox 11"/>
            <p:cNvSpPr txBox="1"/>
            <p:nvPr/>
          </p:nvSpPr>
          <p:spPr>
            <a:xfrm>
              <a:off x="527685" y="341518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行号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235392" y="3275648"/>
              <a:ext cx="712470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542376" y="341518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947862" y="3275648"/>
              <a:ext cx="712470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254846" y="341518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660332" y="3275648"/>
              <a:ext cx="712470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967316" y="341518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3372802" y="3275648"/>
              <a:ext cx="712470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679786" y="341518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4086225" y="3275648"/>
              <a:ext cx="712470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393209" y="341518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4798695" y="3275648"/>
              <a:ext cx="712470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105679" y="341518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27685" y="400573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乘加次数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1235392" y="3866198"/>
              <a:ext cx="71247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542376" y="400573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1947862" y="3866198"/>
              <a:ext cx="71247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2254846" y="400573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2660332" y="3866198"/>
              <a:ext cx="71247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2967316" y="400573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3372802" y="3866198"/>
              <a:ext cx="71247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679786" y="400573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4086225" y="3866198"/>
              <a:ext cx="71247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393209" y="400573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4798695" y="3866198"/>
              <a:ext cx="71247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105679" y="400573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  <p:grpSp>
        <p:nvGrpSpPr>
          <p:cNvPr id="43" name="c1-card-3"/>
          <p:cNvGrpSpPr/>
          <p:nvPr/>
        </p:nvGrpSpPr>
        <p:grpSpPr>
          <a:xfrm>
            <a:off x="533400" y="4475798"/>
            <a:ext cx="4977765" cy="1602105"/>
            <a:chOff x="533400" y="4475798"/>
            <a:chExt cx="4977765" cy="1602105"/>
          </a:xfrm>
        </p:grpSpPr>
        <p:sp>
          <p:nvSpPr>
            <p:cNvPr id="38" name="Rectangle 38"/>
            <p:cNvSpPr/>
            <p:nvPr/>
          </p:nvSpPr>
          <p:spPr>
            <a:xfrm>
              <a:off x="533400" y="4475798"/>
              <a:ext cx="4977765" cy="1602105"/>
            </a:xfrm>
            <a:prstGeom prst="roundRect">
              <a:avLst>
                <a:gd name="adj" fmla="val 83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542925" y="4609148"/>
              <a:ext cx="47625" cy="133540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781050" y="4685348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71258" y="472106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73430" y="5062538"/>
              <a:ext cx="398716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原课件写作 res[row,col] += l[row,col] *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y[col]。C 语言里 a[i,j] 是逗号表达式，只取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a[j]；矩阵乘向量的结果是一维的 res[row]。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4" name="formula6"/>
              <p:cNvSpPr txBox="1">
                <a:spLocks noGrp="1"/>
              </p:cNvSpPr>
              <p:nvPr/>
            </p:nvSpPr>
            <p:spPr>
              <a:xfrm>
                <a:off x="5815965" y="1524000"/>
                <a:ext cx="5842635" cy="617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S</m:t>
                      </m:r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sSub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</m:e>
                            <m:sub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</m:e>
                            <m:sub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p</m:t>
                              </m:r>
                            </m:sub>
                          </m:sSub>
                        </m:den>
                      </m:f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E</m:t>
                      </m:r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S</m:t>
                          </m:r>
                        </m:num>
                        <m:den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p</m:t>
                          </m:r>
                        </m:den>
                      </m:f>
                    </m:oMath>
                  </m:oMathPara>
                </a14:m>
              </a:p>
            </p:txBody>
          </p:sp>
        </mc:Choice>
      </mc:AlternateContent>
      <p:grpSp>
        <p:nvGrpSpPr>
          <p:cNvPr id="79" name="c2-table-2"/>
          <p:cNvGrpSpPr/>
          <p:nvPr/>
        </p:nvGrpSpPr>
        <p:grpSpPr>
          <a:xfrm>
            <a:off x="5810250" y="2331720"/>
            <a:ext cx="5848350" cy="1842611"/>
            <a:chOff x="5810250" y="2331720"/>
            <a:chExt cx="5848350" cy="1842611"/>
          </a:xfrm>
        </p:grpSpPr>
        <p:sp>
          <p:nvSpPr>
            <p:cNvPr id="45" name="Rectangle 45"/>
            <p:cNvSpPr/>
            <p:nvPr/>
          </p:nvSpPr>
          <p:spPr>
            <a:xfrm>
              <a:off x="5815965" y="2331720"/>
              <a:ext cx="5842635" cy="448628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005618" y="2467451"/>
              <a:ext cx="6836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 个线程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026403" y="2467451"/>
              <a:ext cx="62522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T0 的行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945565" y="2467451"/>
              <a:ext cx="62522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T1 的行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874290" y="246745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工作量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722901" y="2467451"/>
              <a:ext cx="21760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Tp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0409879" y="2467451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187119" y="2467451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5923788" y="2916079"/>
              <a:ext cx="56478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static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190377" y="2916079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1–3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109539" y="2916079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4–6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8726805" y="2789872"/>
              <a:ext cx="823912" cy="429578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8891521" y="2916079"/>
              <a:ext cx="49543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 : 15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730456" y="2916079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0272906" y="2916079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1.40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050146" y="2916079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0.70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5815965" y="322421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5815965" y="3228975"/>
              <a:ext cx="584263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5923788" y="3364706"/>
              <a:ext cx="76381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static,1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095604" y="3364706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1,3,5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8014767" y="3364706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2,4,6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8726805" y="3238500"/>
              <a:ext cx="823912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8891521" y="3364706"/>
              <a:ext cx="49543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 : 12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9730456" y="3364706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0272906" y="3364706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1.75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1002759" y="3364706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0.875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5815965" y="2331720"/>
              <a:ext cx="5842635" cy="134683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2" name="Rectangle 72"/>
            <p:cNvSpPr/>
            <p:nvPr/>
          </p:nvSpPr>
          <p:spPr>
            <a:xfrm>
              <a:off x="6874192" y="2331720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3" name="Rectangle 73"/>
            <p:cNvSpPr/>
            <p:nvPr/>
          </p:nvSpPr>
          <p:spPr>
            <a:xfrm>
              <a:off x="7793355" y="2331720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4" name="Rectangle 74"/>
            <p:cNvSpPr/>
            <p:nvPr/>
          </p:nvSpPr>
          <p:spPr>
            <a:xfrm>
              <a:off x="8712518" y="2331720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5" name="Rectangle 75"/>
            <p:cNvSpPr/>
            <p:nvPr/>
          </p:nvSpPr>
          <p:spPr>
            <a:xfrm>
              <a:off x="9555480" y="2331720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6" name="Rectangle 76"/>
            <p:cNvSpPr/>
            <p:nvPr/>
          </p:nvSpPr>
          <p:spPr>
            <a:xfrm>
              <a:off x="10098405" y="2331720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7" name="Rectangle 77"/>
            <p:cNvSpPr/>
            <p:nvPr/>
          </p:nvSpPr>
          <p:spPr>
            <a:xfrm>
              <a:off x="10828972" y="2331720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5810250" y="3754279"/>
              <a:ext cx="5537454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串行 T1 = 1 + 2 + … + 6 = 21；Tp 取较忙线程的工作量（本机实测两种划分的工作量与表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一致）</a:t>
              </a:r>
            </a:p>
          </p:txBody>
        </p:sp>
      </p:grpSp>
      <p:grpSp>
        <p:nvGrpSpPr>
          <p:cNvPr id="89" name="c2-steps-3"/>
          <p:cNvGrpSpPr/>
          <p:nvPr/>
        </p:nvGrpSpPr>
        <p:grpSpPr>
          <a:xfrm>
            <a:off x="5815965" y="4330065"/>
            <a:ext cx="5586857" cy="1462373"/>
            <a:chOff x="5815965" y="4330065"/>
            <a:chExt cx="5586857" cy="1462373"/>
          </a:xfrm>
        </p:grpSpPr>
        <p:sp>
          <p:nvSpPr>
            <p:cNvPr id="80" name="Rectangle 80"/>
            <p:cNvSpPr/>
            <p:nvPr/>
          </p:nvSpPr>
          <p:spPr>
            <a:xfrm>
              <a:off x="5949315" y="4472940"/>
              <a:ext cx="19050" cy="885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1" name="Ellipse 81"/>
            <p:cNvSpPr/>
            <p:nvPr/>
          </p:nvSpPr>
          <p:spPr>
            <a:xfrm>
              <a:off x="5815965" y="4330065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5909589" y="44038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3" name="Ellipse 83"/>
            <p:cNvSpPr/>
            <p:nvPr/>
          </p:nvSpPr>
          <p:spPr>
            <a:xfrm>
              <a:off x="5815965" y="5214938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5909589" y="52887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6227445" y="4364355"/>
              <a:ext cx="112938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static 均分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6228588" y="4657249"/>
              <a:ext cx="517423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T0 拿到前 3 行只做 6 次，T1 拿到后 3 行做 15 次，Tp = 15，S = 21/15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1.4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6227445" y="5249228"/>
              <a:ext cx="12687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每块 1 行轮转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6228588" y="5543074"/>
              <a:ext cx="512977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T0 做 1+3+5 = 9，T1 做 2+4+6 = 12，Tp = 12，S = 21/12 = 1.75</a:t>
              </a:r>
            </a:p>
          </p:txBody>
        </p:sp>
      </p:grpSp>
      <p:grpSp>
        <p:nvGrpSpPr>
          <p:cNvPr id="9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0" name="TextBox 90"/>
            <p:cNvSpPr txBox="1"/>
            <p:nvPr/>
          </p:nvSpPr>
          <p:spPr>
            <a:xfrm>
              <a:off x="528447" y="6581299"/>
              <a:ext cx="31504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第2章 线程级并行与OpenMP编程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480255" cy="909257"/>
            <a:chOff x="520446" y="342900"/>
            <a:chExt cx="748025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第2章 线程级并行 · 任务划分结构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48025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schedule(static)：进入循环前就按块轮转分好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4760595" cy="1110615"/>
            <a:chOff x="533400" y="1524000"/>
            <a:chExt cx="4760595" cy="111061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760595" cy="1110615"/>
            </a:xfrm>
            <a:prstGeom prst="roundRect">
              <a:avLst>
                <a:gd name="adj" fmla="val 8576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语法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035" y="1937861"/>
              <a:ext cx="3453638" cy="6257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schedule(kind[, chunksize])</a:t>
              </a:r>
              <a:br/>
              <a:r>
                <a:rPr lang="en-US" sz="112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kind: static | dynamic | guided | runtime</a:t>
              </a:r>
              <a:br/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chunksize: 一个整数表达式</a:t>
              </a:r>
            </a:p>
          </p:txBody>
        </p:sp>
      </p:grpSp>
      <p:grpSp>
        <p:nvGrpSpPr>
          <p:cNvPr id="19" name="c1-card-2"/>
          <p:cNvGrpSpPr/>
          <p:nvPr/>
        </p:nvGrpSpPr>
        <p:grpSpPr>
          <a:xfrm>
            <a:off x="533400" y="2825115"/>
            <a:ext cx="4760595" cy="1937385"/>
            <a:chOff x="533400" y="2825115"/>
            <a:chExt cx="4760595" cy="1937385"/>
          </a:xfrm>
        </p:grpSpPr>
        <p:sp>
          <p:nvSpPr>
            <p:cNvPr id="11" name="Rectangle 11"/>
            <p:cNvSpPr/>
            <p:nvPr/>
          </p:nvSpPr>
          <p:spPr>
            <a:xfrm>
              <a:off x="533400" y="2825115"/>
              <a:ext cx="4760595" cy="1937385"/>
            </a:xfrm>
            <a:prstGeom prst="roundRect">
              <a:avLst>
                <a:gd name="adj" fmla="val 688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542925" y="2958465"/>
              <a:ext cx="47625" cy="167068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781050" y="3034665"/>
              <a:ext cx="664845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6330" y="3070384"/>
              <a:ext cx="4942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static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6765" y="3474720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44880" y="3411855"/>
              <a:ext cx="3825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省略 chunksize：迭代空间被划分成（近似）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相同大小的区域，每个线程分到一个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86765" y="4095750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44880" y="4032885"/>
              <a:ext cx="38823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指明 chunksize：迭代空间按 chunksize 大小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切块，再轮转地分给各个线程</a:t>
              </a:r>
            </a:p>
          </p:txBody>
        </p:sp>
      </p:grpSp>
      <p:grpSp>
        <p:nvGrpSpPr>
          <p:cNvPr id="25" name="c1-card-3"/>
          <p:cNvGrpSpPr/>
          <p:nvPr/>
        </p:nvGrpSpPr>
        <p:grpSpPr>
          <a:xfrm>
            <a:off x="533400" y="4953000"/>
            <a:ext cx="4760595" cy="1030605"/>
            <a:chOff x="533400" y="4953000"/>
            <a:chExt cx="4760595" cy="1030605"/>
          </a:xfrm>
        </p:grpSpPr>
        <p:sp>
          <p:nvSpPr>
            <p:cNvPr id="20" name="Rectangle 20"/>
            <p:cNvSpPr/>
            <p:nvPr/>
          </p:nvSpPr>
          <p:spPr>
            <a:xfrm>
              <a:off x="533400" y="4953000"/>
              <a:ext cx="4760595" cy="1030605"/>
            </a:xfrm>
            <a:prstGeom prst="roundRect">
              <a:avLst>
                <a:gd name="adj" fmla="val 1293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542925" y="5086350"/>
              <a:ext cx="47625" cy="76390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781050" y="5162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71258" y="5198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73430" y="5539740"/>
              <a:ext cx="40942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原课件示意图把 schedule 拼成了 schudule。</a:t>
              </a:r>
            </a:p>
          </p:txBody>
        </p:sp>
      </p:grpSp>
      <p:grpSp>
        <p:nvGrpSpPr>
          <p:cNvPr id="27" name="c2-text-1"/>
          <p:cNvGrpSpPr/>
          <p:nvPr/>
        </p:nvGrpSpPr>
        <p:grpSpPr>
          <a:xfrm>
            <a:off x="5592318" y="1545431"/>
            <a:ext cx="1997576" cy="249364"/>
            <a:chOff x="5592318" y="1545431"/>
            <a:chExt cx="1997576" cy="249364"/>
          </a:xfrm>
        </p:grpSpPr>
        <p:sp>
          <p:nvSpPr>
            <p:cNvPr id="26" name="TextBox 26"/>
            <p:cNvSpPr txBox="1"/>
            <p:nvPr/>
          </p:nvSpPr>
          <p:spPr>
            <a:xfrm>
              <a:off x="5592318" y="1545431"/>
              <a:ext cx="19975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例：迭代 1–40，4 个线程</a:t>
              </a:r>
            </a:p>
          </p:txBody>
        </p:sp>
      </p:grpSp>
      <p:grpSp>
        <p:nvGrpSpPr>
          <p:cNvPr id="66" name="c2-cells-2"/>
          <p:cNvGrpSpPr/>
          <p:nvPr/>
        </p:nvGrpSpPr>
        <p:grpSpPr>
          <a:xfrm>
            <a:off x="5593461" y="1934528"/>
            <a:ext cx="6065139" cy="1009650"/>
            <a:chOff x="5593461" y="1934528"/>
            <a:chExt cx="6065139" cy="1009650"/>
          </a:xfrm>
        </p:grpSpPr>
        <p:sp>
          <p:nvSpPr>
            <p:cNvPr id="28" name="TextBox 28"/>
            <p:cNvSpPr txBox="1"/>
            <p:nvPr/>
          </p:nvSpPr>
          <p:spPr>
            <a:xfrm>
              <a:off x="5593461" y="2079307"/>
              <a:ext cx="4633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static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313170" y="1934528"/>
              <a:ext cx="534352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489238" y="2079307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T0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848475" y="1934528"/>
              <a:ext cx="534352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023590" y="2079307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T0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7382828" y="1934528"/>
              <a:ext cx="53435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557943" y="2079307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T1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7917180" y="1934528"/>
              <a:ext cx="53435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092295" y="2079307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T1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451532" y="1934528"/>
              <a:ext cx="534352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627600" y="2079307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T2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8985885" y="1934528"/>
              <a:ext cx="534352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9161953" y="2079307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T2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9520238" y="1934528"/>
              <a:ext cx="53435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9696305" y="2079307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T3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10055542" y="1934528"/>
              <a:ext cx="53435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10230658" y="2079307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T3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593461" y="2669858"/>
              <a:ext cx="6266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static,4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313170" y="2525078"/>
              <a:ext cx="534352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489238" y="2669858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T0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848475" y="2525078"/>
              <a:ext cx="53435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023590" y="2669858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T1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7382828" y="2525078"/>
              <a:ext cx="534352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557943" y="2669858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T2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7917180" y="2525078"/>
              <a:ext cx="53435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092295" y="2669858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T3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8451532" y="2525078"/>
              <a:ext cx="534352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8627600" y="2669858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T0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8985885" y="2525078"/>
              <a:ext cx="53435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9161953" y="2669858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T1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9520238" y="2525078"/>
              <a:ext cx="534352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9696305" y="2669858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T2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10055542" y="2525078"/>
              <a:ext cx="53435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10230658" y="2669858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T3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10589895" y="2525078"/>
              <a:ext cx="534352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10765010" y="2669858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T0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11124248" y="2525078"/>
              <a:ext cx="53435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11299363" y="2669858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T1</a:t>
              </a:r>
            </a:p>
          </p:txBody>
        </p:sp>
      </p:grpSp>
      <p:grpSp>
        <p:nvGrpSpPr>
          <p:cNvPr id="92" name="c2-table-3"/>
          <p:cNvGrpSpPr/>
          <p:nvPr/>
        </p:nvGrpSpPr>
        <p:grpSpPr>
          <a:xfrm>
            <a:off x="5593080" y="3134678"/>
            <a:ext cx="6065520" cy="2739865"/>
            <a:chOff x="5593080" y="3134678"/>
            <a:chExt cx="6065520" cy="2739865"/>
          </a:xfrm>
        </p:grpSpPr>
        <p:sp>
          <p:nvSpPr>
            <p:cNvPr id="67" name="Rectangle 67"/>
            <p:cNvSpPr/>
            <p:nvPr/>
          </p:nvSpPr>
          <p:spPr>
            <a:xfrm>
              <a:off x="5598795" y="3134678"/>
              <a:ext cx="6059805" cy="448628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5923877" y="327040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线程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897909" y="3270409"/>
              <a:ext cx="15146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schedule(static)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9297288" y="3270409"/>
              <a:ext cx="17679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schedule(static, 4)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5991047" y="3719036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T0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7459221" y="3719036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1–10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8812720" y="3719036"/>
              <a:ext cx="234780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1–4、17–20、33–36（12 次）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5598795" y="402812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5" name="Rectangle 75"/>
            <p:cNvSpPr/>
            <p:nvPr/>
          </p:nvSpPr>
          <p:spPr>
            <a:xfrm>
              <a:off x="5598795" y="4032885"/>
              <a:ext cx="605980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5991047" y="4167664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T1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7411834" y="4167664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11–20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8812720" y="4167664"/>
              <a:ext cx="234780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5–8、21–24、37–40（12 次）</a:t>
              </a: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5598795" y="4476750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5991047" y="4616291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T2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7411834" y="4616291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21–30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8812720" y="4616291"/>
              <a:ext cx="170162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9–12、25–28（8 次）</a:t>
              </a:r>
            </a:p>
          </p:txBody>
        </p:sp>
        <p:sp>
          <p:nvSpPr>
            <p:cNvPr id="83" name="Rectangle 83"/>
            <p:cNvSpPr/>
            <p:nvPr/>
          </p:nvSpPr>
          <p:spPr>
            <a:xfrm>
              <a:off x="5598795" y="492537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4" name="Rectangle 84"/>
            <p:cNvSpPr/>
            <p:nvPr/>
          </p:nvSpPr>
          <p:spPr>
            <a:xfrm>
              <a:off x="5598795" y="4930140"/>
              <a:ext cx="605980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5991047" y="5065871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T3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7411834" y="5065871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31–40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8812720" y="5065871"/>
              <a:ext cx="179640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13–16、29–32（8 次）</a:t>
              </a:r>
            </a:p>
          </p:txBody>
        </p:sp>
        <p:sp>
          <p:nvSpPr>
            <p:cNvPr id="88" name="Rectangle 88"/>
            <p:cNvSpPr/>
            <p:nvPr/>
          </p:nvSpPr>
          <p:spPr>
            <a:xfrm>
              <a:off x="5598795" y="3134678"/>
              <a:ext cx="6059805" cy="22440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89" name="Rectangle 89"/>
            <p:cNvSpPr/>
            <p:nvPr/>
          </p:nvSpPr>
          <p:spPr>
            <a:xfrm>
              <a:off x="6601778" y="3134678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0" name="Rectangle 90"/>
            <p:cNvSpPr/>
            <p:nvPr/>
          </p:nvSpPr>
          <p:spPr>
            <a:xfrm>
              <a:off x="8700135" y="3134678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5593080" y="5454491"/>
              <a:ext cx="5743702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上排每格 5 次迭代，下排每格 4 次；40 / 4 = 10 块，轮转两圈后剩 2 块给 T0、T1（脚本与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本机实测一致）</a:t>
              </a:r>
            </a:p>
          </p:txBody>
        </p:sp>
      </p:grpSp>
      <p:grpSp>
        <p:nvGrpSpPr>
          <p:cNvPr id="9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3" name="TextBox 93"/>
            <p:cNvSpPr txBox="1"/>
            <p:nvPr/>
          </p:nvSpPr>
          <p:spPr>
            <a:xfrm>
              <a:off x="528447" y="6581299"/>
              <a:ext cx="31504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第2章 线程级并行与OpenMP编程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327301" cy="909257"/>
            <a:chOff x="520446" y="342900"/>
            <a:chExt cx="832730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第2章 线程级并行 · 任务划分结构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32730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dynamic、guided、runtime：运行中再决定谁做哪块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7" name="c1-table-1"/>
          <p:cNvGrpSpPr/>
          <p:nvPr/>
        </p:nvGrpSpPr>
        <p:grpSpPr>
          <a:xfrm>
            <a:off x="533400" y="1524000"/>
            <a:ext cx="5951220" cy="2653665"/>
            <a:chOff x="533400" y="1524000"/>
            <a:chExt cx="5951220" cy="265366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951220" cy="56769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0080" y="1734502"/>
              <a:ext cx="3000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kind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488692" y="173450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怎样分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186190" y="1641157"/>
              <a:ext cx="668750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470"/>
                </a:lnSpc>
              </a:pPr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省略</a:t>
              </a:r>
              <a:br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chunksize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623560" y="173450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适合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28078" y="2209800"/>
              <a:ext cx="4633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static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520571" y="2209800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进入循环时按块轮转分好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079938" y="2209800"/>
              <a:ext cx="7386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均分成 p 块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150548" y="2209800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各迭代工作量相近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468880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473642"/>
              <a:ext cx="5951220" cy="5676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28078" y="2684145"/>
              <a:ext cx="57465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dynamic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520571" y="2590800"/>
              <a:ext cx="2184273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切成 chunksize 大小的块，线程做完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一块再领下一块（先来先服务）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079938" y="268414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150548" y="2590800"/>
              <a:ext cx="1077468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工作量差别大、难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预测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3036570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28078" y="3251835"/>
              <a:ext cx="4633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guided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520571" y="3158490"/>
              <a:ext cx="2157603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类似 dynamic，但块开始大、越来越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小；chunksize 是最小块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079938" y="325183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150548" y="3158490"/>
              <a:ext cx="1077468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兼顾调度开销和负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载均衡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3605212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533400" y="3609975"/>
              <a:ext cx="5951220" cy="5676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28078" y="3820478"/>
              <a:ext cx="57465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runtime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520571" y="3727132"/>
              <a:ext cx="2224278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推迟到运行时，由 OMP_SCHEDULE 决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079938" y="3727132"/>
              <a:ext cx="637413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不能写</a:t>
              </a:r>
              <a:br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chunksize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150548" y="3820478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运行前调参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1524000"/>
              <a:ext cx="5951220" cy="265366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1421130" y="1524000"/>
              <a:ext cx="9525" cy="265366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3980498" y="1524000"/>
              <a:ext cx="9525" cy="265366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5051108" y="1524000"/>
              <a:ext cx="9525" cy="265366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1" name="c1-code-2"/>
          <p:cNvGrpSpPr/>
          <p:nvPr/>
        </p:nvGrpSpPr>
        <p:grpSpPr>
          <a:xfrm>
            <a:off x="533400" y="4342448"/>
            <a:ext cx="5951220" cy="681990"/>
            <a:chOff x="533400" y="4342448"/>
            <a:chExt cx="5951220" cy="681990"/>
          </a:xfrm>
        </p:grpSpPr>
        <p:sp>
          <p:nvSpPr>
            <p:cNvPr id="38" name="Rectangle 38"/>
            <p:cNvSpPr/>
            <p:nvPr/>
          </p:nvSpPr>
          <p:spPr>
            <a:xfrm>
              <a:off x="533400" y="4342448"/>
              <a:ext cx="5951220" cy="681990"/>
            </a:xfrm>
            <a:prstGeom prst="roundRect">
              <a:avLst>
                <a:gd name="adj" fmla="val 13966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61797" y="4494371"/>
              <a:ext cx="3251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Shell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61797" y="4754404"/>
              <a:ext cx="23167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export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OMP_SCHEDULE=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"dynamic,4"</a:t>
              </a:r>
            </a:p>
          </p:txBody>
        </p:sp>
      </p:grpSp>
      <p:grpSp>
        <p:nvGrpSpPr>
          <p:cNvPr id="47" name="c1-card-3"/>
          <p:cNvGrpSpPr/>
          <p:nvPr/>
        </p:nvGrpSpPr>
        <p:grpSpPr>
          <a:xfrm>
            <a:off x="533400" y="5189220"/>
            <a:ext cx="5951220" cy="1143952"/>
            <a:chOff x="533400" y="5189220"/>
            <a:chExt cx="5951220" cy="1143952"/>
          </a:xfrm>
        </p:grpSpPr>
        <p:sp>
          <p:nvSpPr>
            <p:cNvPr id="42" name="Rectangle 42"/>
            <p:cNvSpPr/>
            <p:nvPr/>
          </p:nvSpPr>
          <p:spPr>
            <a:xfrm>
              <a:off x="533400" y="5189220"/>
              <a:ext cx="5951220" cy="1143952"/>
            </a:xfrm>
            <a:prstGeom prst="roundRect">
              <a:avLst>
                <a:gd name="adj" fmla="val 1165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542925" y="5322570"/>
              <a:ext cx="47625" cy="87725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752475" y="537019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147" y="540305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45998" y="5710714"/>
              <a:ext cx="517423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原课件写作 export OMP_SCHEDULE=“DYNAMIC, 4”，用的是中文引号，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shell 里要写英文引号；使用 runtime 时再指明 chunksize 是非法的。</a:t>
              </a:r>
            </a:p>
          </p:txBody>
        </p:sp>
      </p:grpSp>
      <p:grpSp>
        <p:nvGrpSpPr>
          <p:cNvPr id="87" name="c2-card-1"/>
          <p:cNvGrpSpPr/>
          <p:nvPr/>
        </p:nvGrpSpPr>
        <p:grpSpPr>
          <a:xfrm>
            <a:off x="6789420" y="1524000"/>
            <a:ext cx="4869180" cy="4809172"/>
            <a:chOff x="6789420" y="1524000"/>
            <a:chExt cx="4869180" cy="4809172"/>
          </a:xfrm>
        </p:grpSpPr>
        <p:sp>
          <p:nvSpPr>
            <p:cNvPr id="48" name="Rectangle 48"/>
            <p:cNvSpPr/>
            <p:nvPr/>
          </p:nvSpPr>
          <p:spPr>
            <a:xfrm>
              <a:off x="6789420" y="1524000"/>
              <a:ext cx="4869180" cy="4809172"/>
            </a:xfrm>
            <a:prstGeom prst="roundRect">
              <a:avLst>
                <a:gd name="adj" fmla="val 277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6798945" y="1657350"/>
              <a:ext cx="47625" cy="454247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7008495" y="1704975"/>
              <a:ext cx="334328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104266" y="1737836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450646" y="1744504"/>
              <a:ext cx="24498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guided：100 次迭代、4 个线程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002018" y="2061686"/>
              <a:ext cx="418261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 GCC 的 libgomp 为例，每块取“剩余迭代数 / 线程数”并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向上取整：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7008495" y="2567940"/>
              <a:ext cx="638175" cy="3562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252851" y="268986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7646670" y="2567940"/>
              <a:ext cx="638175" cy="3562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7891026" y="268986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8285798" y="2567940"/>
              <a:ext cx="638175" cy="3562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8530154" y="268986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8923972" y="2567940"/>
              <a:ext cx="638175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9168329" y="268986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9562148" y="2567940"/>
              <a:ext cx="638175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9841488" y="268986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10200322" y="2567940"/>
              <a:ext cx="638175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10480616" y="268986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10839450" y="2567940"/>
              <a:ext cx="638175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11118791" y="268986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7008495" y="3069908"/>
              <a:ext cx="638175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7287836" y="3191828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7646670" y="3069908"/>
              <a:ext cx="638175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7926011" y="3191828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8285798" y="3069908"/>
              <a:ext cx="638175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8565138" y="3191828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8923972" y="3069908"/>
              <a:ext cx="638175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9203313" y="3191828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9562148" y="3069908"/>
              <a:ext cx="638175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9841488" y="3191828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10200322" y="3069908"/>
              <a:ext cx="638175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10480616" y="3191828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0" name="Rectangle 80"/>
            <p:cNvSpPr/>
            <p:nvPr/>
          </p:nvSpPr>
          <p:spPr>
            <a:xfrm>
              <a:off x="10839450" y="3069908"/>
              <a:ext cx="638175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11118791" y="3191828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2" name="Ellipse 82"/>
            <p:cNvSpPr/>
            <p:nvPr/>
          </p:nvSpPr>
          <p:spPr>
            <a:xfrm>
              <a:off x="7018020" y="3580448"/>
              <a:ext cx="57150" cy="571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7173468" y="3528536"/>
              <a:ext cx="406069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 / 4 = 25，剩 75；75 / 4 = 18.75 取 19，剩 56；56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/ 4 = 14，剩 42……</a:t>
              </a:r>
            </a:p>
          </p:txBody>
        </p:sp>
        <p:sp>
          <p:nvSpPr>
            <p:cNvPr id="84" name="Ellipse 84"/>
            <p:cNvSpPr/>
            <p:nvPr/>
          </p:nvSpPr>
          <p:spPr>
            <a:xfrm>
              <a:off x="7018020" y="4109085"/>
              <a:ext cx="57150" cy="571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7173468" y="4056221"/>
              <a:ext cx="404444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 块合计 100；写 guided,5 时块不小于 5（最后不足 5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的剩余除外）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7003161" y="4580572"/>
              <a:ext cx="4177856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标准只要求块大小与“剩余迭代数 / 线程数”成正比，具体公式由实现决</a:t>
              </a:r>
              <a:br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定。</a:t>
              </a:r>
            </a:p>
          </p:txBody>
        </p:sp>
      </p:grpSp>
      <p:grpSp>
        <p:nvGrpSpPr>
          <p:cNvPr id="9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8" name="TextBox 88"/>
            <p:cNvSpPr txBox="1"/>
            <p:nvPr/>
          </p:nvSpPr>
          <p:spPr>
            <a:xfrm>
              <a:off x="528447" y="6581299"/>
              <a:ext cx="31504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第2章 线程级并行与OpenMP编程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014251" cy="909257"/>
            <a:chOff x="520446" y="342900"/>
            <a:chExt cx="701425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第2章 线程级并行 · 任务划分结构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01425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sections：把互不相关的代码段分给不同线程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4977765" cy="2397442"/>
            <a:chOff x="533400" y="1524000"/>
            <a:chExt cx="4977765" cy="239744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2397442"/>
            </a:xfrm>
            <a:prstGeom prst="roundRect">
              <a:avLst>
                <a:gd name="adj" fmla="val 397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语法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416" y="1937385"/>
              <a:ext cx="2871026" cy="191128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#pragma omp sections [clauses]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{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[#pragma omp section]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structured-block-sequence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[#pragma omp section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structured-block-sequence]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...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与并行域合并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#pragma omp parallel sections [clauses]</a:t>
              </a:r>
            </a:p>
          </p:txBody>
        </p:sp>
      </p:grpSp>
      <p:grpSp>
        <p:nvGrpSpPr>
          <p:cNvPr id="17" name="c1-bullets-2"/>
          <p:cNvGrpSpPr/>
          <p:nvPr/>
        </p:nvGrpSpPr>
        <p:grpSpPr>
          <a:xfrm>
            <a:off x="542925" y="4115276"/>
            <a:ext cx="4690872" cy="979171"/>
            <a:chOff x="542925" y="4115276"/>
            <a:chExt cx="4690872" cy="979171"/>
          </a:xfrm>
        </p:grpSpPr>
        <p:sp>
          <p:nvSpPr>
            <p:cNvPr id="11" name="Ellipse 11"/>
            <p:cNvSpPr/>
            <p:nvPr/>
          </p:nvSpPr>
          <p:spPr>
            <a:xfrm>
              <a:off x="542925" y="4157662"/>
              <a:ext cx="57150" cy="571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99135" y="4115276"/>
              <a:ext cx="4534662" cy="4343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8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可带 private、firstprivate、lastprivate、reduction、nowait 等子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句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542925" y="4644390"/>
              <a:ext cx="57150" cy="571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99135" y="4602004"/>
              <a:ext cx="24087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 section 必须是一个结构块 { }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542925" y="4916805"/>
              <a:ext cx="57150" cy="571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99135" y="4874419"/>
              <a:ext cx="36149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第一个 section 前的 #pragma omp section 可以省略</a:t>
              </a:r>
            </a:p>
          </p:txBody>
        </p:sp>
      </p:grpSp>
      <p:grpSp>
        <p:nvGrpSpPr>
          <p:cNvPr id="24" name="c1-callout-3"/>
          <p:cNvGrpSpPr/>
          <p:nvPr/>
        </p:nvGrpSpPr>
        <p:grpSpPr>
          <a:xfrm>
            <a:off x="533400" y="5225415"/>
            <a:ext cx="4977765" cy="978218"/>
            <a:chOff x="533400" y="5225415"/>
            <a:chExt cx="4977765" cy="978218"/>
          </a:xfrm>
        </p:grpSpPr>
        <p:sp>
          <p:nvSpPr>
            <p:cNvPr id="18" name="Rectangle 18"/>
            <p:cNvSpPr/>
            <p:nvPr/>
          </p:nvSpPr>
          <p:spPr>
            <a:xfrm>
              <a:off x="533400" y="5225415"/>
              <a:ext cx="4977765" cy="978218"/>
            </a:xfrm>
            <a:prstGeom prst="roundRect">
              <a:avLst>
                <a:gd name="adj" fmla="val 11685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738188" y="5614035"/>
              <a:ext cx="200026" cy="200025"/>
              <a:chOff x="738188" y="5614035"/>
              <a:chExt cx="200026" cy="200025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738188" y="561403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777926" y="565848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812642" y="576961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1040892" y="5371148"/>
              <a:ext cx="4034218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sections 用于功能并行。例如处理一幅图像时，一段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算直方图、一段做边缘检测，两段互不依赖，就可以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各放进一个 section。</a:t>
              </a:r>
            </a:p>
          </p:txBody>
        </p:sp>
      </p:grpSp>
      <p:grpSp>
        <p:nvGrpSpPr>
          <p:cNvPr id="28" name="c2-code-1"/>
          <p:cNvGrpSpPr/>
          <p:nvPr/>
        </p:nvGrpSpPr>
        <p:grpSpPr>
          <a:xfrm>
            <a:off x="5815965" y="1524000"/>
            <a:ext cx="5842635" cy="2748915"/>
            <a:chOff x="5815965" y="1524000"/>
            <a:chExt cx="5842635" cy="2748915"/>
          </a:xfrm>
        </p:grpSpPr>
        <p:sp>
          <p:nvSpPr>
            <p:cNvPr id="25" name="Rectangle 25"/>
            <p:cNvSpPr/>
            <p:nvPr/>
          </p:nvSpPr>
          <p:spPr>
            <a:xfrm>
              <a:off x="5815965" y="1524000"/>
              <a:ext cx="5842635" cy="2748915"/>
            </a:xfrm>
            <a:prstGeom prst="roundRect">
              <a:avLst>
                <a:gd name="adj" fmla="val 346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944362" y="1675924"/>
              <a:ext cx="64719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例（C++）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944552" y="1935194"/>
              <a:ext cx="4463161" cy="22536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60"/>
                </a:lnSpc>
              </a:pP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#pragma omp parallel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{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#pragma omp sections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{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#pragma omp section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{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cout &lt;&lt; </a:t>
              </a:r>
              <a:r>
                <a:rPr lang="zh-CN" sz="88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"section 1 线程ID："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&lt;&lt; omp_get_thread_num() &lt;&lt; </a:t>
              </a:r>
              <a:r>
                <a:rPr lang="en-US" sz="8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"\n"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#pragma omp section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{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cout &lt;&lt; </a:t>
              </a:r>
              <a:r>
                <a:rPr lang="zh-CN" sz="88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"section 2 线程ID："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&lt;&lt; omp_get_thread_num() &lt;&lt; </a:t>
              </a:r>
              <a:r>
                <a:rPr lang="en-US" sz="8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"\n"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37" name="c2-card-2"/>
          <p:cNvGrpSpPr/>
          <p:nvPr/>
        </p:nvGrpSpPr>
        <p:grpSpPr>
          <a:xfrm>
            <a:off x="5815965" y="4448175"/>
            <a:ext cx="5842635" cy="1755458"/>
            <a:chOff x="5815965" y="4448175"/>
            <a:chExt cx="5842635" cy="1755458"/>
          </a:xfrm>
        </p:grpSpPr>
        <p:sp>
          <p:nvSpPr>
            <p:cNvPr id="29" name="Rectangle 29"/>
            <p:cNvSpPr/>
            <p:nvPr/>
          </p:nvSpPr>
          <p:spPr>
            <a:xfrm>
              <a:off x="5815965" y="4448175"/>
              <a:ext cx="5842635" cy="1755458"/>
            </a:xfrm>
            <a:prstGeom prst="roundRect">
              <a:avLst>
                <a:gd name="adj" fmla="val 759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5825490" y="4581525"/>
              <a:ext cx="47625" cy="148875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6046470" y="4640580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129909" y="467487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执行规律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6055042" y="5053012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211062" y="4996815"/>
              <a:ext cx="53204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 section 恰好被某一个线程执行一次，由哪个线程执行不确定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6055042" y="5355908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211062" y="5299710"/>
              <a:ext cx="488289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线程多于 section 时，空闲线程在结尾的隐含 barrier 处等待；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section 多于线程时，有的线程要执行多个</a:t>
              </a:r>
            </a:p>
          </p:txBody>
        </p:sp>
      </p:grpSp>
      <p:grpSp>
        <p:nvGrpSpPr>
          <p:cNvPr id="4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8" name="TextBox 38"/>
            <p:cNvSpPr txBox="1"/>
            <p:nvPr/>
          </p:nvSpPr>
          <p:spPr>
            <a:xfrm>
              <a:off x="528447" y="6581299"/>
              <a:ext cx="31504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第2章 线程级并行与OpenMP编程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14212" cy="909257"/>
            <a:chOff x="520446" y="342900"/>
            <a:chExt cx="721421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第2章 线程级并行 · 任务划分结构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1421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single：只让一个线程做，其他线程在结尾等它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ode-1"/>
          <p:cNvGrpSpPr/>
          <p:nvPr/>
        </p:nvGrpSpPr>
        <p:grpSpPr>
          <a:xfrm>
            <a:off x="533400" y="1524000"/>
            <a:ext cx="5193982" cy="2936558"/>
            <a:chOff x="533400" y="1524000"/>
            <a:chExt cx="5193982" cy="293655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2936558"/>
            </a:xfrm>
            <a:prstGeom prst="roundRect">
              <a:avLst>
                <a:gd name="adj" fmla="val 324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语法与例子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3112770"/>
              <a:ext cx="5155882" cy="20288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552450" y="3315652"/>
              <a:ext cx="5155882" cy="20288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552450" y="3518535"/>
              <a:ext cx="5155882" cy="20288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552450" y="3721418"/>
              <a:ext cx="5155882" cy="20288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61035" y="1937861"/>
              <a:ext cx="2201926" cy="24517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#pragma omp single [clauses]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structured-block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#pragma omp parallel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{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setup(x);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#pragma omp single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{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input(y);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work(x, y);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0" name="c1-card-2"/>
          <p:cNvGrpSpPr/>
          <p:nvPr/>
        </p:nvGrpSpPr>
        <p:grpSpPr>
          <a:xfrm>
            <a:off x="533400" y="4651058"/>
            <a:ext cx="5193982" cy="1602105"/>
            <a:chOff x="533400" y="4651058"/>
            <a:chExt cx="5193982" cy="1602105"/>
          </a:xfrm>
        </p:grpSpPr>
        <p:sp>
          <p:nvSpPr>
            <p:cNvPr id="15" name="Rectangle 15"/>
            <p:cNvSpPr/>
            <p:nvPr/>
          </p:nvSpPr>
          <p:spPr>
            <a:xfrm>
              <a:off x="533400" y="4651058"/>
              <a:ext cx="5193982" cy="1602105"/>
            </a:xfrm>
            <a:prstGeom prst="roundRect">
              <a:avLst>
                <a:gd name="adj" fmla="val 83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42925" y="4784408"/>
              <a:ext cx="47625" cy="133540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81050" y="4860608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71258" y="489632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73430" y="5237798"/>
              <a:ext cx="44919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原例把左花括号写在制导同一行（#pragma omp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parallel {）。制导以换行结束，这样写编译不过，花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括号要另起一行。</a:t>
              </a:r>
            </a:p>
          </p:txBody>
        </p:sp>
      </p:grpSp>
      <p:grpSp>
        <p:nvGrpSpPr>
          <p:cNvPr id="26" name="c2-card-1"/>
          <p:cNvGrpSpPr/>
          <p:nvPr/>
        </p:nvGrpSpPr>
        <p:grpSpPr>
          <a:xfrm>
            <a:off x="6032182" y="1524000"/>
            <a:ext cx="5626418" cy="1316355"/>
            <a:chOff x="6032182" y="1524000"/>
            <a:chExt cx="5626418" cy="1316355"/>
          </a:xfrm>
        </p:grpSpPr>
        <p:sp>
          <p:nvSpPr>
            <p:cNvPr id="21" name="Rectangle 21"/>
            <p:cNvSpPr/>
            <p:nvPr/>
          </p:nvSpPr>
          <p:spPr>
            <a:xfrm>
              <a:off x="6032182" y="1524000"/>
              <a:ext cx="5626418" cy="1316355"/>
            </a:xfrm>
            <a:prstGeom prst="roundRect">
              <a:avLst>
                <a:gd name="adj" fmla="val 101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6041708" y="1657350"/>
              <a:ext cx="47625" cy="104965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6279832" y="1733550"/>
              <a:ext cx="627698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365852" y="1769269"/>
              <a:ext cx="45470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single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272212" y="2110740"/>
              <a:ext cx="4777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结构体代码只由一个线程执行，由最先执行到它的线程执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行；其他线程等待，直到该结构块执行完。</a:t>
              </a:r>
            </a:p>
          </p:txBody>
        </p:sp>
      </p:grpSp>
      <p:grpSp>
        <p:nvGrpSpPr>
          <p:cNvPr id="31" name="c2-card-2"/>
          <p:cNvGrpSpPr/>
          <p:nvPr/>
        </p:nvGrpSpPr>
        <p:grpSpPr>
          <a:xfrm>
            <a:off x="6032182" y="3030855"/>
            <a:ext cx="5626418" cy="1602105"/>
            <a:chOff x="6032182" y="3030855"/>
            <a:chExt cx="5626418" cy="1602105"/>
          </a:xfrm>
        </p:grpSpPr>
        <p:sp>
          <p:nvSpPr>
            <p:cNvPr id="27" name="Rectangle 27"/>
            <p:cNvSpPr/>
            <p:nvPr/>
          </p:nvSpPr>
          <p:spPr>
            <a:xfrm>
              <a:off x="6032182" y="3030855"/>
              <a:ext cx="5626418" cy="1602105"/>
            </a:xfrm>
            <a:prstGeom prst="roundRect">
              <a:avLst>
                <a:gd name="adj" fmla="val 8323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241732" y="324040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243B53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31941" y="327612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意义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234112" y="3617595"/>
              <a:ext cx="49682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并行域里有些事只能做一次：读输入、初始化共享数据、打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印提示。例中 y 只读入一次；结尾的隐含 barrier 保证所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有线程进入 work(x, y) 时 y 已经读好。</a:t>
              </a:r>
            </a:p>
          </p:txBody>
        </p:sp>
      </p:grpSp>
      <p:grpSp>
        <p:nvGrpSpPr>
          <p:cNvPr id="47" name="c2-table-3"/>
          <p:cNvGrpSpPr/>
          <p:nvPr/>
        </p:nvGrpSpPr>
        <p:grpSpPr>
          <a:xfrm>
            <a:off x="6032182" y="4823460"/>
            <a:ext cx="5626418" cy="1346835"/>
            <a:chOff x="6032182" y="4823460"/>
            <a:chExt cx="5626418" cy="1346835"/>
          </a:xfrm>
        </p:grpSpPr>
        <p:sp>
          <p:nvSpPr>
            <p:cNvPr id="32" name="Rectangle 32"/>
            <p:cNvSpPr/>
            <p:nvPr/>
          </p:nvSpPr>
          <p:spPr>
            <a:xfrm>
              <a:off x="6032182" y="4823460"/>
              <a:ext cx="5626418" cy="448628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360122" y="495919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对比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171752" y="4959191"/>
              <a:ext cx="51955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single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414429" y="4959191"/>
              <a:ext cx="64620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master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140006" y="5407819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谁执行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152513" y="5407819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最先到达的任意一个线程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925240" y="5407819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只有主线程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032182" y="571595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6032182" y="5720715"/>
              <a:ext cx="5626418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140006" y="585644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结尾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152513" y="5856446"/>
              <a:ext cx="23305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有隐含 barrier（可 nowait）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925240" y="5856446"/>
              <a:ext cx="13742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没有隐含 barrier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032182" y="4823460"/>
              <a:ext cx="5626418" cy="134683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7039928" y="4823460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9812655" y="4823460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8" name="TextBox 48"/>
            <p:cNvSpPr txBox="1"/>
            <p:nvPr/>
          </p:nvSpPr>
          <p:spPr>
            <a:xfrm>
              <a:off x="528447" y="6581299"/>
              <a:ext cx="31504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第2章 线程级并行与OpenMP编程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334E6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7EDF3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3580638" cy="3351847"/>
            <a:chOff x="667512" y="1835468"/>
            <a:chExt cx="3580638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第六部分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197510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同步结构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35707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控制各线程的执行次序和数据可见性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七种同步结构一览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02444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critical 与命名临界区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7215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barrier 与 atomic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6205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flush 与 ordered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31504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第2章 线程级并行与OpenMP编程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488561" cy="909257"/>
            <a:chOff x="520446" y="342900"/>
            <a:chExt cx="44885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第2章 线程级并行 · 同步结构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4885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七种典型的同步结构各管什么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4" name="c1-table-1"/>
          <p:cNvGrpSpPr/>
          <p:nvPr/>
        </p:nvGrpSpPr>
        <p:grpSpPr>
          <a:xfrm>
            <a:off x="533400" y="1524000"/>
            <a:ext cx="11125200" cy="3246120"/>
            <a:chOff x="533400" y="1524000"/>
            <a:chExt cx="11125200" cy="324612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0576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266546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制导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049876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作用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721888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补充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3412" y="2054066"/>
              <a:ext cx="5655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master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413635" y="2054066"/>
              <a:ext cx="28761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代码段只由主线程执行，组内其他线程跳过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198167" y="2054066"/>
              <a:ext cx="12025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没有隐含 barrier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33076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335530"/>
              <a:ext cx="11125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3412" y="2459831"/>
              <a:ext cx="58927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critical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413635" y="2459831"/>
              <a:ext cx="25745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临界区，同一时刻只能由一个线程执行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198167" y="245983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可以命名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73653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3412" y="2865596"/>
              <a:ext cx="5813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barrier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413635" y="2865596"/>
              <a:ext cx="25745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同步组内所有线程，先到达的线程阻塞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198167" y="286559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独立成句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14229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147060"/>
              <a:ext cx="11125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3412" y="3271361"/>
              <a:ext cx="525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atomic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413635" y="3271361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特定的存储单元被原子地更新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198167" y="3271361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只保护一条赋值语句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354806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3412" y="3677126"/>
              <a:ext cx="4072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flush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413635" y="3677126"/>
              <a:ext cx="36300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标识一个同步点，确保所有线程看到一致的存储器视图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198167" y="367712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可带变量列表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395382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33400" y="3958590"/>
              <a:ext cx="11125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33412" y="4082891"/>
              <a:ext cx="6209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ordered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413635" y="4082891"/>
              <a:ext cx="2725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循环中的这部分代码按迭代顺序串行执行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198167" y="4082891"/>
              <a:ext cx="157948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for 要带 ordered 子句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435959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33412" y="4488656"/>
              <a:ext cx="11037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threadprivate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413635" y="4488656"/>
              <a:ext cx="43838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使全局（文件作用域）变量在并行域内成为每线程一份的私有拷贝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198167" y="448865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声明性指令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33400" y="1524000"/>
              <a:ext cx="11125200" cy="324612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2308860" y="1524000"/>
              <a:ext cx="9525" cy="32461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8093392" y="1524000"/>
              <a:ext cx="9525" cy="32461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1" name="c1-compare-2"/>
          <p:cNvGrpSpPr/>
          <p:nvPr/>
        </p:nvGrpSpPr>
        <p:grpSpPr>
          <a:xfrm>
            <a:off x="533400" y="4945380"/>
            <a:ext cx="11125200" cy="1417320"/>
            <a:chOff x="533400" y="4945380"/>
            <a:chExt cx="11125200" cy="1417320"/>
          </a:xfrm>
        </p:grpSpPr>
        <p:sp>
          <p:nvSpPr>
            <p:cNvPr id="45" name="Rectangle 45"/>
            <p:cNvSpPr/>
            <p:nvPr/>
          </p:nvSpPr>
          <p:spPr>
            <a:xfrm>
              <a:off x="533400" y="4945380"/>
              <a:ext cx="5323522" cy="1417320"/>
            </a:xfrm>
            <a:prstGeom prst="roundRect">
              <a:avLst>
                <a:gd name="adj" fmla="val 940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542925" y="5078730"/>
              <a:ext cx="47625" cy="1150620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57047" y="5159692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保护共享数据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772478" y="5535930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928497" y="5479733"/>
              <a:ext cx="413914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一条简单更新（x++、x += e）：atomic，开销最小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772478" y="5838825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928497" y="5782628"/>
              <a:ext cx="37665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一段代码：critical；要跨函数加锁时用锁函数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6335078" y="4945380"/>
              <a:ext cx="5323522" cy="1417320"/>
            </a:xfrm>
            <a:prstGeom prst="roundRect">
              <a:avLst>
                <a:gd name="adj" fmla="val 940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6344602" y="5078730"/>
              <a:ext cx="47625" cy="115062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558724" y="5159692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协调执行进度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6574155" y="5535930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730174" y="5479733"/>
              <a:ext cx="21218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等所有线程到齐：barrier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6574155" y="5838825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730174" y="5782628"/>
              <a:ext cx="44299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只让主线程做：master；任意一个线程做一次：single</a:t>
              </a:r>
            </a:p>
          </p:txBody>
        </p:sp>
        <p:sp>
          <p:nvSpPr>
            <p:cNvPr id="59" name="Ellipse 59"/>
            <p:cNvSpPr/>
            <p:nvPr/>
          </p:nvSpPr>
          <p:spPr>
            <a:xfrm>
              <a:off x="5904548" y="5462588"/>
              <a:ext cx="382905" cy="38290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5959119" y="559355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选用</a:t>
              </a:r>
            </a:p>
          </p:txBody>
        </p:sp>
      </p:grpSp>
      <p:grpSp>
        <p:nvGrpSpPr>
          <p:cNvPr id="6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2" name="TextBox 62"/>
            <p:cNvSpPr txBox="1"/>
            <p:nvPr/>
          </p:nvSpPr>
          <p:spPr>
            <a:xfrm>
              <a:off x="528447" y="6581299"/>
              <a:ext cx="31504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第2章 线程级并行与OpenMP编程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746104" cy="909257"/>
            <a:chOff x="520446" y="342900"/>
            <a:chExt cx="87461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第2章 线程级并行 · 同步结构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7461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critical 每个线程都执行但一次一个；single 只执行一次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4977765" cy="1840230"/>
            <a:chOff x="533400" y="1524000"/>
            <a:chExt cx="4977765" cy="184023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1840230"/>
            </a:xfrm>
            <a:prstGeom prst="roundRect">
              <a:avLst>
                <a:gd name="adj" fmla="val 724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573530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9620" y="1722120"/>
              <a:ext cx="721042" cy="24765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3467" y="1756410"/>
              <a:ext cx="55239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critical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381" y="2082641"/>
              <a:ext cx="4207383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 critical 指定的代码区域（临界区）一次只能由一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个线程执行。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77240" y="2731770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33831" y="2672239"/>
              <a:ext cx="416229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一个线程正在区域内执行时，另一个线程到达并试图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进入，就会阻塞，直到第一个线程退出</a:t>
              </a:r>
            </a:p>
          </p:txBody>
        </p:sp>
      </p:grpSp>
      <p:grpSp>
        <p:nvGrpSpPr>
          <p:cNvPr id="18" name="c1-code-2"/>
          <p:cNvGrpSpPr/>
          <p:nvPr/>
        </p:nvGrpSpPr>
        <p:grpSpPr>
          <a:xfrm>
            <a:off x="533400" y="3544252"/>
            <a:ext cx="4977765" cy="882968"/>
            <a:chOff x="533400" y="3544252"/>
            <a:chExt cx="4977765" cy="882968"/>
          </a:xfrm>
        </p:grpSpPr>
        <p:sp>
          <p:nvSpPr>
            <p:cNvPr id="15" name="Rectangle 15"/>
            <p:cNvSpPr/>
            <p:nvPr/>
          </p:nvSpPr>
          <p:spPr>
            <a:xfrm>
              <a:off x="533400" y="3544252"/>
              <a:ext cx="4977765" cy="882968"/>
            </a:xfrm>
            <a:prstGeom prst="roundRect">
              <a:avLst>
                <a:gd name="adj" fmla="val 1078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61797" y="369617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语法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61416" y="3957638"/>
              <a:ext cx="2137601" cy="3949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#pragma omp critical [(name)]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structured-block</a:t>
              </a:r>
            </a:p>
          </p:txBody>
        </p:sp>
      </p:grpSp>
      <p:grpSp>
        <p:nvGrpSpPr>
          <p:cNvPr id="27" name="c1-card-3"/>
          <p:cNvGrpSpPr/>
          <p:nvPr/>
        </p:nvGrpSpPr>
        <p:grpSpPr>
          <a:xfrm>
            <a:off x="533400" y="4607242"/>
            <a:ext cx="4977765" cy="1705928"/>
            <a:chOff x="533400" y="4607242"/>
            <a:chExt cx="4977765" cy="1705928"/>
          </a:xfrm>
        </p:grpSpPr>
        <p:sp>
          <p:nvSpPr>
            <p:cNvPr id="19" name="Rectangle 19"/>
            <p:cNvSpPr/>
            <p:nvPr/>
          </p:nvSpPr>
          <p:spPr>
            <a:xfrm>
              <a:off x="533400" y="4607242"/>
              <a:ext cx="4977765" cy="1705928"/>
            </a:xfrm>
            <a:prstGeom prst="roundRect">
              <a:avLst>
                <a:gd name="adj" fmla="val 781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542925" y="4740592"/>
              <a:ext cx="47625" cy="1439228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769620" y="4805362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61060" y="483965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777240" y="5226367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33831" y="5165884"/>
              <a:ext cx="4207383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同名（包括都未命名）的 critical 互相嵌套会让线程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等自己，程序卡死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777240" y="5815965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33831" y="5755481"/>
              <a:ext cx="364652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临界区越长，线程排队越久，并行效果越差</a:t>
              </a:r>
            </a:p>
          </p:txBody>
        </p:sp>
      </p:grpSp>
      <p:grpSp>
        <p:nvGrpSpPr>
          <p:cNvPr id="31" name="c2-code-1"/>
          <p:cNvGrpSpPr/>
          <p:nvPr/>
        </p:nvGrpSpPr>
        <p:grpSpPr>
          <a:xfrm>
            <a:off x="5815965" y="1524000"/>
            <a:ext cx="5842635" cy="2160270"/>
            <a:chOff x="5815965" y="1524000"/>
            <a:chExt cx="5842635" cy="2160270"/>
          </a:xfrm>
        </p:grpSpPr>
        <p:sp>
          <p:nvSpPr>
            <p:cNvPr id="28" name="Rectangle 28"/>
            <p:cNvSpPr/>
            <p:nvPr/>
          </p:nvSpPr>
          <p:spPr>
            <a:xfrm>
              <a:off x="5815965" y="1524000"/>
              <a:ext cx="5842635" cy="2160270"/>
            </a:xfrm>
            <a:prstGeom prst="roundRect">
              <a:avLst>
                <a:gd name="adj" fmla="val 4409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944362" y="1675924"/>
              <a:ext cx="168769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例：critical 与 single 对比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944552" y="1935766"/>
              <a:ext cx="2901315" cy="167068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05"/>
                </a:lnSpc>
              </a:pPr>
              <a:r>
                <a:rPr lang="en-US" sz="92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 = 0, b = 0;</a:t>
              </a:r>
              <a:br/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#pragma omp parallel num_threads(4)</a:t>
              </a:r>
              <a:br/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{</a:t>
              </a:r>
              <a:br/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#pragma omp single</a:t>
              </a:r>
              <a:br/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a++;</a:t>
              </a:r>
              <a:br/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#pragma omp critical</a:t>
              </a:r>
              <a:br/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b++;</a:t>
              </a:r>
              <a:br/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printf(</a:t>
              </a:r>
              <a:r>
                <a:rPr lang="en-US" sz="9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"single: %d -- critical: %d\n"</a:t>
              </a:r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, a, b);</a:t>
              </a:r>
              <a:br/>
              <a:r>
                <a:rPr lang="zh-CN" sz="9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输出 single: 1 -- critical: 4</a:t>
              </a:r>
            </a:p>
          </p:txBody>
        </p:sp>
      </p:grpSp>
      <p:grpSp>
        <p:nvGrpSpPr>
          <p:cNvPr id="48" name="c2-table-2"/>
          <p:cNvGrpSpPr/>
          <p:nvPr/>
        </p:nvGrpSpPr>
        <p:grpSpPr>
          <a:xfrm>
            <a:off x="5810631" y="3865245"/>
            <a:ext cx="5847969" cy="1553147"/>
            <a:chOff x="5810631" y="3865245"/>
            <a:chExt cx="5847969" cy="1553147"/>
          </a:xfrm>
        </p:grpSpPr>
        <p:sp>
          <p:nvSpPr>
            <p:cNvPr id="32" name="Rectangle 32"/>
            <p:cNvSpPr/>
            <p:nvPr/>
          </p:nvSpPr>
          <p:spPr>
            <a:xfrm>
              <a:off x="5815965" y="3865245"/>
              <a:ext cx="5842635" cy="42481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285548" y="399288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制导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098536" y="399288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由谁执行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382631" y="399288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执行次数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918454" y="4417695"/>
              <a:ext cx="4871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single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193852" y="4417695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一个线程（不一定是主线程）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661294" y="441769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815965" y="470916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5815965" y="4713922"/>
              <a:ext cx="5842635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918454" y="4842510"/>
              <a:ext cx="6313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critical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193852" y="4842510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每个线程都执行，但一次一个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071659" y="4842510"/>
              <a:ext cx="12803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线程数（此处 4）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815965" y="3865245"/>
              <a:ext cx="5842635" cy="127349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7086600" y="3865245"/>
              <a:ext cx="9525" cy="127349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9759315" y="3865245"/>
              <a:ext cx="9525" cy="127349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5810631" y="5213033"/>
              <a:ext cx="215493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本机 MSVC 实测输出与原课件一致</a:t>
              </a:r>
            </a:p>
          </p:txBody>
        </p:sp>
      </p:grpSp>
      <p:grpSp>
        <p:nvGrpSpPr>
          <p:cNvPr id="55" name="c2-callout-3"/>
          <p:cNvGrpSpPr/>
          <p:nvPr/>
        </p:nvGrpSpPr>
        <p:grpSpPr>
          <a:xfrm>
            <a:off x="5815965" y="5556885"/>
            <a:ext cx="5842635" cy="756285"/>
            <a:chOff x="5815965" y="5556885"/>
            <a:chExt cx="5842635" cy="756285"/>
          </a:xfrm>
        </p:grpSpPr>
        <p:sp>
          <p:nvSpPr>
            <p:cNvPr id="49" name="Rectangle 49"/>
            <p:cNvSpPr/>
            <p:nvPr/>
          </p:nvSpPr>
          <p:spPr>
            <a:xfrm>
              <a:off x="5815965" y="5556885"/>
              <a:ext cx="5842635" cy="756285"/>
            </a:xfrm>
            <a:prstGeom prst="roundRect">
              <a:avLst>
                <a:gd name="adj" fmla="val 1511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6020753" y="5835015"/>
              <a:ext cx="200026" cy="200025"/>
              <a:chOff x="6020753" y="5835015"/>
              <a:chExt cx="200026" cy="200025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6020753" y="583501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6060491" y="587946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6095207" y="599059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6323076" y="5704046"/>
              <a:ext cx="3999992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像 b++ 这样只有一条简单累加时，换成 atomic 或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reduction(+:b) 开销更小。</a:t>
              </a:r>
            </a:p>
          </p:txBody>
        </p:sp>
      </p:grpSp>
      <p:grpSp>
        <p:nvGrpSpPr>
          <p:cNvPr id="5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6" name="TextBox 56"/>
            <p:cNvSpPr txBox="1"/>
            <p:nvPr/>
          </p:nvSpPr>
          <p:spPr>
            <a:xfrm>
              <a:off x="528447" y="6581299"/>
              <a:ext cx="31504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第2章 线程级并行与OpenMP编程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001848" cy="909257"/>
            <a:chOff x="520446" y="342900"/>
            <a:chExt cx="900184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第2章 线程级并行 · 同步结构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00184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命名 critical：同名的临界区互斥，不同名的可以同时执行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ode-1"/>
          <p:cNvGrpSpPr/>
          <p:nvPr/>
        </p:nvGrpSpPr>
        <p:grpSpPr>
          <a:xfrm>
            <a:off x="533400" y="1524000"/>
            <a:ext cx="5410200" cy="4022408"/>
            <a:chOff x="533400" y="1524000"/>
            <a:chExt cx="5410200" cy="402240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4022408"/>
            </a:xfrm>
            <a:prstGeom prst="roundRect">
              <a:avLst>
                <a:gd name="adj" fmla="val 2368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2602230"/>
              <a:ext cx="5372100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552450" y="4185285"/>
              <a:ext cx="5372100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61797" y="1935956"/>
              <a:ext cx="3227197" cy="35387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#pragma omp parallel sections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#pragma omp section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#pragma omp critical (critical1)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98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0; i &lt; 5; i++)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printf(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"section1 ... i = %d\n"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, i);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Sleep(200);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#pragma omp section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情形 2 把下一行改成 (critical1)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#pragma omp critical (critical2)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98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 = 0; j &lt; 5; j++)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printf(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"section2 ... j = %d\n"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, j);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Sleep(200);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0" name="c2-card-1"/>
          <p:cNvGrpSpPr/>
          <p:nvPr/>
        </p:nvGrpSpPr>
        <p:grpSpPr>
          <a:xfrm>
            <a:off x="6248400" y="1524000"/>
            <a:ext cx="5410200" cy="1651635"/>
            <a:chOff x="6248400" y="1524000"/>
            <a:chExt cx="5410200" cy="1651635"/>
          </a:xfrm>
        </p:grpSpPr>
        <p:sp>
          <p:nvSpPr>
            <p:cNvPr id="13" name="Rectangle 13"/>
            <p:cNvSpPr/>
            <p:nvPr/>
          </p:nvSpPr>
          <p:spPr>
            <a:xfrm>
              <a:off x="6248400" y="1524000"/>
              <a:ext cx="5410200" cy="1651635"/>
            </a:xfrm>
            <a:prstGeom prst="roundRect">
              <a:avLst>
                <a:gd name="adj" fmla="val 8074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64579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243B5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5481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规则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6463665" y="217360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621780" y="2110740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给临界区指定 name 后，名称是全局标识，同名的不同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临界区视为同一区域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6463665" y="279463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621780" y="2731770"/>
              <a:ext cx="32966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所有未命名的 critical 视为同一区域</a:t>
              </a:r>
            </a:p>
          </p:txBody>
        </p:sp>
      </p:grpSp>
      <p:grpSp>
        <p:nvGrpSpPr>
          <p:cNvPr id="22" name="c2-text-2"/>
          <p:cNvGrpSpPr/>
          <p:nvPr/>
        </p:nvGrpSpPr>
        <p:grpSpPr>
          <a:xfrm>
            <a:off x="6241923" y="3387566"/>
            <a:ext cx="4286331" cy="249364"/>
            <a:chOff x="6241923" y="3387566"/>
            <a:chExt cx="4286331" cy="249364"/>
          </a:xfrm>
        </p:grpSpPr>
        <p:sp>
          <p:nvSpPr>
            <p:cNvPr id="21" name="TextBox 21"/>
            <p:cNvSpPr txBox="1"/>
            <p:nvPr/>
          </p:nvSpPr>
          <p:spPr>
            <a:xfrm>
              <a:off x="6241923" y="3387566"/>
              <a:ext cx="42863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原课件运行结果（数字是 i 或 j 的值，按输出先后排列）</a:t>
              </a:r>
            </a:p>
          </p:txBody>
        </p:sp>
      </p:grpSp>
      <p:grpSp>
        <p:nvGrpSpPr>
          <p:cNvPr id="65" name="c2-cells-3"/>
          <p:cNvGrpSpPr/>
          <p:nvPr/>
        </p:nvGrpSpPr>
        <p:grpSpPr>
          <a:xfrm>
            <a:off x="6243447" y="3776662"/>
            <a:ext cx="5415153" cy="1009650"/>
            <a:chOff x="6243447" y="3776662"/>
            <a:chExt cx="5415153" cy="1009650"/>
          </a:xfrm>
        </p:grpSpPr>
        <p:sp>
          <p:nvSpPr>
            <p:cNvPr id="23" name="TextBox 23"/>
            <p:cNvSpPr txBox="1"/>
            <p:nvPr/>
          </p:nvSpPr>
          <p:spPr>
            <a:xfrm>
              <a:off x="6243447" y="3925729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不同名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755130" y="3776662"/>
              <a:ext cx="490538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842593" y="3925729"/>
              <a:ext cx="3146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s1:0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7245668" y="3776662"/>
              <a:ext cx="490538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333131" y="3925729"/>
              <a:ext cx="3146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s2:0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7736205" y="3776662"/>
              <a:ext cx="490538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823668" y="3925729"/>
              <a:ext cx="3146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s2:1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8225790" y="3776662"/>
              <a:ext cx="490538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314206" y="3925729"/>
              <a:ext cx="3146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s1:1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8716328" y="3776662"/>
              <a:ext cx="490538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804743" y="3925729"/>
              <a:ext cx="3146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s2:2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9206865" y="3776662"/>
              <a:ext cx="490538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294328" y="3925729"/>
              <a:ext cx="3146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s1:2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9697402" y="3776662"/>
              <a:ext cx="490538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9784866" y="3925729"/>
              <a:ext cx="3146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s2:3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10187940" y="3776662"/>
              <a:ext cx="490538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0275403" y="3925729"/>
              <a:ext cx="3146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s1:3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10677525" y="3776662"/>
              <a:ext cx="490538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0765941" y="3925729"/>
              <a:ext cx="3146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s2:4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11168062" y="3776662"/>
              <a:ext cx="490538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1256478" y="3925729"/>
              <a:ext cx="3146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s1:4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243447" y="451627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同名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755130" y="4367212"/>
              <a:ext cx="490538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842593" y="4516279"/>
              <a:ext cx="3146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s2:0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7245668" y="4367212"/>
              <a:ext cx="490538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333131" y="4516279"/>
              <a:ext cx="3146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s2:1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7736205" y="4367212"/>
              <a:ext cx="490538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823668" y="4516279"/>
              <a:ext cx="3146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s2:2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8225790" y="4367212"/>
              <a:ext cx="490538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8314206" y="4516279"/>
              <a:ext cx="3146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s2:3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8716328" y="4367212"/>
              <a:ext cx="490538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8804743" y="4516279"/>
              <a:ext cx="3146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s2:4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9206865" y="4367212"/>
              <a:ext cx="490538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9294328" y="4516279"/>
              <a:ext cx="3146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s1:0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9697402" y="4367212"/>
              <a:ext cx="490538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9784866" y="4516279"/>
              <a:ext cx="3146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s1:1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10187940" y="4367212"/>
              <a:ext cx="490538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10275403" y="4516279"/>
              <a:ext cx="3146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s1:2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10677525" y="4367212"/>
              <a:ext cx="490538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10765941" y="4516279"/>
              <a:ext cx="3146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s1:3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11168062" y="4367212"/>
              <a:ext cx="490538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11256478" y="4516279"/>
              <a:ext cx="3146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s1:4</a:t>
              </a:r>
            </a:p>
          </p:txBody>
        </p:sp>
      </p:grpSp>
      <p:grpSp>
        <p:nvGrpSpPr>
          <p:cNvPr id="72" name="c2-callout-4"/>
          <p:cNvGrpSpPr/>
          <p:nvPr/>
        </p:nvGrpSpPr>
        <p:grpSpPr>
          <a:xfrm>
            <a:off x="6248400" y="4976812"/>
            <a:ext cx="5410200" cy="1335405"/>
            <a:chOff x="6248400" y="4976812"/>
            <a:chExt cx="5410200" cy="1335405"/>
          </a:xfrm>
        </p:grpSpPr>
        <p:sp>
          <p:nvSpPr>
            <p:cNvPr id="66" name="Rectangle 66"/>
            <p:cNvSpPr/>
            <p:nvPr/>
          </p:nvSpPr>
          <p:spPr>
            <a:xfrm>
              <a:off x="6248400" y="4976812"/>
              <a:ext cx="5410200" cy="1335405"/>
            </a:xfrm>
            <a:prstGeom prst="roundRect">
              <a:avLst>
                <a:gd name="adj" fmla="val 855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70" name="Group 70"/>
            <p:cNvGrpSpPr/>
            <p:nvPr/>
          </p:nvGrpSpPr>
          <p:grpSpPr>
            <a:xfrm>
              <a:off x="6453188" y="5544503"/>
              <a:ext cx="200026" cy="200025"/>
              <a:chOff x="6453188" y="5544503"/>
              <a:chExt cx="200026" cy="200025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6453188" y="554450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6492926" y="558895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6527642" y="570007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1" name="TextBox 71"/>
            <p:cNvSpPr txBox="1"/>
            <p:nvPr/>
          </p:nvSpPr>
          <p:spPr>
            <a:xfrm>
              <a:off x="6755130" y="5125402"/>
              <a:ext cx="4482465" cy="11220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不同名时两段交替输出，同名时一段做完另一段才开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始。原课件还有一例：section2、section3 共用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critical2 而互斥，section1 用 critical1，可与它们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同时执行。</a:t>
              </a:r>
            </a:p>
          </p:txBody>
        </p:sp>
      </p:grpSp>
      <p:grpSp>
        <p:nvGrpSpPr>
          <p:cNvPr id="7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3" name="TextBox 73"/>
            <p:cNvSpPr txBox="1"/>
            <p:nvPr/>
          </p:nvSpPr>
          <p:spPr>
            <a:xfrm>
              <a:off x="528447" y="6581299"/>
              <a:ext cx="31504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第2章 线程级并行与OpenMP编程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860439" cy="909257"/>
            <a:chOff x="520446" y="342900"/>
            <a:chExt cx="786043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第2章 线程级并行 · 同步结构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86043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barrier 让线程到齐再走；atomic 是最小的临界区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4760595" cy="1671638"/>
            <a:chOff x="533400" y="1524000"/>
            <a:chExt cx="4760595" cy="167163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760595" cy="1671638"/>
            </a:xfrm>
            <a:prstGeom prst="roundRect">
              <a:avLst>
                <a:gd name="adj" fmla="val 797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404938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680085" cy="23812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8221" y="1737836"/>
              <a:ext cx="5085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barrier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45998" y="2045494"/>
              <a:ext cx="410946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组内任何线程到达 barrier 都在该点等待，直到所有线程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都到达，然后才继续并行执行后面的代码。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62000" y="2625090"/>
              <a:ext cx="57150" cy="571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17448" y="2573179"/>
              <a:ext cx="371932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for、sections、single 结尾有隐式 barrier（可用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nowait 取消），parallel 结尾也有</a:t>
              </a:r>
            </a:p>
          </p:txBody>
        </p:sp>
      </p:grpSp>
      <p:grpSp>
        <p:nvGrpSpPr>
          <p:cNvPr id="18" name="c1-code-2"/>
          <p:cNvGrpSpPr/>
          <p:nvPr/>
        </p:nvGrpSpPr>
        <p:grpSpPr>
          <a:xfrm>
            <a:off x="533400" y="3360420"/>
            <a:ext cx="4760595" cy="681990"/>
            <a:chOff x="533400" y="3360420"/>
            <a:chExt cx="4760595" cy="681990"/>
          </a:xfrm>
        </p:grpSpPr>
        <p:sp>
          <p:nvSpPr>
            <p:cNvPr id="15" name="Rectangle 15"/>
            <p:cNvSpPr/>
            <p:nvPr/>
          </p:nvSpPr>
          <p:spPr>
            <a:xfrm>
              <a:off x="533400" y="3360420"/>
              <a:ext cx="4760595" cy="681990"/>
            </a:xfrm>
            <a:prstGeom prst="roundRect">
              <a:avLst>
                <a:gd name="adj" fmla="val 13966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61797" y="3512344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61797" y="3773329"/>
              <a:ext cx="138854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#pragma omp barrier</a:t>
              </a:r>
            </a:p>
          </p:txBody>
        </p:sp>
      </p:grpSp>
      <p:grpSp>
        <p:nvGrpSpPr>
          <p:cNvPr id="25" name="c1-callout-3"/>
          <p:cNvGrpSpPr/>
          <p:nvPr/>
        </p:nvGrpSpPr>
        <p:grpSpPr>
          <a:xfrm>
            <a:off x="533400" y="4207192"/>
            <a:ext cx="4760595" cy="702945"/>
            <a:chOff x="533400" y="4207192"/>
            <a:chExt cx="4760595" cy="702945"/>
          </a:xfrm>
        </p:grpSpPr>
        <p:sp>
          <p:nvSpPr>
            <p:cNvPr id="19" name="Rectangle 19"/>
            <p:cNvSpPr/>
            <p:nvPr/>
          </p:nvSpPr>
          <p:spPr>
            <a:xfrm>
              <a:off x="533400" y="4207192"/>
              <a:ext cx="4760595" cy="702945"/>
            </a:xfrm>
            <a:prstGeom prst="roundRect">
              <a:avLst>
                <a:gd name="adj" fmla="val 16260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726129" y="4454961"/>
              <a:ext cx="224134" cy="192560"/>
              <a:chOff x="726129" y="4454961"/>
              <a:chExt cx="224134" cy="19256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838200" y="452532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726129" y="445496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838200" y="460311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1041273" y="4352449"/>
              <a:ext cx="389813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组内每个线程都必须执行到同一个 barrier。把它放进</a:t>
              </a:r>
              <a:br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只有部分线程会进入的 if 分支，程序会卡住。</a:t>
              </a:r>
            </a:p>
          </p:txBody>
        </p:sp>
      </p:grpSp>
      <p:grpSp>
        <p:nvGrpSpPr>
          <p:cNvPr id="31" name="c1-card-4"/>
          <p:cNvGrpSpPr/>
          <p:nvPr/>
        </p:nvGrpSpPr>
        <p:grpSpPr>
          <a:xfrm>
            <a:off x="533400" y="5074920"/>
            <a:ext cx="4760595" cy="1143952"/>
            <a:chOff x="533400" y="5074920"/>
            <a:chExt cx="4760595" cy="1143952"/>
          </a:xfrm>
        </p:grpSpPr>
        <p:sp>
          <p:nvSpPr>
            <p:cNvPr id="26" name="Rectangle 26"/>
            <p:cNvSpPr/>
            <p:nvPr/>
          </p:nvSpPr>
          <p:spPr>
            <a:xfrm>
              <a:off x="533400" y="5074920"/>
              <a:ext cx="4760595" cy="1143952"/>
            </a:xfrm>
            <a:prstGeom prst="roundRect">
              <a:avLst>
                <a:gd name="adj" fmla="val 1165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542925" y="5208270"/>
              <a:ext cx="47625" cy="87725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752475" y="5255895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37044" y="5288756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典型用法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45998" y="5596414"/>
              <a:ext cx="391439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分阶段计算：第一阶段各线程写共享数组的不同部分，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barrier 之后第二阶段才读别的线程写的部分。</a:t>
              </a:r>
            </a:p>
          </p:txBody>
        </p:sp>
      </p:grpSp>
      <p:grpSp>
        <p:nvGrpSpPr>
          <p:cNvPr id="37" name="c2-card-1"/>
          <p:cNvGrpSpPr/>
          <p:nvPr/>
        </p:nvGrpSpPr>
        <p:grpSpPr>
          <a:xfrm>
            <a:off x="5598795" y="1524000"/>
            <a:ext cx="6059805" cy="1143952"/>
            <a:chOff x="5598795" y="1524000"/>
            <a:chExt cx="6059805" cy="1143952"/>
          </a:xfrm>
        </p:grpSpPr>
        <p:sp>
          <p:nvSpPr>
            <p:cNvPr id="32" name="Rectangle 32"/>
            <p:cNvSpPr/>
            <p:nvPr/>
          </p:nvSpPr>
          <p:spPr>
            <a:xfrm>
              <a:off x="5598795" y="1524000"/>
              <a:ext cx="6059805" cy="1143952"/>
            </a:xfrm>
            <a:prstGeom prst="roundRect">
              <a:avLst>
                <a:gd name="adj" fmla="val 1165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5608320" y="1657350"/>
              <a:ext cx="47625" cy="877252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5817870" y="1704975"/>
              <a:ext cx="634365" cy="23812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904998" y="1737836"/>
              <a:ext cx="4601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atomic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811393" y="2045494"/>
              <a:ext cx="541807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一个特定的存储单元只能被原子地更新，不允许多个线程同时去写；一般用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于对共享变量的简单更新。它提供一个最小的临界区，效率比 critical 高。</a:t>
              </a:r>
            </a:p>
          </p:txBody>
        </p:sp>
      </p:grpSp>
      <p:grpSp>
        <p:nvGrpSpPr>
          <p:cNvPr id="43" name="c2-code-2"/>
          <p:cNvGrpSpPr/>
          <p:nvPr/>
        </p:nvGrpSpPr>
        <p:grpSpPr>
          <a:xfrm>
            <a:off x="5598795" y="2832735"/>
            <a:ext cx="6059805" cy="1556385"/>
            <a:chOff x="5598795" y="2832735"/>
            <a:chExt cx="6059805" cy="1556385"/>
          </a:xfrm>
        </p:grpSpPr>
        <p:sp>
          <p:nvSpPr>
            <p:cNvPr id="38" name="Rectangle 38"/>
            <p:cNvSpPr/>
            <p:nvPr/>
          </p:nvSpPr>
          <p:spPr>
            <a:xfrm>
              <a:off x="5598795" y="2832735"/>
              <a:ext cx="6059805" cy="1556385"/>
            </a:xfrm>
            <a:prstGeom prst="roundRect">
              <a:avLst>
                <a:gd name="adj" fmla="val 612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727192" y="2984659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617845" y="3660458"/>
              <a:ext cx="6021705" cy="14954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5617845" y="3810000"/>
              <a:ext cx="6021705" cy="14954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727382" y="3243739"/>
              <a:ext cx="3560699" cy="10591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8"/>
                </a:lnSpc>
              </a:pPr>
              <a:r>
                <a:rPr lang="en-US" sz="82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data = 1;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#pragma omp parallel num_threads(4) shared(data) default(none)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{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#pragma omp atomic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data *= 3;             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原课件：data += data * 2;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printf(</a:t>
              </a:r>
              <a:r>
                <a:rPr lang="en-US" sz="8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"data = %d\n"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, data); </a:t>
              </a:r>
              <a:r>
                <a:rPr lang="en-US" sz="82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data = 81</a:t>
              </a:r>
            </a:p>
          </p:txBody>
        </p:sp>
      </p:grpSp>
      <p:grpSp>
        <p:nvGrpSpPr>
          <p:cNvPr id="49" name="c2-card-3"/>
          <p:cNvGrpSpPr/>
          <p:nvPr/>
        </p:nvGrpSpPr>
        <p:grpSpPr>
          <a:xfrm>
            <a:off x="5598795" y="4553902"/>
            <a:ext cx="6059805" cy="1664970"/>
            <a:chOff x="5598795" y="4553902"/>
            <a:chExt cx="6059805" cy="1664970"/>
          </a:xfrm>
        </p:grpSpPr>
        <p:sp>
          <p:nvSpPr>
            <p:cNvPr id="44" name="Rectangle 44"/>
            <p:cNvSpPr/>
            <p:nvPr/>
          </p:nvSpPr>
          <p:spPr>
            <a:xfrm>
              <a:off x="5598795" y="4553902"/>
              <a:ext cx="6059805" cy="1664970"/>
            </a:xfrm>
            <a:prstGeom prst="roundRect">
              <a:avLst>
                <a:gd name="adj" fmla="val 800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5608320" y="4687252"/>
              <a:ext cx="47625" cy="139827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5817870" y="473487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5910542" y="476773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811393" y="5075396"/>
              <a:ext cx="5312410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OpenMP 规定 atomic 的 x op= expr 中 expr 不能引用 x，原课件的 data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+= data * 2 不合规范，等价写法是 data *= 3。四个线程各乘一次 3：1 →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→ 9 → 27 → 81，本机实测为 81。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31504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第2章 线程级并行与OpenMP编程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449360" cy="909257"/>
            <a:chOff x="520446" y="342900"/>
            <a:chExt cx="744936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第2章 线程级并行 · 同步结构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44936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flush：把变量写回内存，让其他线程读到最新值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1887855"/>
            <a:chOff x="533400" y="1524000"/>
            <a:chExt cx="5410200" cy="188785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887855"/>
            </a:xfrm>
            <a:prstGeom prst="roundRect">
              <a:avLst>
                <a:gd name="adj" fmla="val 706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62115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582930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8909" y="1769269"/>
              <a:ext cx="4072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flush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4644390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flush 指令标识一个同步点。在该点上 list 中的变量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（不写 list 时是全部共享变量）要被写回内存，而不是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暂存在寄存器中，保证线程读到共享变量的最新值，从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而保证多线程数据的一致性。</a:t>
              </a:r>
            </a:p>
          </p:txBody>
        </p:sp>
      </p:grpSp>
      <p:grpSp>
        <p:nvGrpSpPr>
          <p:cNvPr id="16" name="c1-code-2"/>
          <p:cNvGrpSpPr/>
          <p:nvPr/>
        </p:nvGrpSpPr>
        <p:grpSpPr>
          <a:xfrm>
            <a:off x="533400" y="3602355"/>
            <a:ext cx="5410200" cy="704850"/>
            <a:chOff x="533400" y="3602355"/>
            <a:chExt cx="5410200" cy="704850"/>
          </a:xfrm>
        </p:grpSpPr>
        <p:sp>
          <p:nvSpPr>
            <p:cNvPr id="13" name="Rectangle 13"/>
            <p:cNvSpPr/>
            <p:nvPr/>
          </p:nvSpPr>
          <p:spPr>
            <a:xfrm>
              <a:off x="533400" y="3602355"/>
              <a:ext cx="5410200" cy="704850"/>
            </a:xfrm>
            <a:prstGeom prst="roundRect">
              <a:avLst>
                <a:gd name="adj" fmla="val 1351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61797" y="3754279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61035" y="4016216"/>
              <a:ext cx="21675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#pragma omp flush [(list)]</a:t>
              </a:r>
            </a:p>
          </p:txBody>
        </p:sp>
      </p:grpSp>
      <p:grpSp>
        <p:nvGrpSpPr>
          <p:cNvPr id="23" name="c1-callout-3"/>
          <p:cNvGrpSpPr/>
          <p:nvPr/>
        </p:nvGrpSpPr>
        <p:grpSpPr>
          <a:xfrm>
            <a:off x="533400" y="4497705"/>
            <a:ext cx="5410200" cy="1335405"/>
            <a:chOff x="533400" y="4497705"/>
            <a:chExt cx="5410200" cy="1335405"/>
          </a:xfrm>
        </p:grpSpPr>
        <p:sp>
          <p:nvSpPr>
            <p:cNvPr id="17" name="Rectangle 17"/>
            <p:cNvSpPr/>
            <p:nvPr/>
          </p:nvSpPr>
          <p:spPr>
            <a:xfrm>
              <a:off x="533400" y="4497705"/>
              <a:ext cx="5410200" cy="1335405"/>
            </a:xfrm>
            <a:prstGeom prst="roundRect">
              <a:avLst>
                <a:gd name="adj" fmla="val 855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726129" y="5061703"/>
              <a:ext cx="224134" cy="192560"/>
              <a:chOff x="726129" y="5061703"/>
              <a:chExt cx="224134" cy="19256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838200" y="513207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726129" y="506170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838200" y="520985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1040130" y="4646295"/>
              <a:ext cx="4301490" cy="11220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flush 只管“看得见”，不管“谁先谁后”。要保证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CASE2 里 thread 1 读到 z = 3，通常直接用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barrier、critical 或 atomic 这些自带 flush 的结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构。</a:t>
              </a:r>
            </a:p>
          </p:txBody>
        </p:sp>
      </p:grpSp>
      <p:grpSp>
        <p:nvGrpSpPr>
          <p:cNvPr id="37" name="c2-card-1"/>
          <p:cNvGrpSpPr/>
          <p:nvPr/>
        </p:nvGrpSpPr>
        <p:grpSpPr>
          <a:xfrm>
            <a:off x="6248400" y="1524000"/>
            <a:ext cx="5410200" cy="2371725"/>
            <a:chOff x="6248400" y="1524000"/>
            <a:chExt cx="5410200" cy="2371725"/>
          </a:xfrm>
        </p:grpSpPr>
        <p:sp>
          <p:nvSpPr>
            <p:cNvPr id="24" name="Rectangle 24"/>
            <p:cNvSpPr/>
            <p:nvPr/>
          </p:nvSpPr>
          <p:spPr>
            <a:xfrm>
              <a:off x="6248400" y="1524000"/>
              <a:ext cx="5410200" cy="2371725"/>
            </a:xfrm>
            <a:prstGeom prst="roundRect">
              <a:avLst>
                <a:gd name="adj" fmla="val 5622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457950" y="1733550"/>
              <a:ext cx="1383982" cy="257175"/>
            </a:xfrm>
            <a:prstGeom prst="roundRect">
              <a:avLst>
                <a:gd name="adj" fmla="val 50000"/>
              </a:avLst>
            </a:prstGeom>
            <a:solidFill>
              <a:srgbClr val="243B53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21429" y="1769269"/>
              <a:ext cx="125607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隐含 flush 的位置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6463665" y="217360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621780" y="2110740"/>
              <a:ext cx="7421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barrier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6463665" y="250888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621780" y="2446020"/>
              <a:ext cx="202444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parallel 的入口和出口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6463665" y="284416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621780" y="2781300"/>
              <a:ext cx="30038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critical、ordered 的入口和出口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6463665" y="317944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621780" y="3116580"/>
              <a:ext cx="46091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for、sections、single 的出口（没有 nowait 时）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6463665" y="351472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621780" y="3451860"/>
              <a:ext cx="174174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atomic 修饰的语句</a:t>
              </a:r>
            </a:p>
          </p:txBody>
        </p:sp>
      </p:grpSp>
      <p:grpSp>
        <p:nvGrpSpPr>
          <p:cNvPr id="43" name="c2-card-2"/>
          <p:cNvGrpSpPr/>
          <p:nvPr/>
        </p:nvGrpSpPr>
        <p:grpSpPr>
          <a:xfrm>
            <a:off x="6248400" y="4086225"/>
            <a:ext cx="5410200" cy="1746885"/>
            <a:chOff x="6248400" y="4086225"/>
            <a:chExt cx="5410200" cy="1746885"/>
          </a:xfrm>
        </p:grpSpPr>
        <p:sp>
          <p:nvSpPr>
            <p:cNvPr id="38" name="Rectangle 38"/>
            <p:cNvSpPr/>
            <p:nvPr/>
          </p:nvSpPr>
          <p:spPr>
            <a:xfrm>
              <a:off x="6248400" y="4086225"/>
              <a:ext cx="5410200" cy="1746885"/>
            </a:xfrm>
            <a:prstGeom prst="roundRect">
              <a:avLst>
                <a:gd name="adj" fmla="val 763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6257925" y="4219575"/>
              <a:ext cx="47625" cy="148018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6496050" y="4295775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569507" y="4331494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和前面的对应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488430" y="4672965"/>
              <a:ext cx="47396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第二部分的内存重排序，本质就是一个处理器的写还没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传到别的处理器。flush 在程序里划出一个点，要求这个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点之前的写都对其他线程可见。</a:t>
              </a:r>
            </a:p>
          </p:txBody>
        </p:sp>
      </p:grpSp>
      <p:grpSp>
        <p:nvGrpSpPr>
          <p:cNvPr id="4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4" name="TextBox 44"/>
            <p:cNvSpPr txBox="1"/>
            <p:nvPr/>
          </p:nvSpPr>
          <p:spPr>
            <a:xfrm>
              <a:off x="528447" y="6581299"/>
              <a:ext cx="31504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第2章 线程级并行与OpenMP编程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906117" cy="909257"/>
            <a:chOff x="520446" y="342900"/>
            <a:chExt cx="690611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第2章 线程级并行 · 同步结构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90611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ordered：并行循环中的一段按迭代顺序执行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ode-1"/>
          <p:cNvGrpSpPr/>
          <p:nvPr/>
        </p:nvGrpSpPr>
        <p:grpSpPr>
          <a:xfrm>
            <a:off x="533400" y="1524000"/>
            <a:ext cx="5951220" cy="2490788"/>
            <a:chOff x="533400" y="1524000"/>
            <a:chExt cx="5951220" cy="249078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951220" cy="2490788"/>
            </a:xfrm>
            <a:prstGeom prst="roundRect">
              <a:avLst>
                <a:gd name="adj" fmla="val 382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2231708"/>
              <a:ext cx="5913120" cy="16573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552450" y="2727008"/>
              <a:ext cx="5913120" cy="16573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61988" y="1935766"/>
              <a:ext cx="3029839" cy="20021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05"/>
                </a:lnSpc>
              </a:pPr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#pragma omp parallel</a:t>
              </a:r>
              <a:br/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{</a:t>
              </a:r>
              <a:br/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#pragma omp for ordered</a:t>
              </a:r>
              <a:br/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2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92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0; i &lt; 10; ++i)</a:t>
              </a:r>
              <a:br/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{</a:t>
              </a:r>
              <a:br/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#pragma omp ordered</a:t>
              </a:r>
              <a:br/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{</a:t>
              </a:r>
              <a:br/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printf(</a:t>
              </a:r>
              <a:r>
                <a:rPr lang="en-US" sz="9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"thread %d excute i = %d\n"</a:t>
              </a:r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,</a:t>
              </a:r>
              <a:br/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   omp_get_thread_num(), i);</a:t>
              </a:r>
              <a:br/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3" name="c1-card-2"/>
          <p:cNvGrpSpPr/>
          <p:nvPr/>
        </p:nvGrpSpPr>
        <p:grpSpPr>
          <a:xfrm>
            <a:off x="533400" y="4195762"/>
            <a:ext cx="5951220" cy="1990725"/>
            <a:chOff x="533400" y="4195762"/>
            <a:chExt cx="5951220" cy="1990725"/>
          </a:xfrm>
        </p:grpSpPr>
        <p:sp>
          <p:nvSpPr>
            <p:cNvPr id="13" name="Rectangle 13"/>
            <p:cNvSpPr/>
            <p:nvPr/>
          </p:nvSpPr>
          <p:spPr>
            <a:xfrm>
              <a:off x="533400" y="4195762"/>
              <a:ext cx="5951220" cy="1990725"/>
            </a:xfrm>
            <a:prstGeom prst="roundRect">
              <a:avLst>
                <a:gd name="adj" fmla="val 669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542925" y="4329112"/>
              <a:ext cx="47625" cy="172402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69620" y="4393882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1060" y="442817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规则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77240" y="4813935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33831" y="4754404"/>
              <a:ext cx="477437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只能用在带 ordered 子句的 for 或 parallel for 结构中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777240" y="5132070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33831" y="5071586"/>
              <a:ext cx="545299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一个循环中只能出现一次 ordered 制导，每次迭代最多执行一次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777240" y="5450205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33831" y="5389721"/>
              <a:ext cx="4550029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ordered 区之外的代码仍然并行执行；整个循环体都放进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ordered 就退化成串行</a:t>
              </a:r>
            </a:p>
          </p:txBody>
        </p:sp>
      </p:grpSp>
      <p:grpSp>
        <p:nvGrpSpPr>
          <p:cNvPr id="66" name="c2-cells-1"/>
          <p:cNvGrpSpPr/>
          <p:nvPr/>
        </p:nvGrpSpPr>
        <p:grpSpPr>
          <a:xfrm>
            <a:off x="6784467" y="1524000"/>
            <a:ext cx="4874133" cy="949643"/>
            <a:chOff x="6784467" y="1524000"/>
            <a:chExt cx="4874133" cy="949643"/>
          </a:xfrm>
        </p:grpSpPr>
        <p:sp>
          <p:nvSpPr>
            <p:cNvPr id="24" name="TextBox 24"/>
            <p:cNvSpPr txBox="1"/>
            <p:nvPr/>
          </p:nvSpPr>
          <p:spPr>
            <a:xfrm>
              <a:off x="6784467" y="1660684"/>
              <a:ext cx="514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7171372" y="1524000"/>
              <a:ext cx="448628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353115" y="166068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7620000" y="1524000"/>
              <a:ext cx="448628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801743" y="166068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8068628" y="1524000"/>
              <a:ext cx="448628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250370" y="166068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8518208" y="1524000"/>
              <a:ext cx="448628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698998" y="166068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8966835" y="1524000"/>
              <a:ext cx="448628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147625" y="166068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9415462" y="1524000"/>
              <a:ext cx="448628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596253" y="166068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9864090" y="1524000"/>
              <a:ext cx="448628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0044880" y="166068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10312718" y="1524000"/>
              <a:ext cx="448628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10493508" y="166068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10761345" y="1524000"/>
              <a:ext cx="448628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0942135" y="166068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11209972" y="1524000"/>
              <a:ext cx="448628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11390763" y="166068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784467" y="221503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线程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7171372" y="2079308"/>
              <a:ext cx="448628" cy="3943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310709" y="2215039"/>
              <a:ext cx="1709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T0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7620000" y="2079308"/>
              <a:ext cx="448628" cy="3943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759336" y="2215039"/>
              <a:ext cx="1709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T0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8068628" y="2079308"/>
              <a:ext cx="448628" cy="3943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8207964" y="2215039"/>
              <a:ext cx="1709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T0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8518208" y="2079308"/>
              <a:ext cx="448628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656591" y="2215039"/>
              <a:ext cx="1709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T1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8966835" y="2079308"/>
              <a:ext cx="448628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9105219" y="2215039"/>
              <a:ext cx="1709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T1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9415462" y="2079308"/>
              <a:ext cx="448628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9553846" y="2215039"/>
              <a:ext cx="1709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T1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9864090" y="2079308"/>
              <a:ext cx="448628" cy="3943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10002474" y="2215039"/>
              <a:ext cx="1709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T2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10312718" y="2079308"/>
              <a:ext cx="448628" cy="3943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10451101" y="2215039"/>
              <a:ext cx="1709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T2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10761345" y="2079308"/>
              <a:ext cx="448628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10899729" y="2215039"/>
              <a:ext cx="1709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T3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11209972" y="2079308"/>
              <a:ext cx="448628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11348356" y="2215039"/>
              <a:ext cx="1709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T3</a:t>
              </a:r>
            </a:p>
          </p:txBody>
        </p:sp>
      </p:grpSp>
      <p:grpSp>
        <p:nvGrpSpPr>
          <p:cNvPr id="72" name="c2-card-2"/>
          <p:cNvGrpSpPr/>
          <p:nvPr/>
        </p:nvGrpSpPr>
        <p:grpSpPr>
          <a:xfrm>
            <a:off x="6789420" y="2653665"/>
            <a:ext cx="4869180" cy="1522095"/>
            <a:chOff x="6789420" y="2653665"/>
            <a:chExt cx="4869180" cy="1522095"/>
          </a:xfrm>
        </p:grpSpPr>
        <p:sp>
          <p:nvSpPr>
            <p:cNvPr id="67" name="Rectangle 67"/>
            <p:cNvSpPr/>
            <p:nvPr/>
          </p:nvSpPr>
          <p:spPr>
            <a:xfrm>
              <a:off x="6789420" y="2653665"/>
              <a:ext cx="4869180" cy="1522095"/>
            </a:xfrm>
            <a:prstGeom prst="roundRect">
              <a:avLst>
                <a:gd name="adj" fmla="val 876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8" name="Rectangle 68"/>
            <p:cNvSpPr/>
            <p:nvPr/>
          </p:nvSpPr>
          <p:spPr>
            <a:xfrm>
              <a:off x="6798945" y="2787015"/>
              <a:ext cx="47625" cy="125539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69" name="Rectangle 69"/>
            <p:cNvSpPr/>
            <p:nvPr/>
          </p:nvSpPr>
          <p:spPr>
            <a:xfrm>
              <a:off x="7025640" y="2851785"/>
              <a:ext cx="60960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7113080" y="2886075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读输出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7018401" y="3212306"/>
              <a:ext cx="4153281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个线程按默认划分分到 3、3、2、2 次迭代，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ordered 区按 i = 0, 1, …, 9 依次执行，所以输出按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 递增（与原课件的输出和本机实测一致）。</a:t>
              </a:r>
            </a:p>
          </p:txBody>
        </p:sp>
      </p:grpSp>
      <p:grpSp>
        <p:nvGrpSpPr>
          <p:cNvPr id="76" name="c2-code-3"/>
          <p:cNvGrpSpPr/>
          <p:nvPr/>
        </p:nvGrpSpPr>
        <p:grpSpPr>
          <a:xfrm>
            <a:off x="6789420" y="4355782"/>
            <a:ext cx="4869180" cy="1829752"/>
            <a:chOff x="6789420" y="4355782"/>
            <a:chExt cx="4869180" cy="1829752"/>
          </a:xfrm>
        </p:grpSpPr>
        <p:sp>
          <p:nvSpPr>
            <p:cNvPr id="73" name="Rectangle 73"/>
            <p:cNvSpPr/>
            <p:nvPr/>
          </p:nvSpPr>
          <p:spPr>
            <a:xfrm>
              <a:off x="6789420" y="4355782"/>
              <a:ext cx="4869180" cy="1829752"/>
            </a:xfrm>
            <a:prstGeom prst="roundRect">
              <a:avLst>
                <a:gd name="adj" fmla="val 5206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6917817" y="4507706"/>
              <a:ext cx="28691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原课件另一例：只有奇数次迭代进入 ordered 区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6918008" y="4767548"/>
              <a:ext cx="3695827" cy="13392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05"/>
                </a:lnSpc>
              </a:pPr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#pragma omp for schedule(static) ordered</a:t>
              </a:r>
              <a:br/>
              <a:r>
                <a:rPr lang="en-US" sz="92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92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first; i &lt;= last; ++i) {</a:t>
              </a:r>
              <a:br/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2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 % 2) {</a:t>
              </a:r>
              <a:br/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#pragma omp ordered</a:t>
              </a:r>
              <a:br/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printf_s(</a:t>
              </a:r>
              <a:r>
                <a:rPr lang="en-US" sz="9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"test() iteration %d\n"</a:t>
              </a:r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, i);</a:t>
              </a:r>
              <a:br/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9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输出的奇数 i 仍按从小到大的顺序；printf_s 是 MSVC 专有函数</a:t>
              </a:r>
            </a:p>
          </p:txBody>
        </p:sp>
      </p:grpSp>
      <p:grpSp>
        <p:nvGrpSpPr>
          <p:cNvPr id="7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7" name="TextBox 77"/>
            <p:cNvSpPr txBox="1"/>
            <p:nvPr/>
          </p:nvSpPr>
          <p:spPr>
            <a:xfrm>
              <a:off x="528447" y="6581299"/>
              <a:ext cx="31504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第2章 线程级并行与OpenMP编程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055751" cy="909257"/>
            <a:chOff x="520446" y="342900"/>
            <a:chExt cx="105575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55149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52183" y="4071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自测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05575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自测题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3505200" cy="2540318"/>
            <a:chOff x="533400" y="1524000"/>
            <a:chExt cx="3505200" cy="254031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3505200" cy="2540318"/>
            </a:xfrm>
            <a:prstGeom prst="roundRect">
              <a:avLst>
                <a:gd name="adj" fmla="val 5249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25805" y="1716405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14753" y="175069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18947" y="2072640"/>
              <a:ext cx="2998232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UMA 与 NUMA 的区别是什么？两者都属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于共享内存模型吗？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18947" y="2632710"/>
              <a:ext cx="2954084" cy="12927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UMA 所有处理器访存时间一致（如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SMP）；NUMA 各处理器有本地内存，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访问远程内存更慢（如 DSM）。两者都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有统一地址空间，都属于共享内存模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型。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4239578"/>
            <a:ext cx="3505200" cy="2025968"/>
            <a:chOff x="533400" y="4239578"/>
            <a:chExt cx="3505200" cy="2025968"/>
          </a:xfrm>
        </p:grpSpPr>
        <p:sp>
          <p:nvSpPr>
            <p:cNvPr id="13" name="Rectangle 13"/>
            <p:cNvSpPr/>
            <p:nvPr/>
          </p:nvSpPr>
          <p:spPr>
            <a:xfrm>
              <a:off x="533400" y="4239578"/>
              <a:ext cx="3505200" cy="2025968"/>
            </a:xfrm>
            <a:prstGeom prst="roundRect">
              <a:avLst>
                <a:gd name="adj" fmla="val 6582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25805" y="4431982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14753" y="4466272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18947" y="4789170"/>
              <a:ext cx="286921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40 次迭代（1–40）、4 个线程、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schedule(static, 5)，T1 分到哪些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迭代？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18947" y="5605462"/>
              <a:ext cx="295408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共 8 块，按 T0、T1、T2、T3 轮转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两圈，T1 分到 6–10 和 26–30。</a:t>
              </a:r>
            </a:p>
          </p:txBody>
        </p:sp>
      </p:grpSp>
      <p:grpSp>
        <p:nvGrpSpPr>
          <p:cNvPr id="24" name="c2-card-1"/>
          <p:cNvGrpSpPr/>
          <p:nvPr/>
        </p:nvGrpSpPr>
        <p:grpSpPr>
          <a:xfrm>
            <a:off x="4343400" y="1524000"/>
            <a:ext cx="3505200" cy="2025968"/>
            <a:chOff x="4343400" y="1524000"/>
            <a:chExt cx="3505200" cy="2025968"/>
          </a:xfrm>
        </p:grpSpPr>
        <p:sp>
          <p:nvSpPr>
            <p:cNvPr id="19" name="Rectangle 19"/>
            <p:cNvSpPr/>
            <p:nvPr/>
          </p:nvSpPr>
          <p:spPr>
            <a:xfrm>
              <a:off x="4343400" y="1524000"/>
              <a:ext cx="3505200" cy="2025968"/>
            </a:xfrm>
            <a:prstGeom prst="roundRect">
              <a:avLst>
                <a:gd name="adj" fmla="val 6582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4535805" y="1716405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624753" y="175069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528947" y="2072640"/>
              <a:ext cx="2926223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两个线程各执行一次 x = x + 1（初值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0，编译成 ld、addi、sd），共有几种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交错？x 可能是几？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528947" y="2889885"/>
              <a:ext cx="290264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C(6,3) = 20 种。只有 2 种得到 x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2，其余 18 种得到 x = 1。</a:t>
              </a:r>
            </a:p>
          </p:txBody>
        </p:sp>
      </p:grpSp>
      <p:grpSp>
        <p:nvGrpSpPr>
          <p:cNvPr id="30" name="c2-card-2"/>
          <p:cNvGrpSpPr/>
          <p:nvPr/>
        </p:nvGrpSpPr>
        <p:grpSpPr>
          <a:xfrm>
            <a:off x="4343400" y="3725228"/>
            <a:ext cx="3505200" cy="2540318"/>
            <a:chOff x="4343400" y="3725228"/>
            <a:chExt cx="3505200" cy="2540318"/>
          </a:xfrm>
        </p:grpSpPr>
        <p:sp>
          <p:nvSpPr>
            <p:cNvPr id="25" name="Rectangle 25"/>
            <p:cNvSpPr/>
            <p:nvPr/>
          </p:nvSpPr>
          <p:spPr>
            <a:xfrm>
              <a:off x="4343400" y="3725228"/>
              <a:ext cx="3505200" cy="2540318"/>
            </a:xfrm>
            <a:prstGeom prst="roundRect">
              <a:avLst>
                <a:gd name="adj" fmla="val 5249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4535805" y="3917632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24753" y="3951923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528947" y="4274820"/>
              <a:ext cx="2633043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en-US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for (j = 1; j &lt; MAX; j++) A[j] =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A[j+1]; 属于哪种依赖？能直接加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parallel for 吗？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528947" y="5091112"/>
              <a:ext cx="292836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反依赖（读后写），不能。可先把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复制到临时数组 T，再并行计算 A[j]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T[j+1]。</a:t>
              </a:r>
            </a:p>
          </p:txBody>
        </p:sp>
      </p:grpSp>
      <p:grpSp>
        <p:nvGrpSpPr>
          <p:cNvPr id="36" name="c3-card-1"/>
          <p:cNvGrpSpPr/>
          <p:nvPr/>
        </p:nvGrpSpPr>
        <p:grpSpPr>
          <a:xfrm>
            <a:off x="8153400" y="1524000"/>
            <a:ext cx="3505200" cy="1768792"/>
            <a:chOff x="8153400" y="1524000"/>
            <a:chExt cx="3505200" cy="1768792"/>
          </a:xfrm>
        </p:grpSpPr>
        <p:sp>
          <p:nvSpPr>
            <p:cNvPr id="31" name="Rectangle 31"/>
            <p:cNvSpPr/>
            <p:nvPr/>
          </p:nvSpPr>
          <p:spPr>
            <a:xfrm>
              <a:off x="8153400" y="1524000"/>
              <a:ext cx="3505200" cy="1768792"/>
            </a:xfrm>
            <a:prstGeom prst="roundRect">
              <a:avLst>
                <a:gd name="adj" fmla="val 7539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8345805" y="1716405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34753" y="175069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338947" y="2072640"/>
              <a:ext cx="2888075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 critical 与 single 例子改成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num_threads(3)，a、b 各是多少？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338947" y="2632710"/>
              <a:ext cx="288550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= 1（single 只执行一次），b =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3（critical 每个线程执行一次）。</a:t>
              </a:r>
            </a:p>
          </p:txBody>
        </p:sp>
      </p:grpSp>
      <p:grpSp>
        <p:nvGrpSpPr>
          <p:cNvPr id="42" name="c3-card-2"/>
          <p:cNvGrpSpPr/>
          <p:nvPr/>
        </p:nvGrpSpPr>
        <p:grpSpPr>
          <a:xfrm>
            <a:off x="8153400" y="3468052"/>
            <a:ext cx="3505200" cy="2797492"/>
            <a:chOff x="8153400" y="3468052"/>
            <a:chExt cx="3505200" cy="2797492"/>
          </a:xfrm>
        </p:grpSpPr>
        <p:sp>
          <p:nvSpPr>
            <p:cNvPr id="37" name="Rectangle 37"/>
            <p:cNvSpPr/>
            <p:nvPr/>
          </p:nvSpPr>
          <p:spPr>
            <a:xfrm>
              <a:off x="8153400" y="3468052"/>
              <a:ext cx="3505200" cy="2797492"/>
            </a:xfrm>
            <a:prstGeom prst="roundRect">
              <a:avLst>
                <a:gd name="adj" fmla="val 476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8345805" y="3660458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434753" y="3694748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338947" y="4017645"/>
              <a:ext cx="2816495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只需保护一句 sum += v 时，atomic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和 critical 选哪个？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338947" y="4576762"/>
              <a:ext cx="2919794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 atomic，开销更小；要保护多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条语句或函数调用时才用 critical。也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可以直接用 reduction(+:sum)。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3" name="TextBox 43"/>
            <p:cNvSpPr txBox="1"/>
            <p:nvPr/>
          </p:nvSpPr>
          <p:spPr>
            <a:xfrm>
              <a:off x="528447" y="6581299"/>
              <a:ext cx="31504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第2章 线程级并行与OpenMP编程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402652" cy="909257"/>
            <a:chOff x="520446" y="342900"/>
            <a:chExt cx="140265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38969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7064" y="407194"/>
              <a:ext cx="12014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第2章 线程级并行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本章小结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2" name="c1-table-1"/>
          <p:cNvGrpSpPr/>
          <p:nvPr/>
        </p:nvGrpSpPr>
        <p:grpSpPr>
          <a:xfrm>
            <a:off x="533400" y="1524000"/>
            <a:ext cx="5842635" cy="2669858"/>
            <a:chOff x="533400" y="1524000"/>
            <a:chExt cx="5842635" cy="266985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38100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401509" y="1641157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遇到的问题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229614" y="1641157"/>
              <a:ext cx="9038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OpenMP 手段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28078" y="2023110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多个线程写同一个共享变量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081718" y="2023110"/>
              <a:ext cx="221574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critical、atomic、锁、reduction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28219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286952"/>
              <a:ext cx="584263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28078" y="2404110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变量应当每个线程一份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081718" y="2404110"/>
              <a:ext cx="244897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private、firstprivate、lastprivate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66319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8078" y="2785110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各次迭代工作量不均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081718" y="2785110"/>
              <a:ext cx="26892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schedule(dynamic) 或 schedule(guided)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04514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3049905"/>
              <a:ext cx="584263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28078" y="316706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某段代码只做一次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081718" y="3167062"/>
              <a:ext cx="259739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single（任意线程）、master（主线程）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42614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28078" y="354806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要等所有线程到齐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081718" y="3548062"/>
              <a:ext cx="51953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barrier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380714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533400" y="3811905"/>
              <a:ext cx="584263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28078" y="3930015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循环中一段要按顺序输出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081718" y="3930015"/>
              <a:ext cx="5548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ordered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1524000"/>
              <a:ext cx="5842635" cy="266985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2982278" y="1524000"/>
              <a:ext cx="9525" cy="2669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8" name="c1-bullets-2"/>
          <p:cNvGrpSpPr/>
          <p:nvPr/>
        </p:nvGrpSpPr>
        <p:grpSpPr>
          <a:xfrm>
            <a:off x="533400" y="4367212"/>
            <a:ext cx="4513726" cy="1231202"/>
            <a:chOff x="533400" y="4367212"/>
            <a:chExt cx="4513726" cy="1231202"/>
          </a:xfrm>
        </p:grpSpPr>
        <p:sp>
          <p:nvSpPr>
            <p:cNvPr id="33" name="Ellipse 33"/>
            <p:cNvSpPr/>
            <p:nvPr/>
          </p:nvSpPr>
          <p:spPr>
            <a:xfrm>
              <a:off x="533400" y="4367212"/>
              <a:ext cx="148590" cy="14859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75334" y="4396026"/>
              <a:ext cx="64723" cy="140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1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72858" y="4375785"/>
              <a:ext cx="38895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UMA 与 NUMA 都是统一地址空间，本章在其上用共享变量编程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533400" y="4621530"/>
              <a:ext cx="148590" cy="14859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75334" y="4650343"/>
              <a:ext cx="64723" cy="140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1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72858" y="4630102"/>
              <a:ext cx="340309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竞态来自执行时序；数据竞争和重排序都要靠同步解决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533400" y="4874895"/>
              <a:ext cx="148590" cy="14859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75334" y="4904661"/>
              <a:ext cx="64723" cy="140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1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72858" y="4884420"/>
              <a:ext cx="427426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OpenMP 按 fork-join 执行，由制导、库函数、环境变量三部分组成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533400" y="5129212"/>
              <a:ext cx="148590" cy="14859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575334" y="5158978"/>
              <a:ext cx="64723" cy="140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1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72858" y="5138738"/>
              <a:ext cx="38271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数据属性子句决定变量共享还是私有，以及值怎样进出并行域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533400" y="5383530"/>
              <a:ext cx="148590" cy="14859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575334" y="5413296"/>
              <a:ext cx="64723" cy="140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1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72858" y="5393055"/>
              <a:ext cx="40745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调度决定迭代怎样分给线程，工作量不均时换 dynamic 或 guided</a:t>
              </a:r>
            </a:p>
          </p:txBody>
        </p:sp>
      </p:grpSp>
      <p:grpSp>
        <p:nvGrpSpPr>
          <p:cNvPr id="64" name="c2-card-1"/>
          <p:cNvGrpSpPr/>
          <p:nvPr/>
        </p:nvGrpSpPr>
        <p:grpSpPr>
          <a:xfrm>
            <a:off x="6680835" y="1524000"/>
            <a:ext cx="4977765" cy="4032885"/>
            <a:chOff x="6680835" y="1524000"/>
            <a:chExt cx="4977765" cy="4032885"/>
          </a:xfrm>
        </p:grpSpPr>
        <p:sp>
          <p:nvSpPr>
            <p:cNvPr id="49" name="Rectangle 49"/>
            <p:cNvSpPr/>
            <p:nvPr/>
          </p:nvSpPr>
          <p:spPr>
            <a:xfrm>
              <a:off x="6680835" y="1524000"/>
              <a:ext cx="4977765" cy="4032885"/>
            </a:xfrm>
            <a:prstGeom prst="roundRect">
              <a:avLst>
                <a:gd name="adj" fmla="val 330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6690360" y="1657350"/>
              <a:ext cx="47625" cy="376618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6899910" y="1704975"/>
              <a:ext cx="1454468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963029" y="1737836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本讲义对原课件的更正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6909435" y="2097405"/>
              <a:ext cx="57150" cy="571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064883" y="2045494"/>
              <a:ext cx="320725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拼写：OMP_NESTED、omp_destroy_lock、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FIRSTPRIVATE、private、schedule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6909435" y="2625090"/>
              <a:ext cx="57150" cy="571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064883" y="2573179"/>
              <a:ext cx="411759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atomic 应为“原子地更新”，data += data * 2 改为 data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*= 3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6909435" y="3153728"/>
              <a:ext cx="57150" cy="571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064883" y="3100864"/>
              <a:ext cx="325927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default 在 C/C++ 中只取 shared 或 none</a:t>
              </a:r>
            </a:p>
          </p:txBody>
        </p:sp>
        <p:sp>
          <p:nvSpPr>
            <p:cNvPr id="59" name="Ellipse 59"/>
            <p:cNvSpPr/>
            <p:nvPr/>
          </p:nvSpPr>
          <p:spPr>
            <a:xfrm>
              <a:off x="6909435" y="3438525"/>
              <a:ext cx="57150" cy="571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064883" y="3385661"/>
              <a:ext cx="329552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三角循环的 res[row,col] 应为 res[row]</a:t>
              </a:r>
            </a:p>
          </p:txBody>
        </p:sp>
        <p:sp>
          <p:nvSpPr>
            <p:cNvPr id="61" name="Ellipse 61"/>
            <p:cNvSpPr/>
            <p:nvPr/>
          </p:nvSpPr>
          <p:spPr>
            <a:xfrm>
              <a:off x="6909435" y="3723322"/>
              <a:ext cx="57150" cy="571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7064883" y="3670459"/>
              <a:ext cx="445230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gcc 命令、single 例子的花括号、OMP_SCHEDULE 的引号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894576" y="3951923"/>
              <a:ext cx="24277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各处更正都在原页用“更正”卡片注明。</a:t>
              </a:r>
            </a:p>
          </p:txBody>
        </p:sp>
      </p:grpSp>
      <p:grpSp>
        <p:nvGrpSpPr>
          <p:cNvPr id="70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65" name="Rectangle 65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68" name="Group 68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66" name="Freeform 66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9" name="TextBox 69"/>
            <p:cNvSpPr txBox="1"/>
            <p:nvPr/>
          </p:nvSpPr>
          <p:spPr>
            <a:xfrm>
              <a:off x="1041273" y="6039326"/>
              <a:ext cx="992098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复习时重点练手算：两线程自加的交错与结果、各种 schedule 下的迭代分配、firstprivate/lastprivate/reduction 的最终值。</a:t>
              </a:r>
            </a:p>
          </p:txBody>
        </p:sp>
      </p:grpSp>
      <p:grpSp>
        <p:nvGrpSpPr>
          <p:cNvPr id="7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1" name="TextBox 71"/>
            <p:cNvSpPr txBox="1"/>
            <p:nvPr/>
          </p:nvSpPr>
          <p:spPr>
            <a:xfrm>
              <a:off x="528447" y="6581299"/>
              <a:ext cx="31504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第2章 线程级并行与OpenMP编程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pdc_ch02">
  <a:themeElements>
    <a:clrScheme name="pdc_ch0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dc_ch02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dc_ch0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54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2026-09-23T07:59:18Z</dcterms:created>
  <dcterms:modified xsi:type="dcterms:W3CDTF">2026-09-23T07:59:18Z</dcterms:modified>
  <cp:category/>
  <cp:contentStatus/>
</cp:coreProperties>
</file>