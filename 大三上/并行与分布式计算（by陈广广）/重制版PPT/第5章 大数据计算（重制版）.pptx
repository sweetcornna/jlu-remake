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6e637703d10538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3efb66d1800be8e.png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7646bcc67690ca.png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13931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7463" y="1718310"/>
              <a:ext cx="1915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第5章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大数据计算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把数据和计算摊到成千上万台普通机器上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58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HDFS 分块与多副本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20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YARN 资源调度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743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MapReduce 编程模型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301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Spark 内存计算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32846" cy="205359"/>
            <a:chOff x="680466" y="6192202"/>
            <a:chExt cx="46328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自学复习版｜据吉林大学《并行与分布式计算》第5章课件整理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2351" y="1513999"/>
            <a:ext cx="6287071" cy="4269962"/>
            <a:chOff x="522351" y="1513999"/>
            <a:chExt cx="6287071" cy="4269962"/>
          </a:xfrm>
        </p:grpSpPr>
        <p:sp>
          <p:nvSpPr>
            <p:cNvPr id="7" name="TextBox 7"/>
            <p:cNvSpPr txBox="1"/>
            <p:nvPr/>
          </p:nvSpPr>
          <p:spPr>
            <a:xfrm>
              <a:off x="522351" y="151399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4989" y="1550194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大数据与分布式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6894" y="185356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数据规模、软硬件挑战、数据中心网络、谷歌三驾马车、键值存储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2990" y="215265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2351" y="225313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4989" y="2289334"/>
              <a:ext cx="16302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与 HDFS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894" y="2592705"/>
              <a:ext cx="5725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Hadoop 的组成、与云计算的关系、NameNode 与 DataNode、多副本与机架感知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62990" y="289179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2351" y="299227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4989" y="3028474"/>
              <a:ext cx="14567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 资源调度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6894" y="3331845"/>
              <a:ext cx="4463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作业与任务、Hadoop 1.0 到 2.0、四个角色与应用的运行流程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62990" y="363093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2351" y="373141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4989" y="3767614"/>
              <a:ext cx="16738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模型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6894" y="4070985"/>
              <a:ext cx="48716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键值对、WordCount 数据流、Combiner 与 Partitioner、执行总览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62990" y="437007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2351" y="447055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4989" y="4506754"/>
              <a:ext cx="12529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编程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6894" y="4810125"/>
              <a:ext cx="43973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Mapper、Reducer、Job，map 与 reduce 的个数，推测执行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62990" y="510921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2351" y="520969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4989" y="5245894"/>
              <a:ext cx="6371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6894" y="5549265"/>
              <a:ext cx="4915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MapReduce 的不足、弹性分布式数据集与内存计算、Scala 交互示例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774882"/>
            <a:chOff x="7114222" y="1524000"/>
            <a:chExt cx="4544378" cy="4774882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774882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5081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56158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3751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3777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0368" y="210073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估算大集群每天的硬件故障次数，说明大数据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系统为什么要靠软件容错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3777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0368" y="2692241"/>
              <a:ext cx="36573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NameNode 与 DataNode 的分工，算出文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件的块数、副本数和跨机架流量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3777" y="3344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0368" y="3283744"/>
              <a:ext cx="354012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YARN 架构，说明 ResourceManager、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NodeManager、ApplicationMaster、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 的职责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3777" y="42071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0368" y="4146709"/>
              <a:ext cx="33868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手工推演 WordCount 在 map、combine、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partition、reduce 各步的输出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3777" y="47986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0368" y="4738211"/>
              <a:ext cx="361226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 Hadoop WordCount 的 Mapper、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Reducer 和 main，估算 map 与 reduce 的个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3777" y="566166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0368" y="5601176"/>
              <a:ext cx="26835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MapReduce 与 Spark，区分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transformation 与 action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23991" cy="3351847"/>
            <a:chOff x="667512" y="1835468"/>
            <a:chExt cx="602399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大数据与分布式：基础概念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数据多到一台机器放不下、算不完，只能拆开交给很多台机器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原课件第2–15页：大数据和分布式基础概念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硬件与软件两个角度的挑战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4036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谷歌三驾马车：GFS、BigTable、MapReduce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键值存储的优缺点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65513" cy="909257"/>
            <a:chOff x="520446" y="342900"/>
            <a:chExt cx="66655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655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大数据有多大：2025 年全球约产生 175 ZB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884998"/>
            <a:chOff x="533400" y="1524000"/>
            <a:chExt cx="5626418" cy="1884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数据规模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588" y="1767364"/>
              <a:ext cx="37536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IDC 预测：2025 年全球产生约 175 ZB 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接入互联网的用户和终端越来越多，产生的数据量已是天文数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海量而复杂的数据是宝藏，也在传输、存储、计算各方面给计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算机出了难题，传统的单台机器和软件远不足以处理。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593782"/>
            <a:ext cx="5626418" cy="2151698"/>
            <a:chOff x="533400" y="3593782"/>
            <a:chExt cx="5626418" cy="2151698"/>
          </a:xfrm>
        </p:grpSpPr>
        <p:sp>
          <p:nvSpPr>
            <p:cNvPr id="15" name="Rectangle 15"/>
            <p:cNvSpPr/>
            <p:nvPr/>
          </p:nvSpPr>
          <p:spPr>
            <a:xfrm>
              <a:off x="533400" y="3593782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6292" y="37252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09788" y="37252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72940" y="37252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8746" y="41557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38859" y="4155757"/>
              <a:ext cx="728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Terabyte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6689" y="4155757"/>
              <a:ext cx="1061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TB = 10¹² 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4500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45484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45853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8859" y="4585335"/>
              <a:ext cx="728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Petabyte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26689" y="4585335"/>
              <a:ext cx="1778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PB = 10³ TB = 10¹⁵ 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8796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501586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38859" y="5015865"/>
              <a:ext cx="639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Exabyte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26689" y="5015865"/>
              <a:ext cx="1778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EB = 10³ PB = 10¹⁸ 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310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531495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544639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38859" y="5446395"/>
              <a:ext cx="816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Zettabyte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130868" y="5324475"/>
              <a:ext cx="301942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226689" y="5446395"/>
              <a:ext cx="1778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ZB = 10³ EB = 10²¹ B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593782"/>
              <a:ext cx="562641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428750" y="359378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116580" y="359378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steps-1"/>
          <p:cNvGrpSpPr/>
          <p:nvPr/>
        </p:nvGrpSpPr>
        <p:grpSpPr>
          <a:xfrm>
            <a:off x="6464618" y="1533525"/>
            <a:ext cx="3429305" cy="1790128"/>
            <a:chOff x="6464618" y="1533525"/>
            <a:chExt cx="3429305" cy="1790128"/>
          </a:xfrm>
        </p:grpSpPr>
        <p:sp>
          <p:nvSpPr>
            <p:cNvPr id="41" name="Rectangle 41"/>
            <p:cNvSpPr/>
            <p:nvPr/>
          </p:nvSpPr>
          <p:spPr>
            <a:xfrm>
              <a:off x="6597968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21545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64618" y="27755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824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6479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换成字节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7622" y="1846898"/>
              <a:ext cx="3016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 ZB = 175 × 10²¹ B = 1.75 × 10²³ 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6479" y="2187416"/>
              <a:ext cx="693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TB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622" y="2467927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 × 10²³ ÷ 10¹² = 1.75 × 10¹¹ TB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479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换成硬盘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7622" y="3088957"/>
              <a:ext cx="2515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按每块硬盘 1 TB 算，要 1750 亿块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464618" y="3499485"/>
            <a:ext cx="5193982" cy="1613535"/>
            <a:chOff x="6464618" y="3499485"/>
            <a:chExt cx="5193982" cy="1613535"/>
          </a:xfrm>
        </p:grpSpPr>
        <p:sp>
          <p:nvSpPr>
            <p:cNvPr id="55" name="Rectangle 55"/>
            <p:cNvSpPr/>
            <p:nvPr/>
          </p:nvSpPr>
          <p:spPr>
            <a:xfrm>
              <a:off x="6464618" y="3499485"/>
              <a:ext cx="5193982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3632835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06552" y="370332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8861" y="37390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再算一个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92758" y="3743801"/>
              <a:ext cx="22757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一台机器读完 1 PB 要多久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714172" y="41548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70764" y="4095274"/>
              <a:ext cx="41893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单块硬盘顺序读约 200 MB/s：10¹⁵ ÷ (2 × 10⁸) = 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10⁶ 秒，约 58 天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714172" y="474630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70764" y="4686776"/>
              <a:ext cx="41913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台机器各读 1/1000：5000 秒，约 1.4 小时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6464618" y="5298758"/>
            <a:ext cx="5193982" cy="1018222"/>
            <a:chOff x="6464618" y="5298758"/>
            <a:chExt cx="5193982" cy="1018222"/>
          </a:xfrm>
        </p:grpSpPr>
        <p:sp>
          <p:nvSpPr>
            <p:cNvPr id="65" name="Rectangle 65"/>
            <p:cNvSpPr/>
            <p:nvPr/>
          </p:nvSpPr>
          <p:spPr>
            <a:xfrm>
              <a:off x="6464618" y="5298758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669405" y="5707382"/>
              <a:ext cx="200023" cy="200023"/>
              <a:chOff x="6669405" y="5707382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669405" y="57073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802755" y="57740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971729" y="5445919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这样的量只能交给由大量机器组成的数据中心。面向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大数据的数据中心，以及运行在上面的大数据软件，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因此成了计算机领域的热门方向。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从硬件和软件两个角度看大数据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ompare-1"/>
          <p:cNvGrpSpPr/>
          <p:nvPr/>
        </p:nvGrpSpPr>
        <p:grpSpPr>
          <a:xfrm>
            <a:off x="533400" y="1524000"/>
            <a:ext cx="6059804" cy="4638675"/>
            <a:chOff x="533400" y="1524000"/>
            <a:chExt cx="6059804" cy="4638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20352" cy="4638675"/>
            </a:xfrm>
            <a:prstGeom prst="roundRect">
              <a:avLst>
                <a:gd name="adj" fmla="val 4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719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硬件：一两台机器扛不住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大量机器组成集群，构成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数据中心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7412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68176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高速互联网络连接各机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器，保证数据传递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33279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273266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综合考虑散热、能耗和各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项成本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92430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86476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集群里硬件故障概率很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高，要保证可靠性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5158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456271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单一架构难以胜任各种计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算，考虑异构计算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72852" y="1524000"/>
              <a:ext cx="2820352" cy="4638675"/>
            </a:xfrm>
            <a:prstGeom prst="roundRect">
              <a:avLst>
                <a:gd name="adj" fmla="val 4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82378" y="1657350"/>
              <a:ext cx="47625" cy="4371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07548" y="17511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软件：集群本身并不可靠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022408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78998" y="2090261"/>
              <a:ext cx="20252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分而治之：分片存储 + 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布式算法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022408" y="27412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78998" y="2681764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存储和计算都要容错，把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故障损失降到最小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022408" y="333279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78998" y="3273266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算法设计尽量减少节点间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通信，通信很耗时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401378" y="368141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71718" y="377761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898005" y="1524000"/>
            <a:ext cx="4760595" cy="3434715"/>
            <a:chOff x="6898005" y="1524000"/>
            <a:chExt cx="4760595" cy="3434715"/>
          </a:xfrm>
        </p:grpSpPr>
        <p:sp>
          <p:nvSpPr>
            <p:cNvPr id="32" name="Rectangle 32"/>
            <p:cNvSpPr/>
            <p:nvPr/>
          </p:nvSpPr>
          <p:spPr>
            <a:xfrm>
              <a:off x="6898005" y="1524000"/>
              <a:ext cx="476059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4378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79045" y="1655445"/>
              <a:ext cx="1274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Hadoop 里的做法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95482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03352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分片存储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31149" y="2085022"/>
              <a:ext cx="1970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文件切成 128 MB 的块分散存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11446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898005" y="25927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98005" y="2597468"/>
              <a:ext cx="476059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03352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存储容错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1149" y="2728912"/>
              <a:ext cx="2016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每块默认 3 个副本，心跳发现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坏节点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11446" y="28355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323659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03352" y="34794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计算容错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31149" y="337280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失败任务重跑，慢任务推测执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11446" y="34794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3879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98005" y="3884295"/>
              <a:ext cx="476059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03352" y="41224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少通信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31149" y="4015740"/>
              <a:ext cx="1635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移动计算而非数据；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Combiner 先在本地合并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11446" y="4015740"/>
              <a:ext cx="62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第二、四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98005" y="45234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03352" y="46596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资源管理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31149" y="4659630"/>
              <a:ext cx="1902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 统一分配 CPU、内存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11446" y="46596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98005" y="1524000"/>
              <a:ext cx="4760595" cy="3434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321040" y="1524000"/>
              <a:ext cx="9525" cy="3434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701338" y="1524000"/>
              <a:ext cx="9525" cy="3434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llout-2"/>
          <p:cNvGrpSpPr/>
          <p:nvPr/>
        </p:nvGrpSpPr>
        <p:grpSpPr>
          <a:xfrm>
            <a:off x="6898005" y="5143500"/>
            <a:ext cx="4760595" cy="1018222"/>
            <a:chOff x="6898005" y="5143500"/>
            <a:chExt cx="4760595" cy="1018222"/>
          </a:xfrm>
        </p:grpSpPr>
        <p:sp>
          <p:nvSpPr>
            <p:cNvPr id="61" name="Rectangle 61"/>
            <p:cNvSpPr/>
            <p:nvPr/>
          </p:nvSpPr>
          <p:spPr>
            <a:xfrm>
              <a:off x="6898005" y="5143500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102793" y="5553075"/>
              <a:ext cx="200026" cy="200026"/>
              <a:chOff x="7102793" y="5553075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102793" y="55530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02805" y="5619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191693" y="56530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405116" y="5290661"/>
              <a:ext cx="38016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容错有硬件级的（RAID、冗余电源），也有软件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级的（多副本、任务重跑）。大数据系统主要靠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软件级容错，所以才能用廉价的普通硬件。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数据中心网络：机架内走接入交换机，跨机架要经过核心交换机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580072" y="1788795"/>
            <a:ext cx="6181726" cy="3877913"/>
            <a:chOff x="580072" y="1788795"/>
            <a:chExt cx="6181726" cy="3877913"/>
          </a:xfrm>
        </p:grpSpPr>
        <p:sp>
          <p:nvSpPr>
            <p:cNvPr id="7" name="Freeform 7"/>
            <p:cNvSpPr/>
            <p:nvPr/>
          </p:nvSpPr>
          <p:spPr>
            <a:xfrm>
              <a:off x="1599248" y="2108835"/>
              <a:ext cx="1822132" cy="1164907"/>
            </a:xfrm>
            <a:custGeom>
              <a:avLst/>
              <a:gdLst/>
              <a:ahLst/>
              <a:cxnLst/>
              <a:rect l="l" t="t" r="r" b="b"/>
              <a:pathLst>
                <a:path w="1822132" h="1164907">
                  <a:moveTo>
                    <a:pt x="1822132" y="0"/>
                  </a:moveTo>
                  <a:lnTo>
                    <a:pt x="0" y="11649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11818" y="2108835"/>
              <a:ext cx="491490" cy="1164907"/>
            </a:xfrm>
            <a:custGeom>
              <a:avLst/>
              <a:gdLst/>
              <a:ahLst/>
              <a:cxnLst/>
              <a:rect l="l" t="t" r="r" b="b"/>
              <a:pathLst>
                <a:path w="491490" h="1164907">
                  <a:moveTo>
                    <a:pt x="491490" y="0"/>
                  </a:moveTo>
                  <a:lnTo>
                    <a:pt x="0" y="11649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921442" y="2108835"/>
              <a:ext cx="1822132" cy="1164907"/>
            </a:xfrm>
            <a:custGeom>
              <a:avLst/>
              <a:gdLst/>
              <a:ahLst/>
              <a:cxnLst/>
              <a:rect l="l" t="t" r="r" b="b"/>
              <a:pathLst>
                <a:path w="1822132" h="1164907">
                  <a:moveTo>
                    <a:pt x="0" y="0"/>
                  </a:moveTo>
                  <a:lnTo>
                    <a:pt x="1822132" y="11649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04875" y="3593782"/>
              <a:ext cx="386715" cy="1080135"/>
            </a:xfrm>
            <a:custGeom>
              <a:avLst/>
              <a:gdLst/>
              <a:ahLst/>
              <a:cxnLst/>
              <a:rect l="l" t="t" r="r" b="b"/>
              <a:pathLst>
                <a:path w="386715" h="1080135">
                  <a:moveTo>
                    <a:pt x="386715" y="0"/>
                  </a:moveTo>
                  <a:lnTo>
                    <a:pt x="0" y="1080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06842" y="3593782"/>
              <a:ext cx="386715" cy="1080135"/>
            </a:xfrm>
            <a:custGeom>
              <a:avLst/>
              <a:gdLst/>
              <a:ahLst/>
              <a:cxnLst/>
              <a:rect l="l" t="t" r="r" b="b"/>
              <a:pathLst>
                <a:path w="386715" h="1080135">
                  <a:moveTo>
                    <a:pt x="0" y="0"/>
                  </a:moveTo>
                  <a:lnTo>
                    <a:pt x="386715" y="1080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99372" y="3593782"/>
              <a:ext cx="386715" cy="1080135"/>
            </a:xfrm>
            <a:custGeom>
              <a:avLst/>
              <a:gdLst/>
              <a:ahLst/>
              <a:cxnLst/>
              <a:rect l="l" t="t" r="r" b="b"/>
              <a:pathLst>
                <a:path w="386715" h="1080135">
                  <a:moveTo>
                    <a:pt x="386715" y="0"/>
                  </a:moveTo>
                  <a:lnTo>
                    <a:pt x="0" y="1080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01340" y="3593782"/>
              <a:ext cx="386715" cy="1080135"/>
            </a:xfrm>
            <a:custGeom>
              <a:avLst/>
              <a:gdLst/>
              <a:ahLst/>
              <a:cxnLst/>
              <a:rect l="l" t="t" r="r" b="b"/>
              <a:pathLst>
                <a:path w="386715" h="1080135">
                  <a:moveTo>
                    <a:pt x="0" y="0"/>
                  </a:moveTo>
                  <a:lnTo>
                    <a:pt x="386715" y="1080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548312" y="3593782"/>
              <a:ext cx="387668" cy="1080135"/>
            </a:xfrm>
            <a:custGeom>
              <a:avLst/>
              <a:gdLst/>
              <a:ahLst/>
              <a:cxnLst/>
              <a:rect l="l" t="t" r="r" b="b"/>
              <a:pathLst>
                <a:path w="387668" h="1080135">
                  <a:moveTo>
                    <a:pt x="387668" y="0"/>
                  </a:moveTo>
                  <a:lnTo>
                    <a:pt x="0" y="1080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050280" y="3593782"/>
              <a:ext cx="387667" cy="1080135"/>
            </a:xfrm>
            <a:custGeom>
              <a:avLst/>
              <a:gdLst/>
              <a:ahLst/>
              <a:cxnLst/>
              <a:rect l="l" t="t" r="r" b="b"/>
              <a:pathLst>
                <a:path w="387667" h="1080135">
                  <a:moveTo>
                    <a:pt x="0" y="0"/>
                  </a:moveTo>
                  <a:lnTo>
                    <a:pt x="387667" y="1080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175635" y="1788795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54392" y="3273742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48890" y="3273742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97830" y="3273742"/>
              <a:ext cx="9906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80072" y="4673918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84960" y="4673918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74570" y="4673918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79458" y="4673918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224462" y="4673918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28398" y="4673918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60979" y="187356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核心交换机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736" y="33585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接入交换机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34234" y="33585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接入交换机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83174" y="33585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接入交换机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87840" y="33585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132" y="47586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84020" y="47586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73630" y="47586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78518" y="47586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3522" y="47586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7458" y="47586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96951" y="47586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91448" y="47586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40388" y="47586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7669" y="5417344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92166" y="5417344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36961" y="5417344"/>
              <a:ext cx="51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N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114222" y="1524000"/>
            <a:ext cx="4544378" cy="2272665"/>
            <a:chOff x="7114222" y="1524000"/>
            <a:chExt cx="4544378" cy="2272665"/>
          </a:xfrm>
        </p:grpSpPr>
        <p:sp>
          <p:nvSpPr>
            <p:cNvPr id="44" name="Rectangle 44"/>
            <p:cNvSpPr/>
            <p:nvPr/>
          </p:nvSpPr>
          <p:spPr>
            <a:xfrm>
              <a:off x="7114222" y="1524000"/>
              <a:ext cx="4544378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3748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两层拓扑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25702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一个机架内的节点连到本机架的接入交换机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25702" y="24460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各接入交换机再连到核心交换机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367588" y="28441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25702" y="278130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同机架两节点通信只经过一台接入交换机；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跨机架要经过核心交换机，所有机架的跨架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流量都挤在这一层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7114222" y="3987165"/>
            <a:ext cx="4544378" cy="1937385"/>
            <a:chOff x="7114222" y="3987165"/>
            <a:chExt cx="4544378" cy="1937385"/>
          </a:xfrm>
        </p:grpSpPr>
        <p:sp>
          <p:nvSpPr>
            <p:cNvPr id="55" name="Rectangle 55"/>
            <p:cNvSpPr/>
            <p:nvPr/>
          </p:nvSpPr>
          <p:spPr>
            <a:xfrm>
              <a:off x="7114222" y="3987165"/>
              <a:ext cx="4544378" cy="1937385"/>
            </a:xfrm>
            <a:prstGeom prst="roundRect">
              <a:avLst>
                <a:gd name="adj" fmla="val 688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23772" y="4196715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75576" y="423243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由此得到的两条设计原则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323772" y="456057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85622" y="46028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24762" y="4573905"/>
              <a:ext cx="3539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数据尽量在机架内流动：HDFS 读副本时优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先选同机架的（第二部分的机架感知）。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23772" y="518160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85622" y="52238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4762" y="5194935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移动计算而非移动数据：把 map 任务派到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存着那块数据的节点上。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例题：5 万台机器，平均每天坏几块硬盘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316355"/>
            <a:chOff x="533400" y="1524000"/>
            <a:chExt cx="584263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原课件试算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72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集群有 50000 台机器，每台 4 块硬盘，每块硬盘年故障率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1%。平均每天遇到几次硬盘故障？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040380"/>
            <a:ext cx="5440553" cy="2763489"/>
            <a:chOff x="533400" y="3040380"/>
            <a:chExt cx="5440553" cy="2763489"/>
          </a:xfrm>
        </p:grpSpPr>
        <p:sp>
          <p:nvSpPr>
            <p:cNvPr id="13" name="Rectangle 13"/>
            <p:cNvSpPr/>
            <p:nvPr/>
          </p:nvSpPr>
          <p:spPr>
            <a:xfrm>
              <a:off x="666750" y="318325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04038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909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64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4149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15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9930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066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0746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数硬盘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3685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50000 × 4 = 20 万块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7252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每年坏几块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019074"/>
              <a:ext cx="18050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200000 × 1% = 2000 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3757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每天坏几块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669631"/>
              <a:ext cx="216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 ÷ 365 ≈ 5.48，约 5 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50272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换个说法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320189"/>
              <a:ext cx="5027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平均每 24 ÷ 5.48 ≈ 4.4 小时坏一块；按泊松分布，一天里至少坏一块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 1 − exp(−5.48) ≈ 99.6%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675120" y="1524000"/>
            <a:ext cx="4983480" cy="2091214"/>
            <a:chOff x="6675120" y="1524000"/>
            <a:chExt cx="4983480" cy="2091214"/>
          </a:xfrm>
        </p:grpSpPr>
        <p:sp>
          <p:nvSpPr>
            <p:cNvPr id="31" name="Rectangle 31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7650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集群规模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663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硬盘数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584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年故障率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74591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每天坏几块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8658" y="2108359"/>
              <a:ext cx="1171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 台 × 4 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29233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19368" y="2108359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58733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80835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88658" y="2556986"/>
              <a:ext cx="1271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50000 台 × 4 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34460" y="255698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19368" y="2556986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373678" y="2430780"/>
              <a:ext cx="12753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15873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5.48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8658" y="3005614"/>
              <a:ext cx="1370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50000 台 × 12 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34460" y="300561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19368" y="3005614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58733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32.9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80835" y="1524000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36866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36402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35939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5120" y="3395186"/>
              <a:ext cx="3893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故障次数随规模线性增长；年故障率取 1%–2% 是常见量级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680835" y="3761422"/>
            <a:ext cx="4977765" cy="1059180"/>
            <a:chOff x="6680835" y="3761422"/>
            <a:chExt cx="4977765" cy="1059180"/>
          </a:xfrm>
        </p:grpSpPr>
        <p:sp>
          <p:nvSpPr>
            <p:cNvPr id="58" name="Rectangle 58"/>
            <p:cNvSpPr/>
            <p:nvPr/>
          </p:nvSpPr>
          <p:spPr>
            <a:xfrm>
              <a:off x="6680835" y="3761422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873564" y="4187308"/>
              <a:ext cx="224134" cy="192560"/>
              <a:chOff x="6873564" y="4187308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985635" y="42576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873564" y="41873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85635" y="43354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187565" y="3910012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规模一大，故障就是常态。靠人工换盘再恢复数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据来不及，数据必须多副本，任务必须能自动重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跑。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680835" y="5011102"/>
            <a:ext cx="4977765" cy="782955"/>
            <a:chOff x="6680835" y="5011102"/>
            <a:chExt cx="4977765" cy="782955"/>
          </a:xfrm>
        </p:grpSpPr>
        <p:sp>
          <p:nvSpPr>
            <p:cNvPr id="65" name="Rectangle 65"/>
            <p:cNvSpPr/>
            <p:nvPr/>
          </p:nvSpPr>
          <p:spPr>
            <a:xfrm>
              <a:off x="6680835" y="5011102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885623" y="5302568"/>
              <a:ext cx="200026" cy="200025"/>
              <a:chOff x="6885623" y="5302568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885623" y="53025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925361" y="53470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60077" y="54581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187565" y="515969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集群往往用廉价的普通商用硬件来控制成本，单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机可靠性不高，这笔账更要算。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分布式：把任务分到许多节点上，分为存储和计算两个方向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2272665"/>
            <a:chOff x="533400" y="1524000"/>
            <a:chExt cx="4977765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0971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057" y="1769269"/>
              <a:ext cx="1394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分布式 Distributed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在单机上存储和处理大数据是不可能的。分布式就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是把任务分配到许多节点（机器）上去，是一种借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助网络实现的并行方法。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75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分布式存储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：分布式文件系统、分布式数据库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28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分布式计算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：本质上是并行计算模型与算法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987165"/>
            <a:ext cx="4977765" cy="1602105"/>
            <a:chOff x="533400" y="3987165"/>
            <a:chExt cx="4977765" cy="1602105"/>
          </a:xfrm>
        </p:grpSpPr>
        <p:sp>
          <p:nvSpPr>
            <p:cNvPr id="17" name="Rectangle 17"/>
            <p:cNvSpPr/>
            <p:nvPr/>
          </p:nvSpPr>
          <p:spPr>
            <a:xfrm>
              <a:off x="533400" y="398716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1205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1967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258" y="42324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573905"/>
              <a:ext cx="4349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原课件写“如上一章的 MPI 可以用于分布式计算”。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按本系列的章节编号，MPI 在第3章 进程级并行，上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一章（第4章）讲的是 GPU 数据级并行。</a:t>
              </a:r>
            </a:p>
          </p:txBody>
        </p:sp>
      </p:grpSp>
      <p:grpSp>
        <p:nvGrpSpPr>
          <p:cNvPr id="46" name="c2-tree-1"/>
          <p:cNvGrpSpPr/>
          <p:nvPr/>
        </p:nvGrpSpPr>
        <p:grpSpPr>
          <a:xfrm>
            <a:off x="5815965" y="1632585"/>
            <a:ext cx="5842635" cy="3783330"/>
            <a:chOff x="5815965" y="1632585"/>
            <a:chExt cx="5842635" cy="3783330"/>
          </a:xfrm>
        </p:grpSpPr>
        <p:sp>
          <p:nvSpPr>
            <p:cNvPr id="23" name="Freeform 23"/>
            <p:cNvSpPr/>
            <p:nvPr/>
          </p:nvSpPr>
          <p:spPr>
            <a:xfrm>
              <a:off x="8465820" y="1924050"/>
              <a:ext cx="419100" cy="400050"/>
            </a:xfrm>
            <a:custGeom>
              <a:avLst/>
              <a:gdLst/>
              <a:ahLst/>
              <a:cxnLst/>
              <a:rect l="l" t="t" r="r" b="b"/>
              <a:pathLst>
                <a:path w="419100" h="400050">
                  <a:moveTo>
                    <a:pt x="0" y="400050"/>
                  </a:moveTo>
                  <a:lnTo>
                    <a:pt x="209550" y="4000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465820" y="2324100"/>
              <a:ext cx="419100" cy="400050"/>
            </a:xfrm>
            <a:custGeom>
              <a:avLst/>
              <a:gdLst/>
              <a:ahLst/>
              <a:cxnLst/>
              <a:rect l="l" t="t" r="r" b="b"/>
              <a:pathLst>
                <a:path w="419100" h="400050">
                  <a:moveTo>
                    <a:pt x="0" y="0"/>
                  </a:moveTo>
                  <a:lnTo>
                    <a:pt x="209550" y="0"/>
                  </a:lnTo>
                  <a:lnTo>
                    <a:pt x="209550" y="400050"/>
                  </a:lnTo>
                  <a:lnTo>
                    <a:pt x="419100" y="4000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465820" y="3524250"/>
              <a:ext cx="419100" cy="800100"/>
            </a:xfrm>
            <a:custGeom>
              <a:avLst/>
              <a:gdLst/>
              <a:ahLst/>
              <a:cxnLst/>
              <a:rect l="l" t="t" r="r" b="b"/>
              <a:pathLst>
                <a:path w="419100" h="800100">
                  <a:moveTo>
                    <a:pt x="0" y="800100"/>
                  </a:moveTo>
                  <a:lnTo>
                    <a:pt x="209550" y="80010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465820" y="43243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465820" y="4324350"/>
              <a:ext cx="419100" cy="800100"/>
            </a:xfrm>
            <a:custGeom>
              <a:avLst/>
              <a:gdLst/>
              <a:ahLst/>
              <a:cxnLst/>
              <a:rect l="l" t="t" r="r" b="b"/>
              <a:pathLst>
                <a:path w="419100" h="800100">
                  <a:moveTo>
                    <a:pt x="0" y="0"/>
                  </a:moveTo>
                  <a:lnTo>
                    <a:pt x="209550" y="0"/>
                  </a:lnTo>
                  <a:lnTo>
                    <a:pt x="209550" y="800100"/>
                  </a:lnTo>
                  <a:lnTo>
                    <a:pt x="419100" y="8001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768465" y="2324100"/>
              <a:ext cx="419100" cy="1000125"/>
            </a:xfrm>
            <a:custGeom>
              <a:avLst/>
              <a:gdLst/>
              <a:ahLst/>
              <a:cxnLst/>
              <a:rect l="l" t="t" r="r" b="b"/>
              <a:pathLst>
                <a:path w="419100" h="1000125">
                  <a:moveTo>
                    <a:pt x="0" y="1000125"/>
                  </a:moveTo>
                  <a:lnTo>
                    <a:pt x="209550" y="10001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768465" y="3324225"/>
              <a:ext cx="419100" cy="1000125"/>
            </a:xfrm>
            <a:custGeom>
              <a:avLst/>
              <a:gdLst/>
              <a:ahLst/>
              <a:cxnLst/>
              <a:rect l="l" t="t" r="r" b="b"/>
              <a:pathLst>
                <a:path w="419100" h="1000125">
                  <a:moveTo>
                    <a:pt x="0" y="0"/>
                  </a:moveTo>
                  <a:lnTo>
                    <a:pt x="209550" y="0"/>
                  </a:lnTo>
                  <a:lnTo>
                    <a:pt x="209550" y="1000125"/>
                  </a:lnTo>
                  <a:lnTo>
                    <a:pt x="419100" y="10001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884920" y="1632585"/>
              <a:ext cx="277368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884920" y="2432685"/>
              <a:ext cx="277368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87565" y="2137410"/>
              <a:ext cx="1278255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84920" y="3232785"/>
              <a:ext cx="277368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884920" y="4032885"/>
              <a:ext cx="277368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884920" y="4832985"/>
              <a:ext cx="2773680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87565" y="4137660"/>
              <a:ext cx="1278255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3137535"/>
              <a:ext cx="953452" cy="372428"/>
            </a:xfrm>
            <a:prstGeom prst="roundRect">
              <a:avLst>
                <a:gd name="adj" fmla="val 2557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3693" y="1729264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GFS、HDFS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73693" y="2530316"/>
              <a:ext cx="125653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分布式数据库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BigTable、HBase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76338" y="22350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分布式存储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73693" y="3330416"/>
              <a:ext cx="101269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MPI（第3章）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73693" y="4130516"/>
              <a:ext cx="85013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批处理框架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73693" y="4929664"/>
              <a:ext cx="98831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内存计算框架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76338" y="42352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分布式计算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04738" y="32351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175" cy="909257"/>
            <a:chOff x="520446" y="342900"/>
            <a:chExt cx="6258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谷歌“三驾马车”：存文件、存表、做计算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889885"/>
            <a:chOff x="533400" y="1524000"/>
            <a:chExt cx="6059805" cy="2889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72199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1758" y="17854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50452" y="17854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61181" y="17854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05286" y="1658779"/>
              <a:ext cx="141752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Hadoop 中的开源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508409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92071" y="2381726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大文件的分布式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8474" y="2381726"/>
              <a:ext cx="44729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SOSP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40046" y="2508409"/>
              <a:ext cx="4588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641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68942"/>
              <a:ext cx="605980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3230404"/>
              <a:ext cx="8083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2071" y="3103721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结构化数据的分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布式存储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88474" y="3230404"/>
              <a:ext cx="9536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OSDI 2006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40046" y="3230404"/>
              <a:ext cx="5520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HBase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6861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952399"/>
              <a:ext cx="10611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92071" y="3825716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分布式计算编程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88474" y="3952399"/>
              <a:ext cx="9536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OSDI 2004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0046" y="3825716"/>
              <a:ext cx="943229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059805" cy="2889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83105" y="1524000"/>
              <a:ext cx="9525" cy="2889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679508" y="1524000"/>
              <a:ext cx="9525" cy="2889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31080" y="1524000"/>
              <a:ext cx="9525" cy="2889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text-2"/>
          <p:cNvGrpSpPr/>
          <p:nvPr/>
        </p:nvGrpSpPr>
        <p:grpSpPr>
          <a:xfrm>
            <a:off x="527304" y="4618672"/>
            <a:ext cx="5650992" cy="707136"/>
            <a:chOff x="527304" y="4618672"/>
            <a:chExt cx="5650992" cy="707136"/>
          </a:xfrm>
        </p:grpSpPr>
        <p:sp>
          <p:nvSpPr>
            <p:cNvPr id="32" name="TextBox 32"/>
            <p:cNvSpPr txBox="1"/>
            <p:nvPr/>
          </p:nvSpPr>
          <p:spPr>
            <a:xfrm>
              <a:off x="527304" y="4618672"/>
              <a:ext cx="5650992" cy="7071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谷歌用这三项技术分别解决文件存储、结构化数据存储和分布式计算模型三个关键问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题，开启了大数据时代。其中有的已停用并有了替代品（如 GFS 已被 Colossus 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代），但思想仍是今天大数据系统的基础。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5463540"/>
            <a:ext cx="6059805" cy="756285"/>
            <a:chOff x="533400" y="5463540"/>
            <a:chExt cx="6059805" cy="756285"/>
          </a:xfrm>
        </p:grpSpPr>
        <p:sp>
          <p:nvSpPr>
            <p:cNvPr id="34" name="Rectangle 34"/>
            <p:cNvSpPr/>
            <p:nvPr/>
          </p:nvSpPr>
          <p:spPr>
            <a:xfrm>
              <a:off x="533400" y="5463540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741670"/>
              <a:ext cx="200026" cy="200025"/>
              <a:chOff x="738188" y="5741670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7416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57861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58972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5611654"/>
              <a:ext cx="503694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SOSP、OSDI 是操作系统与系统领域的两个顶级会议，三篇论文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都发在这里。</a:t>
              </a:r>
            </a:p>
          </p:txBody>
        </p:sp>
      </p:grpSp>
      <p:grpSp>
        <p:nvGrpSpPr>
          <p:cNvPr id="63" name="c2-graph-1"/>
          <p:cNvGrpSpPr/>
          <p:nvPr/>
        </p:nvGrpSpPr>
        <p:grpSpPr>
          <a:xfrm>
            <a:off x="7430452" y="1942148"/>
            <a:ext cx="3695700" cy="2810256"/>
            <a:chOff x="7430452" y="1942148"/>
            <a:chExt cx="3695700" cy="2810256"/>
          </a:xfrm>
        </p:grpSpPr>
        <p:sp>
          <p:nvSpPr>
            <p:cNvPr id="41" name="Freeform 41"/>
            <p:cNvSpPr/>
            <p:nvPr/>
          </p:nvSpPr>
          <p:spPr>
            <a:xfrm>
              <a:off x="8087678" y="2547938"/>
              <a:ext cx="9525" cy="1603058"/>
            </a:xfrm>
            <a:custGeom>
              <a:avLst/>
              <a:gdLst/>
              <a:ahLst/>
              <a:cxnLst/>
              <a:rect l="l" t="t" r="r" b="b"/>
              <a:pathLst>
                <a:path w="9525" h="1603058">
                  <a:moveTo>
                    <a:pt x="0" y="0"/>
                  </a:moveTo>
                  <a:lnTo>
                    <a:pt x="0" y="16030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040052" y="41509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040052" y="24526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0467975" y="2452688"/>
              <a:ext cx="9525" cy="1698308"/>
            </a:xfrm>
            <a:custGeom>
              <a:avLst/>
              <a:gdLst/>
              <a:ahLst/>
              <a:cxnLst/>
              <a:rect l="l" t="t" r="r" b="b"/>
              <a:pathLst>
                <a:path w="9525" h="1698308">
                  <a:moveTo>
                    <a:pt x="0" y="0"/>
                  </a:moveTo>
                  <a:lnTo>
                    <a:pt x="0" y="16983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420350" y="41509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709660" y="2197418"/>
              <a:ext cx="1167765" cy="9525"/>
            </a:xfrm>
            <a:custGeom>
              <a:avLst/>
              <a:gdLst/>
              <a:ahLst/>
              <a:cxnLst/>
              <a:rect l="l" t="t" r="r" b="b"/>
              <a:pathLst>
                <a:path w="1167765" h="9525">
                  <a:moveTo>
                    <a:pt x="0" y="0"/>
                  </a:moveTo>
                  <a:lnTo>
                    <a:pt x="11677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9877425" y="21497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614410" y="21497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61898" y="1942148"/>
              <a:ext cx="1052512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972675" y="1942148"/>
              <a:ext cx="990600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30452" y="4431982"/>
              <a:ext cx="36957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39313" y="2027872"/>
              <a:ext cx="896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20038" y="22183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26437" y="2027872"/>
              <a:ext cx="683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BigTable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58019" y="22183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结构化数据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16628" y="4517708"/>
              <a:ext cx="1923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GFS：底层分布式文件系统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14285" y="3256598"/>
              <a:ext cx="94773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20978" y="329136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读输入、写输出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994582" y="3256598"/>
              <a:ext cx="94773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001275" y="329136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数据文件和日志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943975" y="2105025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958770" y="213979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也可读写表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618944" cy="909257"/>
            <a:chOff x="520446" y="342900"/>
            <a:chExt cx="106189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6189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GFS：大文件切成块，块分散存放、多份复制，元数据集中在 Master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graph-1"/>
          <p:cNvGrpSpPr/>
          <p:nvPr/>
        </p:nvGrpSpPr>
        <p:grpSpPr>
          <a:xfrm>
            <a:off x="867728" y="2018348"/>
            <a:ext cx="4958714" cy="3600926"/>
            <a:chOff x="867728" y="2018348"/>
            <a:chExt cx="4958714" cy="3600926"/>
          </a:xfrm>
        </p:grpSpPr>
        <p:sp>
          <p:nvSpPr>
            <p:cNvPr id="7" name="Freeform 7"/>
            <p:cNvSpPr/>
            <p:nvPr/>
          </p:nvSpPr>
          <p:spPr>
            <a:xfrm>
              <a:off x="1648778" y="2391728"/>
              <a:ext cx="2319338" cy="9525"/>
            </a:xfrm>
            <a:custGeom>
              <a:avLst/>
              <a:gdLst/>
              <a:ahLst/>
              <a:cxnLst/>
              <a:rect l="l" t="t" r="r" b="b"/>
              <a:pathLst>
                <a:path w="2319338" h="9525">
                  <a:moveTo>
                    <a:pt x="0" y="0"/>
                  </a:moveTo>
                  <a:lnTo>
                    <a:pt x="23193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968115" y="23441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40218" y="2038350"/>
              <a:ext cx="2323148" cy="236220"/>
            </a:xfrm>
            <a:custGeom>
              <a:avLst/>
              <a:gdLst/>
              <a:ahLst/>
              <a:cxnLst/>
              <a:rect l="l" t="t" r="r" b="b"/>
              <a:pathLst>
                <a:path w="2323148" h="236220">
                  <a:moveTo>
                    <a:pt x="2323148" y="207645"/>
                  </a:moveTo>
                  <a:cubicBezTo>
                    <a:pt x="1582738" y="0"/>
                    <a:pt x="808355" y="9525"/>
                    <a:pt x="0" y="23622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48778" y="2227898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0" y="72390"/>
                  </a:moveTo>
                  <a:lnTo>
                    <a:pt x="79058" y="0"/>
                  </a:lnTo>
                  <a:lnTo>
                    <a:pt x="104775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76375" y="2620328"/>
              <a:ext cx="1654492" cy="2442210"/>
            </a:xfrm>
            <a:custGeom>
              <a:avLst/>
              <a:gdLst/>
              <a:ahLst/>
              <a:cxnLst/>
              <a:rect l="l" t="t" r="r" b="b"/>
              <a:pathLst>
                <a:path w="1654492" h="2442210">
                  <a:moveTo>
                    <a:pt x="0" y="0"/>
                  </a:moveTo>
                  <a:lnTo>
                    <a:pt x="1654492" y="24422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91815" y="5034915"/>
              <a:ext cx="92392" cy="105728"/>
            </a:xfrm>
            <a:custGeom>
              <a:avLst/>
              <a:gdLst/>
              <a:ahLst/>
              <a:cxnLst/>
              <a:rect l="l" t="t" r="r" b="b"/>
              <a:pathLst>
                <a:path w="92392" h="105728">
                  <a:moveTo>
                    <a:pt x="92392" y="105728"/>
                  </a:moveTo>
                  <a:lnTo>
                    <a:pt x="0" y="54292"/>
                  </a:lnTo>
                  <a:lnTo>
                    <a:pt x="790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23035" y="2541270"/>
              <a:ext cx="92392" cy="105727"/>
            </a:xfrm>
            <a:custGeom>
              <a:avLst/>
              <a:gdLst/>
              <a:ahLst/>
              <a:cxnLst/>
              <a:rect l="l" t="t" r="r" b="b"/>
              <a:pathLst>
                <a:path w="92392" h="105727">
                  <a:moveTo>
                    <a:pt x="0" y="0"/>
                  </a:moveTo>
                  <a:lnTo>
                    <a:pt x="92392" y="52388"/>
                  </a:lnTo>
                  <a:lnTo>
                    <a:pt x="13335" y="1057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638675" y="2630805"/>
              <a:ext cx="545782" cy="2417445"/>
            </a:xfrm>
            <a:custGeom>
              <a:avLst/>
              <a:gdLst/>
              <a:ahLst/>
              <a:cxnLst/>
              <a:rect l="l" t="t" r="r" b="b"/>
              <a:pathLst>
                <a:path w="545782" h="2417445">
                  <a:moveTo>
                    <a:pt x="0" y="0"/>
                  </a:moveTo>
                  <a:lnTo>
                    <a:pt x="545782" y="241744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5137785" y="5037772"/>
              <a:ext cx="93345" cy="102870"/>
            </a:xfrm>
            <a:custGeom>
              <a:avLst/>
              <a:gdLst/>
              <a:ahLst/>
              <a:cxnLst/>
              <a:rect l="l" t="t" r="r" b="b"/>
              <a:pathLst>
                <a:path w="93345" h="102870">
                  <a:moveTo>
                    <a:pt x="67628" y="102870"/>
                  </a:moveTo>
                  <a:lnTo>
                    <a:pt x="0" y="20955"/>
                  </a:lnTo>
                  <a:lnTo>
                    <a:pt x="933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93458" y="2241232"/>
              <a:ext cx="65532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63365" y="2152650"/>
              <a:ext cx="1042988" cy="478155"/>
            </a:xfrm>
            <a:prstGeom prst="roundRect">
              <a:avLst>
                <a:gd name="adj" fmla="val 19920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67728" y="5140642"/>
              <a:ext cx="1132522" cy="478155"/>
            </a:xfrm>
            <a:prstGeom prst="roundRect">
              <a:avLst>
                <a:gd name="adj" fmla="val 1992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80348" y="5140642"/>
              <a:ext cx="1132522" cy="478155"/>
            </a:xfrm>
            <a:prstGeom prst="roundRect">
              <a:avLst>
                <a:gd name="adj" fmla="val 1992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93920" y="5140642"/>
              <a:ext cx="1132522" cy="478155"/>
            </a:xfrm>
            <a:prstGeom prst="roundRect">
              <a:avLst>
                <a:gd name="adj" fmla="val 19920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89241" y="23217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36411" y="2232184"/>
              <a:ext cx="895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GFS Master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52506" y="24112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3972" y="5221129"/>
              <a:ext cx="979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ChunkServer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66204" y="5399246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1、3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57544" y="5221129"/>
              <a:ext cx="979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ChunkServer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79776" y="5399246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1、2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70164" y="5221129"/>
              <a:ext cx="979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ChunkServer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92396" y="5399246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2、3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360295" y="2306002"/>
              <a:ext cx="9906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366200" y="2338388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 文件名 + 块序号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474595" y="2018348"/>
              <a:ext cx="8591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484444" y="2049780"/>
              <a:ext cx="8394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块句柄与位置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874520" y="3755708"/>
              <a:ext cx="8591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884369" y="3787140"/>
              <a:ext cx="8394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 直接读写数据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98670" y="3800475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4862" y="383190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指令与心跳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524000"/>
            <a:ext cx="5193982" cy="1522095"/>
            <a:chOff x="6464618" y="1524000"/>
            <a:chExt cx="5193982" cy="1522095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00838" y="1722120"/>
              <a:ext cx="139350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7798" y="1756410"/>
              <a:ext cx="13205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GFS（SOSP 2003）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93598" y="208264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可扩展的分布式文件系统，面向大型的分布式数据密集型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应用；在廉价商用硬件上提供容错，并为大量客户端提供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较高的总体性能。</a:t>
              </a:r>
            </a:p>
          </p:txBody>
        </p:sp>
      </p:grpSp>
      <p:grpSp>
        <p:nvGrpSpPr>
          <p:cNvPr id="57" name="c2-bullets-2"/>
          <p:cNvGrpSpPr/>
          <p:nvPr/>
        </p:nvGrpSpPr>
        <p:grpSpPr>
          <a:xfrm>
            <a:off x="6464618" y="3235642"/>
            <a:ext cx="4989283" cy="1109092"/>
            <a:chOff x="6464618" y="3235642"/>
            <a:chExt cx="4989283" cy="1109092"/>
          </a:xfrm>
        </p:grpSpPr>
        <p:sp>
          <p:nvSpPr>
            <p:cNvPr id="45" name="Ellipse 45"/>
            <p:cNvSpPr/>
            <p:nvPr/>
          </p:nvSpPr>
          <p:spPr>
            <a:xfrm>
              <a:off x="6464618" y="3235642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13705" y="3269313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24269" y="3246120"/>
              <a:ext cx="3502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较大的文件切成大小相同的块（chunk，64 MB）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64618" y="3523298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13705" y="3556968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24269" y="3534727"/>
              <a:ext cx="43526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每块存在一台 ChunkServer 上，并复制到多台（默认 3 份）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64618" y="3810952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13705" y="384557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24269" y="3822382"/>
              <a:ext cx="4729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一个文件包含哪些块、每块在哪，这些元数据存在 GFS Master 上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64618" y="4098608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13705" y="4133231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24269" y="4110038"/>
              <a:ext cx="4183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构成低成本的分布式存储，为 MapReduce 提供输入和输出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464618" y="4477702"/>
            <a:ext cx="5193982" cy="756285"/>
            <a:chOff x="6464618" y="4477702"/>
            <a:chExt cx="5193982" cy="756285"/>
          </a:xfrm>
        </p:grpSpPr>
        <p:sp>
          <p:nvSpPr>
            <p:cNvPr id="58" name="Rectangle 58"/>
            <p:cNvSpPr/>
            <p:nvPr/>
          </p:nvSpPr>
          <p:spPr>
            <a:xfrm>
              <a:off x="6464618" y="447770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4755833"/>
              <a:ext cx="200026" cy="200025"/>
              <a:chOff x="6669405" y="4755833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47558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09144" y="48002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43859" y="49114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1729" y="4624864"/>
              <a:ext cx="428853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数据不经过 Master，Master 只回答“块在哪”，所以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 Master 也能撑住大量客户端。</a:t>
              </a:r>
            </a:p>
          </p:txBody>
        </p:sp>
      </p:grpSp>
      <p:grpSp>
        <p:nvGrpSpPr>
          <p:cNvPr id="70" name="c2-kv-4"/>
          <p:cNvGrpSpPr/>
          <p:nvPr/>
        </p:nvGrpSpPr>
        <p:grpSpPr>
          <a:xfrm>
            <a:off x="6457379" y="5437346"/>
            <a:ext cx="5201221" cy="962597"/>
            <a:chOff x="6457379" y="5437346"/>
            <a:chExt cx="5201221" cy="962597"/>
          </a:xfrm>
        </p:grpSpPr>
        <p:sp>
          <p:nvSpPr>
            <p:cNvPr id="65" name="TextBox 65"/>
            <p:cNvSpPr txBox="1"/>
            <p:nvPr/>
          </p:nvSpPr>
          <p:spPr>
            <a:xfrm>
              <a:off x="6457379" y="5437346"/>
              <a:ext cx="15490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Master 持久保存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06168" y="543734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文件和块的命名空间、文件到块的映射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4618" y="57407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57379" y="585358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不持久保存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06168" y="5853589"/>
              <a:ext cx="3197479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每个块副本在哪台 ChunkServer 上，启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动时和心跳中向 ChunkServer 询问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29393" cy="909257"/>
            <a:chOff x="520446" y="342900"/>
            <a:chExt cx="97293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293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与 MapReduce：一个存结构化数据，一个是计算模型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3227070"/>
            <a:chOff x="533400" y="1524000"/>
            <a:chExt cx="5410200" cy="32270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227070"/>
            </a:xfrm>
            <a:prstGeom prst="roundRect">
              <a:avLst>
                <a:gd name="adj" fmla="val 41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603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77069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8394" y="1769269"/>
              <a:ext cx="1716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BigTable（OSDI 2006）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8427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管理结构化数据的分布式存储系统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目标是扩展到非常大的规模：数千台商用服务器上的 PB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级数据。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谷歌 60 多个项目把数据存在 BigTable 中，包括网页索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引、Google Earth 和 Google Finance。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3368516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数据模型是稀疏的多维有序映射：（行键, 列键, 时间戳）→ 值，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本质上是一种键值存储。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3227070"/>
            <a:chOff x="6248400" y="1524000"/>
            <a:chExt cx="5410200" cy="3227070"/>
          </a:xfrm>
        </p:grpSpPr>
        <p:sp>
          <p:nvSpPr>
            <p:cNvPr id="16" name="Rectangle 16"/>
            <p:cNvSpPr/>
            <p:nvPr/>
          </p:nvSpPr>
          <p:spPr>
            <a:xfrm>
              <a:off x="6248400" y="1524000"/>
              <a:ext cx="5410200" cy="3227070"/>
            </a:xfrm>
            <a:prstGeom prst="roundRect">
              <a:avLst>
                <a:gd name="adj" fmla="val 41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57925" y="1657350"/>
              <a:ext cx="47625" cy="29603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96050" y="1733550"/>
              <a:ext cx="195738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17034" y="1769269"/>
              <a:ext cx="1916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MapReduce（OSDI 2004）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8430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处理和生成大型数据集的编程模型及其实现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430" y="2465070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用户写两个函数：map 处理输入键值对（KV），生成一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组中间键值对；reduce 合并同一个中间键的所有中间值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（相当于分组合并），得到结果。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2"/>
                <p:cNvSpPr txBox="1">
                  <a:spLocks noGrp="1"/>
                </p:cNvSpPr>
                <p:nvPr/>
              </p:nvSpPr>
              <p:spPr>
                <a:xfrm>
                  <a:off x="6496050" y="3347085"/>
                  <a:ext cx="4953000" cy="6438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m:rPr>
                                <m:nor m:val="on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map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: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→</m:t>
                            </m:r>
                            <m:r>
                              <m:rPr>
                                <m:nor m:val="on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list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nor m:val="on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reduce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: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list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→</m:t>
                            </m:r>
                            <m:r>
                              <m:rPr>
                                <m:nor m:val="on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list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6489573" y="410765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分片、调度、容错、机器间通信都由框架负责，用户只关心这两个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函数。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5" name="Rectangle 2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991225"/>
              <a:ext cx="7465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的开源对应是 HBase，本章不展开；MapReduce 是第四、五部分的主角。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大数据与分布式：基础概念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键值存储：结构简单换来速度，查询约束要靠程序员自己写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ompare-1"/>
          <p:cNvGrpSpPr/>
          <p:nvPr/>
        </p:nvGrpSpPr>
        <p:grpSpPr>
          <a:xfrm>
            <a:off x="533400" y="1524000"/>
            <a:ext cx="6275070" cy="4091940"/>
            <a:chOff x="533400" y="1524000"/>
            <a:chExt cx="6275070" cy="40919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927985" cy="4091940"/>
            </a:xfrm>
            <a:prstGeom prst="roundRect">
              <a:avLst>
                <a:gd name="adj" fmla="val 45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252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简单：只有成对出现的键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和值，值理论上可放任何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22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942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快速：以内存运行为主，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处理快是最大优势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7033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640455"/>
              <a:ext cx="2110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高效计算：数据结构和数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据集之间的关系都简单，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加上内存计算、分布式计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8958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83298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分布式处理：让键值数据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库能处理大数据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80485" y="1524000"/>
              <a:ext cx="2927985" cy="4091940"/>
            </a:xfrm>
            <a:prstGeom prst="roundRect">
              <a:avLst>
                <a:gd name="adj" fmla="val 45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90010" y="1657350"/>
              <a:ext cx="47625" cy="38252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20515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133850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91965" y="211264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对值做多值查找的能力很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133850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91965" y="27336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缺少约束，容易出错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133850" y="31318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91965" y="3068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不容易建立复杂关系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133850" y="34671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91965" y="340423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查询、排序、统计等要程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序员在业务代码里实现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509010" y="340804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79350" y="350520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114222" y="1524000"/>
            <a:ext cx="4544378" cy="4091940"/>
            <a:chOff x="7114222" y="1524000"/>
            <a:chExt cx="4544378" cy="4091940"/>
          </a:xfrm>
        </p:grpSpPr>
        <p:sp>
          <p:nvSpPr>
            <p:cNvPr id="32" name="Rectangle 32"/>
            <p:cNvSpPr/>
            <p:nvPr/>
          </p:nvSpPr>
          <p:spPr>
            <a:xfrm>
              <a:off x="7114222" y="1524000"/>
              <a:ext cx="4544378" cy="4091940"/>
            </a:xfrm>
            <a:prstGeom prst="roundRect">
              <a:avLst>
                <a:gd name="adj" fmla="val 3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23748" y="1657350"/>
              <a:ext cx="47625" cy="38252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61872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5603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20025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用键值对存用户信息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361872" y="2105025"/>
              <a:ext cx="408717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5526" y="224075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89591" y="224075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9696" y="2689384"/>
              <a:ext cx="90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user:1001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22270" y="2689384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张三，长春，21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361872" y="2997518"/>
              <a:ext cx="4087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61872" y="3002280"/>
              <a:ext cx="40871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69696" y="3138011"/>
              <a:ext cx="90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user:1002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22270" y="3138011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李四，北京，22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61872" y="3447098"/>
              <a:ext cx="4087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69696" y="3586639"/>
              <a:ext cx="908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user:1003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22270" y="3586639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王五，长春，20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361872" y="2105025"/>
              <a:ext cx="408717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09685" y="21050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367588" y="408336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25702" y="4020502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按键查 user:1002：直接定位，很快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67588" y="441864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25702" y="4355782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查“所有长春的用户”：只能把每个值取出来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逐个解析、比对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55396" y="4972526"/>
              <a:ext cx="3930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这就是“多值查找弱”：要么全表扫描，要么程序员自己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再维护一张“城市 → 用户”的键值表。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7145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与 HDFS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开源版的三驾马车，先看它怎样把文件可靠地存进不可靠的集群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55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原课件第16–28页：Hadoop 概览与 HDFS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970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的组成及与云计算的关系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3947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管元数据，DataNode 存块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多副本、心跳与机架感知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01372" cy="909257"/>
            <a:chOff x="520446" y="342900"/>
            <a:chExt cx="82013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013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是什么：为大数据处理设计的开源分布式框架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2558415"/>
            <a:chOff x="533400" y="1524000"/>
            <a:chExt cx="4977765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130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是一系列开源软件的集合，是为大数据处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理而设计的分布式框架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把单机扩展到数千台机器，每台机器都提供本地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计算和存储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在应用层检测和处理故障，从而在不可靠硬件构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成的集群上实现高可用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272915"/>
            <a:ext cx="4977765" cy="2039302"/>
            <a:chOff x="533400" y="4272915"/>
            <a:chExt cx="4977765" cy="2039302"/>
          </a:xfrm>
        </p:grpSpPr>
        <p:sp>
          <p:nvSpPr>
            <p:cNvPr id="18" name="Rectangle 18"/>
            <p:cNvSpPr/>
            <p:nvPr/>
          </p:nvSpPr>
          <p:spPr>
            <a:xfrm>
              <a:off x="533400" y="4272915"/>
              <a:ext cx="4977765" cy="2039302"/>
            </a:xfrm>
            <a:prstGeom prst="roundRect">
              <a:avLst>
                <a:gd name="adj" fmla="val 560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193030"/>
              <a:ext cx="200026" cy="200026"/>
              <a:chOff x="738188" y="5193030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1930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2597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52930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912042"/>
              <a:ext cx="41014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2006 年从开源搜索引擎 Nutch 项目中独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立出来，名字取自创始人 Doug Cutting 儿子的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玩具大象。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5810250" y="1524000"/>
            <a:ext cx="5848350" cy="2988469"/>
            <a:chOff x="5810250" y="1524000"/>
            <a:chExt cx="5848350" cy="2988469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210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谷歌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11549" y="1659731"/>
              <a:ext cx="101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Hadoop 模块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777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23788" y="2108359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993255" y="1982152"/>
              <a:ext cx="18507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91553" y="2108359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61310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23788" y="2556986"/>
              <a:ext cx="956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93255" y="2430780"/>
              <a:ext cx="18507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91553" y="2556986"/>
              <a:ext cx="1537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MapReduce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61310" y="2556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分布式计算编程框架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3788" y="3005614"/>
              <a:ext cx="728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91553" y="3005614"/>
              <a:ext cx="497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HBase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61310" y="30056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分布式列存储（本章不展开）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23788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1553" y="3454241"/>
              <a:ext cx="1282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Common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61310" y="3454241"/>
              <a:ext cx="2586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支持其他 Hadoop 模块的通用工具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23788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993255" y="3777615"/>
              <a:ext cx="18507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91553" y="3903821"/>
              <a:ext cx="1040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YARN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61310" y="390382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作业调度和集群资源管理框架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1524000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7896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84872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10250" y="4292441"/>
              <a:ext cx="5258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本章重点是标出的三个模块：HDFS 存数据，YARN 分资源，MapReduce 做计算</a:t>
              </a:r>
            </a:p>
          </p:txBody>
        </p:sp>
      </p:grpSp>
      <p:grpSp>
        <p:nvGrpSpPr>
          <p:cNvPr id="73" name="c2-compare-2"/>
          <p:cNvGrpSpPr/>
          <p:nvPr/>
        </p:nvGrpSpPr>
        <p:grpSpPr>
          <a:xfrm>
            <a:off x="5815965" y="4658678"/>
            <a:ext cx="5842635" cy="1653540"/>
            <a:chOff x="5815965" y="4658678"/>
            <a:chExt cx="5842635" cy="1653540"/>
          </a:xfrm>
        </p:grpSpPr>
        <p:sp>
          <p:nvSpPr>
            <p:cNvPr id="58" name="Rectangle 58"/>
            <p:cNvSpPr/>
            <p:nvPr/>
          </p:nvSpPr>
          <p:spPr>
            <a:xfrm>
              <a:off x="5815965" y="4658678"/>
              <a:ext cx="2711768" cy="1653540"/>
            </a:xfrm>
            <a:prstGeom prst="roundRect">
              <a:avLst>
                <a:gd name="adj" fmla="val 80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17895" y="4892992"/>
              <a:ext cx="1713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纵向扩展 scale up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31230" y="531018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89345" y="524732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换更强的单台服务器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031230" y="564546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89345" y="5582602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很快碰到单机上限，价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格陡增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946832" y="4658678"/>
              <a:ext cx="2711768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956358" y="4792028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86862" y="4892992"/>
              <a:ext cx="1830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横向扩展 scale out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9200198" y="531018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58312" y="524732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加更多普通机器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9200198" y="564546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358312" y="5582602"/>
              <a:ext cx="1960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走的是这条路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8575358" y="532352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645698" y="54206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74496" cy="909257"/>
            <a:chOff x="520446" y="342900"/>
            <a:chExt cx="95744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744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与云计算：一个是数据处理框架，一个是资源服务模式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32712" cy="308039"/>
            <a:chOff x="525399" y="1550194"/>
            <a:chExt cx="783271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327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原课件第17、18页只列了比较的角度，下面按这些角度补全（云计算详见第6章）。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67865"/>
            <a:ext cx="6492240" cy="3830955"/>
            <a:chOff x="533400" y="1967865"/>
            <a:chExt cx="6492240" cy="383095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49224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849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24933" y="2102644"/>
              <a:ext cx="615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Hadoop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30050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云计算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7779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范围与定位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9940" y="266461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一套大数据存储与计算的软件框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架，部署在一个集群上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71226" y="2551271"/>
              <a:ext cx="231317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通过网络按需提供计算、存储和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软件的服务模式（IaaS、PaaS、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SaaS）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1374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318510"/>
              <a:ext cx="649224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资源利用率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09940" y="3454241"/>
              <a:ext cx="22887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 按容器分配集群资源，多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种框架共享一个集群；把计算派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到数据所在节点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71226" y="356758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虚拟化让多个租户共享物理机，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按需申请、弹性伸缩、用完释放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21576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5829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09940" y="4469606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软件层容错：块多副本、心跳检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测、失败任务重跑、推测执行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1226" y="4356259"/>
              <a:ext cx="22887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数据多副本、虚拟机迁移、多可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用区部署，按服务等级协议承诺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1177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122545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537162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用户看到的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09940" y="5258276"/>
              <a:ext cx="21750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作业、HDFS 路径、Mapper 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1226" y="5258276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虚拟机、存储桶、按量计费的服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务接口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67865"/>
              <a:ext cx="6492240" cy="38309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697355" y="1967865"/>
              <a:ext cx="9525" cy="3830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58640" y="1967865"/>
              <a:ext cx="9525" cy="3830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2-card-1"/>
          <p:cNvGrpSpPr/>
          <p:nvPr/>
        </p:nvGrpSpPr>
        <p:grpSpPr>
          <a:xfrm>
            <a:off x="7330440" y="1967865"/>
            <a:ext cx="4328160" cy="2173605"/>
            <a:chOff x="7330440" y="1967865"/>
            <a:chExt cx="4328160" cy="2173605"/>
          </a:xfrm>
        </p:grpSpPr>
        <p:sp>
          <p:nvSpPr>
            <p:cNvPr id="34" name="Rectangle 34"/>
            <p:cNvSpPr/>
            <p:nvPr/>
          </p:nvSpPr>
          <p:spPr>
            <a:xfrm>
              <a:off x="7330440" y="1967865"/>
              <a:ext cx="432816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39965" y="2101215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78090" y="21774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51547" y="22131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联系一：互补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0" y="2554605"/>
              <a:ext cx="36156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云提供弹性的机器，Hadoop 提供处理数据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的框架。云厂商都有托管的 Hadoop/Spark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服务（如 AWS EMR、阿里云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E-MapReduce），需要时开集群，算完释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7330440" y="4331970"/>
            <a:ext cx="4328160" cy="1602105"/>
            <a:chOff x="7330440" y="4331970"/>
            <a:chExt cx="4328160" cy="1602105"/>
          </a:xfrm>
        </p:grpSpPr>
        <p:sp>
          <p:nvSpPr>
            <p:cNvPr id="40" name="Rectangle 40"/>
            <p:cNvSpPr/>
            <p:nvPr/>
          </p:nvSpPr>
          <p:spPr>
            <a:xfrm>
              <a:off x="7330440" y="4331970"/>
              <a:ext cx="432816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39965" y="446532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78090" y="454152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9893" y="457723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联系二：数据共享与交互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70470" y="4918710"/>
              <a:ext cx="3615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可以直接读写云上的对象存储（如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Amazon S3），数据放在云存储里，多个集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群和云服务共用一份。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3804" cy="909257"/>
            <a:chOff x="520446" y="342900"/>
            <a:chExt cx="68138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38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的六条设计假设，以及各自带来的设计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11125200" cy="3352800"/>
            <a:chOff x="533400" y="1524000"/>
            <a:chExt cx="11125200" cy="3352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57325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06327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02065" y="16516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由此得到的设计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09645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硬件故障是常态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57309" y="209645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集群由成百上千台普通机器组成，总有部件在坏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0274" y="209645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心跳检测故障，块多副本，自动快速恢复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08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1363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54127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流式数据访问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7309" y="254127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为批处理设计而非用户交互，更重吞吐而非低延迟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0274" y="2541270"/>
              <a:ext cx="28591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放宽 POSIX 语义，并未兼容 POSIX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52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270" y="2986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57309" y="2986088"/>
              <a:ext cx="4483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典型文件 GB 到 TB 级；数百个节点上支持数千万个文件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0274" y="2986088"/>
              <a:ext cx="3421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大块（默认 128 MB）；不适合大量小文件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975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02318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2270" y="355092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简化的一致性模型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57309" y="3430905"/>
              <a:ext cx="41285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文件创建、写入、关闭后就不再修改，只允许追加和截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0274" y="355092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一致性问题简单，吞吐更高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824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41148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移动计算比移动数据便宜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7309" y="411480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数据集很大时，把程序送到数据所在的节点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30274" y="41148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减少网络拥塞，提升吞吐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272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31982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2270" y="4559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跨软硬件平台可移植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57309" y="4559618"/>
              <a:ext cx="2347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编写，运行在用户态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0274" y="4559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容易部署到各种平台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11125200" cy="3352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753678" y="1524000"/>
              <a:ext cx="9525" cy="3352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426642" y="1524000"/>
              <a:ext cx="9525" cy="3352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1" name="Rectangle 4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6023610"/>
              <a:ext cx="10490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小文件多的代价：每个文件、每个块的元数据都放在 NameNode 内存里（每个对象约 150 字节），1 亿个小文件约占 30 GB 内存。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86300" cy="909257"/>
            <a:chOff x="520446" y="342900"/>
            <a:chExt cx="85863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86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HDFS：依照 GFS 设计、运行在用户态的分布式文件系统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2036445"/>
            <a:chOff x="533400" y="1524000"/>
            <a:chExt cx="5626418" cy="2036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0965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906" y="1769269"/>
              <a:ext cx="88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HDFS 的特点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291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依照 GFS 设计的分布式文件系统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运行在低成本商用硬件上，提供高容错性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提供高吞吐量访问，支持有大量数据集的应用程序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1794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11658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运行在用户态，不是内核级文件系统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33400" y="3750945"/>
            <a:ext cx="5626418" cy="2244091"/>
            <a:chOff x="533400" y="3750945"/>
            <a:chExt cx="5626418" cy="2244091"/>
          </a:xfrm>
        </p:grpSpPr>
        <p:sp>
          <p:nvSpPr>
            <p:cNvPr id="20" name="Rectangle 20"/>
            <p:cNvSpPr/>
            <p:nvPr/>
          </p:nvSpPr>
          <p:spPr>
            <a:xfrm>
              <a:off x="533400" y="3750945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37876" y="3886676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GFS 里叫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8036" y="3886676"/>
              <a:ext cx="835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HDFS 里叫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223" y="4335304"/>
              <a:ext cx="65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79586" y="4335304"/>
              <a:ext cx="816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643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64820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783931"/>
              <a:ext cx="1118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ChunkServer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79586" y="4783931"/>
              <a:ext cx="781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DataNode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0930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5232559"/>
              <a:ext cx="1376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Chunk（64 MB）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79586" y="5232559"/>
              <a:ext cx="2730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Block（Hadoop 2 起默认 128 MB）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5416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54640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681186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3 副本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79586" y="5681186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3 副本，可按文件配置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750945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667000" y="375094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ompare-1"/>
          <p:cNvGrpSpPr/>
          <p:nvPr/>
        </p:nvGrpSpPr>
        <p:grpSpPr>
          <a:xfrm>
            <a:off x="6464618" y="1524000"/>
            <a:ext cx="5193982" cy="2274570"/>
            <a:chOff x="6464618" y="1524000"/>
            <a:chExt cx="5193982" cy="2274570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238696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04648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7983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6098" y="2112645"/>
              <a:ext cx="167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GB–TB 级的大文件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17983" y="25107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6098" y="244792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一次写入、多次读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17983" y="31318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76098" y="306895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批处理，顺序读整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个文件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71635" y="1524000"/>
              <a:ext cx="238696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81160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511665" y="17583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不适合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525000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83115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大量小文件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525000" y="25107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83115" y="24479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毫秒级低延迟访问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525000" y="28460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83115" y="278320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在文件中间随机改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900160" y="24993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970500" y="25955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464618" y="3989070"/>
            <a:ext cx="5193982" cy="782955"/>
            <a:chOff x="6464618" y="3989070"/>
            <a:chExt cx="5193982" cy="782955"/>
          </a:xfrm>
        </p:grpSpPr>
        <p:sp>
          <p:nvSpPr>
            <p:cNvPr id="60" name="Rectangle 60"/>
            <p:cNvSpPr/>
            <p:nvPr/>
          </p:nvSpPr>
          <p:spPr>
            <a:xfrm>
              <a:off x="6464618" y="398907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69405" y="4280535"/>
              <a:ext cx="200026" cy="200025"/>
              <a:chOff x="6669405" y="428053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42805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09144" y="43249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43859" y="44361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348" y="4137660"/>
              <a:ext cx="4253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用户态文件系统意味着不能像本地磁盘那样直接挂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载使用，要通过 hdfs dfs 命令或 Java API 访问。</a:t>
              </a:r>
            </a:p>
          </p:txBody>
        </p:sp>
      </p:grpSp>
      <p:grpSp>
        <p:nvGrpSpPr>
          <p:cNvPr id="70" name="c2-code-3"/>
          <p:cNvGrpSpPr/>
          <p:nvPr/>
        </p:nvGrpSpPr>
        <p:grpSpPr>
          <a:xfrm>
            <a:off x="6464618" y="4962525"/>
            <a:ext cx="5193982" cy="1313498"/>
            <a:chOff x="6464618" y="4962525"/>
            <a:chExt cx="5193982" cy="1313498"/>
          </a:xfrm>
        </p:grpSpPr>
        <p:sp>
          <p:nvSpPr>
            <p:cNvPr id="67" name="Rectangle 67"/>
            <p:cNvSpPr/>
            <p:nvPr/>
          </p:nvSpPr>
          <p:spPr>
            <a:xfrm>
              <a:off x="6464618" y="4962525"/>
              <a:ext cx="519398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93015" y="5114449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92252" y="5376386"/>
              <a:ext cx="235839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hdfs dfs -mkdir -p /input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hdfs dfs -put words.txt /input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hdfs dfs -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/input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hdfs dfs -cat /input/words.txt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57486" cy="909257"/>
            <a:chOff x="520446" y="342900"/>
            <a:chExt cx="100574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574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与 DataNode：一个主节点管元数据，多个从节点存块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graph-1"/>
          <p:cNvGrpSpPr/>
          <p:nvPr/>
        </p:nvGrpSpPr>
        <p:grpSpPr>
          <a:xfrm>
            <a:off x="682942" y="1729740"/>
            <a:ext cx="5742622" cy="4080034"/>
            <a:chOff x="682942" y="1729740"/>
            <a:chExt cx="5742622" cy="4080034"/>
          </a:xfrm>
        </p:grpSpPr>
        <p:sp>
          <p:nvSpPr>
            <p:cNvPr id="7" name="Freeform 7"/>
            <p:cNvSpPr/>
            <p:nvPr/>
          </p:nvSpPr>
          <p:spPr>
            <a:xfrm>
              <a:off x="3250882" y="1968818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43990" y="2172652"/>
              <a:ext cx="1049655" cy="713422"/>
            </a:xfrm>
            <a:custGeom>
              <a:avLst/>
              <a:gdLst/>
              <a:ahLst/>
              <a:cxnLst/>
              <a:rect l="l" t="t" r="r" b="b"/>
              <a:pathLst>
                <a:path w="1049655" h="713422">
                  <a:moveTo>
                    <a:pt x="0" y="713422"/>
                  </a:moveTo>
                  <a:lnTo>
                    <a:pt x="10496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2466975" y="211836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0"/>
                  </a:moveTo>
                  <a:lnTo>
                    <a:pt x="53340" y="93345"/>
                  </a:lnTo>
                  <a:lnTo>
                    <a:pt x="0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921318" y="2118360"/>
              <a:ext cx="1814512" cy="2118360"/>
            </a:xfrm>
            <a:custGeom>
              <a:avLst/>
              <a:gdLst/>
              <a:ahLst/>
              <a:cxnLst/>
              <a:rect l="l" t="t" r="r" b="b"/>
              <a:pathLst>
                <a:path w="1814512" h="2118360">
                  <a:moveTo>
                    <a:pt x="0" y="0"/>
                  </a:moveTo>
                  <a:lnTo>
                    <a:pt x="1814512" y="211836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4699635" y="4205288"/>
              <a:ext cx="98108" cy="103822"/>
            </a:xfrm>
            <a:custGeom>
              <a:avLst/>
              <a:gdLst/>
              <a:ahLst/>
              <a:cxnLst/>
              <a:rect l="l" t="t" r="r" b="b"/>
              <a:pathLst>
                <a:path w="98108" h="103822">
                  <a:moveTo>
                    <a:pt x="98108" y="103822"/>
                  </a:moveTo>
                  <a:lnTo>
                    <a:pt x="0" y="61912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055370" y="3280410"/>
              <a:ext cx="136207" cy="1028700"/>
            </a:xfrm>
            <a:custGeom>
              <a:avLst/>
              <a:gdLst/>
              <a:ahLst/>
              <a:cxnLst/>
              <a:rect l="l" t="t" r="r" b="b"/>
              <a:pathLst>
                <a:path w="136207" h="1028700">
                  <a:moveTo>
                    <a:pt x="0" y="1028700"/>
                  </a:moveTo>
                  <a:lnTo>
                    <a:pt x="1362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43952" y="3186112"/>
              <a:ext cx="94298" cy="100012"/>
            </a:xfrm>
            <a:custGeom>
              <a:avLst/>
              <a:gdLst/>
              <a:ahLst/>
              <a:cxnLst/>
              <a:rect l="l" t="t" r="r" b="b"/>
              <a:pathLst>
                <a:path w="94298" h="100012">
                  <a:moveTo>
                    <a:pt x="60008" y="0"/>
                  </a:moveTo>
                  <a:lnTo>
                    <a:pt x="94298" y="100012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335655" y="4685348"/>
              <a:ext cx="601980" cy="823912"/>
            </a:xfrm>
            <a:custGeom>
              <a:avLst/>
              <a:gdLst/>
              <a:ahLst/>
              <a:cxnLst/>
              <a:rect l="l" t="t" r="r" b="b"/>
              <a:pathLst>
                <a:path w="601980" h="823912">
                  <a:moveTo>
                    <a:pt x="601980" y="8239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79458" y="4609148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0" y="0"/>
                  </a:moveTo>
                  <a:lnTo>
                    <a:pt x="94297" y="48578"/>
                  </a:lnTo>
                  <a:lnTo>
                    <a:pt x="17145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366135" y="4458652"/>
              <a:ext cx="1268730" cy="9525"/>
            </a:xfrm>
            <a:custGeom>
              <a:avLst/>
              <a:gdLst/>
              <a:ahLst/>
              <a:cxnLst/>
              <a:rect l="l" t="t" r="r" b="b"/>
              <a:pathLst>
                <a:path w="1268730" h="9525">
                  <a:moveTo>
                    <a:pt x="0" y="0"/>
                  </a:moveTo>
                  <a:lnTo>
                    <a:pt x="1268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634865" y="44110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334578" y="1818322"/>
              <a:ext cx="915352" cy="300038"/>
            </a:xfrm>
            <a:prstGeom prst="roundRect">
              <a:avLst>
                <a:gd name="adj" fmla="val 31746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31982" y="1729740"/>
              <a:ext cx="1993582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2942" y="2886075"/>
              <a:ext cx="108204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9152" y="4309110"/>
              <a:ext cx="392430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05952" y="4309110"/>
              <a:ext cx="392430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72752" y="4309110"/>
              <a:ext cx="392430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30115" y="4309110"/>
              <a:ext cx="392430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59780" y="4309110"/>
              <a:ext cx="392430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07105" y="5509260"/>
              <a:ext cx="108204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17742" y="1898809"/>
              <a:ext cx="749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NameNode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96421" y="18092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9399" y="1988344"/>
              <a:ext cx="173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/home/foo/data，3，…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5924" y="29656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客户端（读）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7652" y="43886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04452" y="43886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71252" y="43886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28614" y="43886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58279" y="43886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90087" y="55897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客户端（写）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684020" y="2416492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00212" y="244887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元数据操作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649980" y="3128010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73030" y="31603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块操作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34415" y="3661410"/>
              <a:ext cx="1905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64324" y="369379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13772" y="4973002"/>
              <a:ext cx="1905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43681" y="500538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95725" y="437292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922204" y="440531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81599" y="496014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70594" y="496014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2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7114222" y="1524000"/>
            <a:ext cx="4544378" cy="1814512"/>
            <a:chOff x="7114222" y="1524000"/>
            <a:chExt cx="4544378" cy="1814512"/>
          </a:xfrm>
        </p:grpSpPr>
        <p:sp>
          <p:nvSpPr>
            <p:cNvPr id="50" name="Rectangle 50"/>
            <p:cNvSpPr/>
            <p:nvPr/>
          </p:nvSpPr>
          <p:spPr>
            <a:xfrm>
              <a:off x="7114222" y="1524000"/>
              <a:ext cx="4544378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3748" y="1657350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44728" y="1716405"/>
              <a:ext cx="258699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67914" y="1750695"/>
              <a:ext cx="25406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NameNode（每个集群一个，可有备份）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09320" y="20726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维护文件系统的元数据（命名空间）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353300" y="243173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509320" y="2375535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执行命名空间操作：打开、关闭、重命名文件和目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353300" y="29918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09320" y="2935605"/>
              <a:ext cx="3030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确定块（Block）到 DataNode 的映射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7114222" y="3513772"/>
            <a:ext cx="4544378" cy="1557338"/>
            <a:chOff x="7114222" y="3513772"/>
            <a:chExt cx="4544378" cy="1557338"/>
          </a:xfrm>
        </p:grpSpPr>
        <p:sp>
          <p:nvSpPr>
            <p:cNvPr id="61" name="Rectangle 61"/>
            <p:cNvSpPr/>
            <p:nvPr/>
          </p:nvSpPr>
          <p:spPr>
            <a:xfrm>
              <a:off x="7114222" y="3513772"/>
              <a:ext cx="4544378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23748" y="3647122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344728" y="3706178"/>
              <a:ext cx="135921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04683" y="3740468"/>
              <a:ext cx="1238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DataNode（多个）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53300" y="41186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09320" y="4062412"/>
              <a:ext cx="39694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文件分为一到多个块，DataNode 实际存储这些块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53300" y="44215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09320" y="436530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处理块的创建、删除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353300" y="47234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09320" y="46672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处理来自文件系统客户端的读写请求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7114222" y="5246370"/>
            <a:ext cx="4544378" cy="729615"/>
            <a:chOff x="7114222" y="5246370"/>
            <a:chExt cx="4544378" cy="729615"/>
          </a:xfrm>
        </p:grpSpPr>
        <p:sp>
          <p:nvSpPr>
            <p:cNvPr id="72" name="Rectangle 72"/>
            <p:cNvSpPr/>
            <p:nvPr/>
          </p:nvSpPr>
          <p:spPr>
            <a:xfrm>
              <a:off x="7114222" y="5246370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19010" y="5511167"/>
              <a:ext cx="200023" cy="200023"/>
              <a:chOff x="7319010" y="5511167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19010" y="55111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452360" y="55778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621714" y="5392102"/>
              <a:ext cx="35798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数据不经过 NameNode：客户端先问 NameNode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块在哪，再直接和 DataNode 读写。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61260" cy="909257"/>
            <a:chOff x="520446" y="342900"/>
            <a:chExt cx="92612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612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读写一个文件时，客户端、NameNode、DataNode 各做什么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375404" cy="264033"/>
            <a:chOff x="526542" y="1545907"/>
            <a:chExt cx="437540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这一页是补充内容，把上页的箭头按时间顺序串起来。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38338"/>
            <a:ext cx="5250370" cy="1596009"/>
            <a:chOff x="533400" y="1938338"/>
            <a:chExt cx="5250370" cy="1596009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968341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① 问位置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2223135"/>
              <a:ext cx="3974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客户端向 NameNode 请求文件的块列表及每块所在的 DataNode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521744"/>
              <a:ext cx="737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② 排序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776538"/>
              <a:ext cx="35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返回各块位置，按与客户端的网络距离排好序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075146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③ 直接读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328988"/>
              <a:ext cx="4836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客户端依次向最近的 DataNode 读各块；某个 DataNode 出错就换下一个副本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28447" y="3696652"/>
            <a:ext cx="5415153" cy="1789462"/>
            <a:chOff x="528447" y="3696652"/>
            <a:chExt cx="5415153" cy="1789462"/>
          </a:xfrm>
        </p:grpSpPr>
        <p:sp>
          <p:nvSpPr>
            <p:cNvPr id="23" name="Rectangle 23"/>
            <p:cNvSpPr/>
            <p:nvPr/>
          </p:nvSpPr>
          <p:spPr>
            <a:xfrm>
              <a:off x="533400" y="3696652"/>
              <a:ext cx="5410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77009" y="38138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副本在哪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82109" y="38138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网络距离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078" y="41948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与客户端同一个节点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25939" y="41948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538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4586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457676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同一机架的另一节点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25939" y="45767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358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49577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同一数据中心的另一机架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25939" y="49577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696652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90975" y="369665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447" y="5295424"/>
              <a:ext cx="34115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Hadoop 的距离 = 两节点各自到最近公共交换机的跳数之和</a:t>
              </a:r>
            </a:p>
          </p:txBody>
        </p:sp>
      </p:grpSp>
      <p:grpSp>
        <p:nvGrpSpPr>
          <p:cNvPr id="56" name="c2-steps-1"/>
          <p:cNvGrpSpPr/>
          <p:nvPr/>
        </p:nvGrpSpPr>
        <p:grpSpPr>
          <a:xfrm>
            <a:off x="6248400" y="1938338"/>
            <a:ext cx="5480066" cy="2149411"/>
            <a:chOff x="6248400" y="1938338"/>
            <a:chExt cx="5480066" cy="2149411"/>
          </a:xfrm>
        </p:grpSpPr>
        <p:sp>
          <p:nvSpPr>
            <p:cNvPr id="39" name="Rectangle 39"/>
            <p:cNvSpPr/>
            <p:nvPr/>
          </p:nvSpPr>
          <p:spPr>
            <a:xfrm>
              <a:off x="6381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248400" y="19383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249078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48400" y="30441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2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48400" y="359759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2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023" y="1968341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① 建文件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2166" y="2223135"/>
              <a:ext cx="2876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客户端请求 NameNode 在命名空间里创建文件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023" y="252174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② 选节点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2166" y="2776538"/>
              <a:ext cx="31042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每写一个块，NameNode 为它选出 3 个 DataNode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023" y="3075146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③ 流水线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2166" y="3328988"/>
              <a:ext cx="5066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客户端把数据发给第一个 DataNode，它边收边转给第二个，第二个再转给第三个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1023" y="3627596"/>
              <a:ext cx="737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④ 确认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2166" y="3882390"/>
              <a:ext cx="4431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确认沿流水线逆向返回；全部块写完，客户端通知 NameNode 关闭文件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248400" y="4249102"/>
            <a:ext cx="5410200" cy="1198245"/>
            <a:chOff x="6248400" y="4249102"/>
            <a:chExt cx="5410200" cy="1198245"/>
          </a:xfrm>
        </p:grpSpPr>
        <p:sp>
          <p:nvSpPr>
            <p:cNvPr id="57" name="Rectangle 57"/>
            <p:cNvSpPr/>
            <p:nvPr/>
          </p:nvSpPr>
          <p:spPr>
            <a:xfrm>
              <a:off x="6248400" y="4249102"/>
              <a:ext cx="5410200" cy="1198245"/>
            </a:xfrm>
            <a:prstGeom prst="roundRect">
              <a:avLst>
                <a:gd name="adj" fmla="val 953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4748213"/>
              <a:ext cx="200026" cy="200026"/>
              <a:chOff x="6453188" y="474821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47482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53200" y="48148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42088" y="48482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6273" y="4524851"/>
              <a:ext cx="443458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流水线中某个 DataNode 失败时，客户端把它踢出流水线，用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剩下的节点写完这一块；副本不足的部分之后由 NameNode 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排补齐。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9174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写入时客户端只发一份数据，另外两份由 DataNode 之间转发，所以副本放在哪里直接决定了跨机架流量（见第22页）。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55826" cy="909257"/>
            <a:chOff x="520446" y="342900"/>
            <a:chExt cx="100558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558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数据复制：块和副本数可配置，NameNode 靠心跳和块报告做决定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272665"/>
            <a:chOff x="533400" y="1524000"/>
            <a:chExt cx="5626418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数据的复制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682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要在大型集群中可靠地存储很大的文件，因此把文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件分块，每块生成多个副本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每个文件的块大小和副本数都可配置（默认 128 MB、3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份）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3907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有关块复制的所有决定都由 NameNode 做出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5780" y="4011930"/>
            <a:ext cx="5634038" cy="1297305"/>
            <a:chOff x="525780" y="4011930"/>
            <a:chExt cx="5634038" cy="1297305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4011930"/>
              <a:ext cx="1539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Heartbeat 心跳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13610" y="401193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DataNode 定期发送；收到心跳表示它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运行正常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6139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4733925"/>
              <a:ext cx="1425893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Blockreport 块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13610" y="4733925"/>
              <a:ext cx="2654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 DataNode 上所有块的列表</a:t>
              </a:r>
            </a:p>
          </p:txBody>
        </p:sp>
      </p:grpSp>
      <p:grpSp>
        <p:nvGrpSpPr>
          <p:cNvPr id="42" name="c2-flow-1"/>
          <p:cNvGrpSpPr/>
          <p:nvPr/>
        </p:nvGrpSpPr>
        <p:grpSpPr>
          <a:xfrm>
            <a:off x="6828472" y="1724025"/>
            <a:ext cx="4466272" cy="3790950"/>
            <a:chOff x="6828472" y="1724025"/>
            <a:chExt cx="4466272" cy="3790950"/>
          </a:xfrm>
        </p:grpSpPr>
        <p:sp>
          <p:nvSpPr>
            <p:cNvPr id="24" name="Freeform 24"/>
            <p:cNvSpPr/>
            <p:nvPr/>
          </p:nvSpPr>
          <p:spPr>
            <a:xfrm>
              <a:off x="9062085" y="2162175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009698" y="2266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9062085" y="3190875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009698" y="3295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062085" y="38385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009698" y="41338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062085" y="46767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009698" y="4972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28472" y="172402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828472" y="2371725"/>
              <a:ext cx="4466272" cy="819150"/>
            </a:xfrm>
            <a:custGeom>
              <a:avLst/>
              <a:gdLst/>
              <a:ahLst/>
              <a:cxnLst/>
              <a:rect l="l" t="t" r="r" b="b"/>
              <a:pathLst>
                <a:path w="4466272" h="819150">
                  <a:moveTo>
                    <a:pt x="2233612" y="0"/>
                  </a:moveTo>
                  <a:lnTo>
                    <a:pt x="4466272" y="409575"/>
                  </a:lnTo>
                  <a:lnTo>
                    <a:pt x="2233612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28472" y="340042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28472" y="423862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28472" y="507682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98136" y="1854041"/>
              <a:ext cx="2927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DataNode 定期发心跳（默认每 3 秒）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17688" y="2582704"/>
              <a:ext cx="22887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 DataNode 长时间没有心跳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（默认约 10 分钟）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24368" y="3530441"/>
              <a:ext cx="2075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把它标记为失效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35570" y="43686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据块报告找出副本数不足的块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43317" y="5206841"/>
              <a:ext cx="2437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安排其他 DataNode 复制这些块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05818" cy="909257"/>
            <a:chOff x="520446" y="342900"/>
            <a:chExt cx="94058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058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块复制图：数一数每块有几份，坏掉一个 DataNode 要补什么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942022" y="1694498"/>
            <a:ext cx="5302568" cy="3542728"/>
            <a:chOff x="942022" y="1694498"/>
            <a:chExt cx="5302568" cy="3542728"/>
          </a:xfrm>
        </p:grpSpPr>
        <p:sp>
          <p:nvSpPr>
            <p:cNvPr id="7" name="Rectangle 7"/>
            <p:cNvSpPr/>
            <p:nvPr/>
          </p:nvSpPr>
          <p:spPr>
            <a:xfrm>
              <a:off x="1438275" y="1694498"/>
              <a:ext cx="4250055" cy="646748"/>
            </a:xfrm>
            <a:prstGeom prst="roundRect">
              <a:avLst>
                <a:gd name="adj" fmla="val 14728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42022" y="3408998"/>
              <a:ext cx="757238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577465" y="3408998"/>
              <a:ext cx="517208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971925" y="3408998"/>
              <a:ext cx="757238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87352" y="3408998"/>
              <a:ext cx="757238" cy="510540"/>
            </a:xfrm>
            <a:prstGeom prst="roundRect">
              <a:avLst>
                <a:gd name="adj" fmla="val 18657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42022" y="4726305"/>
              <a:ext cx="757238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77465" y="4726305"/>
              <a:ext cx="517208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971925" y="4726305"/>
              <a:ext cx="757238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607368" y="4726305"/>
              <a:ext cx="517208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83655" y="1847850"/>
              <a:ext cx="2959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NameNode：part-0，r = 2，块 {1, 3}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41341" y="2038350"/>
              <a:ext cx="22439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part-1，r = 3，块 {2, 4, 5}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67163" y="349472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4743" y="3685222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1、2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81638" y="349472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76635" y="3685222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97066" y="349472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64645" y="3685222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1、4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11541" y="349472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DN4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79120" y="3685222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块 2、5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67163" y="481203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4743" y="5002530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5、3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81638" y="481203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76635" y="500253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97066" y="481203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64645" y="5002530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3、5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11541" y="481203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DN8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06538" y="500253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块 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11209" y="262890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原课件第27页图，r 是副本数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6898005" y="1524000"/>
            <a:ext cx="4760595" cy="2581275"/>
            <a:chOff x="6898005" y="1524000"/>
            <a:chExt cx="4760595" cy="2581275"/>
          </a:xfrm>
        </p:grpSpPr>
        <p:sp>
          <p:nvSpPr>
            <p:cNvPr id="36" name="Rectangle 36"/>
            <p:cNvSpPr/>
            <p:nvPr/>
          </p:nvSpPr>
          <p:spPr>
            <a:xfrm>
              <a:off x="6898005" y="1524000"/>
              <a:ext cx="476059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96887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6324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所属文件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8203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4878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8608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1013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73899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part-0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9915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590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55149" y="2085022"/>
              <a:ext cx="73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DN1、DN3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23793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8005" y="2384108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31013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73899" y="2515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part-0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9915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590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55149" y="2515552"/>
              <a:ext cx="73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DN5、DN7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28098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31013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73899" y="294608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part-1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9915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6590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55149" y="2946082"/>
              <a:ext cx="11801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DN1、DN2、DN4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98005" y="32394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98005" y="3244215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31013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73899" y="337566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part-1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9915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6590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55149" y="3375660"/>
              <a:ext cx="11801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DN3、DN6、DN8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898005" y="366998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31013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73899" y="380619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part-1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99157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5907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955149" y="3806190"/>
              <a:ext cx="11801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DN4、DN5、DN7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898005" y="1524000"/>
              <a:ext cx="476059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46379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51154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17829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84504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c2-card-2"/>
          <p:cNvGrpSpPr/>
          <p:nvPr/>
        </p:nvGrpSpPr>
        <p:grpSpPr>
          <a:xfrm>
            <a:off x="6898005" y="4290060"/>
            <a:ext cx="4760595" cy="2048828"/>
            <a:chOff x="6898005" y="4290060"/>
            <a:chExt cx="4760595" cy="2048828"/>
          </a:xfrm>
        </p:grpSpPr>
        <p:sp>
          <p:nvSpPr>
            <p:cNvPr id="79" name="Rectangle 79"/>
            <p:cNvSpPr/>
            <p:nvPr/>
          </p:nvSpPr>
          <p:spPr>
            <a:xfrm>
              <a:off x="6898005" y="4290060"/>
              <a:ext cx="4760595" cy="204882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907530" y="4423410"/>
              <a:ext cx="47625" cy="17821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139940" y="4493895"/>
              <a:ext cx="97250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05655" y="4529614"/>
              <a:ext cx="84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若 DN4 故障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32701" y="4866799"/>
              <a:ext cx="407212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2、5 各剩 2 份，少于 r = 3。NameNode 安排复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制：块 2 可以复制到 DN3，块 5 可以复制到 DN1 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类还没有该块的节点。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33844" y="5726430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同一块的两个副本放在同一个 DataNode 上没有意义，这台机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器一坏两份一起丢。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机架感知：3 个副本放在两个机架上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graph-1"/>
          <p:cNvGrpSpPr/>
          <p:nvPr/>
        </p:nvGrpSpPr>
        <p:grpSpPr>
          <a:xfrm>
            <a:off x="1125855" y="1555909"/>
            <a:ext cx="3469957" cy="3607975"/>
            <a:chOff x="1125855" y="1555909"/>
            <a:chExt cx="3469957" cy="3607975"/>
          </a:xfrm>
        </p:grpSpPr>
        <p:sp>
          <p:nvSpPr>
            <p:cNvPr id="7" name="Freeform 7"/>
            <p:cNvSpPr/>
            <p:nvPr/>
          </p:nvSpPr>
          <p:spPr>
            <a:xfrm>
              <a:off x="2035492" y="2457450"/>
              <a:ext cx="1781175" cy="9525"/>
            </a:xfrm>
            <a:custGeom>
              <a:avLst/>
              <a:gdLst/>
              <a:ahLst/>
              <a:cxnLst/>
              <a:rect l="l" t="t" r="r" b="b"/>
              <a:pathLst>
                <a:path w="1781175" h="9525">
                  <a:moveTo>
                    <a:pt x="0" y="0"/>
                  </a:moveTo>
                  <a:lnTo>
                    <a:pt x="17811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16668" y="2409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247198" y="2712720"/>
              <a:ext cx="9525" cy="667702"/>
            </a:xfrm>
            <a:custGeom>
              <a:avLst/>
              <a:gdLst/>
              <a:ahLst/>
              <a:cxnLst/>
              <a:rect l="l" t="t" r="r" b="b"/>
              <a:pathLst>
                <a:path w="9525" h="667702">
                  <a:moveTo>
                    <a:pt x="0" y="0"/>
                  </a:moveTo>
                  <a:lnTo>
                    <a:pt x="0" y="6677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99572" y="33804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125855" y="2202180"/>
              <a:ext cx="909638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378268" y="3570922"/>
              <a:ext cx="40481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378268" y="4843462"/>
              <a:ext cx="40481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911918" y="2202180"/>
              <a:ext cx="669608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911918" y="3475672"/>
              <a:ext cx="669608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44315" y="4843462"/>
              <a:ext cx="404812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07282" y="2287905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A1 写入者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1421" y="247840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6482" y="365569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76482" y="49291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42529" y="22879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07468" y="247840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42529" y="35604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07468" y="375094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2529" y="49291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625090" y="2365058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638933" y="23988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跨机架一次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97630" y="3001328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12426" y="303609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机架内转发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4981" y="1555909"/>
              <a:ext cx="51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91028" y="1555909"/>
              <a:ext cx="51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B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5598795" y="1524000"/>
            <a:ext cx="6059805" cy="1602105"/>
            <a:chOff x="5598795" y="1524000"/>
            <a:chExt cx="6059805" cy="1602105"/>
          </a:xfrm>
        </p:grpSpPr>
        <p:sp>
          <p:nvSpPr>
            <p:cNvPr id="33" name="Rectangle 33"/>
            <p:cNvSpPr/>
            <p:nvPr/>
          </p:nvSpPr>
          <p:spPr>
            <a:xfrm>
              <a:off x="5598795" y="1524000"/>
              <a:ext cx="605980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608320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46445" y="1733550"/>
              <a:ext cx="135255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6184" y="1769269"/>
              <a:ext cx="1233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Rack Awareness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38825" y="2110740"/>
              <a:ext cx="534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同机架内的访问比跨机架快，但整个机架也可能一起挂掉，所以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副本放在哪里同时影响性能和可靠性。Hadoop 的机架感知功能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可以制定不同的放置策略。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5598795" y="3316605"/>
            <a:ext cx="6059805" cy="1795462"/>
            <a:chOff x="5598795" y="3316605"/>
            <a:chExt cx="6059805" cy="1795462"/>
          </a:xfrm>
        </p:grpSpPr>
        <p:sp>
          <p:nvSpPr>
            <p:cNvPr id="39" name="Rectangle 39"/>
            <p:cNvSpPr/>
            <p:nvPr/>
          </p:nvSpPr>
          <p:spPr>
            <a:xfrm>
              <a:off x="5598795" y="3316605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60223" y="34523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放置方式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87207" y="34523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机架整体故障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60902" y="345233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每块写入的跨机架传输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06618" y="3900964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份全在一个机架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30730" y="3900964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数据访问不到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06166" y="390096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次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42090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98795" y="421386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06618" y="4349591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份各在一个机架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30730" y="434959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06166" y="4349591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次，写成本高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46586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608320" y="4672965"/>
              <a:ext cx="240506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06618" y="4798219"/>
              <a:ext cx="2187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本机架 1 份 + 另一机架 2 份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30730" y="479821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06166" y="479821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次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3316605"/>
              <a:ext cx="605980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18145" y="33166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593580" y="33166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3"/>
          <p:cNvGrpSpPr/>
          <p:nvPr/>
        </p:nvGrpSpPr>
        <p:grpSpPr>
          <a:xfrm>
            <a:off x="5598795" y="5302568"/>
            <a:ext cx="6059805" cy="533400"/>
            <a:chOff x="5598795" y="5302568"/>
            <a:chExt cx="6059805" cy="533400"/>
          </a:xfrm>
        </p:grpSpPr>
        <p:sp>
          <p:nvSpPr>
            <p:cNvPr id="60" name="Rectangle 60"/>
            <p:cNvSpPr/>
            <p:nvPr/>
          </p:nvSpPr>
          <p:spPr>
            <a:xfrm>
              <a:off x="5598795" y="5302568"/>
              <a:ext cx="6059805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803583" y="5469255"/>
              <a:ext cx="200026" cy="200025"/>
              <a:chOff x="5803583" y="546925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5803583" y="54692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843321" y="55137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878037" y="56248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105525" y="546449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读取时同样优先选相同机架上的副本。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100" cy="909257"/>
            <a:chOff x="520446" y="342900"/>
            <a:chExt cx="58771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1" y="407194"/>
              <a:ext cx="252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与 HDFS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1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例题：一个 300 MB 的文件存进 HDFS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316355"/>
            <a:chOff x="533400" y="1524000"/>
            <a:chExt cx="605980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234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块大小 128 MB，副本数 3，按默认的机架感知策略写入。求块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数、块副本数、磁盘占用和跨机架传输量。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040380"/>
            <a:ext cx="5371465" cy="2529173"/>
            <a:chOff x="533400" y="3040380"/>
            <a:chExt cx="5371465" cy="2529173"/>
          </a:xfrm>
        </p:grpSpPr>
        <p:sp>
          <p:nvSpPr>
            <p:cNvPr id="13" name="Rectangle 13"/>
            <p:cNvSpPr/>
            <p:nvPr/>
          </p:nvSpPr>
          <p:spPr>
            <a:xfrm>
              <a:off x="666750" y="318325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04038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909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64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4149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15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9930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066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0746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368516"/>
              <a:ext cx="4958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⌈300 / 128⌉ = 3 块：128、128、44 MB，最后一块只占实际大小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7252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019074"/>
              <a:ext cx="4092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块 × 3 份 = 9 个块副本，占 300 × 3 = 900 MB 磁盘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375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66963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 1 份在写入者所在机架，2 份在另一个机架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50272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跨机架流量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320189"/>
              <a:ext cx="49242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每块只跨一次机架，共 300 MB；三份各放一个机架则要 600 MB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892290" y="1524000"/>
            <a:ext cx="4766310" cy="2091214"/>
            <a:chOff x="6892290" y="1524000"/>
            <a:chExt cx="4766310" cy="2091214"/>
          </a:xfrm>
        </p:grpSpPr>
        <p:sp>
          <p:nvSpPr>
            <p:cNvPr id="31" name="Rectangle 31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0222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文件大小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2420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0675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块副本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5122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磁盘占用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05828" y="2108359"/>
              <a:ext cx="634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 MB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219122" y="1982152"/>
              <a:ext cx="96774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80838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3050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46105" y="2108359"/>
              <a:ext cx="604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 MB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98005" y="242125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5828" y="2556986"/>
              <a:ext cx="739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MB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80838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3573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45968" y="2556986"/>
              <a:ext cx="7048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 MB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2866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5828" y="3005614"/>
              <a:ext cx="739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MB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80838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3573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45968" y="3005614"/>
              <a:ext cx="7048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3072 MB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98005" y="1524000"/>
              <a:ext cx="476059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20483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19162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34129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92290" y="3395186"/>
              <a:ext cx="29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1000 MB 分成 7 个整块加 1 个 104 MB 的块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898005" y="3761422"/>
            <a:ext cx="4760595" cy="1796415"/>
            <a:chOff x="6898005" y="3761422"/>
            <a:chExt cx="4760595" cy="1796415"/>
          </a:xfrm>
        </p:grpSpPr>
        <p:sp>
          <p:nvSpPr>
            <p:cNvPr id="58" name="Rectangle 58"/>
            <p:cNvSpPr/>
            <p:nvPr/>
          </p:nvSpPr>
          <p:spPr>
            <a:xfrm>
              <a:off x="6898005" y="3761422"/>
              <a:ext cx="4760595" cy="1796415"/>
            </a:xfrm>
            <a:prstGeom prst="roundRect">
              <a:avLst>
                <a:gd name="adj" fmla="val 636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090734" y="4555926"/>
              <a:ext cx="224134" cy="192560"/>
              <a:chOff x="7090734" y="4555926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202805" y="46262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090734" y="45559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02805" y="47040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404735" y="4278630"/>
              <a:ext cx="3844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同样 300 MB，若是 3000 个 100 KB 的小文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件，就有 3000 个文件加 3000 个块，共 6000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个元数据对象压在 NameNode 上。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598393" cy="3351847"/>
            <a:chOff x="667512" y="1835468"/>
            <a:chExt cx="659839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1272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YARN：资源调度器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谁来决定哪个任务在哪台机器上、用多少资源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921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原课件第29–37页：YARN 调度器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作业拆成任务，任务放进容器运行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4533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1.0 到 2.0：资源管理与 MapReduce 解耦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6359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ResourceManager、NodeManager、ApplicationMaster、Container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29393" cy="909257"/>
            <a:chOff x="520446" y="342900"/>
            <a:chExt cx="77293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32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784" y="407194"/>
              <a:ext cx="2666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YARN：资源调度器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293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YARN：作业拆成任务，任务派到有空闲资源的节点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39115" y="1548765"/>
            <a:ext cx="7349300" cy="982980"/>
            <a:chOff x="539115" y="1548765"/>
            <a:chExt cx="7349300" cy="982980"/>
          </a:xfrm>
        </p:grpSpPr>
        <p:sp>
          <p:nvSpPr>
            <p:cNvPr id="7" name="Ellipse 7"/>
            <p:cNvSpPr/>
            <p:nvPr/>
          </p:nvSpPr>
          <p:spPr>
            <a:xfrm>
              <a:off x="539115" y="16116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548765"/>
              <a:ext cx="7191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Hadoop 中，计算以作业（job）的形式发布，划分为任务（task）的形式执行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39115" y="1956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893570"/>
              <a:ext cx="5011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任务执行需要空闲的计算资源（CPU、内存等硬件资源）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3012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238375"/>
              <a:ext cx="4183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 就是调度管理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计算任务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计算资源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的框架</a:t>
              </a:r>
            </a:p>
          </p:txBody>
        </p:sp>
      </p:grpSp>
      <p:grpSp>
        <p:nvGrpSpPr>
          <p:cNvPr id="39" name="c1-graph-2"/>
          <p:cNvGrpSpPr/>
          <p:nvPr/>
        </p:nvGrpSpPr>
        <p:grpSpPr>
          <a:xfrm>
            <a:off x="775335" y="2696051"/>
            <a:ext cx="10512742" cy="2762727"/>
            <a:chOff x="775335" y="2696051"/>
            <a:chExt cx="10512742" cy="2762727"/>
          </a:xfrm>
        </p:grpSpPr>
        <p:sp>
          <p:nvSpPr>
            <p:cNvPr id="14" name="Freeform 14"/>
            <p:cNvSpPr/>
            <p:nvPr/>
          </p:nvSpPr>
          <p:spPr>
            <a:xfrm>
              <a:off x="3160395" y="3367088"/>
              <a:ext cx="5220652" cy="609600"/>
            </a:xfrm>
            <a:custGeom>
              <a:avLst/>
              <a:gdLst/>
              <a:ahLst/>
              <a:cxnLst/>
              <a:rect l="l" t="t" r="r" b="b"/>
              <a:pathLst>
                <a:path w="5220652" h="609600">
                  <a:moveTo>
                    <a:pt x="0" y="609600"/>
                  </a:moveTo>
                  <a:lnTo>
                    <a:pt x="52206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375332" y="3319462"/>
              <a:ext cx="100012" cy="95250"/>
            </a:xfrm>
            <a:custGeom>
              <a:avLst/>
              <a:gdLst/>
              <a:ahLst/>
              <a:cxnLst/>
              <a:rect l="l" t="t" r="r" b="b"/>
              <a:pathLst>
                <a:path w="100012" h="95250">
                  <a:moveTo>
                    <a:pt x="100012" y="36195"/>
                  </a:moveTo>
                  <a:lnTo>
                    <a:pt x="1143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830252" y="4037648"/>
              <a:ext cx="2550795" cy="237173"/>
            </a:xfrm>
            <a:custGeom>
              <a:avLst/>
              <a:gdLst/>
              <a:ahLst/>
              <a:cxnLst/>
              <a:rect l="l" t="t" r="r" b="b"/>
              <a:pathLst>
                <a:path w="2550795" h="237173">
                  <a:moveTo>
                    <a:pt x="0" y="0"/>
                  </a:moveTo>
                  <a:lnTo>
                    <a:pt x="2550795" y="2371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376285" y="4227195"/>
              <a:ext cx="99060" cy="94297"/>
            </a:xfrm>
            <a:custGeom>
              <a:avLst/>
              <a:gdLst/>
              <a:ahLst/>
              <a:cxnLst/>
              <a:rect l="l" t="t" r="r" b="b"/>
              <a:pathLst>
                <a:path w="99060" h="94297">
                  <a:moveTo>
                    <a:pt x="99060" y="56197"/>
                  </a:moveTo>
                  <a:lnTo>
                    <a:pt x="0" y="94297"/>
                  </a:lnTo>
                  <a:lnTo>
                    <a:pt x="85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494848" y="4737735"/>
              <a:ext cx="3886200" cy="510540"/>
            </a:xfrm>
            <a:custGeom>
              <a:avLst/>
              <a:gdLst/>
              <a:ahLst/>
              <a:cxnLst/>
              <a:rect l="l" t="t" r="r" b="b"/>
              <a:pathLst>
                <a:path w="3886200" h="510540">
                  <a:moveTo>
                    <a:pt x="0" y="0"/>
                  </a:moveTo>
                  <a:lnTo>
                    <a:pt x="3886200" y="5105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375332" y="5200650"/>
              <a:ext cx="100012" cy="94297"/>
            </a:xfrm>
            <a:custGeom>
              <a:avLst/>
              <a:gdLst/>
              <a:ahLst/>
              <a:cxnLst/>
              <a:rect l="l" t="t" r="r" b="b"/>
              <a:pathLst>
                <a:path w="100012" h="94297">
                  <a:moveTo>
                    <a:pt x="100012" y="60007"/>
                  </a:moveTo>
                  <a:lnTo>
                    <a:pt x="0" y="94297"/>
                  </a:lnTo>
                  <a:lnTo>
                    <a:pt x="123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5335" y="3595688"/>
              <a:ext cx="5524500" cy="14287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39165" y="4539615"/>
              <a:ext cx="1190625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79370" y="3850958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914775" y="4539615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249228" y="3850958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475345" y="3162300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475345" y="4150042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75345" y="5138738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249852" y="4150042"/>
              <a:ext cx="1038225" cy="320040"/>
            </a:xfrm>
            <a:prstGeom prst="roundRect">
              <a:avLst>
                <a:gd name="adj" fmla="val 2976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6070" y="4625340"/>
              <a:ext cx="1036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Task（等待）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74563" y="393573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09015" y="462534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44420" y="393573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70538" y="3247072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Node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70538" y="4235768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Node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70538" y="522351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Node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31329" y="4235768"/>
              <a:ext cx="875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Node（忙）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27595" y="3334226"/>
              <a:ext cx="14199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Application / Job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49416" y="2696051"/>
              <a:ext cx="1035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 Cluster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970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调度要同时看两边：任务要多少资源、哪些节点有空闲资源。忙的节点不派任务，资源不够时任务排队等待。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261519" cy="909257"/>
            <a:chOff x="520446" y="342900"/>
            <a:chExt cx="102615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32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784" y="407194"/>
              <a:ext cx="2666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YARN：资源调度器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2615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1.0 到 2.0：资源管理从 MapReduce 里拆出来成为 YARN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graph-1"/>
          <p:cNvGrpSpPr/>
          <p:nvPr/>
        </p:nvGrpSpPr>
        <p:grpSpPr>
          <a:xfrm>
            <a:off x="1018222" y="1554480"/>
            <a:ext cx="10065462" cy="2223516"/>
            <a:chOff x="1018222" y="1554480"/>
            <a:chExt cx="10065462" cy="2223516"/>
          </a:xfrm>
        </p:grpSpPr>
        <p:sp>
          <p:nvSpPr>
            <p:cNvPr id="7" name="Rectangle 7"/>
            <p:cNvSpPr/>
            <p:nvPr/>
          </p:nvSpPr>
          <p:spPr>
            <a:xfrm>
              <a:off x="1018222" y="1837372"/>
              <a:ext cx="1701165" cy="895350"/>
            </a:xfrm>
            <a:prstGeom prst="roundRect">
              <a:avLst>
                <a:gd name="adj" fmla="val 1063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18222" y="3064192"/>
              <a:ext cx="1701165" cy="411480"/>
            </a:xfrm>
            <a:prstGeom prst="roundRect">
              <a:avLst>
                <a:gd name="adj" fmla="val 23148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400425" y="2016442"/>
              <a:ext cx="1163955" cy="1522095"/>
            </a:xfrm>
            <a:prstGeom prst="roundRect">
              <a:avLst>
                <a:gd name="adj" fmla="val 81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70358" y="1819275"/>
              <a:ext cx="1522095" cy="573405"/>
            </a:xfrm>
            <a:prstGeom prst="roundRect">
              <a:avLst>
                <a:gd name="adj" fmla="val 1661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672512" y="1819275"/>
              <a:ext cx="1522095" cy="573405"/>
            </a:xfrm>
            <a:prstGeom prst="roundRect">
              <a:avLst>
                <a:gd name="adj" fmla="val 1661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63690" y="2589848"/>
              <a:ext cx="3760470" cy="376238"/>
            </a:xfrm>
            <a:prstGeom prst="roundRect">
              <a:avLst>
                <a:gd name="adj" fmla="val 2531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3690" y="3064192"/>
              <a:ext cx="3760470" cy="411480"/>
            </a:xfrm>
            <a:prstGeom prst="roundRect">
              <a:avLst>
                <a:gd name="adj" fmla="val 23148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50306" y="2125504"/>
              <a:ext cx="836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95124" y="230457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 + 调度器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79088" y="319992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56543" y="2617946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24364" y="27970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自带资源管理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24068" y="2707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12906" y="1946434"/>
              <a:ext cx="836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29973" y="2125504"/>
              <a:ext cx="602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 YARN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7700" y="1946434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32128" y="2125504"/>
              <a:ext cx="602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 YARN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98110" y="20359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51111" y="2707481"/>
              <a:ext cx="1585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YARN：资源管理与调度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54208" y="319992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98825" y="1554480"/>
              <a:ext cx="236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Hadoop 1.0：一种框架一个集群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9881" y="1554480"/>
              <a:ext cx="2688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Hadoop 2.0：多种框架共享一个集群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32509" y="354330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46106" y="354330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3969" y="35433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同一个集群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33400" y="3942398"/>
            <a:ext cx="11125200" cy="1700212"/>
            <a:chOff x="533400" y="3942398"/>
            <a:chExt cx="11125200" cy="1700212"/>
          </a:xfrm>
        </p:grpSpPr>
        <p:sp>
          <p:nvSpPr>
            <p:cNvPr id="33" name="Rectangle 33"/>
            <p:cNvSpPr/>
            <p:nvPr/>
          </p:nvSpPr>
          <p:spPr>
            <a:xfrm>
              <a:off x="533400" y="3942398"/>
              <a:ext cx="1112520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66838" y="40709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61240" y="4070985"/>
              <a:ext cx="911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Hadoop 1.0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22763" y="4070985"/>
              <a:ext cx="911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Hadoop 2.0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889" y="46024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38044" y="4602480"/>
              <a:ext cx="4030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JobTracker 一身兼管资源和作业，与 MR 框架深度耦合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99566" y="4495800"/>
              <a:ext cx="28696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ResourceManager 只管资源，每个应用的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ApplicationMaster 管自己的任务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996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004435"/>
              <a:ext cx="11125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889" y="52397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能跑的框架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38044" y="5239702"/>
              <a:ext cx="2855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MapReduce；Spark 等要另建集群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9566" y="5133022"/>
              <a:ext cx="4126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MapReduce、Spark 等都成了 YARN 上的应用，复用同一套计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算和存储资源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942398"/>
              <a:ext cx="11125200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530792" y="3942398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92315" y="3942398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9" name="Rectangle 4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105894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谷歌的 MapReduce 论文提了调度器的要求，但没有给出实现；Hadoop 1.0 用 JobTracker 与 TaskTracker 调度 MR 任务。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660309" cy="909257"/>
            <a:chOff x="520446" y="342900"/>
            <a:chExt cx="106603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32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784" y="407194"/>
              <a:ext cx="2666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YARN：资源调度器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6603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 架构：一个 ResourceManager，每台机器一个 NodeManager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c1-graph-1"/>
          <p:cNvGrpSpPr/>
          <p:nvPr/>
        </p:nvGrpSpPr>
        <p:grpSpPr>
          <a:xfrm>
            <a:off x="727710" y="1745932"/>
            <a:ext cx="6345554" cy="4168141"/>
            <a:chOff x="727710" y="1745932"/>
            <a:chExt cx="6345554" cy="4168141"/>
          </a:xfrm>
        </p:grpSpPr>
        <p:sp>
          <p:nvSpPr>
            <p:cNvPr id="7" name="Freeform 7"/>
            <p:cNvSpPr/>
            <p:nvPr/>
          </p:nvSpPr>
          <p:spPr>
            <a:xfrm>
              <a:off x="1556385" y="1938338"/>
              <a:ext cx="1741170" cy="242888"/>
            </a:xfrm>
            <a:custGeom>
              <a:avLst/>
              <a:gdLst/>
              <a:ahLst/>
              <a:cxnLst/>
              <a:rect l="l" t="t" r="r" b="b"/>
              <a:pathLst>
                <a:path w="1741170" h="242888">
                  <a:moveTo>
                    <a:pt x="0" y="0"/>
                  </a:moveTo>
                  <a:lnTo>
                    <a:pt x="1741170" y="2428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90888" y="2133600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60960"/>
                  </a:moveTo>
                  <a:lnTo>
                    <a:pt x="0" y="94298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56385" y="2452688"/>
              <a:ext cx="1759268" cy="354330"/>
            </a:xfrm>
            <a:custGeom>
              <a:avLst/>
              <a:gdLst/>
              <a:ahLst/>
              <a:cxnLst/>
              <a:rect l="l" t="t" r="r" b="b"/>
              <a:pathLst>
                <a:path w="1759268" h="354330">
                  <a:moveTo>
                    <a:pt x="0" y="354330"/>
                  </a:moveTo>
                  <a:lnTo>
                    <a:pt x="17592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06128" y="240601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3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90725" y="2491740"/>
              <a:ext cx="1856422" cy="1434465"/>
            </a:xfrm>
            <a:custGeom>
              <a:avLst/>
              <a:gdLst/>
              <a:ahLst/>
              <a:cxnLst/>
              <a:rect l="l" t="t" r="r" b="b"/>
              <a:pathLst>
                <a:path w="1856422" h="1434465">
                  <a:moveTo>
                    <a:pt x="0" y="1434465"/>
                  </a:moveTo>
                  <a:lnTo>
                    <a:pt x="185642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818572" y="2433638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0"/>
                  </a:moveTo>
                  <a:lnTo>
                    <a:pt x="58103" y="96203"/>
                  </a:lnTo>
                  <a:lnTo>
                    <a:pt x="0" y="20003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104322" y="2528888"/>
              <a:ext cx="9525" cy="1397318"/>
            </a:xfrm>
            <a:custGeom>
              <a:avLst/>
              <a:gdLst/>
              <a:ahLst/>
              <a:cxnLst/>
              <a:rect l="l" t="t" r="r" b="b"/>
              <a:pathLst>
                <a:path w="9525" h="1397318">
                  <a:moveTo>
                    <a:pt x="0" y="139731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056698" y="24336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337685" y="2495550"/>
              <a:ext cx="1650683" cy="1430655"/>
            </a:xfrm>
            <a:custGeom>
              <a:avLst/>
              <a:gdLst/>
              <a:ahLst/>
              <a:cxnLst/>
              <a:rect l="l" t="t" r="r" b="b"/>
              <a:pathLst>
                <a:path w="1650683" h="1430655">
                  <a:moveTo>
                    <a:pt x="1650683" y="143065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266248" y="2433638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0" y="0"/>
                  </a:moveTo>
                  <a:lnTo>
                    <a:pt x="102870" y="26670"/>
                  </a:lnTo>
                  <a:lnTo>
                    <a:pt x="40005" y="9810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89948" y="2506980"/>
              <a:ext cx="537210" cy="2579370"/>
            </a:xfrm>
            <a:custGeom>
              <a:avLst/>
              <a:gdLst/>
              <a:ahLst/>
              <a:cxnLst/>
              <a:rect l="l" t="t" r="r" b="b"/>
              <a:pathLst>
                <a:path w="537210" h="2579370">
                  <a:moveTo>
                    <a:pt x="0" y="2579370"/>
                  </a:moveTo>
                  <a:lnTo>
                    <a:pt x="0" y="646748"/>
                  </a:lnTo>
                  <a:lnTo>
                    <a:pt x="537210" y="0"/>
                  </a:lnTo>
                </a:path>
              </a:pathLst>
            </a:custGeom>
            <a:noFill/>
            <a:ln w="17145">
              <a:solidFill>
                <a:srgbClr val="334E6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90010" y="2433638"/>
              <a:ext cx="98108" cy="103822"/>
            </a:xfrm>
            <a:custGeom>
              <a:avLst/>
              <a:gdLst/>
              <a:ahLst/>
              <a:cxnLst/>
              <a:rect l="l" t="t" r="r" b="b"/>
              <a:pathLst>
                <a:path w="98108" h="103822">
                  <a:moveTo>
                    <a:pt x="98108" y="0"/>
                  </a:moveTo>
                  <a:lnTo>
                    <a:pt x="73343" y="103822"/>
                  </a:lnTo>
                  <a:lnTo>
                    <a:pt x="0" y="42862"/>
                  </a:lnTo>
                  <a:close/>
                </a:path>
              </a:pathLst>
            </a:custGeom>
            <a:solidFill>
              <a:srgbClr val="334E6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27710" y="2490788"/>
              <a:ext cx="3114675" cy="2595562"/>
            </a:xfrm>
            <a:custGeom>
              <a:avLst/>
              <a:gdLst/>
              <a:ahLst/>
              <a:cxnLst/>
              <a:rect l="l" t="t" r="r" b="b"/>
              <a:pathLst>
                <a:path w="3114675" h="2595562">
                  <a:moveTo>
                    <a:pt x="389572" y="2595562"/>
                  </a:moveTo>
                  <a:lnTo>
                    <a:pt x="0" y="2201228"/>
                  </a:lnTo>
                  <a:lnTo>
                    <a:pt x="0" y="1024890"/>
                  </a:lnTo>
                  <a:lnTo>
                    <a:pt x="1753552" y="1024890"/>
                  </a:lnTo>
                  <a:lnTo>
                    <a:pt x="311467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813810" y="243363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593658" y="5235892"/>
              <a:ext cx="436245" cy="9525"/>
            </a:xfrm>
            <a:custGeom>
              <a:avLst/>
              <a:gdLst/>
              <a:ahLst/>
              <a:cxnLst/>
              <a:rect l="l" t="t" r="r" b="b"/>
              <a:pathLst>
                <a:path w="436245" h="9525">
                  <a:moveTo>
                    <a:pt x="0" y="0"/>
                  </a:moveTo>
                  <a:lnTo>
                    <a:pt x="436245" y="0"/>
                  </a:lnTo>
                </a:path>
              </a:pathLst>
            </a:custGeom>
            <a:noFill/>
            <a:ln w="17145">
              <a:solidFill>
                <a:srgbClr val="334E6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029902" y="51882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4E68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389948" y="5385435"/>
              <a:ext cx="2272665" cy="528638"/>
            </a:xfrm>
            <a:custGeom>
              <a:avLst/>
              <a:gdLst/>
              <a:ahLst/>
              <a:cxnLst/>
              <a:rect l="l" t="t" r="r" b="b"/>
              <a:pathLst>
                <a:path w="2272665" h="528638">
                  <a:moveTo>
                    <a:pt x="2272665" y="0"/>
                  </a:moveTo>
                  <a:lnTo>
                    <a:pt x="2272665" y="528638"/>
                  </a:lnTo>
                  <a:lnTo>
                    <a:pt x="0" y="528638"/>
                  </a:lnTo>
                  <a:lnTo>
                    <a:pt x="0" y="95250"/>
                  </a:lnTo>
                </a:path>
              </a:pathLst>
            </a:custGeom>
            <a:noFill/>
            <a:ln w="17145">
              <a:solidFill>
                <a:srgbClr val="334E6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342322" y="5385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334E68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389948" y="5385435"/>
              <a:ext cx="3375660" cy="528638"/>
            </a:xfrm>
            <a:custGeom>
              <a:avLst/>
              <a:gdLst/>
              <a:ahLst/>
              <a:cxnLst/>
              <a:rect l="l" t="t" r="r" b="b"/>
              <a:pathLst>
                <a:path w="3375660" h="528638">
                  <a:moveTo>
                    <a:pt x="3375660" y="0"/>
                  </a:moveTo>
                  <a:lnTo>
                    <a:pt x="3375660" y="528638"/>
                  </a:lnTo>
                  <a:lnTo>
                    <a:pt x="0" y="528638"/>
                  </a:lnTo>
                  <a:lnTo>
                    <a:pt x="0" y="95250"/>
                  </a:lnTo>
                </a:path>
              </a:pathLst>
            </a:custGeom>
            <a:noFill/>
            <a:ln w="17145">
              <a:solidFill>
                <a:srgbClr val="334E6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342322" y="5385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334E68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117282" y="5385435"/>
              <a:ext cx="3570922" cy="302895"/>
            </a:xfrm>
            <a:custGeom>
              <a:avLst/>
              <a:gdLst/>
              <a:ahLst/>
              <a:cxnLst/>
              <a:rect l="l" t="t" r="r" b="b"/>
              <a:pathLst>
                <a:path w="3570922" h="302895">
                  <a:moveTo>
                    <a:pt x="3570922" y="0"/>
                  </a:moveTo>
                  <a:lnTo>
                    <a:pt x="3570922" y="302895"/>
                  </a:lnTo>
                  <a:lnTo>
                    <a:pt x="0" y="302895"/>
                  </a:lnTo>
                  <a:lnTo>
                    <a:pt x="0" y="9525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69658" y="5385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8672" y="1745932"/>
              <a:ext cx="747712" cy="280035"/>
            </a:xfrm>
            <a:prstGeom prst="roundRect">
              <a:avLst>
                <a:gd name="adj" fmla="val 34014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8672" y="2742248"/>
              <a:ext cx="747712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91852" y="2153602"/>
              <a:ext cx="1424940" cy="280035"/>
            </a:xfrm>
            <a:prstGeom prst="roundRect">
              <a:avLst>
                <a:gd name="adj" fmla="val 34014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99198" y="3926205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52488" y="5095875"/>
              <a:ext cx="529590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79295" y="5095875"/>
              <a:ext cx="6143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01402" y="3926205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125152" y="5095875"/>
              <a:ext cx="529590" cy="280035"/>
            </a:xfrm>
            <a:prstGeom prst="roundRect">
              <a:avLst>
                <a:gd name="adj" fmla="val 34014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81500" y="5095875"/>
              <a:ext cx="6143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43575" y="3926205"/>
              <a:ext cx="1005840" cy="446722"/>
            </a:xfrm>
            <a:prstGeom prst="roundRect">
              <a:avLst>
                <a:gd name="adj" fmla="val 2132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54955" y="5095875"/>
              <a:ext cx="6143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58902" y="5095875"/>
              <a:ext cx="614362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8996" y="1821180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 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8996" y="2816543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 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67188" y="2227898"/>
              <a:ext cx="1274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ResourceManager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92355" y="400050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机器 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28202" y="4167188"/>
              <a:ext cx="947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NodeManager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3367" y="5170170"/>
              <a:ext cx="34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 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2667" y="517017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 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94560" y="400050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机器 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30407" y="4167188"/>
              <a:ext cx="947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NodeManager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216032" y="5170170"/>
              <a:ext cx="34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AM 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74872" y="517017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 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36732" y="400050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机器 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72580" y="4167188"/>
              <a:ext cx="947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NodeManager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49279" y="517017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 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52274" y="517017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 A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227898" y="198786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248103" y="201691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提交作业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857625" y="310134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78783" y="31303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节点状态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143250" y="442722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164408" y="445722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申请资源</a:t>
              </a:r>
            </a:p>
          </p:txBody>
        </p:sp>
      </p:grpSp>
      <p:grpSp>
        <p:nvGrpSpPr>
          <p:cNvPr id="85" name="c2-table-1"/>
          <p:cNvGrpSpPr/>
          <p:nvPr/>
        </p:nvGrpSpPr>
        <p:grpSpPr>
          <a:xfrm>
            <a:off x="7325487" y="1524000"/>
            <a:ext cx="4333113" cy="3463956"/>
            <a:chOff x="7325487" y="1524000"/>
            <a:chExt cx="4333113" cy="3463956"/>
          </a:xfrm>
        </p:grpSpPr>
        <p:sp>
          <p:nvSpPr>
            <p:cNvPr id="63" name="Rectangle 63"/>
            <p:cNvSpPr/>
            <p:nvPr/>
          </p:nvSpPr>
          <p:spPr>
            <a:xfrm>
              <a:off x="7330440" y="1524000"/>
              <a:ext cx="432816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87728" y="1645444"/>
              <a:ext cx="88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YARN 的工作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48551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由谁负责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27595" y="21455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接受作业、启动作业，失败时重启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24110" y="2045494"/>
              <a:ext cx="14196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ApplicationsManager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（在 RM 里）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330440" y="251936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330440" y="2524125"/>
              <a:ext cx="432816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27595" y="2645569"/>
              <a:ext cx="224922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管理集群资源（容器：内存、CPU、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磁盘、网络）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24110" y="2645569"/>
              <a:ext cx="13058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Scheduler（在 RM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里）+ NodeManager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330440" y="311943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27595" y="324564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创建、管理、监控各节点上的容器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24110" y="3245644"/>
              <a:ext cx="963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NodeManager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330440" y="351948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30440" y="3524250"/>
              <a:ext cx="432816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27595" y="3645694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按需给应用分配资源，把任务发到合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适节点的合适容器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024110" y="3745706"/>
              <a:ext cx="724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330440" y="411956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27595" y="4245769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跟踪任务执行、监控健康状态、处理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任务失败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024110" y="4345781"/>
              <a:ext cx="1347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ApplicationMaster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330440" y="1524000"/>
              <a:ext cx="432816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9922192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325487" y="4797266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左列是原课件第33页列出的五项工作</a:t>
              </a:r>
            </a:p>
          </p:txBody>
        </p:sp>
      </p:grpSp>
      <p:grpSp>
        <p:nvGrpSpPr>
          <p:cNvPr id="92" name="c2-callout-2"/>
          <p:cNvGrpSpPr/>
          <p:nvPr/>
        </p:nvGrpSpPr>
        <p:grpSpPr>
          <a:xfrm>
            <a:off x="7330440" y="5119688"/>
            <a:ext cx="4328160" cy="1226820"/>
            <a:chOff x="7330440" y="5119688"/>
            <a:chExt cx="4328160" cy="1226820"/>
          </a:xfrm>
        </p:grpSpPr>
        <p:sp>
          <p:nvSpPr>
            <p:cNvPr id="86" name="Rectangle 86"/>
            <p:cNvSpPr/>
            <p:nvPr/>
          </p:nvSpPr>
          <p:spPr>
            <a:xfrm>
              <a:off x="7330440" y="5119688"/>
              <a:ext cx="4328160" cy="1226820"/>
            </a:xfrm>
            <a:prstGeom prst="roundRect">
              <a:avLst>
                <a:gd name="adj" fmla="val 93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535228" y="5633085"/>
              <a:ext cx="200026" cy="200025"/>
              <a:chOff x="7535228" y="5633085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535228" y="56330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574966" y="56775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609682" y="57886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7837932" y="5266373"/>
              <a:ext cx="3399854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深色线条是应用 A：AM 在机器 2，三个容器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分在机器 1 和机器 3，都向 AM A 汇报任务状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态。橙色是应用 B：AM 在机器 1，容器在机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器 2。两个应用共用这三台机器。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32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784" y="407194"/>
              <a:ext cx="2666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YARN：资源调度器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47067" cy="3821430"/>
            <a:chOff x="533400" y="1524000"/>
            <a:chExt cx="11147067" cy="38214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85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807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193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553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ResourceManager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89148" y="2108359"/>
              <a:ext cx="1175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 1 个（可主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6486" y="2108359"/>
              <a:ext cx="64828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在系统中所有应用之间仲裁资源的最终权威，包含 Scheduler 和 ApplicationsManager 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个组件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0137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085" indent="-145085">
                <a:buClr>
                  <a:srgbClr val="1F2937"/>
                </a:buClr>
                <a:buSzTx/>
                <a:buFontTx/>
                <a:buChar char="•"/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9148" y="2783681"/>
              <a:ext cx="821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 的组件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6486" y="2783681"/>
              <a:ext cx="703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按需为各应用分配资源，资源以容器为单位；分配策略可插拔（如 FIFO、Capacity、Fair）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19599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085" indent="-145085">
                <a:buClr>
                  <a:srgbClr val="1F2937"/>
                </a:buClr>
                <a:buSzTx/>
                <a:buFontTx/>
                <a:buChar char="•"/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ApplicationsManager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9148" y="3232309"/>
              <a:ext cx="821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 的组件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6486" y="3232309"/>
              <a:ext cx="5898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接收作业提交，协商用于启动 ApplicationMaster 的容器，AM 失败时重启它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1155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NodeManager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89148" y="368093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每台机器 1 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6486" y="3680936"/>
              <a:ext cx="6921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本机代理：管理容器，监控其 CPU、内存、磁盘、网络用量和运行状态，汇报给 Scheduler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004310"/>
              <a:ext cx="242887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243864"/>
              <a:ext cx="1615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ApplicationMaster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9148" y="4243864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每个应用 1 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46486" y="4130516"/>
              <a:ext cx="64990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框架特定的库（MR 有 MR 的，Spark 有 Spark 的），是应用的“管家”：向 RM 协商资源，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NodeManager 一起执行并监视任务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65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670108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679632"/>
              <a:ext cx="242887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919186"/>
              <a:ext cx="86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89148" y="49191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按需创建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6486" y="4805839"/>
              <a:ext cx="66210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动态资源分配单位，把内存、CPU、磁盘、网络封装在一起，限定每个任务的用量；相当于一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台小型机器，是任务真正运行的地方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11125200" cy="38214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976562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533900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7711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Container 拼作 Contaioner，把“每个任务”写作“每个人物”，这里已改正。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68372" cy="909257"/>
            <a:chOff x="520446" y="342900"/>
            <a:chExt cx="48683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32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1784" y="407194"/>
              <a:ext cx="2666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YARN：资源调度器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683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一个应用在 YARN 上怎样跑起来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716663" cy="308039"/>
            <a:chOff x="525399" y="1550194"/>
            <a:chExt cx="471666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7166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补充内容：把第27页图里的箭头按先后顺序排开。</a:t>
              </a:r>
            </a:p>
          </p:txBody>
        </p:sp>
      </p:grpSp>
      <p:grpSp>
        <p:nvGrpSpPr>
          <p:cNvPr id="34" name="c1-steps-1"/>
          <p:cNvGrpSpPr/>
          <p:nvPr/>
        </p:nvGrpSpPr>
        <p:grpSpPr>
          <a:xfrm>
            <a:off x="533400" y="1977390"/>
            <a:ext cx="5960745" cy="4065555"/>
            <a:chOff x="533400" y="1977390"/>
            <a:chExt cx="5960745" cy="4065555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3488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28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643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81488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888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46544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5392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01168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提交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2304574"/>
              <a:ext cx="2962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客户端向 ResourceManager 提交应用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2662238"/>
              <a:ext cx="957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启动 AM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2955131"/>
              <a:ext cx="55481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ApplicationsManager 让 Scheduler 分出一个容器，通知某个 NodeManager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在里面启动 ApplicationMaster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354711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申请资源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3840956"/>
              <a:ext cx="39815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 向 RM 注册，按任务需要向 Scheduler 申请容器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419862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启动任务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491514"/>
              <a:ext cx="4718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 拿到容器后联系对应的 NodeManager，任务在容器里运行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880" y="4849178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监视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5142071"/>
              <a:ext cx="3978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任务向 AM 汇报进度，失败时 AM 重新申请容器重跑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880" y="549973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 结束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5793581"/>
              <a:ext cx="3407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全部任务完成，AM 向 RM 注销，容器被回收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7114222" y="1967865"/>
            <a:ext cx="4544378" cy="1847850"/>
            <a:chOff x="7114222" y="1967865"/>
            <a:chExt cx="4544378" cy="1847850"/>
          </a:xfrm>
        </p:grpSpPr>
        <p:sp>
          <p:nvSpPr>
            <p:cNvPr id="35" name="Rectangle 35"/>
            <p:cNvSpPr/>
            <p:nvPr/>
          </p:nvSpPr>
          <p:spPr>
            <a:xfrm>
              <a:off x="7114222" y="1967865"/>
              <a:ext cx="4544378" cy="1847850"/>
            </a:xfrm>
            <a:prstGeom prst="roundRect">
              <a:avLst>
                <a:gd name="adj" fmla="val 721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323772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0512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两级调度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6152" y="2554605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RM 只分资源，不管任务细节；每个应用的 AM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管自己的任务。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17296" y="3171349"/>
              <a:ext cx="3946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作业管理的负担分给了各个 AM，RM 不容易成为瓶颈，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也能同时服务 MapReduce、Spark 等不同框架。</a:t>
              </a:r>
            </a:p>
          </p:txBody>
        </p:sp>
      </p:grpSp>
      <p:grpSp>
        <p:nvGrpSpPr>
          <p:cNvPr id="52" name="c2-kv-2"/>
          <p:cNvGrpSpPr/>
          <p:nvPr/>
        </p:nvGrpSpPr>
        <p:grpSpPr>
          <a:xfrm>
            <a:off x="7106602" y="4030028"/>
            <a:ext cx="4551998" cy="1613534"/>
            <a:chOff x="7106602" y="4030028"/>
            <a:chExt cx="4551998" cy="1613534"/>
          </a:xfrm>
        </p:grpSpPr>
        <p:sp>
          <p:nvSpPr>
            <p:cNvPr id="41" name="TextBox 41"/>
            <p:cNvSpPr txBox="1"/>
            <p:nvPr/>
          </p:nvSpPr>
          <p:spPr>
            <a:xfrm>
              <a:off x="7106602" y="403002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提交作业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47685" y="4030028"/>
              <a:ext cx="59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①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14222" y="435006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06602" y="447008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申请资源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47685" y="4470082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②、③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14222" y="479012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06602" y="491013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任务状态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47685" y="4910138"/>
              <a:ext cx="59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⑤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14222" y="523017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06602" y="53501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节点状态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47685" y="5350192"/>
              <a:ext cx="2159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NodeManager 持续汇报</a:t>
              </a:r>
            </a:p>
          </p:txBody>
        </p:sp>
      </p:grpSp>
      <p:grpSp>
        <p:nvGrpSpPr>
          <p:cNvPr id="54" name="c2-text-3"/>
          <p:cNvGrpSpPr/>
          <p:nvPr/>
        </p:nvGrpSpPr>
        <p:grpSpPr>
          <a:xfrm>
            <a:off x="7107746" y="5796439"/>
            <a:ext cx="3304144" cy="249364"/>
            <a:chOff x="7107746" y="5796439"/>
            <a:chExt cx="3304144" cy="249364"/>
          </a:xfrm>
        </p:grpSpPr>
        <p:sp>
          <p:nvSpPr>
            <p:cNvPr id="53" name="TextBox 53"/>
            <p:cNvSpPr txBox="1"/>
            <p:nvPr/>
          </p:nvSpPr>
          <p:spPr>
            <a:xfrm>
              <a:off x="7107746" y="5796439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上表把第27页图中的四类箭头对应到步骤。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91119" cy="3351847"/>
            <a:chOff x="667512" y="1835468"/>
            <a:chExt cx="499111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78329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编程模型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812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用户只写 map 和 reduce 两个函数，其余交给框架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108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原课件第38–44页：MapReduce 编程模型框架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输入输出都是键值对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148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WordCount 的伪代码和完整数据流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4063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与 reduce 各自并行，中间隔着一道屏障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09047" cy="909257"/>
            <a:chOff x="520446" y="342900"/>
            <a:chExt cx="82090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44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750" y="407194"/>
              <a:ext cx="2862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MapReduce 编程模型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090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MapReduce：输入输出都是键值对，按 key 分组汇总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2893695"/>
            <a:chOff x="533400" y="1524000"/>
            <a:chExt cx="5626418" cy="2893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78689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0628" y="1769269"/>
              <a:ext cx="1707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MapReduce（简称 MR）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编写并行大数据处理程序、并使其在集群上可靠运行的编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程框架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处理的数据存在分布式文件系统上，也就是在磁盘中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（Hadoop 上是 HDFS）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2912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输入输出数据都是键值对 &lt;k, v&gt;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68808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一个作业把数据分成多个部分，各部分由 map 生成中间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值，再由 reduce 对相同 key 的所有 value 汇总</a:t>
              </a:r>
            </a:p>
          </p:txBody>
        </p:sp>
      </p:grpSp>
      <p:grpSp>
        <p:nvGrpSpPr>
          <p:cNvPr id="29" name="c1-bullets-2"/>
          <p:cNvGrpSpPr/>
          <p:nvPr/>
        </p:nvGrpSpPr>
        <p:grpSpPr>
          <a:xfrm>
            <a:off x="533400" y="4617720"/>
            <a:ext cx="5740654" cy="1115663"/>
            <a:chOff x="533400" y="4617720"/>
            <a:chExt cx="5740654" cy="1115663"/>
          </a:xfrm>
        </p:grpSpPr>
        <p:sp>
          <p:nvSpPr>
            <p:cNvPr id="20" name="Ellipse 20"/>
            <p:cNvSpPr/>
            <p:nvPr/>
          </p:nvSpPr>
          <p:spPr>
            <a:xfrm>
              <a:off x="533400" y="4617720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307" y="465334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148" y="4629626"/>
              <a:ext cx="4794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用户编写的 Map 函数接受一个输入对，产出一系列中间 k-v 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92442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5307" y="49590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148" y="4935379"/>
              <a:ext cx="5470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MR 库把同一个中间 key 对应的所有中间 value 收集起来，发给 Reduce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5230178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5307" y="52658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3148" y="5241131"/>
              <a:ext cx="5092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用户编写的 Reduce 函数接受中间 key 和它的 value 集合，整合成一个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更小的集合（一般只有 0 或 1 个元素）</a:t>
              </a:r>
            </a:p>
          </p:txBody>
        </p:sp>
      </p:grpSp>
      <p:grpSp>
        <p:nvGrpSpPr>
          <p:cNvPr id="56" name="c2-flow-1"/>
          <p:cNvGrpSpPr/>
          <p:nvPr/>
        </p:nvGrpSpPr>
        <p:grpSpPr>
          <a:xfrm>
            <a:off x="6828472" y="1659255"/>
            <a:ext cx="4466272" cy="3268027"/>
            <a:chOff x="6828472" y="1659255"/>
            <a:chExt cx="4466272" cy="3268027"/>
          </a:xfrm>
        </p:grpSpPr>
        <p:sp>
          <p:nvSpPr>
            <p:cNvPr id="30" name="Freeform 30"/>
            <p:cNvSpPr/>
            <p:nvPr/>
          </p:nvSpPr>
          <p:spPr>
            <a:xfrm>
              <a:off x="9062085" y="2097405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009698" y="22621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62085" y="2805112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09698" y="29698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062085" y="3512820"/>
              <a:ext cx="9525" cy="163830"/>
            </a:xfrm>
            <a:custGeom>
              <a:avLst/>
              <a:gdLst/>
              <a:ahLst/>
              <a:cxnLst/>
              <a:rect l="l" t="t" r="r" b="b"/>
              <a:pathLst>
                <a:path w="9525" h="163830">
                  <a:moveTo>
                    <a:pt x="0" y="0"/>
                  </a:moveTo>
                  <a:lnTo>
                    <a:pt x="0" y="163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09698" y="3676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062085" y="4219575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009698" y="43843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28472" y="165925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28472" y="2366962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28472" y="3074670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28472" y="3781425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28472" y="4489132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24926" y="1788319"/>
              <a:ext cx="1674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输入分片（HDFS 上）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08405" y="2496979"/>
              <a:ext cx="907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用户的 Map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13004" y="3204686"/>
              <a:ext cx="1898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MR 库按 key 收集、排序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84047" y="3911441"/>
              <a:ext cx="1156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用户的 Reduce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97240" y="4619149"/>
              <a:ext cx="1329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输出（HDFS 上）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090660" y="2139315"/>
              <a:ext cx="64865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13901" y="2165985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&lt;k₁, v₁&gt;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090660" y="2847022"/>
              <a:ext cx="102203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13901" y="2873693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list(&lt;k₂, v₂&gt;)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090660" y="3554730"/>
              <a:ext cx="102203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13901" y="3581400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&lt;k₂, list(v₂)&gt;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90660" y="4262438"/>
              <a:ext cx="61531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13901" y="4289108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list(v₂)</a:t>
              </a:r>
            </a:p>
          </p:txBody>
        </p:sp>
      </p:grpSp>
      <p:grpSp>
        <p:nvGrpSpPr>
          <p:cNvPr id="59" name="c2-kv-2"/>
          <p:cNvGrpSpPr/>
          <p:nvPr/>
        </p:nvGrpSpPr>
        <p:grpSpPr>
          <a:xfrm>
            <a:off x="6456998" y="5277802"/>
            <a:ext cx="4869180" cy="575310"/>
            <a:chOff x="6456998" y="5277802"/>
            <a:chExt cx="4869180" cy="575310"/>
          </a:xfrm>
        </p:grpSpPr>
        <p:sp>
          <p:nvSpPr>
            <p:cNvPr id="57" name="TextBox 57"/>
            <p:cNvSpPr txBox="1"/>
            <p:nvPr/>
          </p:nvSpPr>
          <p:spPr>
            <a:xfrm>
              <a:off x="6456998" y="5277802"/>
              <a:ext cx="1387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WordCount 中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15288" y="5277802"/>
              <a:ext cx="33108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 文档名，v₁ 文档内容，k₂ 单词，v₂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 1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44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750" y="407194"/>
              <a:ext cx="2862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MapReduce 编程模型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一个比喻：分桌点票，再按颜色汇总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5193982" cy="4210527"/>
            <a:chOff x="533400" y="1524000"/>
            <a:chExt cx="5193982" cy="421052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5558" t="0" r="5559" b="0"/>
            <a:stretch>
              <a:fillRect/>
            </a:stretch>
          </p:blipFill>
          <p:spPr>
            <a:xfrm>
              <a:off x="533400" y="1524000"/>
              <a:ext cx="5193982" cy="3895725"/>
            </a:xfrm>
            <a:prstGeom prst="roundRect">
              <a:avLst>
                <a:gd name="adj" fmla="val 3422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64133" y="5514499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每张桌子各点一堆选票，汇总员只加自己那种颜色的计票卡</a:t>
              </a:r>
            </a:p>
          </p:txBody>
        </p:sp>
      </p:grpSp>
      <p:grpSp>
        <p:nvGrpSpPr>
          <p:cNvPr id="31" name="c2-table-1"/>
          <p:cNvGrpSpPr/>
          <p:nvPr/>
        </p:nvGrpSpPr>
        <p:grpSpPr>
          <a:xfrm>
            <a:off x="6032182" y="1524000"/>
            <a:ext cx="5626418" cy="3146108"/>
            <a:chOff x="6032182" y="1524000"/>
            <a:chExt cx="5626418" cy="3146108"/>
          </a:xfrm>
        </p:grpSpPr>
        <p:sp>
          <p:nvSpPr>
            <p:cNvPr id="10" name="Rectangle 10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837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计票现场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04935" y="1659731"/>
              <a:ext cx="956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40006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一堆堆选票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15553" y="2108359"/>
              <a:ext cx="1674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输入分片（HDFS 块）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40006" y="255698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各桌同时点票，写计票卡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15553" y="2556986"/>
              <a:ext cx="245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任务并行，输出中间键值对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40006" y="3005614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桌上先把同一候选人的票合成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15553" y="3118961"/>
              <a:ext cx="21721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Combiner：map 端本地合并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32182" y="35413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32182" y="354615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40006" y="379428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按颜色把卡送到对应的箱子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15553" y="3680936"/>
              <a:ext cx="24188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Partitioner：按 key 决定去哪个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32182" y="42167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40006" y="435721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每个箱子的汇总员把卡加起来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15553" y="4357211"/>
              <a:ext cx="1667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任务并行汇总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02968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callout-2"/>
          <p:cNvGrpSpPr/>
          <p:nvPr/>
        </p:nvGrpSpPr>
        <p:grpSpPr>
          <a:xfrm>
            <a:off x="6032182" y="4860608"/>
            <a:ext cx="5626418" cy="782955"/>
            <a:chOff x="6032182" y="4860608"/>
            <a:chExt cx="5626418" cy="782955"/>
          </a:xfrm>
        </p:grpSpPr>
        <p:sp>
          <p:nvSpPr>
            <p:cNvPr id="32" name="Rectangle 32"/>
            <p:cNvSpPr/>
            <p:nvPr/>
          </p:nvSpPr>
          <p:spPr>
            <a:xfrm>
              <a:off x="6032182" y="486060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224912" y="5148381"/>
              <a:ext cx="224134" cy="192560"/>
              <a:chOff x="6224912" y="5148381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336983" y="52187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224912" y="51483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36983" y="52965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538912" y="500919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汇总员必须等所有桌子都点完才能报最终数，这就是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map 和 reduce 之间的屏障（Barrier）。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16253" cy="909257"/>
            <a:chOff x="520446" y="342900"/>
            <a:chExt cx="92162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44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750" y="407194"/>
              <a:ext cx="2862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MapReduce 编程模型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162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插一句：API 与 ABI，源代码层面的约定和二进制层面的约定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6059804" cy="2510790"/>
            <a:chOff x="533400" y="1524000"/>
            <a:chExt cx="6059804" cy="25107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20352" cy="2510790"/>
            </a:xfrm>
            <a:prstGeom prst="roundRect">
              <a:avLst>
                <a:gd name="adj" fmla="val 53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4409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607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API 应用编程接口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源代码层面：函数名、参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数、返回值、语义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API 相同，同一份源码可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以在不同平台上重新编译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2852" y="1524000"/>
              <a:ext cx="2820352" cy="2510790"/>
            </a:xfrm>
            <a:prstGeom prst="roundRect">
              <a:avLst>
                <a:gd name="adj" fmla="val 53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782378" y="1657350"/>
              <a:ext cx="47625" cy="22440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012882" y="1758315"/>
              <a:ext cx="1809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ABI 应用二进制接口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4026218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84332" y="2112645"/>
              <a:ext cx="2110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二进制层面：参数怎样传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（压栈顺序、用哪些寄存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器）、栈怎样布局、调用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用什么指令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026218" y="33680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84332" y="3305175"/>
              <a:ext cx="2053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ABI 相同，编好的程序才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能直接拿来运行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401378" y="261747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71718" y="271367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225290"/>
            <a:ext cx="6059805" cy="1335405"/>
            <a:chOff x="533400" y="4225290"/>
            <a:chExt cx="6059805" cy="1335405"/>
          </a:xfrm>
        </p:grpSpPr>
        <p:sp>
          <p:nvSpPr>
            <p:cNvPr id="24" name="Rectangle 24"/>
            <p:cNvSpPr/>
            <p:nvPr/>
          </p:nvSpPr>
          <p:spPr>
            <a:xfrm>
              <a:off x="533400" y="4225290"/>
              <a:ext cx="6059805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792980"/>
              <a:ext cx="200026" cy="200025"/>
              <a:chOff x="738188" y="4792980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7929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48374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49485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373880"/>
              <a:ext cx="50825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Hadoop MapReduce 给的是 Java API（Mapper、Reducer、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Job 这些类）。Java 字节码运行在 JVM 上，屏蔽了各机器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ABI 的差异，同一个 jar 可以分发到集群中不同的节点上运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898005" y="1524000"/>
            <a:ext cx="4760595" cy="4036695"/>
            <a:chOff x="6898005" y="1524000"/>
            <a:chExt cx="4760595" cy="4036695"/>
          </a:xfrm>
        </p:grpSpPr>
        <p:sp>
          <p:nvSpPr>
            <p:cNvPr id="31" name="Rectangle 31"/>
            <p:cNvSpPr/>
            <p:nvPr/>
          </p:nvSpPr>
          <p:spPr>
            <a:xfrm>
              <a:off x="6898005" y="1524000"/>
              <a:ext cx="4760595" cy="403669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7530" y="1657350"/>
              <a:ext cx="47625" cy="3769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45655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19112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原课件的例子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5325" y="1768792"/>
              <a:ext cx="18327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POSIX 的 printf()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38035" y="2129790"/>
              <a:ext cx="4139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 Intel x86、一台 MIPS，都装 Linux。Linux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 POSIX 标准，所以两台机器都支持 printf，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 API 层面的一致。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38035" y="3036570"/>
              <a:ext cx="4139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实际运行时，参数是否从右到左压栈、在栈中如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何分布，两台机器不一样，调用 printf 的指令也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不一样。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9178" y="3940016"/>
              <a:ext cx="41338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API 相同，ABI 完全可能不同：x86 上编译的程序不能直接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拿到 MIPS 上跑。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00628" cy="909257"/>
            <a:chOff x="520446" y="342900"/>
            <a:chExt cx="59006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44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750" y="407194"/>
              <a:ext cx="2862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MapReduce 编程模型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006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示例：字数统计 WordCount 的伪代码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139440"/>
            <a:chOff x="533400" y="1524000"/>
            <a:chExt cx="6059805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978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伪代码（MapReduce 论文）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827782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map(String key, String value):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key: document name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value: document contents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each word w in value: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EmitIntermediate(w,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reduce(String key, Iterator values):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key: a word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values: a list of counts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int result = 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each v in values: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result += ParseInt(v);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Emit(AsString(result));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6898005" y="1533525"/>
            <a:ext cx="4479036" cy="2632139"/>
            <a:chOff x="6898005" y="1533525"/>
            <a:chExt cx="4479036" cy="2632139"/>
          </a:xfrm>
        </p:grpSpPr>
        <p:sp>
          <p:nvSpPr>
            <p:cNvPr id="11" name="Rectangle 11"/>
            <p:cNvSpPr/>
            <p:nvPr/>
          </p:nvSpPr>
          <p:spPr>
            <a:xfrm>
              <a:off x="7031355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898005" y="21545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9162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898005" y="27755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9162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98005" y="361664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1629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866" y="1566386"/>
              <a:ext cx="10195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的输入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1009" y="1846898"/>
              <a:ext cx="14580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&lt;文档名, 文档内容&gt;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09866" y="2187416"/>
              <a:ext cx="10195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做什么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1009" y="2467927"/>
              <a:ext cx="3356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遍历文档中每个单词 w，产生中间对 &lt;w, “1”&gt;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9866" y="2808446"/>
              <a:ext cx="13105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的输入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1009" y="3088957"/>
              <a:ext cx="40660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&lt;单词, 计数的列表&gt;，同一个单词的所有“1”已被框架收到一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9866" y="3650456"/>
              <a:ext cx="13105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做什么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1009" y="393096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遍历计数列表累加，输出这个单词的总数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898005" y="4341495"/>
            <a:ext cx="4760595" cy="1018222"/>
            <a:chOff x="6898005" y="4341495"/>
            <a:chExt cx="4760595" cy="1018222"/>
          </a:xfrm>
        </p:grpSpPr>
        <p:sp>
          <p:nvSpPr>
            <p:cNvPr id="29" name="Rectangle 29"/>
            <p:cNvSpPr/>
            <p:nvPr/>
          </p:nvSpPr>
          <p:spPr>
            <a:xfrm>
              <a:off x="6898005" y="4341495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102793" y="4751070"/>
              <a:ext cx="200026" cy="200025"/>
              <a:chOff x="7102793" y="4751070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102793" y="47510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142531" y="47955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177247" y="49066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405116" y="4488656"/>
              <a:ext cx="377456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论文里的值都是字符串，所以要写 "1" 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ParseInt；Hadoop 的版本用 IntWritable 直接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存整数（第41页）。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36" name="Rectangle 3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753576"/>
              <a:ext cx="996022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这段伪代码里没有 Combiner。原课件第42页图旁注的“示例中不包含 Combiner”说的就是它；图本身画了 Combiner，下一页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照图推演。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5360" cy="909257"/>
            <a:chOff x="520446" y="342900"/>
            <a:chExt cx="79253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44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750" y="407194"/>
              <a:ext cx="2862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MapReduce 编程模型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53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例题：WordCount 数据流（一）Map 与 Combiner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307338" cy="308039"/>
            <a:chOff x="525399" y="1550194"/>
            <a:chExt cx="930733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3073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原课件第42页图：四个 map 各读一个分片。先看每个 map 输出什么，Combiner 又把它变成什么。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33400" y="1967865"/>
            <a:ext cx="6924675" cy="4305300"/>
            <a:chOff x="533400" y="1967865"/>
            <a:chExt cx="6924675" cy="430530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924675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0560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6430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61603" y="2106930"/>
              <a:ext cx="883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Map 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13850" y="2106930"/>
              <a:ext cx="1411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Combiner 之后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0080" y="286131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32547" y="2727960"/>
              <a:ext cx="13773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weather is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32772" y="2594610"/>
              <a:ext cx="18440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(the,1)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(weather,1) (is,1)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(good,1)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7352" y="286131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不变，4 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7186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476625"/>
              <a:ext cx="692467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74904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32547" y="3749040"/>
              <a:ext cx="1307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today is good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2772" y="3615690"/>
              <a:ext cx="1596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(today,1) (is,1)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87352" y="374904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不变，3 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2624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6367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2547" y="4503420"/>
              <a:ext cx="12630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 weather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 good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32772" y="4370070"/>
              <a:ext cx="18440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(good,1)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(weather,1) (is,1)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(good,1)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90198" y="4240530"/>
              <a:ext cx="2058352" cy="10020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87352" y="4370070"/>
              <a:ext cx="12058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(good,2)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(weather,1)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(is,1)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24732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252085"/>
              <a:ext cx="6924675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0080" y="5657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32547" y="5524500"/>
              <a:ext cx="13868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today has good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weather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32772" y="5391150"/>
              <a:ext cx="174879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(today,1) (has,1)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(good,1)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(weather,1)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87352" y="565785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不变，4 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67865"/>
              <a:ext cx="6924675" cy="4305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221105" y="1967865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021330" y="1967865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75910" y="1967865"/>
              <a:ext cx="9525" cy="4305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1"/>
          <p:cNvGrpSpPr/>
          <p:nvPr/>
        </p:nvGrpSpPr>
        <p:grpSpPr>
          <a:xfrm>
            <a:off x="7762875" y="1967865"/>
            <a:ext cx="3895725" cy="2272665"/>
            <a:chOff x="7762875" y="1967865"/>
            <a:chExt cx="3895725" cy="2272665"/>
          </a:xfrm>
        </p:grpSpPr>
        <p:sp>
          <p:nvSpPr>
            <p:cNvPr id="41" name="Rectangle 41"/>
            <p:cNvSpPr/>
            <p:nvPr/>
          </p:nvSpPr>
          <p:spPr>
            <a:xfrm>
              <a:off x="7762875" y="1967865"/>
              <a:ext cx="389572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772400" y="2101215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010525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96783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数一数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016240" y="26174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74355" y="2554605"/>
              <a:ext cx="3129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输出：4 + 3 + 4 + 4 = 15 对，正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好是 15 个单词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016240" y="32385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74355" y="3175635"/>
              <a:ext cx="2672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只有分片 3 里 good 出现两次，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Combiner 把它合成 (good,2)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016240" y="38595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74355" y="379666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送往 reduce 的中间对从 15 减到 14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7762875" y="4431030"/>
            <a:ext cx="3895725" cy="1842135"/>
            <a:chOff x="7762875" y="4431030"/>
            <a:chExt cx="3895725" cy="1842135"/>
          </a:xfrm>
        </p:grpSpPr>
        <p:sp>
          <p:nvSpPr>
            <p:cNvPr id="52" name="Rectangle 52"/>
            <p:cNvSpPr/>
            <p:nvPr/>
          </p:nvSpPr>
          <p:spPr>
            <a:xfrm>
              <a:off x="7762875" y="4431030"/>
              <a:ext cx="3895725" cy="1842135"/>
            </a:xfrm>
            <a:prstGeom prst="roundRect">
              <a:avLst>
                <a:gd name="adj" fmla="val 62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967663" y="5252085"/>
              <a:ext cx="200026" cy="200025"/>
              <a:chOff x="7967663" y="5252085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967663" y="52520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007401" y="52965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42117" y="54076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269605" y="4832985"/>
              <a:ext cx="29679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真实文本里高频词（the、is）在一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个分片中会出现成千上万次，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Combiner 省下的网络传输非常可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观。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32149" cy="909257"/>
            <a:chOff x="520446" y="342900"/>
            <a:chExt cx="101321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44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750" y="407194"/>
              <a:ext cx="2862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MapReduce 编程模型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321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例题：WordCount 数据流（二）Partition、Shuffle 与 Reduce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6065520" cy="2678907"/>
            <a:chOff x="527685" y="1524000"/>
            <a:chExt cx="6065520" cy="267890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0278" y="1658779"/>
              <a:ext cx="6768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7280" y="165877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收到的中间对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6420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255044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67256" y="2128361"/>
              <a:ext cx="250317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(good,1) (good,1) (good,2)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(good,1)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37151" y="2255044"/>
              <a:ext cx="855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(good,5)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108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15578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850356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7256" y="2850356"/>
              <a:ext cx="1849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(is,1) × 3，(has,1)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7151" y="2850356"/>
              <a:ext cx="13908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(is,3) (has,1)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794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445669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67256" y="3318986"/>
              <a:ext cx="250317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(weather,1) × 3，(the,1)，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(today,1) ×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7151" y="3318986"/>
              <a:ext cx="165557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(weather,3)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(the,1) (today,2)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059805" cy="23831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558290" y="1524000"/>
              <a:ext cx="9525" cy="2383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28185" y="1524000"/>
              <a:ext cx="9525" cy="2383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98287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原课件图中的分区方式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343400"/>
            <a:ext cx="6059805" cy="756285"/>
            <a:chOff x="533400" y="4343400"/>
            <a:chExt cx="6059805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4343400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621530"/>
              <a:ext cx="200026" cy="200026"/>
              <a:chOff x="738188" y="462153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6215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4863" y="46993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4490561"/>
              <a:ext cx="500087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核对：5 + 3 + 1 + 3 + 1 + 2 = 15，与单词总数一致；good 的 1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+ 1 + 2 + 1 = 5，Combiner 没有改变结果。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5285422"/>
            <a:ext cx="6059805" cy="813435"/>
            <a:chOff x="533400" y="5285422"/>
            <a:chExt cx="6059805" cy="813435"/>
          </a:xfrm>
        </p:grpSpPr>
        <p:sp>
          <p:nvSpPr>
            <p:cNvPr id="34" name="Rectangle 34"/>
            <p:cNvSpPr/>
            <p:nvPr/>
          </p:nvSpPr>
          <p:spPr>
            <a:xfrm>
              <a:off x="533400" y="5285422"/>
              <a:ext cx="6059805" cy="813435"/>
            </a:xfrm>
            <a:prstGeom prst="roundRect">
              <a:avLst>
                <a:gd name="adj" fmla="val 1405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588436"/>
              <a:ext cx="224134" cy="192560"/>
              <a:chOff x="726129" y="5588436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56588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5884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7365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5461159"/>
              <a:ext cx="504596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Partitioner 之后是屏障：reduce 必须等所有 map 都完成，才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能确定某个 key 的值已经收齐。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898005" y="1524000"/>
            <a:ext cx="4760595" cy="2003108"/>
            <a:chOff x="6898005" y="1524000"/>
            <a:chExt cx="4760595" cy="2003108"/>
          </a:xfrm>
        </p:grpSpPr>
        <p:sp>
          <p:nvSpPr>
            <p:cNvPr id="41" name="Rectangle 41"/>
            <p:cNvSpPr/>
            <p:nvPr/>
          </p:nvSpPr>
          <p:spPr>
            <a:xfrm>
              <a:off x="6898005" y="1524000"/>
              <a:ext cx="4760595" cy="2003108"/>
            </a:xfrm>
            <a:prstGeom prst="roundRect">
              <a:avLst>
                <a:gd name="adj" fmla="val 6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07530" y="1657350"/>
              <a:ext cx="47625" cy="17364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39940" y="1727835"/>
              <a:ext cx="237648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66160" y="1763554"/>
              <a:ext cx="23230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Hadoop 默认的 HashPartitioner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39940" y="2077402"/>
              <a:ext cx="4314825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68337" y="222932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67575" y="2492216"/>
              <a:ext cx="3375406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(key.hashCode() &amp; Integer.MAX_VALUE)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% numReduceTasks;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2701" y="3100864"/>
              <a:ext cx="4382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key 的哈希值相同，一定进同一个 reduce。</a:t>
              </a:r>
            </a:p>
          </p:txBody>
        </p:sp>
      </p:grpSp>
      <p:grpSp>
        <p:nvGrpSpPr>
          <p:cNvPr id="65" name="c2-table-2"/>
          <p:cNvGrpSpPr/>
          <p:nvPr/>
        </p:nvGrpSpPr>
        <p:grpSpPr>
          <a:xfrm>
            <a:off x="6892290" y="3712845"/>
            <a:ext cx="4766310" cy="2429351"/>
            <a:chOff x="6892290" y="3712845"/>
            <a:chExt cx="4766310" cy="2429351"/>
          </a:xfrm>
        </p:grpSpPr>
        <p:sp>
          <p:nvSpPr>
            <p:cNvPr id="50" name="Rectangle 50"/>
            <p:cNvSpPr/>
            <p:nvPr/>
          </p:nvSpPr>
          <p:spPr>
            <a:xfrm>
              <a:off x="6898005" y="3712845"/>
              <a:ext cx="476059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81912" y="38442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66839" y="3844290"/>
              <a:ext cx="17260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= 3 时去哪个 reduce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03352" y="4273868"/>
              <a:ext cx="110909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good、today、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weather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07399" y="43805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98005" y="47815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98005" y="4786312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03352" y="491775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07399" y="49177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898005" y="52120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03352" y="5348288"/>
              <a:ext cx="5977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is、has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07399" y="53482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98005" y="3712845"/>
              <a:ext cx="4760595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797290" y="3712845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92290" y="5722144"/>
              <a:ext cx="45702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用本机 JDK 21 实跑的结果（Text 的哈希与 Hadoop 相同），与图中的分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法不同但同样正确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7853" cy="909257"/>
            <a:chOff x="520446" y="342900"/>
            <a:chExt cx="54478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44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750" y="407194"/>
              <a:ext cx="2862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MapReduce 编程模型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78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论文的执行总览：六步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9" name="c1-graph-1"/>
          <p:cNvGrpSpPr/>
          <p:nvPr/>
        </p:nvGrpSpPr>
        <p:grpSpPr>
          <a:xfrm>
            <a:off x="732472" y="1599248"/>
            <a:ext cx="6094096" cy="4356259"/>
            <a:chOff x="732472" y="1599248"/>
            <a:chExt cx="6094096" cy="4356259"/>
          </a:xfrm>
        </p:grpSpPr>
        <p:sp>
          <p:nvSpPr>
            <p:cNvPr id="7" name="Freeform 7"/>
            <p:cNvSpPr/>
            <p:nvPr/>
          </p:nvSpPr>
          <p:spPr>
            <a:xfrm>
              <a:off x="3779520" y="1899285"/>
              <a:ext cx="9525" cy="417195"/>
            </a:xfrm>
            <a:custGeom>
              <a:avLst/>
              <a:gdLst/>
              <a:ahLst/>
              <a:cxnLst/>
              <a:rect l="l" t="t" r="r" b="b"/>
              <a:pathLst>
                <a:path w="9525" h="417195">
                  <a:moveTo>
                    <a:pt x="0" y="0"/>
                  </a:moveTo>
                  <a:lnTo>
                    <a:pt x="0" y="41719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3731895" y="23164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41282" y="1899285"/>
              <a:ext cx="1032510" cy="1473518"/>
            </a:xfrm>
            <a:custGeom>
              <a:avLst/>
              <a:gdLst/>
              <a:ahLst/>
              <a:cxnLst/>
              <a:rect l="l" t="t" r="r" b="b"/>
              <a:pathLst>
                <a:path w="1032510" h="1473518">
                  <a:moveTo>
                    <a:pt x="1032510" y="0"/>
                  </a:moveTo>
                  <a:lnTo>
                    <a:pt x="0" y="147351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586038" y="3345180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0" y="104775"/>
                  </a:moveTo>
                  <a:lnTo>
                    <a:pt x="16192" y="0"/>
                  </a:lnTo>
                  <a:lnTo>
                    <a:pt x="94297" y="542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874770" y="1899285"/>
              <a:ext cx="1186815" cy="1876425"/>
            </a:xfrm>
            <a:custGeom>
              <a:avLst/>
              <a:gdLst/>
              <a:ahLst/>
              <a:cxnLst/>
              <a:rect l="l" t="t" r="r" b="b"/>
              <a:pathLst>
                <a:path w="1186815" h="1876425">
                  <a:moveTo>
                    <a:pt x="0" y="0"/>
                  </a:moveTo>
                  <a:lnTo>
                    <a:pt x="1186815" y="187642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5021580" y="3750945"/>
              <a:ext cx="91440" cy="105727"/>
            </a:xfrm>
            <a:custGeom>
              <a:avLst/>
              <a:gdLst/>
              <a:ahLst/>
              <a:cxnLst/>
              <a:rect l="l" t="t" r="r" b="b"/>
              <a:pathLst>
                <a:path w="91440" h="105727">
                  <a:moveTo>
                    <a:pt x="91440" y="105727"/>
                  </a:moveTo>
                  <a:lnTo>
                    <a:pt x="0" y="50483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41282" y="2711768"/>
              <a:ext cx="1032510" cy="1473518"/>
            </a:xfrm>
            <a:custGeom>
              <a:avLst/>
              <a:gdLst/>
              <a:ahLst/>
              <a:cxnLst/>
              <a:rect l="l" t="t" r="r" b="b"/>
              <a:pathLst>
                <a:path w="1032510" h="1473518">
                  <a:moveTo>
                    <a:pt x="1032510" y="0"/>
                  </a:moveTo>
                  <a:lnTo>
                    <a:pt x="0" y="147351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2586038" y="4157662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0" y="104775"/>
                  </a:moveTo>
                  <a:lnTo>
                    <a:pt x="16192" y="0"/>
                  </a:lnTo>
                  <a:lnTo>
                    <a:pt x="94297" y="542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28110" y="2711768"/>
              <a:ext cx="1063943" cy="1077278"/>
            </a:xfrm>
            <a:custGeom>
              <a:avLst/>
              <a:gdLst/>
              <a:ahLst/>
              <a:cxnLst/>
              <a:rect l="l" t="t" r="r" b="b"/>
              <a:pathLst>
                <a:path w="1063943" h="1077278">
                  <a:moveTo>
                    <a:pt x="0" y="0"/>
                  </a:moveTo>
                  <a:lnTo>
                    <a:pt x="1063943" y="107727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958715" y="375570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6675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72552" y="3529965"/>
              <a:ext cx="638175" cy="40957"/>
            </a:xfrm>
            <a:custGeom>
              <a:avLst/>
              <a:gdLst/>
              <a:ahLst/>
              <a:cxnLst/>
              <a:rect l="l" t="t" r="r" b="b"/>
              <a:pathLst>
                <a:path w="638175" h="40957">
                  <a:moveTo>
                    <a:pt x="0" y="0"/>
                  </a:moveTo>
                  <a:lnTo>
                    <a:pt x="638175" y="4095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006918" y="3523298"/>
              <a:ext cx="98108" cy="95250"/>
            </a:xfrm>
            <a:custGeom>
              <a:avLst/>
              <a:gdLst/>
              <a:ahLst/>
              <a:cxnLst/>
              <a:rect l="l" t="t" r="r" b="b"/>
              <a:pathLst>
                <a:path w="98108" h="95250">
                  <a:moveTo>
                    <a:pt x="98108" y="53340"/>
                  </a:moveTo>
                  <a:lnTo>
                    <a:pt x="0" y="95250"/>
                  </a:lnTo>
                  <a:lnTo>
                    <a:pt x="6668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372552" y="3704272"/>
              <a:ext cx="640080" cy="140970"/>
            </a:xfrm>
            <a:custGeom>
              <a:avLst/>
              <a:gdLst/>
              <a:ahLst/>
              <a:cxnLst/>
              <a:rect l="l" t="t" r="r" b="b"/>
              <a:pathLst>
                <a:path w="640080" h="140970">
                  <a:moveTo>
                    <a:pt x="0" y="140970"/>
                  </a:moveTo>
                  <a:lnTo>
                    <a:pt x="64008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002155" y="365760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5717"/>
                  </a:moveTo>
                  <a:lnTo>
                    <a:pt x="20955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372552" y="4342448"/>
              <a:ext cx="638175" cy="40958"/>
            </a:xfrm>
            <a:custGeom>
              <a:avLst/>
              <a:gdLst/>
              <a:ahLst/>
              <a:cxnLst/>
              <a:rect l="l" t="t" r="r" b="b"/>
              <a:pathLst>
                <a:path w="638175" h="40958">
                  <a:moveTo>
                    <a:pt x="0" y="0"/>
                  </a:moveTo>
                  <a:lnTo>
                    <a:pt x="638175" y="409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006918" y="4335780"/>
              <a:ext cx="98108" cy="95250"/>
            </a:xfrm>
            <a:custGeom>
              <a:avLst/>
              <a:gdLst/>
              <a:ahLst/>
              <a:cxnLst/>
              <a:rect l="l" t="t" r="r" b="b"/>
              <a:pathLst>
                <a:path w="98108" h="95250">
                  <a:moveTo>
                    <a:pt x="98108" y="53340"/>
                  </a:moveTo>
                  <a:lnTo>
                    <a:pt x="0" y="95250"/>
                  </a:lnTo>
                  <a:lnTo>
                    <a:pt x="66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372552" y="4839652"/>
              <a:ext cx="642938" cy="223838"/>
            </a:xfrm>
            <a:custGeom>
              <a:avLst/>
              <a:gdLst/>
              <a:ahLst/>
              <a:cxnLst/>
              <a:rect l="l" t="t" r="r" b="b"/>
              <a:pathLst>
                <a:path w="642938" h="223838">
                  <a:moveTo>
                    <a:pt x="0" y="0"/>
                  </a:moveTo>
                  <a:lnTo>
                    <a:pt x="642938" y="2238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000250" y="5018722"/>
              <a:ext cx="104775" cy="89535"/>
            </a:xfrm>
            <a:custGeom>
              <a:avLst/>
              <a:gdLst/>
              <a:ahLst/>
              <a:cxnLst/>
              <a:rect l="l" t="t" r="r" b="b"/>
              <a:pathLst>
                <a:path w="104775" h="89535">
                  <a:moveTo>
                    <a:pt x="104775" y="76200"/>
                  </a:moveTo>
                  <a:lnTo>
                    <a:pt x="0" y="89535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372552" y="5154930"/>
              <a:ext cx="638175" cy="40957"/>
            </a:xfrm>
            <a:custGeom>
              <a:avLst/>
              <a:gdLst/>
              <a:ahLst/>
              <a:cxnLst/>
              <a:rect l="l" t="t" r="r" b="b"/>
              <a:pathLst>
                <a:path w="638175" h="40957">
                  <a:moveTo>
                    <a:pt x="0" y="0"/>
                  </a:moveTo>
                  <a:lnTo>
                    <a:pt x="638175" y="4095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006918" y="5148262"/>
              <a:ext cx="98108" cy="95250"/>
            </a:xfrm>
            <a:custGeom>
              <a:avLst/>
              <a:gdLst/>
              <a:ahLst/>
              <a:cxnLst/>
              <a:rect l="l" t="t" r="r" b="b"/>
              <a:pathLst>
                <a:path w="98108" h="95250">
                  <a:moveTo>
                    <a:pt x="98108" y="53340"/>
                  </a:moveTo>
                  <a:lnTo>
                    <a:pt x="0" y="95250"/>
                  </a:lnTo>
                  <a:lnTo>
                    <a:pt x="6668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856548" y="3600450"/>
              <a:ext cx="698183" cy="9525"/>
            </a:xfrm>
            <a:custGeom>
              <a:avLst/>
              <a:gdLst/>
              <a:ahLst/>
              <a:cxnLst/>
              <a:rect l="l" t="t" r="r" b="b"/>
              <a:pathLst>
                <a:path w="698183" h="9525">
                  <a:moveTo>
                    <a:pt x="0" y="0"/>
                  </a:moveTo>
                  <a:lnTo>
                    <a:pt x="69818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554730" y="3552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856548" y="4412932"/>
              <a:ext cx="698183" cy="9525"/>
            </a:xfrm>
            <a:custGeom>
              <a:avLst/>
              <a:gdLst/>
              <a:ahLst/>
              <a:cxnLst/>
              <a:rect l="l" t="t" r="r" b="b"/>
              <a:pathLst>
                <a:path w="698183" h="9525">
                  <a:moveTo>
                    <a:pt x="0" y="0"/>
                  </a:moveTo>
                  <a:lnTo>
                    <a:pt x="6981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554730" y="43653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856548" y="5225415"/>
              <a:ext cx="698183" cy="9525"/>
            </a:xfrm>
            <a:custGeom>
              <a:avLst/>
              <a:gdLst/>
              <a:ahLst/>
              <a:cxnLst/>
              <a:rect l="l" t="t" r="r" b="b"/>
              <a:pathLst>
                <a:path w="698183" h="9525">
                  <a:moveTo>
                    <a:pt x="0" y="0"/>
                  </a:moveTo>
                  <a:lnTo>
                    <a:pt x="69818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554730" y="51777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909060" y="4139565"/>
              <a:ext cx="831533" cy="236220"/>
            </a:xfrm>
            <a:custGeom>
              <a:avLst/>
              <a:gdLst/>
              <a:ahLst/>
              <a:cxnLst/>
              <a:rect l="l" t="t" r="r" b="b"/>
              <a:pathLst>
                <a:path w="831533" h="236220">
                  <a:moveTo>
                    <a:pt x="0" y="236220"/>
                  </a:moveTo>
                  <a:lnTo>
                    <a:pt x="8315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727258" y="409384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20002"/>
                  </a:moveTo>
                  <a:lnTo>
                    <a:pt x="26670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909060" y="3637598"/>
              <a:ext cx="831533" cy="236220"/>
            </a:xfrm>
            <a:custGeom>
              <a:avLst/>
              <a:gdLst/>
              <a:ahLst/>
              <a:cxnLst/>
              <a:rect l="l" t="t" r="r" b="b"/>
              <a:pathLst>
                <a:path w="831533" h="236220">
                  <a:moveTo>
                    <a:pt x="0" y="0"/>
                  </a:moveTo>
                  <a:lnTo>
                    <a:pt x="831533" y="2362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727258" y="382809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1438"/>
                  </a:moveTo>
                  <a:lnTo>
                    <a:pt x="0" y="9144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3909060" y="3710940"/>
              <a:ext cx="1050608" cy="896302"/>
            </a:xfrm>
            <a:custGeom>
              <a:avLst/>
              <a:gdLst/>
              <a:ahLst/>
              <a:cxnLst/>
              <a:rect l="l" t="t" r="r" b="b"/>
              <a:pathLst>
                <a:path w="1050608" h="896302">
                  <a:moveTo>
                    <a:pt x="0" y="0"/>
                  </a:moveTo>
                  <a:lnTo>
                    <a:pt x="1050608" y="89630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928235" y="4571048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3909060" y="4450080"/>
              <a:ext cx="831533" cy="236220"/>
            </a:xfrm>
            <a:custGeom>
              <a:avLst/>
              <a:gdLst/>
              <a:ahLst/>
              <a:cxnLst/>
              <a:rect l="l" t="t" r="r" b="b"/>
              <a:pathLst>
                <a:path w="831533" h="236220">
                  <a:moveTo>
                    <a:pt x="0" y="0"/>
                  </a:moveTo>
                  <a:lnTo>
                    <a:pt x="831533" y="2362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727258" y="464058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1438"/>
                  </a:moveTo>
                  <a:lnTo>
                    <a:pt x="0" y="9144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3909060" y="4218622"/>
              <a:ext cx="1050608" cy="896303"/>
            </a:xfrm>
            <a:custGeom>
              <a:avLst/>
              <a:gdLst/>
              <a:ahLst/>
              <a:cxnLst/>
              <a:rect l="l" t="t" r="r" b="b"/>
              <a:pathLst>
                <a:path w="1050608" h="896303">
                  <a:moveTo>
                    <a:pt x="0" y="896303"/>
                  </a:moveTo>
                  <a:lnTo>
                    <a:pt x="105060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4928235" y="4156710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0"/>
                  </a:moveTo>
                  <a:lnTo>
                    <a:pt x="61912" y="98108"/>
                  </a:lnTo>
                  <a:lnTo>
                    <a:pt x="0" y="2571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3909060" y="4952048"/>
              <a:ext cx="831533" cy="236220"/>
            </a:xfrm>
            <a:custGeom>
              <a:avLst/>
              <a:gdLst/>
              <a:ahLst/>
              <a:cxnLst/>
              <a:rect l="l" t="t" r="r" b="b"/>
              <a:pathLst>
                <a:path w="831533" h="236220">
                  <a:moveTo>
                    <a:pt x="0" y="236220"/>
                  </a:moveTo>
                  <a:lnTo>
                    <a:pt x="83153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4727258" y="490632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20003"/>
                  </a:moveTo>
                  <a:lnTo>
                    <a:pt x="26670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5583555" y="4006215"/>
              <a:ext cx="507682" cy="9525"/>
            </a:xfrm>
            <a:custGeom>
              <a:avLst/>
              <a:gdLst/>
              <a:ahLst/>
              <a:cxnLst/>
              <a:rect l="l" t="t" r="r" b="b"/>
              <a:pathLst>
                <a:path w="507682" h="9525">
                  <a:moveTo>
                    <a:pt x="0" y="0"/>
                  </a:moveTo>
                  <a:lnTo>
                    <a:pt x="5076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091238" y="39585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5583555" y="4818698"/>
              <a:ext cx="507682" cy="9525"/>
            </a:xfrm>
            <a:custGeom>
              <a:avLst/>
              <a:gdLst/>
              <a:ahLst/>
              <a:cxnLst/>
              <a:rect l="l" t="t" r="r" b="b"/>
              <a:pathLst>
                <a:path w="507682" h="9525">
                  <a:moveTo>
                    <a:pt x="0" y="0"/>
                  </a:moveTo>
                  <a:lnTo>
                    <a:pt x="50768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091238" y="47710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380422" y="1599248"/>
              <a:ext cx="79724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404235" y="2411730"/>
              <a:ext cx="751522" cy="300038"/>
            </a:xfrm>
            <a:prstGeom prst="roundRect">
              <a:avLst>
                <a:gd name="adj" fmla="val 31746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2472" y="3397568"/>
              <a:ext cx="640080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2472" y="3803332"/>
              <a:ext cx="640080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2472" y="4210050"/>
              <a:ext cx="640080" cy="225742"/>
            </a:xfrm>
            <a:prstGeom prst="roundRect">
              <a:avLst>
                <a:gd name="adj" fmla="val 4219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2472" y="4615815"/>
              <a:ext cx="640080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2472" y="5022532"/>
              <a:ext cx="640080" cy="225742"/>
            </a:xfrm>
            <a:prstGeom prst="roundRect">
              <a:avLst>
                <a:gd name="adj" fmla="val 4219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105025" y="3449955"/>
              <a:ext cx="751522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2105025" y="4262438"/>
              <a:ext cx="751522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2105025" y="5074920"/>
              <a:ext cx="751522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3649980" y="3427095"/>
              <a:ext cx="260032" cy="346710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3649980" y="4239578"/>
              <a:ext cx="260032" cy="346710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3649980" y="5052060"/>
              <a:ext cx="260032" cy="346710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4832032" y="3856672"/>
              <a:ext cx="751522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4832032" y="4669155"/>
              <a:ext cx="751522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186488" y="3856672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186488" y="4669155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72256" y="16797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用户程序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494143" y="2492216"/>
              <a:ext cx="57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8740" y="34399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分片 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8740" y="384667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分片 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8740" y="425243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分片 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8740" y="46591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分片 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8740" y="506491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分片 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198500" y="3530441"/>
              <a:ext cx="565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198500" y="4342924"/>
              <a:ext cx="565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198500" y="5155406"/>
              <a:ext cx="565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925507" y="3936206"/>
              <a:ext cx="565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925507" y="4748689"/>
              <a:ext cx="565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82755" y="393620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82755" y="474868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3504248" y="2069782"/>
              <a:ext cx="55054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523355" y="2102168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(1) fork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2873692" y="3215640"/>
              <a:ext cx="7734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2886113" y="3248025"/>
              <a:ext cx="7485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(2) 分配 map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4024312" y="3198495"/>
              <a:ext cx="93916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031761" y="3230880"/>
              <a:ext cx="9242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(2) 分配 reduce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532572" y="4280535"/>
              <a:ext cx="41338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555794" y="4311968"/>
              <a:ext cx="366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(3) 读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2931795" y="4327208"/>
              <a:ext cx="64198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948159" y="4359592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(4) 本地写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050030" y="4158615"/>
              <a:ext cx="64198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066394" y="4191000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(5) 远程读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677852" y="3920490"/>
              <a:ext cx="41338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701074" y="3952875"/>
              <a:ext cx="366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(6) 写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5249" y="57354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输入文件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2159632" y="5735479"/>
              <a:ext cx="64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 阶段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3084703" y="573547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中间文件（本地磁盘）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777826" y="5735479"/>
              <a:ext cx="86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Reduce 阶段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199264" y="57354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输出文件</a:t>
              </a:r>
            </a:p>
          </p:txBody>
        </p:sp>
      </p:grpSp>
      <p:grpSp>
        <p:nvGrpSpPr>
          <p:cNvPr id="117" name="c2-steps-1"/>
          <p:cNvGrpSpPr/>
          <p:nvPr/>
        </p:nvGrpSpPr>
        <p:grpSpPr>
          <a:xfrm>
            <a:off x="7330440" y="1533525"/>
            <a:ext cx="4165727" cy="3109436"/>
            <a:chOff x="7330440" y="1533525"/>
            <a:chExt cx="4165727" cy="3109436"/>
          </a:xfrm>
        </p:grpSpPr>
        <p:sp>
          <p:nvSpPr>
            <p:cNvPr id="100" name="Rectangle 100"/>
            <p:cNvSpPr/>
            <p:nvPr/>
          </p:nvSpPr>
          <p:spPr>
            <a:xfrm>
              <a:off x="7463790" y="1676400"/>
              <a:ext cx="19050" cy="23822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7330440" y="232791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42406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7330440" y="312134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424064" y="3195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7330440" y="391572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424064" y="3989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742682" y="1564957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fork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743825" y="1833086"/>
              <a:ext cx="37096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输入切成 M 片（每片 16–64 MB），在集群上启动多个程序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副本，其中一个是 master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742682" y="2359342"/>
              <a:ext cx="7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分配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743825" y="2627471"/>
              <a:ext cx="36598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把 M 个 map 任务和 R 个 reduce 任务分给空闲的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742682" y="3153727"/>
              <a:ext cx="1053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(3)(4) map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743825" y="3420904"/>
              <a:ext cx="37523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读分片、调用 map，中间结果按分区函数分成 R 份写到本地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磁盘，位置报给 master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742682" y="3948112"/>
              <a:ext cx="1330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(5)(6) reduce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743825" y="4215289"/>
              <a:ext cx="33825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远程读取各 map 的对应分区，按 key 排序分组后调用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reduce，结果写入输出文件</a:t>
              </a:r>
            </a:p>
          </p:txBody>
        </p:sp>
      </p:grpSp>
      <p:grpSp>
        <p:nvGrpSpPr>
          <p:cNvPr id="124" name="c2-callout-2"/>
          <p:cNvGrpSpPr/>
          <p:nvPr/>
        </p:nvGrpSpPr>
        <p:grpSpPr>
          <a:xfrm>
            <a:off x="7330440" y="4811078"/>
            <a:ext cx="4328160" cy="1226820"/>
            <a:chOff x="7330440" y="4811078"/>
            <a:chExt cx="4328160" cy="1226820"/>
          </a:xfrm>
        </p:grpSpPr>
        <p:sp>
          <p:nvSpPr>
            <p:cNvPr id="118" name="Rectangle 118"/>
            <p:cNvSpPr/>
            <p:nvPr/>
          </p:nvSpPr>
          <p:spPr>
            <a:xfrm>
              <a:off x="7330440" y="4811078"/>
              <a:ext cx="4328160" cy="1226820"/>
            </a:xfrm>
            <a:prstGeom prst="roundRect">
              <a:avLst>
                <a:gd name="adj" fmla="val 931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2" name="Group 122"/>
            <p:cNvGrpSpPr/>
            <p:nvPr/>
          </p:nvGrpSpPr>
          <p:grpSpPr>
            <a:xfrm>
              <a:off x="7523169" y="5320783"/>
              <a:ext cx="224134" cy="192560"/>
              <a:chOff x="7523169" y="5320783"/>
              <a:chExt cx="224134" cy="19256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7635240" y="53911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7523169" y="53207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7635240" y="54689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3" name="TextBox 123"/>
            <p:cNvSpPr txBox="1"/>
            <p:nvPr/>
          </p:nvSpPr>
          <p:spPr>
            <a:xfrm>
              <a:off x="7837932" y="4957762"/>
              <a:ext cx="3434144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master 定期 ping 各 worker。某个 worker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失效时，它完成过的 map 任务也要重跑，因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为结果在它的本地磁盘上；完成过的 reduce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不必重跑，结果已在全局文件系统里。</a:t>
              </a:r>
            </a:p>
          </p:txBody>
        </p:sp>
      </p:grpSp>
      <p:grpSp>
        <p:nvGrpSpPr>
          <p:cNvPr id="1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5" name="TextBox 12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77525" cy="909257"/>
            <a:chOff x="520446" y="342900"/>
            <a:chExt cx="82775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441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750" y="407194"/>
              <a:ext cx="2862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MapReduce 编程模型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775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各自并行，reduce 各自并行，中间隔着一道屏障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410200" cy="4690110"/>
            <a:chOff x="533400" y="1524000"/>
            <a:chExt cx="5410200" cy="4690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690110"/>
            </a:xfrm>
            <a:prstGeom prst="roundRect">
              <a:avLst>
                <a:gd name="adj" fmla="val 2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2341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并行在哪里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和 Reduce 操作的是数据分片而不是全部数据，所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以在各机器、各分片上的操作是并行的。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7317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数据被切分成块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05371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3067050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在各机器（map worker）上启动代码副本，执行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map，读入分块并输出中间值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67474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7170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688080"/>
              <a:ext cx="1883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对中间值按 key 排序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401002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40523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402336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在各机器（reduce worker）上启动代码副本，执行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reduce，读入各自 key 对应的中间值并生成结果</a:t>
              </a:r>
            </a:p>
          </p:txBody>
        </p:sp>
      </p:grpSp>
      <p:grpSp>
        <p:nvGrpSpPr>
          <p:cNvPr id="64" name="c2-cells-1"/>
          <p:cNvGrpSpPr/>
          <p:nvPr/>
        </p:nvGrpSpPr>
        <p:grpSpPr>
          <a:xfrm>
            <a:off x="6241923" y="1524000"/>
            <a:ext cx="5416677" cy="2190750"/>
            <a:chOff x="6241923" y="1524000"/>
            <a:chExt cx="5416677" cy="2190750"/>
          </a:xfrm>
        </p:grpSpPr>
        <p:sp>
          <p:nvSpPr>
            <p:cNvPr id="25" name="TextBox 25"/>
            <p:cNvSpPr txBox="1"/>
            <p:nvPr/>
          </p:nvSpPr>
          <p:spPr>
            <a:xfrm>
              <a:off x="6241923" y="1654016"/>
              <a:ext cx="799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worker 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24700" y="152400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47352" y="165401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31480" y="152400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132" y="165401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38260" y="1524000"/>
              <a:ext cx="9067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845040" y="152400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86809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751820" y="152400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093589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41923" y="2244566"/>
              <a:ext cx="799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worker 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24700" y="211455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47352" y="224456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31480" y="211455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54132" y="224456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938260" y="2114550"/>
              <a:ext cx="9067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845040" y="211455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186809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751820" y="211455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093589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41923" y="2835116"/>
              <a:ext cx="799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worker 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24700" y="270510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47352" y="283511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31480" y="270510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54132" y="2835116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38260" y="2705100"/>
              <a:ext cx="9067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845040" y="2705100"/>
              <a:ext cx="9067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751820" y="2705100"/>
              <a:ext cx="90678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41923" y="34256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24700" y="329565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72102" y="34256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031480" y="329565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78882" y="34256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938260" y="3295650"/>
              <a:ext cx="90678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12859" y="34256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屏障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845040" y="329565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192442" y="34256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751820" y="3295650"/>
              <a:ext cx="9067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099222" y="34256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6248400" y="3905250"/>
            <a:ext cx="5410200" cy="1335405"/>
            <a:chOff x="6248400" y="3905250"/>
            <a:chExt cx="5410200" cy="1335405"/>
          </a:xfrm>
        </p:grpSpPr>
        <p:sp>
          <p:nvSpPr>
            <p:cNvPr id="65" name="Rectangle 65"/>
            <p:cNvSpPr/>
            <p:nvPr/>
          </p:nvSpPr>
          <p:spPr>
            <a:xfrm>
              <a:off x="6248400" y="3905250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441129" y="4469248"/>
              <a:ext cx="224134" cy="192560"/>
              <a:chOff x="6441129" y="4469248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553200" y="45396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441129" y="44692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53200" y="4617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755130" y="4053840"/>
              <a:ext cx="448246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 个 map 任务分两轮跑完，reduce 才开始执行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reduce()。Hadoop 里 reducer 可以提前开始拉取已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完成的 map 输出，但必须等所有 map 结束才能开始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归约。</a:t>
              </a:r>
            </a:p>
          </p:txBody>
        </p:sp>
      </p:grpSp>
      <p:grpSp>
        <p:nvGrpSpPr>
          <p:cNvPr id="78" name="c2-callout-3"/>
          <p:cNvGrpSpPr/>
          <p:nvPr/>
        </p:nvGrpSpPr>
        <p:grpSpPr>
          <a:xfrm>
            <a:off x="6248400" y="5431155"/>
            <a:ext cx="5410200" cy="782955"/>
            <a:chOff x="6248400" y="5431155"/>
            <a:chExt cx="5410200" cy="782955"/>
          </a:xfrm>
        </p:grpSpPr>
        <p:sp>
          <p:nvSpPr>
            <p:cNvPr id="72" name="Rectangle 72"/>
            <p:cNvSpPr/>
            <p:nvPr/>
          </p:nvSpPr>
          <p:spPr>
            <a:xfrm>
              <a:off x="6248400" y="543115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453188" y="5722620"/>
              <a:ext cx="200026" cy="200025"/>
              <a:chOff x="6453188" y="5722620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453188" y="57226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492926" y="57670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27642" y="58781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755130" y="5579745"/>
              <a:ext cx="4482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所以一个慢 map 会拖住整个作业，这就是第五部分推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测执行要解决的问题。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31674" cy="3351847"/>
            <a:chOff x="667512" y="1835468"/>
            <a:chExt cx="583167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6319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MapReduce 编程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21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WordCount 为例，把 Mapper、Reducer 和 Job 写出来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888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原课件第45–60页：Hadoop MapReduce 编程（Java）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677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Mapper、Combiner、Reducer 三个类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和 reduce 的个数怎么定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推测执行对付慢节点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12319" cy="909257"/>
            <a:chOff x="520446" y="342900"/>
            <a:chExt cx="79123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123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程序骨架：导入的包，以及在 main 里建立一个 Job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73446" cy="278702"/>
            <a:chOff x="526161" y="1547336"/>
            <a:chExt cx="767344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73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Hadoop MapReduce 用 Java 编程。程序面向 Job：把各个类“装”进 Job，再提交给集群。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951220" cy="2586990"/>
            <a:chOff x="533400" y="1941195"/>
            <a:chExt cx="5951220" cy="258699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95122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必要的包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4631246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java.io.IOException;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java.util.StringTokenizer;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org.apache.hadoop.conf.Configuration;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org.apache.hadoop.fs.Path;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org.apache.hadoop.io.IntWritable;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org.apache.hadoop.io.Text;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org.apache.hadoop.mapreduce.Job;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org.apache.hadoop.mapreduce.Mapper;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org.apache.hadoop.mapreduce.Reducer;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org.apache.hadoop.mapreduce.lib.input.FileInputFormat;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org.apache.hadoop.mapreduce.lib.output.FileOutputFormat;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703445"/>
            <a:ext cx="5951220" cy="1640205"/>
            <a:chOff x="533400" y="4703445"/>
            <a:chExt cx="5951220" cy="1640205"/>
          </a:xfrm>
        </p:grpSpPr>
        <p:sp>
          <p:nvSpPr>
            <p:cNvPr id="13" name="Rectangle 13"/>
            <p:cNvSpPr/>
            <p:nvPr/>
          </p:nvSpPr>
          <p:spPr>
            <a:xfrm>
              <a:off x="533400" y="4703445"/>
              <a:ext cx="595122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855369"/>
              <a:ext cx="11937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main 中建立 Job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5116830"/>
              <a:ext cx="4191191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Configuration conf =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Configuration();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Job job = Job.getInstance(conf,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"word count"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job.setJarByClass(WordCount.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kv-1"/>
          <p:cNvGrpSpPr/>
          <p:nvPr/>
        </p:nvGrpSpPr>
        <p:grpSpPr>
          <a:xfrm>
            <a:off x="6782562" y="1964055"/>
            <a:ext cx="4876038" cy="2615755"/>
            <a:chOff x="6782562" y="1964055"/>
            <a:chExt cx="4876038" cy="2615755"/>
          </a:xfrm>
        </p:grpSpPr>
        <p:sp>
          <p:nvSpPr>
            <p:cNvPr id="17" name="TextBox 17"/>
            <p:cNvSpPr txBox="1"/>
            <p:nvPr/>
          </p:nvSpPr>
          <p:spPr>
            <a:xfrm>
              <a:off x="6782562" y="1964055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conf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8007" y="1964055"/>
              <a:ext cx="2136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Configuration：作业配置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789420" y="22526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82562" y="236124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8007" y="2361248"/>
              <a:ext cx="1807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Path：HDFS 上的路径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89420" y="265080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2562" y="2759392"/>
              <a:ext cx="175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8007" y="2759392"/>
              <a:ext cx="297980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Text、IntWritable：Hadoop 自己的可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序列化类型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89420" y="330231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2562" y="3410902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8007" y="3410902"/>
              <a:ext cx="29283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Job、Mapper、Reducer：新 API 的三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个核心类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89420" y="39538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2562" y="4062412"/>
              <a:ext cx="922830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lib.input /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output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8007" y="406241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按文件读输入、写输出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789420" y="4702492"/>
            <a:ext cx="4869180" cy="1641158"/>
            <a:chOff x="6789420" y="4702492"/>
            <a:chExt cx="4869180" cy="1641158"/>
          </a:xfrm>
        </p:grpSpPr>
        <p:sp>
          <p:nvSpPr>
            <p:cNvPr id="32" name="Rectangle 32"/>
            <p:cNvSpPr/>
            <p:nvPr/>
          </p:nvSpPr>
          <p:spPr>
            <a:xfrm>
              <a:off x="6789420" y="4702492"/>
              <a:ext cx="4869180" cy="1641158"/>
            </a:xfrm>
            <a:prstGeom prst="roundRect">
              <a:avLst>
                <a:gd name="adj" fmla="val 81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98945" y="4835842"/>
              <a:ext cx="47625" cy="13744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19925" y="4894898"/>
              <a:ext cx="2066925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58825" y="4929188"/>
              <a:ext cx="1989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为什么不用 String 和 Integer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13067" y="5251133"/>
              <a:ext cx="42485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中间结果要在节点之间传输、按 key 排序。Text、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IntWritable 实现了 Hadoop 的序列化和比较接口，序列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化后紧凑，可以直接按字节比较。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3753" cy="909257"/>
            <a:chOff x="520446" y="342900"/>
            <a:chExt cx="67637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37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Mapper：继承 Mapper 类，重写 map 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059805" cy="3154680"/>
            <a:chOff x="533400" y="1524000"/>
            <a:chExt cx="6059805" cy="3154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33712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790950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980498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1937385"/>
              <a:ext cx="4704588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TokenizerMapper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Mapper&lt;Object, Text, Text, IntWritable&gt;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IntWritable one =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IntWritable(1);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 word =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map(Object key, Text value, Context context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)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IOException, InterruptedException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StringTokenizer itr =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StringTokenizer(value.toString());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(itr.hasMoreTokens())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word.set(itr.nextToken());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context.write(word, one);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bullets-2"/>
          <p:cNvGrpSpPr/>
          <p:nvPr/>
        </p:nvGrpSpPr>
        <p:grpSpPr>
          <a:xfrm>
            <a:off x="542925" y="4872514"/>
            <a:ext cx="5419994" cy="492443"/>
            <a:chOff x="542925" y="4872514"/>
            <a:chExt cx="5419994" cy="492443"/>
          </a:xfrm>
        </p:grpSpPr>
        <p:sp>
          <p:nvSpPr>
            <p:cNvPr id="14" name="Ellipse 14"/>
            <p:cNvSpPr/>
            <p:nvPr/>
          </p:nvSpPr>
          <p:spPr>
            <a:xfrm>
              <a:off x="542925" y="491585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9135" y="4872514"/>
              <a:ext cx="52637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Mapper 把输入键值对映射为一组中间键值对，中间记录的类型不必与输入相同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2925" y="518826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9135" y="514492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一个输入对可以映射到零个或多个输出对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495925"/>
            <a:ext cx="6059805" cy="729615"/>
            <a:chOff x="533400" y="5495925"/>
            <a:chExt cx="6059805" cy="729615"/>
          </a:xfrm>
        </p:grpSpPr>
        <p:sp>
          <p:nvSpPr>
            <p:cNvPr id="19" name="Rectangle 19"/>
            <p:cNvSpPr/>
            <p:nvPr/>
          </p:nvSpPr>
          <p:spPr>
            <a:xfrm>
              <a:off x="533400" y="5495925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760720"/>
              <a:ext cx="200026" cy="200025"/>
              <a:chOff x="738188" y="5760720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7607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8051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9162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5641658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one 和 word 是复用的对象，免得每个单词都 new 一次；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context.write 会立即把内容序列化，复用是安全的。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898005" y="1524000"/>
            <a:ext cx="4760595" cy="2228850"/>
            <a:chOff x="6898005" y="1524000"/>
            <a:chExt cx="4760595" cy="2228850"/>
          </a:xfrm>
        </p:grpSpPr>
        <p:sp>
          <p:nvSpPr>
            <p:cNvPr id="26" name="Rectangle 26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0891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泛型参数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31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819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本例的含义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8017" y="21540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35315" y="2154079"/>
              <a:ext cx="506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64065" y="205406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行在文件中的字节偏移，用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25307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98005" y="253555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8017" y="2659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35315" y="2659856"/>
              <a:ext cx="347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64065" y="2659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一行文本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98005" y="29365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8017" y="30656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35315" y="3065621"/>
              <a:ext cx="347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64065" y="30656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一个单词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33423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98005" y="334708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98017" y="3471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35315" y="3471386"/>
              <a:ext cx="84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IntWritable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64065" y="347138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固定为 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1524000"/>
              <a:ext cx="4760595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130540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59290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6898005" y="3928110"/>
            <a:ext cx="4760595" cy="2297430"/>
            <a:chOff x="6898005" y="3928110"/>
            <a:chExt cx="4760595" cy="2297430"/>
          </a:xfrm>
        </p:grpSpPr>
        <p:sp>
          <p:nvSpPr>
            <p:cNvPr id="51" name="Rectangle 51"/>
            <p:cNvSpPr/>
            <p:nvPr/>
          </p:nvSpPr>
          <p:spPr>
            <a:xfrm>
              <a:off x="6898005" y="3928110"/>
              <a:ext cx="4760595" cy="2297430"/>
            </a:xfrm>
            <a:prstGeom prst="roundRect">
              <a:avLst>
                <a:gd name="adj" fmla="val 5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4061460"/>
              <a:ext cx="47625" cy="20307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8510" y="41205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19950" y="4154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21652" y="4476750"/>
              <a:ext cx="4085654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原课件说“通过实现 Mapper 接口来提供 map 方法”。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代码用的新 API（org.apache.hadoop.mapreduce）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 Mapper 是类，要 extends；旧 API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（org.apache.hadoop.mapred）里 Mapper 才是接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口。Reducer 同理。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9390" cy="909257"/>
            <a:chOff x="520446" y="342900"/>
            <a:chExt cx="86093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93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Mapper 交给 Job；需要多少个 map 由输入块数决定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704850"/>
            <a:chOff x="533400" y="1524000"/>
            <a:chExt cx="5626418" cy="704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514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job.setMapperClass(TokenizerMapper.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2419350"/>
            <a:ext cx="5626418" cy="2082165"/>
            <a:chOff x="533400" y="2419350"/>
            <a:chExt cx="5626418" cy="2082165"/>
          </a:xfrm>
        </p:grpSpPr>
        <p:sp>
          <p:nvSpPr>
            <p:cNvPr id="11" name="Rectangle 11"/>
            <p:cNvSpPr/>
            <p:nvPr/>
          </p:nvSpPr>
          <p:spPr>
            <a:xfrm>
              <a:off x="533400" y="2419350"/>
              <a:ext cx="5626418" cy="2082165"/>
            </a:xfrm>
            <a:prstGeom prst="roundRect">
              <a:avLst>
                <a:gd name="adj" fmla="val 64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2552700"/>
              <a:ext cx="47625" cy="1815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26289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2664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006090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原课件写“框架会为输入中的每个分块（键值对）调用 map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函数”，把分块和键值对混为一谈。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623786"/>
              <a:ext cx="497916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框架为每个输入分片（InputSplit，一般就是一个 HDFS 块）启动一个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 任务；任务内对分片中的每个键值对调用一次 map()。文本输入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时一行就是一个键值对。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692015"/>
            <a:ext cx="5626418" cy="843915"/>
            <a:chOff x="533400" y="4692015"/>
            <a:chExt cx="5626418" cy="843915"/>
          </a:xfrm>
        </p:grpSpPr>
        <p:sp>
          <p:nvSpPr>
            <p:cNvPr id="18" name="Rectangle 18"/>
            <p:cNvSpPr/>
            <p:nvPr/>
          </p:nvSpPr>
          <p:spPr>
            <a:xfrm>
              <a:off x="533400" y="4692015"/>
              <a:ext cx="5626418" cy="843915"/>
            </a:xfrm>
            <a:prstGeom prst="roundRect">
              <a:avLst>
                <a:gd name="adj" fmla="val 1354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013960"/>
              <a:ext cx="200026" cy="200025"/>
              <a:chOff x="738188" y="501396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0139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0584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1695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871085"/>
              <a:ext cx="4625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WordCount 读 4 个小文件时就是 4 个 map 任务；每个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任务里文件有几行，map() 就被调用几次。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1774508"/>
            <a:chOff x="6464618" y="1524000"/>
            <a:chExt cx="5193982" cy="1774508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1774508"/>
            </a:xfrm>
            <a:prstGeom prst="roundRect">
              <a:avLst>
                <a:gd name="adj" fmla="val 75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1657350"/>
              <a:ext cx="47625" cy="15078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12268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9062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原课件例子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0015" y="1768792"/>
              <a:ext cx="26493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TB 输入，块大小 128 MB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5"/>
                <p:cNvSpPr txBox="1">
                  <a:spLocks noGrp="1"/>
                </p:cNvSpPr>
                <p:nvPr/>
              </p:nvSpPr>
              <p:spPr>
                <a:xfrm>
                  <a:off x="6712268" y="2105025"/>
                  <a:ext cx="4736782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40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27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81920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705791" y="2890361"/>
              <a:ext cx="39847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 8.2 万个 map 要运行（原课件写约 82000 个）。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6458902" y="3489008"/>
            <a:ext cx="5199698" cy="2091214"/>
            <a:chOff x="6458902" y="3489008"/>
            <a:chExt cx="5199698" cy="2091214"/>
          </a:xfrm>
        </p:grpSpPr>
        <p:sp>
          <p:nvSpPr>
            <p:cNvPr id="33" name="Rectangle 33"/>
            <p:cNvSpPr/>
            <p:nvPr/>
          </p:nvSpPr>
          <p:spPr>
            <a:xfrm>
              <a:off x="6464618" y="3489008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85927" y="36247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63788" y="362473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块大小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52813" y="3624739"/>
              <a:ext cx="746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map 个数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72441" y="4073366"/>
              <a:ext cx="490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TB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0157" y="4073366"/>
              <a:ext cx="604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MB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63961" y="407336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81920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43824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438721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2441" y="4521994"/>
              <a:ext cx="490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TB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80157" y="4521994"/>
              <a:ext cx="604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MB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63961" y="452199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40960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48310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72441" y="4970621"/>
              <a:ext cx="385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TB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0157" y="4970621"/>
              <a:ext cx="604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MB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58733" y="49706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8192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3489008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60055" y="348900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787890" y="348900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58902" y="5360194"/>
              <a:ext cx="326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块调大一倍，map 数减半，每个 map 的活多一倍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5159" cy="909257"/>
            <a:chOff x="520446" y="342900"/>
            <a:chExt cx="68751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51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Combiner：在 map 端先做一次本地 reduce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704850"/>
            <a:chOff x="533400" y="1524000"/>
            <a:chExt cx="5842635" cy="704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519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job.setCombinerClass(IntSumReducer.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419350"/>
            <a:ext cx="5842635" cy="2941320"/>
            <a:chOff x="533400" y="2419350"/>
            <a:chExt cx="5842635" cy="2941320"/>
          </a:xfrm>
        </p:grpSpPr>
        <p:sp>
          <p:nvSpPr>
            <p:cNvPr id="11" name="Rectangle 11"/>
            <p:cNvSpPr/>
            <p:nvPr/>
          </p:nvSpPr>
          <p:spPr>
            <a:xfrm>
              <a:off x="533400" y="2419350"/>
              <a:ext cx="5842635" cy="2941320"/>
            </a:xfrm>
            <a:prstGeom prst="roundRect">
              <a:avLst>
                <a:gd name="adj" fmla="val 45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2552700"/>
              <a:ext cx="47625" cy="26746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2628900"/>
              <a:ext cx="85915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8145" y="2664619"/>
              <a:ext cx="704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Combiner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00609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可选。在 Mapper 本地对输出先聚合一次，减少传输到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Reducer 的数据量。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62712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IntSumReducer 是后面要写的 Reducer，这里拿它当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Combiner，相当于先在 map 本地做了一次 reduce。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4244816"/>
              <a:ext cx="51742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第35页的例子：分片 3 的 (good,1)(good,1) 合成 (good,2)，15 对减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到 14 对。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1524000"/>
            <a:ext cx="4977765" cy="2586990"/>
            <a:chOff x="6680835" y="1524000"/>
            <a:chExt cx="4977765" cy="2586990"/>
          </a:xfrm>
        </p:grpSpPr>
        <p:sp>
          <p:nvSpPr>
            <p:cNvPr id="19" name="Rectangle 19"/>
            <p:cNvSpPr/>
            <p:nvPr/>
          </p:nvSpPr>
          <p:spPr>
            <a:xfrm>
              <a:off x="6680835" y="1524000"/>
              <a:ext cx="4977765" cy="258699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90360" y="1657350"/>
              <a:ext cx="47625" cy="23202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20865" y="2110740"/>
              <a:ext cx="3963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求平均值不能直接拿 reducer 当 combiner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20865" y="2465070"/>
              <a:ext cx="3468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map 分别输出 1、2、3 和 4、5。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934200" y="28632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92315" y="2800350"/>
              <a:ext cx="341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正确平均：(1 + 2 + 3 + 4 + 5) ÷ 5 = 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34200" y="31984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92315" y="3135630"/>
              <a:ext cx="4215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先各自求平均再平均：(2 + 4.5) ÷ 2 = 3.25 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2008" y="3467576"/>
              <a:ext cx="43207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改法：combiner 输出（和, 个数），即 (6, 3) 和 (9, 2)，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reduce 算 (6 + 9) ÷ (3 + 2) = 3。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680835" y="4301490"/>
            <a:ext cx="4977765" cy="1059180"/>
            <a:chOff x="6680835" y="4301490"/>
            <a:chExt cx="4977765" cy="1059180"/>
          </a:xfrm>
        </p:grpSpPr>
        <p:sp>
          <p:nvSpPr>
            <p:cNvPr id="31" name="Rectangle 31"/>
            <p:cNvSpPr/>
            <p:nvPr/>
          </p:nvSpPr>
          <p:spPr>
            <a:xfrm>
              <a:off x="6680835" y="430149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885623" y="4731070"/>
              <a:ext cx="200023" cy="200023"/>
              <a:chOff x="6885623" y="473107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885623" y="47310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18973" y="47977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187565" y="4450080"/>
              <a:ext cx="41014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能直接复用 reducer 的前提：运算满足交换律和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结合律，而且输入输出类型相同。求和、求最大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值可以，求平均值不行。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28340" cy="909257"/>
            <a:chOff x="520446" y="342900"/>
            <a:chExt cx="77283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283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Reducer：把同一个 key 的一串中间值约简成一个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3545205"/>
            <a:chOff x="533400" y="1524000"/>
            <a:chExt cx="6059805" cy="3545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518535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24300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5018278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IntSumReducer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Reducer&lt;Text, IntWritable, Text, IntWritable&gt;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IntWritable result =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IntWritable();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reduce(Text key, Iterable&lt;IntWritable&gt; values,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Context context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)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IOException, InterruptedException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(IntWritable val : values)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sum += val.get();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result.set(sum);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context.write(key, result);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5259705"/>
            <a:ext cx="6059805" cy="704850"/>
            <a:chOff x="533400" y="5259705"/>
            <a:chExt cx="6059805" cy="704850"/>
          </a:xfrm>
        </p:grpSpPr>
        <p:sp>
          <p:nvSpPr>
            <p:cNvPr id="13" name="Rectangle 13"/>
            <p:cNvSpPr/>
            <p:nvPr/>
          </p:nvSpPr>
          <p:spPr>
            <a:xfrm>
              <a:off x="533400" y="5259705"/>
              <a:ext cx="6059805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541162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5673566"/>
              <a:ext cx="3437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job.setReducerClass(IntSumReducer.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25" name="c2-kv-1"/>
          <p:cNvGrpSpPr/>
          <p:nvPr/>
        </p:nvGrpSpPr>
        <p:grpSpPr>
          <a:xfrm>
            <a:off x="6890385" y="1548765"/>
            <a:ext cx="4768215" cy="1455420"/>
            <a:chOff x="6890385" y="1548765"/>
            <a:chExt cx="4768215" cy="1455420"/>
          </a:xfrm>
        </p:grpSpPr>
        <p:sp>
          <p:nvSpPr>
            <p:cNvPr id="17" name="TextBox 17"/>
            <p:cNvSpPr txBox="1"/>
            <p:nvPr/>
          </p:nvSpPr>
          <p:spPr>
            <a:xfrm>
              <a:off x="6890385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4275" y="1548765"/>
              <a:ext cx="36156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&lt;单词, 它的所有计数&gt;，如 &lt;good, [1, 1,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1]&gt;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98005" y="21507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90385" y="22707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4275" y="2270760"/>
              <a:ext cx="2196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values 逐个加到 sum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98005" y="25908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90385" y="2710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4275" y="271081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&lt;单词, 总数&gt;，如 &lt;good, 5&gt;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3135630"/>
            <a:ext cx="4760595" cy="2828925"/>
            <a:chOff x="6898005" y="3135630"/>
            <a:chExt cx="4760595" cy="2828925"/>
          </a:xfrm>
        </p:grpSpPr>
        <p:sp>
          <p:nvSpPr>
            <p:cNvPr id="26" name="Rectangle 26"/>
            <p:cNvSpPr/>
            <p:nvPr/>
          </p:nvSpPr>
          <p:spPr>
            <a:xfrm>
              <a:off x="6898005" y="3135630"/>
              <a:ext cx="4760595" cy="2828925"/>
            </a:xfrm>
            <a:prstGeom prst="roundRect">
              <a:avLst>
                <a:gd name="adj" fmla="val 47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07530" y="3268980"/>
              <a:ext cx="47625" cy="25622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45655" y="33451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5863" y="33808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8035" y="3722370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原课件写“框架会为输入中的每个分块（键值对）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reduce 函数”。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9178" y="4340066"/>
              <a:ext cx="410946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reduce 的输入已按 key 分好组，框架为每个 &lt;key, 值列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表&gt; 调用一次 reduce()，与输入分块无关。本例有 6 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不同的单词，reduce() 就调用 6 次。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6006" cy="909257"/>
            <a:chOff x="520446" y="342900"/>
            <a:chExt cx="68160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60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分三个阶段：取回、排序分组、归约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180457" cy="2112930"/>
            <a:chOff x="533400" y="1533525"/>
            <a:chExt cx="5180457" cy="21129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252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Shuffle 取回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691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框架从各个 map 取回属于本 reduce 的输出分区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13605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 排序分组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把取回的中间值按 key 分组、排序；这一步和取回同时进行，边取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边归并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1189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归约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4422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以上完成后，对每个 key 调用 reduce()，结果写到 HDFS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3825240"/>
            <a:ext cx="5410200" cy="2109788"/>
            <a:chOff x="533400" y="3825240"/>
            <a:chExt cx="5410200" cy="2109788"/>
          </a:xfrm>
        </p:grpSpPr>
        <p:sp>
          <p:nvSpPr>
            <p:cNvPr id="21" name="Rectangle 21"/>
            <p:cNvSpPr/>
            <p:nvPr/>
          </p:nvSpPr>
          <p:spPr>
            <a:xfrm>
              <a:off x="533400" y="3825240"/>
              <a:ext cx="5410200" cy="2109788"/>
            </a:xfrm>
            <a:prstGeom prst="roundRect">
              <a:avLst>
                <a:gd name="adj" fmla="val 541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780598"/>
              <a:ext cx="200026" cy="200025"/>
              <a:chOff x="738188" y="4780598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7805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48250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49361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361498"/>
              <a:ext cx="44253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Job.setGroupingComparatorClass(Class)、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Job.setSortComparatorClass(Class) 控制分组和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排序的方式。</a:t>
              </a:r>
            </a:p>
          </p:txBody>
        </p:sp>
      </p:grpSp>
      <p:grpSp>
        <p:nvGrpSpPr>
          <p:cNvPr id="50" name="c2-flow-1"/>
          <p:cNvGrpSpPr/>
          <p:nvPr/>
        </p:nvGrpSpPr>
        <p:grpSpPr>
          <a:xfrm>
            <a:off x="6381750" y="1709738"/>
            <a:ext cx="5143500" cy="3629976"/>
            <a:chOff x="6381750" y="1709738"/>
            <a:chExt cx="5143500" cy="3629976"/>
          </a:xfrm>
        </p:grpSpPr>
        <p:sp>
          <p:nvSpPr>
            <p:cNvPr id="28" name="Freeform 28"/>
            <p:cNvSpPr/>
            <p:nvPr/>
          </p:nvSpPr>
          <p:spPr>
            <a:xfrm>
              <a:off x="7150418" y="2338388"/>
              <a:ext cx="1803082" cy="361950"/>
            </a:xfrm>
            <a:custGeom>
              <a:avLst/>
              <a:gdLst/>
              <a:ahLst/>
              <a:cxnLst/>
              <a:rect l="l" t="t" r="r" b="b"/>
              <a:pathLst>
                <a:path w="1803082" h="361950">
                  <a:moveTo>
                    <a:pt x="0" y="0"/>
                  </a:moveTo>
                  <a:lnTo>
                    <a:pt x="0" y="233362"/>
                  </a:lnTo>
                  <a:lnTo>
                    <a:pt x="1803082" y="233362"/>
                  </a:lnTo>
                  <a:lnTo>
                    <a:pt x="1803082" y="3619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901112" y="2700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953500" y="2338388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901112" y="2700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338388"/>
              <a:ext cx="1803082" cy="361950"/>
            </a:xfrm>
            <a:custGeom>
              <a:avLst/>
              <a:gdLst/>
              <a:ahLst/>
              <a:cxnLst/>
              <a:rect l="l" t="t" r="r" b="b"/>
              <a:pathLst>
                <a:path w="1803082" h="361950">
                  <a:moveTo>
                    <a:pt x="1803082" y="0"/>
                  </a:moveTo>
                  <a:lnTo>
                    <a:pt x="1803082" y="233362"/>
                  </a:lnTo>
                  <a:lnTo>
                    <a:pt x="0" y="233362"/>
                  </a:lnTo>
                  <a:lnTo>
                    <a:pt x="0" y="3619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901112" y="2700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53500" y="3243262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901112" y="36052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953500" y="4338638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901112" y="4605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709738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84832" y="1709738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988868" y="1709738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84832" y="2805112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84832" y="3709988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184832" y="4710112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4981" y="1825466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1 的输出分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8063" y="1825466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2 的输出分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81145" y="1825466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3 的输出分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43925" y="29351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取回并归并排序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39023" y="3825716"/>
              <a:ext cx="10289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key 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reduce()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0575" y="4825841"/>
              <a:ext cx="108585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上的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part-r-0000x</a:t>
              </a:r>
            </a:p>
          </p:txBody>
        </p:sp>
      </p:grpSp>
      <p:grpSp>
        <p:nvGrpSpPr>
          <p:cNvPr id="52" name="c2-text-2"/>
          <p:cNvGrpSpPr/>
          <p:nvPr/>
        </p:nvGrpSpPr>
        <p:grpSpPr>
          <a:xfrm>
            <a:off x="6241923" y="5736431"/>
            <a:ext cx="5320213" cy="249364"/>
            <a:chOff x="6241923" y="5736431"/>
            <a:chExt cx="5320213" cy="249364"/>
          </a:xfrm>
        </p:grpSpPr>
        <p:sp>
          <p:nvSpPr>
            <p:cNvPr id="51" name="TextBox 51"/>
            <p:cNvSpPr txBox="1"/>
            <p:nvPr/>
          </p:nvSpPr>
          <p:spPr>
            <a:xfrm>
              <a:off x="6241923" y="5736431"/>
              <a:ext cx="53202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 reduce 任务写一个输出文件，所以输出文件数等于 reduce 数。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96522" cy="909257"/>
            <a:chOff x="520446" y="342900"/>
            <a:chExt cx="76965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965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需要多少个 reduce：0.95 或 1.75 倍的容器总数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7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0.95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或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1.75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节点数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每节点最大容器数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kv-2"/>
          <p:cNvGrpSpPr/>
          <p:nvPr/>
        </p:nvGrpSpPr>
        <p:grpSpPr>
          <a:xfrm>
            <a:off x="525780" y="2177415"/>
            <a:ext cx="5634038" cy="1173480"/>
            <a:chOff x="525780" y="2177415"/>
            <a:chExt cx="5634038" cy="1173480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177415"/>
              <a:ext cx="74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取 0.95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4030" y="2177415"/>
              <a:ext cx="3629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reduce 能立即同时启动，一轮跑完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4974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780" y="2617470"/>
              <a:ext cx="74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取 1.75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4030" y="26174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快的节点跑完第一轮后再开第二轮，负载更均衡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9375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30575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略小于整数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4030" y="30575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给推测任务和失败任务留出一些空余</a:t>
              </a:r>
            </a:p>
          </p:txBody>
        </p:sp>
      </p:grpSp>
      <p:grpSp>
        <p:nvGrpSpPr>
          <p:cNvPr id="41" name="c1-table-3"/>
          <p:cNvGrpSpPr/>
          <p:nvPr/>
        </p:nvGrpSpPr>
        <p:grpSpPr>
          <a:xfrm>
            <a:off x="533400" y="3482340"/>
            <a:ext cx="5626418" cy="1795462"/>
            <a:chOff x="533400" y="3482340"/>
            <a:chExt cx="5626418" cy="1795462"/>
          </a:xfrm>
        </p:grpSpPr>
        <p:sp>
          <p:nvSpPr>
            <p:cNvPr id="17" name="Rectangle 17"/>
            <p:cNvSpPr/>
            <p:nvPr/>
          </p:nvSpPr>
          <p:spPr>
            <a:xfrm>
              <a:off x="533400" y="348234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7579" y="36180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65463" y="36180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容器总数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55760" y="361807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×0.95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88295" y="361807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×1.75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223" y="4066699"/>
              <a:ext cx="918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节点 × 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84426" y="406669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16961" y="406669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49496" y="406669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374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37959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515326"/>
              <a:ext cx="918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节点 × 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89653" y="451532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2188" y="451532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54723" y="451532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244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963954"/>
              <a:ext cx="1117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节点 × 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94881" y="496395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22188" y="496395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59951" y="496395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482340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333625" y="348234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89985" y="348234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22520" y="348234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1"/>
          <p:cNvGrpSpPr/>
          <p:nvPr/>
        </p:nvGrpSpPr>
        <p:grpSpPr>
          <a:xfrm>
            <a:off x="6464618" y="1524000"/>
            <a:ext cx="5193982" cy="2587942"/>
            <a:chOff x="6464618" y="1524000"/>
            <a:chExt cx="5193982" cy="2587942"/>
          </a:xfrm>
        </p:grpSpPr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2587942"/>
            </a:xfrm>
            <a:prstGeom prst="roundRect">
              <a:avLst>
                <a:gd name="adj" fmla="val 51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1657350"/>
              <a:ext cx="47625" cy="2321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12268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8526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55218" y="1768792"/>
              <a:ext cx="2979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个节点，每节点最多 8 个容器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6098" y="2129790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容器总数 20 × 8 = 160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17983" y="25279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6098" y="2465070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0.95：0.95 × 160 = 152 个 reduce，一轮全部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启动，还空着 8 个容器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17983" y="31489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76098" y="308610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1.75：1.75 × 160 = 280 个 reduce，先跑 160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个，再跑 120 个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05791" y="370379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空着的容器留给推测任务和失败重跑的任务。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464618" y="4302442"/>
            <a:ext cx="5193982" cy="1059180"/>
            <a:chOff x="6464618" y="4302442"/>
            <a:chExt cx="5193982" cy="1059180"/>
          </a:xfrm>
        </p:grpSpPr>
        <p:sp>
          <p:nvSpPr>
            <p:cNvPr id="55" name="Rectangle 55"/>
            <p:cNvSpPr/>
            <p:nvPr/>
          </p:nvSpPr>
          <p:spPr>
            <a:xfrm>
              <a:off x="6464618" y="4302442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69405" y="4732020"/>
              <a:ext cx="200026" cy="200026"/>
              <a:chOff x="6669405" y="4732020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69405" y="47320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69418" y="47986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58305" y="48320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1348" y="4451032"/>
              <a:ext cx="4320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数越多，框架开销越大，但负载更均衡，发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生故障后的损失也更小。用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Job.setNumReduceTasks(int) 设定。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464618" y="5552122"/>
            <a:ext cx="5193982" cy="782955"/>
            <a:chOff x="6464618" y="5552122"/>
            <a:chExt cx="5193982" cy="782955"/>
          </a:xfrm>
        </p:grpSpPr>
        <p:sp>
          <p:nvSpPr>
            <p:cNvPr id="62" name="Rectangle 62"/>
            <p:cNvSpPr/>
            <p:nvPr/>
          </p:nvSpPr>
          <p:spPr>
            <a:xfrm>
              <a:off x="6464618" y="5552122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9405" y="5843588"/>
              <a:ext cx="200026" cy="200025"/>
              <a:chOff x="6669405" y="584358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669405" y="58435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09144" y="58880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43859" y="59991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971348" y="5700712"/>
              <a:ext cx="41586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reduce 数也可以设为 0：只有 map 的作业，map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输出直接写到 HDFS。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推测执行：别傻等慢节点，另开一个相同的任务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39115" y="1548765"/>
            <a:ext cx="5621655" cy="1613535"/>
            <a:chOff x="539115" y="1548765"/>
            <a:chExt cx="5621655" cy="1613535"/>
          </a:xfrm>
        </p:grpSpPr>
        <p:sp>
          <p:nvSpPr>
            <p:cNvPr id="7" name="Ellipse 7"/>
            <p:cNvSpPr/>
            <p:nvPr/>
          </p:nvSpPr>
          <p:spPr>
            <a:xfrm>
              <a:off x="539115" y="16116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54876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分布式执行时，总有一些节点跑得比其他节点慢很多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39115" y="1956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893570"/>
              <a:ext cx="5463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默认不会傻等：发现某个任务比平均速度慢，就另开一个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与它相同的“推测任务”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5869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5241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原任务和推测任务谁先跑完就用谁的结果，另一个被终止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9115" y="29317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28689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推测执行多占集群资源，可以通过配置关闭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293745"/>
            <a:ext cx="5951220" cy="2568892"/>
            <a:chOff x="533400" y="3293745"/>
            <a:chExt cx="5951220" cy="2568892"/>
          </a:xfrm>
        </p:grpSpPr>
        <p:sp>
          <p:nvSpPr>
            <p:cNvPr id="16" name="Rectangle 16"/>
            <p:cNvSpPr/>
            <p:nvPr/>
          </p:nvSpPr>
          <p:spPr>
            <a:xfrm>
              <a:off x="533400" y="3293745"/>
              <a:ext cx="5951220" cy="2568892"/>
            </a:xfrm>
            <a:prstGeom prst="roundRect">
              <a:avLst>
                <a:gd name="adj" fmla="val 51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27095"/>
              <a:ext cx="47625" cy="23021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50329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7308" y="35390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3880485"/>
              <a:ext cx="5168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个 map，99 个在 10 分钟时跑完；1 个落在慢节点上，速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度只有正常的 1/3，要 30 分钟。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5643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501515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不推测：作业要等到第 30 分钟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48996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4836795"/>
              <a:ext cx="4853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 分钟在空闲节点上开推测任务，从头跑 10 分钟，第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分钟完成，作业提前 10 分钟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573" y="5454491"/>
              <a:ext cx="2545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代价：多用了一个节点 10 分钟。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789420" y="1524000"/>
            <a:ext cx="4869180" cy="3966687"/>
            <a:chOff x="6789420" y="1524000"/>
            <a:chExt cx="4869180" cy="3966687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6789420" y="1524000"/>
              <a:ext cx="4869180" cy="3651885"/>
            </a:xfrm>
            <a:prstGeom prst="roundRect">
              <a:avLst>
                <a:gd name="adj" fmla="val 3651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182841" y="5270659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落后的选手还在跑，另一名选手拿着同样的接力棒从旁边出发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27523" cy="909257"/>
            <a:chOff x="520446" y="342900"/>
            <a:chExt cx="95275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275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完整程序：main 把 Mapper、Combiner、Reducer 装进 Job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2966085"/>
            <a:chOff x="533400" y="1524000"/>
            <a:chExt cx="6276022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4191191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Configuration conf =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Configuration();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Job job = Job.getInstance(conf,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"word count"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job.setJarByClass(WordCount.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job.setMapperClass(TokenizerMapper.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job.setCombinerClass(IntSumReducer.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job.setReducerClass(IntSumReducer.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job.setOutputKeyClass(Text.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job.setOutputValueClass(IntWritable.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FileInputFormat.addInputPath(job,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Path(args[0]));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FileOutputFormat.setOutputPath(job,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Path(args[1]));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System.exit(job.waitForCompletion(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? 0 : 1);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2" name="c1-text-2"/>
          <p:cNvGrpSpPr/>
          <p:nvPr/>
        </p:nvGrpSpPr>
        <p:grpSpPr>
          <a:xfrm>
            <a:off x="527685" y="4682966"/>
            <a:ext cx="5672582" cy="441008"/>
            <a:chOff x="527685" y="4682966"/>
            <a:chExt cx="5672582" cy="441008"/>
          </a:xfrm>
        </p:grpSpPr>
        <p:sp>
          <p:nvSpPr>
            <p:cNvPr id="11" name="TextBox 11"/>
            <p:cNvSpPr txBox="1"/>
            <p:nvPr/>
          </p:nvSpPr>
          <p:spPr>
            <a:xfrm>
              <a:off x="527685" y="4682966"/>
              <a:ext cx="567258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完整程序 = 第40页的包 + 第41页的 TokenizerMapper + 第44页的 IntSumReducer + 这个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main，都写在 public class WordCount 里。</a:t>
              </a:r>
            </a:p>
          </p:txBody>
        </p:sp>
      </p:grpSp>
      <p:grpSp>
        <p:nvGrpSpPr>
          <p:cNvPr id="21" name="c1-kv-3"/>
          <p:cNvGrpSpPr/>
          <p:nvPr/>
        </p:nvGrpSpPr>
        <p:grpSpPr>
          <a:xfrm>
            <a:off x="526542" y="5277802"/>
            <a:ext cx="6282880" cy="1060323"/>
            <a:chOff x="526542" y="5277802"/>
            <a:chExt cx="6282880" cy="1060323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5277802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args[0]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96187" y="5277802"/>
              <a:ext cx="3675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输入目录，其中每个文件（每个块）一个 map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556641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567594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args[1]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6187" y="5675948"/>
              <a:ext cx="3321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输出目录，里面是 part-r-00000 等文件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9645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542" y="60740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退出码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6187" y="6074092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作业成功返回 0，失败返回 1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7114222" y="1524000"/>
            <a:ext cx="4544378" cy="3440430"/>
            <a:chOff x="7114222" y="1524000"/>
            <a:chExt cx="4544378" cy="3440430"/>
          </a:xfrm>
        </p:grpSpPr>
        <p:sp>
          <p:nvSpPr>
            <p:cNvPr id="22" name="Rectangle 22"/>
            <p:cNvSpPr/>
            <p:nvPr/>
          </p:nvSpPr>
          <p:spPr>
            <a:xfrm>
              <a:off x="7114222" y="1524000"/>
              <a:ext cx="454437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3883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1149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14235" y="2154079"/>
              <a:ext cx="111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setJarByClass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77388" y="205406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按这个类找到要分发到各节点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jar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14222" y="25307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14222" y="2535555"/>
              <a:ext cx="454437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14235" y="2759869"/>
              <a:ext cx="1732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setMapperClass 等三行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77388" y="2659856"/>
              <a:ext cx="14267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 map、combine、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用哪个类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14222" y="31365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14235" y="3365659"/>
              <a:ext cx="1986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setOutputKey/ValueClass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77388" y="3265646"/>
              <a:ext cx="16045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输出键值的类型：Text、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IntWritable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14222" y="37423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14222" y="3747135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14235" y="3871436"/>
              <a:ext cx="1026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addInputPath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77388" y="3871436"/>
              <a:ext cx="1615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输入目录（HDFS 路径）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14222" y="41481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14235" y="4277201"/>
              <a:ext cx="118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setOutputPath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77388" y="427720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输出目录，必须事先不存在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14222" y="455390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14222" y="4558665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14235" y="4682966"/>
              <a:ext cx="1969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waitForCompletion(true)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77388" y="468296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提交作业并等待，打印进度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14222" y="1524000"/>
              <a:ext cx="4544378" cy="34404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472612" y="1524000"/>
              <a:ext cx="9525" cy="3440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ode-2"/>
          <p:cNvGrpSpPr/>
          <p:nvPr/>
        </p:nvGrpSpPr>
        <p:grpSpPr>
          <a:xfrm>
            <a:off x="7114222" y="5139690"/>
            <a:ext cx="4544378" cy="882968"/>
            <a:chOff x="7114222" y="5139690"/>
            <a:chExt cx="4544378" cy="882968"/>
          </a:xfrm>
        </p:grpSpPr>
        <p:sp>
          <p:nvSpPr>
            <p:cNvPr id="48" name="Rectangle 48"/>
            <p:cNvSpPr/>
            <p:nvPr/>
          </p:nvSpPr>
          <p:spPr>
            <a:xfrm>
              <a:off x="7114222" y="5139690"/>
              <a:ext cx="4544378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42620" y="5291614"/>
              <a:ext cx="3251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42238" y="5553075"/>
              <a:ext cx="309105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hadoop jar wc.jar WordCount /input /output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hdfs dfs -cat /output/part-r-00000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7467" cy="909257"/>
            <a:chOff x="520446" y="342900"/>
            <a:chExt cx="72174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9754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675" y="407194"/>
              <a:ext cx="3136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Hadoop MapReduce 编程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74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实跑：用第35页的四个分片跑一遍 WordCount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35148" cy="308039"/>
            <a:chOff x="525399" y="1550194"/>
            <a:chExt cx="1023514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351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本机没有 Hadoop 集群，用最小桩类代替 Hadoop 的 API，WordCount 源码不改一字，用 JDK 21 编译运行。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6276022" cy="2125028"/>
            <a:chOff x="533400" y="1967865"/>
            <a:chExt cx="6276022" cy="212502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9456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个 reduce（原程序的默认值）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001262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map[split1] (the,1) (weather,1) (is,1) (good,1)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map[split2] (today,1) (is,1) (good,1)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map[split3] (good,1) (weather,1) (is,1) (good,1)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combine -&gt; (good,2) (is,1) (weather,1)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map[split4] (today,1) (has,1) (good,1) (weather,1)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 output pairs = 15, shuffled = 14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part-r-00000: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good 5 | has 1 | is 3 | the 1 | today 2 | weather 3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5780" y="4308158"/>
            <a:ext cx="6283642" cy="1737360"/>
            <a:chOff x="525780" y="4308158"/>
            <a:chExt cx="6283642" cy="1737360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43081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桩类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0622" y="4308158"/>
              <a:ext cx="52920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Configuration、Path、Text、IntWritable、Job、Mapper、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Reducer 和两个 FileFormat，只实现 WordCount 用到的方法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9101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50301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0622" y="5030152"/>
              <a:ext cx="53016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 的哈希与 Hadoop 一样按 UTF-8 字节计算，所以分区结果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与真实集群相同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6321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575214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0622" y="5752148"/>
              <a:ext cx="26807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与第35、36页手算的结果一致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7114222" y="1967865"/>
            <a:ext cx="4544378" cy="1110615"/>
            <a:chOff x="7114222" y="1967865"/>
            <a:chExt cx="4544378" cy="1110615"/>
          </a:xfrm>
        </p:grpSpPr>
        <p:sp>
          <p:nvSpPr>
            <p:cNvPr id="22" name="Rectangle 22"/>
            <p:cNvSpPr/>
            <p:nvPr/>
          </p:nvSpPr>
          <p:spPr>
            <a:xfrm>
              <a:off x="7114222" y="1967865"/>
              <a:ext cx="454437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42620" y="2119789"/>
              <a:ext cx="18827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 setNumReduceTasks(3)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41858" y="2381726"/>
              <a:ext cx="3297174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part-r-00000: good 5 | today 2 | weather 3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part-r-00001: the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part-r-00002: has 1 | is 3</a:t>
              </a:r>
            </a:p>
          </p:txBody>
        </p:sp>
      </p:grpSp>
      <p:grpSp>
        <p:nvGrpSpPr>
          <p:cNvPr id="32" name="c2-bullets-2"/>
          <p:cNvGrpSpPr/>
          <p:nvPr/>
        </p:nvGrpSpPr>
        <p:grpSpPr>
          <a:xfrm>
            <a:off x="7123748" y="3289459"/>
            <a:ext cx="3817874" cy="1104709"/>
            <a:chOff x="7123748" y="3289459"/>
            <a:chExt cx="3817874" cy="1104709"/>
          </a:xfrm>
        </p:grpSpPr>
        <p:sp>
          <p:nvSpPr>
            <p:cNvPr id="26" name="Ellipse 26"/>
            <p:cNvSpPr/>
            <p:nvPr/>
          </p:nvSpPr>
          <p:spPr>
            <a:xfrm>
              <a:off x="7123748" y="334232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79196" y="3289459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reduce 的输出按 key 的字典序排好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123748" y="364807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79196" y="3595211"/>
              <a:ext cx="36401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三个输出文件合起来与 1 个 reduce 时完全相同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123748" y="395382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79196" y="3901916"/>
              <a:ext cx="3662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复核程序在 decks/pdc/pdc_ch05_wordcount/，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run.py 一键编译运行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7114222" y="4533900"/>
            <a:ext cx="4544378" cy="1451610"/>
            <a:chOff x="7114222" y="4533900"/>
            <a:chExt cx="4544378" cy="1451610"/>
          </a:xfrm>
        </p:grpSpPr>
        <p:sp>
          <p:nvSpPr>
            <p:cNvPr id="33" name="Rectangle 33"/>
            <p:cNvSpPr/>
            <p:nvPr/>
          </p:nvSpPr>
          <p:spPr>
            <a:xfrm>
              <a:off x="7114222" y="4533900"/>
              <a:ext cx="4544378" cy="1451610"/>
            </a:xfrm>
            <a:prstGeom prst="roundRect">
              <a:avLst>
                <a:gd name="adj" fmla="val 787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19010" y="5159693"/>
              <a:ext cx="200026" cy="200026"/>
              <a:chOff x="7319010" y="5159693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19010" y="51596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419023" y="5226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407910" y="52597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620952" y="4878705"/>
              <a:ext cx="36061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桩类只模拟单机上的数据流（分片、map、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combine、分区、排序、reduce），不含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HDFS、YARN 和容错。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98113" cy="3351847"/>
            <a:chOff x="667512" y="1835468"/>
            <a:chExt cx="629811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2981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Spark：内存中的大数据计算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中间结果留在内存里，迭代和交互式分析快得多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原课件第61–71页：新兴的大数据处理框架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39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的四个不足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4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的定位与 Hadoop 对比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4080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Scala 交互示例：transformation 与 action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4258" cy="909257"/>
            <a:chOff x="520446" y="342900"/>
            <a:chExt cx="71642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937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969" y="407194"/>
              <a:ext cx="3333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Spark：内存中的大数据计算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42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哪里不够用：每一轮都要读写磁盘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33400" y="1548765"/>
            <a:ext cx="5508498" cy="1613535"/>
            <a:chOff x="533400" y="1548765"/>
            <a:chExt cx="5508498" cy="1613535"/>
          </a:xfrm>
        </p:grpSpPr>
        <p:sp>
          <p:nvSpPr>
            <p:cNvPr id="7" name="Freeform 7"/>
            <p:cNvSpPr/>
            <p:nvPr/>
          </p:nvSpPr>
          <p:spPr>
            <a:xfrm>
              <a:off x="533400" y="15849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3430" y="1548765"/>
              <a:ext cx="4949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编程范式局限，复杂任务（如机器学习）要把很多次 MR 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业串起来才能完成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33400" y="221551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3430" y="2179320"/>
              <a:ext cx="5268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 MR 作业都有大量磁盘 I/O，没有缓存，执行效率不高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56032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3430" y="25241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不适用于低延迟要求的流式数据处理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33400" y="29051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3430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语言支持有限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293745"/>
            <a:ext cx="5410200" cy="1986915"/>
            <a:chOff x="533400" y="3293745"/>
            <a:chExt cx="5410200" cy="1986915"/>
          </a:xfrm>
        </p:grpSpPr>
        <p:sp>
          <p:nvSpPr>
            <p:cNvPr id="16" name="Rectangle 16"/>
            <p:cNvSpPr/>
            <p:nvPr/>
          </p:nvSpPr>
          <p:spPr>
            <a:xfrm>
              <a:off x="533400" y="3293745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27095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5032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35390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粗算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3880485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 10 轮，每轮读 100 GB、写 100 GB，按集群聚合磁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盘带宽 1 GB/s 估算：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5643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501515"/>
              <a:ext cx="43453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MR 串联：10 × 200 GB ÷ 1 GB/s = 2000 秒 I/O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48996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4836795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数据缓存在内存：只从磁盘读一次，100 秒</a:t>
              </a:r>
            </a:p>
          </p:txBody>
        </p:sp>
      </p:grpSp>
      <p:grpSp>
        <p:nvGrpSpPr>
          <p:cNvPr id="44" name="c2-flow-1"/>
          <p:cNvGrpSpPr/>
          <p:nvPr/>
        </p:nvGrpSpPr>
        <p:grpSpPr>
          <a:xfrm>
            <a:off x="6381750" y="2019300"/>
            <a:ext cx="5143500" cy="438150"/>
            <a:chOff x="6381750" y="2019300"/>
            <a:chExt cx="5143500" cy="438150"/>
          </a:xfrm>
        </p:grpSpPr>
        <p:sp>
          <p:nvSpPr>
            <p:cNvPr id="26" name="Freeform 26"/>
            <p:cNvSpPr/>
            <p:nvPr/>
          </p:nvSpPr>
          <p:spPr>
            <a:xfrm>
              <a:off x="7197090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35901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279130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44105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361170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52309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443210" y="2238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60513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81750" y="2019300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63790" y="2019300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545830" y="2019300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627870" y="2019300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709910" y="2019300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82669" y="2149316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69261" y="2149316"/>
              <a:ext cx="404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MR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46749" y="2149316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33341" y="2149316"/>
              <a:ext cx="404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MR 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33451" y="2149316"/>
              <a:ext cx="568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…</a:t>
              </a:r>
            </a:p>
          </p:txBody>
        </p:sp>
      </p:grpSp>
      <p:grpSp>
        <p:nvGrpSpPr>
          <p:cNvPr id="65" name="c2-flow-2"/>
          <p:cNvGrpSpPr/>
          <p:nvPr/>
        </p:nvGrpSpPr>
        <p:grpSpPr>
          <a:xfrm>
            <a:off x="6381750" y="3397568"/>
            <a:ext cx="5143500" cy="679132"/>
            <a:chOff x="6381750" y="3397568"/>
            <a:chExt cx="5143500" cy="679132"/>
          </a:xfrm>
        </p:grpSpPr>
        <p:sp>
          <p:nvSpPr>
            <p:cNvPr id="45" name="Freeform 45"/>
            <p:cNvSpPr/>
            <p:nvPr/>
          </p:nvSpPr>
          <p:spPr>
            <a:xfrm>
              <a:off x="7467600" y="38576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629525" y="3805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820150" y="38576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982075" y="3805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172700" y="38576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334625" y="3805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381750" y="3638550"/>
              <a:ext cx="108585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34300" y="3638550"/>
              <a:ext cx="10858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086850" y="3638550"/>
              <a:ext cx="10858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439400" y="3638550"/>
              <a:ext cx="10858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17924" y="3768566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99354" y="3768566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51904" y="3768566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31221" y="37685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轮 …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53300" y="339756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83590" y="342423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读一次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772525" y="339756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06815" y="34242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125075" y="339756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159365" y="34242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</p:grpSp>
      <p:grpSp>
        <p:nvGrpSpPr>
          <p:cNvPr id="67" name="c2-text-3"/>
          <p:cNvGrpSpPr/>
          <p:nvPr/>
        </p:nvGrpSpPr>
        <p:grpSpPr>
          <a:xfrm>
            <a:off x="6241923" y="4783931"/>
            <a:ext cx="5125466" cy="500824"/>
            <a:chOff x="6241923" y="4783931"/>
            <a:chExt cx="5125466" cy="500824"/>
          </a:xfrm>
        </p:grpSpPr>
        <p:sp>
          <p:nvSpPr>
            <p:cNvPr id="66" name="TextBox 66"/>
            <p:cNvSpPr txBox="1"/>
            <p:nvPr/>
          </p:nvSpPr>
          <p:spPr>
            <a:xfrm>
              <a:off x="6241923" y="4783931"/>
              <a:ext cx="512546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上：MR 作业之间只能经过 HDFS 传递结果；下：Spark 把数据集缓存在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内存里反复使用。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20849" cy="909257"/>
            <a:chOff x="520446" y="342900"/>
            <a:chExt cx="65208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937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969" y="407194"/>
              <a:ext cx="3333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Spark：内存中的大数据计算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208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Spark：源自伯克利的大规模数据分析框架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626418" cy="2419350"/>
            <a:chOff x="533400" y="1524000"/>
            <a:chExt cx="5626418" cy="2419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19350"/>
            </a:xfrm>
            <a:prstGeom prst="roundRect">
              <a:avLst>
                <a:gd name="adj" fmla="val 5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526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90297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804" y="1750695"/>
              <a:ext cx="751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Spark 简介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专用于大规模数据分析的框架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42913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核心是可放在内存中的弹性分布式数据集 RDD（新版本有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Dataset）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9918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3560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资源调度上支持批处理，也支持实时流式处理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29374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23754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在大规模数据和集群上做数据分析与机器学习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2478" y="35966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3540442"/>
              <a:ext cx="3762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多语言支持：Scala、Java、Python、R、SQL</a:t>
              </a:r>
            </a:p>
          </p:txBody>
        </p:sp>
      </p:grpSp>
      <p:grpSp>
        <p:nvGrpSpPr>
          <p:cNvPr id="23" name="c1-text-2"/>
          <p:cNvGrpSpPr/>
          <p:nvPr/>
        </p:nvGrpSpPr>
        <p:grpSpPr>
          <a:xfrm>
            <a:off x="527685" y="4137184"/>
            <a:ext cx="4968494" cy="441008"/>
            <a:chOff x="527685" y="4137184"/>
            <a:chExt cx="4968494" cy="441008"/>
          </a:xfrm>
        </p:grpSpPr>
        <p:sp>
          <p:nvSpPr>
            <p:cNvPr id="22" name="TextBox 22"/>
            <p:cNvSpPr txBox="1"/>
            <p:nvPr/>
          </p:nvSpPr>
          <p:spPr>
            <a:xfrm>
              <a:off x="527685" y="4137184"/>
              <a:ext cx="4968494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论文：Resilient Distributed Datasets：A Fault-Tolerant Abstraction for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In-Memory Cluster Computing，NSDI 2012。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709160"/>
            <a:ext cx="5626418" cy="1466850"/>
            <a:chOff x="533400" y="4709160"/>
            <a:chExt cx="5626418" cy="1466850"/>
          </a:xfrm>
        </p:grpSpPr>
        <p:sp>
          <p:nvSpPr>
            <p:cNvPr id="24" name="Rectangle 24"/>
            <p:cNvSpPr/>
            <p:nvPr/>
          </p:nvSpPr>
          <p:spPr>
            <a:xfrm>
              <a:off x="533400" y="4709160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5805" y="4901565"/>
              <a:ext cx="1016318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2552" y="4935855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RDD 怎样容错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947" y="5258752"/>
              <a:ext cx="50457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RDD 是只读、分区的数据集合，并记下自己由哪些转换得来（血统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lineage）。某个分区丢了，按血统从源数据重算这一个分区即可，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不必像 HDFS 那样存多副本。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459284" y="1524000"/>
            <a:ext cx="5267977" cy="3120009"/>
            <a:chOff x="6459284" y="1524000"/>
            <a:chExt cx="5267977" cy="3120009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7962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614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4630" y="205406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07630" y="205406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起源于加州大学伯克利分校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4630" y="245983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07630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开源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4630" y="286559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07630" y="2865596"/>
              <a:ext cx="3720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原创团队成立 Databricks；Spark 捐给 Apache 基金会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4630" y="327136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07630" y="3271361"/>
              <a:ext cx="15096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成为 Apache 顶级项目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548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4630" y="367712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07630" y="3677126"/>
              <a:ext cx="1075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2.0 发布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953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395859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3968115"/>
              <a:ext cx="11239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4630" y="40828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07630" y="4082891"/>
              <a:ext cx="1075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3.0 发布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0285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59284" y="4438650"/>
              <a:ext cx="5267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原课件第62页 Stack Overflow 统计：约 2015 年起 Spark 的提问占比超过 Hadoop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4777740"/>
            <a:ext cx="5193982" cy="1398270"/>
            <a:chOff x="6464618" y="4777740"/>
            <a:chExt cx="5193982" cy="1398270"/>
          </a:xfrm>
        </p:grpSpPr>
        <p:sp>
          <p:nvSpPr>
            <p:cNvPr id="57" name="Rectangle 57"/>
            <p:cNvSpPr/>
            <p:nvPr/>
          </p:nvSpPr>
          <p:spPr>
            <a:xfrm>
              <a:off x="6464618" y="4777740"/>
              <a:ext cx="5193982" cy="1398270"/>
            </a:xfrm>
            <a:prstGeom prst="roundRect">
              <a:avLst>
                <a:gd name="adj" fmla="val 95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4911090"/>
              <a:ext cx="47625" cy="11315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95122" y="49701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86562" y="50044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8264" y="5327333"/>
              <a:ext cx="41370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原课件时间轴把 Spark 3.0 标在 2019 年。3.0 正式版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 年 6 月发布，2019 年底发布的是预览版。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26613" cy="909257"/>
            <a:chOff x="520446" y="342900"/>
            <a:chExt cx="8626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937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969" y="407194"/>
              <a:ext cx="3333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Spark：内存中的大数据计算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26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与 Spark：一个是基础平台，一个是纯计算引擎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3832860"/>
            <a:chOff x="533400" y="1524000"/>
            <a:chExt cx="11125200" cy="3832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25417" y="1651635"/>
              <a:ext cx="649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Hadoop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49906" y="1651635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Spark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216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2492" y="22164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基础平台，包含计算、存储、调度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84504" y="2096452"/>
              <a:ext cx="387134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纯计算工具（分布式），存储常用 HDFS，调度可用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89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53665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9013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2492" y="290131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海量数据批处理（磁盘迭代计算）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84504" y="2781300"/>
              <a:ext cx="41285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海量数据批处理（内存迭代计算、交互式计算）、海量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327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270" y="34661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2492" y="34661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对机器要求低，便宜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4504" y="346614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对内存有要求，相对较贵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776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82378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2270" y="391096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编程范式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12492" y="3910965"/>
              <a:ext cx="34986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+ Reduce，API 较底层，算法适应性差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4504" y="3910965"/>
              <a:ext cx="3996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RDD 组成有向无环图 DAG，API 较高层，方便使用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224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43548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中间结果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323148" y="4236720"/>
              <a:ext cx="4653915" cy="42576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412492" y="4354830"/>
              <a:ext cx="4395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输出写本地磁盘，作业之间经 HDFS 传递，延迟大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995160" y="4236720"/>
              <a:ext cx="4653915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84504" y="4354830"/>
              <a:ext cx="2569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RDD 中间结果在内存中，延迟小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672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672012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2270" y="49196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运行方式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12492" y="4919662"/>
              <a:ext cx="2473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 以进程方式维护，启动慢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84504" y="4799648"/>
              <a:ext cx="421424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 以线程方式维护，启动快，可批量创建提高并行能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11125200" cy="38328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308860" y="1524000"/>
              <a:ext cx="9525" cy="3832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80872" y="1524000"/>
              <a:ext cx="9525" cy="3832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3" name="Rectangle 4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5779770"/>
              <a:ext cx="98892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更正：原课件写“MapReduce 中间计算结果在 HDFS 磁盘上”。按第37页的执行总览，map 的中间结果写在本地磁盘，只有作业的最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终输出（以及串联作业之间传递的结果）才写 HDFS。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2360" cy="909257"/>
            <a:chOff x="520446" y="342900"/>
            <a:chExt cx="90023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937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969" y="407194"/>
              <a:ext cx="3333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Spark：内存中的大数据计算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23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示例（一）：从文件建一个 Dataset，再做 action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689610"/>
            <a:chOff x="533400" y="1524000"/>
            <a:chExt cx="6276022" cy="6896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689610"/>
            </a:xfrm>
            <a:prstGeom prst="roundRect">
              <a:avLst>
                <a:gd name="adj" fmla="val 138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828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启动 Spark Shell（Scala，基于 JVM）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530" y="1936956"/>
              <a:ext cx="1306897" cy="200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./bin/spark-shell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388870"/>
            <a:ext cx="6276022" cy="874395"/>
            <a:chOff x="533400" y="2388870"/>
            <a:chExt cx="6276022" cy="874395"/>
          </a:xfrm>
        </p:grpSpPr>
        <p:sp>
          <p:nvSpPr>
            <p:cNvPr id="11" name="Rectangle 11"/>
            <p:cNvSpPr/>
            <p:nvPr/>
          </p:nvSpPr>
          <p:spPr>
            <a:xfrm>
              <a:off x="533400" y="2388870"/>
              <a:ext cx="6276022" cy="874395"/>
            </a:xfrm>
            <a:prstGeom prst="roundRect">
              <a:avLst>
                <a:gd name="adj" fmla="val 108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540794"/>
              <a:ext cx="85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 Dataset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530" y="2800874"/>
              <a:ext cx="4614951" cy="385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scala&gt; val textFile = spark.read.textFile(</a:t>
              </a:r>
              <a:r>
                <a:rPr lang="en-US" sz="103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"README.md"</a:t>
              </a:r>
              <a:r>
                <a:rPr lang="zh-CN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textFile: org.apache.spark.sql.Dataset[String] = [value: string]</a:t>
              </a:r>
            </a:p>
          </p:txBody>
        </p:sp>
      </p:grpSp>
      <p:grpSp>
        <p:nvGrpSpPr>
          <p:cNvPr id="18" name="c1-code-3"/>
          <p:cNvGrpSpPr/>
          <p:nvPr/>
        </p:nvGrpSpPr>
        <p:grpSpPr>
          <a:xfrm>
            <a:off x="533400" y="3437572"/>
            <a:ext cx="6276022" cy="1243012"/>
            <a:chOff x="533400" y="3437572"/>
            <a:chExt cx="6276022" cy="1243012"/>
          </a:xfrm>
        </p:grpSpPr>
        <p:sp>
          <p:nvSpPr>
            <p:cNvPr id="15" name="Rectangle 15"/>
            <p:cNvSpPr/>
            <p:nvPr/>
          </p:nvSpPr>
          <p:spPr>
            <a:xfrm>
              <a:off x="533400" y="3437572"/>
              <a:ext cx="6276022" cy="1243012"/>
            </a:xfrm>
            <a:prstGeom prst="roundRect">
              <a:avLst>
                <a:gd name="adj" fmla="val 76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589496"/>
              <a:ext cx="9601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操作（action）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530" y="3850529"/>
              <a:ext cx="4327169" cy="7553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scala&gt; textFile.count()   </a:t>
              </a:r>
              <a:r>
                <a:rPr lang="en-US" sz="103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Number of items in this Dataset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res0: Long = 126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scala&gt; textFile.first()   </a:t>
              </a:r>
              <a:r>
                <a:rPr lang="en-US" sz="103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First item in this Dataset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res1: String = # Apache Spark</a:t>
              </a:r>
            </a:p>
          </p:txBody>
        </p:sp>
      </p:grpSp>
      <p:grpSp>
        <p:nvGrpSpPr>
          <p:cNvPr id="27" name="c1-kv-4"/>
          <p:cNvGrpSpPr/>
          <p:nvPr/>
        </p:nvGrpSpPr>
        <p:grpSpPr>
          <a:xfrm>
            <a:off x="526542" y="4878705"/>
            <a:ext cx="6282880" cy="1312736"/>
            <a:chOff x="526542" y="4878705"/>
            <a:chExt cx="6282880" cy="1312736"/>
          </a:xfrm>
        </p:grpSpPr>
        <p:sp>
          <p:nvSpPr>
            <p:cNvPr id="19" name="TextBox 19"/>
            <p:cNvSpPr txBox="1"/>
            <p:nvPr/>
          </p:nvSpPr>
          <p:spPr>
            <a:xfrm>
              <a:off x="526542" y="4878705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spark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9494" y="4878705"/>
              <a:ext cx="514864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spark-shell 启动时预先建好的 SparkSession，是使用 Dataset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4206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542" y="5530215"/>
              <a:ext cx="2808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89494" y="5530215"/>
              <a:ext cx="1982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Scala 里定义不可变变量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8188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542" y="592740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res0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89494" y="5927408"/>
              <a:ext cx="465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自动给没有命名的结果起的名字，后面可以直接引用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7114222" y="1524000"/>
            <a:ext cx="4544378" cy="1466850"/>
            <a:chOff x="7114222" y="1524000"/>
            <a:chExt cx="4544378" cy="1466850"/>
          </a:xfrm>
        </p:grpSpPr>
        <p:sp>
          <p:nvSpPr>
            <p:cNvPr id="28" name="Rectangle 28"/>
            <p:cNvSpPr/>
            <p:nvPr/>
          </p:nvSpPr>
          <p:spPr>
            <a:xfrm>
              <a:off x="7114222" y="1524000"/>
              <a:ext cx="454437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23748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344728" y="1716405"/>
              <a:ext cx="748665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25710" y="1750695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Dataset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37870" y="2072640"/>
              <a:ext cx="39656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的主要抽象，是分布式的数据项集合，可以从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读入，也可以由其他 Dataset 转换得到。这里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每一项是 README.md 的一行。</a:t>
              </a:r>
            </a:p>
          </p:txBody>
        </p:sp>
      </p:grpSp>
      <p:grpSp>
        <p:nvGrpSpPr>
          <p:cNvPr id="39" name="c2-kv-2"/>
          <p:cNvGrpSpPr/>
          <p:nvPr/>
        </p:nvGrpSpPr>
        <p:grpSpPr>
          <a:xfrm>
            <a:off x="7107364" y="3188018"/>
            <a:ext cx="4551236" cy="662177"/>
            <a:chOff x="7107364" y="3188018"/>
            <a:chExt cx="4551236" cy="662177"/>
          </a:xfrm>
        </p:grpSpPr>
        <p:sp>
          <p:nvSpPr>
            <p:cNvPr id="34" name="TextBox 34"/>
            <p:cNvSpPr txBox="1"/>
            <p:nvPr/>
          </p:nvSpPr>
          <p:spPr>
            <a:xfrm>
              <a:off x="7107364" y="318801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count()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77010" y="3188018"/>
              <a:ext cx="1383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行数，返回 Long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14222" y="347662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07364" y="3586162"/>
              <a:ext cx="700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first()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77010" y="3586162"/>
              <a:ext cx="1718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第一行，返回 String</a:t>
              </a:r>
            </a:p>
          </p:txBody>
        </p:sp>
      </p:grpSp>
      <p:grpSp>
        <p:nvGrpSpPr>
          <p:cNvPr id="45" name="c2-card-3"/>
          <p:cNvGrpSpPr/>
          <p:nvPr/>
        </p:nvGrpSpPr>
        <p:grpSpPr>
          <a:xfrm>
            <a:off x="7114222" y="3971925"/>
            <a:ext cx="4544378" cy="1466850"/>
            <a:chOff x="7114222" y="3971925"/>
            <a:chExt cx="4544378" cy="1466850"/>
          </a:xfrm>
        </p:grpSpPr>
        <p:sp>
          <p:nvSpPr>
            <p:cNvPr id="40" name="Rectangle 40"/>
            <p:cNvSpPr/>
            <p:nvPr/>
          </p:nvSpPr>
          <p:spPr>
            <a:xfrm>
              <a:off x="7114222" y="3971925"/>
              <a:ext cx="454437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23748" y="410527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344728" y="416433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32167" y="419862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谁在算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37870" y="4520565"/>
              <a:ext cx="39399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spark-shell 本身是驱动程序（driver）。它把作业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拆成任务，发给集群上的执行器（executor）并行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执行，action 的结果再回到 driver 打印出来。</a:t>
              </a:r>
            </a:p>
          </p:txBody>
        </p:sp>
      </p:grpSp>
      <p:grpSp>
        <p:nvGrpSpPr>
          <p:cNvPr id="52" name="c2-callout-4"/>
          <p:cNvGrpSpPr/>
          <p:nvPr/>
        </p:nvGrpSpPr>
        <p:grpSpPr>
          <a:xfrm>
            <a:off x="7114222" y="5614035"/>
            <a:ext cx="4544378" cy="729615"/>
            <a:chOff x="7114222" y="5614035"/>
            <a:chExt cx="4544378" cy="729615"/>
          </a:xfrm>
        </p:grpSpPr>
        <p:sp>
          <p:nvSpPr>
            <p:cNvPr id="46" name="Rectangle 46"/>
            <p:cNvSpPr/>
            <p:nvPr/>
          </p:nvSpPr>
          <p:spPr>
            <a:xfrm>
              <a:off x="7114222" y="5614035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19010" y="5877878"/>
              <a:ext cx="200026" cy="200026"/>
              <a:chOff x="7319010" y="5877878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19010" y="58778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419023" y="5944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407910" y="59778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621714" y="5759768"/>
              <a:ext cx="36570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126 这个数随 Spark 版本的 README.md 变化，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自己运行时可能不同。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1589" y="342900"/>
            <a:ext cx="11208209" cy="889540"/>
            <a:chOff x="521589" y="342900"/>
            <a:chExt cx="11208209" cy="889540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937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969" y="407194"/>
              <a:ext cx="3333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Spark：内存中的大数据计算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589" y="777716"/>
              <a:ext cx="1120820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示例（二）：transformation 生成新 Dataset，可以和 action 链起来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907732"/>
            <a:chOff x="533400" y="1524000"/>
            <a:chExt cx="6492240" cy="9077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9901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转换（transformation）：过滤出含 Spark 的行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5878830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scala&gt; val linesWithSpark = textFile.filter(line =&gt; line.contains(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"Spark"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linesWithSpark: org.apache.spark.sql.Dataset[String] = [value: string]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617470"/>
            <a:ext cx="6492240" cy="907732"/>
            <a:chOff x="533400" y="2617470"/>
            <a:chExt cx="6492240" cy="907732"/>
          </a:xfrm>
        </p:grpSpPr>
        <p:sp>
          <p:nvSpPr>
            <p:cNvPr id="11" name="Rectangle 11"/>
            <p:cNvSpPr/>
            <p:nvPr/>
          </p:nvSpPr>
          <p:spPr>
            <a:xfrm>
              <a:off x="533400" y="2617470"/>
              <a:ext cx="6492240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769394"/>
              <a:ext cx="1624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链起来：有多少行含 Spark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031331"/>
              <a:ext cx="4861814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scala&gt; textFile.filter(line =&gt; line.contains(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"Spark"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)).count()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res3: Long = 15</a:t>
              </a:r>
            </a:p>
          </p:txBody>
        </p:sp>
      </p:grpSp>
      <p:grpSp>
        <p:nvGrpSpPr>
          <p:cNvPr id="18" name="c1-code-3"/>
          <p:cNvGrpSpPr/>
          <p:nvPr/>
        </p:nvGrpSpPr>
        <p:grpSpPr>
          <a:xfrm>
            <a:off x="533400" y="3709988"/>
            <a:ext cx="6492240" cy="1110615"/>
            <a:chOff x="533400" y="3709988"/>
            <a:chExt cx="6492240" cy="1110615"/>
          </a:xfrm>
        </p:grpSpPr>
        <p:sp>
          <p:nvSpPr>
            <p:cNvPr id="15" name="Rectangle 15"/>
            <p:cNvSpPr/>
            <p:nvPr/>
          </p:nvSpPr>
          <p:spPr>
            <a:xfrm>
              <a:off x="533400" y="3709988"/>
              <a:ext cx="649224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861911"/>
              <a:ext cx="2465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 + reduce：单词最多的那行有几个词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124801"/>
              <a:ext cx="3923030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scala&gt; textFile.map(line =&gt; line.split(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).size).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|   reduce((a, b) =&gt; if (a &gt; b) a else b)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res4: Int = 15</a:t>
              </a:r>
            </a:p>
          </p:txBody>
        </p:sp>
      </p:grpSp>
      <p:grpSp>
        <p:nvGrpSpPr>
          <p:cNvPr id="25" name="c1-callout-4"/>
          <p:cNvGrpSpPr/>
          <p:nvPr/>
        </p:nvGrpSpPr>
        <p:grpSpPr>
          <a:xfrm>
            <a:off x="533400" y="5006340"/>
            <a:ext cx="6492240" cy="1275398"/>
            <a:chOff x="533400" y="5006340"/>
            <a:chExt cx="6492240" cy="1275398"/>
          </a:xfrm>
        </p:grpSpPr>
        <p:sp>
          <p:nvSpPr>
            <p:cNvPr id="19" name="Rectangle 19"/>
            <p:cNvSpPr/>
            <p:nvPr/>
          </p:nvSpPr>
          <p:spPr>
            <a:xfrm>
              <a:off x="533400" y="5006340"/>
              <a:ext cx="6492240" cy="1275398"/>
            </a:xfrm>
            <a:prstGeom prst="roundRect">
              <a:avLst>
                <a:gd name="adj" fmla="val 89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543550"/>
              <a:ext cx="200026" cy="200025"/>
              <a:chOff x="738188" y="5543550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5435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5880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6991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5413534"/>
              <a:ext cx="540664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惰性执行的好处：执行 filter(...).count() 时 Spark 看到的是整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条链，扫一遍文件、边过滤边计数，不用先把过滤结果存下来。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7330440" y="1524000"/>
            <a:ext cx="4328160" cy="1556385"/>
            <a:chOff x="7330440" y="1524000"/>
            <a:chExt cx="4328160" cy="1556385"/>
          </a:xfrm>
        </p:grpSpPr>
        <p:sp>
          <p:nvSpPr>
            <p:cNvPr id="26" name="Rectangle 26"/>
            <p:cNvSpPr/>
            <p:nvPr/>
          </p:nvSpPr>
          <p:spPr>
            <a:xfrm>
              <a:off x="7330440" y="1524000"/>
              <a:ext cx="4328160" cy="1556385"/>
            </a:xfrm>
            <a:prstGeom prst="roundRect">
              <a:avLst>
                <a:gd name="adj" fmla="val 85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39965" y="1657350"/>
              <a:ext cx="47625" cy="12896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72375" y="1727835"/>
              <a:ext cx="168116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7648" y="1763554"/>
              <a:ext cx="1571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transformation 转换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5136" y="2100739"/>
              <a:ext cx="35491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由一个 Dataset 生成新的 Dataset。惰性执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行：只记下“怎么算”，并不马上算。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279" y="2688907"/>
              <a:ext cx="2028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例：filter、map、flatMap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7330440" y="3265170"/>
            <a:ext cx="4328160" cy="1284922"/>
            <a:chOff x="7330440" y="3265170"/>
            <a:chExt cx="4328160" cy="1284922"/>
          </a:xfrm>
        </p:grpSpPr>
        <p:sp>
          <p:nvSpPr>
            <p:cNvPr id="33" name="Rectangle 33"/>
            <p:cNvSpPr/>
            <p:nvPr/>
          </p:nvSpPr>
          <p:spPr>
            <a:xfrm>
              <a:off x="7330440" y="3265170"/>
              <a:ext cx="4328160" cy="1284922"/>
            </a:xfrm>
            <a:prstGeom prst="roundRect">
              <a:avLst>
                <a:gd name="adj" fmla="val 1037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34275" y="3469005"/>
              <a:ext cx="99441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09816" y="3504724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action 操作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7036" y="384190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触发真正的计算，把结果返回给驱动程序。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8179" y="4158615"/>
              <a:ext cx="2742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例：count、first、reduce、collect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7330440" y="4734878"/>
            <a:ext cx="4328160" cy="1545908"/>
            <a:chOff x="7330440" y="4734878"/>
            <a:chExt cx="4328160" cy="1545908"/>
          </a:xfrm>
        </p:grpSpPr>
        <p:sp>
          <p:nvSpPr>
            <p:cNvPr id="39" name="Rectangle 39"/>
            <p:cNvSpPr/>
            <p:nvPr/>
          </p:nvSpPr>
          <p:spPr>
            <a:xfrm>
              <a:off x="7330440" y="4734878"/>
              <a:ext cx="432816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39965" y="486822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72375" y="49387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62583" y="49744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65136" y="5312569"/>
              <a:ext cx="351307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原课件第70页写 res4: Long = 15。split("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").size 是 Int，map 得到 Dataset[Int]，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返回的也是 Int。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1566" cy="909257"/>
            <a:chOff x="520446" y="342900"/>
            <a:chExt cx="9001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9375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3969" y="407194"/>
              <a:ext cx="3333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 · Spark：内存中的大数据计算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15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示例（三）：用 MapReduce 的思路写 WordCount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1561148"/>
            <a:chOff x="533400" y="1524000"/>
            <a:chExt cx="6492240" cy="1561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291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Dataset 写法（原课件第71页）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2539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scala&gt; val wordCounts = textFile.flatMap(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|   line =&gt; line.split(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|   groupByKey(identity).count()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wordCounts: org.apache.spark.sql.Dataset[(String, Long)]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scala&gt; wordCounts.collect()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res6: Array[(String, Long)] = Array((means,1), (under,2), ...)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249930"/>
            <a:ext cx="6492240" cy="1209675"/>
            <a:chOff x="533400" y="3249930"/>
            <a:chExt cx="6492240" cy="1209675"/>
          </a:xfrm>
        </p:grpSpPr>
        <p:sp>
          <p:nvSpPr>
            <p:cNvPr id="11" name="Rectangle 11"/>
            <p:cNvSpPr/>
            <p:nvPr/>
          </p:nvSpPr>
          <p:spPr>
            <a:xfrm>
              <a:off x="533400" y="3249930"/>
              <a:ext cx="649224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401854"/>
              <a:ext cx="9549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补充：RDD 写法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3662839"/>
              <a:ext cx="2405761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sc.textFile(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"README.md"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.flatMap(line =&gt; line.split(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.map(w =&gt; (w, 1))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.reduceByKey(_ + _)</a:t>
              </a:r>
            </a:p>
          </p:txBody>
        </p:sp>
      </p:grpSp>
      <p:grpSp>
        <p:nvGrpSpPr>
          <p:cNvPr id="20" name="c1-kv-3"/>
          <p:cNvGrpSpPr/>
          <p:nvPr/>
        </p:nvGrpSpPr>
        <p:grpSpPr>
          <a:xfrm>
            <a:off x="526923" y="4644866"/>
            <a:ext cx="6498717" cy="863727"/>
            <a:chOff x="526923" y="4644866"/>
            <a:chExt cx="6498717" cy="863727"/>
          </a:xfrm>
        </p:grpSpPr>
        <p:sp>
          <p:nvSpPr>
            <p:cNvPr id="15" name="TextBox 15"/>
            <p:cNvSpPr txBox="1"/>
            <p:nvPr/>
          </p:nvSpPr>
          <p:spPr>
            <a:xfrm>
              <a:off x="526923" y="4644866"/>
              <a:ext cx="34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49896" y="4644866"/>
              <a:ext cx="523925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一行变成一个值：得到 Dataset[Array[String]]，每项是一行的单词数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515683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923" y="5259229"/>
              <a:ext cx="706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flatMap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9896" y="5259229"/>
              <a:ext cx="50741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一行变成多个值并摊平：得到 Dataset[String]，每项是一个单词</a:t>
              </a:r>
            </a:p>
          </p:txBody>
        </p:sp>
      </p:grpSp>
      <p:grpSp>
        <p:nvGrpSpPr>
          <p:cNvPr id="27" name="c1-callout-4"/>
          <p:cNvGrpSpPr/>
          <p:nvPr/>
        </p:nvGrpSpPr>
        <p:grpSpPr>
          <a:xfrm>
            <a:off x="533400" y="5622608"/>
            <a:ext cx="6492240" cy="702945"/>
            <a:chOff x="533400" y="5622608"/>
            <a:chExt cx="6492240" cy="702945"/>
          </a:xfrm>
        </p:grpSpPr>
        <p:sp>
          <p:nvSpPr>
            <p:cNvPr id="21" name="Rectangle 21"/>
            <p:cNvSpPr/>
            <p:nvPr/>
          </p:nvSpPr>
          <p:spPr>
            <a:xfrm>
              <a:off x="533400" y="5622608"/>
              <a:ext cx="649224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874068"/>
              <a:ext cx="200026" cy="200025"/>
              <a:chOff x="738188" y="5874068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8740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59185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60296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1273" y="5767864"/>
              <a:ext cx="52880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RDD 的 reduceByKey 在 shuffle 前先在分区内合并，相当于 Combiner；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RDD 的 groupByKey 会把每个 (w, 1) 都送过网络。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7330440" y="1524000"/>
            <a:ext cx="4328160" cy="1906905"/>
            <a:chOff x="7330440" y="1524000"/>
            <a:chExt cx="4328160" cy="1906905"/>
          </a:xfrm>
        </p:grpSpPr>
        <p:sp>
          <p:nvSpPr>
            <p:cNvPr id="28" name="Rectangle 28"/>
            <p:cNvSpPr/>
            <p:nvPr/>
          </p:nvSpPr>
          <p:spPr>
            <a:xfrm>
              <a:off x="7330440" y="1524000"/>
              <a:ext cx="432816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96950" y="1641157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Spark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80431" y="1641157"/>
              <a:ext cx="784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5119" y="2023110"/>
              <a:ext cx="11895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flatMap 拆出单词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81578" y="2023110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输出单词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330440" y="228219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30440" y="2286952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25119" y="2404110"/>
              <a:ext cx="1578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groupByKey(identity)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81578" y="2404110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key 分组（shuffle）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330440" y="266319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5119" y="278511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81578" y="2785110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数个数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30440" y="304514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30440" y="3049905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25119" y="3167062"/>
              <a:ext cx="1409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RDD 的 reduceByKey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81578" y="3167062"/>
              <a:ext cx="1259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Combiner + reduce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30440" y="1524000"/>
              <a:ext cx="432816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48213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2"/>
          <p:cNvGrpSpPr/>
          <p:nvPr/>
        </p:nvGrpSpPr>
        <p:grpSpPr>
          <a:xfrm>
            <a:off x="7330440" y="3595688"/>
            <a:ext cx="4328160" cy="2729865"/>
            <a:chOff x="7330440" y="3595688"/>
            <a:chExt cx="4328160" cy="2729865"/>
          </a:xfrm>
        </p:grpSpPr>
        <p:sp>
          <p:nvSpPr>
            <p:cNvPr id="47" name="Rectangle 47"/>
            <p:cNvSpPr/>
            <p:nvPr/>
          </p:nvSpPr>
          <p:spPr>
            <a:xfrm>
              <a:off x="7330440" y="3595688"/>
              <a:ext cx="4328160" cy="2729865"/>
            </a:xfrm>
            <a:prstGeom prst="roundRect">
              <a:avLst>
                <a:gd name="adj" fmla="val 48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39965" y="3729038"/>
              <a:ext cx="47625" cy="24631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49515" y="3776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42187" y="3809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43038" y="4117181"/>
              <a:ext cx="307721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res6: Array[(String, Int)]。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wordCounts 的类型是 Dataset[(String,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Long)]，collect() 返回 Array[(String,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Long)]。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730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为什么不适合存大量小文件？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48003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每个文件和块的元数据都在 NameNode 内存里，小文件多会耗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尽它的内存；每个小文件还各占一个 map 任务，启动开销比计算还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671638"/>
            <a:chOff x="533400" y="3765232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82351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求和的 WordCount 能把 reducer 直接当 combiner，求平均值为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什么不行？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局部和再相加结果不变，平均值的平均一般不等于总平均。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combiner 应输出（和, 个数），reduce 再相除。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914525"/>
            <a:chOff x="6248400" y="1928812"/>
            <a:chExt cx="5410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56422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 的 ResourceManager 和 ApplicationMaster 各负责什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么？为什么要拆开？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 在所有应用之间分资源；AM 每个应用一个，申请资源并监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视本应用的任务。拆开后 RM 不背作业管理的负担，也能同时跑多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种框架。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008120"/>
            <a:ext cx="5410200" cy="1428750"/>
            <a:chOff x="6248400" y="4008120"/>
            <a:chExt cx="5410200" cy="1428750"/>
          </a:xfrm>
        </p:grpSpPr>
        <p:sp>
          <p:nvSpPr>
            <p:cNvPr id="27" name="Rectangle 27"/>
            <p:cNvSpPr/>
            <p:nvPr/>
          </p:nvSpPr>
          <p:spPr>
            <a:xfrm>
              <a:off x="6248400" y="400812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529614"/>
              <a:ext cx="4964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的 transformation 和 action 有什么区别？各举一例。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4102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transformation 生成新数据集，惰性执行，如 filter、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map；action 触发计算并返回结果，如 count、collect。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8396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答不上时回到对应页面：HDFS 看第16、23页，YARN 看第28、29页，Combiner 看第43页，Spark 看第55页。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3455365" cy="278702"/>
            <a:chOff x="526161" y="1547336"/>
            <a:chExt cx="345536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带计算的题请把代入的每一步都写出来。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8306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 2 万台机器，每台 6 块硬盘，每块年故障率 2%，平均每天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坏几块？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20000 × 6 × 2% = 2400 块/年，2400 ÷ 365 ≈ 6.6 块/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783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2 TB、块 256 MB，约多少个 map？50 个节点、每节点最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 6 个容器，按 0.95 和 1.75 各设多少个 reduce？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994910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2⁴⁰ ÷ 2²⁸ = 8192 个 map；容器 300 个，reduce 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285 或 525 个。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80145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MB 的文件，块 128 MB、3 副本，分几块？多少块副本、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占多少磁盘？按默认策略写入跨机架传输多少？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049905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⌈1000 / 128⌉ = 8 块；24 个块副本，占 3000 MB；每块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跨机架一次，共 1000 MB。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57085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分片“a b a”“b c”“a a c”跑带 Combiner 的 WordCount，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输出几对？combine 后几对？结果是什么？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994910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输出 8 对；combine 后 (a,2)(b,1)、(b,1)(c,1)、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(a,2)(c,1) 共 6 对；结果 a 4、b 2、c 2。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7841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块数用上取整；map 数按块数算，注意 TB、MB 都是 2 的幂；reduce 数先算容器总数再乘系数。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大数据计算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2572"/>
            <a:ext cx="5880941" cy="1739837"/>
            <a:chOff x="533400" y="1532572"/>
            <a:chExt cx="5880941" cy="1739837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48166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大数据只能分给大量普通机器存和算，规模一大故障就是常态，要靠软件容错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5641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谷歌三驾马车 GFS、BigTable、MapReduce，对应 Hadoop 的 HDFS、HBase、MapReduce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41207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049780"/>
              <a:ext cx="5334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HDFS：NameNode 管元数据，DataNode 存块；块默认 128 MB、3 副本，两个机架放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29552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304098"/>
              <a:ext cx="4907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YARN：RM 分资源，NodeManager 管本机容器，每个应用的 AM 管自己的任务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548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558415"/>
              <a:ext cx="4889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MapReduce：map 产生中间键值对，按 key 分区、排序、分组后 reduce 汇总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03208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334" y="283297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858" y="2812732"/>
              <a:ext cx="4128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Combiner 在 map 端先合并，只适用于满足交换律、结合律的运算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05752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5334" y="308729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2858" y="3067050"/>
              <a:ext cx="4446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 把中间结果留在内存，transformation 惰性，action 触发计算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395662"/>
            <a:ext cx="5951220" cy="1914525"/>
            <a:chOff x="533400" y="3395662"/>
            <a:chExt cx="5951220" cy="1914525"/>
          </a:xfrm>
        </p:grpSpPr>
        <p:sp>
          <p:nvSpPr>
            <p:cNvPr id="29" name="Rectangle 29"/>
            <p:cNvSpPr/>
            <p:nvPr/>
          </p:nvSpPr>
          <p:spPr>
            <a:xfrm>
              <a:off x="533400" y="3395662"/>
              <a:ext cx="5951220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529012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357663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36094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396906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3916204"/>
              <a:ext cx="5084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在第3章（第8页）；新 API 的 Mapper 是类（第41页）；每个分片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map 任务、每个 key 调用一次 reduce()（第42、44页）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49675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444841"/>
              <a:ext cx="50604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中间结果写本地磁盘（第53页）；Spark 3.0 于 2020 年发布（第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52页）；res4 为 Int、res6 为 Array[(String, Long)]（第55、56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789420" y="1524000"/>
            <a:ext cx="4869180" cy="2287905"/>
            <a:chOff x="6789420" y="1524000"/>
            <a:chExt cx="4869180" cy="2287905"/>
          </a:xfrm>
        </p:grpSpPr>
        <p:sp>
          <p:nvSpPr>
            <p:cNvPr id="38" name="Rectangle 38"/>
            <p:cNvSpPr/>
            <p:nvPr/>
          </p:nvSpPr>
          <p:spPr>
            <a:xfrm>
              <a:off x="6789420" y="1524000"/>
              <a:ext cx="486918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7330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3721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409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机架感知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45234" y="2023110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本机架 1 份、另一机架 2 份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2282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89420" y="228695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4098" y="2404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心跳与块报告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45234" y="2404110"/>
              <a:ext cx="22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据此发现坏节点、补副本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2663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84098" y="2785110"/>
              <a:ext cx="712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45234" y="2785110"/>
              <a:ext cx="1373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 分配资源的单位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3045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89420" y="304990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84098" y="3167062"/>
              <a:ext cx="838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Partitioner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45234" y="3167062"/>
              <a:ext cx="2109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key 的哈希决定去哪个 reduce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89420" y="3426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8409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推测执行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45234" y="354806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慢任务另开一份，谁快用谁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1524000"/>
              <a:ext cx="486918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4579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789420" y="3976688"/>
            <a:ext cx="4869180" cy="1333500"/>
            <a:chOff x="6789420" y="3976688"/>
            <a:chExt cx="4869180" cy="1333500"/>
          </a:xfrm>
        </p:grpSpPr>
        <p:sp>
          <p:nvSpPr>
            <p:cNvPr id="60" name="Rectangle 60"/>
            <p:cNvSpPr/>
            <p:nvPr/>
          </p:nvSpPr>
          <p:spPr>
            <a:xfrm>
              <a:off x="6789420" y="3976688"/>
              <a:ext cx="4869180" cy="1333500"/>
            </a:xfrm>
            <a:prstGeom prst="roundRect">
              <a:avLst>
                <a:gd name="adj" fmla="val 1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70395" y="4157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59016" y="4190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63918" y="4498181"/>
              <a:ext cx="40525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第6章 云计算：把机器、平台和软件都做成按需使用的服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务，Hadoop 和 Spark 常作为云上的托管服务来用。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5" name="Rectangle 6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5805011"/>
              <a:ext cx="10002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复习时动手做三类题：硬件故障频率估算；文件的块数、副本数与跨机架流量；WordCount 在 map、combine、partition、reduce 各步的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第5章 大数据计算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05">
  <a:themeElements>
    <a:clrScheme name="pdc_ch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0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2026-09-23T08:52:06Z</dcterms:created>
  <dcterms:modified xsi:type="dcterms:W3CDTF">2026-09-23T08:52:06Z</dcterms:modified>
  <cp:category/>
  <cp:contentStatus/>
</cp:coreProperties>
</file>